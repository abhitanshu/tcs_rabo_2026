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4" r:id="rId14"/>
    <p:sldId id="265" r:id="rId15"/>
    <p:sldId id="260" r:id="rId5"/>
    <p:sldId id="261"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958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ownership split is the most important line on this slide. The MSP / NBIF team proves the logic; we prove the data. Within our scope, the single largest risk is the SQL the data analysts write, because it is authored per delivery and is the least standardised artefact in the chain.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compares two artefacts produced by two different roles. The DA's pull request is turned into a flat table/column/datatype list by the PR tool; the BA's MDR mapping sheet holds the agreed baseline. The engine normalises both sides before comparing — that normalisation step is where most of our test effort goes.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raw count is not a verdict. Every line in the report has to resolve to one of three outcomes, and the tool is only as useful as the discipline around that triage. The accepted-deviation route is the one most often missing — without it the same known difference is re-reported every run and the report loses credibility.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Bilateral means each interface is asserted from both ends, not just at the destination. The return-path check is the one most often skipped and the one most likely to matter: a calculator that drops records quietly still produces a plausible-looking output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that matters is elapsed time against the batch window, not raw query speed. A pipeline that is fast on a small portfolio and superlinear on a large one will pass every functional test and still miss the window at period end, which is why the boundary and soak scenarios are both in scope.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matters. A dashboard built on a noisy feed loses credibility fast, so equivalence rules and scope awareness come first. Only once a run is trustworthy is it worth gating the pipeline on it, and only once runs are routine is there enough history for trend analysis to say anything useful.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not a new tool — it is the same comparison output persisted rather than exported. The prerequisite is that every run is written to a store with a run id, a baseline version and a scope declaration; once that exists, the views shown here are straightforward.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Data quality is where our largest risk sits, because the SQL is authored per delivery and is the least standardised artefact in the chain. The assertion families on the left are stable; what is not stable is where we can run them. The box on the right is the honest constraint — today a meaningful data quality run needs production-shaped data, and the only place that exists is production. That is the problem the next slide addresses.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problem is an environment problem, not a tooling problem: we already have the assertions, we do not have anywhere realistic to run them. The synthetic test data generation tool creates large, production-shaped populations directly in dev and test. The proof of concept is deliberately narrow — one delivery, one assertion pack, run twice and compared. The question it has to answer is fidelity, not throughput: if a generated population produces a different verdict from production, the tool has not yet solved the problem. If it produces the same verdict, most of our data quality and volume testing can move left, and the parallel production runs reduce to a final confirmation.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Data Factory — what we test</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Orchestration logic and business rules are proven by the MSP / NBIF team. The Data Factory team owns the data itself, and the SQL the data analysts write to produce it</a:t>
            </a:r>
            <a:endParaRPr lang="en-US" sz="1250" dirty="0"/>
          </a:p>
        </p:txBody>
      </p:sp>
      <p:sp>
        <p:nvSpPr>
          <p:cNvPr id="4" name="Shape 2"/>
          <p:cNvSpPr/>
          <p:nvPr/>
        </p:nvSpPr>
        <p:spPr>
          <a:xfrm>
            <a:off x="502920" y="1298448"/>
            <a:ext cx="5486400" cy="1133856"/>
          </a:xfrm>
          <a:prstGeom prst="roundRect">
            <a:avLst>
              <a:gd name="adj" fmla="val 5645"/>
            </a:avLst>
          </a:prstGeom>
          <a:solidFill>
            <a:srgbClr val="F2F6F7"/>
          </a:solidFill>
          <a:ln w="12700">
            <a:solidFill>
              <a:srgbClr val="D8E0E4"/>
            </a:solidFill>
            <a:prstDash val="solid"/>
          </a:ln>
        </p:spPr>
      </p:sp>
      <p:sp>
        <p:nvSpPr>
          <p:cNvPr id="5" name="Text 3"/>
          <p:cNvSpPr/>
          <p:nvPr/>
        </p:nvSpPr>
        <p:spPr>
          <a:xfrm>
            <a:off x="667512" y="1408176"/>
            <a:ext cx="5157216" cy="237744"/>
          </a:xfrm>
          <a:prstGeom prst="rect">
            <a:avLst/>
          </a:prstGeom>
          <a:noFill/>
          <a:ln/>
        </p:spPr>
        <p:txBody>
          <a:bodyPr wrap="square" lIns="0" tIns="0" rIns="0" bIns="0" rtlCol="0" anchor="ctr"/>
          <a:lstStyle/>
          <a:p>
            <a:pPr marL="0" indent="0">
              <a:buNone/>
            </a:pPr>
            <a:r>
              <a:rPr lang="en-US" sz="1200" b="1" dirty="0">
                <a:solidFill>
                  <a:srgbClr val="6B7B85"/>
                </a:solidFill>
                <a:latin typeface="Calibri" pitchFamily="34" charset="0"/>
                <a:ea typeface="Calibri" pitchFamily="34" charset="-122"/>
                <a:cs typeface="Calibri" pitchFamily="34" charset="-120"/>
              </a:rPr>
              <a:t>Proven by the MSP / NBIF team</a:t>
            </a:r>
            <a:endParaRPr lang="en-US" sz="1200" dirty="0"/>
          </a:p>
        </p:txBody>
      </p:sp>
      <p:sp>
        <p:nvSpPr>
          <p:cNvPr id="6" name="Text 4"/>
          <p:cNvSpPr/>
          <p:nvPr/>
        </p:nvSpPr>
        <p:spPr>
          <a:xfrm>
            <a:off x="667512" y="1664208"/>
            <a:ext cx="5157216" cy="658368"/>
          </a:xfrm>
          <a:prstGeom prst="rect">
            <a:avLst/>
          </a:prstGeom>
          <a:noFill/>
          <a:ln/>
        </p:spPr>
        <p:txBody>
          <a:bodyPr wrap="square" lIns="0" tIns="0" rIns="0" bIns="0" rtlCol="0" anchor="ctr"/>
          <a:lstStyle/>
          <a:p>
            <a:pPr marL="0" indent="0">
              <a:lnSpc>
                <a:spcPct val="105000"/>
              </a:lnSpc>
              <a:buNone/>
            </a:pPr>
            <a:r>
              <a:rPr lang="en-US" sz="1050" dirty="0">
                <a:solidFill>
                  <a:srgbClr val="3E4C55"/>
                </a:solidFill>
                <a:latin typeface="Calibri" pitchFamily="34" charset="0"/>
                <a:ea typeface="Calibri" pitchFamily="34" charset="-122"/>
                <a:cs typeface="Calibri" pitchFamily="34" charset="-120"/>
              </a:rPr>
              <a:t>Orchestration flow, module behaviour, and the calculation and business rules inside the NBIF modules. We consume those results as given rather than re-proving them.</a:t>
            </a:r>
            <a:endParaRPr lang="en-US" sz="1050" dirty="0"/>
          </a:p>
        </p:txBody>
      </p:sp>
      <p:sp>
        <p:nvSpPr>
          <p:cNvPr id="7" name="Shape 5"/>
          <p:cNvSpPr/>
          <p:nvPr/>
        </p:nvSpPr>
        <p:spPr>
          <a:xfrm>
            <a:off x="6199632" y="1298448"/>
            <a:ext cx="5486400" cy="1133856"/>
          </a:xfrm>
          <a:prstGeom prst="roundRect">
            <a:avLst>
              <a:gd name="adj" fmla="val 5645"/>
            </a:avLst>
          </a:prstGeom>
          <a:solidFill>
            <a:srgbClr val="E3F0EF"/>
          </a:solidFill>
          <a:ln w="12700">
            <a:solidFill>
              <a:srgbClr val="CBE0DE"/>
            </a:solidFill>
            <a:prstDash val="solid"/>
          </a:ln>
        </p:spPr>
      </p:sp>
      <p:sp>
        <p:nvSpPr>
          <p:cNvPr id="8" name="Text 6"/>
          <p:cNvSpPr/>
          <p:nvPr/>
        </p:nvSpPr>
        <p:spPr>
          <a:xfrm>
            <a:off x="6364224" y="1408176"/>
            <a:ext cx="5157216" cy="237744"/>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Owned by the Data Factory team</a:t>
            </a:r>
            <a:endParaRPr lang="en-US" sz="1200" dirty="0"/>
          </a:p>
        </p:txBody>
      </p:sp>
      <p:sp>
        <p:nvSpPr>
          <p:cNvPr id="9" name="Text 7"/>
          <p:cNvSpPr/>
          <p:nvPr/>
        </p:nvSpPr>
        <p:spPr>
          <a:xfrm>
            <a:off x="6364224" y="1664208"/>
            <a:ext cx="5157216" cy="658368"/>
          </a:xfrm>
          <a:prstGeom prst="rect">
            <a:avLst/>
          </a:prstGeom>
          <a:noFill/>
          <a:ln/>
        </p:spPr>
        <p:txBody>
          <a:bodyPr wrap="square" lIns="0" tIns="0" rIns="0" bIns="0" rtlCol="0" anchor="ctr"/>
          <a:lstStyle/>
          <a:p>
            <a:pPr marL="0" indent="0">
              <a:lnSpc>
                <a:spcPct val="105000"/>
              </a:lnSpc>
              <a:buNone/>
            </a:pPr>
            <a:r>
              <a:rPr lang="en-US" sz="1050" dirty="0">
                <a:solidFill>
                  <a:srgbClr val="3E4C55"/>
                </a:solidFill>
                <a:latin typeface="Calibri" pitchFamily="34" charset="0"/>
                <a:ea typeface="Calibri" pitchFamily="34" charset="-122"/>
                <a:cs typeface="Calibri" pitchFamily="34" charset="-120"/>
              </a:rPr>
              <a:t>The data: the SQL the analysts write, the structures it lands in, and every interface that carries it across a platform boundary. This is where our test effort goes.</a:t>
            </a:r>
            <a:endParaRPr lang="en-US" sz="1050" dirty="0"/>
          </a:p>
        </p:txBody>
      </p:sp>
      <p:sp>
        <p:nvSpPr>
          <p:cNvPr id="10" name="Text 8"/>
          <p:cNvSpPr/>
          <p:nvPr/>
        </p:nvSpPr>
        <p:spPr>
          <a:xfrm>
            <a:off x="502920" y="2596896"/>
            <a:ext cx="1118311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Five kinds of testing the Data Factory team runs</a:t>
            </a:r>
            <a:endParaRPr lang="en-US" sz="1500" dirty="0"/>
          </a:p>
        </p:txBody>
      </p:sp>
      <p:sp>
        <p:nvSpPr>
          <p:cNvPr id="11" name="Shape 9"/>
          <p:cNvSpPr/>
          <p:nvPr/>
        </p:nvSpPr>
        <p:spPr>
          <a:xfrm>
            <a:off x="502920" y="2889504"/>
            <a:ext cx="2048256" cy="2395728"/>
          </a:xfrm>
          <a:prstGeom prst="roundRect">
            <a:avLst>
              <a:gd name="adj" fmla="val 3125"/>
            </a:avLst>
          </a:prstGeom>
          <a:solidFill>
            <a:srgbClr val="FFFFFF"/>
          </a:solidFill>
          <a:ln w="12700">
            <a:solidFill>
              <a:srgbClr val="D8E0E4"/>
            </a:solidFill>
            <a:prstDash val="solid"/>
          </a:ln>
        </p:spPr>
      </p:sp>
      <p:sp>
        <p:nvSpPr>
          <p:cNvPr id="12" name="Shape 10"/>
          <p:cNvSpPr/>
          <p:nvPr/>
        </p:nvSpPr>
        <p:spPr>
          <a:xfrm>
            <a:off x="649224" y="3017520"/>
            <a:ext cx="274320" cy="274320"/>
          </a:xfrm>
          <a:prstGeom prst="ellipse">
            <a:avLst/>
          </a:prstGeom>
          <a:solidFill>
            <a:srgbClr val="E3F0EF"/>
          </a:solidFill>
          <a:ln w="12700">
            <a:solidFill>
              <a:srgbClr val="E3F0EF"/>
            </a:solidFill>
            <a:prstDash val="solid"/>
          </a:ln>
        </p:spPr>
      </p:sp>
      <p:sp>
        <p:nvSpPr>
          <p:cNvPr id="13" name="Text 11"/>
          <p:cNvSpPr/>
          <p:nvPr/>
        </p:nvSpPr>
        <p:spPr>
          <a:xfrm>
            <a:off x="649224" y="3017520"/>
            <a:ext cx="274320" cy="274320"/>
          </a:xfrm>
          <a:prstGeom prst="rect">
            <a:avLst/>
          </a:prstGeom>
          <a:noFill/>
          <a:ln/>
        </p:spPr>
        <p:txBody>
          <a:bodyPr wrap="square" lIns="0" tIns="0" rIns="0" bIns="0" rtlCol="0" anchor="ctr"/>
          <a:lstStyle/>
          <a:p>
            <a:pPr marL="0" indent="0" algn="ctr">
              <a:buNone/>
            </a:pPr>
            <a:r>
              <a:rPr lang="en-US" sz="1100" b="1" dirty="0">
                <a:solidFill>
                  <a:srgbClr val="0E7C7B"/>
                </a:solidFill>
                <a:latin typeface="Calibri" pitchFamily="34" charset="0"/>
                <a:ea typeface="Calibri" pitchFamily="34" charset="-122"/>
                <a:cs typeface="Calibri" pitchFamily="34" charset="-120"/>
              </a:rPr>
              <a:t>1</a:t>
            </a:r>
            <a:endParaRPr lang="en-US" sz="1100" dirty="0"/>
          </a:p>
        </p:txBody>
      </p:sp>
      <p:sp>
        <p:nvSpPr>
          <p:cNvPr id="14" name="Text 12"/>
          <p:cNvSpPr/>
          <p:nvPr/>
        </p:nvSpPr>
        <p:spPr>
          <a:xfrm>
            <a:off x="649224"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Schema conformance</a:t>
            </a:r>
            <a:endParaRPr lang="en-US" sz="1200" dirty="0"/>
          </a:p>
        </p:txBody>
      </p:sp>
      <p:sp>
        <p:nvSpPr>
          <p:cNvPr id="15" name="Text 13"/>
          <p:cNvSpPr/>
          <p:nvPr/>
        </p:nvSpPr>
        <p:spPr>
          <a:xfrm>
            <a:off x="649224"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Does the delivered structure match the design the BAs agreed — tables, columns, datatypes, keys and nullability?</a:t>
            </a:r>
            <a:endParaRPr lang="en-US" sz="950" dirty="0"/>
          </a:p>
        </p:txBody>
      </p:sp>
      <p:sp>
        <p:nvSpPr>
          <p:cNvPr id="16" name="Text 14"/>
          <p:cNvSpPr/>
          <p:nvPr/>
        </p:nvSpPr>
        <p:spPr>
          <a:xfrm>
            <a:off x="649224"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0E7C7B"/>
                </a:solidFill>
                <a:latin typeface="Calibri" pitchFamily="34" charset="0"/>
                <a:ea typeface="Calibri" pitchFamily="34" charset="-122"/>
                <a:cs typeface="Calibri" pitchFamily="34" charset="-120"/>
              </a:rPr>
              <a:t>Schema Comparison Tool — covered in this section</a:t>
            </a:r>
            <a:endParaRPr lang="en-US" sz="900" dirty="0"/>
          </a:p>
        </p:txBody>
      </p:sp>
      <p:sp>
        <p:nvSpPr>
          <p:cNvPr id="17" name="Shape 15"/>
          <p:cNvSpPr/>
          <p:nvPr/>
        </p:nvSpPr>
        <p:spPr>
          <a:xfrm>
            <a:off x="2775204" y="2889504"/>
            <a:ext cx="2048256" cy="2395728"/>
          </a:xfrm>
          <a:prstGeom prst="roundRect">
            <a:avLst>
              <a:gd name="adj" fmla="val 3125"/>
            </a:avLst>
          </a:prstGeom>
          <a:solidFill>
            <a:srgbClr val="FFFFFF"/>
          </a:solidFill>
          <a:ln w="12700">
            <a:solidFill>
              <a:srgbClr val="D8E0E4"/>
            </a:solidFill>
            <a:prstDash val="solid"/>
          </a:ln>
        </p:spPr>
      </p:sp>
      <p:sp>
        <p:nvSpPr>
          <p:cNvPr id="18" name="Shape 16"/>
          <p:cNvSpPr/>
          <p:nvPr/>
        </p:nvSpPr>
        <p:spPr>
          <a:xfrm>
            <a:off x="2921508" y="3017520"/>
            <a:ext cx="274320" cy="274320"/>
          </a:xfrm>
          <a:prstGeom prst="ellipse">
            <a:avLst/>
          </a:prstGeom>
          <a:solidFill>
            <a:srgbClr val="E3F0EF"/>
          </a:solidFill>
          <a:ln w="12700">
            <a:solidFill>
              <a:srgbClr val="E3F0EF"/>
            </a:solidFill>
            <a:prstDash val="solid"/>
          </a:ln>
        </p:spPr>
      </p:sp>
      <p:sp>
        <p:nvSpPr>
          <p:cNvPr id="19" name="Text 17"/>
          <p:cNvSpPr/>
          <p:nvPr/>
        </p:nvSpPr>
        <p:spPr>
          <a:xfrm>
            <a:off x="2921508" y="3017520"/>
            <a:ext cx="274320" cy="274320"/>
          </a:xfrm>
          <a:prstGeom prst="rect">
            <a:avLst/>
          </a:prstGeom>
          <a:noFill/>
          <a:ln/>
        </p:spPr>
        <p:txBody>
          <a:bodyPr wrap="square" lIns="0" tIns="0" rIns="0" bIns="0" rtlCol="0" anchor="ctr"/>
          <a:lstStyle/>
          <a:p>
            <a:pPr marL="0" indent="0" algn="ctr">
              <a:buNone/>
            </a:pPr>
            <a:r>
              <a:rPr lang="en-US" sz="1100" b="1" dirty="0">
                <a:solidFill>
                  <a:srgbClr val="0E7C7B"/>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2921508"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Data quality</a:t>
            </a:r>
            <a:endParaRPr lang="en-US" sz="1200" dirty="0"/>
          </a:p>
        </p:txBody>
      </p:sp>
      <p:sp>
        <p:nvSpPr>
          <p:cNvPr id="21" name="Text 19"/>
          <p:cNvSpPr/>
          <p:nvPr/>
        </p:nvSpPr>
        <p:spPr>
          <a:xfrm>
            <a:off x="2921508"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Is the data the analysts' SQL produces correct: complete, unique, referentially sound, and tying back to source?</a:t>
            </a:r>
            <a:endParaRPr lang="en-US" sz="950" dirty="0"/>
          </a:p>
        </p:txBody>
      </p:sp>
      <p:sp>
        <p:nvSpPr>
          <p:cNvPr id="22" name="Text 20"/>
          <p:cNvSpPr/>
          <p:nvPr/>
        </p:nvSpPr>
        <p:spPr>
          <a:xfrm>
            <a:off x="2921508"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0E7C7B"/>
                </a:solidFill>
                <a:latin typeface="Calibri" pitchFamily="34" charset="0"/>
                <a:ea typeface="Calibri" pitchFamily="34" charset="-122"/>
                <a:cs typeface="Calibri" pitchFamily="34" charset="-120"/>
              </a:rPr>
              <a:t>SQL assertion packs, run per batch in dev and test</a:t>
            </a:r>
            <a:endParaRPr lang="en-US" sz="900" dirty="0"/>
          </a:p>
        </p:txBody>
      </p:sp>
      <p:sp>
        <p:nvSpPr>
          <p:cNvPr id="23" name="Shape 21"/>
          <p:cNvSpPr/>
          <p:nvPr/>
        </p:nvSpPr>
        <p:spPr>
          <a:xfrm>
            <a:off x="5047488" y="2889504"/>
            <a:ext cx="2048256" cy="2395728"/>
          </a:xfrm>
          <a:prstGeom prst="roundRect">
            <a:avLst>
              <a:gd name="adj" fmla="val 3125"/>
            </a:avLst>
          </a:prstGeom>
          <a:solidFill>
            <a:srgbClr val="FFFFFF"/>
          </a:solidFill>
          <a:ln w="12700">
            <a:solidFill>
              <a:srgbClr val="D8E0E4"/>
            </a:solidFill>
            <a:prstDash val="solid"/>
          </a:ln>
        </p:spPr>
      </p:sp>
      <p:sp>
        <p:nvSpPr>
          <p:cNvPr id="24" name="Shape 22"/>
          <p:cNvSpPr/>
          <p:nvPr/>
        </p:nvSpPr>
        <p:spPr>
          <a:xfrm>
            <a:off x="5193792" y="3017520"/>
            <a:ext cx="274320" cy="274320"/>
          </a:xfrm>
          <a:prstGeom prst="ellipse">
            <a:avLst/>
          </a:prstGeom>
          <a:solidFill>
            <a:srgbClr val="FBEEDC"/>
          </a:solidFill>
          <a:ln w="12700">
            <a:solidFill>
              <a:srgbClr val="FBEEDC"/>
            </a:solidFill>
            <a:prstDash val="solid"/>
          </a:ln>
        </p:spPr>
      </p:sp>
      <p:sp>
        <p:nvSpPr>
          <p:cNvPr id="25" name="Text 23"/>
          <p:cNvSpPr/>
          <p:nvPr/>
        </p:nvSpPr>
        <p:spPr>
          <a:xfrm>
            <a:off x="5193792" y="3017520"/>
            <a:ext cx="274320" cy="274320"/>
          </a:xfrm>
          <a:prstGeom prst="rect">
            <a:avLst/>
          </a:prstGeom>
          <a:noFill/>
          <a:ln/>
        </p:spPr>
        <p:txBody>
          <a:bodyPr wrap="square" lIns="0" tIns="0" rIns="0" bIns="0" rtlCol="0" anchor="ctr"/>
          <a:lstStyle/>
          <a:p>
            <a:pPr marL="0" indent="0" algn="ctr">
              <a:buNone/>
            </a:pPr>
            <a:r>
              <a:rPr lang="en-US" sz="1100" b="1" dirty="0">
                <a:solidFill>
                  <a:srgbClr val="B26A00"/>
                </a:solidFill>
                <a:latin typeface="Calibri" pitchFamily="34" charset="0"/>
                <a:ea typeface="Calibri" pitchFamily="34" charset="-122"/>
                <a:cs typeface="Calibri" pitchFamily="34" charset="-120"/>
              </a:rPr>
              <a:t>3</a:t>
            </a:r>
            <a:endParaRPr lang="en-US" sz="1100" dirty="0"/>
          </a:p>
        </p:txBody>
      </p:sp>
      <p:sp>
        <p:nvSpPr>
          <p:cNvPr id="26" name="Text 24"/>
          <p:cNvSpPr/>
          <p:nvPr/>
        </p:nvSpPr>
        <p:spPr>
          <a:xfrm>
            <a:off x="5193792"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Bilateral reconciliation</a:t>
            </a:r>
            <a:endParaRPr lang="en-US" sz="1200" dirty="0"/>
          </a:p>
        </p:txBody>
      </p:sp>
      <p:sp>
        <p:nvSpPr>
          <p:cNvPr id="27" name="Text 25"/>
          <p:cNvSpPr/>
          <p:nvPr/>
        </p:nvSpPr>
        <p:spPr>
          <a:xfrm>
            <a:off x="5193792"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Does what leaves one platform equal what lands in the next, and do returned results tie back to what was sent?</a:t>
            </a:r>
            <a:endParaRPr lang="en-US" sz="950" dirty="0"/>
          </a:p>
        </p:txBody>
      </p:sp>
      <p:sp>
        <p:nvSpPr>
          <p:cNvPr id="28" name="Text 26"/>
          <p:cNvSpPr/>
          <p:nvPr/>
        </p:nvSpPr>
        <p:spPr>
          <a:xfrm>
            <a:off x="5193792"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B26A00"/>
                </a:solidFill>
                <a:latin typeface="Calibri" pitchFamily="34" charset="0"/>
                <a:ea typeface="Calibri" pitchFamily="34" charset="-122"/>
                <a:cs typeface="Calibri" pitchFamily="34" charset="-120"/>
              </a:rPr>
              <a:t>Count, control-total and key-set differences</a:t>
            </a:r>
            <a:endParaRPr lang="en-US" sz="900" dirty="0"/>
          </a:p>
        </p:txBody>
      </p:sp>
      <p:sp>
        <p:nvSpPr>
          <p:cNvPr id="29" name="Shape 27"/>
          <p:cNvSpPr/>
          <p:nvPr/>
        </p:nvSpPr>
        <p:spPr>
          <a:xfrm>
            <a:off x="7319772" y="2889504"/>
            <a:ext cx="2048256" cy="2395728"/>
          </a:xfrm>
          <a:prstGeom prst="roundRect">
            <a:avLst>
              <a:gd name="adj" fmla="val 3125"/>
            </a:avLst>
          </a:prstGeom>
          <a:solidFill>
            <a:srgbClr val="FFFFFF"/>
          </a:solidFill>
          <a:ln w="12700">
            <a:solidFill>
              <a:srgbClr val="D8E0E4"/>
            </a:solidFill>
            <a:prstDash val="solid"/>
          </a:ln>
        </p:spPr>
      </p:sp>
      <p:sp>
        <p:nvSpPr>
          <p:cNvPr id="30" name="Shape 28"/>
          <p:cNvSpPr/>
          <p:nvPr/>
        </p:nvSpPr>
        <p:spPr>
          <a:xfrm>
            <a:off x="7466076" y="3017520"/>
            <a:ext cx="274320" cy="274320"/>
          </a:xfrm>
          <a:prstGeom prst="ellipse">
            <a:avLst/>
          </a:prstGeom>
          <a:solidFill>
            <a:srgbClr val="FBEEDC"/>
          </a:solidFill>
          <a:ln w="12700">
            <a:solidFill>
              <a:srgbClr val="FBEEDC"/>
            </a:solidFill>
            <a:prstDash val="solid"/>
          </a:ln>
        </p:spPr>
      </p:sp>
      <p:sp>
        <p:nvSpPr>
          <p:cNvPr id="31" name="Text 29"/>
          <p:cNvSpPr/>
          <p:nvPr/>
        </p:nvSpPr>
        <p:spPr>
          <a:xfrm>
            <a:off x="7466076" y="3017520"/>
            <a:ext cx="274320" cy="274320"/>
          </a:xfrm>
          <a:prstGeom prst="rect">
            <a:avLst/>
          </a:prstGeom>
          <a:noFill/>
          <a:ln/>
        </p:spPr>
        <p:txBody>
          <a:bodyPr wrap="square" lIns="0" tIns="0" rIns="0" bIns="0" rtlCol="0" anchor="ctr"/>
          <a:lstStyle/>
          <a:p>
            <a:pPr marL="0" indent="0" algn="ctr">
              <a:buNone/>
            </a:pPr>
            <a:r>
              <a:rPr lang="en-US" sz="1100" b="1" dirty="0">
                <a:solidFill>
                  <a:srgbClr val="B26A00"/>
                </a:solidFill>
                <a:latin typeface="Calibri" pitchFamily="34" charset="0"/>
                <a:ea typeface="Calibri" pitchFamily="34" charset="-122"/>
                <a:cs typeface="Calibri" pitchFamily="34" charset="-120"/>
              </a:rPr>
              <a:t>4</a:t>
            </a:r>
            <a:endParaRPr lang="en-US" sz="1100" dirty="0"/>
          </a:p>
        </p:txBody>
      </p:sp>
      <p:sp>
        <p:nvSpPr>
          <p:cNvPr id="32" name="Text 30"/>
          <p:cNvSpPr/>
          <p:nvPr/>
        </p:nvSpPr>
        <p:spPr>
          <a:xfrm>
            <a:off x="7466076"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Performance and volume</a:t>
            </a:r>
            <a:endParaRPr lang="en-US" sz="1200" dirty="0"/>
          </a:p>
        </p:txBody>
      </p:sp>
      <p:sp>
        <p:nvSpPr>
          <p:cNvPr id="33" name="Text 31"/>
          <p:cNvSpPr/>
          <p:nvPr/>
        </p:nvSpPr>
        <p:spPr>
          <a:xfrm>
            <a:off x="7466076"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Does the pipeline hold at production volume and still finish inside the batch window?</a:t>
            </a:r>
            <a:endParaRPr lang="en-US" sz="950" dirty="0"/>
          </a:p>
        </p:txBody>
      </p:sp>
      <p:sp>
        <p:nvSpPr>
          <p:cNvPr id="34" name="Text 32"/>
          <p:cNvSpPr/>
          <p:nvPr/>
        </p:nvSpPr>
        <p:spPr>
          <a:xfrm>
            <a:off x="7466076"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B26A00"/>
                </a:solidFill>
                <a:latin typeface="Calibri" pitchFamily="34" charset="0"/>
                <a:ea typeface="Calibri" pitchFamily="34" charset="-122"/>
                <a:cs typeface="Calibri" pitchFamily="34" charset="-120"/>
              </a:rPr>
              <a:t>JMeter or Gatling driving full-volume runs</a:t>
            </a:r>
            <a:endParaRPr lang="en-US" sz="900" dirty="0"/>
          </a:p>
        </p:txBody>
      </p:sp>
      <p:sp>
        <p:nvSpPr>
          <p:cNvPr id="35" name="Shape 33"/>
          <p:cNvSpPr/>
          <p:nvPr/>
        </p:nvSpPr>
        <p:spPr>
          <a:xfrm>
            <a:off x="9592056" y="2889504"/>
            <a:ext cx="2048256" cy="2395728"/>
          </a:xfrm>
          <a:prstGeom prst="roundRect">
            <a:avLst>
              <a:gd name="adj" fmla="val 3125"/>
            </a:avLst>
          </a:prstGeom>
          <a:solidFill>
            <a:srgbClr val="FFFFFF"/>
          </a:solidFill>
          <a:ln w="12700">
            <a:solidFill>
              <a:srgbClr val="D8E0E4"/>
            </a:solidFill>
            <a:prstDash val="solid"/>
          </a:ln>
        </p:spPr>
      </p:sp>
      <p:sp>
        <p:nvSpPr>
          <p:cNvPr id="36" name="Shape 34"/>
          <p:cNvSpPr/>
          <p:nvPr/>
        </p:nvSpPr>
        <p:spPr>
          <a:xfrm>
            <a:off x="9738360" y="3017520"/>
            <a:ext cx="274320" cy="274320"/>
          </a:xfrm>
          <a:prstGeom prst="ellipse">
            <a:avLst/>
          </a:prstGeom>
          <a:solidFill>
            <a:srgbClr val="E3F0EF"/>
          </a:solidFill>
          <a:ln w="12700">
            <a:solidFill>
              <a:srgbClr val="E3F0EF"/>
            </a:solidFill>
            <a:prstDash val="solid"/>
          </a:ln>
        </p:spPr>
      </p:sp>
      <p:sp>
        <p:nvSpPr>
          <p:cNvPr id="37" name="Text 35"/>
          <p:cNvSpPr/>
          <p:nvPr/>
        </p:nvSpPr>
        <p:spPr>
          <a:xfrm>
            <a:off x="9738360" y="3017520"/>
            <a:ext cx="274320" cy="274320"/>
          </a:xfrm>
          <a:prstGeom prst="rect">
            <a:avLst/>
          </a:prstGeom>
          <a:noFill/>
          <a:ln/>
        </p:spPr>
        <p:txBody>
          <a:bodyPr wrap="square" lIns="0" tIns="0" rIns="0" bIns="0" rtlCol="0" anchor="ctr"/>
          <a:lstStyle/>
          <a:p>
            <a:pPr marL="0" indent="0" algn="ctr">
              <a:buNone/>
            </a:pPr>
            <a:r>
              <a:rPr lang="en-US" sz="1100" b="1" dirty="0">
                <a:solidFill>
                  <a:srgbClr val="0E7C7B"/>
                </a:solidFill>
                <a:latin typeface="Calibri" pitchFamily="34" charset="0"/>
                <a:ea typeface="Calibri" pitchFamily="34" charset="-122"/>
                <a:cs typeface="Calibri" pitchFamily="34" charset="-120"/>
              </a:rPr>
              <a:t>5</a:t>
            </a:r>
            <a:endParaRPr lang="en-US" sz="1100" dirty="0"/>
          </a:p>
        </p:txBody>
      </p:sp>
      <p:sp>
        <p:nvSpPr>
          <p:cNvPr id="38" name="Text 36"/>
          <p:cNvSpPr/>
          <p:nvPr/>
        </p:nvSpPr>
        <p:spPr>
          <a:xfrm>
            <a:off x="9738360"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Regression</a:t>
            </a:r>
            <a:endParaRPr lang="en-US" sz="1200" dirty="0"/>
          </a:p>
        </p:txBody>
      </p:sp>
      <p:sp>
        <p:nvSpPr>
          <p:cNvPr id="39" name="Text 37"/>
          <p:cNvSpPr/>
          <p:nvPr/>
        </p:nvSpPr>
        <p:spPr>
          <a:xfrm>
            <a:off x="9738360"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Does a change break a batch that passed before, anywhere along the chain?</a:t>
            </a:r>
            <a:endParaRPr lang="en-US" sz="950" dirty="0"/>
          </a:p>
        </p:txBody>
      </p:sp>
      <p:sp>
        <p:nvSpPr>
          <p:cNvPr id="40" name="Text 38"/>
          <p:cNvSpPr/>
          <p:nvPr/>
        </p:nvSpPr>
        <p:spPr>
          <a:xfrm>
            <a:off x="9738360"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0E7C7B"/>
                </a:solidFill>
                <a:latin typeface="Calibri" pitchFamily="34" charset="0"/>
                <a:ea typeface="Calibri" pitchFamily="34" charset="-122"/>
                <a:cs typeface="Calibri" pitchFamily="34" charset="-120"/>
              </a:rPr>
              <a:t>Frozen fixtures, re-run every release</a:t>
            </a:r>
            <a:endParaRPr lang="en-US" sz="900" dirty="0"/>
          </a:p>
        </p:txBody>
      </p:sp>
      <p:sp>
        <p:nvSpPr>
          <p:cNvPr id="41" name="Shape 39"/>
          <p:cNvSpPr/>
          <p:nvPr/>
        </p:nvSpPr>
        <p:spPr>
          <a:xfrm>
            <a:off x="502920" y="5486400"/>
            <a:ext cx="11183112" cy="731520"/>
          </a:xfrm>
          <a:prstGeom prst="roundRect">
            <a:avLst>
              <a:gd name="adj" fmla="val 8750"/>
            </a:avLst>
          </a:prstGeom>
          <a:solidFill>
            <a:srgbClr val="E8EDEF"/>
          </a:solidFill>
          <a:ln w="12700">
            <a:solidFill>
              <a:srgbClr val="C9D4D9"/>
            </a:solidFill>
            <a:prstDash val="solid"/>
          </a:ln>
        </p:spPr>
      </p:sp>
      <p:sp>
        <p:nvSpPr>
          <p:cNvPr id="42" name="Text 40"/>
          <p:cNvSpPr/>
          <p:nvPr/>
        </p:nvSpPr>
        <p:spPr>
          <a:xfrm>
            <a:off x="667512" y="5614416"/>
            <a:ext cx="10853928" cy="493776"/>
          </a:xfrm>
          <a:prstGeom prst="rect">
            <a:avLst/>
          </a:prstGeom>
          <a:noFill/>
          <a:ln/>
        </p:spPr>
        <p:txBody>
          <a:bodyPr wrap="square" lIns="0" tIns="0" rIns="0" bIns="0" rtlCol="0" anchor="ctr"/>
          <a:lstStyle/>
          <a:p>
            <a:pPr marL="0" indent="0">
              <a:lnSpc>
                <a:spcPct val="105000"/>
              </a:lnSpc>
              <a:buNone/>
            </a:pPr>
            <a:r>
              <a:rPr lang="en-US" sz="1050" b="1" dirty="0">
                <a:solidFill>
                  <a:srgbClr val="1B2A33"/>
                </a:solidFill>
                <a:latin typeface="Calibri" pitchFamily="34" charset="0"/>
                <a:ea typeface="Calibri" pitchFamily="34" charset="-122"/>
                <a:cs typeface="Calibri" pitchFamily="34" charset="-120"/>
              </a:rPr>
              <a:t>Sequence — </a:t>
            </a:r>
            <a:r>
              <a:rPr lang="en-US" sz="1050" dirty="0">
                <a:solidFill>
                  <a:srgbClr val="3E4C55"/>
                </a:solidFill>
                <a:latin typeface="Calibri" pitchFamily="34" charset="0"/>
                <a:ea typeface="Calibri" pitchFamily="34" charset="-122"/>
                <a:cs typeface="Calibri" pitchFamily="34" charset="-120"/>
              </a:rPr>
              <a:t>schema conformance runs first, because no other result can be read until the structure agrees. Data quality follows on a schema that is known to be right, bilateral reconciliation proves it survived every platform hop, and performance is measured last on a pipeline that is already functionally correct.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Schema Comparison Tool — end-to-end flow</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Automated schema-drift check between the DA's pull request and the BA-maintained MDR mapping sheet</a:t>
            </a:r>
            <a:endParaRPr lang="en-US" sz="1250" dirty="0"/>
          </a:p>
        </p:txBody>
      </p:sp>
      <p:sp>
        <p:nvSpPr>
          <p:cNvPr id="4" name="Shape 2"/>
          <p:cNvSpPr/>
          <p:nvPr/>
        </p:nvSpPr>
        <p:spPr>
          <a:xfrm>
            <a:off x="502920" y="1371600"/>
            <a:ext cx="2971800" cy="1371600"/>
          </a:xfrm>
          <a:prstGeom prst="roundRect">
            <a:avLst>
              <a:gd name="adj" fmla="val 4667"/>
            </a:avLst>
          </a:prstGeom>
          <a:solidFill>
            <a:srgbClr val="E8EDEF"/>
          </a:solidFill>
          <a:ln w="12700">
            <a:solidFill>
              <a:srgbClr val="C9D4D9"/>
            </a:solidFill>
            <a:prstDash val="solid"/>
          </a:ln>
        </p:spPr>
      </p:sp>
      <p:sp>
        <p:nvSpPr>
          <p:cNvPr id="5" name="Shape 3"/>
          <p:cNvSpPr/>
          <p:nvPr/>
        </p:nvSpPr>
        <p:spPr>
          <a:xfrm>
            <a:off x="667512" y="1517904"/>
            <a:ext cx="868680" cy="237744"/>
          </a:xfrm>
          <a:prstGeom prst="roundRect">
            <a:avLst>
              <a:gd name="adj" fmla="val 46154"/>
            </a:avLst>
          </a:prstGeom>
          <a:solidFill>
            <a:srgbClr val="1B2A33"/>
          </a:solidFill>
          <a:ln w="12700">
            <a:solidFill>
              <a:srgbClr val="1B2A33"/>
            </a:solidFill>
            <a:prstDash val="solid"/>
          </a:ln>
        </p:spPr>
      </p:sp>
      <p:sp>
        <p:nvSpPr>
          <p:cNvPr id="6" name="Text 4"/>
          <p:cNvSpPr/>
          <p:nvPr/>
        </p:nvSpPr>
        <p:spPr>
          <a:xfrm>
            <a:off x="667512" y="1517904"/>
            <a:ext cx="86868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TARGET</a:t>
            </a:r>
            <a:endParaRPr lang="en-US" sz="900" dirty="0"/>
          </a:p>
        </p:txBody>
      </p:sp>
      <p:sp>
        <p:nvSpPr>
          <p:cNvPr id="7" name="Text 5"/>
          <p:cNvSpPr/>
          <p:nvPr/>
        </p:nvSpPr>
        <p:spPr>
          <a:xfrm>
            <a:off x="667512" y="1792224"/>
            <a:ext cx="2651760"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Pull request (DA)</a:t>
            </a:r>
            <a:endParaRPr lang="en-US" sz="1400" dirty="0"/>
          </a:p>
        </p:txBody>
      </p:sp>
      <p:sp>
        <p:nvSpPr>
          <p:cNvPr id="8" name="Text 6"/>
          <p:cNvSpPr/>
          <p:nvPr/>
        </p:nvSpPr>
        <p:spPr>
          <a:xfrm>
            <a:off x="667512" y="2057400"/>
            <a:ext cx="2651760" cy="566928"/>
          </a:xfrm>
          <a:prstGeom prst="rect">
            <a:avLst/>
          </a:prstGeom>
          <a:noFill/>
          <a:ln/>
        </p:spPr>
        <p:txBody>
          <a:bodyPr wrap="square" lIns="0" tIns="0" rIns="0" bIns="0" rtlCol="0" anchor="ctr"/>
          <a:lstStyle/>
          <a:p>
            <a:pPr marL="0" indent="0">
              <a:lnSpc>
                <a:spcPct val="105000"/>
              </a:lnSpc>
              <a:buNone/>
            </a:pPr>
            <a:r>
              <a:rPr lang="en-US" sz="1000" dirty="0">
                <a:solidFill>
                  <a:srgbClr val="3E4C55"/>
                </a:solidFill>
                <a:latin typeface="Calibri" pitchFamily="34" charset="0"/>
                <a:ea typeface="Calibri" pitchFamily="34" charset="-122"/>
                <a:cs typeface="Calibri" pitchFamily="34" charset="-120"/>
              </a:rPr>
              <a:t>The PR tool extracts the pre-stage DDL into a flat list:</a:t>
            </a:r>
            <a:endParaRPr lang="en-US" sz="1000" dirty="0"/>
          </a:p>
          <a:p>
            <a:pPr marL="0" indent="0">
              <a:lnSpc>
                <a:spcPct val="105000"/>
              </a:lnSpc>
              <a:buNone/>
            </a:pPr>
            <a:r>
              <a:rPr lang="en-US" sz="1000" dirty="0">
                <a:solidFill>
                  <a:srgbClr val="3E4C55"/>
                </a:solidFill>
                <a:latin typeface="Calibri" pitchFamily="34" charset="0"/>
                <a:ea typeface="Calibri" pitchFamily="34" charset="-122"/>
                <a:cs typeface="Calibri" pitchFamily="34" charset="-120"/>
              </a:rPr>
              <a:t>Table Name · Column Name · Data Type</a:t>
            </a:r>
            <a:endParaRPr lang="en-US" sz="1000" dirty="0"/>
          </a:p>
        </p:txBody>
      </p:sp>
      <p:sp>
        <p:nvSpPr>
          <p:cNvPr id="9" name="Shape 7"/>
          <p:cNvSpPr/>
          <p:nvPr/>
        </p:nvSpPr>
        <p:spPr>
          <a:xfrm>
            <a:off x="502920" y="3063240"/>
            <a:ext cx="2971800" cy="1371600"/>
          </a:xfrm>
          <a:prstGeom prst="roundRect">
            <a:avLst>
              <a:gd name="adj" fmla="val 4667"/>
            </a:avLst>
          </a:prstGeom>
          <a:solidFill>
            <a:srgbClr val="E8EDEF"/>
          </a:solidFill>
          <a:ln w="12700">
            <a:solidFill>
              <a:srgbClr val="C9D4D9"/>
            </a:solidFill>
            <a:prstDash val="solid"/>
          </a:ln>
        </p:spPr>
      </p:sp>
      <p:sp>
        <p:nvSpPr>
          <p:cNvPr id="10" name="Shape 8"/>
          <p:cNvSpPr/>
          <p:nvPr/>
        </p:nvSpPr>
        <p:spPr>
          <a:xfrm>
            <a:off x="667512" y="3209544"/>
            <a:ext cx="868680" cy="237744"/>
          </a:xfrm>
          <a:prstGeom prst="roundRect">
            <a:avLst>
              <a:gd name="adj" fmla="val 46154"/>
            </a:avLst>
          </a:prstGeom>
          <a:solidFill>
            <a:srgbClr val="0E7C7B"/>
          </a:solidFill>
          <a:ln w="12700">
            <a:solidFill>
              <a:srgbClr val="0E7C7B"/>
            </a:solidFill>
            <a:prstDash val="solid"/>
          </a:ln>
        </p:spPr>
      </p:sp>
      <p:sp>
        <p:nvSpPr>
          <p:cNvPr id="11" name="Text 9"/>
          <p:cNvSpPr/>
          <p:nvPr/>
        </p:nvSpPr>
        <p:spPr>
          <a:xfrm>
            <a:off x="667512" y="3209544"/>
            <a:ext cx="86868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SOURCE</a:t>
            </a:r>
            <a:endParaRPr lang="en-US" sz="900" dirty="0"/>
          </a:p>
        </p:txBody>
      </p:sp>
      <p:sp>
        <p:nvSpPr>
          <p:cNvPr id="12" name="Text 10"/>
          <p:cNvSpPr/>
          <p:nvPr/>
        </p:nvSpPr>
        <p:spPr>
          <a:xfrm>
            <a:off x="667512" y="3483864"/>
            <a:ext cx="2651760"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MDR mapping sheet (BA)</a:t>
            </a:r>
            <a:endParaRPr lang="en-US" sz="1400" dirty="0"/>
          </a:p>
        </p:txBody>
      </p:sp>
      <p:sp>
        <p:nvSpPr>
          <p:cNvPr id="13" name="Text 11"/>
          <p:cNvSpPr/>
          <p:nvPr/>
        </p:nvSpPr>
        <p:spPr>
          <a:xfrm>
            <a:off x="667512" y="3749040"/>
            <a:ext cx="2651760" cy="603504"/>
          </a:xfrm>
          <a:prstGeom prst="rect">
            <a:avLst/>
          </a:prstGeom>
          <a:noFill/>
          <a:ln/>
        </p:spPr>
        <p:txBody>
          <a:bodyPr wrap="square" lIns="0" tIns="0" rIns="0" bIns="0" rtlCol="0" anchor="ctr"/>
          <a:lstStyle/>
          <a:p>
            <a:pPr marL="0" indent="0">
              <a:lnSpc>
                <a:spcPct val="105000"/>
              </a:lnSpc>
              <a:buNone/>
            </a:pPr>
            <a:r>
              <a:rPr lang="en-US" sz="1000" dirty="0">
                <a:solidFill>
                  <a:srgbClr val="3E4C55"/>
                </a:solidFill>
                <a:latin typeface="Calibri" pitchFamily="34" charset="0"/>
                <a:ea typeface="Calibri" pitchFamily="34" charset="-122"/>
                <a:cs typeface="Calibri" pitchFamily="34" charset="-120"/>
              </a:rPr>
              <a:t>The agreed schema baseline — table, column, datatype, key and nullability — versioned by the BA team</a:t>
            </a:r>
            <a:endParaRPr lang="en-US" sz="1000" dirty="0"/>
          </a:p>
        </p:txBody>
      </p:sp>
      <p:sp>
        <p:nvSpPr>
          <p:cNvPr id="14" name="Shape 12"/>
          <p:cNvSpPr/>
          <p:nvPr/>
        </p:nvSpPr>
        <p:spPr>
          <a:xfrm>
            <a:off x="3474720" y="2331720"/>
            <a:ext cx="566928" cy="0"/>
          </a:xfrm>
          <a:prstGeom prst="line">
            <a:avLst/>
          </a:prstGeom>
          <a:noFill/>
          <a:ln w="25400">
            <a:solidFill>
              <a:srgbClr val="1B2A33"/>
            </a:solidFill>
            <a:prstDash val="solid"/>
            <a:tailEnd type="triangle"/>
          </a:ln>
        </p:spPr>
      </p:sp>
      <p:sp>
        <p:nvSpPr>
          <p:cNvPr id="15" name="Shape 13"/>
          <p:cNvSpPr/>
          <p:nvPr/>
        </p:nvSpPr>
        <p:spPr>
          <a:xfrm>
            <a:off x="3474720" y="3749040"/>
            <a:ext cx="566928" cy="0"/>
          </a:xfrm>
          <a:prstGeom prst="line">
            <a:avLst/>
          </a:prstGeom>
          <a:noFill/>
          <a:ln w="25400">
            <a:solidFill>
              <a:srgbClr val="0E7C7B"/>
            </a:solidFill>
            <a:prstDash val="solid"/>
            <a:tailEnd type="triangle"/>
          </a:ln>
        </p:spPr>
      </p:sp>
      <p:sp>
        <p:nvSpPr>
          <p:cNvPr id="16" name="Shape 14"/>
          <p:cNvSpPr/>
          <p:nvPr/>
        </p:nvSpPr>
        <p:spPr>
          <a:xfrm>
            <a:off x="4069080" y="1965960"/>
            <a:ext cx="3017520" cy="2194560"/>
          </a:xfrm>
          <a:prstGeom prst="roundRect">
            <a:avLst>
              <a:gd name="adj" fmla="val 2917"/>
            </a:avLst>
          </a:prstGeom>
          <a:solidFill>
            <a:srgbClr val="FFFFFF"/>
          </a:solidFill>
          <a:ln w="12700">
            <a:solidFill>
              <a:srgbClr val="0E7C7B"/>
            </a:solidFill>
            <a:prstDash val="solid"/>
          </a:ln>
        </p:spPr>
      </p:sp>
      <p:sp>
        <p:nvSpPr>
          <p:cNvPr id="17" name="Text 15"/>
          <p:cNvSpPr/>
          <p:nvPr/>
        </p:nvSpPr>
        <p:spPr>
          <a:xfrm>
            <a:off x="4233672" y="2103120"/>
            <a:ext cx="2697480"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Comparison engine</a:t>
            </a:r>
            <a:endParaRPr lang="en-US" sz="1400" dirty="0"/>
          </a:p>
        </p:txBody>
      </p:sp>
      <p:sp>
        <p:nvSpPr>
          <p:cNvPr id="18" name="Shape 16"/>
          <p:cNvSpPr/>
          <p:nvPr/>
        </p:nvSpPr>
        <p:spPr>
          <a:xfrm>
            <a:off x="4233672" y="2423160"/>
            <a:ext cx="201168" cy="201168"/>
          </a:xfrm>
          <a:prstGeom prst="ellipse">
            <a:avLst/>
          </a:prstGeom>
          <a:solidFill>
            <a:srgbClr val="E3F0EF"/>
          </a:solidFill>
          <a:ln w="12700">
            <a:solidFill>
              <a:srgbClr val="E3F0EF"/>
            </a:solidFill>
            <a:prstDash val="solid"/>
          </a:ln>
        </p:spPr>
      </p:sp>
      <p:sp>
        <p:nvSpPr>
          <p:cNvPr id="19" name="Text 17"/>
          <p:cNvSpPr/>
          <p:nvPr/>
        </p:nvSpPr>
        <p:spPr>
          <a:xfrm>
            <a:off x="4233672" y="2423160"/>
            <a:ext cx="201168" cy="201168"/>
          </a:xfrm>
          <a:prstGeom prst="rect">
            <a:avLst/>
          </a:prstGeom>
          <a:noFill/>
          <a:ln/>
        </p:spPr>
        <p:txBody>
          <a:bodyPr wrap="square" lIns="0" tIns="0" rIns="0" bIns="0" rtlCol="0" anchor="ctr"/>
          <a:lstStyle/>
          <a:p>
            <a:pPr marL="0" indent="0" algn="ctr">
              <a:buNone/>
            </a:pPr>
            <a:r>
              <a:rPr lang="en-US" sz="850" b="1" dirty="0">
                <a:solidFill>
                  <a:srgbClr val="0E7C7B"/>
                </a:solidFill>
                <a:latin typeface="Calibri" pitchFamily="34" charset="0"/>
                <a:ea typeface="Calibri" pitchFamily="34" charset="-122"/>
                <a:cs typeface="Calibri" pitchFamily="34" charset="-120"/>
              </a:rPr>
              <a:t>1</a:t>
            </a:r>
            <a:endParaRPr lang="en-US" sz="850" dirty="0"/>
          </a:p>
        </p:txBody>
      </p:sp>
      <p:sp>
        <p:nvSpPr>
          <p:cNvPr id="20" name="Text 18"/>
          <p:cNvSpPr/>
          <p:nvPr/>
        </p:nvSpPr>
        <p:spPr>
          <a:xfrm>
            <a:off x="4507992" y="2404872"/>
            <a:ext cx="2423160" cy="384048"/>
          </a:xfrm>
          <a:prstGeom prst="rect">
            <a:avLst/>
          </a:prstGeom>
          <a:noFill/>
          <a:ln/>
        </p:spPr>
        <p:txBody>
          <a:bodyPr wrap="square" lIns="0" tIns="0" rIns="0" bIns="0" rtlCol="0" anchor="ctr"/>
          <a:lstStyle/>
          <a:p>
            <a:pPr marL="0" indent="0">
              <a:lnSpc>
                <a:spcPct val="100000"/>
              </a:lnSpc>
              <a:buNone/>
            </a:pPr>
            <a:r>
              <a:rPr lang="en-US" sz="950" b="1" dirty="0">
                <a:solidFill>
                  <a:srgbClr val="1B2A33"/>
                </a:solidFill>
                <a:latin typeface="Calibri" pitchFamily="34" charset="0"/>
                <a:ea typeface="Calibri" pitchFamily="34" charset="-122"/>
                <a:cs typeface="Calibri" pitchFamily="34" charset="-120"/>
              </a:rPr>
              <a:t>Normalise — </a:t>
            </a:r>
            <a:r>
              <a:rPr lang="en-US" sz="950" dirty="0">
                <a:solidFill>
                  <a:srgbClr val="3E4C55"/>
                </a:solidFill>
                <a:latin typeface="Calibri" pitchFamily="34" charset="0"/>
                <a:ea typeface="Calibri" pitchFamily="34" charset="-122"/>
                <a:cs typeface="Calibri" pitchFamily="34" charset="-120"/>
              </a:rPr>
              <a:t>canonicalise object names and datatypes on both sides</a:t>
            </a:r>
            <a:endParaRPr lang="en-US" sz="950" dirty="0"/>
          </a:p>
        </p:txBody>
      </p:sp>
      <p:sp>
        <p:nvSpPr>
          <p:cNvPr id="21" name="Shape 19"/>
          <p:cNvSpPr/>
          <p:nvPr/>
        </p:nvSpPr>
        <p:spPr>
          <a:xfrm>
            <a:off x="4233672" y="2843784"/>
            <a:ext cx="201168" cy="201168"/>
          </a:xfrm>
          <a:prstGeom prst="ellipse">
            <a:avLst/>
          </a:prstGeom>
          <a:solidFill>
            <a:srgbClr val="E3F0EF"/>
          </a:solidFill>
          <a:ln w="12700">
            <a:solidFill>
              <a:srgbClr val="E3F0EF"/>
            </a:solidFill>
            <a:prstDash val="solid"/>
          </a:ln>
        </p:spPr>
      </p:sp>
      <p:sp>
        <p:nvSpPr>
          <p:cNvPr id="22" name="Text 20"/>
          <p:cNvSpPr/>
          <p:nvPr/>
        </p:nvSpPr>
        <p:spPr>
          <a:xfrm>
            <a:off x="4233672" y="2843784"/>
            <a:ext cx="201168" cy="201168"/>
          </a:xfrm>
          <a:prstGeom prst="rect">
            <a:avLst/>
          </a:prstGeom>
          <a:noFill/>
          <a:ln/>
        </p:spPr>
        <p:txBody>
          <a:bodyPr wrap="square" lIns="0" tIns="0" rIns="0" bIns="0" rtlCol="0" anchor="ctr"/>
          <a:lstStyle/>
          <a:p>
            <a:pPr marL="0" indent="0" algn="ctr">
              <a:buNone/>
            </a:pPr>
            <a:r>
              <a:rPr lang="en-US" sz="850" b="1" dirty="0">
                <a:solidFill>
                  <a:srgbClr val="0E7C7B"/>
                </a:solidFill>
                <a:latin typeface="Calibri" pitchFamily="34" charset="0"/>
                <a:ea typeface="Calibri" pitchFamily="34" charset="-122"/>
                <a:cs typeface="Calibri" pitchFamily="34" charset="-120"/>
              </a:rPr>
              <a:t>2</a:t>
            </a:r>
            <a:endParaRPr lang="en-US" sz="850" dirty="0"/>
          </a:p>
        </p:txBody>
      </p:sp>
      <p:sp>
        <p:nvSpPr>
          <p:cNvPr id="23" name="Text 21"/>
          <p:cNvSpPr/>
          <p:nvPr/>
        </p:nvSpPr>
        <p:spPr>
          <a:xfrm>
            <a:off x="4507992" y="2825496"/>
            <a:ext cx="2423160" cy="384048"/>
          </a:xfrm>
          <a:prstGeom prst="rect">
            <a:avLst/>
          </a:prstGeom>
          <a:noFill/>
          <a:ln/>
        </p:spPr>
        <p:txBody>
          <a:bodyPr wrap="square" lIns="0" tIns="0" rIns="0" bIns="0" rtlCol="0" anchor="ctr"/>
          <a:lstStyle/>
          <a:p>
            <a:pPr marL="0" indent="0">
              <a:lnSpc>
                <a:spcPct val="100000"/>
              </a:lnSpc>
              <a:buNone/>
            </a:pPr>
            <a:r>
              <a:rPr lang="en-US" sz="950" b="1" dirty="0">
                <a:solidFill>
                  <a:srgbClr val="1B2A33"/>
                </a:solidFill>
                <a:latin typeface="Calibri" pitchFamily="34" charset="0"/>
                <a:ea typeface="Calibri" pitchFamily="34" charset="-122"/>
                <a:cs typeface="Calibri" pitchFamily="34" charset="-120"/>
              </a:rPr>
              <a:t>Match tables — </a:t>
            </a:r>
            <a:r>
              <a:rPr lang="en-US" sz="950" dirty="0">
                <a:solidFill>
                  <a:srgbClr val="3E4C55"/>
                </a:solidFill>
                <a:latin typeface="Calibri" pitchFamily="34" charset="0"/>
                <a:ea typeface="Calibri" pitchFamily="34" charset="-122"/>
                <a:cs typeface="Calibri" pitchFamily="34" charset="-120"/>
              </a:rPr>
              <a:t>source set vs target set, both directions</a:t>
            </a:r>
            <a:endParaRPr lang="en-US" sz="950" dirty="0"/>
          </a:p>
        </p:txBody>
      </p:sp>
      <p:sp>
        <p:nvSpPr>
          <p:cNvPr id="24" name="Shape 22"/>
          <p:cNvSpPr/>
          <p:nvPr/>
        </p:nvSpPr>
        <p:spPr>
          <a:xfrm>
            <a:off x="4233672" y="3264408"/>
            <a:ext cx="201168" cy="201168"/>
          </a:xfrm>
          <a:prstGeom prst="ellipse">
            <a:avLst/>
          </a:prstGeom>
          <a:solidFill>
            <a:srgbClr val="E3F0EF"/>
          </a:solidFill>
          <a:ln w="12700">
            <a:solidFill>
              <a:srgbClr val="E3F0EF"/>
            </a:solidFill>
            <a:prstDash val="solid"/>
          </a:ln>
        </p:spPr>
      </p:sp>
      <p:sp>
        <p:nvSpPr>
          <p:cNvPr id="25" name="Text 23"/>
          <p:cNvSpPr/>
          <p:nvPr/>
        </p:nvSpPr>
        <p:spPr>
          <a:xfrm>
            <a:off x="4233672" y="3264408"/>
            <a:ext cx="201168" cy="201168"/>
          </a:xfrm>
          <a:prstGeom prst="rect">
            <a:avLst/>
          </a:prstGeom>
          <a:noFill/>
          <a:ln/>
        </p:spPr>
        <p:txBody>
          <a:bodyPr wrap="square" lIns="0" tIns="0" rIns="0" bIns="0" rtlCol="0" anchor="ctr"/>
          <a:lstStyle/>
          <a:p>
            <a:pPr marL="0" indent="0" algn="ctr">
              <a:buNone/>
            </a:pPr>
            <a:r>
              <a:rPr lang="en-US" sz="850" b="1" dirty="0">
                <a:solidFill>
                  <a:srgbClr val="0E7C7B"/>
                </a:solidFill>
                <a:latin typeface="Calibri" pitchFamily="34" charset="0"/>
                <a:ea typeface="Calibri" pitchFamily="34" charset="-122"/>
                <a:cs typeface="Calibri" pitchFamily="34" charset="-120"/>
              </a:rPr>
              <a:t>3</a:t>
            </a:r>
            <a:endParaRPr lang="en-US" sz="850" dirty="0"/>
          </a:p>
        </p:txBody>
      </p:sp>
      <p:sp>
        <p:nvSpPr>
          <p:cNvPr id="26" name="Text 24"/>
          <p:cNvSpPr/>
          <p:nvPr/>
        </p:nvSpPr>
        <p:spPr>
          <a:xfrm>
            <a:off x="4507992" y="3246120"/>
            <a:ext cx="2423160" cy="384048"/>
          </a:xfrm>
          <a:prstGeom prst="rect">
            <a:avLst/>
          </a:prstGeom>
          <a:noFill/>
          <a:ln/>
        </p:spPr>
        <p:txBody>
          <a:bodyPr wrap="square" lIns="0" tIns="0" rIns="0" bIns="0" rtlCol="0" anchor="ctr"/>
          <a:lstStyle/>
          <a:p>
            <a:pPr marL="0" indent="0">
              <a:lnSpc>
                <a:spcPct val="100000"/>
              </a:lnSpc>
              <a:buNone/>
            </a:pPr>
            <a:r>
              <a:rPr lang="en-US" sz="950" b="1" dirty="0">
                <a:solidFill>
                  <a:srgbClr val="1B2A33"/>
                </a:solidFill>
                <a:latin typeface="Calibri" pitchFamily="34" charset="0"/>
                <a:ea typeface="Calibri" pitchFamily="34" charset="-122"/>
                <a:cs typeface="Calibri" pitchFamily="34" charset="-120"/>
              </a:rPr>
              <a:t>Match columns — </a:t>
            </a:r>
            <a:r>
              <a:rPr lang="en-US" sz="950" dirty="0">
                <a:solidFill>
                  <a:srgbClr val="3E4C55"/>
                </a:solidFill>
                <a:latin typeface="Calibri" pitchFamily="34" charset="0"/>
                <a:ea typeface="Calibri" pitchFamily="34" charset="-122"/>
                <a:cs typeface="Calibri" pitchFamily="34" charset="-120"/>
              </a:rPr>
              <a:t>per table, both directions</a:t>
            </a:r>
            <a:endParaRPr lang="en-US" sz="950" dirty="0"/>
          </a:p>
        </p:txBody>
      </p:sp>
      <p:sp>
        <p:nvSpPr>
          <p:cNvPr id="27" name="Shape 25"/>
          <p:cNvSpPr/>
          <p:nvPr/>
        </p:nvSpPr>
        <p:spPr>
          <a:xfrm>
            <a:off x="4233672" y="3685032"/>
            <a:ext cx="201168" cy="201168"/>
          </a:xfrm>
          <a:prstGeom prst="ellipse">
            <a:avLst/>
          </a:prstGeom>
          <a:solidFill>
            <a:srgbClr val="E3F0EF"/>
          </a:solidFill>
          <a:ln w="12700">
            <a:solidFill>
              <a:srgbClr val="E3F0EF"/>
            </a:solidFill>
            <a:prstDash val="solid"/>
          </a:ln>
        </p:spPr>
      </p:sp>
      <p:sp>
        <p:nvSpPr>
          <p:cNvPr id="28" name="Text 26"/>
          <p:cNvSpPr/>
          <p:nvPr/>
        </p:nvSpPr>
        <p:spPr>
          <a:xfrm>
            <a:off x="4233672" y="3685032"/>
            <a:ext cx="201168" cy="201168"/>
          </a:xfrm>
          <a:prstGeom prst="rect">
            <a:avLst/>
          </a:prstGeom>
          <a:noFill/>
          <a:ln/>
        </p:spPr>
        <p:txBody>
          <a:bodyPr wrap="square" lIns="0" tIns="0" rIns="0" bIns="0" rtlCol="0" anchor="ctr"/>
          <a:lstStyle/>
          <a:p>
            <a:pPr marL="0" indent="0" algn="ctr">
              <a:buNone/>
            </a:pPr>
            <a:r>
              <a:rPr lang="en-US" sz="850" b="1" dirty="0">
                <a:solidFill>
                  <a:srgbClr val="0E7C7B"/>
                </a:solidFill>
                <a:latin typeface="Calibri" pitchFamily="34" charset="0"/>
                <a:ea typeface="Calibri" pitchFamily="34" charset="-122"/>
                <a:cs typeface="Calibri" pitchFamily="34" charset="-120"/>
              </a:rPr>
              <a:t>4</a:t>
            </a:r>
            <a:endParaRPr lang="en-US" sz="850" dirty="0"/>
          </a:p>
        </p:txBody>
      </p:sp>
      <p:sp>
        <p:nvSpPr>
          <p:cNvPr id="29" name="Text 27"/>
          <p:cNvSpPr/>
          <p:nvPr/>
        </p:nvSpPr>
        <p:spPr>
          <a:xfrm>
            <a:off x="4507992" y="3666744"/>
            <a:ext cx="2423160" cy="384048"/>
          </a:xfrm>
          <a:prstGeom prst="rect">
            <a:avLst/>
          </a:prstGeom>
          <a:noFill/>
          <a:ln/>
        </p:spPr>
        <p:txBody>
          <a:bodyPr wrap="square" lIns="0" tIns="0" rIns="0" bIns="0" rtlCol="0" anchor="ctr"/>
          <a:lstStyle/>
          <a:p>
            <a:pPr marL="0" indent="0">
              <a:lnSpc>
                <a:spcPct val="100000"/>
              </a:lnSpc>
              <a:buNone/>
            </a:pPr>
            <a:r>
              <a:rPr lang="en-US" sz="950" b="1" dirty="0">
                <a:solidFill>
                  <a:srgbClr val="1B2A33"/>
                </a:solidFill>
                <a:latin typeface="Calibri" pitchFamily="34" charset="0"/>
                <a:ea typeface="Calibri" pitchFamily="34" charset="-122"/>
                <a:cs typeface="Calibri" pitchFamily="34" charset="-120"/>
              </a:rPr>
              <a:t>Compare datatypes — </a:t>
            </a:r>
            <a:r>
              <a:rPr lang="en-US" sz="950" dirty="0">
                <a:solidFill>
                  <a:srgbClr val="3E4C55"/>
                </a:solidFill>
                <a:latin typeface="Calibri" pitchFamily="34" charset="0"/>
                <a:ea typeface="Calibri" pitchFamily="34" charset="-122"/>
                <a:cs typeface="Calibri" pitchFamily="34" charset="-120"/>
              </a:rPr>
              <a:t>on the columns present in both</a:t>
            </a:r>
            <a:endParaRPr lang="en-US" sz="950" dirty="0"/>
          </a:p>
        </p:txBody>
      </p:sp>
      <p:sp>
        <p:nvSpPr>
          <p:cNvPr id="30" name="Shape 28"/>
          <p:cNvSpPr/>
          <p:nvPr/>
        </p:nvSpPr>
        <p:spPr>
          <a:xfrm>
            <a:off x="7132320" y="3063240"/>
            <a:ext cx="548640" cy="0"/>
          </a:xfrm>
          <a:prstGeom prst="line">
            <a:avLst/>
          </a:prstGeom>
          <a:noFill/>
          <a:ln w="25400">
            <a:solidFill>
              <a:srgbClr val="1B2A33"/>
            </a:solidFill>
            <a:prstDash val="solid"/>
            <a:tailEnd type="triangle"/>
          </a:ln>
        </p:spPr>
      </p:sp>
      <p:sp>
        <p:nvSpPr>
          <p:cNvPr id="31" name="Shape 29"/>
          <p:cNvSpPr/>
          <p:nvPr/>
        </p:nvSpPr>
        <p:spPr>
          <a:xfrm>
            <a:off x="7726680" y="1965960"/>
            <a:ext cx="3959352" cy="2194560"/>
          </a:xfrm>
          <a:prstGeom prst="roundRect">
            <a:avLst>
              <a:gd name="adj" fmla="val 2917"/>
            </a:avLst>
          </a:prstGeom>
          <a:solidFill>
            <a:srgbClr val="F2F6F7"/>
          </a:solidFill>
          <a:ln w="12700">
            <a:solidFill>
              <a:srgbClr val="C9D4D9"/>
            </a:solidFill>
            <a:prstDash val="solid"/>
          </a:ln>
        </p:spPr>
      </p:sp>
      <p:sp>
        <p:nvSpPr>
          <p:cNvPr id="32" name="Text 30"/>
          <p:cNvSpPr/>
          <p:nvPr/>
        </p:nvSpPr>
        <p:spPr>
          <a:xfrm>
            <a:off x="7891272" y="2103120"/>
            <a:ext cx="3630168"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Schema Comparison Report (.xlsx)</a:t>
            </a:r>
            <a:endParaRPr lang="en-US" sz="1400" dirty="0"/>
          </a:p>
        </p:txBody>
      </p:sp>
      <p:sp>
        <p:nvSpPr>
          <p:cNvPr id="33" name="Text 31"/>
          <p:cNvSpPr/>
          <p:nvPr/>
        </p:nvSpPr>
        <p:spPr>
          <a:xfrm>
            <a:off x="7891272" y="2432304"/>
            <a:ext cx="3630168" cy="123444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Summary</a:t>
            </a:r>
            <a:endParaRPr lang="en-US" sz="1000" dirty="0"/>
          </a:p>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Missing_Tables_Target  /  Missing_Tables_Source</a:t>
            </a:r>
            <a:endParaRPr lang="en-US" sz="1000" dirty="0"/>
          </a:p>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Missing_Columns_Target  /  Missing_Columns_Source</a:t>
            </a:r>
            <a:endParaRPr lang="en-US" sz="1000" dirty="0"/>
          </a:p>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Datatype_Mismatches</a:t>
            </a:r>
            <a:endParaRPr lang="en-US" sz="1000" dirty="0"/>
          </a:p>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Datatype_Matches</a:t>
            </a:r>
            <a:endParaRPr lang="en-US" sz="1000" dirty="0"/>
          </a:p>
        </p:txBody>
      </p:sp>
      <p:sp>
        <p:nvSpPr>
          <p:cNvPr id="34" name="Text 32"/>
          <p:cNvSpPr/>
          <p:nvPr/>
        </p:nvSpPr>
        <p:spPr>
          <a:xfrm>
            <a:off x="7891272" y="3703320"/>
            <a:ext cx="3630168" cy="329184"/>
          </a:xfrm>
          <a:prstGeom prst="rect">
            <a:avLst/>
          </a:prstGeom>
          <a:noFill/>
          <a:ln/>
        </p:spPr>
        <p:txBody>
          <a:bodyPr wrap="square" lIns="0" tIns="0" rIns="0" bIns="0" rtlCol="0" anchor="ctr"/>
          <a:lstStyle/>
          <a:p>
            <a:pPr marL="0" indent="0">
              <a:buNone/>
            </a:pPr>
            <a:r>
              <a:rPr lang="en-US" sz="950" i="1" dirty="0">
                <a:solidFill>
                  <a:srgbClr val="6B7B85"/>
                </a:solidFill>
                <a:latin typeface="Calibri" pitchFamily="34" charset="0"/>
                <a:ea typeface="Calibri" pitchFamily="34" charset="-122"/>
                <a:cs typeface="Calibri" pitchFamily="34" charset="-120"/>
              </a:rPr>
              <a:t>Consumed by the DA to fix the PR and by the BA to confirm the baseline is current.</a:t>
            </a:r>
            <a:endParaRPr lang="en-US" sz="950" dirty="0"/>
          </a:p>
        </p:txBody>
      </p:sp>
      <p:sp>
        <p:nvSpPr>
          <p:cNvPr id="35" name="Text 33"/>
          <p:cNvSpPr/>
          <p:nvPr/>
        </p:nvSpPr>
        <p:spPr>
          <a:xfrm>
            <a:off x="502920" y="4736592"/>
            <a:ext cx="11183112"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Where we test</a:t>
            </a:r>
            <a:endParaRPr lang="en-US" sz="1400" dirty="0"/>
          </a:p>
        </p:txBody>
      </p:sp>
      <p:sp>
        <p:nvSpPr>
          <p:cNvPr id="36" name="Shape 34"/>
          <p:cNvSpPr/>
          <p:nvPr/>
        </p:nvSpPr>
        <p:spPr>
          <a:xfrm>
            <a:off x="502920" y="5065776"/>
            <a:ext cx="2596896" cy="1170432"/>
          </a:xfrm>
          <a:prstGeom prst="roundRect">
            <a:avLst>
              <a:gd name="adj" fmla="val 5469"/>
            </a:avLst>
          </a:prstGeom>
          <a:solidFill>
            <a:srgbClr val="E3F0EF"/>
          </a:solidFill>
          <a:ln w="12700">
            <a:solidFill>
              <a:srgbClr val="CBE0DE"/>
            </a:solidFill>
            <a:prstDash val="solid"/>
          </a:ln>
        </p:spPr>
      </p:sp>
      <p:sp>
        <p:nvSpPr>
          <p:cNvPr id="37" name="Text 35"/>
          <p:cNvSpPr/>
          <p:nvPr/>
        </p:nvSpPr>
        <p:spPr>
          <a:xfrm>
            <a:off x="649224" y="5193792"/>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Extraction</a:t>
            </a:r>
            <a:endParaRPr lang="en-US" sz="1150" dirty="0"/>
          </a:p>
        </p:txBody>
      </p:sp>
      <p:sp>
        <p:nvSpPr>
          <p:cNvPr id="38" name="Text 36"/>
          <p:cNvSpPr/>
          <p:nvPr/>
        </p:nvSpPr>
        <p:spPr>
          <a:xfrm>
            <a:off x="649224" y="5440680"/>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The PR tool reads every table and column in the PR — nothing dropped, nothing invented</a:t>
            </a:r>
            <a:endParaRPr lang="en-US" sz="950" dirty="0"/>
          </a:p>
        </p:txBody>
      </p:sp>
      <p:sp>
        <p:nvSpPr>
          <p:cNvPr id="39" name="Shape 37"/>
          <p:cNvSpPr/>
          <p:nvPr/>
        </p:nvSpPr>
        <p:spPr>
          <a:xfrm>
            <a:off x="3364992" y="5065776"/>
            <a:ext cx="2596896" cy="1170432"/>
          </a:xfrm>
          <a:prstGeom prst="roundRect">
            <a:avLst>
              <a:gd name="adj" fmla="val 5469"/>
            </a:avLst>
          </a:prstGeom>
          <a:solidFill>
            <a:srgbClr val="E3F0EF"/>
          </a:solidFill>
          <a:ln w="12700">
            <a:solidFill>
              <a:srgbClr val="CBE0DE"/>
            </a:solidFill>
            <a:prstDash val="solid"/>
          </a:ln>
        </p:spPr>
      </p:sp>
      <p:sp>
        <p:nvSpPr>
          <p:cNvPr id="40" name="Text 38"/>
          <p:cNvSpPr/>
          <p:nvPr/>
        </p:nvSpPr>
        <p:spPr>
          <a:xfrm>
            <a:off x="3511296" y="5193792"/>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Baseline load</a:t>
            </a:r>
            <a:endParaRPr lang="en-US" sz="1150" dirty="0"/>
          </a:p>
        </p:txBody>
      </p:sp>
      <p:sp>
        <p:nvSpPr>
          <p:cNvPr id="41" name="Text 39"/>
          <p:cNvSpPr/>
          <p:nvPr/>
        </p:nvSpPr>
        <p:spPr>
          <a:xfrm>
            <a:off x="3511296" y="5440680"/>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The correct MDR tab and version are picked up and parsed in full</a:t>
            </a:r>
            <a:endParaRPr lang="en-US" sz="950" dirty="0"/>
          </a:p>
        </p:txBody>
      </p:sp>
      <p:sp>
        <p:nvSpPr>
          <p:cNvPr id="42" name="Shape 40"/>
          <p:cNvSpPr/>
          <p:nvPr/>
        </p:nvSpPr>
        <p:spPr>
          <a:xfrm>
            <a:off x="6227064" y="5065776"/>
            <a:ext cx="2596896" cy="1170432"/>
          </a:xfrm>
          <a:prstGeom prst="roundRect">
            <a:avLst>
              <a:gd name="adj" fmla="val 5469"/>
            </a:avLst>
          </a:prstGeom>
          <a:solidFill>
            <a:srgbClr val="E3F0EF"/>
          </a:solidFill>
          <a:ln w="12700">
            <a:solidFill>
              <a:srgbClr val="CBE0DE"/>
            </a:solidFill>
            <a:prstDash val="solid"/>
          </a:ln>
        </p:spPr>
      </p:sp>
      <p:sp>
        <p:nvSpPr>
          <p:cNvPr id="43" name="Text 41"/>
          <p:cNvSpPr/>
          <p:nvPr/>
        </p:nvSpPr>
        <p:spPr>
          <a:xfrm>
            <a:off x="6373368" y="5193792"/>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Comparison logic</a:t>
            </a:r>
            <a:endParaRPr lang="en-US" sz="1150" dirty="0"/>
          </a:p>
        </p:txBody>
      </p:sp>
      <p:sp>
        <p:nvSpPr>
          <p:cNvPr id="44" name="Text 42"/>
          <p:cNvSpPr/>
          <p:nvPr/>
        </p:nvSpPr>
        <p:spPr>
          <a:xfrm>
            <a:off x="6373368" y="5440680"/>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Normalisation, matching and datatype rules behave as specified</a:t>
            </a:r>
            <a:endParaRPr lang="en-US" sz="950" dirty="0"/>
          </a:p>
        </p:txBody>
      </p:sp>
      <p:sp>
        <p:nvSpPr>
          <p:cNvPr id="45" name="Shape 43"/>
          <p:cNvSpPr/>
          <p:nvPr/>
        </p:nvSpPr>
        <p:spPr>
          <a:xfrm>
            <a:off x="9089136" y="5065776"/>
            <a:ext cx="2596896" cy="1170432"/>
          </a:xfrm>
          <a:prstGeom prst="roundRect">
            <a:avLst>
              <a:gd name="adj" fmla="val 5469"/>
            </a:avLst>
          </a:prstGeom>
          <a:solidFill>
            <a:srgbClr val="E3F0EF"/>
          </a:solidFill>
          <a:ln w="12700">
            <a:solidFill>
              <a:srgbClr val="CBE0DE"/>
            </a:solidFill>
            <a:prstDash val="solid"/>
          </a:ln>
        </p:spPr>
      </p:sp>
      <p:sp>
        <p:nvSpPr>
          <p:cNvPr id="46" name="Text 44"/>
          <p:cNvSpPr/>
          <p:nvPr/>
        </p:nvSpPr>
        <p:spPr>
          <a:xfrm>
            <a:off x="9235440" y="5193792"/>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Report output</a:t>
            </a:r>
            <a:endParaRPr lang="en-US" sz="1150" dirty="0"/>
          </a:p>
        </p:txBody>
      </p:sp>
      <p:sp>
        <p:nvSpPr>
          <p:cNvPr id="47" name="Text 45"/>
          <p:cNvSpPr/>
          <p:nvPr/>
        </p:nvSpPr>
        <p:spPr>
          <a:xfrm>
            <a:off x="9235440" y="5440680"/>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Every tab is populated and the Summary counts reconcile to the detail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What the report tells us, and who acts on it</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Seven tabs, four directional checks — every difference resolves to a DA fix, a BA baseline update, or an accepted deviation</a:t>
            </a:r>
            <a:endParaRPr lang="en-US" sz="1250" dirty="0"/>
          </a:p>
        </p:txBody>
      </p:sp>
      <p:sp>
        <p:nvSpPr>
          <p:cNvPr id="4" name="Text 2"/>
          <p:cNvSpPr/>
          <p:nvPr/>
        </p:nvSpPr>
        <p:spPr>
          <a:xfrm>
            <a:off x="502920" y="1298448"/>
            <a:ext cx="6309360"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The seven tabs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609344"/>
          <a:ext cx="6309360" cy="2926080"/>
        </p:xfrm>
        <a:graphic>
          <a:graphicData uri="http://schemas.openxmlformats.org/drawingml/2006/table">
            <a:tbl>
              <a:tblPr/>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lgn="l">
                        <a:buNone/>
                      </a:pPr>
                      <a:r>
                        <a:rPr lang="en-US" sz="1000" b="1" dirty="0">
                          <a:solidFill>
                            <a:srgbClr val="1B2A33"/>
                          </a:solidFill>
                          <a:latin typeface="Calibri" pitchFamily="34" charset="0"/>
                          <a:ea typeface="Calibri" pitchFamily="34" charset="-122"/>
                          <a:cs typeface="Calibri" pitchFamily="34" charset="-120"/>
                        </a:rPr>
                        <a:t>Tab</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l">
                        <a:buNone/>
                      </a:pPr>
                      <a:r>
                        <a:rPr lang="en-US" sz="1000" b="1" dirty="0">
                          <a:solidFill>
                            <a:srgbClr val="1B2A33"/>
                          </a:solidFill>
                          <a:latin typeface="Calibri" pitchFamily="34" charset="0"/>
                          <a:ea typeface="Calibri" pitchFamily="34" charset="-122"/>
                          <a:cs typeface="Calibri" pitchFamily="34" charset="-120"/>
                        </a:rPr>
                        <a:t>What it answers</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ctr">
                        <a:buNone/>
                      </a:pPr>
                      <a:r>
                        <a:rPr lang="en-US" sz="1000" b="1" dirty="0">
                          <a:solidFill>
                            <a:srgbClr val="1B2A33"/>
                          </a:solidFill>
                          <a:latin typeface="Calibri" pitchFamily="34" charset="0"/>
                          <a:ea typeface="Calibri" pitchFamily="34" charset="-122"/>
                          <a:cs typeface="Calibri" pitchFamily="34" charset="-120"/>
                        </a:rPr>
                        <a:t>Usual owner</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extLst>
                  <a:ext uri="{0D108BD9-81ED-4DB2-BD59-A6C34878D82A}">
                    <a16:rowId xmlns:a16="http://schemas.microsoft.com/office/drawing/2014/main" val="10000"/>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Summary</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Headline counts for every check</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All</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Missing_Tables_Target</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In the baseline, absent from the PR</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DA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Missing_Tables_Source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In the PR, absent from the baseline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BA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Missing_Columns_Target</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Baseline columns the PR does not create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DA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Missing_Columns_Source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PR columns with no baseline entry</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BA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Datatype_Mismatches</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Same column, different declared type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DA / BA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Datatype_Matches</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Same column, type agrees — the pass list</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502920" y="4663440"/>
            <a:ext cx="6309360"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Why direction matters</a:t>
            </a:r>
            <a:endParaRPr lang="en-US" sz="1500" dirty="0"/>
          </a:p>
        </p:txBody>
      </p:sp>
      <p:sp>
        <p:nvSpPr>
          <p:cNvPr id="7" name="Shape 4"/>
          <p:cNvSpPr/>
          <p:nvPr/>
        </p:nvSpPr>
        <p:spPr>
          <a:xfrm>
            <a:off x="502920" y="4974336"/>
            <a:ext cx="6309360" cy="1188720"/>
          </a:xfrm>
          <a:prstGeom prst="roundRect">
            <a:avLst>
              <a:gd name="adj" fmla="val 5385"/>
            </a:avLst>
          </a:prstGeom>
          <a:solidFill>
            <a:srgbClr val="F2F6F7"/>
          </a:solidFill>
          <a:ln w="12700">
            <a:solidFill>
              <a:srgbClr val="D8E0E4"/>
            </a:solidFill>
            <a:prstDash val="solid"/>
          </a:ln>
        </p:spPr>
      </p:sp>
      <p:sp>
        <p:nvSpPr>
          <p:cNvPr id="8" name="Text 5"/>
          <p:cNvSpPr/>
          <p:nvPr/>
        </p:nvSpPr>
        <p:spPr>
          <a:xfrm>
            <a:off x="685800" y="5102352"/>
            <a:ext cx="5943600" cy="950976"/>
          </a:xfrm>
          <a:prstGeom prst="rect">
            <a:avLst/>
          </a:prstGeom>
          <a:noFill/>
          <a:ln/>
        </p:spPr>
        <p:txBody>
          <a:bodyPr wrap="square" lIns="0" tIns="0" rIns="0" bIns="0" rtlCol="0" anchor="ctr"/>
          <a:lstStyle/>
          <a:p>
            <a:pPr marL="0" indent="0">
              <a:lnSpc>
                <a:spcPct val="106000"/>
              </a:lnSpc>
              <a:spcAft>
                <a:spcPts val="300"/>
              </a:spcAft>
              <a:buNone/>
            </a:pPr>
            <a:r>
              <a:rPr lang="en-US" sz="1000" b="1" dirty="0">
                <a:solidFill>
                  <a:srgbClr val="1B2A33"/>
                </a:solidFill>
                <a:latin typeface="Calibri" pitchFamily="34" charset="0"/>
                <a:ea typeface="Calibri" pitchFamily="34" charset="-122"/>
                <a:cs typeface="Calibri" pitchFamily="34" charset="-120"/>
              </a:rPr>
              <a:t>Target-side gaps</a:t>
            </a:r>
            <a:r>
              <a:rPr lang="en-US" sz="1000" dirty="0">
                <a:solidFill>
                  <a:srgbClr val="3E4C55"/>
                </a:solidFill>
                <a:latin typeface="Calibri" pitchFamily="34" charset="0"/>
                <a:ea typeface="Calibri" pitchFamily="34" charset="-122"/>
                <a:cs typeface="Calibri" pitchFamily="34" charset="-120"/>
              </a:rPr>
              <a:t> are things the baseline expects and the pull request has not built — the DA's queue.</a:t>
            </a:r>
            <a:endParaRPr lang="en-US" sz="1000" dirty="0"/>
          </a:p>
          <a:p>
            <a:pPr marL="0" indent="0">
              <a:lnSpc>
                <a:spcPct val="106000"/>
              </a:lnSpc>
              <a:spcAft>
                <a:spcPts val="300"/>
              </a:spcAft>
              <a:buNone/>
            </a:pPr>
            <a:r>
              <a:rPr lang="en-US" sz="1000" b="1" dirty="0">
                <a:solidFill>
                  <a:srgbClr val="1B2A33"/>
                </a:solidFill>
                <a:latin typeface="Calibri" pitchFamily="34" charset="0"/>
                <a:ea typeface="Calibri" pitchFamily="34" charset="-122"/>
                <a:cs typeface="Calibri" pitchFamily="34" charset="-120"/>
              </a:rPr>
              <a:t>Source-side gaps</a:t>
            </a:r>
            <a:r>
              <a:rPr lang="en-US" sz="1000" dirty="0">
                <a:solidFill>
                  <a:srgbClr val="3E4C55"/>
                </a:solidFill>
                <a:latin typeface="Calibri" pitchFamily="34" charset="0"/>
                <a:ea typeface="Calibri" pitchFamily="34" charset="-122"/>
                <a:cs typeface="Calibri" pitchFamily="34" charset="-120"/>
              </a:rPr>
              <a:t> are things the pull request introduces that the baseline has never agreed — the BA's queue, and often the earlier signal of the two.</a:t>
            </a:r>
            <a:endParaRPr lang="en-US" sz="1000" dirty="0"/>
          </a:p>
          <a:p>
            <a:pPr marL="0" indent="0">
              <a:lnSpc>
                <a:spcPct val="106000"/>
              </a:lnSpc>
              <a:spcAft>
                <a:spcPts val="300"/>
              </a:spcAft>
              <a:buNone/>
            </a:pPr>
            <a:r>
              <a:rPr lang="en-US" sz="1000" b="1" dirty="0">
                <a:solidFill>
                  <a:srgbClr val="1B2A33"/>
                </a:solidFill>
                <a:latin typeface="Calibri" pitchFamily="34" charset="0"/>
                <a:ea typeface="Calibri" pitchFamily="34" charset="-122"/>
                <a:cs typeface="Calibri" pitchFamily="34" charset="-120"/>
              </a:rPr>
              <a:t>Datatype differences</a:t>
            </a:r>
            <a:r>
              <a:rPr lang="en-US" sz="1000" dirty="0">
                <a:solidFill>
                  <a:srgbClr val="3E4C55"/>
                </a:solidFill>
                <a:latin typeface="Calibri" pitchFamily="34" charset="0"/>
                <a:ea typeface="Calibri" pitchFamily="34" charset="-122"/>
                <a:cs typeface="Calibri" pitchFamily="34" charset="-120"/>
              </a:rPr>
              <a:t> need a judgement call: an equivalent type expressed differently is not a defect, a different length or precision is.</a:t>
            </a:r>
            <a:endParaRPr lang="en-US" sz="1000" dirty="0"/>
          </a:p>
        </p:txBody>
      </p:sp>
      <p:sp>
        <p:nvSpPr>
          <p:cNvPr id="9" name="Text 6"/>
          <p:cNvSpPr/>
          <p:nvPr/>
        </p:nvSpPr>
        <p:spPr>
          <a:xfrm>
            <a:off x="7178040" y="1298448"/>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How a difference is resolved</a:t>
            </a:r>
            <a:endParaRPr lang="en-US" sz="1500" dirty="0"/>
          </a:p>
        </p:txBody>
      </p:sp>
      <p:sp>
        <p:nvSpPr>
          <p:cNvPr id="10" name="Shape 7"/>
          <p:cNvSpPr/>
          <p:nvPr/>
        </p:nvSpPr>
        <p:spPr>
          <a:xfrm>
            <a:off x="7178040" y="1627632"/>
            <a:ext cx="4507992" cy="786384"/>
          </a:xfrm>
          <a:prstGeom prst="roundRect">
            <a:avLst>
              <a:gd name="adj" fmla="val 8140"/>
            </a:avLst>
          </a:prstGeom>
          <a:solidFill>
            <a:srgbClr val="FFFFFF"/>
          </a:solidFill>
          <a:ln w="19050">
            <a:solidFill>
              <a:srgbClr val="0E7C7B"/>
            </a:solidFill>
            <a:prstDash val="solid"/>
          </a:ln>
        </p:spPr>
      </p:sp>
      <p:sp>
        <p:nvSpPr>
          <p:cNvPr id="11" name="Text 8"/>
          <p:cNvSpPr/>
          <p:nvPr/>
        </p:nvSpPr>
        <p:spPr>
          <a:xfrm>
            <a:off x="7342632" y="1709928"/>
            <a:ext cx="4178808" cy="219456"/>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Difference reported</a:t>
            </a:r>
            <a:endParaRPr lang="en-US" sz="1150" dirty="0"/>
          </a:p>
        </p:txBody>
      </p:sp>
      <p:sp>
        <p:nvSpPr>
          <p:cNvPr id="12" name="Text 9"/>
          <p:cNvSpPr/>
          <p:nvPr/>
        </p:nvSpPr>
        <p:spPr>
          <a:xfrm>
            <a:off x="7342632" y="1938528"/>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engine flags a table, column or datatype that does not agree across the two sides.</a:t>
            </a:r>
            <a:endParaRPr lang="en-US" sz="950" dirty="0"/>
          </a:p>
        </p:txBody>
      </p:sp>
      <p:sp>
        <p:nvSpPr>
          <p:cNvPr id="13" name="Shape 10"/>
          <p:cNvSpPr/>
          <p:nvPr/>
        </p:nvSpPr>
        <p:spPr>
          <a:xfrm>
            <a:off x="7178040" y="2560320"/>
            <a:ext cx="4507992" cy="786384"/>
          </a:xfrm>
          <a:prstGeom prst="roundRect">
            <a:avLst>
              <a:gd name="adj" fmla="val 8140"/>
            </a:avLst>
          </a:prstGeom>
          <a:solidFill>
            <a:srgbClr val="FFFFFF"/>
          </a:solidFill>
          <a:ln w="12700">
            <a:solidFill>
              <a:srgbClr val="D8E0E4"/>
            </a:solidFill>
            <a:prstDash val="solid"/>
          </a:ln>
        </p:spPr>
      </p:sp>
      <p:sp>
        <p:nvSpPr>
          <p:cNvPr id="14" name="Text 11"/>
          <p:cNvSpPr/>
          <p:nvPr/>
        </p:nvSpPr>
        <p:spPr>
          <a:xfrm>
            <a:off x="7342632" y="2642616"/>
            <a:ext cx="4178808" cy="219456"/>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Is the baseline right?</a:t>
            </a:r>
            <a:endParaRPr lang="en-US" sz="1150" dirty="0"/>
          </a:p>
        </p:txBody>
      </p:sp>
      <p:sp>
        <p:nvSpPr>
          <p:cNvPr id="15" name="Text 12"/>
          <p:cNvSpPr/>
          <p:nvPr/>
        </p:nvSpPr>
        <p:spPr>
          <a:xfrm>
            <a:off x="7342632" y="2871216"/>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BA confirms whether the MDR entry still reflects the agreed design.</a:t>
            </a:r>
            <a:endParaRPr lang="en-US" sz="950" dirty="0"/>
          </a:p>
        </p:txBody>
      </p:sp>
      <p:sp>
        <p:nvSpPr>
          <p:cNvPr id="16" name="Shape 13"/>
          <p:cNvSpPr/>
          <p:nvPr/>
        </p:nvSpPr>
        <p:spPr>
          <a:xfrm>
            <a:off x="9427464" y="2432304"/>
            <a:ext cx="0" cy="128016"/>
          </a:xfrm>
          <a:prstGeom prst="line">
            <a:avLst/>
          </a:prstGeom>
          <a:noFill/>
          <a:ln w="19050">
            <a:solidFill>
              <a:srgbClr val="6B7B85"/>
            </a:solidFill>
            <a:prstDash val="solid"/>
            <a:tailEnd type="triangle"/>
          </a:ln>
        </p:spPr>
      </p:sp>
      <p:sp>
        <p:nvSpPr>
          <p:cNvPr id="17" name="Shape 14"/>
          <p:cNvSpPr/>
          <p:nvPr/>
        </p:nvSpPr>
        <p:spPr>
          <a:xfrm>
            <a:off x="9427464" y="3364992"/>
            <a:ext cx="0" cy="128016"/>
          </a:xfrm>
          <a:prstGeom prst="line">
            <a:avLst/>
          </a:prstGeom>
          <a:noFill/>
          <a:ln w="19050">
            <a:solidFill>
              <a:srgbClr val="6B7B85"/>
            </a:solidFill>
            <a:prstDash val="solid"/>
            <a:tailEnd type="triangle"/>
          </a:ln>
        </p:spPr>
      </p:sp>
      <p:sp>
        <p:nvSpPr>
          <p:cNvPr id="18" name="Shape 15"/>
          <p:cNvSpPr/>
          <p:nvPr/>
        </p:nvSpPr>
        <p:spPr>
          <a:xfrm>
            <a:off x="7178040" y="3493008"/>
            <a:ext cx="4507992" cy="822960"/>
          </a:xfrm>
          <a:prstGeom prst="roundRect">
            <a:avLst>
              <a:gd name="adj" fmla="val 7778"/>
            </a:avLst>
          </a:prstGeom>
          <a:solidFill>
            <a:srgbClr val="E3F0EF"/>
          </a:solidFill>
          <a:ln w="12700">
            <a:solidFill>
              <a:srgbClr val="CBE0DE"/>
            </a:solidFill>
            <a:prstDash val="solid"/>
          </a:ln>
        </p:spPr>
      </p:sp>
      <p:sp>
        <p:nvSpPr>
          <p:cNvPr id="19" name="Text 16"/>
          <p:cNvSpPr/>
          <p:nvPr/>
        </p:nvSpPr>
        <p:spPr>
          <a:xfrm>
            <a:off x="7342632" y="3584448"/>
            <a:ext cx="417880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Baseline is right → DA fixes the PR</a:t>
            </a:r>
            <a:endParaRPr lang="en-US" sz="1100" dirty="0"/>
          </a:p>
        </p:txBody>
      </p:sp>
      <p:sp>
        <p:nvSpPr>
          <p:cNvPr id="20" name="Text 17"/>
          <p:cNvSpPr/>
          <p:nvPr/>
        </p:nvSpPr>
        <p:spPr>
          <a:xfrm>
            <a:off x="7342632" y="3822192"/>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pull request is amended and re-run until the difference clears.</a:t>
            </a:r>
            <a:endParaRPr lang="en-US" sz="950" dirty="0"/>
          </a:p>
        </p:txBody>
      </p:sp>
      <p:sp>
        <p:nvSpPr>
          <p:cNvPr id="21" name="Shape 18"/>
          <p:cNvSpPr/>
          <p:nvPr/>
        </p:nvSpPr>
        <p:spPr>
          <a:xfrm>
            <a:off x="7178040" y="4370832"/>
            <a:ext cx="4507992" cy="822960"/>
          </a:xfrm>
          <a:prstGeom prst="roundRect">
            <a:avLst>
              <a:gd name="adj" fmla="val 7778"/>
            </a:avLst>
          </a:prstGeom>
          <a:solidFill>
            <a:srgbClr val="FBEEDC"/>
          </a:solidFill>
          <a:ln w="12700">
            <a:solidFill>
              <a:srgbClr val="F0DCC0"/>
            </a:solidFill>
            <a:prstDash val="solid"/>
          </a:ln>
        </p:spPr>
      </p:sp>
      <p:sp>
        <p:nvSpPr>
          <p:cNvPr id="22" name="Text 19"/>
          <p:cNvSpPr/>
          <p:nvPr/>
        </p:nvSpPr>
        <p:spPr>
          <a:xfrm>
            <a:off x="7342632" y="4462272"/>
            <a:ext cx="417880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Baseline is stale → BA updates the MDR</a:t>
            </a:r>
            <a:endParaRPr lang="en-US" sz="1100" dirty="0"/>
          </a:p>
        </p:txBody>
      </p:sp>
      <p:sp>
        <p:nvSpPr>
          <p:cNvPr id="23" name="Text 20"/>
          <p:cNvSpPr/>
          <p:nvPr/>
        </p:nvSpPr>
        <p:spPr>
          <a:xfrm>
            <a:off x="7342632" y="4700016"/>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mapping sheet is re-versioned; the difference disappears on the next run.</a:t>
            </a:r>
            <a:endParaRPr lang="en-US" sz="950" dirty="0"/>
          </a:p>
        </p:txBody>
      </p:sp>
      <p:sp>
        <p:nvSpPr>
          <p:cNvPr id="24" name="Shape 21"/>
          <p:cNvSpPr/>
          <p:nvPr/>
        </p:nvSpPr>
        <p:spPr>
          <a:xfrm>
            <a:off x="7178040" y="5248656"/>
            <a:ext cx="4507992" cy="822960"/>
          </a:xfrm>
          <a:prstGeom prst="roundRect">
            <a:avLst>
              <a:gd name="adj" fmla="val 7778"/>
            </a:avLst>
          </a:prstGeom>
          <a:solidFill>
            <a:srgbClr val="E8EDEF"/>
          </a:solidFill>
          <a:ln w="12700">
            <a:solidFill>
              <a:srgbClr val="C9D4D9"/>
            </a:solidFill>
            <a:prstDash val="solid"/>
          </a:ln>
        </p:spPr>
      </p:sp>
      <p:sp>
        <p:nvSpPr>
          <p:cNvPr id="25" name="Text 22"/>
          <p:cNvSpPr/>
          <p:nvPr/>
        </p:nvSpPr>
        <p:spPr>
          <a:xfrm>
            <a:off x="7342632" y="5340096"/>
            <a:ext cx="417880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Neither → accepted deviation</a:t>
            </a:r>
            <a:endParaRPr lang="en-US" sz="1100" dirty="0"/>
          </a:p>
        </p:txBody>
      </p:sp>
      <p:sp>
        <p:nvSpPr>
          <p:cNvPr id="26" name="Text 23"/>
          <p:cNvSpPr/>
          <p:nvPr/>
        </p:nvSpPr>
        <p:spPr>
          <a:xfrm>
            <a:off x="7342632" y="5577840"/>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Recorded with a reason and an owner, and suppressed from future runs.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Bilateral testing across Data Factory interfaces</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Every boundary the data crosses is tested from both sides, and results coming back must reconcile to what was sent</a:t>
            </a:r>
            <a:endParaRPr lang="en-US" sz="1250" dirty="0"/>
          </a:p>
        </p:txBody>
      </p:sp>
      <p:sp>
        <p:nvSpPr>
          <p:cNvPr id="4" name="Shape 2"/>
          <p:cNvSpPr/>
          <p:nvPr/>
        </p:nvSpPr>
        <p:spPr>
          <a:xfrm>
            <a:off x="502920" y="1298448"/>
            <a:ext cx="2596896" cy="1115568"/>
          </a:xfrm>
          <a:prstGeom prst="roundRect">
            <a:avLst>
              <a:gd name="adj" fmla="val 5738"/>
            </a:avLst>
          </a:prstGeom>
          <a:solidFill>
            <a:srgbClr val="E3F0EF"/>
          </a:solidFill>
          <a:ln w="12700">
            <a:solidFill>
              <a:srgbClr val="CBE0DE"/>
            </a:solidFill>
            <a:prstDash val="solid"/>
          </a:ln>
        </p:spPr>
      </p:sp>
      <p:sp>
        <p:nvSpPr>
          <p:cNvPr id="5" name="Text 3"/>
          <p:cNvSpPr/>
          <p:nvPr/>
        </p:nvSpPr>
        <p:spPr>
          <a:xfrm>
            <a:off x="649224" y="1408176"/>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Count parity</a:t>
            </a:r>
            <a:endParaRPr lang="en-US" sz="1150" dirty="0"/>
          </a:p>
        </p:txBody>
      </p:sp>
      <p:sp>
        <p:nvSpPr>
          <p:cNvPr id="6" name="Text 4"/>
          <p:cNvSpPr/>
          <p:nvPr/>
        </p:nvSpPr>
        <p:spPr>
          <a:xfrm>
            <a:off x="649224" y="1664208"/>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Every record that left is accounted for on arrival, and nothing extra has appeared in between.</a:t>
            </a:r>
            <a:endParaRPr lang="en-US" sz="950" dirty="0"/>
          </a:p>
        </p:txBody>
      </p:sp>
      <p:sp>
        <p:nvSpPr>
          <p:cNvPr id="7" name="Shape 5"/>
          <p:cNvSpPr/>
          <p:nvPr/>
        </p:nvSpPr>
        <p:spPr>
          <a:xfrm>
            <a:off x="3364992" y="1298448"/>
            <a:ext cx="2596896" cy="1115568"/>
          </a:xfrm>
          <a:prstGeom prst="roundRect">
            <a:avLst>
              <a:gd name="adj" fmla="val 5738"/>
            </a:avLst>
          </a:prstGeom>
          <a:solidFill>
            <a:srgbClr val="E3F0EF"/>
          </a:solidFill>
          <a:ln w="12700">
            <a:solidFill>
              <a:srgbClr val="CBE0DE"/>
            </a:solidFill>
            <a:prstDash val="solid"/>
          </a:ln>
        </p:spPr>
      </p:sp>
      <p:sp>
        <p:nvSpPr>
          <p:cNvPr id="8" name="Text 6"/>
          <p:cNvSpPr/>
          <p:nvPr/>
        </p:nvSpPr>
        <p:spPr>
          <a:xfrm>
            <a:off x="3511296" y="1408176"/>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Value parity</a:t>
            </a:r>
            <a:endParaRPr lang="en-US" sz="1150" dirty="0"/>
          </a:p>
        </p:txBody>
      </p:sp>
      <p:sp>
        <p:nvSpPr>
          <p:cNvPr id="9" name="Text 7"/>
          <p:cNvSpPr/>
          <p:nvPr/>
        </p:nvSpPr>
        <p:spPr>
          <a:xfrm>
            <a:off x="3511296" y="1664208"/>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Control totals on the key measures tie out on both sides, within an agreed and stated tolerance.</a:t>
            </a:r>
            <a:endParaRPr lang="en-US" sz="950" dirty="0"/>
          </a:p>
        </p:txBody>
      </p:sp>
      <p:sp>
        <p:nvSpPr>
          <p:cNvPr id="10" name="Shape 8"/>
          <p:cNvSpPr/>
          <p:nvPr/>
        </p:nvSpPr>
        <p:spPr>
          <a:xfrm>
            <a:off x="6227064" y="1298448"/>
            <a:ext cx="2596896" cy="1115568"/>
          </a:xfrm>
          <a:prstGeom prst="roundRect">
            <a:avLst>
              <a:gd name="adj" fmla="val 5738"/>
            </a:avLst>
          </a:prstGeom>
          <a:solidFill>
            <a:srgbClr val="E3F0EF"/>
          </a:solidFill>
          <a:ln w="12700">
            <a:solidFill>
              <a:srgbClr val="CBE0DE"/>
            </a:solidFill>
            <a:prstDash val="solid"/>
          </a:ln>
        </p:spPr>
      </p:sp>
      <p:sp>
        <p:nvSpPr>
          <p:cNvPr id="11" name="Text 9"/>
          <p:cNvSpPr/>
          <p:nvPr/>
        </p:nvSpPr>
        <p:spPr>
          <a:xfrm>
            <a:off x="6373368" y="1408176"/>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Key integrity</a:t>
            </a:r>
            <a:endParaRPr lang="en-US" sz="1150" dirty="0"/>
          </a:p>
        </p:txBody>
      </p:sp>
      <p:sp>
        <p:nvSpPr>
          <p:cNvPr id="12" name="Text 10"/>
          <p:cNvSpPr/>
          <p:nvPr/>
        </p:nvSpPr>
        <p:spPr>
          <a:xfrm>
            <a:off x="6373368" y="1664208"/>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The key set matches exactly — no orphans, no duplicates, and no silent re-keying across the hop.</a:t>
            </a:r>
            <a:endParaRPr lang="en-US" sz="950" dirty="0"/>
          </a:p>
        </p:txBody>
      </p:sp>
      <p:sp>
        <p:nvSpPr>
          <p:cNvPr id="13" name="Shape 11"/>
          <p:cNvSpPr/>
          <p:nvPr/>
        </p:nvSpPr>
        <p:spPr>
          <a:xfrm>
            <a:off x="9089136" y="1298448"/>
            <a:ext cx="2596896" cy="1115568"/>
          </a:xfrm>
          <a:prstGeom prst="roundRect">
            <a:avLst>
              <a:gd name="adj" fmla="val 5738"/>
            </a:avLst>
          </a:prstGeom>
          <a:solidFill>
            <a:srgbClr val="E3F0EF"/>
          </a:solidFill>
          <a:ln w="12700">
            <a:solidFill>
              <a:srgbClr val="CBE0DE"/>
            </a:solidFill>
            <a:prstDash val="solid"/>
          </a:ln>
        </p:spPr>
      </p:sp>
      <p:sp>
        <p:nvSpPr>
          <p:cNvPr id="14" name="Text 12"/>
          <p:cNvSpPr/>
          <p:nvPr/>
        </p:nvSpPr>
        <p:spPr>
          <a:xfrm>
            <a:off x="9235440" y="1408176"/>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Return path</a:t>
            </a:r>
            <a:endParaRPr lang="en-US" sz="1150" dirty="0"/>
          </a:p>
        </p:txBody>
      </p:sp>
      <p:sp>
        <p:nvSpPr>
          <p:cNvPr id="15" name="Text 13"/>
          <p:cNvSpPr/>
          <p:nvPr/>
        </p:nvSpPr>
        <p:spPr>
          <a:xfrm>
            <a:off x="9235440" y="1664208"/>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Results coming back carry an outcome for every record sent, on the same keys and reference date.</a:t>
            </a:r>
            <a:endParaRPr lang="en-US" sz="950" dirty="0"/>
          </a:p>
        </p:txBody>
      </p:sp>
      <p:sp>
        <p:nvSpPr>
          <p:cNvPr id="16" name="Text 14"/>
          <p:cNvSpPr/>
          <p:nvPr/>
        </p:nvSpPr>
        <p:spPr>
          <a:xfrm>
            <a:off x="502920" y="2596896"/>
            <a:ext cx="1118311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Example interface pairs across the Data Factory boundary</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889504"/>
          <a:ext cx="11183112" cy="2921508"/>
        </p:xfrm>
        <a:graphic>
          <a:graphicData uri="http://schemas.openxmlformats.org/drawingml/2006/table">
            <a:tbl>
              <a:tblPr/>
              <a:tblGrid>
                <a:gridCol w="41605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5925312">
                  <a:extLst>
                    <a:ext uri="{9D8B030D-6E8A-4147-A177-3AD203B41FA5}">
                      <a16:colId xmlns:a16="http://schemas.microsoft.com/office/drawing/2014/main" val="20002"/>
                    </a:ext>
                  </a:extLst>
                </a:gridCol>
              </a:tblGrid>
              <a:tr h="324612">
                <a:tc>
                  <a:txBody>
                    <a:bodyPr/>
                    <a:lstStyle/>
                    <a:p>
                      <a:pPr marL="0" indent="0" algn="l">
                        <a:buNone/>
                      </a:pPr>
                      <a:r>
                        <a:rPr lang="en-US" sz="950" b="1" dirty="0">
                          <a:solidFill>
                            <a:srgbClr val="1B2A33"/>
                          </a:solidFill>
                          <a:latin typeface="Calibri" pitchFamily="34" charset="0"/>
                          <a:ea typeface="Calibri" pitchFamily="34" charset="-122"/>
                          <a:cs typeface="Calibri" pitchFamily="34" charset="-120"/>
                        </a:rPr>
                        <a:t>Interface pair</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ctr">
                        <a:buNone/>
                      </a:pPr>
                      <a:r>
                        <a:rPr lang="en-US" sz="950" b="1" dirty="0">
                          <a:solidFill>
                            <a:srgbClr val="1B2A33"/>
                          </a:solidFill>
                          <a:latin typeface="Calibri" pitchFamily="34" charset="0"/>
                          <a:ea typeface="Calibri" pitchFamily="34" charset="-122"/>
                          <a:cs typeface="Calibri" pitchFamily="34" charset="-120"/>
                        </a:rPr>
                        <a:t>Direction</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l">
                        <a:buNone/>
                      </a:pPr>
                      <a:r>
                        <a:rPr lang="en-US" sz="950" b="1" dirty="0">
                          <a:solidFill>
                            <a:srgbClr val="1B2A33"/>
                          </a:solidFill>
                          <a:latin typeface="Calibri" pitchFamily="34" charset="0"/>
                          <a:ea typeface="Calibri" pitchFamily="34" charset="-122"/>
                          <a:cs typeface="Calibri" pitchFamily="34" charset="-120"/>
                        </a:rPr>
                        <a:t>What bilateral testing asserts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extLst>
                  <a:ext uri="{0D108BD9-81ED-4DB2-BD59-A6C34878D82A}">
                    <a16:rowId xmlns:a16="http://schemas.microsoft.com/office/drawing/2014/main" val="10000"/>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CADDI staging data layer (.parquet)  →  Staging &amp; History database</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Inbound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Every partition lands; row counts and control totals tie to the source extract</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NBIF Orchestrator  →  Batch Management database</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Inbound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Batch id, status and reference date are recorded for every batch initiated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Portfolio SQL Server  →  Model Factory databases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Internal</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The population handed on is complete and correctly partitioned by model</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Model Factory databases  →  CAS calculators (IRB, EAD, RWA, IFRS9)</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Outbound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Population sent equals population received — nothing is dropped at the boundary</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CAS calculators  →  RWA and IFRS9 Model Factory databases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Return</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A result exists for every record sent, on the same keys and reference date</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Data Factory  →  CFO Hub</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Outbound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The disclosed population and its totals match the approved, signed-off set</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Data Factory  →  CRPR</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Outbound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Same population and totals, with reference dates aligned on both sides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Model Factory databases  →  Power BI plausibility workspace</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Internal</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Figures displayed equal the figures held in the underlying tables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8" name="Text 15"/>
          <p:cNvSpPr/>
          <p:nvPr/>
        </p:nvSpPr>
        <p:spPr>
          <a:xfrm>
            <a:off x="502920" y="5998464"/>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A hop only passes when it reconciles in both directions. A one-way count check will not catch a calculator that silently returns fewer rows than it was given, which is the failure mode this testing exists to find.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Performance and volume testing</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Production-shaped volumes driven through the Data Factory and measured against the batch window, not against a single query</a:t>
            </a:r>
            <a:endParaRPr lang="en-US" sz="1250" dirty="0"/>
          </a:p>
        </p:txBody>
      </p:sp>
      <p:sp>
        <p:nvSpPr>
          <p:cNvPr id="4" name="Text 2"/>
          <p:cNvSpPr/>
          <p:nvPr/>
        </p:nvSpPr>
        <p:spPr>
          <a:xfrm>
            <a:off x="502920" y="1298448"/>
            <a:ext cx="6309360"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Load scenarios</a:t>
            </a:r>
            <a:endParaRPr lang="en-US" sz="1500" dirty="0"/>
          </a:p>
        </p:txBody>
      </p:sp>
      <p:sp>
        <p:nvSpPr>
          <p:cNvPr id="5" name="Shape 3"/>
          <p:cNvSpPr/>
          <p:nvPr/>
        </p:nvSpPr>
        <p:spPr>
          <a:xfrm>
            <a:off x="502920" y="1609344"/>
            <a:ext cx="6309360" cy="822960"/>
          </a:xfrm>
          <a:prstGeom prst="roundRect">
            <a:avLst>
              <a:gd name="adj" fmla="val 7778"/>
            </a:avLst>
          </a:prstGeom>
          <a:solidFill>
            <a:srgbClr val="FFFFFF"/>
          </a:solidFill>
          <a:ln w="12700">
            <a:solidFill>
              <a:srgbClr val="D8E0E4"/>
            </a:solidFill>
            <a:prstDash val="solid"/>
          </a:ln>
        </p:spPr>
      </p:sp>
      <p:sp>
        <p:nvSpPr>
          <p:cNvPr id="6" name="Shape 4"/>
          <p:cNvSpPr/>
          <p:nvPr/>
        </p:nvSpPr>
        <p:spPr>
          <a:xfrm>
            <a:off x="667512" y="1737360"/>
            <a:ext cx="256032" cy="256032"/>
          </a:xfrm>
          <a:prstGeom prst="ellipse">
            <a:avLst/>
          </a:prstGeom>
          <a:solidFill>
            <a:srgbClr val="FBEEDC"/>
          </a:solidFill>
          <a:ln w="12700">
            <a:solidFill>
              <a:srgbClr val="FBEEDC"/>
            </a:solidFill>
            <a:prstDash val="solid"/>
          </a:ln>
        </p:spPr>
      </p:sp>
      <p:sp>
        <p:nvSpPr>
          <p:cNvPr id="7" name="Text 5"/>
          <p:cNvSpPr/>
          <p:nvPr/>
        </p:nvSpPr>
        <p:spPr>
          <a:xfrm>
            <a:off x="667512" y="1737360"/>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1</a:t>
            </a:r>
            <a:endParaRPr lang="en-US" sz="1050" dirty="0"/>
          </a:p>
        </p:txBody>
      </p:sp>
      <p:sp>
        <p:nvSpPr>
          <p:cNvPr id="8" name="Text 6"/>
          <p:cNvSpPr/>
          <p:nvPr/>
        </p:nvSpPr>
        <p:spPr>
          <a:xfrm>
            <a:off x="1024128" y="1728216"/>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Full-volume batch</a:t>
            </a:r>
            <a:endParaRPr lang="en-US" sz="1150" dirty="0"/>
          </a:p>
        </p:txBody>
      </p:sp>
      <p:sp>
        <p:nvSpPr>
          <p:cNvPr id="9" name="Text 7"/>
          <p:cNvSpPr/>
          <p:nvPr/>
        </p:nvSpPr>
        <p:spPr>
          <a:xfrm>
            <a:off x="1024128" y="1975104"/>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A complete reference-date population through staging, the model factory and out to the calculators.</a:t>
            </a:r>
            <a:endParaRPr lang="en-US" sz="950" dirty="0"/>
          </a:p>
        </p:txBody>
      </p:sp>
      <p:sp>
        <p:nvSpPr>
          <p:cNvPr id="10" name="Shape 8"/>
          <p:cNvSpPr/>
          <p:nvPr/>
        </p:nvSpPr>
        <p:spPr>
          <a:xfrm>
            <a:off x="502920" y="2505456"/>
            <a:ext cx="6309360" cy="822960"/>
          </a:xfrm>
          <a:prstGeom prst="roundRect">
            <a:avLst>
              <a:gd name="adj" fmla="val 7778"/>
            </a:avLst>
          </a:prstGeom>
          <a:solidFill>
            <a:srgbClr val="FFFFFF"/>
          </a:solidFill>
          <a:ln w="12700">
            <a:solidFill>
              <a:srgbClr val="D8E0E4"/>
            </a:solidFill>
            <a:prstDash val="solid"/>
          </a:ln>
        </p:spPr>
      </p:sp>
      <p:sp>
        <p:nvSpPr>
          <p:cNvPr id="11" name="Shape 9"/>
          <p:cNvSpPr/>
          <p:nvPr/>
        </p:nvSpPr>
        <p:spPr>
          <a:xfrm>
            <a:off x="667512" y="2633472"/>
            <a:ext cx="256032" cy="256032"/>
          </a:xfrm>
          <a:prstGeom prst="ellipse">
            <a:avLst/>
          </a:prstGeom>
          <a:solidFill>
            <a:srgbClr val="FBEEDC"/>
          </a:solidFill>
          <a:ln w="12700">
            <a:solidFill>
              <a:srgbClr val="FBEEDC"/>
            </a:solidFill>
            <a:prstDash val="solid"/>
          </a:ln>
        </p:spPr>
      </p:sp>
      <p:sp>
        <p:nvSpPr>
          <p:cNvPr id="12" name="Text 10"/>
          <p:cNvSpPr/>
          <p:nvPr/>
        </p:nvSpPr>
        <p:spPr>
          <a:xfrm>
            <a:off x="667512" y="2633472"/>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2</a:t>
            </a:r>
            <a:endParaRPr lang="en-US" sz="1050" dirty="0"/>
          </a:p>
        </p:txBody>
      </p:sp>
      <p:sp>
        <p:nvSpPr>
          <p:cNvPr id="13" name="Text 11"/>
          <p:cNvSpPr/>
          <p:nvPr/>
        </p:nvSpPr>
        <p:spPr>
          <a:xfrm>
            <a:off x="1024128" y="2624328"/>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Peak concurrency</a:t>
            </a:r>
            <a:endParaRPr lang="en-US" sz="1150" dirty="0"/>
          </a:p>
        </p:txBody>
      </p:sp>
      <p:sp>
        <p:nvSpPr>
          <p:cNvPr id="14" name="Text 12"/>
          <p:cNvSpPr/>
          <p:nvPr/>
        </p:nvSpPr>
        <p:spPr>
          <a:xfrm>
            <a:off x="1024128" y="2871216"/>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Several batches or portfolios in flight at once, as they are at period end.</a:t>
            </a:r>
            <a:endParaRPr lang="en-US" sz="950" dirty="0"/>
          </a:p>
        </p:txBody>
      </p:sp>
      <p:sp>
        <p:nvSpPr>
          <p:cNvPr id="15" name="Shape 13"/>
          <p:cNvSpPr/>
          <p:nvPr/>
        </p:nvSpPr>
        <p:spPr>
          <a:xfrm>
            <a:off x="502920" y="3401568"/>
            <a:ext cx="6309360" cy="822960"/>
          </a:xfrm>
          <a:prstGeom prst="roundRect">
            <a:avLst>
              <a:gd name="adj" fmla="val 7778"/>
            </a:avLst>
          </a:prstGeom>
          <a:solidFill>
            <a:srgbClr val="FFFFFF"/>
          </a:solidFill>
          <a:ln w="12700">
            <a:solidFill>
              <a:srgbClr val="D8E0E4"/>
            </a:solidFill>
            <a:prstDash val="solid"/>
          </a:ln>
        </p:spPr>
      </p:sp>
      <p:sp>
        <p:nvSpPr>
          <p:cNvPr id="16" name="Shape 14"/>
          <p:cNvSpPr/>
          <p:nvPr/>
        </p:nvSpPr>
        <p:spPr>
          <a:xfrm>
            <a:off x="667512" y="3529584"/>
            <a:ext cx="256032" cy="256032"/>
          </a:xfrm>
          <a:prstGeom prst="ellipse">
            <a:avLst/>
          </a:prstGeom>
          <a:solidFill>
            <a:srgbClr val="FBEEDC"/>
          </a:solidFill>
          <a:ln w="12700">
            <a:solidFill>
              <a:srgbClr val="FBEEDC"/>
            </a:solidFill>
            <a:prstDash val="solid"/>
          </a:ln>
        </p:spPr>
      </p:sp>
      <p:sp>
        <p:nvSpPr>
          <p:cNvPr id="17" name="Text 15"/>
          <p:cNvSpPr/>
          <p:nvPr/>
        </p:nvSpPr>
        <p:spPr>
          <a:xfrm>
            <a:off x="667512" y="3529584"/>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3</a:t>
            </a:r>
            <a:endParaRPr lang="en-US" sz="1050" dirty="0"/>
          </a:p>
        </p:txBody>
      </p:sp>
      <p:sp>
        <p:nvSpPr>
          <p:cNvPr id="18" name="Text 16"/>
          <p:cNvSpPr/>
          <p:nvPr/>
        </p:nvSpPr>
        <p:spPr>
          <a:xfrm>
            <a:off x="1024128" y="3520440"/>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Soak</a:t>
            </a:r>
            <a:endParaRPr lang="en-US" sz="1150" dirty="0"/>
          </a:p>
        </p:txBody>
      </p:sp>
      <p:sp>
        <p:nvSpPr>
          <p:cNvPr id="19" name="Text 17"/>
          <p:cNvSpPr/>
          <p:nvPr/>
        </p:nvSpPr>
        <p:spPr>
          <a:xfrm>
            <a:off x="1024128" y="3767328"/>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Repeated cycles over an extended run, to expose growth in history tables and index degradation.</a:t>
            </a:r>
            <a:endParaRPr lang="en-US" sz="950" dirty="0"/>
          </a:p>
        </p:txBody>
      </p:sp>
      <p:sp>
        <p:nvSpPr>
          <p:cNvPr id="20" name="Shape 18"/>
          <p:cNvSpPr/>
          <p:nvPr/>
        </p:nvSpPr>
        <p:spPr>
          <a:xfrm>
            <a:off x="502920" y="4297680"/>
            <a:ext cx="6309360" cy="822960"/>
          </a:xfrm>
          <a:prstGeom prst="roundRect">
            <a:avLst>
              <a:gd name="adj" fmla="val 7778"/>
            </a:avLst>
          </a:prstGeom>
          <a:solidFill>
            <a:srgbClr val="FFFFFF"/>
          </a:solidFill>
          <a:ln w="12700">
            <a:solidFill>
              <a:srgbClr val="D8E0E4"/>
            </a:solidFill>
            <a:prstDash val="solid"/>
          </a:ln>
        </p:spPr>
      </p:sp>
      <p:sp>
        <p:nvSpPr>
          <p:cNvPr id="21" name="Shape 19"/>
          <p:cNvSpPr/>
          <p:nvPr/>
        </p:nvSpPr>
        <p:spPr>
          <a:xfrm>
            <a:off x="667512" y="4425696"/>
            <a:ext cx="256032" cy="256032"/>
          </a:xfrm>
          <a:prstGeom prst="ellipse">
            <a:avLst/>
          </a:prstGeom>
          <a:solidFill>
            <a:srgbClr val="FBEEDC"/>
          </a:solidFill>
          <a:ln w="12700">
            <a:solidFill>
              <a:srgbClr val="FBEEDC"/>
            </a:solidFill>
            <a:prstDash val="solid"/>
          </a:ln>
        </p:spPr>
      </p:sp>
      <p:sp>
        <p:nvSpPr>
          <p:cNvPr id="22" name="Text 20"/>
          <p:cNvSpPr/>
          <p:nvPr/>
        </p:nvSpPr>
        <p:spPr>
          <a:xfrm>
            <a:off x="667512" y="4425696"/>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4</a:t>
            </a:r>
            <a:endParaRPr lang="en-US" sz="1050" dirty="0"/>
          </a:p>
        </p:txBody>
      </p:sp>
      <p:sp>
        <p:nvSpPr>
          <p:cNvPr id="23" name="Text 21"/>
          <p:cNvSpPr/>
          <p:nvPr/>
        </p:nvSpPr>
        <p:spPr>
          <a:xfrm>
            <a:off x="1024128" y="4416552"/>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Boundary and beyond</a:t>
            </a:r>
            <a:endParaRPr lang="en-US" sz="1150" dirty="0"/>
          </a:p>
        </p:txBody>
      </p:sp>
      <p:sp>
        <p:nvSpPr>
          <p:cNvPr id="24" name="Text 22"/>
          <p:cNvSpPr/>
          <p:nvPr/>
        </p:nvSpPr>
        <p:spPr>
          <a:xfrm>
            <a:off x="1024128" y="4663440"/>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largest expected portfolio, then a deliberately oversized one, to find where the ceiling actually is.</a:t>
            </a:r>
            <a:endParaRPr lang="en-US" sz="950" dirty="0"/>
          </a:p>
        </p:txBody>
      </p:sp>
      <p:sp>
        <p:nvSpPr>
          <p:cNvPr id="25" name="Shape 23"/>
          <p:cNvSpPr/>
          <p:nvPr/>
        </p:nvSpPr>
        <p:spPr>
          <a:xfrm>
            <a:off x="502920" y="5193792"/>
            <a:ext cx="6309360" cy="822960"/>
          </a:xfrm>
          <a:prstGeom prst="roundRect">
            <a:avLst>
              <a:gd name="adj" fmla="val 7778"/>
            </a:avLst>
          </a:prstGeom>
          <a:solidFill>
            <a:srgbClr val="FFFFFF"/>
          </a:solidFill>
          <a:ln w="12700">
            <a:solidFill>
              <a:srgbClr val="D8E0E4"/>
            </a:solidFill>
            <a:prstDash val="solid"/>
          </a:ln>
        </p:spPr>
      </p:sp>
      <p:sp>
        <p:nvSpPr>
          <p:cNvPr id="26" name="Shape 24"/>
          <p:cNvSpPr/>
          <p:nvPr/>
        </p:nvSpPr>
        <p:spPr>
          <a:xfrm>
            <a:off x="667512" y="5321808"/>
            <a:ext cx="256032" cy="256032"/>
          </a:xfrm>
          <a:prstGeom prst="ellipse">
            <a:avLst/>
          </a:prstGeom>
          <a:solidFill>
            <a:srgbClr val="FBEEDC"/>
          </a:solidFill>
          <a:ln w="12700">
            <a:solidFill>
              <a:srgbClr val="FBEEDC"/>
            </a:solidFill>
            <a:prstDash val="solid"/>
          </a:ln>
        </p:spPr>
      </p:sp>
      <p:sp>
        <p:nvSpPr>
          <p:cNvPr id="27" name="Text 25"/>
          <p:cNvSpPr/>
          <p:nvPr/>
        </p:nvSpPr>
        <p:spPr>
          <a:xfrm>
            <a:off x="667512" y="5321808"/>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1024128" y="5312664"/>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Failure and restart</a:t>
            </a:r>
            <a:endParaRPr lang="en-US" sz="1150" dirty="0"/>
          </a:p>
        </p:txBody>
      </p:sp>
      <p:sp>
        <p:nvSpPr>
          <p:cNvPr id="29" name="Text 27"/>
          <p:cNvSpPr/>
          <p:nvPr/>
        </p:nvSpPr>
        <p:spPr>
          <a:xfrm>
            <a:off x="1024128" y="5559552"/>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A batch interrupted mid-run and restarted, to confirm the window can still be met after recovery.</a:t>
            </a:r>
            <a:endParaRPr lang="en-US" sz="950" dirty="0"/>
          </a:p>
        </p:txBody>
      </p:sp>
      <p:sp>
        <p:nvSpPr>
          <p:cNvPr id="30" name="Text 28"/>
          <p:cNvSpPr/>
          <p:nvPr/>
        </p:nvSpPr>
        <p:spPr>
          <a:xfrm>
            <a:off x="7178040" y="1298448"/>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What we measure</a:t>
            </a:r>
            <a:endParaRPr lang="en-US" sz="1500" dirty="0"/>
          </a:p>
        </p:txBody>
      </p:sp>
      <p:sp>
        <p:nvSpPr>
          <p:cNvPr id="31" name="Shape 29"/>
          <p:cNvSpPr/>
          <p:nvPr/>
        </p:nvSpPr>
        <p:spPr>
          <a:xfrm>
            <a:off x="7178040" y="1609344"/>
            <a:ext cx="4507992" cy="1755648"/>
          </a:xfrm>
          <a:prstGeom prst="roundRect">
            <a:avLst>
              <a:gd name="adj" fmla="val 3646"/>
            </a:avLst>
          </a:prstGeom>
          <a:solidFill>
            <a:srgbClr val="F2F6F7"/>
          </a:solidFill>
          <a:ln w="12700">
            <a:solidFill>
              <a:srgbClr val="D8E0E4"/>
            </a:solidFill>
            <a:prstDash val="solid"/>
          </a:ln>
        </p:spPr>
      </p:sp>
      <p:sp>
        <p:nvSpPr>
          <p:cNvPr id="32" name="Text 30"/>
          <p:cNvSpPr/>
          <p:nvPr/>
        </p:nvSpPr>
        <p:spPr>
          <a:xfrm>
            <a:off x="7342632" y="1737360"/>
            <a:ext cx="4178808" cy="17556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Elapsed time per stage, against the agreed batch window</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Throughput in rows per minute at each hop</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Database contention — blocking, deadlocks, log growth</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Resource headroom on SQL and Databricks compute</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How degradation behaves as volume rises — linear or not</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Time to recover and complete after an interrupted run</a:t>
            </a:r>
            <a:endParaRPr lang="en-US" sz="1050" dirty="0"/>
          </a:p>
        </p:txBody>
      </p:sp>
      <p:sp>
        <p:nvSpPr>
          <p:cNvPr id="33" name="Text 31"/>
          <p:cNvSpPr/>
          <p:nvPr/>
        </p:nvSpPr>
        <p:spPr>
          <a:xfrm>
            <a:off x="7178040" y="3566160"/>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Tooling</a:t>
            </a:r>
            <a:endParaRPr lang="en-US" sz="1500" dirty="0"/>
          </a:p>
        </p:txBody>
      </p:sp>
      <p:sp>
        <p:nvSpPr>
          <p:cNvPr id="34" name="Shape 32"/>
          <p:cNvSpPr/>
          <p:nvPr/>
        </p:nvSpPr>
        <p:spPr>
          <a:xfrm>
            <a:off x="7178040" y="3877056"/>
            <a:ext cx="4507992" cy="1975104"/>
          </a:xfrm>
          <a:prstGeom prst="roundRect">
            <a:avLst>
              <a:gd name="adj" fmla="val 3241"/>
            </a:avLst>
          </a:prstGeom>
          <a:solidFill>
            <a:srgbClr val="FBEEDC"/>
          </a:solidFill>
          <a:ln w="12700">
            <a:solidFill>
              <a:srgbClr val="F0DCC0"/>
            </a:solidFill>
            <a:prstDash val="solid"/>
          </a:ln>
        </p:spPr>
      </p:sp>
      <p:sp>
        <p:nvSpPr>
          <p:cNvPr id="35" name="Text 33"/>
          <p:cNvSpPr/>
          <p:nvPr/>
        </p:nvSpPr>
        <p:spPr>
          <a:xfrm>
            <a:off x="7342632" y="4023360"/>
            <a:ext cx="4178808" cy="1700784"/>
          </a:xfrm>
          <a:prstGeom prst="rect">
            <a:avLst/>
          </a:prstGeom>
          <a:noFill/>
          <a:ln/>
        </p:spPr>
        <p:txBody>
          <a:bodyPr wrap="square" lIns="0" tIns="0" rIns="0" bIns="0" rtlCol="0" anchor="t"/>
          <a:lstStyle/>
          <a:p>
            <a:pPr marL="0" indent="0">
              <a:lnSpc>
                <a:spcPct val="105000"/>
              </a:lnSpc>
              <a:spcAft>
                <a:spcPts val="500"/>
              </a:spcAft>
              <a:buNone/>
            </a:pPr>
            <a:r>
              <a:rPr lang="en-US" sz="1000" b="1" dirty="0">
                <a:solidFill>
                  <a:srgbClr val="B26A00"/>
                </a:solidFill>
                <a:latin typeface="Calibri" pitchFamily="34" charset="0"/>
                <a:ea typeface="Calibri" pitchFamily="34" charset="-122"/>
                <a:cs typeface="Calibri" pitchFamily="34" charset="-120"/>
              </a:rPr>
              <a:t>JMeter</a:t>
            </a:r>
            <a:r>
              <a:rPr lang="en-US" sz="1000" dirty="0">
                <a:solidFill>
                  <a:srgbClr val="3E4C55"/>
                </a:solidFill>
                <a:latin typeface="Calibri" pitchFamily="34" charset="0"/>
                <a:ea typeface="Calibri" pitchFamily="34" charset="-122"/>
                <a:cs typeface="Calibri" pitchFamily="34" charset="-120"/>
              </a:rPr>
              <a:t> for portal and API driven triggers and mixed-protocol steps, where a recorded plan is quicker to build.</a:t>
            </a:r>
            <a:endParaRPr lang="en-US" sz="1000" dirty="0"/>
          </a:p>
          <a:p>
            <a:pPr marL="0" indent="0">
              <a:lnSpc>
                <a:spcPct val="105000"/>
              </a:lnSpc>
              <a:spcAft>
                <a:spcPts val="500"/>
              </a:spcAft>
              <a:buNone/>
            </a:pPr>
            <a:r>
              <a:rPr lang="en-US" sz="1000" b="1" dirty="0">
                <a:solidFill>
                  <a:srgbClr val="B26A00"/>
                </a:solidFill>
                <a:latin typeface="Calibri" pitchFamily="34" charset="0"/>
                <a:ea typeface="Calibri" pitchFamily="34" charset="-122"/>
                <a:cs typeface="Calibri" pitchFamily="34" charset="-120"/>
              </a:rPr>
              <a:t>Gatling</a:t>
            </a:r>
            <a:r>
              <a:rPr lang="en-US" sz="1000" dirty="0">
                <a:solidFill>
                  <a:srgbClr val="3E4C55"/>
                </a:solidFill>
                <a:latin typeface="Calibri" pitchFamily="34" charset="0"/>
                <a:ea typeface="Calibri" pitchFamily="34" charset="-122"/>
                <a:cs typeface="Calibri" pitchFamily="34" charset="-120"/>
              </a:rPr>
              <a:t> where scenarios are better expressed as code and need to run inside the pipeline on every release.</a:t>
            </a:r>
            <a:endParaRPr lang="en-US" sz="1000" dirty="0"/>
          </a:p>
          <a:p>
            <a:pPr marL="0" indent="0">
              <a:lnSpc>
                <a:spcPct val="105000"/>
              </a:lnSpc>
              <a:spcAft>
                <a:spcPts val="500"/>
              </a:spcAft>
              <a:buNone/>
            </a:pPr>
            <a:r>
              <a:rPr lang="en-US" sz="1000" i="1" dirty="0">
                <a:solidFill>
                  <a:srgbClr val="6B7B85"/>
                </a:solidFill>
                <a:latin typeface="Calibri" pitchFamily="34" charset="0"/>
                <a:ea typeface="Calibri" pitchFamily="34" charset="-122"/>
                <a:cs typeface="Calibri" pitchFamily="34" charset="-120"/>
              </a:rPr>
              <a:t>Both feed the same measurements — the choice is a team-skills decision, not a technical constraint.</a:t>
            </a:r>
            <a:endParaRPr lang="en-US" sz="1000" dirty="0"/>
          </a:p>
        </p:txBody>
      </p:sp>
      <p:sp>
        <p:nvSpPr>
          <p:cNvPr id="36" name="Text 34"/>
          <p:cNvSpPr/>
          <p:nvPr/>
        </p:nvSpPr>
        <p:spPr>
          <a:xfrm>
            <a:off x="502920" y="6181344"/>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Entry criteria — the functional test pass is complete and production-shaped volumes are available in the test environment. Performance findings against a functionally broken pipeline are not actionable.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Where the tooling goes next</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Three steps for the schema comparison tool — reduce the noise, move the check left, then turn the output into insight</a:t>
            </a:r>
            <a:endParaRPr lang="en-US" sz="1250" dirty="0"/>
          </a:p>
        </p:txBody>
      </p:sp>
      <p:sp>
        <p:nvSpPr>
          <p:cNvPr id="4" name="Shape 2"/>
          <p:cNvSpPr/>
          <p:nvPr/>
        </p:nvSpPr>
        <p:spPr>
          <a:xfrm>
            <a:off x="502920" y="1298448"/>
            <a:ext cx="3648456" cy="4828032"/>
          </a:xfrm>
          <a:prstGeom prst="roundRect">
            <a:avLst>
              <a:gd name="adj" fmla="val 1754"/>
            </a:avLst>
          </a:prstGeom>
          <a:solidFill>
            <a:srgbClr val="FFFFFF"/>
          </a:solidFill>
          <a:ln w="12700">
            <a:solidFill>
              <a:srgbClr val="D8E0E4"/>
            </a:solidFill>
            <a:prstDash val="solid"/>
          </a:ln>
        </p:spPr>
      </p:sp>
      <p:sp>
        <p:nvSpPr>
          <p:cNvPr id="5" name="Shape 3"/>
          <p:cNvSpPr/>
          <p:nvPr/>
        </p:nvSpPr>
        <p:spPr>
          <a:xfrm>
            <a:off x="685800" y="1463040"/>
            <a:ext cx="960120" cy="237744"/>
          </a:xfrm>
          <a:prstGeom prst="roundRect">
            <a:avLst>
              <a:gd name="adj" fmla="val 46154"/>
            </a:avLst>
          </a:prstGeom>
          <a:solidFill>
            <a:srgbClr val="0E7C7B"/>
          </a:solidFill>
          <a:ln w="12700">
            <a:solidFill>
              <a:srgbClr val="0E7C7B"/>
            </a:solidFill>
            <a:prstDash val="solid"/>
          </a:ln>
        </p:spPr>
      </p:sp>
      <p:sp>
        <p:nvSpPr>
          <p:cNvPr id="6" name="Text 4"/>
          <p:cNvSpPr/>
          <p:nvPr/>
        </p:nvSpPr>
        <p:spPr>
          <a:xfrm>
            <a:off x="685800" y="1463040"/>
            <a:ext cx="96012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STEP 1</a:t>
            </a:r>
            <a:endParaRPr lang="en-US" sz="900" dirty="0"/>
          </a:p>
        </p:txBody>
      </p:sp>
      <p:sp>
        <p:nvSpPr>
          <p:cNvPr id="7" name="Text 5"/>
          <p:cNvSpPr/>
          <p:nvPr/>
        </p:nvSpPr>
        <p:spPr>
          <a:xfrm>
            <a:off x="685800" y="1773936"/>
            <a:ext cx="3282696" cy="274320"/>
          </a:xfrm>
          <a:prstGeom prst="rect">
            <a:avLst/>
          </a:prstGeom>
          <a:noFill/>
          <a:ln/>
        </p:spPr>
        <p:txBody>
          <a:bodyPr wrap="square" lIns="0" tIns="0" rIns="0" bIns="0" rtlCol="0" anchor="ctr"/>
          <a:lstStyle/>
          <a:p>
            <a:pPr marL="0" indent="0">
              <a:buNone/>
            </a:pPr>
            <a:r>
              <a:rPr lang="en-US" sz="1600" b="1" dirty="0">
                <a:solidFill>
                  <a:srgbClr val="1B2A33"/>
                </a:solidFill>
                <a:latin typeface="Cambria" pitchFamily="34" charset="0"/>
                <a:ea typeface="Cambria" pitchFamily="34" charset="-122"/>
                <a:cs typeface="Cambria" pitchFamily="34" charset="-120"/>
              </a:rPr>
              <a:t>Trust the output</a:t>
            </a:r>
            <a:endParaRPr lang="en-US" sz="1600" dirty="0"/>
          </a:p>
        </p:txBody>
      </p:sp>
      <p:sp>
        <p:nvSpPr>
          <p:cNvPr id="8" name="Shape 6"/>
          <p:cNvSpPr/>
          <p:nvPr/>
        </p:nvSpPr>
        <p:spPr>
          <a:xfrm>
            <a:off x="685800" y="2157984"/>
            <a:ext cx="3282696" cy="896112"/>
          </a:xfrm>
          <a:prstGeom prst="roundRect">
            <a:avLst>
              <a:gd name="adj" fmla="val 7143"/>
            </a:avLst>
          </a:prstGeom>
          <a:solidFill>
            <a:srgbClr val="E3F0EF"/>
          </a:solidFill>
          <a:ln w="12700">
            <a:solidFill>
              <a:srgbClr val="CBE0DE"/>
            </a:solidFill>
            <a:prstDash val="solid"/>
          </a:ln>
        </p:spPr>
      </p:sp>
      <p:sp>
        <p:nvSpPr>
          <p:cNvPr id="9" name="Text 7"/>
          <p:cNvSpPr/>
          <p:nvPr/>
        </p:nvSpPr>
        <p:spPr>
          <a:xfrm>
            <a:off x="832104" y="2240280"/>
            <a:ext cx="299008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Configurable equivalence rules</a:t>
            </a:r>
            <a:endParaRPr lang="en-US" sz="1100" dirty="0"/>
          </a:p>
        </p:txBody>
      </p:sp>
      <p:sp>
        <p:nvSpPr>
          <p:cNvPr id="10" name="Text 8"/>
          <p:cNvSpPr/>
          <p:nvPr/>
        </p:nvSpPr>
        <p:spPr>
          <a:xfrm>
            <a:off x="832104" y="2487168"/>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Datatype and naming equivalences held as versioned configuration rather than code, so false positives are tuned without a release.</a:t>
            </a:r>
            <a:endParaRPr lang="en-US" sz="900" dirty="0"/>
          </a:p>
        </p:txBody>
      </p:sp>
      <p:sp>
        <p:nvSpPr>
          <p:cNvPr id="11" name="Shape 9"/>
          <p:cNvSpPr/>
          <p:nvPr/>
        </p:nvSpPr>
        <p:spPr>
          <a:xfrm>
            <a:off x="685800" y="3127248"/>
            <a:ext cx="3282696" cy="896112"/>
          </a:xfrm>
          <a:prstGeom prst="roundRect">
            <a:avLst>
              <a:gd name="adj" fmla="val 7143"/>
            </a:avLst>
          </a:prstGeom>
          <a:solidFill>
            <a:srgbClr val="E3F0EF"/>
          </a:solidFill>
          <a:ln w="12700">
            <a:solidFill>
              <a:srgbClr val="CBE0DE"/>
            </a:solidFill>
            <a:prstDash val="solid"/>
          </a:ln>
        </p:spPr>
      </p:sp>
      <p:sp>
        <p:nvSpPr>
          <p:cNvPr id="12" name="Text 10"/>
          <p:cNvSpPr/>
          <p:nvPr/>
        </p:nvSpPr>
        <p:spPr>
          <a:xfrm>
            <a:off x="832104" y="3209544"/>
            <a:ext cx="299008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Scope-aware comparison</a:t>
            </a:r>
            <a:endParaRPr lang="en-US" sz="1100" dirty="0"/>
          </a:p>
        </p:txBody>
      </p:sp>
      <p:sp>
        <p:nvSpPr>
          <p:cNvPr id="13" name="Text 11"/>
          <p:cNvSpPr/>
          <p:nvPr/>
        </p:nvSpPr>
        <p:spPr>
          <a:xfrm>
            <a:off x="832104" y="3456432"/>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Each run declares the tables in scope, so a planned partial delivery reads as complete rather than as a long list of gaps.</a:t>
            </a:r>
            <a:endParaRPr lang="en-US" sz="900" dirty="0"/>
          </a:p>
        </p:txBody>
      </p:sp>
      <p:sp>
        <p:nvSpPr>
          <p:cNvPr id="14" name="Shape 12"/>
          <p:cNvSpPr/>
          <p:nvPr/>
        </p:nvSpPr>
        <p:spPr>
          <a:xfrm>
            <a:off x="685800" y="4096512"/>
            <a:ext cx="3282696" cy="896112"/>
          </a:xfrm>
          <a:prstGeom prst="roundRect">
            <a:avLst>
              <a:gd name="adj" fmla="val 7143"/>
            </a:avLst>
          </a:prstGeom>
          <a:solidFill>
            <a:srgbClr val="E3F0EF"/>
          </a:solidFill>
          <a:ln w="12700">
            <a:solidFill>
              <a:srgbClr val="CBE0DE"/>
            </a:solidFill>
            <a:prstDash val="solid"/>
          </a:ln>
        </p:spPr>
      </p:sp>
      <p:sp>
        <p:nvSpPr>
          <p:cNvPr id="15" name="Text 13"/>
          <p:cNvSpPr/>
          <p:nvPr/>
        </p:nvSpPr>
        <p:spPr>
          <a:xfrm>
            <a:off x="832104" y="4178808"/>
            <a:ext cx="299008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Severity classification</a:t>
            </a:r>
            <a:endParaRPr lang="en-US" sz="1100" dirty="0"/>
          </a:p>
        </p:txBody>
      </p:sp>
      <p:sp>
        <p:nvSpPr>
          <p:cNvPr id="16" name="Text 14"/>
          <p:cNvSpPr/>
          <p:nvPr/>
        </p:nvSpPr>
        <p:spPr>
          <a:xfrm>
            <a:off x="832104" y="4425696"/>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Every difference lands as blocking, advisory or informational instead of one undifferentiated list.</a:t>
            </a:r>
            <a:endParaRPr lang="en-US" sz="900" dirty="0"/>
          </a:p>
        </p:txBody>
      </p:sp>
      <p:sp>
        <p:nvSpPr>
          <p:cNvPr id="17" name="Shape 15"/>
          <p:cNvSpPr/>
          <p:nvPr/>
        </p:nvSpPr>
        <p:spPr>
          <a:xfrm>
            <a:off x="685800" y="5065776"/>
            <a:ext cx="3282696" cy="896112"/>
          </a:xfrm>
          <a:prstGeom prst="roundRect">
            <a:avLst>
              <a:gd name="adj" fmla="val 7143"/>
            </a:avLst>
          </a:prstGeom>
          <a:solidFill>
            <a:srgbClr val="E3F0EF"/>
          </a:solidFill>
          <a:ln w="12700">
            <a:solidFill>
              <a:srgbClr val="CBE0DE"/>
            </a:solidFill>
            <a:prstDash val="solid"/>
          </a:ln>
        </p:spPr>
      </p:sp>
      <p:sp>
        <p:nvSpPr>
          <p:cNvPr id="18" name="Text 16"/>
          <p:cNvSpPr/>
          <p:nvPr/>
        </p:nvSpPr>
        <p:spPr>
          <a:xfrm>
            <a:off x="832104" y="5148072"/>
            <a:ext cx="299008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All tabs in one run</a:t>
            </a:r>
            <a:endParaRPr lang="en-US" sz="1100" dirty="0"/>
          </a:p>
        </p:txBody>
      </p:sp>
      <p:sp>
        <p:nvSpPr>
          <p:cNvPr id="19" name="Text 17"/>
          <p:cNvSpPr/>
          <p:nvPr/>
        </p:nvSpPr>
        <p:spPr>
          <a:xfrm>
            <a:off x="832104" y="5394960"/>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Compare every tab of the mapping workbook together and return a single consolidated verdict, not a tab-by-tab exercise.</a:t>
            </a:r>
            <a:endParaRPr lang="en-US" sz="900" dirty="0"/>
          </a:p>
        </p:txBody>
      </p:sp>
      <p:sp>
        <p:nvSpPr>
          <p:cNvPr id="20" name="Shape 18"/>
          <p:cNvSpPr/>
          <p:nvPr/>
        </p:nvSpPr>
        <p:spPr>
          <a:xfrm>
            <a:off x="4315968" y="1298448"/>
            <a:ext cx="3648456" cy="4828032"/>
          </a:xfrm>
          <a:prstGeom prst="roundRect">
            <a:avLst>
              <a:gd name="adj" fmla="val 1754"/>
            </a:avLst>
          </a:prstGeom>
          <a:solidFill>
            <a:srgbClr val="FFFFFF"/>
          </a:solidFill>
          <a:ln w="12700">
            <a:solidFill>
              <a:srgbClr val="D8E0E4"/>
            </a:solidFill>
            <a:prstDash val="solid"/>
          </a:ln>
        </p:spPr>
      </p:sp>
      <p:sp>
        <p:nvSpPr>
          <p:cNvPr id="21" name="Shape 19"/>
          <p:cNvSpPr/>
          <p:nvPr/>
        </p:nvSpPr>
        <p:spPr>
          <a:xfrm>
            <a:off x="4498848" y="1463040"/>
            <a:ext cx="960120" cy="237744"/>
          </a:xfrm>
          <a:prstGeom prst="roundRect">
            <a:avLst>
              <a:gd name="adj" fmla="val 46154"/>
            </a:avLst>
          </a:prstGeom>
          <a:solidFill>
            <a:srgbClr val="B26A00"/>
          </a:solidFill>
          <a:ln w="12700">
            <a:solidFill>
              <a:srgbClr val="B26A00"/>
            </a:solidFill>
            <a:prstDash val="solid"/>
          </a:ln>
        </p:spPr>
      </p:sp>
      <p:sp>
        <p:nvSpPr>
          <p:cNvPr id="22" name="Text 20"/>
          <p:cNvSpPr/>
          <p:nvPr/>
        </p:nvSpPr>
        <p:spPr>
          <a:xfrm>
            <a:off x="4498848" y="1463040"/>
            <a:ext cx="96012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STEP 2</a:t>
            </a:r>
            <a:endParaRPr lang="en-US" sz="900" dirty="0"/>
          </a:p>
        </p:txBody>
      </p:sp>
      <p:sp>
        <p:nvSpPr>
          <p:cNvPr id="23" name="Text 21"/>
          <p:cNvSpPr/>
          <p:nvPr/>
        </p:nvSpPr>
        <p:spPr>
          <a:xfrm>
            <a:off x="4498848" y="1773936"/>
            <a:ext cx="3282696" cy="274320"/>
          </a:xfrm>
          <a:prstGeom prst="rect">
            <a:avLst/>
          </a:prstGeom>
          <a:noFill/>
          <a:ln/>
        </p:spPr>
        <p:txBody>
          <a:bodyPr wrap="square" lIns="0" tIns="0" rIns="0" bIns="0" rtlCol="0" anchor="ctr"/>
          <a:lstStyle/>
          <a:p>
            <a:pPr marL="0" indent="0">
              <a:buNone/>
            </a:pPr>
            <a:r>
              <a:rPr lang="en-US" sz="1600" b="1" dirty="0">
                <a:solidFill>
                  <a:srgbClr val="1B2A33"/>
                </a:solidFill>
                <a:latin typeface="Cambria" pitchFamily="34" charset="0"/>
                <a:ea typeface="Cambria" pitchFamily="34" charset="-122"/>
                <a:cs typeface="Cambria" pitchFamily="34" charset="-120"/>
              </a:rPr>
              <a:t>Widen and automate</a:t>
            </a:r>
            <a:endParaRPr lang="en-US" sz="1600" dirty="0"/>
          </a:p>
        </p:txBody>
      </p:sp>
      <p:sp>
        <p:nvSpPr>
          <p:cNvPr id="24" name="Shape 22"/>
          <p:cNvSpPr/>
          <p:nvPr/>
        </p:nvSpPr>
        <p:spPr>
          <a:xfrm>
            <a:off x="4498848" y="2157984"/>
            <a:ext cx="3282696" cy="896112"/>
          </a:xfrm>
          <a:prstGeom prst="roundRect">
            <a:avLst>
              <a:gd name="adj" fmla="val 7143"/>
            </a:avLst>
          </a:prstGeom>
          <a:solidFill>
            <a:srgbClr val="FBEEDC"/>
          </a:solidFill>
          <a:ln w="12700">
            <a:solidFill>
              <a:srgbClr val="F0DCC0"/>
            </a:solidFill>
            <a:prstDash val="solid"/>
          </a:ln>
        </p:spPr>
      </p:sp>
      <p:sp>
        <p:nvSpPr>
          <p:cNvPr id="25" name="Text 23"/>
          <p:cNvSpPr/>
          <p:nvPr/>
        </p:nvSpPr>
        <p:spPr>
          <a:xfrm>
            <a:off x="4645152" y="2240280"/>
            <a:ext cx="299008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Format-agnostic inputs</a:t>
            </a:r>
            <a:endParaRPr lang="en-US" sz="1100" dirty="0"/>
          </a:p>
        </p:txBody>
      </p:sp>
      <p:sp>
        <p:nvSpPr>
          <p:cNvPr id="26" name="Text 24"/>
          <p:cNvSpPr/>
          <p:nvPr/>
        </p:nvSpPr>
        <p:spPr>
          <a:xfrm>
            <a:off x="4645152" y="2487168"/>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Accept CSV, JSON and raw DDL as well as Excel, so the tool is not tied to one delivery format on either side.</a:t>
            </a:r>
            <a:endParaRPr lang="en-US" sz="900" dirty="0"/>
          </a:p>
        </p:txBody>
      </p:sp>
      <p:sp>
        <p:nvSpPr>
          <p:cNvPr id="27" name="Shape 25"/>
          <p:cNvSpPr/>
          <p:nvPr/>
        </p:nvSpPr>
        <p:spPr>
          <a:xfrm>
            <a:off x="4498848" y="3127248"/>
            <a:ext cx="3282696" cy="896112"/>
          </a:xfrm>
          <a:prstGeom prst="roundRect">
            <a:avLst>
              <a:gd name="adj" fmla="val 7143"/>
            </a:avLst>
          </a:prstGeom>
          <a:solidFill>
            <a:srgbClr val="FBEEDC"/>
          </a:solidFill>
          <a:ln w="12700">
            <a:solidFill>
              <a:srgbClr val="F0DCC0"/>
            </a:solidFill>
            <a:prstDash val="solid"/>
          </a:ln>
        </p:spPr>
      </p:sp>
      <p:sp>
        <p:nvSpPr>
          <p:cNvPr id="28" name="Text 26"/>
          <p:cNvSpPr/>
          <p:nvPr/>
        </p:nvSpPr>
        <p:spPr>
          <a:xfrm>
            <a:off x="4645152" y="3209544"/>
            <a:ext cx="299008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Run on every pull request</a:t>
            </a:r>
            <a:endParaRPr lang="en-US" sz="1100" dirty="0"/>
          </a:p>
        </p:txBody>
      </p:sp>
      <p:sp>
        <p:nvSpPr>
          <p:cNvPr id="29" name="Text 27"/>
          <p:cNvSpPr/>
          <p:nvPr/>
        </p:nvSpPr>
        <p:spPr>
          <a:xfrm>
            <a:off x="4645152" y="3456432"/>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The comparison fires in the pipeline and posts back as a PR check, so no one has to remember to run it.</a:t>
            </a:r>
            <a:endParaRPr lang="en-US" sz="900" dirty="0"/>
          </a:p>
        </p:txBody>
      </p:sp>
      <p:sp>
        <p:nvSpPr>
          <p:cNvPr id="30" name="Shape 28"/>
          <p:cNvSpPr/>
          <p:nvPr/>
        </p:nvSpPr>
        <p:spPr>
          <a:xfrm>
            <a:off x="4498848" y="4096512"/>
            <a:ext cx="3282696" cy="896112"/>
          </a:xfrm>
          <a:prstGeom prst="roundRect">
            <a:avLst>
              <a:gd name="adj" fmla="val 7143"/>
            </a:avLst>
          </a:prstGeom>
          <a:solidFill>
            <a:srgbClr val="FBEEDC"/>
          </a:solidFill>
          <a:ln w="12700">
            <a:solidFill>
              <a:srgbClr val="F0DCC0"/>
            </a:solidFill>
            <a:prstDash val="solid"/>
          </a:ln>
        </p:spPr>
      </p:sp>
      <p:sp>
        <p:nvSpPr>
          <p:cNvPr id="31" name="Text 29"/>
          <p:cNvSpPr/>
          <p:nvPr/>
        </p:nvSpPr>
        <p:spPr>
          <a:xfrm>
            <a:off x="4645152" y="4178808"/>
            <a:ext cx="299008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Beyond datatypes</a:t>
            </a:r>
            <a:endParaRPr lang="en-US" sz="1100" dirty="0"/>
          </a:p>
        </p:txBody>
      </p:sp>
      <p:sp>
        <p:nvSpPr>
          <p:cNvPr id="32" name="Text 30"/>
          <p:cNvSpPr/>
          <p:nvPr/>
        </p:nvSpPr>
        <p:spPr>
          <a:xfrm>
            <a:off x="4645152" y="4425696"/>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Extend to primary keys, nullability, column order and naming standards — all of which the mapping sheet already carries.</a:t>
            </a:r>
            <a:endParaRPr lang="en-US" sz="900" dirty="0"/>
          </a:p>
        </p:txBody>
      </p:sp>
      <p:sp>
        <p:nvSpPr>
          <p:cNvPr id="33" name="Shape 31"/>
          <p:cNvSpPr/>
          <p:nvPr/>
        </p:nvSpPr>
        <p:spPr>
          <a:xfrm>
            <a:off x="4498848" y="5065776"/>
            <a:ext cx="3282696" cy="896112"/>
          </a:xfrm>
          <a:prstGeom prst="roundRect">
            <a:avLst>
              <a:gd name="adj" fmla="val 7143"/>
            </a:avLst>
          </a:prstGeom>
          <a:solidFill>
            <a:srgbClr val="FBEEDC"/>
          </a:solidFill>
          <a:ln w="12700">
            <a:solidFill>
              <a:srgbClr val="F0DCC0"/>
            </a:solidFill>
            <a:prstDash val="solid"/>
          </a:ln>
        </p:spPr>
      </p:sp>
      <p:sp>
        <p:nvSpPr>
          <p:cNvPr id="34" name="Text 32"/>
          <p:cNvSpPr/>
          <p:nvPr/>
        </p:nvSpPr>
        <p:spPr>
          <a:xfrm>
            <a:off x="4645152" y="5148072"/>
            <a:ext cx="299008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Deviation register</a:t>
            </a:r>
            <a:endParaRPr lang="en-US" sz="1100" dirty="0"/>
          </a:p>
        </p:txBody>
      </p:sp>
      <p:sp>
        <p:nvSpPr>
          <p:cNvPr id="35" name="Text 33"/>
          <p:cNvSpPr/>
          <p:nvPr/>
        </p:nvSpPr>
        <p:spPr>
          <a:xfrm>
            <a:off x="4645152" y="5394960"/>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Accepted deviations are recorded once with an owner and an expiry date, and suppressed from later runs.</a:t>
            </a:r>
            <a:endParaRPr lang="en-US" sz="900" dirty="0"/>
          </a:p>
        </p:txBody>
      </p:sp>
      <p:sp>
        <p:nvSpPr>
          <p:cNvPr id="36" name="Shape 34"/>
          <p:cNvSpPr/>
          <p:nvPr/>
        </p:nvSpPr>
        <p:spPr>
          <a:xfrm>
            <a:off x="8129016" y="1298448"/>
            <a:ext cx="3648456" cy="4828032"/>
          </a:xfrm>
          <a:prstGeom prst="roundRect">
            <a:avLst>
              <a:gd name="adj" fmla="val 1754"/>
            </a:avLst>
          </a:prstGeom>
          <a:solidFill>
            <a:srgbClr val="FFFFFF"/>
          </a:solidFill>
          <a:ln w="12700">
            <a:solidFill>
              <a:srgbClr val="D8E0E4"/>
            </a:solidFill>
            <a:prstDash val="solid"/>
          </a:ln>
        </p:spPr>
      </p:sp>
      <p:sp>
        <p:nvSpPr>
          <p:cNvPr id="37" name="Shape 35"/>
          <p:cNvSpPr/>
          <p:nvPr/>
        </p:nvSpPr>
        <p:spPr>
          <a:xfrm>
            <a:off x="8311896" y="1463040"/>
            <a:ext cx="960120" cy="237744"/>
          </a:xfrm>
          <a:prstGeom prst="roundRect">
            <a:avLst>
              <a:gd name="adj" fmla="val 46154"/>
            </a:avLst>
          </a:prstGeom>
          <a:solidFill>
            <a:srgbClr val="1B2A33"/>
          </a:solidFill>
          <a:ln w="12700">
            <a:solidFill>
              <a:srgbClr val="1B2A33"/>
            </a:solidFill>
            <a:prstDash val="solid"/>
          </a:ln>
        </p:spPr>
      </p:sp>
      <p:sp>
        <p:nvSpPr>
          <p:cNvPr id="38" name="Text 36"/>
          <p:cNvSpPr/>
          <p:nvPr/>
        </p:nvSpPr>
        <p:spPr>
          <a:xfrm>
            <a:off x="8311896" y="1463040"/>
            <a:ext cx="96012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STEP 3</a:t>
            </a:r>
            <a:endParaRPr lang="en-US" sz="900" dirty="0"/>
          </a:p>
        </p:txBody>
      </p:sp>
      <p:sp>
        <p:nvSpPr>
          <p:cNvPr id="39" name="Text 37"/>
          <p:cNvSpPr/>
          <p:nvPr/>
        </p:nvSpPr>
        <p:spPr>
          <a:xfrm>
            <a:off x="8311896" y="1773936"/>
            <a:ext cx="3282696" cy="274320"/>
          </a:xfrm>
          <a:prstGeom prst="rect">
            <a:avLst/>
          </a:prstGeom>
          <a:noFill/>
          <a:ln/>
        </p:spPr>
        <p:txBody>
          <a:bodyPr wrap="square" lIns="0" tIns="0" rIns="0" bIns="0" rtlCol="0" anchor="ctr"/>
          <a:lstStyle/>
          <a:p>
            <a:pPr marL="0" indent="0">
              <a:buNone/>
            </a:pPr>
            <a:r>
              <a:rPr lang="en-US" sz="1600" b="1" dirty="0">
                <a:solidFill>
                  <a:srgbClr val="1B2A33"/>
                </a:solidFill>
                <a:latin typeface="Cambria" pitchFamily="34" charset="0"/>
                <a:ea typeface="Cambria" pitchFamily="34" charset="-122"/>
                <a:cs typeface="Cambria" pitchFamily="34" charset="-120"/>
              </a:rPr>
              <a:t>Move the source of truth</a:t>
            </a:r>
            <a:endParaRPr lang="en-US" sz="1600" dirty="0"/>
          </a:p>
        </p:txBody>
      </p:sp>
      <p:sp>
        <p:nvSpPr>
          <p:cNvPr id="40" name="Shape 38"/>
          <p:cNvSpPr/>
          <p:nvPr/>
        </p:nvSpPr>
        <p:spPr>
          <a:xfrm>
            <a:off x="8311896" y="2157984"/>
            <a:ext cx="3282696" cy="896112"/>
          </a:xfrm>
          <a:prstGeom prst="roundRect">
            <a:avLst>
              <a:gd name="adj" fmla="val 7143"/>
            </a:avLst>
          </a:prstGeom>
          <a:solidFill>
            <a:srgbClr val="E8EDEF"/>
          </a:solidFill>
          <a:ln w="12700">
            <a:solidFill>
              <a:srgbClr val="C9D4D9"/>
            </a:solidFill>
            <a:prstDash val="solid"/>
          </a:ln>
        </p:spPr>
      </p:sp>
      <p:sp>
        <p:nvSpPr>
          <p:cNvPr id="41" name="Text 39"/>
          <p:cNvSpPr/>
          <p:nvPr/>
        </p:nvSpPr>
        <p:spPr>
          <a:xfrm>
            <a:off x="8458200" y="2240280"/>
            <a:ext cx="299008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PowerDesigner as the baseline</a:t>
            </a:r>
            <a:endParaRPr lang="en-US" sz="1100" dirty="0"/>
          </a:p>
        </p:txBody>
      </p:sp>
      <p:sp>
        <p:nvSpPr>
          <p:cNvPr id="42" name="Text 40"/>
          <p:cNvSpPr/>
          <p:nvPr/>
        </p:nvSpPr>
        <p:spPr>
          <a:xfrm>
            <a:off x="8458200" y="2487168"/>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The model itself becomes the source of truth in place of a maintained spreadsheet, and the tool compares against it directly.</a:t>
            </a:r>
            <a:endParaRPr lang="en-US" sz="900" dirty="0"/>
          </a:p>
        </p:txBody>
      </p:sp>
      <p:sp>
        <p:nvSpPr>
          <p:cNvPr id="43" name="Shape 41"/>
          <p:cNvSpPr/>
          <p:nvPr/>
        </p:nvSpPr>
        <p:spPr>
          <a:xfrm>
            <a:off x="8311896" y="3127248"/>
            <a:ext cx="3282696" cy="896112"/>
          </a:xfrm>
          <a:prstGeom prst="roundRect">
            <a:avLst>
              <a:gd name="adj" fmla="val 7143"/>
            </a:avLst>
          </a:prstGeom>
          <a:solidFill>
            <a:srgbClr val="E8EDEF"/>
          </a:solidFill>
          <a:ln w="12700">
            <a:solidFill>
              <a:srgbClr val="C9D4D9"/>
            </a:solidFill>
            <a:prstDash val="solid"/>
          </a:ln>
        </p:spPr>
      </p:sp>
      <p:sp>
        <p:nvSpPr>
          <p:cNvPr id="44" name="Text 42"/>
          <p:cNvSpPr/>
          <p:nvPr/>
        </p:nvSpPr>
        <p:spPr>
          <a:xfrm>
            <a:off x="8458200" y="3209544"/>
            <a:ext cx="299008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Conformance dashboard</a:t>
            </a:r>
            <a:endParaRPr lang="en-US" sz="1100" dirty="0"/>
          </a:p>
        </p:txBody>
      </p:sp>
      <p:sp>
        <p:nvSpPr>
          <p:cNvPr id="45" name="Text 43"/>
          <p:cNvSpPr/>
          <p:nvPr/>
        </p:nvSpPr>
        <p:spPr>
          <a:xfrm>
            <a:off x="8458200" y="3456432"/>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A live view of open differences by table, severity and owner, replacing the spreadsheet as the primary output.</a:t>
            </a:r>
            <a:endParaRPr lang="en-US" sz="900" dirty="0"/>
          </a:p>
        </p:txBody>
      </p:sp>
      <p:sp>
        <p:nvSpPr>
          <p:cNvPr id="46" name="Shape 44"/>
          <p:cNvSpPr/>
          <p:nvPr/>
        </p:nvSpPr>
        <p:spPr>
          <a:xfrm>
            <a:off x="8311896" y="4096512"/>
            <a:ext cx="3282696" cy="896112"/>
          </a:xfrm>
          <a:prstGeom prst="roundRect">
            <a:avLst>
              <a:gd name="adj" fmla="val 7143"/>
            </a:avLst>
          </a:prstGeom>
          <a:solidFill>
            <a:srgbClr val="E8EDEF"/>
          </a:solidFill>
          <a:ln w="12700">
            <a:solidFill>
              <a:srgbClr val="C9D4D9"/>
            </a:solidFill>
            <a:prstDash val="solid"/>
          </a:ln>
        </p:spPr>
      </p:sp>
      <p:sp>
        <p:nvSpPr>
          <p:cNvPr id="47" name="Text 45"/>
          <p:cNvSpPr/>
          <p:nvPr/>
        </p:nvSpPr>
        <p:spPr>
          <a:xfrm>
            <a:off x="8458200" y="4178808"/>
            <a:ext cx="299008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Drift trend analytics</a:t>
            </a:r>
            <a:endParaRPr lang="en-US" sz="1100" dirty="0"/>
          </a:p>
        </p:txBody>
      </p:sp>
      <p:sp>
        <p:nvSpPr>
          <p:cNvPr id="48" name="Text 46"/>
          <p:cNvSpPr/>
          <p:nvPr/>
        </p:nvSpPr>
        <p:spPr>
          <a:xfrm>
            <a:off x="8458200" y="4425696"/>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Differences opened against closed over time, time to remediate, and the tables that repeatedly drift.</a:t>
            </a:r>
            <a:endParaRPr lang="en-US" sz="900" dirty="0"/>
          </a:p>
        </p:txBody>
      </p:sp>
      <p:sp>
        <p:nvSpPr>
          <p:cNvPr id="49" name="Shape 47"/>
          <p:cNvSpPr/>
          <p:nvPr/>
        </p:nvSpPr>
        <p:spPr>
          <a:xfrm>
            <a:off x="8311896" y="5065776"/>
            <a:ext cx="3282696" cy="896112"/>
          </a:xfrm>
          <a:prstGeom prst="roundRect">
            <a:avLst>
              <a:gd name="adj" fmla="val 7143"/>
            </a:avLst>
          </a:prstGeom>
          <a:solidFill>
            <a:srgbClr val="E8EDEF"/>
          </a:solidFill>
          <a:ln w="12700">
            <a:solidFill>
              <a:srgbClr val="C9D4D9"/>
            </a:solidFill>
            <a:prstDash val="solid"/>
          </a:ln>
        </p:spPr>
      </p:sp>
      <p:sp>
        <p:nvSpPr>
          <p:cNvPr id="50" name="Text 48"/>
          <p:cNvSpPr/>
          <p:nvPr/>
        </p:nvSpPr>
        <p:spPr>
          <a:xfrm>
            <a:off x="8458200" y="5148072"/>
            <a:ext cx="299008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Three-way comparison</a:t>
            </a:r>
            <a:endParaRPr lang="en-US" sz="1100" dirty="0"/>
          </a:p>
        </p:txBody>
      </p:sp>
      <p:sp>
        <p:nvSpPr>
          <p:cNvPr id="51" name="Text 49"/>
          <p:cNvSpPr/>
          <p:nvPr/>
        </p:nvSpPr>
        <p:spPr>
          <a:xfrm>
            <a:off x="8458200" y="5394960"/>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Baseline against the pull request and against the deployed database, so approved designs are proven to have landed.</a:t>
            </a:r>
            <a:endParaRPr lang="en-US" sz="900" dirty="0"/>
          </a:p>
        </p:txBody>
      </p:sp>
      <p:sp>
        <p:nvSpPr>
          <p:cNvPr id="52" name="Text 50"/>
          <p:cNvSpPr/>
          <p:nvPr/>
        </p:nvSpPr>
        <p:spPr>
          <a:xfrm>
            <a:off x="502920" y="6254496"/>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Each step carries its own test scope. The synthetic test data proof of concept runs alongside these, under data quality, and is tracked separately.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Concept — schema conformance dashboard</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Indicative layout only. The same comparison engine feeds it; the Excel report becomes one export rather than the only output</a:t>
            </a:r>
            <a:endParaRPr lang="en-US" sz="1250" dirty="0"/>
          </a:p>
        </p:txBody>
      </p:sp>
      <p:sp>
        <p:nvSpPr>
          <p:cNvPr id="4" name="Shape 2"/>
          <p:cNvSpPr/>
          <p:nvPr/>
        </p:nvSpPr>
        <p:spPr>
          <a:xfrm>
            <a:off x="502920" y="1298448"/>
            <a:ext cx="6949440" cy="4626864"/>
          </a:xfrm>
          <a:prstGeom prst="roundRect">
            <a:avLst>
              <a:gd name="adj" fmla="val 1383"/>
            </a:avLst>
          </a:prstGeom>
          <a:solidFill>
            <a:srgbClr val="FFFFFF"/>
          </a:solidFill>
          <a:ln w="12700">
            <a:solidFill>
              <a:srgbClr val="C9D4D9"/>
            </a:solidFill>
            <a:prstDash val="solid"/>
          </a:ln>
        </p:spPr>
      </p:sp>
      <p:sp>
        <p:nvSpPr>
          <p:cNvPr id="5" name="Text 3"/>
          <p:cNvSpPr/>
          <p:nvPr/>
        </p:nvSpPr>
        <p:spPr>
          <a:xfrm>
            <a:off x="685800" y="1444752"/>
            <a:ext cx="365760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Schema conformance — release view</a:t>
            </a:r>
            <a:endParaRPr lang="en-US" sz="1150" dirty="0"/>
          </a:p>
        </p:txBody>
      </p:sp>
      <p:sp>
        <p:nvSpPr>
          <p:cNvPr id="6" name="Shape 4"/>
          <p:cNvSpPr/>
          <p:nvPr/>
        </p:nvSpPr>
        <p:spPr>
          <a:xfrm>
            <a:off x="4663440" y="1426464"/>
            <a:ext cx="859536" cy="256032"/>
          </a:xfrm>
          <a:prstGeom prst="roundRect">
            <a:avLst>
              <a:gd name="adj" fmla="val 35714"/>
            </a:avLst>
          </a:prstGeom>
          <a:solidFill>
            <a:srgbClr val="F2F6F7"/>
          </a:solidFill>
          <a:ln w="12700">
            <a:solidFill>
              <a:srgbClr val="DDE4E7"/>
            </a:solidFill>
            <a:prstDash val="solid"/>
          </a:ln>
        </p:spPr>
      </p:sp>
      <p:sp>
        <p:nvSpPr>
          <p:cNvPr id="7" name="Text 5"/>
          <p:cNvSpPr/>
          <p:nvPr/>
        </p:nvSpPr>
        <p:spPr>
          <a:xfrm>
            <a:off x="4663440" y="1426464"/>
            <a:ext cx="859536" cy="256032"/>
          </a:xfrm>
          <a:prstGeom prst="rect">
            <a:avLst/>
          </a:prstGeom>
          <a:noFill/>
          <a:ln/>
        </p:spPr>
        <p:txBody>
          <a:bodyPr wrap="square" lIns="0" tIns="0" rIns="0" bIns="0" rtlCol="0" anchor="ctr"/>
          <a:lstStyle/>
          <a:p>
            <a:pPr marL="0" indent="0" algn="ctr">
              <a:buNone/>
            </a:pPr>
            <a:r>
              <a:rPr lang="en-US" sz="850" dirty="0">
                <a:solidFill>
                  <a:srgbClr val="6B7B85"/>
                </a:solidFill>
                <a:latin typeface="Calibri" pitchFamily="34" charset="0"/>
                <a:ea typeface="Calibri" pitchFamily="34" charset="-122"/>
                <a:cs typeface="Calibri" pitchFamily="34" charset="-120"/>
              </a:rPr>
              <a:t>Release</a:t>
            </a:r>
            <a:endParaRPr lang="en-US" sz="850" dirty="0"/>
          </a:p>
        </p:txBody>
      </p:sp>
      <p:sp>
        <p:nvSpPr>
          <p:cNvPr id="8" name="Shape 6"/>
          <p:cNvSpPr/>
          <p:nvPr/>
        </p:nvSpPr>
        <p:spPr>
          <a:xfrm>
            <a:off x="5596128" y="1426464"/>
            <a:ext cx="859536" cy="256032"/>
          </a:xfrm>
          <a:prstGeom prst="roundRect">
            <a:avLst>
              <a:gd name="adj" fmla="val 35714"/>
            </a:avLst>
          </a:prstGeom>
          <a:solidFill>
            <a:srgbClr val="F2F6F7"/>
          </a:solidFill>
          <a:ln w="12700">
            <a:solidFill>
              <a:srgbClr val="DDE4E7"/>
            </a:solidFill>
            <a:prstDash val="solid"/>
          </a:ln>
        </p:spPr>
      </p:sp>
      <p:sp>
        <p:nvSpPr>
          <p:cNvPr id="9" name="Text 7"/>
          <p:cNvSpPr/>
          <p:nvPr/>
        </p:nvSpPr>
        <p:spPr>
          <a:xfrm>
            <a:off x="5596128" y="1426464"/>
            <a:ext cx="859536" cy="256032"/>
          </a:xfrm>
          <a:prstGeom prst="rect">
            <a:avLst/>
          </a:prstGeom>
          <a:noFill/>
          <a:ln/>
        </p:spPr>
        <p:txBody>
          <a:bodyPr wrap="square" lIns="0" tIns="0" rIns="0" bIns="0" rtlCol="0" anchor="ctr"/>
          <a:lstStyle/>
          <a:p>
            <a:pPr marL="0" indent="0" algn="ctr">
              <a:buNone/>
            </a:pPr>
            <a:r>
              <a:rPr lang="en-US" sz="850" dirty="0">
                <a:solidFill>
                  <a:srgbClr val="6B7B85"/>
                </a:solidFill>
                <a:latin typeface="Calibri" pitchFamily="34" charset="0"/>
                <a:ea typeface="Calibri" pitchFamily="34" charset="-122"/>
                <a:cs typeface="Calibri" pitchFamily="34" charset="-120"/>
              </a:rPr>
              <a:t>Domain</a:t>
            </a:r>
            <a:endParaRPr lang="en-US" sz="850" dirty="0"/>
          </a:p>
        </p:txBody>
      </p:sp>
      <p:sp>
        <p:nvSpPr>
          <p:cNvPr id="10" name="Shape 8"/>
          <p:cNvSpPr/>
          <p:nvPr/>
        </p:nvSpPr>
        <p:spPr>
          <a:xfrm>
            <a:off x="6528816" y="1426464"/>
            <a:ext cx="859536" cy="256032"/>
          </a:xfrm>
          <a:prstGeom prst="roundRect">
            <a:avLst>
              <a:gd name="adj" fmla="val 35714"/>
            </a:avLst>
          </a:prstGeom>
          <a:solidFill>
            <a:srgbClr val="F2F6F7"/>
          </a:solidFill>
          <a:ln w="12700">
            <a:solidFill>
              <a:srgbClr val="DDE4E7"/>
            </a:solidFill>
            <a:prstDash val="solid"/>
          </a:ln>
        </p:spPr>
      </p:sp>
      <p:sp>
        <p:nvSpPr>
          <p:cNvPr id="11" name="Text 9"/>
          <p:cNvSpPr/>
          <p:nvPr/>
        </p:nvSpPr>
        <p:spPr>
          <a:xfrm>
            <a:off x="6528816" y="1426464"/>
            <a:ext cx="859536" cy="256032"/>
          </a:xfrm>
          <a:prstGeom prst="rect">
            <a:avLst/>
          </a:prstGeom>
          <a:noFill/>
          <a:ln/>
        </p:spPr>
        <p:txBody>
          <a:bodyPr wrap="square" lIns="0" tIns="0" rIns="0" bIns="0" rtlCol="0" anchor="ctr"/>
          <a:lstStyle/>
          <a:p>
            <a:pPr marL="0" indent="0" algn="ctr">
              <a:buNone/>
            </a:pPr>
            <a:r>
              <a:rPr lang="en-US" sz="850" dirty="0">
                <a:solidFill>
                  <a:srgbClr val="6B7B85"/>
                </a:solidFill>
                <a:latin typeface="Calibri" pitchFamily="34" charset="0"/>
                <a:ea typeface="Calibri" pitchFamily="34" charset="-122"/>
                <a:cs typeface="Calibri" pitchFamily="34" charset="-120"/>
              </a:rPr>
              <a:t>Severity</a:t>
            </a:r>
            <a:endParaRPr lang="en-US" sz="850" dirty="0"/>
          </a:p>
        </p:txBody>
      </p:sp>
      <p:sp>
        <p:nvSpPr>
          <p:cNvPr id="12" name="Shape 10"/>
          <p:cNvSpPr/>
          <p:nvPr/>
        </p:nvSpPr>
        <p:spPr>
          <a:xfrm>
            <a:off x="685800" y="1828800"/>
            <a:ext cx="1545336" cy="786384"/>
          </a:xfrm>
          <a:prstGeom prst="roundRect">
            <a:avLst>
              <a:gd name="adj" fmla="val 8140"/>
            </a:avLst>
          </a:prstGeom>
          <a:solidFill>
            <a:srgbClr val="F2F6F7"/>
          </a:solidFill>
          <a:ln w="12700">
            <a:solidFill>
              <a:srgbClr val="DDE4E7"/>
            </a:solidFill>
            <a:prstDash val="solid"/>
          </a:ln>
        </p:spPr>
      </p:sp>
      <p:sp>
        <p:nvSpPr>
          <p:cNvPr id="13" name="Text 11"/>
          <p:cNvSpPr/>
          <p:nvPr/>
        </p:nvSpPr>
        <p:spPr>
          <a:xfrm>
            <a:off x="795528" y="1901952"/>
            <a:ext cx="1325880" cy="201168"/>
          </a:xfrm>
          <a:prstGeom prst="rect">
            <a:avLst/>
          </a:prstGeom>
          <a:noFill/>
          <a:ln/>
        </p:spPr>
        <p:txBody>
          <a:bodyPr wrap="square" lIns="0" tIns="0" rIns="0" bIns="0" rtlCol="0" anchor="ctr"/>
          <a:lstStyle/>
          <a:p>
            <a:pPr marL="0" indent="0">
              <a:buNone/>
            </a:pPr>
            <a:r>
              <a:rPr lang="en-US" sz="850" dirty="0">
                <a:solidFill>
                  <a:srgbClr val="6B7B85"/>
                </a:solidFill>
                <a:latin typeface="Calibri" pitchFamily="34" charset="0"/>
                <a:ea typeface="Calibri" pitchFamily="34" charset="-122"/>
                <a:cs typeface="Calibri" pitchFamily="34" charset="-120"/>
              </a:rPr>
              <a:t>Open differences</a:t>
            </a:r>
            <a:endParaRPr lang="en-US" sz="850" dirty="0"/>
          </a:p>
        </p:txBody>
      </p:sp>
      <p:sp>
        <p:nvSpPr>
          <p:cNvPr id="14" name="Shape 12"/>
          <p:cNvSpPr/>
          <p:nvPr/>
        </p:nvSpPr>
        <p:spPr>
          <a:xfrm>
            <a:off x="795528" y="2157984"/>
            <a:ext cx="713232" cy="256032"/>
          </a:xfrm>
          <a:prstGeom prst="rect">
            <a:avLst/>
          </a:prstGeom>
          <a:solidFill>
            <a:srgbClr val="DDE4E7"/>
          </a:solidFill>
          <a:ln w="6350">
            <a:solidFill>
              <a:srgbClr val="DDE4E7"/>
            </a:solidFill>
            <a:prstDash val="solid"/>
          </a:ln>
        </p:spPr>
      </p:sp>
      <p:sp>
        <p:nvSpPr>
          <p:cNvPr id="15" name="Shape 13"/>
          <p:cNvSpPr/>
          <p:nvPr/>
        </p:nvSpPr>
        <p:spPr>
          <a:xfrm>
            <a:off x="795528" y="2468880"/>
            <a:ext cx="1005840" cy="64008"/>
          </a:xfrm>
          <a:prstGeom prst="rect">
            <a:avLst/>
          </a:prstGeom>
          <a:solidFill>
            <a:srgbClr val="EDF1F3"/>
          </a:solidFill>
          <a:ln w="6350">
            <a:solidFill>
              <a:srgbClr val="EDF1F3"/>
            </a:solidFill>
            <a:prstDash val="solid"/>
          </a:ln>
        </p:spPr>
      </p:sp>
      <p:sp>
        <p:nvSpPr>
          <p:cNvPr id="16" name="Shape 14"/>
          <p:cNvSpPr/>
          <p:nvPr/>
        </p:nvSpPr>
        <p:spPr>
          <a:xfrm>
            <a:off x="2359152" y="1828800"/>
            <a:ext cx="1545336" cy="786384"/>
          </a:xfrm>
          <a:prstGeom prst="roundRect">
            <a:avLst>
              <a:gd name="adj" fmla="val 8140"/>
            </a:avLst>
          </a:prstGeom>
          <a:solidFill>
            <a:srgbClr val="F2F6F7"/>
          </a:solidFill>
          <a:ln w="12700">
            <a:solidFill>
              <a:srgbClr val="DDE4E7"/>
            </a:solidFill>
            <a:prstDash val="solid"/>
          </a:ln>
        </p:spPr>
      </p:sp>
      <p:sp>
        <p:nvSpPr>
          <p:cNvPr id="17" name="Text 15"/>
          <p:cNvSpPr/>
          <p:nvPr/>
        </p:nvSpPr>
        <p:spPr>
          <a:xfrm>
            <a:off x="2468880" y="1901952"/>
            <a:ext cx="1325880" cy="201168"/>
          </a:xfrm>
          <a:prstGeom prst="rect">
            <a:avLst/>
          </a:prstGeom>
          <a:noFill/>
          <a:ln/>
        </p:spPr>
        <p:txBody>
          <a:bodyPr wrap="square" lIns="0" tIns="0" rIns="0" bIns="0" rtlCol="0" anchor="ctr"/>
          <a:lstStyle/>
          <a:p>
            <a:pPr marL="0" indent="0">
              <a:buNone/>
            </a:pPr>
            <a:r>
              <a:rPr lang="en-US" sz="850" dirty="0">
                <a:solidFill>
                  <a:srgbClr val="6B7B85"/>
                </a:solidFill>
                <a:latin typeface="Calibri" pitchFamily="34" charset="0"/>
                <a:ea typeface="Calibri" pitchFamily="34" charset="-122"/>
                <a:cs typeface="Calibri" pitchFamily="34" charset="-120"/>
              </a:rPr>
              <a:t>Blocking</a:t>
            </a:r>
            <a:endParaRPr lang="en-US" sz="850" dirty="0"/>
          </a:p>
        </p:txBody>
      </p:sp>
      <p:sp>
        <p:nvSpPr>
          <p:cNvPr id="18" name="Shape 16"/>
          <p:cNvSpPr/>
          <p:nvPr/>
        </p:nvSpPr>
        <p:spPr>
          <a:xfrm>
            <a:off x="2468880" y="2157984"/>
            <a:ext cx="713232" cy="256032"/>
          </a:xfrm>
          <a:prstGeom prst="rect">
            <a:avLst/>
          </a:prstGeom>
          <a:solidFill>
            <a:srgbClr val="DDE4E7"/>
          </a:solidFill>
          <a:ln w="6350">
            <a:solidFill>
              <a:srgbClr val="DDE4E7"/>
            </a:solidFill>
            <a:prstDash val="solid"/>
          </a:ln>
        </p:spPr>
      </p:sp>
      <p:sp>
        <p:nvSpPr>
          <p:cNvPr id="19" name="Shape 17"/>
          <p:cNvSpPr/>
          <p:nvPr/>
        </p:nvSpPr>
        <p:spPr>
          <a:xfrm>
            <a:off x="2468880" y="2468880"/>
            <a:ext cx="1005840" cy="64008"/>
          </a:xfrm>
          <a:prstGeom prst="rect">
            <a:avLst/>
          </a:prstGeom>
          <a:solidFill>
            <a:srgbClr val="EDF1F3"/>
          </a:solidFill>
          <a:ln w="6350">
            <a:solidFill>
              <a:srgbClr val="EDF1F3"/>
            </a:solidFill>
            <a:prstDash val="solid"/>
          </a:ln>
        </p:spPr>
      </p:sp>
      <p:sp>
        <p:nvSpPr>
          <p:cNvPr id="20" name="Shape 18"/>
          <p:cNvSpPr/>
          <p:nvPr/>
        </p:nvSpPr>
        <p:spPr>
          <a:xfrm>
            <a:off x="4032504" y="1828800"/>
            <a:ext cx="1545336" cy="786384"/>
          </a:xfrm>
          <a:prstGeom prst="roundRect">
            <a:avLst>
              <a:gd name="adj" fmla="val 8140"/>
            </a:avLst>
          </a:prstGeom>
          <a:solidFill>
            <a:srgbClr val="F2F6F7"/>
          </a:solidFill>
          <a:ln w="12700">
            <a:solidFill>
              <a:srgbClr val="DDE4E7"/>
            </a:solidFill>
            <a:prstDash val="solid"/>
          </a:ln>
        </p:spPr>
      </p:sp>
      <p:sp>
        <p:nvSpPr>
          <p:cNvPr id="21" name="Text 19"/>
          <p:cNvSpPr/>
          <p:nvPr/>
        </p:nvSpPr>
        <p:spPr>
          <a:xfrm>
            <a:off x="4142232" y="1901952"/>
            <a:ext cx="1325880" cy="201168"/>
          </a:xfrm>
          <a:prstGeom prst="rect">
            <a:avLst/>
          </a:prstGeom>
          <a:noFill/>
          <a:ln/>
        </p:spPr>
        <p:txBody>
          <a:bodyPr wrap="square" lIns="0" tIns="0" rIns="0" bIns="0" rtlCol="0" anchor="ctr"/>
          <a:lstStyle/>
          <a:p>
            <a:pPr marL="0" indent="0">
              <a:buNone/>
            </a:pPr>
            <a:r>
              <a:rPr lang="en-US" sz="850" dirty="0">
                <a:solidFill>
                  <a:srgbClr val="6B7B85"/>
                </a:solidFill>
                <a:latin typeface="Calibri" pitchFamily="34" charset="0"/>
                <a:ea typeface="Calibri" pitchFamily="34" charset="-122"/>
                <a:cs typeface="Calibri" pitchFamily="34" charset="-120"/>
              </a:rPr>
              <a:t>Tables in scope</a:t>
            </a:r>
            <a:endParaRPr lang="en-US" sz="850" dirty="0"/>
          </a:p>
        </p:txBody>
      </p:sp>
      <p:sp>
        <p:nvSpPr>
          <p:cNvPr id="22" name="Shape 20"/>
          <p:cNvSpPr/>
          <p:nvPr/>
        </p:nvSpPr>
        <p:spPr>
          <a:xfrm>
            <a:off x="4142232" y="2157984"/>
            <a:ext cx="713232" cy="256032"/>
          </a:xfrm>
          <a:prstGeom prst="rect">
            <a:avLst/>
          </a:prstGeom>
          <a:solidFill>
            <a:srgbClr val="DDE4E7"/>
          </a:solidFill>
          <a:ln w="6350">
            <a:solidFill>
              <a:srgbClr val="DDE4E7"/>
            </a:solidFill>
            <a:prstDash val="solid"/>
          </a:ln>
        </p:spPr>
      </p:sp>
      <p:sp>
        <p:nvSpPr>
          <p:cNvPr id="23" name="Shape 21"/>
          <p:cNvSpPr/>
          <p:nvPr/>
        </p:nvSpPr>
        <p:spPr>
          <a:xfrm>
            <a:off x="4142232" y="2468880"/>
            <a:ext cx="1005840" cy="64008"/>
          </a:xfrm>
          <a:prstGeom prst="rect">
            <a:avLst/>
          </a:prstGeom>
          <a:solidFill>
            <a:srgbClr val="EDF1F3"/>
          </a:solidFill>
          <a:ln w="6350">
            <a:solidFill>
              <a:srgbClr val="EDF1F3"/>
            </a:solidFill>
            <a:prstDash val="solid"/>
          </a:ln>
        </p:spPr>
      </p:sp>
      <p:sp>
        <p:nvSpPr>
          <p:cNvPr id="24" name="Shape 22"/>
          <p:cNvSpPr/>
          <p:nvPr/>
        </p:nvSpPr>
        <p:spPr>
          <a:xfrm>
            <a:off x="5705856" y="1828800"/>
            <a:ext cx="1545336" cy="786384"/>
          </a:xfrm>
          <a:prstGeom prst="roundRect">
            <a:avLst>
              <a:gd name="adj" fmla="val 8140"/>
            </a:avLst>
          </a:prstGeom>
          <a:solidFill>
            <a:srgbClr val="F2F6F7"/>
          </a:solidFill>
          <a:ln w="12700">
            <a:solidFill>
              <a:srgbClr val="DDE4E7"/>
            </a:solidFill>
            <a:prstDash val="solid"/>
          </a:ln>
        </p:spPr>
      </p:sp>
      <p:sp>
        <p:nvSpPr>
          <p:cNvPr id="25" name="Text 23"/>
          <p:cNvSpPr/>
          <p:nvPr/>
        </p:nvSpPr>
        <p:spPr>
          <a:xfrm>
            <a:off x="5815584" y="1901952"/>
            <a:ext cx="1325880" cy="201168"/>
          </a:xfrm>
          <a:prstGeom prst="rect">
            <a:avLst/>
          </a:prstGeom>
          <a:noFill/>
          <a:ln/>
        </p:spPr>
        <p:txBody>
          <a:bodyPr wrap="square" lIns="0" tIns="0" rIns="0" bIns="0" rtlCol="0" anchor="ctr"/>
          <a:lstStyle/>
          <a:p>
            <a:pPr marL="0" indent="0">
              <a:buNone/>
            </a:pPr>
            <a:r>
              <a:rPr lang="en-US" sz="850" dirty="0">
                <a:solidFill>
                  <a:srgbClr val="6B7B85"/>
                </a:solidFill>
                <a:latin typeface="Calibri" pitchFamily="34" charset="0"/>
                <a:ea typeface="Calibri" pitchFamily="34" charset="-122"/>
                <a:cs typeface="Calibri" pitchFamily="34" charset="-120"/>
              </a:rPr>
              <a:t>Runs this week</a:t>
            </a:r>
            <a:endParaRPr lang="en-US" sz="850" dirty="0"/>
          </a:p>
        </p:txBody>
      </p:sp>
      <p:sp>
        <p:nvSpPr>
          <p:cNvPr id="26" name="Shape 24"/>
          <p:cNvSpPr/>
          <p:nvPr/>
        </p:nvSpPr>
        <p:spPr>
          <a:xfrm>
            <a:off x="5815584" y="2157984"/>
            <a:ext cx="713232" cy="256032"/>
          </a:xfrm>
          <a:prstGeom prst="rect">
            <a:avLst/>
          </a:prstGeom>
          <a:solidFill>
            <a:srgbClr val="DDE4E7"/>
          </a:solidFill>
          <a:ln w="6350">
            <a:solidFill>
              <a:srgbClr val="DDE4E7"/>
            </a:solidFill>
            <a:prstDash val="solid"/>
          </a:ln>
        </p:spPr>
      </p:sp>
      <p:sp>
        <p:nvSpPr>
          <p:cNvPr id="27" name="Shape 25"/>
          <p:cNvSpPr/>
          <p:nvPr/>
        </p:nvSpPr>
        <p:spPr>
          <a:xfrm>
            <a:off x="5815584" y="2468880"/>
            <a:ext cx="1005840" cy="64008"/>
          </a:xfrm>
          <a:prstGeom prst="rect">
            <a:avLst/>
          </a:prstGeom>
          <a:solidFill>
            <a:srgbClr val="EDF1F3"/>
          </a:solidFill>
          <a:ln w="6350">
            <a:solidFill>
              <a:srgbClr val="EDF1F3"/>
            </a:solidFill>
            <a:prstDash val="solid"/>
          </a:ln>
        </p:spPr>
      </p:sp>
      <p:sp>
        <p:nvSpPr>
          <p:cNvPr id="28" name="Shape 26"/>
          <p:cNvSpPr/>
          <p:nvPr/>
        </p:nvSpPr>
        <p:spPr>
          <a:xfrm>
            <a:off x="685800" y="2743200"/>
            <a:ext cx="3968496" cy="1572768"/>
          </a:xfrm>
          <a:prstGeom prst="roundRect">
            <a:avLst>
              <a:gd name="adj" fmla="val 4070"/>
            </a:avLst>
          </a:prstGeom>
          <a:solidFill>
            <a:srgbClr val="FFFFFF"/>
          </a:solidFill>
          <a:ln w="12700">
            <a:solidFill>
              <a:srgbClr val="DDE4E7"/>
            </a:solidFill>
            <a:prstDash val="solid"/>
          </a:ln>
        </p:spPr>
      </p:sp>
      <p:sp>
        <p:nvSpPr>
          <p:cNvPr id="29" name="Text 27"/>
          <p:cNvSpPr/>
          <p:nvPr/>
        </p:nvSpPr>
        <p:spPr>
          <a:xfrm>
            <a:off x="822960" y="2834640"/>
            <a:ext cx="3694176" cy="201168"/>
          </a:xfrm>
          <a:prstGeom prst="rect">
            <a:avLst/>
          </a:prstGeom>
          <a:noFill/>
          <a:ln/>
        </p:spPr>
        <p:txBody>
          <a:bodyPr wrap="square" lIns="0" tIns="0" rIns="0" bIns="0" rtlCol="0" anchor="ctr"/>
          <a:lstStyle/>
          <a:p>
            <a:pPr marL="0" indent="0">
              <a:buNone/>
            </a:pPr>
            <a:r>
              <a:rPr lang="en-US" sz="900" b="1" dirty="0">
                <a:solidFill>
                  <a:srgbClr val="3E4C55"/>
                </a:solidFill>
                <a:latin typeface="Calibri" pitchFamily="34" charset="0"/>
                <a:ea typeface="Calibri" pitchFamily="34" charset="-122"/>
                <a:cs typeface="Calibri" pitchFamily="34" charset="-120"/>
              </a:rPr>
              <a:t>Differences opened against closed, by run</a:t>
            </a:r>
            <a:endParaRPr lang="en-US" sz="900" dirty="0"/>
          </a:p>
        </p:txBody>
      </p:sp>
      <p:sp>
        <p:nvSpPr>
          <p:cNvPr id="30" name="Shape 28"/>
          <p:cNvSpPr/>
          <p:nvPr/>
        </p:nvSpPr>
        <p:spPr>
          <a:xfrm>
            <a:off x="868680" y="4133088"/>
            <a:ext cx="3657600" cy="0"/>
          </a:xfrm>
          <a:prstGeom prst="line">
            <a:avLst/>
          </a:prstGeom>
          <a:noFill/>
          <a:ln w="12700">
            <a:solidFill>
              <a:srgbClr val="DDE4E7"/>
            </a:solidFill>
            <a:prstDash val="solid"/>
          </a:ln>
        </p:spPr>
      </p:sp>
      <p:sp>
        <p:nvSpPr>
          <p:cNvPr id="31" name="Shape 29"/>
          <p:cNvSpPr/>
          <p:nvPr/>
        </p:nvSpPr>
        <p:spPr>
          <a:xfrm>
            <a:off x="868680" y="3127248"/>
            <a:ext cx="0" cy="1005840"/>
          </a:xfrm>
          <a:prstGeom prst="line">
            <a:avLst/>
          </a:prstGeom>
          <a:noFill/>
          <a:ln w="12700">
            <a:solidFill>
              <a:srgbClr val="DDE4E7"/>
            </a:solidFill>
            <a:prstDash val="solid"/>
          </a:ln>
        </p:spPr>
      </p:sp>
      <p:sp>
        <p:nvSpPr>
          <p:cNvPr id="32" name="Shape 30"/>
          <p:cNvSpPr/>
          <p:nvPr/>
        </p:nvSpPr>
        <p:spPr>
          <a:xfrm>
            <a:off x="1051560" y="3630168"/>
            <a:ext cx="201168" cy="502920"/>
          </a:xfrm>
          <a:prstGeom prst="rect">
            <a:avLst/>
          </a:prstGeom>
          <a:solidFill>
            <a:srgbClr val="DDE4E7"/>
          </a:solidFill>
          <a:ln w="6350">
            <a:solidFill>
              <a:srgbClr val="DDE4E7"/>
            </a:solidFill>
            <a:prstDash val="solid"/>
          </a:ln>
        </p:spPr>
      </p:sp>
      <p:sp>
        <p:nvSpPr>
          <p:cNvPr id="33" name="Shape 31"/>
          <p:cNvSpPr/>
          <p:nvPr/>
        </p:nvSpPr>
        <p:spPr>
          <a:xfrm>
            <a:off x="1271016" y="3856482"/>
            <a:ext cx="201168" cy="276606"/>
          </a:xfrm>
          <a:prstGeom prst="rect">
            <a:avLst/>
          </a:prstGeom>
          <a:solidFill>
            <a:srgbClr val="EDF1F3"/>
          </a:solidFill>
          <a:ln w="6350">
            <a:solidFill>
              <a:srgbClr val="EDF1F3"/>
            </a:solidFill>
            <a:prstDash val="solid"/>
          </a:ln>
        </p:spPr>
      </p:sp>
      <p:sp>
        <p:nvSpPr>
          <p:cNvPr id="34" name="Shape 32"/>
          <p:cNvSpPr/>
          <p:nvPr/>
        </p:nvSpPr>
        <p:spPr>
          <a:xfrm>
            <a:off x="1600200" y="3474720"/>
            <a:ext cx="201168" cy="658368"/>
          </a:xfrm>
          <a:prstGeom prst="rect">
            <a:avLst/>
          </a:prstGeom>
          <a:solidFill>
            <a:srgbClr val="DDE4E7"/>
          </a:solidFill>
          <a:ln w="6350">
            <a:solidFill>
              <a:srgbClr val="DDE4E7"/>
            </a:solidFill>
            <a:prstDash val="solid"/>
          </a:ln>
        </p:spPr>
      </p:sp>
      <p:sp>
        <p:nvSpPr>
          <p:cNvPr id="35" name="Shape 33"/>
          <p:cNvSpPr/>
          <p:nvPr/>
        </p:nvSpPr>
        <p:spPr>
          <a:xfrm>
            <a:off x="1819656" y="3770986"/>
            <a:ext cx="201168" cy="362102"/>
          </a:xfrm>
          <a:prstGeom prst="rect">
            <a:avLst/>
          </a:prstGeom>
          <a:solidFill>
            <a:srgbClr val="EDF1F3"/>
          </a:solidFill>
          <a:ln w="6350">
            <a:solidFill>
              <a:srgbClr val="EDF1F3"/>
            </a:solidFill>
            <a:prstDash val="solid"/>
          </a:ln>
        </p:spPr>
      </p:sp>
      <p:sp>
        <p:nvSpPr>
          <p:cNvPr id="36" name="Shape 34"/>
          <p:cNvSpPr/>
          <p:nvPr/>
        </p:nvSpPr>
        <p:spPr>
          <a:xfrm>
            <a:off x="2148840" y="3694176"/>
            <a:ext cx="201168" cy="438912"/>
          </a:xfrm>
          <a:prstGeom prst="rect">
            <a:avLst/>
          </a:prstGeom>
          <a:solidFill>
            <a:srgbClr val="DDE4E7"/>
          </a:solidFill>
          <a:ln w="6350">
            <a:solidFill>
              <a:srgbClr val="DDE4E7"/>
            </a:solidFill>
            <a:prstDash val="solid"/>
          </a:ln>
        </p:spPr>
      </p:sp>
      <p:sp>
        <p:nvSpPr>
          <p:cNvPr id="37" name="Shape 35"/>
          <p:cNvSpPr/>
          <p:nvPr/>
        </p:nvSpPr>
        <p:spPr>
          <a:xfrm>
            <a:off x="2368296" y="3891686"/>
            <a:ext cx="201168" cy="241402"/>
          </a:xfrm>
          <a:prstGeom prst="rect">
            <a:avLst/>
          </a:prstGeom>
          <a:solidFill>
            <a:srgbClr val="EDF1F3"/>
          </a:solidFill>
          <a:ln w="6350">
            <a:solidFill>
              <a:srgbClr val="EDF1F3"/>
            </a:solidFill>
            <a:prstDash val="solid"/>
          </a:ln>
        </p:spPr>
      </p:sp>
      <p:sp>
        <p:nvSpPr>
          <p:cNvPr id="38" name="Shape 36"/>
          <p:cNvSpPr/>
          <p:nvPr/>
        </p:nvSpPr>
        <p:spPr>
          <a:xfrm>
            <a:off x="2697480" y="3401568"/>
            <a:ext cx="201168" cy="731520"/>
          </a:xfrm>
          <a:prstGeom prst="rect">
            <a:avLst/>
          </a:prstGeom>
          <a:solidFill>
            <a:srgbClr val="DDE4E7"/>
          </a:solidFill>
          <a:ln w="6350">
            <a:solidFill>
              <a:srgbClr val="DDE4E7"/>
            </a:solidFill>
            <a:prstDash val="solid"/>
          </a:ln>
        </p:spPr>
      </p:sp>
      <p:sp>
        <p:nvSpPr>
          <p:cNvPr id="39" name="Shape 37"/>
          <p:cNvSpPr/>
          <p:nvPr/>
        </p:nvSpPr>
        <p:spPr>
          <a:xfrm>
            <a:off x="2916936" y="3730752"/>
            <a:ext cx="201168" cy="402336"/>
          </a:xfrm>
          <a:prstGeom prst="rect">
            <a:avLst/>
          </a:prstGeom>
          <a:solidFill>
            <a:srgbClr val="EDF1F3"/>
          </a:solidFill>
          <a:ln w="6350">
            <a:solidFill>
              <a:srgbClr val="EDF1F3"/>
            </a:solidFill>
            <a:prstDash val="solid"/>
          </a:ln>
        </p:spPr>
      </p:sp>
      <p:sp>
        <p:nvSpPr>
          <p:cNvPr id="40" name="Shape 38"/>
          <p:cNvSpPr/>
          <p:nvPr/>
        </p:nvSpPr>
        <p:spPr>
          <a:xfrm>
            <a:off x="3246120" y="3566160"/>
            <a:ext cx="201168" cy="566928"/>
          </a:xfrm>
          <a:prstGeom prst="rect">
            <a:avLst/>
          </a:prstGeom>
          <a:solidFill>
            <a:srgbClr val="DDE4E7"/>
          </a:solidFill>
          <a:ln w="6350">
            <a:solidFill>
              <a:srgbClr val="DDE4E7"/>
            </a:solidFill>
            <a:prstDash val="solid"/>
          </a:ln>
        </p:spPr>
      </p:sp>
      <p:sp>
        <p:nvSpPr>
          <p:cNvPr id="41" name="Shape 39"/>
          <p:cNvSpPr/>
          <p:nvPr/>
        </p:nvSpPr>
        <p:spPr>
          <a:xfrm>
            <a:off x="3465576" y="3821278"/>
            <a:ext cx="201168" cy="311810"/>
          </a:xfrm>
          <a:prstGeom prst="rect">
            <a:avLst/>
          </a:prstGeom>
          <a:solidFill>
            <a:srgbClr val="EDF1F3"/>
          </a:solidFill>
          <a:ln w="6350">
            <a:solidFill>
              <a:srgbClr val="EDF1F3"/>
            </a:solidFill>
            <a:prstDash val="solid"/>
          </a:ln>
        </p:spPr>
      </p:sp>
      <p:sp>
        <p:nvSpPr>
          <p:cNvPr id="42" name="Shape 40"/>
          <p:cNvSpPr/>
          <p:nvPr/>
        </p:nvSpPr>
        <p:spPr>
          <a:xfrm>
            <a:off x="3794760" y="3310128"/>
            <a:ext cx="201168" cy="822960"/>
          </a:xfrm>
          <a:prstGeom prst="rect">
            <a:avLst/>
          </a:prstGeom>
          <a:solidFill>
            <a:srgbClr val="DDE4E7"/>
          </a:solidFill>
          <a:ln w="6350">
            <a:solidFill>
              <a:srgbClr val="DDE4E7"/>
            </a:solidFill>
            <a:prstDash val="solid"/>
          </a:ln>
        </p:spPr>
      </p:sp>
      <p:sp>
        <p:nvSpPr>
          <p:cNvPr id="43" name="Shape 41"/>
          <p:cNvSpPr/>
          <p:nvPr/>
        </p:nvSpPr>
        <p:spPr>
          <a:xfrm>
            <a:off x="4014216" y="3680460"/>
            <a:ext cx="201168" cy="452628"/>
          </a:xfrm>
          <a:prstGeom prst="rect">
            <a:avLst/>
          </a:prstGeom>
          <a:solidFill>
            <a:srgbClr val="EDF1F3"/>
          </a:solidFill>
          <a:ln w="6350">
            <a:solidFill>
              <a:srgbClr val="EDF1F3"/>
            </a:solidFill>
            <a:prstDash val="solid"/>
          </a:ln>
        </p:spPr>
      </p:sp>
      <p:sp>
        <p:nvSpPr>
          <p:cNvPr id="44" name="Shape 42"/>
          <p:cNvSpPr/>
          <p:nvPr/>
        </p:nvSpPr>
        <p:spPr>
          <a:xfrm>
            <a:off x="4818888" y="2743200"/>
            <a:ext cx="2450592" cy="1572768"/>
          </a:xfrm>
          <a:prstGeom prst="roundRect">
            <a:avLst>
              <a:gd name="adj" fmla="val 4070"/>
            </a:avLst>
          </a:prstGeom>
          <a:solidFill>
            <a:srgbClr val="FFFFFF"/>
          </a:solidFill>
          <a:ln w="12700">
            <a:solidFill>
              <a:srgbClr val="DDE4E7"/>
            </a:solidFill>
            <a:prstDash val="solid"/>
          </a:ln>
        </p:spPr>
      </p:sp>
      <p:sp>
        <p:nvSpPr>
          <p:cNvPr id="45" name="Text 43"/>
          <p:cNvSpPr/>
          <p:nvPr/>
        </p:nvSpPr>
        <p:spPr>
          <a:xfrm>
            <a:off x="4956048" y="2834640"/>
            <a:ext cx="2176272" cy="201168"/>
          </a:xfrm>
          <a:prstGeom prst="rect">
            <a:avLst/>
          </a:prstGeom>
          <a:noFill/>
          <a:ln/>
        </p:spPr>
        <p:txBody>
          <a:bodyPr wrap="square" lIns="0" tIns="0" rIns="0" bIns="0" rtlCol="0" anchor="ctr"/>
          <a:lstStyle/>
          <a:p>
            <a:pPr marL="0" indent="0">
              <a:buNone/>
            </a:pPr>
            <a:r>
              <a:rPr lang="en-US" sz="900" b="1" dirty="0">
                <a:solidFill>
                  <a:srgbClr val="3E4C55"/>
                </a:solidFill>
                <a:latin typeface="Calibri" pitchFamily="34" charset="0"/>
                <a:ea typeface="Calibri" pitchFamily="34" charset="-122"/>
                <a:cs typeface="Calibri" pitchFamily="34" charset="-120"/>
              </a:rPr>
              <a:t>Tables with the most open differences</a:t>
            </a:r>
            <a:endParaRPr lang="en-US" sz="900" dirty="0"/>
          </a:p>
        </p:txBody>
      </p:sp>
      <p:sp>
        <p:nvSpPr>
          <p:cNvPr id="46" name="Shape 44"/>
          <p:cNvSpPr/>
          <p:nvPr/>
        </p:nvSpPr>
        <p:spPr>
          <a:xfrm>
            <a:off x="4956048" y="3163824"/>
            <a:ext cx="2176272" cy="109728"/>
          </a:xfrm>
          <a:prstGeom prst="rect">
            <a:avLst/>
          </a:prstGeom>
          <a:solidFill>
            <a:srgbClr val="EDF1F3"/>
          </a:solidFill>
          <a:ln w="6350">
            <a:solidFill>
              <a:srgbClr val="EDF1F3"/>
            </a:solidFill>
            <a:prstDash val="solid"/>
          </a:ln>
        </p:spPr>
      </p:sp>
      <p:sp>
        <p:nvSpPr>
          <p:cNvPr id="47" name="Shape 45"/>
          <p:cNvSpPr/>
          <p:nvPr/>
        </p:nvSpPr>
        <p:spPr>
          <a:xfrm>
            <a:off x="4956048" y="3163824"/>
            <a:ext cx="1920240" cy="109728"/>
          </a:xfrm>
          <a:prstGeom prst="rect">
            <a:avLst/>
          </a:prstGeom>
          <a:solidFill>
            <a:srgbClr val="DDE4E7"/>
          </a:solidFill>
          <a:ln w="6350">
            <a:solidFill>
              <a:srgbClr val="DDE4E7"/>
            </a:solidFill>
            <a:prstDash val="solid"/>
          </a:ln>
        </p:spPr>
      </p:sp>
      <p:sp>
        <p:nvSpPr>
          <p:cNvPr id="48" name="Shape 46"/>
          <p:cNvSpPr/>
          <p:nvPr/>
        </p:nvSpPr>
        <p:spPr>
          <a:xfrm>
            <a:off x="4956048" y="3383280"/>
            <a:ext cx="2176272" cy="109728"/>
          </a:xfrm>
          <a:prstGeom prst="rect">
            <a:avLst/>
          </a:prstGeom>
          <a:solidFill>
            <a:srgbClr val="EDF1F3"/>
          </a:solidFill>
          <a:ln w="6350">
            <a:solidFill>
              <a:srgbClr val="EDF1F3"/>
            </a:solidFill>
            <a:prstDash val="solid"/>
          </a:ln>
        </p:spPr>
      </p:sp>
      <p:sp>
        <p:nvSpPr>
          <p:cNvPr id="49" name="Shape 47"/>
          <p:cNvSpPr/>
          <p:nvPr/>
        </p:nvSpPr>
        <p:spPr>
          <a:xfrm>
            <a:off x="4956048" y="3383280"/>
            <a:ext cx="1600200" cy="109728"/>
          </a:xfrm>
          <a:prstGeom prst="rect">
            <a:avLst/>
          </a:prstGeom>
          <a:solidFill>
            <a:srgbClr val="DDE4E7"/>
          </a:solidFill>
          <a:ln w="6350">
            <a:solidFill>
              <a:srgbClr val="DDE4E7"/>
            </a:solidFill>
            <a:prstDash val="solid"/>
          </a:ln>
        </p:spPr>
      </p:sp>
      <p:sp>
        <p:nvSpPr>
          <p:cNvPr id="50" name="Shape 48"/>
          <p:cNvSpPr/>
          <p:nvPr/>
        </p:nvSpPr>
        <p:spPr>
          <a:xfrm>
            <a:off x="4956048" y="3602736"/>
            <a:ext cx="2176272" cy="109728"/>
          </a:xfrm>
          <a:prstGeom prst="rect">
            <a:avLst/>
          </a:prstGeom>
          <a:solidFill>
            <a:srgbClr val="EDF1F3"/>
          </a:solidFill>
          <a:ln w="6350">
            <a:solidFill>
              <a:srgbClr val="EDF1F3"/>
            </a:solidFill>
            <a:prstDash val="solid"/>
          </a:ln>
        </p:spPr>
      </p:sp>
      <p:sp>
        <p:nvSpPr>
          <p:cNvPr id="51" name="Shape 49"/>
          <p:cNvSpPr/>
          <p:nvPr/>
        </p:nvSpPr>
        <p:spPr>
          <a:xfrm>
            <a:off x="4956048" y="3602736"/>
            <a:ext cx="1371600" cy="109728"/>
          </a:xfrm>
          <a:prstGeom prst="rect">
            <a:avLst/>
          </a:prstGeom>
          <a:solidFill>
            <a:srgbClr val="DDE4E7"/>
          </a:solidFill>
          <a:ln w="6350">
            <a:solidFill>
              <a:srgbClr val="DDE4E7"/>
            </a:solidFill>
            <a:prstDash val="solid"/>
          </a:ln>
        </p:spPr>
      </p:sp>
      <p:sp>
        <p:nvSpPr>
          <p:cNvPr id="52" name="Shape 50"/>
          <p:cNvSpPr/>
          <p:nvPr/>
        </p:nvSpPr>
        <p:spPr>
          <a:xfrm>
            <a:off x="4956048" y="3822192"/>
            <a:ext cx="2176272" cy="109728"/>
          </a:xfrm>
          <a:prstGeom prst="rect">
            <a:avLst/>
          </a:prstGeom>
          <a:solidFill>
            <a:srgbClr val="EDF1F3"/>
          </a:solidFill>
          <a:ln w="6350">
            <a:solidFill>
              <a:srgbClr val="EDF1F3"/>
            </a:solidFill>
            <a:prstDash val="solid"/>
          </a:ln>
        </p:spPr>
      </p:sp>
      <p:sp>
        <p:nvSpPr>
          <p:cNvPr id="53" name="Shape 51"/>
          <p:cNvSpPr/>
          <p:nvPr/>
        </p:nvSpPr>
        <p:spPr>
          <a:xfrm>
            <a:off x="4956048" y="3822192"/>
            <a:ext cx="1097280" cy="109728"/>
          </a:xfrm>
          <a:prstGeom prst="rect">
            <a:avLst/>
          </a:prstGeom>
          <a:solidFill>
            <a:srgbClr val="DDE4E7"/>
          </a:solidFill>
          <a:ln w="6350">
            <a:solidFill>
              <a:srgbClr val="DDE4E7"/>
            </a:solidFill>
            <a:prstDash val="solid"/>
          </a:ln>
        </p:spPr>
      </p:sp>
      <p:sp>
        <p:nvSpPr>
          <p:cNvPr id="54" name="Shape 52"/>
          <p:cNvSpPr/>
          <p:nvPr/>
        </p:nvSpPr>
        <p:spPr>
          <a:xfrm>
            <a:off x="4956048" y="4041648"/>
            <a:ext cx="2176272" cy="109728"/>
          </a:xfrm>
          <a:prstGeom prst="rect">
            <a:avLst/>
          </a:prstGeom>
          <a:solidFill>
            <a:srgbClr val="EDF1F3"/>
          </a:solidFill>
          <a:ln w="6350">
            <a:solidFill>
              <a:srgbClr val="EDF1F3"/>
            </a:solidFill>
            <a:prstDash val="solid"/>
          </a:ln>
        </p:spPr>
      </p:sp>
      <p:sp>
        <p:nvSpPr>
          <p:cNvPr id="55" name="Shape 53"/>
          <p:cNvSpPr/>
          <p:nvPr/>
        </p:nvSpPr>
        <p:spPr>
          <a:xfrm>
            <a:off x="4956048" y="4041648"/>
            <a:ext cx="868680" cy="109728"/>
          </a:xfrm>
          <a:prstGeom prst="rect">
            <a:avLst/>
          </a:prstGeom>
          <a:solidFill>
            <a:srgbClr val="DDE4E7"/>
          </a:solidFill>
          <a:ln w="6350">
            <a:solidFill>
              <a:srgbClr val="DDE4E7"/>
            </a:solidFill>
            <a:prstDash val="solid"/>
          </a:ln>
        </p:spPr>
      </p:sp>
      <p:sp>
        <p:nvSpPr>
          <p:cNvPr id="56" name="Shape 54"/>
          <p:cNvSpPr/>
          <p:nvPr/>
        </p:nvSpPr>
        <p:spPr>
          <a:xfrm>
            <a:off x="685800" y="4443984"/>
            <a:ext cx="6583680" cy="1298448"/>
          </a:xfrm>
          <a:prstGeom prst="roundRect">
            <a:avLst>
              <a:gd name="adj" fmla="val 4930"/>
            </a:avLst>
          </a:prstGeom>
          <a:solidFill>
            <a:srgbClr val="FFFFFF"/>
          </a:solidFill>
          <a:ln w="12700">
            <a:solidFill>
              <a:srgbClr val="DDE4E7"/>
            </a:solidFill>
            <a:prstDash val="solid"/>
          </a:ln>
        </p:spPr>
      </p:sp>
      <p:sp>
        <p:nvSpPr>
          <p:cNvPr id="57" name="Text 55"/>
          <p:cNvSpPr/>
          <p:nvPr/>
        </p:nvSpPr>
        <p:spPr>
          <a:xfrm>
            <a:off x="822960" y="4535424"/>
            <a:ext cx="6309360" cy="201168"/>
          </a:xfrm>
          <a:prstGeom prst="rect">
            <a:avLst/>
          </a:prstGeom>
          <a:noFill/>
          <a:ln/>
        </p:spPr>
        <p:txBody>
          <a:bodyPr wrap="square" lIns="0" tIns="0" rIns="0" bIns="0" rtlCol="0" anchor="ctr"/>
          <a:lstStyle/>
          <a:p>
            <a:pPr marL="0" indent="0">
              <a:buNone/>
            </a:pPr>
            <a:r>
              <a:rPr lang="en-US" sz="900" b="1" dirty="0">
                <a:solidFill>
                  <a:srgbClr val="3E4C55"/>
                </a:solidFill>
                <a:latin typeface="Calibri" pitchFamily="34" charset="0"/>
                <a:ea typeface="Calibri" pitchFamily="34" charset="-122"/>
                <a:cs typeface="Calibri" pitchFamily="34" charset="-120"/>
              </a:rPr>
              <a:t>Difference detail — table · column · expected against found · severity · owner · status</a:t>
            </a:r>
            <a:endParaRPr lang="en-US" sz="900" dirty="0"/>
          </a:p>
        </p:txBody>
      </p:sp>
      <p:sp>
        <p:nvSpPr>
          <p:cNvPr id="58" name="Shape 56"/>
          <p:cNvSpPr/>
          <p:nvPr/>
        </p:nvSpPr>
        <p:spPr>
          <a:xfrm>
            <a:off x="822960" y="4809744"/>
            <a:ext cx="6309360" cy="146304"/>
          </a:xfrm>
          <a:prstGeom prst="rect">
            <a:avLst/>
          </a:prstGeom>
          <a:solidFill>
            <a:srgbClr val="F2F6F7"/>
          </a:solidFill>
          <a:ln w="6350">
            <a:solidFill>
              <a:srgbClr val="F2F6F7"/>
            </a:solidFill>
            <a:prstDash val="solid"/>
          </a:ln>
        </p:spPr>
      </p:sp>
      <p:sp>
        <p:nvSpPr>
          <p:cNvPr id="59" name="Shape 57"/>
          <p:cNvSpPr/>
          <p:nvPr/>
        </p:nvSpPr>
        <p:spPr>
          <a:xfrm>
            <a:off x="822960" y="5047488"/>
            <a:ext cx="1051560" cy="91440"/>
          </a:xfrm>
          <a:prstGeom prst="rect">
            <a:avLst/>
          </a:prstGeom>
          <a:solidFill>
            <a:srgbClr val="EDF1F3"/>
          </a:solidFill>
          <a:ln w="6350">
            <a:solidFill>
              <a:srgbClr val="EDF1F3"/>
            </a:solidFill>
            <a:prstDash val="solid"/>
          </a:ln>
        </p:spPr>
      </p:sp>
      <p:sp>
        <p:nvSpPr>
          <p:cNvPr id="60" name="Shape 58"/>
          <p:cNvSpPr/>
          <p:nvPr/>
        </p:nvSpPr>
        <p:spPr>
          <a:xfrm>
            <a:off x="2011680" y="5047488"/>
            <a:ext cx="1051560" cy="91440"/>
          </a:xfrm>
          <a:prstGeom prst="rect">
            <a:avLst/>
          </a:prstGeom>
          <a:solidFill>
            <a:srgbClr val="EDF1F3"/>
          </a:solidFill>
          <a:ln w="6350">
            <a:solidFill>
              <a:srgbClr val="EDF1F3"/>
            </a:solidFill>
            <a:prstDash val="solid"/>
          </a:ln>
        </p:spPr>
      </p:sp>
      <p:sp>
        <p:nvSpPr>
          <p:cNvPr id="61" name="Shape 59"/>
          <p:cNvSpPr/>
          <p:nvPr/>
        </p:nvSpPr>
        <p:spPr>
          <a:xfrm>
            <a:off x="3200400" y="5047488"/>
            <a:ext cx="1051560" cy="91440"/>
          </a:xfrm>
          <a:prstGeom prst="rect">
            <a:avLst/>
          </a:prstGeom>
          <a:solidFill>
            <a:srgbClr val="EDF1F3"/>
          </a:solidFill>
          <a:ln w="6350">
            <a:solidFill>
              <a:srgbClr val="EDF1F3"/>
            </a:solidFill>
            <a:prstDash val="solid"/>
          </a:ln>
        </p:spPr>
      </p:sp>
      <p:sp>
        <p:nvSpPr>
          <p:cNvPr id="62" name="Shape 60"/>
          <p:cNvSpPr/>
          <p:nvPr/>
        </p:nvSpPr>
        <p:spPr>
          <a:xfrm>
            <a:off x="4389120" y="5047488"/>
            <a:ext cx="868680" cy="91440"/>
          </a:xfrm>
          <a:prstGeom prst="rect">
            <a:avLst/>
          </a:prstGeom>
          <a:solidFill>
            <a:srgbClr val="EDF1F3"/>
          </a:solidFill>
          <a:ln w="6350">
            <a:solidFill>
              <a:srgbClr val="EDF1F3"/>
            </a:solidFill>
            <a:prstDash val="solid"/>
          </a:ln>
        </p:spPr>
      </p:sp>
      <p:sp>
        <p:nvSpPr>
          <p:cNvPr id="63" name="Shape 61"/>
          <p:cNvSpPr/>
          <p:nvPr/>
        </p:nvSpPr>
        <p:spPr>
          <a:xfrm>
            <a:off x="5394960" y="5047488"/>
            <a:ext cx="777240" cy="91440"/>
          </a:xfrm>
          <a:prstGeom prst="rect">
            <a:avLst/>
          </a:prstGeom>
          <a:solidFill>
            <a:srgbClr val="EDF1F3"/>
          </a:solidFill>
          <a:ln w="6350">
            <a:solidFill>
              <a:srgbClr val="EDF1F3"/>
            </a:solidFill>
            <a:prstDash val="solid"/>
          </a:ln>
        </p:spPr>
      </p:sp>
      <p:sp>
        <p:nvSpPr>
          <p:cNvPr id="64" name="Shape 62"/>
          <p:cNvSpPr/>
          <p:nvPr/>
        </p:nvSpPr>
        <p:spPr>
          <a:xfrm>
            <a:off x="6309360" y="5047488"/>
            <a:ext cx="822960" cy="91440"/>
          </a:xfrm>
          <a:prstGeom prst="rect">
            <a:avLst/>
          </a:prstGeom>
          <a:solidFill>
            <a:srgbClr val="EDF1F3"/>
          </a:solidFill>
          <a:ln w="6350">
            <a:solidFill>
              <a:srgbClr val="EDF1F3"/>
            </a:solidFill>
            <a:prstDash val="solid"/>
          </a:ln>
        </p:spPr>
      </p:sp>
      <p:sp>
        <p:nvSpPr>
          <p:cNvPr id="65" name="Shape 63"/>
          <p:cNvSpPr/>
          <p:nvPr/>
        </p:nvSpPr>
        <p:spPr>
          <a:xfrm>
            <a:off x="822960" y="5221224"/>
            <a:ext cx="1051560" cy="91440"/>
          </a:xfrm>
          <a:prstGeom prst="rect">
            <a:avLst/>
          </a:prstGeom>
          <a:solidFill>
            <a:srgbClr val="EDF1F3"/>
          </a:solidFill>
          <a:ln w="6350">
            <a:solidFill>
              <a:srgbClr val="EDF1F3"/>
            </a:solidFill>
            <a:prstDash val="solid"/>
          </a:ln>
        </p:spPr>
      </p:sp>
      <p:sp>
        <p:nvSpPr>
          <p:cNvPr id="66" name="Shape 64"/>
          <p:cNvSpPr/>
          <p:nvPr/>
        </p:nvSpPr>
        <p:spPr>
          <a:xfrm>
            <a:off x="2011680" y="5221224"/>
            <a:ext cx="1051560" cy="91440"/>
          </a:xfrm>
          <a:prstGeom prst="rect">
            <a:avLst/>
          </a:prstGeom>
          <a:solidFill>
            <a:srgbClr val="EDF1F3"/>
          </a:solidFill>
          <a:ln w="6350">
            <a:solidFill>
              <a:srgbClr val="EDF1F3"/>
            </a:solidFill>
            <a:prstDash val="solid"/>
          </a:ln>
        </p:spPr>
      </p:sp>
      <p:sp>
        <p:nvSpPr>
          <p:cNvPr id="67" name="Shape 65"/>
          <p:cNvSpPr/>
          <p:nvPr/>
        </p:nvSpPr>
        <p:spPr>
          <a:xfrm>
            <a:off x="3200400" y="5221224"/>
            <a:ext cx="1051560" cy="91440"/>
          </a:xfrm>
          <a:prstGeom prst="rect">
            <a:avLst/>
          </a:prstGeom>
          <a:solidFill>
            <a:srgbClr val="EDF1F3"/>
          </a:solidFill>
          <a:ln w="6350">
            <a:solidFill>
              <a:srgbClr val="EDF1F3"/>
            </a:solidFill>
            <a:prstDash val="solid"/>
          </a:ln>
        </p:spPr>
      </p:sp>
      <p:sp>
        <p:nvSpPr>
          <p:cNvPr id="68" name="Shape 66"/>
          <p:cNvSpPr/>
          <p:nvPr/>
        </p:nvSpPr>
        <p:spPr>
          <a:xfrm>
            <a:off x="4389120" y="5221224"/>
            <a:ext cx="868680" cy="91440"/>
          </a:xfrm>
          <a:prstGeom prst="rect">
            <a:avLst/>
          </a:prstGeom>
          <a:solidFill>
            <a:srgbClr val="EDF1F3"/>
          </a:solidFill>
          <a:ln w="6350">
            <a:solidFill>
              <a:srgbClr val="EDF1F3"/>
            </a:solidFill>
            <a:prstDash val="solid"/>
          </a:ln>
        </p:spPr>
      </p:sp>
      <p:sp>
        <p:nvSpPr>
          <p:cNvPr id="69" name="Shape 67"/>
          <p:cNvSpPr/>
          <p:nvPr/>
        </p:nvSpPr>
        <p:spPr>
          <a:xfrm>
            <a:off x="5394960" y="5221224"/>
            <a:ext cx="777240" cy="91440"/>
          </a:xfrm>
          <a:prstGeom prst="rect">
            <a:avLst/>
          </a:prstGeom>
          <a:solidFill>
            <a:srgbClr val="EDF1F3"/>
          </a:solidFill>
          <a:ln w="6350">
            <a:solidFill>
              <a:srgbClr val="EDF1F3"/>
            </a:solidFill>
            <a:prstDash val="solid"/>
          </a:ln>
        </p:spPr>
      </p:sp>
      <p:sp>
        <p:nvSpPr>
          <p:cNvPr id="70" name="Shape 68"/>
          <p:cNvSpPr/>
          <p:nvPr/>
        </p:nvSpPr>
        <p:spPr>
          <a:xfrm>
            <a:off x="6309360" y="5221224"/>
            <a:ext cx="822960" cy="91440"/>
          </a:xfrm>
          <a:prstGeom prst="rect">
            <a:avLst/>
          </a:prstGeom>
          <a:solidFill>
            <a:srgbClr val="EDF1F3"/>
          </a:solidFill>
          <a:ln w="6350">
            <a:solidFill>
              <a:srgbClr val="EDF1F3"/>
            </a:solidFill>
            <a:prstDash val="solid"/>
          </a:ln>
        </p:spPr>
      </p:sp>
      <p:sp>
        <p:nvSpPr>
          <p:cNvPr id="71" name="Shape 69"/>
          <p:cNvSpPr/>
          <p:nvPr/>
        </p:nvSpPr>
        <p:spPr>
          <a:xfrm>
            <a:off x="822960" y="5394960"/>
            <a:ext cx="1051560" cy="91440"/>
          </a:xfrm>
          <a:prstGeom prst="rect">
            <a:avLst/>
          </a:prstGeom>
          <a:solidFill>
            <a:srgbClr val="EDF1F3"/>
          </a:solidFill>
          <a:ln w="6350">
            <a:solidFill>
              <a:srgbClr val="EDF1F3"/>
            </a:solidFill>
            <a:prstDash val="solid"/>
          </a:ln>
        </p:spPr>
      </p:sp>
      <p:sp>
        <p:nvSpPr>
          <p:cNvPr id="72" name="Shape 70"/>
          <p:cNvSpPr/>
          <p:nvPr/>
        </p:nvSpPr>
        <p:spPr>
          <a:xfrm>
            <a:off x="2011680" y="5394960"/>
            <a:ext cx="1051560" cy="91440"/>
          </a:xfrm>
          <a:prstGeom prst="rect">
            <a:avLst/>
          </a:prstGeom>
          <a:solidFill>
            <a:srgbClr val="EDF1F3"/>
          </a:solidFill>
          <a:ln w="6350">
            <a:solidFill>
              <a:srgbClr val="EDF1F3"/>
            </a:solidFill>
            <a:prstDash val="solid"/>
          </a:ln>
        </p:spPr>
      </p:sp>
      <p:sp>
        <p:nvSpPr>
          <p:cNvPr id="73" name="Shape 71"/>
          <p:cNvSpPr/>
          <p:nvPr/>
        </p:nvSpPr>
        <p:spPr>
          <a:xfrm>
            <a:off x="3200400" y="5394960"/>
            <a:ext cx="1051560" cy="91440"/>
          </a:xfrm>
          <a:prstGeom prst="rect">
            <a:avLst/>
          </a:prstGeom>
          <a:solidFill>
            <a:srgbClr val="EDF1F3"/>
          </a:solidFill>
          <a:ln w="6350">
            <a:solidFill>
              <a:srgbClr val="EDF1F3"/>
            </a:solidFill>
            <a:prstDash val="solid"/>
          </a:ln>
        </p:spPr>
      </p:sp>
      <p:sp>
        <p:nvSpPr>
          <p:cNvPr id="74" name="Shape 72"/>
          <p:cNvSpPr/>
          <p:nvPr/>
        </p:nvSpPr>
        <p:spPr>
          <a:xfrm>
            <a:off x="4389120" y="5394960"/>
            <a:ext cx="868680" cy="91440"/>
          </a:xfrm>
          <a:prstGeom prst="rect">
            <a:avLst/>
          </a:prstGeom>
          <a:solidFill>
            <a:srgbClr val="EDF1F3"/>
          </a:solidFill>
          <a:ln w="6350">
            <a:solidFill>
              <a:srgbClr val="EDF1F3"/>
            </a:solidFill>
            <a:prstDash val="solid"/>
          </a:ln>
        </p:spPr>
      </p:sp>
      <p:sp>
        <p:nvSpPr>
          <p:cNvPr id="75" name="Shape 73"/>
          <p:cNvSpPr/>
          <p:nvPr/>
        </p:nvSpPr>
        <p:spPr>
          <a:xfrm>
            <a:off x="5394960" y="5394960"/>
            <a:ext cx="777240" cy="91440"/>
          </a:xfrm>
          <a:prstGeom prst="rect">
            <a:avLst/>
          </a:prstGeom>
          <a:solidFill>
            <a:srgbClr val="EDF1F3"/>
          </a:solidFill>
          <a:ln w="6350">
            <a:solidFill>
              <a:srgbClr val="EDF1F3"/>
            </a:solidFill>
            <a:prstDash val="solid"/>
          </a:ln>
        </p:spPr>
      </p:sp>
      <p:sp>
        <p:nvSpPr>
          <p:cNvPr id="76" name="Shape 74"/>
          <p:cNvSpPr/>
          <p:nvPr/>
        </p:nvSpPr>
        <p:spPr>
          <a:xfrm>
            <a:off x="6309360" y="5394960"/>
            <a:ext cx="822960" cy="91440"/>
          </a:xfrm>
          <a:prstGeom prst="rect">
            <a:avLst/>
          </a:prstGeom>
          <a:solidFill>
            <a:srgbClr val="EDF1F3"/>
          </a:solidFill>
          <a:ln w="6350">
            <a:solidFill>
              <a:srgbClr val="EDF1F3"/>
            </a:solidFill>
            <a:prstDash val="solid"/>
          </a:ln>
        </p:spPr>
      </p:sp>
      <p:sp>
        <p:nvSpPr>
          <p:cNvPr id="77" name="Shape 75"/>
          <p:cNvSpPr/>
          <p:nvPr/>
        </p:nvSpPr>
        <p:spPr>
          <a:xfrm>
            <a:off x="822960" y="5568696"/>
            <a:ext cx="1051560" cy="91440"/>
          </a:xfrm>
          <a:prstGeom prst="rect">
            <a:avLst/>
          </a:prstGeom>
          <a:solidFill>
            <a:srgbClr val="EDF1F3"/>
          </a:solidFill>
          <a:ln w="6350">
            <a:solidFill>
              <a:srgbClr val="EDF1F3"/>
            </a:solidFill>
            <a:prstDash val="solid"/>
          </a:ln>
        </p:spPr>
      </p:sp>
      <p:sp>
        <p:nvSpPr>
          <p:cNvPr id="78" name="Shape 76"/>
          <p:cNvSpPr/>
          <p:nvPr/>
        </p:nvSpPr>
        <p:spPr>
          <a:xfrm>
            <a:off x="2011680" y="5568696"/>
            <a:ext cx="1051560" cy="91440"/>
          </a:xfrm>
          <a:prstGeom prst="rect">
            <a:avLst/>
          </a:prstGeom>
          <a:solidFill>
            <a:srgbClr val="EDF1F3"/>
          </a:solidFill>
          <a:ln w="6350">
            <a:solidFill>
              <a:srgbClr val="EDF1F3"/>
            </a:solidFill>
            <a:prstDash val="solid"/>
          </a:ln>
        </p:spPr>
      </p:sp>
      <p:sp>
        <p:nvSpPr>
          <p:cNvPr id="79" name="Shape 77"/>
          <p:cNvSpPr/>
          <p:nvPr/>
        </p:nvSpPr>
        <p:spPr>
          <a:xfrm>
            <a:off x="3200400" y="5568696"/>
            <a:ext cx="1051560" cy="91440"/>
          </a:xfrm>
          <a:prstGeom prst="rect">
            <a:avLst/>
          </a:prstGeom>
          <a:solidFill>
            <a:srgbClr val="EDF1F3"/>
          </a:solidFill>
          <a:ln w="6350">
            <a:solidFill>
              <a:srgbClr val="EDF1F3"/>
            </a:solidFill>
            <a:prstDash val="solid"/>
          </a:ln>
        </p:spPr>
      </p:sp>
      <p:sp>
        <p:nvSpPr>
          <p:cNvPr id="80" name="Shape 78"/>
          <p:cNvSpPr/>
          <p:nvPr/>
        </p:nvSpPr>
        <p:spPr>
          <a:xfrm>
            <a:off x="4389120" y="5568696"/>
            <a:ext cx="868680" cy="91440"/>
          </a:xfrm>
          <a:prstGeom prst="rect">
            <a:avLst/>
          </a:prstGeom>
          <a:solidFill>
            <a:srgbClr val="EDF1F3"/>
          </a:solidFill>
          <a:ln w="6350">
            <a:solidFill>
              <a:srgbClr val="EDF1F3"/>
            </a:solidFill>
            <a:prstDash val="solid"/>
          </a:ln>
        </p:spPr>
      </p:sp>
      <p:sp>
        <p:nvSpPr>
          <p:cNvPr id="81" name="Shape 79"/>
          <p:cNvSpPr/>
          <p:nvPr/>
        </p:nvSpPr>
        <p:spPr>
          <a:xfrm>
            <a:off x="5394960" y="5568696"/>
            <a:ext cx="777240" cy="91440"/>
          </a:xfrm>
          <a:prstGeom prst="rect">
            <a:avLst/>
          </a:prstGeom>
          <a:solidFill>
            <a:srgbClr val="EDF1F3"/>
          </a:solidFill>
          <a:ln w="6350">
            <a:solidFill>
              <a:srgbClr val="EDF1F3"/>
            </a:solidFill>
            <a:prstDash val="solid"/>
          </a:ln>
        </p:spPr>
      </p:sp>
      <p:sp>
        <p:nvSpPr>
          <p:cNvPr id="82" name="Shape 80"/>
          <p:cNvSpPr/>
          <p:nvPr/>
        </p:nvSpPr>
        <p:spPr>
          <a:xfrm>
            <a:off x="6309360" y="5568696"/>
            <a:ext cx="822960" cy="91440"/>
          </a:xfrm>
          <a:prstGeom prst="rect">
            <a:avLst/>
          </a:prstGeom>
          <a:solidFill>
            <a:srgbClr val="EDF1F3"/>
          </a:solidFill>
          <a:ln w="6350">
            <a:solidFill>
              <a:srgbClr val="EDF1F3"/>
            </a:solidFill>
            <a:prstDash val="solid"/>
          </a:ln>
        </p:spPr>
      </p:sp>
      <p:sp>
        <p:nvSpPr>
          <p:cNvPr id="83" name="Text 81"/>
          <p:cNvSpPr/>
          <p:nvPr/>
        </p:nvSpPr>
        <p:spPr>
          <a:xfrm>
            <a:off x="502920" y="6016752"/>
            <a:ext cx="6949440" cy="201168"/>
          </a:xfrm>
          <a:prstGeom prst="rect">
            <a:avLst/>
          </a:prstGeom>
          <a:noFill/>
          <a:ln/>
        </p:spPr>
        <p:txBody>
          <a:bodyPr wrap="square" lIns="0" tIns="0" rIns="0" bIns="0" rtlCol="0" anchor="ctr"/>
          <a:lstStyle/>
          <a:p>
            <a:pPr marL="0" indent="0">
              <a:buNone/>
            </a:pPr>
            <a:r>
              <a:rPr lang="en-US" sz="850" i="1" dirty="0">
                <a:solidFill>
                  <a:srgbClr val="6B7B85"/>
                </a:solidFill>
                <a:latin typeface="Calibri" pitchFamily="34" charset="0"/>
                <a:ea typeface="Calibri" pitchFamily="34" charset="-122"/>
                <a:cs typeface="Calibri" pitchFamily="34" charset="-120"/>
              </a:rPr>
              <a:t>Indicative wireframe — no live figures shown</a:t>
            </a:r>
            <a:endParaRPr lang="en-US" sz="850" dirty="0"/>
          </a:p>
        </p:txBody>
      </p:sp>
      <p:sp>
        <p:nvSpPr>
          <p:cNvPr id="84" name="Shape 82"/>
          <p:cNvSpPr/>
          <p:nvPr/>
        </p:nvSpPr>
        <p:spPr>
          <a:xfrm>
            <a:off x="7726680" y="1298448"/>
            <a:ext cx="3959352" cy="1042416"/>
          </a:xfrm>
          <a:prstGeom prst="roundRect">
            <a:avLst>
              <a:gd name="adj" fmla="val 6140"/>
            </a:avLst>
          </a:prstGeom>
          <a:solidFill>
            <a:srgbClr val="E3F0EF"/>
          </a:solidFill>
          <a:ln w="12700">
            <a:solidFill>
              <a:srgbClr val="CBE0DE"/>
            </a:solidFill>
            <a:prstDash val="solid"/>
          </a:ln>
        </p:spPr>
      </p:sp>
      <p:sp>
        <p:nvSpPr>
          <p:cNvPr id="85" name="Text 83"/>
          <p:cNvSpPr/>
          <p:nvPr/>
        </p:nvSpPr>
        <p:spPr>
          <a:xfrm>
            <a:off x="7891272" y="1408176"/>
            <a:ext cx="3630168" cy="219456"/>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For the DA</a:t>
            </a:r>
            <a:endParaRPr lang="en-US" sz="1150" dirty="0"/>
          </a:p>
        </p:txBody>
      </p:sp>
      <p:sp>
        <p:nvSpPr>
          <p:cNvPr id="86" name="Text 84"/>
          <p:cNvSpPr/>
          <p:nvPr/>
        </p:nvSpPr>
        <p:spPr>
          <a:xfrm>
            <a:off x="7891272" y="1645920"/>
            <a:ext cx="3630168" cy="603504"/>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One ranked list of what to fix in the current pull request, with severity and a link back to the failing line.</a:t>
            </a:r>
            <a:endParaRPr lang="en-US" sz="950" dirty="0"/>
          </a:p>
        </p:txBody>
      </p:sp>
      <p:sp>
        <p:nvSpPr>
          <p:cNvPr id="87" name="Shape 85"/>
          <p:cNvSpPr/>
          <p:nvPr/>
        </p:nvSpPr>
        <p:spPr>
          <a:xfrm>
            <a:off x="7726680" y="2468880"/>
            <a:ext cx="3959352" cy="1042416"/>
          </a:xfrm>
          <a:prstGeom prst="roundRect">
            <a:avLst>
              <a:gd name="adj" fmla="val 6140"/>
            </a:avLst>
          </a:prstGeom>
          <a:solidFill>
            <a:srgbClr val="FBEEDC"/>
          </a:solidFill>
          <a:ln w="12700">
            <a:solidFill>
              <a:srgbClr val="F0DCC0"/>
            </a:solidFill>
            <a:prstDash val="solid"/>
          </a:ln>
        </p:spPr>
      </p:sp>
      <p:sp>
        <p:nvSpPr>
          <p:cNvPr id="88" name="Text 86"/>
          <p:cNvSpPr/>
          <p:nvPr/>
        </p:nvSpPr>
        <p:spPr>
          <a:xfrm>
            <a:off x="7891272" y="2578608"/>
            <a:ext cx="3630168" cy="219456"/>
          </a:xfrm>
          <a:prstGeom prst="rect">
            <a:avLst/>
          </a:prstGeom>
          <a:noFill/>
          <a:ln/>
        </p:spPr>
        <p:txBody>
          <a:bodyPr wrap="square" lIns="0" tIns="0" rIns="0" bIns="0" rtlCol="0" anchor="ctr"/>
          <a:lstStyle/>
          <a:p>
            <a:pPr marL="0" indent="0">
              <a:buNone/>
            </a:pPr>
            <a:r>
              <a:rPr lang="en-US" sz="1150" b="1" dirty="0">
                <a:solidFill>
                  <a:srgbClr val="B26A00"/>
                </a:solidFill>
                <a:latin typeface="Calibri" pitchFamily="34" charset="0"/>
                <a:ea typeface="Calibri" pitchFamily="34" charset="-122"/>
                <a:cs typeface="Calibri" pitchFamily="34" charset="-120"/>
              </a:rPr>
              <a:t>For the BA</a:t>
            </a:r>
            <a:endParaRPr lang="en-US" sz="1150" dirty="0"/>
          </a:p>
        </p:txBody>
      </p:sp>
      <p:sp>
        <p:nvSpPr>
          <p:cNvPr id="89" name="Text 87"/>
          <p:cNvSpPr/>
          <p:nvPr/>
        </p:nvSpPr>
        <p:spPr>
          <a:xfrm>
            <a:off x="7891272" y="2816352"/>
            <a:ext cx="3630168" cy="603504"/>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Visibility of where the baseline itself has fallen behind, and a durable record of accepted deviations.</a:t>
            </a:r>
            <a:endParaRPr lang="en-US" sz="950" dirty="0"/>
          </a:p>
        </p:txBody>
      </p:sp>
      <p:sp>
        <p:nvSpPr>
          <p:cNvPr id="90" name="Shape 88"/>
          <p:cNvSpPr/>
          <p:nvPr/>
        </p:nvSpPr>
        <p:spPr>
          <a:xfrm>
            <a:off x="7726680" y="3639312"/>
            <a:ext cx="3959352" cy="1042416"/>
          </a:xfrm>
          <a:prstGeom prst="roundRect">
            <a:avLst>
              <a:gd name="adj" fmla="val 6140"/>
            </a:avLst>
          </a:prstGeom>
          <a:solidFill>
            <a:srgbClr val="E8EDEF"/>
          </a:solidFill>
          <a:ln w="12700">
            <a:solidFill>
              <a:srgbClr val="C9D4D9"/>
            </a:solidFill>
            <a:prstDash val="solid"/>
          </a:ln>
        </p:spPr>
      </p:sp>
      <p:sp>
        <p:nvSpPr>
          <p:cNvPr id="91" name="Text 89"/>
          <p:cNvSpPr/>
          <p:nvPr/>
        </p:nvSpPr>
        <p:spPr>
          <a:xfrm>
            <a:off x="7891272" y="3749040"/>
            <a:ext cx="3630168" cy="219456"/>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For test and governance</a:t>
            </a:r>
            <a:endParaRPr lang="en-US" sz="1150" dirty="0"/>
          </a:p>
        </p:txBody>
      </p:sp>
      <p:sp>
        <p:nvSpPr>
          <p:cNvPr id="92" name="Text 90"/>
          <p:cNvSpPr/>
          <p:nvPr/>
        </p:nvSpPr>
        <p:spPr>
          <a:xfrm>
            <a:off x="7891272" y="3986784"/>
            <a:ext cx="3630168" cy="603504"/>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Run history and drift trend as standing evidence for sign-off, without opening a spreadsheet.</a:t>
            </a:r>
            <a:endParaRPr lang="en-US" sz="950" dirty="0"/>
          </a:p>
        </p:txBody>
      </p:sp>
      <p:sp>
        <p:nvSpPr>
          <p:cNvPr id="93" name="Shape 91"/>
          <p:cNvSpPr/>
          <p:nvPr/>
        </p:nvSpPr>
        <p:spPr>
          <a:xfrm>
            <a:off x="7726680" y="4809744"/>
            <a:ext cx="3959352" cy="1042416"/>
          </a:xfrm>
          <a:prstGeom prst="roundRect">
            <a:avLst>
              <a:gd name="adj" fmla="val 6140"/>
            </a:avLst>
          </a:prstGeom>
          <a:solidFill>
            <a:srgbClr val="F2F6F7"/>
          </a:solidFill>
          <a:ln w="12700">
            <a:solidFill>
              <a:srgbClr val="D8E0E4"/>
            </a:solidFill>
            <a:prstDash val="solid"/>
          </a:ln>
        </p:spPr>
      </p:sp>
      <p:sp>
        <p:nvSpPr>
          <p:cNvPr id="94" name="Text 92"/>
          <p:cNvSpPr/>
          <p:nvPr/>
        </p:nvSpPr>
        <p:spPr>
          <a:xfrm>
            <a:off x="7891272" y="4919472"/>
            <a:ext cx="3630168" cy="219456"/>
          </a:xfrm>
          <a:prstGeom prst="rect">
            <a:avLst/>
          </a:prstGeom>
          <a:noFill/>
          <a:ln/>
        </p:spPr>
        <p:txBody>
          <a:bodyPr wrap="square" lIns="0" tIns="0" rIns="0" bIns="0" rtlCol="0" anchor="ctr"/>
          <a:lstStyle/>
          <a:p>
            <a:pPr marL="0" indent="0">
              <a:buNone/>
            </a:pPr>
            <a:r>
              <a:rPr lang="en-US" sz="1150" b="1" dirty="0">
                <a:solidFill>
                  <a:srgbClr val="3E4C55"/>
                </a:solidFill>
                <a:latin typeface="Calibri" pitchFamily="34" charset="0"/>
                <a:ea typeface="Calibri" pitchFamily="34" charset="-122"/>
                <a:cs typeface="Calibri" pitchFamily="34" charset="-120"/>
              </a:rPr>
              <a:t>What it needs first</a:t>
            </a:r>
            <a:endParaRPr lang="en-US" sz="1150" dirty="0"/>
          </a:p>
        </p:txBody>
      </p:sp>
      <p:sp>
        <p:nvSpPr>
          <p:cNvPr id="95" name="Text 93"/>
          <p:cNvSpPr/>
          <p:nvPr/>
        </p:nvSpPr>
        <p:spPr>
          <a:xfrm>
            <a:off x="7891272" y="5157216"/>
            <a:ext cx="3630168" cy="603504"/>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Every run persisted rather than exported — the same engine output written to a store, with a run id and a baseline version.</a:t>
            </a:r>
            <a:endParaRPr lang="en-US" sz="95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01" name="Text 102"/>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Data quality testing</a:t>
            </a:r>
          </a:p>
        </p:txBody>
      </p:sp>
      <p:sp>
        <p:nvSpPr>
          <p:cNvPr id="103" name="Text 104"/>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Assertions on the data the analysts' SQL produces — run per batch, and only meaningful where realistic data exists</a:t>
            </a:r>
          </a:p>
        </p:txBody>
      </p:sp>
      <p:sp>
        <p:nvSpPr>
          <p:cNvPr id="105" name="Text 106"/>
          <p:cNvSpPr/>
          <p:nvPr/>
        </p:nvSpPr>
        <p:spPr>
          <a:xfrm>
            <a:off x="502920" y="1298448"/>
            <a:ext cx="6309360"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What we assert</a:t>
            </a:r>
          </a:p>
        </p:txBody>
      </p:sp>
      <p:sp>
        <p:nvSpPr>
          <p:cNvPr id="107" name="Shape 108"/>
          <p:cNvSpPr/>
          <p:nvPr/>
        </p:nvSpPr>
        <p:spPr>
          <a:xfrm>
            <a:off x="502920" y="1609344"/>
            <a:ext cx="6309360" cy="771753"/>
          </a:xfrm>
          <a:prstGeom prst="roundRect">
            <a:avLst>
              <a:gd name="adj" fmla="val 7778"/>
            </a:avLst>
          </a:prstGeom>
          <a:solidFill>
            <a:srgbClr val="FFFFFF"/>
          </a:solidFill>
          <a:ln w="12700">
            <a:solidFill>
              <a:srgbClr val="D8E0E4"/>
            </a:solidFill>
            <a:prstDash val="solid"/>
          </a:ln>
        </p:spPr>
      </p:sp>
      <p:sp>
        <p:nvSpPr>
          <p:cNvPr id="109" name="Shape 110"/>
          <p:cNvSpPr/>
          <p:nvPr/>
        </p:nvSpPr>
        <p:spPr>
          <a:xfrm>
            <a:off x="667512" y="1737360"/>
            <a:ext cx="256032" cy="256032"/>
          </a:xfrm>
          <a:prstGeom prst="ellipse">
            <a:avLst/>
          </a:prstGeom>
          <a:solidFill>
            <a:srgbClr val="E3F0EF"/>
          </a:solidFill>
          <a:ln w="12700">
            <a:solidFill>
              <a:srgbClr val="E3F0EF"/>
            </a:solidFill>
            <a:prstDash val="solid"/>
          </a:ln>
        </p:spPr>
      </p:sp>
      <p:sp>
        <p:nvSpPr>
          <p:cNvPr id="111" name="Text 112"/>
          <p:cNvSpPr/>
          <p:nvPr/>
        </p:nvSpPr>
        <p:spPr>
          <a:xfrm>
            <a:off x="667512" y="173736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1</a:t>
            </a:r>
          </a:p>
        </p:txBody>
      </p:sp>
      <p:sp>
        <p:nvSpPr>
          <p:cNvPr id="113" name="Text 114"/>
          <p:cNvSpPr/>
          <p:nvPr/>
        </p:nvSpPr>
        <p:spPr>
          <a:xfrm>
            <a:off x="1024128" y="1728216"/>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Completeness</a:t>
            </a:r>
          </a:p>
        </p:txBody>
      </p:sp>
      <p:sp>
        <p:nvSpPr>
          <p:cNvPr id="115" name="Text 116"/>
          <p:cNvSpPr/>
          <p:nvPr/>
        </p:nvSpPr>
        <p:spPr>
          <a:xfrm>
            <a:off x="1024128" y="1975104"/>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Every expected record is present for the reference date — nothing lost between the source extract and the landed table.</a:t>
            </a:r>
          </a:p>
        </p:txBody>
      </p:sp>
      <p:sp>
        <p:nvSpPr>
          <p:cNvPr id="117" name="Shape 118"/>
          <p:cNvSpPr/>
          <p:nvPr/>
        </p:nvSpPr>
        <p:spPr>
          <a:xfrm>
            <a:off x="502920" y="2472537"/>
            <a:ext cx="6309360" cy="771753"/>
          </a:xfrm>
          <a:prstGeom prst="roundRect">
            <a:avLst>
              <a:gd name="adj" fmla="val 7778"/>
            </a:avLst>
          </a:prstGeom>
          <a:solidFill>
            <a:srgbClr val="FFFFFF"/>
          </a:solidFill>
          <a:ln w="12700">
            <a:solidFill>
              <a:srgbClr val="D8E0E4"/>
            </a:solidFill>
            <a:prstDash val="solid"/>
          </a:ln>
        </p:spPr>
      </p:sp>
      <p:sp>
        <p:nvSpPr>
          <p:cNvPr id="119" name="Shape 120"/>
          <p:cNvSpPr/>
          <p:nvPr/>
        </p:nvSpPr>
        <p:spPr>
          <a:xfrm>
            <a:off x="667512" y="2600553"/>
            <a:ext cx="256032" cy="256032"/>
          </a:xfrm>
          <a:prstGeom prst="ellipse">
            <a:avLst/>
          </a:prstGeom>
          <a:solidFill>
            <a:srgbClr val="FBEEDC"/>
          </a:solidFill>
          <a:ln w="12700">
            <a:solidFill>
              <a:srgbClr val="FBEEDC"/>
            </a:solidFill>
            <a:prstDash val="solid"/>
          </a:ln>
        </p:spPr>
      </p:sp>
      <p:sp>
        <p:nvSpPr>
          <p:cNvPr id="121" name="Text 122"/>
          <p:cNvSpPr/>
          <p:nvPr/>
        </p:nvSpPr>
        <p:spPr>
          <a:xfrm>
            <a:off x="667512" y="2600553"/>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2</a:t>
            </a:r>
          </a:p>
        </p:txBody>
      </p:sp>
      <p:sp>
        <p:nvSpPr>
          <p:cNvPr id="123" name="Text 124"/>
          <p:cNvSpPr/>
          <p:nvPr/>
        </p:nvSpPr>
        <p:spPr>
          <a:xfrm>
            <a:off x="1024128" y="2591409"/>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Uniqueness and keys</a:t>
            </a:r>
          </a:p>
        </p:txBody>
      </p:sp>
      <p:sp>
        <p:nvSpPr>
          <p:cNvPr id="125" name="Text 126"/>
          <p:cNvSpPr/>
          <p:nvPr/>
        </p:nvSpPr>
        <p:spPr>
          <a:xfrm>
            <a:off x="1024128" y="2838297"/>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Primary and business keys are unique, no duplicates introduced by a join, and no orphaned foreign keys left behind.</a:t>
            </a:r>
          </a:p>
        </p:txBody>
      </p:sp>
      <p:sp>
        <p:nvSpPr>
          <p:cNvPr id="127" name="Shape 128"/>
          <p:cNvSpPr/>
          <p:nvPr/>
        </p:nvSpPr>
        <p:spPr>
          <a:xfrm>
            <a:off x="502920" y="3335730"/>
            <a:ext cx="6309360" cy="771753"/>
          </a:xfrm>
          <a:prstGeom prst="roundRect">
            <a:avLst>
              <a:gd name="adj" fmla="val 7778"/>
            </a:avLst>
          </a:prstGeom>
          <a:solidFill>
            <a:srgbClr val="FFFFFF"/>
          </a:solidFill>
          <a:ln w="12700">
            <a:solidFill>
              <a:srgbClr val="D8E0E4"/>
            </a:solidFill>
            <a:prstDash val="solid"/>
          </a:ln>
        </p:spPr>
      </p:sp>
      <p:sp>
        <p:nvSpPr>
          <p:cNvPr id="129" name="Shape 130"/>
          <p:cNvSpPr/>
          <p:nvPr/>
        </p:nvSpPr>
        <p:spPr>
          <a:xfrm>
            <a:off x="667512" y="3463746"/>
            <a:ext cx="256032" cy="256032"/>
          </a:xfrm>
          <a:prstGeom prst="ellipse">
            <a:avLst/>
          </a:prstGeom>
          <a:solidFill>
            <a:srgbClr val="E3F0EF"/>
          </a:solidFill>
          <a:ln w="12700">
            <a:solidFill>
              <a:srgbClr val="E3F0EF"/>
            </a:solidFill>
            <a:prstDash val="solid"/>
          </a:ln>
        </p:spPr>
      </p:sp>
      <p:sp>
        <p:nvSpPr>
          <p:cNvPr id="131" name="Text 132"/>
          <p:cNvSpPr/>
          <p:nvPr/>
        </p:nvSpPr>
        <p:spPr>
          <a:xfrm>
            <a:off x="667512" y="3463746"/>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3</a:t>
            </a:r>
          </a:p>
        </p:txBody>
      </p:sp>
      <p:sp>
        <p:nvSpPr>
          <p:cNvPr id="133" name="Text 134"/>
          <p:cNvSpPr/>
          <p:nvPr/>
        </p:nvSpPr>
        <p:spPr>
          <a:xfrm>
            <a:off x="1024128" y="3454602"/>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Domain and referential integrity</a:t>
            </a:r>
          </a:p>
        </p:txBody>
      </p:sp>
      <p:sp>
        <p:nvSpPr>
          <p:cNvPr id="135" name="Text 136"/>
          <p:cNvSpPr/>
          <p:nvPr/>
        </p:nvSpPr>
        <p:spPr>
          <a:xfrm>
            <a:off x="1024128" y="3701490"/>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Values sit inside their agreed domain, mandatory fields are populated, and every lookup resolves to a live reference entry.</a:t>
            </a:r>
          </a:p>
        </p:txBody>
      </p:sp>
      <p:sp>
        <p:nvSpPr>
          <p:cNvPr id="137" name="Shape 138"/>
          <p:cNvSpPr/>
          <p:nvPr/>
        </p:nvSpPr>
        <p:spPr>
          <a:xfrm>
            <a:off x="502920" y="4198923"/>
            <a:ext cx="6309360" cy="771753"/>
          </a:xfrm>
          <a:prstGeom prst="roundRect">
            <a:avLst>
              <a:gd name="adj" fmla="val 7778"/>
            </a:avLst>
          </a:prstGeom>
          <a:solidFill>
            <a:srgbClr val="FFFFFF"/>
          </a:solidFill>
          <a:ln w="12700">
            <a:solidFill>
              <a:srgbClr val="D8E0E4"/>
            </a:solidFill>
            <a:prstDash val="solid"/>
          </a:ln>
        </p:spPr>
      </p:sp>
      <p:sp>
        <p:nvSpPr>
          <p:cNvPr id="139" name="Shape 140"/>
          <p:cNvSpPr/>
          <p:nvPr/>
        </p:nvSpPr>
        <p:spPr>
          <a:xfrm>
            <a:off x="667512" y="4326939"/>
            <a:ext cx="256032" cy="256032"/>
          </a:xfrm>
          <a:prstGeom prst="ellipse">
            <a:avLst/>
          </a:prstGeom>
          <a:solidFill>
            <a:srgbClr val="FBEEDC"/>
          </a:solidFill>
          <a:ln w="12700">
            <a:solidFill>
              <a:srgbClr val="FBEEDC"/>
            </a:solidFill>
            <a:prstDash val="solid"/>
          </a:ln>
        </p:spPr>
      </p:sp>
      <p:sp>
        <p:nvSpPr>
          <p:cNvPr id="141" name="Text 142"/>
          <p:cNvSpPr/>
          <p:nvPr/>
        </p:nvSpPr>
        <p:spPr>
          <a:xfrm>
            <a:off x="667512" y="4326939"/>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4</a:t>
            </a:r>
          </a:p>
        </p:txBody>
      </p:sp>
      <p:sp>
        <p:nvSpPr>
          <p:cNvPr id="143" name="Text 144"/>
          <p:cNvSpPr/>
          <p:nvPr/>
        </p:nvSpPr>
        <p:spPr>
          <a:xfrm>
            <a:off x="1024128" y="4317795"/>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Reconciliation to source</a:t>
            </a:r>
          </a:p>
        </p:txBody>
      </p:sp>
      <p:sp>
        <p:nvSpPr>
          <p:cNvPr id="145" name="Text 146"/>
          <p:cNvSpPr/>
          <p:nvPr/>
        </p:nvSpPr>
        <p:spPr>
          <a:xfrm>
            <a:off x="1024128" y="4564683"/>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Counts and control totals on the key measures tie back to the source extract, within a stated and agreed tolerance.</a:t>
            </a:r>
          </a:p>
        </p:txBody>
      </p:sp>
      <p:sp>
        <p:nvSpPr>
          <p:cNvPr id="147" name="Shape 148"/>
          <p:cNvSpPr/>
          <p:nvPr/>
        </p:nvSpPr>
        <p:spPr>
          <a:xfrm>
            <a:off x="502920" y="5062116"/>
            <a:ext cx="6309360" cy="771753"/>
          </a:xfrm>
          <a:prstGeom prst="roundRect">
            <a:avLst>
              <a:gd name="adj" fmla="val 7778"/>
            </a:avLst>
          </a:prstGeom>
          <a:solidFill>
            <a:srgbClr val="FFFFFF"/>
          </a:solidFill>
          <a:ln w="12700">
            <a:solidFill>
              <a:srgbClr val="D8E0E4"/>
            </a:solidFill>
            <a:prstDash val="solid"/>
          </a:ln>
        </p:spPr>
      </p:sp>
      <p:sp>
        <p:nvSpPr>
          <p:cNvPr id="149" name="Shape 150"/>
          <p:cNvSpPr/>
          <p:nvPr/>
        </p:nvSpPr>
        <p:spPr>
          <a:xfrm>
            <a:off x="667512" y="5190132"/>
            <a:ext cx="256032" cy="256032"/>
          </a:xfrm>
          <a:prstGeom prst="ellipse">
            <a:avLst/>
          </a:prstGeom>
          <a:solidFill>
            <a:srgbClr val="E3F0EF"/>
          </a:solidFill>
          <a:ln w="12700">
            <a:solidFill>
              <a:srgbClr val="E3F0EF"/>
            </a:solidFill>
            <a:prstDash val="solid"/>
          </a:ln>
        </p:spPr>
      </p:sp>
      <p:sp>
        <p:nvSpPr>
          <p:cNvPr id="151" name="Text 152"/>
          <p:cNvSpPr/>
          <p:nvPr/>
        </p:nvSpPr>
        <p:spPr>
          <a:xfrm>
            <a:off x="667512" y="5190132"/>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5</a:t>
            </a:r>
          </a:p>
        </p:txBody>
      </p:sp>
      <p:sp>
        <p:nvSpPr>
          <p:cNvPr id="153" name="Text 154"/>
          <p:cNvSpPr/>
          <p:nvPr/>
        </p:nvSpPr>
        <p:spPr>
          <a:xfrm>
            <a:off x="1024128" y="5180988"/>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Business rule conformance</a:t>
            </a:r>
          </a:p>
        </p:txBody>
      </p:sp>
      <p:sp>
        <p:nvSpPr>
          <p:cNvPr id="155" name="Text 156"/>
          <p:cNvSpPr/>
          <p:nvPr/>
        </p:nvSpPr>
        <p:spPr>
          <a:xfrm>
            <a:off x="1024128" y="5427876"/>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Derived and calculated columns behave as the mapping specifies, proven on targeted cases rather than asserted in bulk.</a:t>
            </a:r>
          </a:p>
        </p:txBody>
      </p:sp>
      <p:sp>
        <p:nvSpPr>
          <p:cNvPr id="157" name="Text 158"/>
          <p:cNvSpPr/>
          <p:nvPr/>
        </p:nvSpPr>
        <p:spPr>
          <a:xfrm>
            <a:off x="7178040" y="1298448"/>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How it runs</a:t>
            </a:r>
          </a:p>
        </p:txBody>
      </p:sp>
      <p:sp>
        <p:nvSpPr>
          <p:cNvPr id="159" name="Shape 160"/>
          <p:cNvSpPr/>
          <p:nvPr/>
        </p:nvSpPr>
        <p:spPr>
          <a:xfrm>
            <a:off x="7178040" y="1609344"/>
            <a:ext cx="4507992" cy="1554480"/>
          </a:xfrm>
          <a:prstGeom prst="roundRect">
            <a:avLst>
              <a:gd name="adj" fmla="val 3646"/>
            </a:avLst>
          </a:prstGeom>
          <a:solidFill>
            <a:srgbClr val="F2F6F7"/>
          </a:solidFill>
          <a:ln w="12700">
            <a:solidFill>
              <a:srgbClr val="D8E0E4"/>
            </a:solidFill>
            <a:prstDash val="solid"/>
          </a:ln>
        </p:spPr>
      </p:sp>
      <p:sp>
        <p:nvSpPr>
          <p:cNvPr id="161" name="Text 162"/>
          <p:cNvSpPr/>
          <p:nvPr/>
        </p:nvSpPr>
        <p:spPr>
          <a:xfrm>
            <a:off x="7342632" y="1755648"/>
            <a:ext cx="4178808" cy="126187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SQL assertion packs held in version control, one pack per delivery</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Executed per batch, returning a pass or fail per assertion</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Failures resolve to a DA SQL fix, a mapping correction, or an accepted deviation</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Every run retained as standing evidence for sign-off</a:t>
            </a:r>
          </a:p>
        </p:txBody>
      </p:sp>
      <p:sp>
        <p:nvSpPr>
          <p:cNvPr id="163" name="Text 164"/>
          <p:cNvSpPr/>
          <p:nvPr/>
        </p:nvSpPr>
        <p:spPr>
          <a:xfrm>
            <a:off x="7178040" y="3383280"/>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What limits it today</a:t>
            </a:r>
          </a:p>
        </p:txBody>
      </p:sp>
      <p:sp>
        <p:nvSpPr>
          <p:cNvPr id="165" name="Shape 166"/>
          <p:cNvSpPr/>
          <p:nvPr/>
        </p:nvSpPr>
        <p:spPr>
          <a:xfrm>
            <a:off x="7178040" y="3749040"/>
            <a:ext cx="4507992" cy="2084832"/>
          </a:xfrm>
          <a:prstGeom prst="roundRect">
            <a:avLst>
              <a:gd name="adj" fmla="val 3241"/>
            </a:avLst>
          </a:prstGeom>
          <a:solidFill>
            <a:srgbClr val="FBEEDC"/>
          </a:solidFill>
          <a:ln w="12700">
            <a:solidFill>
              <a:srgbClr val="F0DCC0"/>
            </a:solidFill>
            <a:prstDash val="solid"/>
          </a:ln>
        </p:spPr>
      </p:sp>
      <p:sp>
        <p:nvSpPr>
          <p:cNvPr id="167" name="Text 168"/>
          <p:cNvSpPr/>
          <p:nvPr/>
        </p:nvSpPr>
        <p:spPr>
          <a:xfrm>
            <a:off x="7342632" y="3895344"/>
            <a:ext cx="4178808" cy="1792224"/>
          </a:xfrm>
          <a:prstGeom prst="rect">
            <a:avLst/>
          </a:prstGeom>
          <a:noFill/>
          <a:ln/>
        </p:spPr>
        <p:txBody>
          <a:bodyPr wrap="square" lIns="0" tIns="0" rIns="0" bIns="0" rtlCol="0" anchor="ctr"/>
          <a:lstStyle/>
          <a:p>
            <a:pPr marL="0" indent="0">
              <a:lnSpc>
                <a:spcPct val="105000"/>
              </a:lnSpc>
              <a:spcAft>
                <a:spcPts val="500"/>
              </a:spcAft>
              <a:buNone/>
            </a:pPr>
            <a:r>
              <a:rPr lang="en-US" sz="1000" b="1" dirty="0">
                <a:solidFill>
                  <a:srgbClr val="B26A00"/>
                </a:solidFill>
                <a:latin typeface="Calibri" pitchFamily="34" charset="0"/>
                <a:ea typeface="Calibri" pitchFamily="34" charset="-122"/>
                <a:cs typeface="Calibri" pitchFamily="34" charset="-120"/>
              </a:rPr>
              <a:t>Dev and test do not hold enough data.</a:t>
            </a:r>
            <a:r>
              <a:rPr lang="en-US" sz="1000" dirty="0">
                <a:solidFill>
                  <a:srgbClr val="3E4C55"/>
                </a:solidFill>
                <a:latin typeface="Calibri" pitchFamily="34" charset="0"/>
                <a:ea typeface="Calibri" pitchFamily="34" charset="-122"/>
                <a:cs typeface="Calibri" pitchFamily="34" charset="-120"/>
              </a:rPr>
              <a:t xml:space="preserve"> Volume, edge cases and complete portfolios exist only in production, so assertions that need them cannot be proven in a lower environment.</a:t>
            </a:r>
          </a:p>
          <a:p>
            <a:pPr marL="0" indent="0">
              <a:lnSpc>
                <a:spcPct val="105000"/>
              </a:lnSpc>
              <a:spcAft>
                <a:spcPts val="500"/>
              </a:spcAft>
              <a:buNone/>
            </a:pPr>
            <a:r>
              <a:rPr lang="en-US" sz="1000" dirty="0">
                <a:solidFill>
                  <a:srgbClr val="3E4C55"/>
                </a:solidFill>
                <a:latin typeface="Calibri" pitchFamily="34" charset="0"/>
                <a:ea typeface="Calibri" pitchFamily="34" charset="-122"/>
                <a:cs typeface="Calibri" pitchFamily="34" charset="-120"/>
              </a:rPr>
              <a:t>The consequence is that runs are repeated on the parallel production environment to get a meaningful result — which makes production scheduling, access control and data sensitivity into test constraints.</a:t>
            </a:r>
          </a:p>
          <a:p>
            <a:pPr marL="0" indent="0">
              <a:lnSpc>
                <a:spcPct val="105000"/>
              </a:lnSpc>
              <a:buNone/>
            </a:pPr>
            <a:r>
              <a:rPr lang="en-US" sz="1000" i="1" dirty="0">
                <a:solidFill>
                  <a:srgbClr val="6B7B85"/>
                </a:solidFill>
                <a:latin typeface="Calibri" pitchFamily="34" charset="0"/>
                <a:ea typeface="Calibri" pitchFamily="34" charset="-122"/>
                <a:cs typeface="Calibri" pitchFamily="34" charset="-120"/>
              </a:rPr>
              <a:t>Addressed by synthetic test data generation — next slide.</a:t>
            </a:r>
          </a:p>
        </p:txBody>
      </p:sp>
      <p:sp>
        <p:nvSpPr>
          <p:cNvPr id="169" name="Text 170"/>
          <p:cNvSpPr/>
          <p:nvPr/>
        </p:nvSpPr>
        <p:spPr>
          <a:xfrm>
            <a:off x="502920" y="6181344"/>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Entry criteria — schema conformance has passed. A data quality result read against a structure that is not yet agreed tells us nothing, which is why these two checks are sequenced and not run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71" name="Text 172"/>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Test data for the lower environments</a:t>
            </a:r>
          </a:p>
        </p:txBody>
      </p:sp>
      <p:sp>
        <p:nvSpPr>
          <p:cNvPr id="173" name="Text 174"/>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Generating production-shaped data in dev and test, so data quality testing stops depending on the parallel production environment</a:t>
            </a:r>
          </a:p>
        </p:txBody>
      </p:sp>
      <p:sp>
        <p:nvSpPr>
          <p:cNvPr id="175" name="Text 176"/>
          <p:cNvSpPr/>
          <p:nvPr/>
        </p:nvSpPr>
        <p:spPr>
          <a:xfrm>
            <a:off x="502920" y="1298448"/>
            <a:ext cx="5340096"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Today</a:t>
            </a:r>
          </a:p>
        </p:txBody>
      </p:sp>
      <p:sp>
        <p:nvSpPr>
          <p:cNvPr id="177" name="Shape 178"/>
          <p:cNvSpPr/>
          <p:nvPr/>
        </p:nvSpPr>
        <p:spPr>
          <a:xfrm>
            <a:off x="502920" y="1609344"/>
            <a:ext cx="5340096" cy="2194560"/>
          </a:xfrm>
          <a:prstGeom prst="roundRect">
            <a:avLst>
              <a:gd name="adj" fmla="val 3646"/>
            </a:avLst>
          </a:prstGeom>
          <a:solidFill>
            <a:srgbClr val="EDF1F3"/>
          </a:solidFill>
          <a:ln w="12700">
            <a:solidFill>
              <a:srgbClr val="D8E0E4"/>
            </a:solidFill>
            <a:prstDash val="solid"/>
          </a:ln>
        </p:spPr>
      </p:sp>
      <p:sp>
        <p:nvSpPr>
          <p:cNvPr id="179" name="Text 180"/>
          <p:cNvSpPr/>
          <p:nvPr/>
        </p:nvSpPr>
        <p:spPr>
          <a:xfrm>
            <a:off x="667512" y="1755648"/>
            <a:ext cx="5010912" cy="19019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Dev and test hold thin, stale extracts, so most assertions cannot be exercised there at all</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Volume, rare conditions and complete portfolios exist only in production</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Runs are repeated on the parallel production environment to get a result anyone will act on</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Production scheduling, access control and data sensitivity become test constraints</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Defects surface late, because the first realistic run is also close to the last one</a:t>
            </a:r>
          </a:p>
          <a:p>
            <a:pPr marL="0" indent="0">
              <a:lnSpc>
                <a:spcPct val="105000"/>
              </a:lnSpc>
              <a:buNone/>
            </a:pPr>
            <a:r>
              <a:rPr lang="en-US" sz="1000" i="1" dirty="0">
                <a:solidFill>
                  <a:srgbClr val="6B7B85"/>
                </a:solidFill>
                <a:latin typeface="Calibri" pitchFamily="34" charset="0"/>
                <a:ea typeface="Calibri" pitchFamily="34" charset="-122"/>
                <a:cs typeface="Calibri" pitchFamily="34" charset="-120"/>
              </a:rPr>
              <a:t>The environment, not the test, is what limits us.</a:t>
            </a:r>
          </a:p>
        </p:txBody>
      </p:sp>
      <p:sp>
        <p:nvSpPr>
          <p:cNvPr id="181" name="Text 182"/>
          <p:cNvSpPr/>
          <p:nvPr/>
        </p:nvSpPr>
        <p:spPr>
          <a:xfrm>
            <a:off x="6351984" y="1298448"/>
            <a:ext cx="5334048"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With generated test data</a:t>
            </a:r>
          </a:p>
        </p:txBody>
      </p:sp>
      <p:sp>
        <p:nvSpPr>
          <p:cNvPr id="183" name="Shape 184"/>
          <p:cNvSpPr/>
          <p:nvPr/>
        </p:nvSpPr>
        <p:spPr>
          <a:xfrm>
            <a:off x="6351984" y="1609344"/>
            <a:ext cx="5334048" cy="2194560"/>
          </a:xfrm>
          <a:prstGeom prst="roundRect">
            <a:avLst>
              <a:gd name="adj" fmla="val 3646"/>
            </a:avLst>
          </a:prstGeom>
          <a:solidFill>
            <a:srgbClr val="E3F0EF"/>
          </a:solidFill>
          <a:ln w="12700">
            <a:solidFill>
              <a:srgbClr val="CBE0DE"/>
            </a:solidFill>
            <a:prstDash val="solid"/>
          </a:ln>
        </p:spPr>
      </p:sp>
      <p:sp>
        <p:nvSpPr>
          <p:cNvPr id="185" name="Text 186"/>
          <p:cNvSpPr/>
          <p:nvPr/>
        </p:nvSpPr>
        <p:spPr>
          <a:xfrm>
            <a:off x="6516576" y="1755648"/>
            <a:ext cx="5004864" cy="19019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Production-shaped populations created on demand in dev and test</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Edge cases and rare conditions built deliberately rather than waited for</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No dependency on production data, production access or the production schedule</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Assertion packs and volume runs execute in the environment they were written for</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The parallel production run becomes confirmation rather than first discovery</a:t>
            </a:r>
          </a:p>
          <a:p>
            <a:pPr marL="0" indent="0">
              <a:lnSpc>
                <a:spcPct val="105000"/>
              </a:lnSpc>
              <a:buNone/>
            </a:pPr>
            <a:r>
              <a:rPr lang="en-US" sz="1000" i="1" dirty="0">
                <a:solidFill>
                  <a:srgbClr val="6B7B85"/>
                </a:solidFill>
                <a:latin typeface="Calibri" pitchFamily="34" charset="0"/>
                <a:ea typeface="Calibri" pitchFamily="34" charset="-122"/>
                <a:cs typeface="Calibri" pitchFamily="34" charset="-120"/>
              </a:rPr>
              <a:t>Each test runs in the environment it was designed for.</a:t>
            </a:r>
          </a:p>
        </p:txBody>
      </p:sp>
      <p:sp>
        <p:nvSpPr>
          <p:cNvPr id="187" name="Text 188"/>
          <p:cNvSpPr/>
          <p:nvPr/>
        </p:nvSpPr>
        <p:spPr>
          <a:xfrm>
            <a:off x="502920" y="4023360"/>
            <a:ext cx="1118311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Proof of concept — planned</a:t>
            </a:r>
          </a:p>
        </p:txBody>
      </p:sp>
      <p:sp>
        <p:nvSpPr>
          <p:cNvPr id="189" name="Shape 190"/>
          <p:cNvSpPr/>
          <p:nvPr/>
        </p:nvSpPr>
        <p:spPr>
          <a:xfrm>
            <a:off x="502920" y="4389120"/>
            <a:ext cx="2658618" cy="1444752"/>
          </a:xfrm>
          <a:prstGeom prst="roundRect">
            <a:avLst>
              <a:gd name="adj" fmla="val 7778"/>
            </a:avLst>
          </a:prstGeom>
          <a:solidFill>
            <a:srgbClr val="FFFFFF"/>
          </a:solidFill>
          <a:ln w="12700">
            <a:solidFill>
              <a:srgbClr val="D8E0E4"/>
            </a:solidFill>
            <a:prstDash val="solid"/>
          </a:ln>
        </p:spPr>
      </p:sp>
      <p:sp>
        <p:nvSpPr>
          <p:cNvPr id="191" name="Shape 192"/>
          <p:cNvSpPr/>
          <p:nvPr/>
        </p:nvSpPr>
        <p:spPr>
          <a:xfrm>
            <a:off x="667512" y="4526280"/>
            <a:ext cx="256032" cy="256032"/>
          </a:xfrm>
          <a:prstGeom prst="ellipse">
            <a:avLst/>
          </a:prstGeom>
          <a:solidFill>
            <a:srgbClr val="E3F0EF"/>
          </a:solidFill>
          <a:ln w="12700">
            <a:solidFill>
              <a:srgbClr val="E3F0EF"/>
            </a:solidFill>
            <a:prstDash val="solid"/>
          </a:ln>
        </p:spPr>
      </p:sp>
      <p:sp>
        <p:nvSpPr>
          <p:cNvPr id="193" name="Text 194"/>
          <p:cNvSpPr/>
          <p:nvPr/>
        </p:nvSpPr>
        <p:spPr>
          <a:xfrm>
            <a:off x="667512" y="452628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1</a:t>
            </a:r>
          </a:p>
        </p:txBody>
      </p:sp>
      <p:sp>
        <p:nvSpPr>
          <p:cNvPr id="195" name="Text 196"/>
          <p:cNvSpPr/>
          <p:nvPr/>
        </p:nvSpPr>
        <p:spPr>
          <a:xfrm>
            <a:off x="667512" y="4873752"/>
            <a:ext cx="2329434"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Scope</a:t>
            </a:r>
          </a:p>
        </p:txBody>
      </p:sp>
      <p:sp>
        <p:nvSpPr>
          <p:cNvPr id="197" name="Text 198"/>
          <p:cNvSpPr/>
          <p:nvPr/>
        </p:nvSpPr>
        <p:spPr>
          <a:xfrm>
            <a:off x="667512" y="5102352"/>
            <a:ext cx="2329434" cy="640080"/>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One delivery and its existing assertion pack, generated into dev — small enough to finish, real enough to judge.</a:t>
            </a:r>
          </a:p>
        </p:txBody>
      </p:sp>
      <p:sp>
        <p:nvSpPr>
          <p:cNvPr id="199" name="Shape 200"/>
          <p:cNvSpPr/>
          <p:nvPr/>
        </p:nvSpPr>
        <p:spPr>
          <a:xfrm>
            <a:off x="3344418" y="4389120"/>
            <a:ext cx="2658618" cy="1444752"/>
          </a:xfrm>
          <a:prstGeom prst="roundRect">
            <a:avLst>
              <a:gd name="adj" fmla="val 7778"/>
            </a:avLst>
          </a:prstGeom>
          <a:solidFill>
            <a:srgbClr val="FFFFFF"/>
          </a:solidFill>
          <a:ln w="12700">
            <a:solidFill>
              <a:srgbClr val="D8E0E4"/>
            </a:solidFill>
            <a:prstDash val="solid"/>
          </a:ln>
        </p:spPr>
      </p:sp>
      <p:sp>
        <p:nvSpPr>
          <p:cNvPr id="201" name="Shape 202"/>
          <p:cNvSpPr/>
          <p:nvPr/>
        </p:nvSpPr>
        <p:spPr>
          <a:xfrm>
            <a:off x="3509010" y="4526280"/>
            <a:ext cx="256032" cy="256032"/>
          </a:xfrm>
          <a:prstGeom prst="ellipse">
            <a:avLst/>
          </a:prstGeom>
          <a:solidFill>
            <a:srgbClr val="E3F0EF"/>
          </a:solidFill>
          <a:ln w="12700">
            <a:solidFill>
              <a:srgbClr val="E3F0EF"/>
            </a:solidFill>
            <a:prstDash val="solid"/>
          </a:ln>
        </p:spPr>
      </p:sp>
      <p:sp>
        <p:nvSpPr>
          <p:cNvPr id="203" name="Text 204"/>
          <p:cNvSpPr/>
          <p:nvPr/>
        </p:nvSpPr>
        <p:spPr>
          <a:xfrm>
            <a:off x="3509010" y="452628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2</a:t>
            </a:r>
          </a:p>
        </p:txBody>
      </p:sp>
      <p:sp>
        <p:nvSpPr>
          <p:cNvPr id="205" name="Text 206"/>
          <p:cNvSpPr/>
          <p:nvPr/>
        </p:nvSpPr>
        <p:spPr>
          <a:xfrm>
            <a:off x="3509010" y="4873752"/>
            <a:ext cx="2329434"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Generate</a:t>
            </a:r>
          </a:p>
        </p:txBody>
      </p:sp>
      <p:sp>
        <p:nvSpPr>
          <p:cNvPr id="207" name="Text 208"/>
          <p:cNvSpPr/>
          <p:nvPr/>
        </p:nvSpPr>
        <p:spPr>
          <a:xfrm>
            <a:off x="3509010" y="5102352"/>
            <a:ext cx="2329434" cy="640080"/>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Produce a production-shaped population for that scope with the synthetic data generation tool.</a:t>
            </a:r>
          </a:p>
        </p:txBody>
      </p:sp>
      <p:sp>
        <p:nvSpPr>
          <p:cNvPr id="209" name="Shape 210"/>
          <p:cNvSpPr/>
          <p:nvPr/>
        </p:nvSpPr>
        <p:spPr>
          <a:xfrm>
            <a:off x="6185916" y="4389120"/>
            <a:ext cx="2658618" cy="1444752"/>
          </a:xfrm>
          <a:prstGeom prst="roundRect">
            <a:avLst>
              <a:gd name="adj" fmla="val 7778"/>
            </a:avLst>
          </a:prstGeom>
          <a:solidFill>
            <a:srgbClr val="FFFFFF"/>
          </a:solidFill>
          <a:ln w="12700">
            <a:solidFill>
              <a:srgbClr val="D8E0E4"/>
            </a:solidFill>
            <a:prstDash val="solid"/>
          </a:ln>
        </p:spPr>
      </p:sp>
      <p:sp>
        <p:nvSpPr>
          <p:cNvPr id="211" name="Shape 212"/>
          <p:cNvSpPr/>
          <p:nvPr/>
        </p:nvSpPr>
        <p:spPr>
          <a:xfrm>
            <a:off x="6350508" y="4526280"/>
            <a:ext cx="256032" cy="256032"/>
          </a:xfrm>
          <a:prstGeom prst="ellipse">
            <a:avLst/>
          </a:prstGeom>
          <a:solidFill>
            <a:srgbClr val="E3F0EF"/>
          </a:solidFill>
          <a:ln w="12700">
            <a:solidFill>
              <a:srgbClr val="E3F0EF"/>
            </a:solidFill>
            <a:prstDash val="solid"/>
          </a:ln>
        </p:spPr>
      </p:sp>
      <p:sp>
        <p:nvSpPr>
          <p:cNvPr id="213" name="Text 214"/>
          <p:cNvSpPr/>
          <p:nvPr/>
        </p:nvSpPr>
        <p:spPr>
          <a:xfrm>
            <a:off x="6350508" y="452628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3</a:t>
            </a:r>
          </a:p>
        </p:txBody>
      </p:sp>
      <p:sp>
        <p:nvSpPr>
          <p:cNvPr id="215" name="Text 216"/>
          <p:cNvSpPr/>
          <p:nvPr/>
        </p:nvSpPr>
        <p:spPr>
          <a:xfrm>
            <a:off x="6350508" y="4873752"/>
            <a:ext cx="2329434"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Re-run</a:t>
            </a:r>
          </a:p>
        </p:txBody>
      </p:sp>
      <p:sp>
        <p:nvSpPr>
          <p:cNvPr id="217" name="Text 218"/>
          <p:cNvSpPr/>
          <p:nvPr/>
        </p:nvSpPr>
        <p:spPr>
          <a:xfrm>
            <a:off x="6350508" y="5102352"/>
            <a:ext cx="2329434" cy="640080"/>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Execute the same assertions against the generated data that were last run against production.</a:t>
            </a:r>
          </a:p>
        </p:txBody>
      </p:sp>
      <p:sp>
        <p:nvSpPr>
          <p:cNvPr id="219" name="Shape 220"/>
          <p:cNvSpPr/>
          <p:nvPr/>
        </p:nvSpPr>
        <p:spPr>
          <a:xfrm>
            <a:off x="9027414" y="4389120"/>
            <a:ext cx="2658618" cy="1444752"/>
          </a:xfrm>
          <a:prstGeom prst="roundRect">
            <a:avLst>
              <a:gd name="adj" fmla="val 7778"/>
            </a:avLst>
          </a:prstGeom>
          <a:solidFill>
            <a:srgbClr val="FFFFFF"/>
          </a:solidFill>
          <a:ln w="12700">
            <a:solidFill>
              <a:srgbClr val="D8E0E4"/>
            </a:solidFill>
            <a:prstDash val="solid"/>
          </a:ln>
        </p:spPr>
      </p:sp>
      <p:sp>
        <p:nvSpPr>
          <p:cNvPr id="221" name="Shape 222"/>
          <p:cNvSpPr/>
          <p:nvPr/>
        </p:nvSpPr>
        <p:spPr>
          <a:xfrm>
            <a:off x="9192006" y="4526280"/>
            <a:ext cx="256032" cy="256032"/>
          </a:xfrm>
          <a:prstGeom prst="ellipse">
            <a:avLst/>
          </a:prstGeom>
          <a:solidFill>
            <a:srgbClr val="E3F0EF"/>
          </a:solidFill>
          <a:ln w="12700">
            <a:solidFill>
              <a:srgbClr val="E3F0EF"/>
            </a:solidFill>
            <a:prstDash val="solid"/>
          </a:ln>
        </p:spPr>
      </p:sp>
      <p:sp>
        <p:nvSpPr>
          <p:cNvPr id="223" name="Text 224"/>
          <p:cNvSpPr/>
          <p:nvPr/>
        </p:nvSpPr>
        <p:spPr>
          <a:xfrm>
            <a:off x="9192006" y="452628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4</a:t>
            </a:r>
          </a:p>
        </p:txBody>
      </p:sp>
      <p:sp>
        <p:nvSpPr>
          <p:cNvPr id="225" name="Text 226"/>
          <p:cNvSpPr/>
          <p:nvPr/>
        </p:nvSpPr>
        <p:spPr>
          <a:xfrm>
            <a:off x="9192006" y="4873752"/>
            <a:ext cx="2329434"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Compare</a:t>
            </a:r>
          </a:p>
        </p:txBody>
      </p:sp>
      <p:sp>
        <p:nvSpPr>
          <p:cNvPr id="227" name="Text 228"/>
          <p:cNvSpPr/>
          <p:nvPr/>
        </p:nvSpPr>
        <p:spPr>
          <a:xfrm>
            <a:off x="9192006" y="5102352"/>
            <a:ext cx="2329434" cy="640080"/>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Does the generated run reach the same verdict? Where it does not, understand why before widening scope.</a:t>
            </a:r>
          </a:p>
        </p:txBody>
      </p:sp>
      <p:sp>
        <p:nvSpPr>
          <p:cNvPr id="229" name="Text 230"/>
          <p:cNvSpPr/>
          <p:nvPr/>
        </p:nvSpPr>
        <p:spPr>
          <a:xfrm>
            <a:off x="502920" y="6181344"/>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The measure of the proof of concept is not whether data can be generated at volume — it is whether a test that passes or fails on generated data reaches the same verdict as the same test on production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1949</TotalTime>
  <Words>2415</Words>
  <Application>Microsoft Office PowerPoint</Application>
  <PresentationFormat>Widescreen</PresentationFormat>
  <Paragraphs>242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Test Strategy</dc:creator>
  <cp:lastModifiedBy>abhitanshu</cp:lastModifiedBy>
  <cp:revision>3</cp:revision>
  <dcterms:created xsi:type="dcterms:W3CDTF">2026-08-17T09:59:29Z</dcterms:created>
  <dcterms:modified xsi:type="dcterms:W3CDTF">2026-08-18T18:29:52Z</dcterms:modified>
</cp:coreProperties>
</file>