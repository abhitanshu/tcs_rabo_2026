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14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5B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</a:rPr>
              <a:t>n-Bridge Information Factory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E1F5EE"/>
                </a:solidFill>
              </a:rPr>
              <a:t>Orchestration Platform for Verified Risk Metrics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0" y="3657600"/>
            <a:ext cx="850392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2976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1F5EE"/>
                </a:solidFill>
              </a:rPr>
              <a:t>The Azure-native orchestration and governance layer that sits between GRFD and CAS,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1F5EE"/>
                </a:solidFill>
              </a:rPr>
              <a:t>executes end-to-end model chains, enforces inspection/sign-off controls, and delivers verified metrics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D5B9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Fundamental Shift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888780"/>
                </a:solidFill>
              </a:rPr>
              <a:t>Why nBIF exists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solidFill>
            <a:srgbClr val="E6F1FB"/>
          </a:solidFill>
          <a:ln w="25400">
            <a:solidFill>
              <a:srgbClr val="1D5B9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D5B9B"/>
                </a:solidFill>
              </a:rPr>
              <a:t>Tribe Credit Analytics is moving from...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926080"/>
            <a:ext cx="10332720" cy="45720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92608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9534F"/>
                </a:solidFill>
              </a:rPr>
              <a:t>❌ "Providing Calculations" (IRB, RWA, ECL)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760720" y="35661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85A30"/>
                </a:solidFill>
              </a:rPr>
              <a:t>TO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411480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6E56"/>
                </a:solidFill>
              </a:rPr>
              <a:t>✅ "Delivering Verified Risk Metrics"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4846320"/>
            <a:ext cx="11247120" cy="1645920"/>
          </a:xfrm>
          <a:prstGeom prst="rect">
            <a:avLst/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9834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5B9B"/>
                </a:solidFill>
              </a:rPr>
              <a:t>This single architectural shift transforms ownership: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53492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C2A"/>
                </a:solidFill>
              </a:rPr>
              <a:t>GRFD owns data • CAS owns calculation • nBIF owns orchestration, approval, and delivery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C2C2A"/>
                </a:solidFill>
              </a:rPr>
              <a:t>Result: Complete lineage, unified governance, and verified metrics reaching customers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D5B9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Current State vs. Target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888780"/>
                </a:solidFill>
              </a:rPr>
              <a:t>The transformation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85A30"/>
                </a:solidFill>
              </a:rPr>
              <a:t>CURRENT: Fragmented orchestration</a:t>
            </a:r>
            <a:endParaRPr lang="en-US" sz="1400" dirty="0"/>
          </a:p>
        </p:txBody>
      </p:sp>
      <p:pic>
        <p:nvPicPr>
          <p:cNvPr id="6" name="Image 0" descr="/home/claude/current_stat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31720"/>
            <a:ext cx="5394960" cy="3200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09360" y="19202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6E56"/>
                </a:solidFill>
              </a:rPr>
              <a:t>TARGET: Unified nBIF platform</a:t>
            </a:r>
            <a:endParaRPr lang="en-US" sz="1400" dirty="0"/>
          </a:p>
        </p:txBody>
      </p:sp>
      <p:pic>
        <p:nvPicPr>
          <p:cNvPr id="8" name="Image 1" descr="/home/claude/target_state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331720"/>
            <a:ext cx="539496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D5B9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Six Core Functions of nBIF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888780"/>
                </a:solidFill>
              </a:rPr>
              <a:t>What nBIF actually does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47120" cy="411480"/>
          </a:xfrm>
          <a:prstGeom prst="rect">
            <a:avLst/>
          </a:prstGeom>
          <a:solidFill>
            <a:srgbClr val="E6F1FB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856232"/>
            <a:ext cx="347472" cy="347472"/>
          </a:xfrm>
          <a:prstGeom prst="ellipse">
            <a:avLst/>
          </a:prstGeom>
          <a:solidFill>
            <a:srgbClr val="1D5B9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8562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85623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2A"/>
                </a:solidFill>
              </a:rPr>
              <a:t>Data Acquisition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048256"/>
            <a:ext cx="10241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780"/>
                </a:solidFill>
              </a:rPr>
              <a:t>Gather inputs from GRFD, CADDI, Meister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11247120" cy="411480"/>
          </a:xfrm>
          <a:prstGeom prst="rect">
            <a:avLst/>
          </a:prstGeom>
          <a:solidFill>
            <a:srgbClr val="EAF3DE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404872"/>
            <a:ext cx="347472" cy="347472"/>
          </a:xfrm>
          <a:prstGeom prst="ellipse">
            <a:avLst/>
          </a:prstGeom>
          <a:solidFill>
            <a:srgbClr val="1D5B9B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4048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40487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2A"/>
                </a:solidFill>
              </a:rPr>
              <a:t>Workflow Orchestration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596896"/>
            <a:ext cx="10241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780"/>
                </a:solidFill>
              </a:rPr>
              <a:t>Control execution sequence: IRB→RWA→ECL→ST→RAROC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11247120" cy="411480"/>
          </a:xfrm>
          <a:prstGeom prst="rect">
            <a:avLst/>
          </a:prstGeom>
          <a:solidFill>
            <a:srgbClr val="E6F1FB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2953512"/>
            <a:ext cx="347472" cy="347472"/>
          </a:xfrm>
          <a:prstGeom prst="ellipse">
            <a:avLst/>
          </a:prstGeom>
          <a:solidFill>
            <a:srgbClr val="1D5B9B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9535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295351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2A"/>
                </a:solidFill>
              </a:rPr>
              <a:t>Inspection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145536"/>
            <a:ext cx="10241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780"/>
                </a:solidFill>
              </a:rPr>
              <a:t>Business users review data, outputs, trends, plausibility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11247120" cy="411480"/>
          </a:xfrm>
          <a:prstGeom prst="rect">
            <a:avLst/>
          </a:prstGeom>
          <a:solidFill>
            <a:srgbClr val="EAF3DE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502152"/>
            <a:ext cx="347472" cy="347472"/>
          </a:xfrm>
          <a:prstGeom prst="ellipse">
            <a:avLst/>
          </a:prstGeom>
          <a:solidFill>
            <a:srgbClr val="1D5B9B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5021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50215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2A"/>
                </a:solidFill>
              </a:rPr>
              <a:t>Sign-off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3694176"/>
            <a:ext cx="10241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780"/>
                </a:solidFill>
              </a:rPr>
              <a:t>Atomic approval gate—entire chain or nothing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023360"/>
            <a:ext cx="11247120" cy="411480"/>
          </a:xfrm>
          <a:prstGeom prst="rect">
            <a:avLst/>
          </a:prstGeom>
          <a:solidFill>
            <a:srgbClr val="E6F1FB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4050792"/>
            <a:ext cx="347472" cy="347472"/>
          </a:xfrm>
          <a:prstGeom prst="ellipse">
            <a:avLst/>
          </a:prstGeom>
          <a:solidFill>
            <a:srgbClr val="1D5B9B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40507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405079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2A"/>
                </a:solidFill>
              </a:rPr>
              <a:t>Delivery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97280" y="4242816"/>
            <a:ext cx="10241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780"/>
                </a:solidFill>
              </a:rPr>
              <a:t>Push verified metrics to CRPR, CFO Hub, reporters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572000"/>
            <a:ext cx="11247120" cy="411480"/>
          </a:xfrm>
          <a:prstGeom prst="rect">
            <a:avLst/>
          </a:prstGeom>
          <a:solidFill>
            <a:srgbClr val="EAF3DE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" y="4599432"/>
            <a:ext cx="347472" cy="347472"/>
          </a:xfrm>
          <a:prstGeom prst="ellipse">
            <a:avLst/>
          </a:prstGeom>
          <a:solidFill>
            <a:srgbClr val="1D5B9B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45994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97280" y="459943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2C2A"/>
                </a:solidFill>
              </a:rPr>
              <a:t>Historical Storage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97280" y="4791456"/>
            <a:ext cx="10241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780"/>
                </a:solidFill>
              </a:rPr>
              <a:t>Keep audit trail, validation history, comparison data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D5B9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Ownership &amp; Responsibilities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888780"/>
                </a:solidFill>
              </a:rPr>
              <a:t>Clear separation of concerns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47120" cy="41148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9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Capability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B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B9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Responsibility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B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</a:rPr>
                        <a:t>Data Warehousing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C2C2A"/>
                          </a:solidFill>
                        </a:rPr>
                        <a:t>GRFD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</a:rPr>
                        <a:t>Source of truth for all data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</a:rPr>
                        <a:t>Model Calculation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C2C2A"/>
                          </a:solidFill>
                        </a:rPr>
                        <a:t>CAS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</a:rPr>
                        <a:t>Execute IRB, RWA, ECL, ST, RAROC computations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</a:rPr>
                        <a:t>Model Orchestration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C2C2A"/>
                          </a:solidFill>
                        </a:rPr>
                        <a:t>nBIF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</a:rPr>
                        <a:t>Sequence models, manage dependencies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</a:rPr>
                        <a:t>Inspection &amp; Approval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C2C2A"/>
                          </a:solidFill>
                        </a:rPr>
                        <a:t>nBIF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</a:rPr>
                        <a:t>Business user review and sign-off gate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</a:rPr>
                        <a:t>Delivery of Verified Metrics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C2C2A"/>
                          </a:solidFill>
                        </a:rPr>
                        <a:t>nBIF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</a:rPr>
                        <a:t>Push to CRPR, CFO Hub, reporting platforms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5B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D5B9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Atomic Approval Philosophy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888780"/>
                </a:solidFill>
              </a:rPr>
              <a:t>All-or-nothing release principle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394960" cy="1097280"/>
          </a:xfrm>
          <a:prstGeom prst="rect">
            <a:avLst/>
          </a:prstGeom>
          <a:solidFill>
            <a:srgbClr val="E6F1FB"/>
          </a:solidFill>
          <a:ln w="12700">
            <a:solidFill>
              <a:srgbClr val="1D5B9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6596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5B9B"/>
                </a:solidFill>
              </a:rPr>
              <a:t>Example Run Results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A"/>
                </a:solidFill>
              </a:rPr>
              <a:t>IRB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03120" y="228600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</a:rPr>
              <a:t>✅ Approved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606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A"/>
                </a:solidFill>
              </a:rPr>
              <a:t>RWA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03120" y="260604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</a:rPr>
              <a:t>✅ Approved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9260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A"/>
                </a:solidFill>
              </a:rPr>
              <a:t>IFRS9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03120" y="292608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534F"/>
                </a:solidFill>
              </a:rPr>
              <a:t>❌ Rejected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20040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85A30"/>
                </a:solidFill>
              </a:rPr>
              <a:t>OUTCOME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3520440"/>
            <a:ext cx="4663440" cy="548640"/>
          </a:xfrm>
          <a:prstGeom prst="rect">
            <a:avLst/>
          </a:prstGeom>
          <a:solidFill>
            <a:srgbClr val="F5DDD4"/>
          </a:solidFill>
          <a:ln w="25400">
            <a:solidFill>
              <a:srgbClr val="D953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5204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534F"/>
                </a:solidFill>
              </a:rPr>
              <a:t>❌ NOTHING RELEASED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42062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C2C2A"/>
                </a:solidFill>
              </a:rPr>
              <a:t>Entire chain must pass before publication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1828800"/>
            <a:ext cx="5394960" cy="3749040"/>
          </a:xfrm>
          <a:prstGeom prst="rect">
            <a:avLst/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196596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E56"/>
                </a:solidFill>
              </a:rPr>
              <a:t>Why This Design?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23774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2C2A"/>
                </a:solidFill>
              </a:rPr>
              <a:t>Prevents inconsistent reporting to regulators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27889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2C2A"/>
                </a:solidFill>
              </a:rPr>
              <a:t>Avoids COREP/FINREP data mismatches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75120" y="32004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2C2A"/>
                </a:solidFill>
              </a:rPr>
              <a:t>Stops partial or incorrect data publication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3611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2C2A"/>
                </a:solidFill>
              </a:rPr>
              <a:t>Ensures lineage is always complete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75120" y="40233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2C2A"/>
                </a:solidFill>
              </a:rPr>
              <a:t>Maintains data integrity across all systems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D5B9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Portfolio Strategy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888780"/>
                </a:solidFill>
              </a:rPr>
              <a:t>One nBIF per portfolio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5B9B"/>
                </a:solidFill>
              </a:rPr>
              <a:t>Independent nBIF Instances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3657600" cy="502920"/>
          </a:xfrm>
          <a:prstGeom prst="rect">
            <a:avLst/>
          </a:prstGeom>
          <a:solidFill>
            <a:srgbClr val="E6F1FB"/>
          </a:solidFill>
          <a:ln w="12700">
            <a:solidFill>
              <a:srgbClr val="1D5B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505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5B9B"/>
                </a:solidFill>
              </a:rPr>
              <a:t>RSME nBIF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06240" y="2377440"/>
            <a:ext cx="3657600" cy="502920"/>
          </a:xfrm>
          <a:prstGeom prst="rect">
            <a:avLst/>
          </a:prstGeom>
          <a:solidFill>
            <a:srgbClr val="E6F1FB"/>
          </a:solidFill>
          <a:ln w="12700">
            <a:solidFill>
              <a:srgbClr val="1D5B9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24505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5B9B"/>
                </a:solidFill>
              </a:rPr>
              <a:t>RMM nBIF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55280" y="2377440"/>
            <a:ext cx="3657600" cy="502920"/>
          </a:xfrm>
          <a:prstGeom prst="rect">
            <a:avLst/>
          </a:prstGeom>
          <a:solidFill>
            <a:srgbClr val="E6F1FB"/>
          </a:solidFill>
          <a:ln w="12700">
            <a:solidFill>
              <a:srgbClr val="1D5B9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0" y="24505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5B9B"/>
                </a:solidFill>
              </a:rPr>
              <a:t>Corporate nBIF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3657600" cy="502920"/>
          </a:xfrm>
          <a:prstGeom prst="rect">
            <a:avLst/>
          </a:prstGeom>
          <a:solidFill>
            <a:srgbClr val="E6F1FB"/>
          </a:solidFill>
          <a:ln w="12700">
            <a:solidFill>
              <a:srgbClr val="1D5B9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3649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5B9B"/>
                </a:solidFill>
              </a:rPr>
              <a:t>Rural nBIF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06240" y="3291840"/>
            <a:ext cx="3657600" cy="502920"/>
          </a:xfrm>
          <a:prstGeom prst="rect">
            <a:avLst/>
          </a:prstGeom>
          <a:solidFill>
            <a:srgbClr val="E6F1FB"/>
          </a:solidFill>
          <a:ln w="12700">
            <a:solidFill>
              <a:srgbClr val="1D5B9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33649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5B9B"/>
                </a:solidFill>
              </a:rPr>
              <a:t>SL&amp;I nBIF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55280" y="3291840"/>
            <a:ext cx="3657600" cy="502920"/>
          </a:xfrm>
          <a:prstGeom prst="rect">
            <a:avLst/>
          </a:prstGeom>
          <a:solidFill>
            <a:srgbClr val="E6F1FB"/>
          </a:solidFill>
          <a:ln w="12700">
            <a:solidFill>
              <a:srgbClr val="1D5B9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33649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5B9B"/>
                </a:solidFill>
              </a:rPr>
              <a:t>Obvion nBIF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9319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780"/>
                </a:solidFill>
              </a:rPr>
              <a:t>Each runs independently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3891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</a:rPr>
              <a:t>Simpler architecture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26080" y="438912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A"/>
                </a:solidFill>
              </a:rPr>
              <a:t>Less coupling, easier to manage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47548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</a:rPr>
              <a:t>Clear ownership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926080" y="475488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A"/>
                </a:solidFill>
              </a:rPr>
              <a:t>Portfolio team owns their instance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51206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</a:rPr>
              <a:t>Independent deployments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26080" y="512064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A"/>
                </a:solidFill>
              </a:rPr>
              <a:t>Release without affecting others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54864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</a:rPr>
              <a:t>Faster onboarding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926080" y="548640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A"/>
                </a:solidFill>
              </a:rPr>
              <a:t>Portfolio-specific migration path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58521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</a:rPr>
              <a:t>Lower risk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926080" y="585216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A"/>
                </a:solidFill>
              </a:rPr>
              <a:t>Isolated blast radius during issues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D5B9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Architectural Components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888780"/>
                </a:solidFill>
              </a:rPr>
              <a:t>What makes up nBIF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1247120" cy="457200"/>
          </a:xfrm>
          <a:prstGeom prst="rect">
            <a:avLst/>
          </a:prstGeom>
          <a:solidFill>
            <a:srgbClr val="E6F1FB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745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5B9B"/>
                </a:solidFill>
              </a:rPr>
              <a:t>nBIF Platform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18745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A"/>
                </a:solidFill>
              </a:rPr>
              <a:t>Shared standards, infra-as-code, security, reusable services across all portfolios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11247120" cy="457200"/>
          </a:xfrm>
          <a:prstGeom prst="rect">
            <a:avLst/>
          </a:prstGeom>
          <a:solidFill>
            <a:srgbClr val="EAF3DE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46888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5B9B"/>
                </a:solidFill>
              </a:rPr>
              <a:t>nBIF Instance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24688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A"/>
                </a:solidFill>
              </a:rPr>
              <a:t>Portfolio-specific application (e.g., RSME nBIF, RMM nBIF running independently)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solidFill>
            <a:srgbClr val="E6F1FB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06324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5B9B"/>
                </a:solidFill>
              </a:rPr>
              <a:t>Model Factories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30632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A"/>
                </a:solidFill>
              </a:rPr>
              <a:t>Isolated workspace per model (IRB Factory, RWA Factory, ECL Factory, ST Factory, RAROC Factory)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11247120" cy="457200"/>
          </a:xfrm>
          <a:prstGeom prst="rect">
            <a:avLst/>
          </a:prstGeom>
          <a:solidFill>
            <a:srgbClr val="EAF3DE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6576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5B9B"/>
                </a:solidFill>
              </a:rPr>
              <a:t>nBIF 365 UI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0" y="36576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A"/>
                </a:solidFill>
              </a:rPr>
              <a:t>Unified front-end for inspection, sign-off, corrections, ad-hoc runs, approvals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206240"/>
            <a:ext cx="11247120" cy="457200"/>
          </a:xfrm>
          <a:prstGeom prst="rect">
            <a:avLst/>
          </a:prstGeom>
          <a:solidFill>
            <a:srgbClr val="E6F1FB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2519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5B9B"/>
                </a:solidFill>
              </a:rPr>
              <a:t>Common Data Cache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0" y="42519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A"/>
                </a:solidFill>
              </a:rPr>
              <a:t>Shared datasets loaded once: macro scenarios, transaction history, balance data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D5B9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Supported Models &amp; Units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888780"/>
                </a:solidFill>
              </a:rPr>
              <a:t>Long-term target scope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834640" cy="3474720"/>
          </a:xfrm>
          <a:prstGeom prst="rect">
            <a:avLst/>
          </a:prstGeom>
          <a:solidFill>
            <a:srgbClr val="E6F1FB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48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5B9B"/>
                </a:solidFill>
              </a:rPr>
              <a:t>UT5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ctr">
              <a:buSzPct val="100000"/>
              <a:buChar char="•"/>
            </a:pPr>
            <a:r>
              <a:rPr lang="en-US" sz="1200" dirty="0">
                <a:solidFill>
                  <a:srgbClr val="2C2C2A"/>
                </a:solidFill>
              </a:rPr>
              <a:t>IRB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ctr">
              <a:buSzPct val="100000"/>
              <a:buChar char="•"/>
            </a:pPr>
            <a:r>
              <a:rPr lang="en-US" sz="1200" dirty="0">
                <a:solidFill>
                  <a:srgbClr val="2C2C2A"/>
                </a:solidFill>
              </a:rPr>
              <a:t>RWA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ctr">
              <a:buSzPct val="100000"/>
              <a:buChar char="•"/>
            </a:pPr>
            <a:r>
              <a:rPr lang="en-US" sz="1200" dirty="0">
                <a:solidFill>
                  <a:srgbClr val="2C2C2A"/>
                </a:solidFill>
              </a:rPr>
              <a:t>Basel IV SA-RWA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29000" y="2011680"/>
            <a:ext cx="2834640" cy="3474720"/>
          </a:xfrm>
          <a:prstGeom prst="rect">
            <a:avLst/>
          </a:prstGeom>
          <a:solidFill>
            <a:srgbClr val="EAF3DE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2148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5B9B"/>
                </a:solidFill>
              </a:rPr>
              <a:t>UT8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03320" y="2651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ctr">
              <a:buSzPct val="100000"/>
              <a:buChar char="•"/>
            </a:pPr>
            <a:r>
              <a:rPr lang="en-US" sz="1200" dirty="0">
                <a:solidFill>
                  <a:srgbClr val="2C2C2A"/>
                </a:solidFill>
              </a:rPr>
              <a:t>Stress Testing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2011680"/>
            <a:ext cx="2834640" cy="3474720"/>
          </a:xfrm>
          <a:prstGeom prst="rect">
            <a:avLst/>
          </a:prstGeom>
          <a:solidFill>
            <a:srgbClr val="E1F5EE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148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5B9B"/>
                </a:solidFill>
              </a:rPr>
              <a:t>UT9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75120" y="2651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ctr">
              <a:buSzPct val="100000"/>
              <a:buChar char="•"/>
            </a:pPr>
            <a:r>
              <a:rPr lang="en-US" sz="1200" dirty="0">
                <a:solidFill>
                  <a:srgbClr val="2C2C2A"/>
                </a:solidFill>
              </a:rPr>
              <a:t>IFRS9/ECL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372600" y="2011680"/>
            <a:ext cx="2834640" cy="3474720"/>
          </a:xfrm>
          <a:prstGeom prst="rect">
            <a:avLst/>
          </a:prstGeom>
          <a:solidFill>
            <a:srgbClr val="F5DDD4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55480" y="2148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5B9B"/>
                </a:solidFill>
              </a:rPr>
              <a:t>Additional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46920" y="2651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ctr">
              <a:buSzPct val="100000"/>
              <a:buChar char="•"/>
            </a:pPr>
            <a:r>
              <a:rPr lang="en-US" sz="1200" dirty="0">
                <a:solidFill>
                  <a:srgbClr val="2C2C2A"/>
                </a:solidFill>
              </a:rPr>
              <a:t>RAROC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46920" y="3063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ctr">
              <a:buSzPct val="100000"/>
              <a:buChar char="•"/>
            </a:pPr>
            <a:r>
              <a:rPr lang="en-US" sz="1200" dirty="0">
                <a:solidFill>
                  <a:srgbClr val="2C2C2A"/>
                </a:solidFill>
              </a:rPr>
              <a:t>BRDD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D5B9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What nBIF Is NOT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888780"/>
                </a:solidFill>
              </a:rPr>
              <a:t>Clarity on scope and boundaries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124712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933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534F"/>
                </a:solidFill>
              </a:rPr>
              <a:t>❌ Data Warehouse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0" y="199339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A"/>
                </a:solidFill>
              </a:rPr>
              <a:t>GRFD is the authoritative source; nBIF passes data through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124712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6791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534F"/>
                </a:solidFill>
              </a:rPr>
              <a:t>❌ Calculator Platform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0" y="267919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A"/>
                </a:solidFill>
              </a:rPr>
              <a:t>CAS owns model computation; nBIF orchestrates CAS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1124712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3649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534F"/>
                </a:solidFill>
              </a:rPr>
              <a:t>❌ Reporting Tool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0" y="336499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A"/>
                </a:solidFill>
              </a:rPr>
              <a:t>Power BI and other tools consume nBIF outputs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977640"/>
            <a:ext cx="1124712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507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534F"/>
                </a:solidFill>
              </a:rPr>
              <a:t>❌ Transactional System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0" y="405079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A"/>
                </a:solidFill>
              </a:rPr>
              <a:t>nBIF is batch orchestration, not real-time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846320"/>
            <a:ext cx="11247120" cy="1645920"/>
          </a:xfrm>
          <a:prstGeom prst="rect">
            <a:avLst/>
          </a:prstGeom>
          <a:solidFill>
            <a:srgbClr val="EAF3DE"/>
          </a:solidFill>
          <a:ln w="25400">
            <a:solidFill>
              <a:srgbClr val="0F6E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9834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6E56"/>
                </a:solidFill>
              </a:rPr>
              <a:t>nBIF IS: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534924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E56"/>
                </a:solidFill>
              </a:rPr>
              <a:t>✅ Orchestration Platform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566928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E56"/>
                </a:solidFill>
              </a:rPr>
              <a:t>✅ Workflow Engine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598932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E56"/>
                </a:solidFill>
              </a:rPr>
              <a:t>✅ Data Logistics Platform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534924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E56"/>
                </a:solidFill>
              </a:rPr>
              <a:t>✅ Approval &amp; Sign-off Platform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566928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E56"/>
                </a:solidFill>
              </a:rPr>
              <a:t>✅ Risk Metric Delivery Platform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598932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E56"/>
                </a:solidFill>
              </a:rPr>
              <a:t>✅ Governance &amp; Lineage Platform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D5B9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Monthly Batch Execution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888780"/>
                </a:solidFill>
              </a:rPr>
              <a:t>End-to-end flow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1247120" cy="384048"/>
          </a:xfrm>
          <a:prstGeom prst="rect">
            <a:avLst/>
          </a:prstGeom>
          <a:solidFill>
            <a:srgbClr val="E6F1FB"/>
          </a:solidFill>
          <a:ln w="12700">
            <a:solidFill>
              <a:srgbClr val="1D5B9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947672"/>
            <a:ext cx="329184" cy="329184"/>
          </a:xfrm>
          <a:prstGeom prst="ellipse">
            <a:avLst/>
          </a:prstGeom>
          <a:solidFill>
            <a:srgbClr val="1D5B9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9476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975104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A"/>
                </a:solidFill>
              </a:rPr>
              <a:t>GRFD triggers n-Bridge run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50592"/>
            <a:ext cx="11247120" cy="384048"/>
          </a:xfrm>
          <a:prstGeom prst="rect">
            <a:avLst/>
          </a:prstGeom>
          <a:solidFill>
            <a:srgbClr val="EAF3DE"/>
          </a:solidFill>
          <a:ln w="12700">
            <a:solidFill>
              <a:srgbClr val="1D5B9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478024"/>
            <a:ext cx="329184" cy="329184"/>
          </a:xfrm>
          <a:prstGeom prst="ellipse">
            <a:avLst/>
          </a:prstGeom>
          <a:solidFill>
            <a:srgbClr val="1D5B9B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4780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2505456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A"/>
                </a:solidFill>
              </a:rPr>
              <a:t>Data acquired via CADDI, Meister, GRFD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80944"/>
            <a:ext cx="11247120" cy="384048"/>
          </a:xfrm>
          <a:prstGeom prst="rect">
            <a:avLst/>
          </a:prstGeom>
          <a:solidFill>
            <a:srgbClr val="E6F1FB"/>
          </a:solidFill>
          <a:ln w="12700">
            <a:solidFill>
              <a:srgbClr val="1D5B9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3008376"/>
            <a:ext cx="329184" cy="329184"/>
          </a:xfrm>
          <a:prstGeom prst="ellipse">
            <a:avLst/>
          </a:prstGeom>
          <a:solidFill>
            <a:srgbClr val="1D5B9B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0083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3035808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A"/>
                </a:solidFill>
              </a:rPr>
              <a:t>Orchestrator sequences: IRB → RWA → ECL → ST → RAROC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511296"/>
            <a:ext cx="11247120" cy="384048"/>
          </a:xfrm>
          <a:prstGeom prst="rect">
            <a:avLst/>
          </a:prstGeom>
          <a:solidFill>
            <a:srgbClr val="EAF3DE"/>
          </a:solidFill>
          <a:ln w="12700">
            <a:solidFill>
              <a:srgbClr val="1D5B9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3538728"/>
            <a:ext cx="329184" cy="329184"/>
          </a:xfrm>
          <a:prstGeom prst="ellipse">
            <a:avLst/>
          </a:prstGeom>
          <a:solidFill>
            <a:srgbClr val="1D5B9B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5387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356616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A"/>
                </a:solidFill>
              </a:rPr>
              <a:t>Business users inspect outputs, trends, plausibility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041648"/>
            <a:ext cx="11247120" cy="384048"/>
          </a:xfrm>
          <a:prstGeom prst="rect">
            <a:avLst/>
          </a:prstGeom>
          <a:solidFill>
            <a:srgbClr val="E6F1FB"/>
          </a:solidFill>
          <a:ln w="12700">
            <a:solidFill>
              <a:srgbClr val="1D5B9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4069080"/>
            <a:ext cx="329184" cy="329184"/>
          </a:xfrm>
          <a:prstGeom prst="ellipse">
            <a:avLst/>
          </a:prstGeom>
          <a:solidFill>
            <a:srgbClr val="1D5B9B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40690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4096512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A"/>
                </a:solidFill>
              </a:rPr>
              <a:t>Sign-off gate: atomic approval (all pass or all fail)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572000"/>
            <a:ext cx="11247120" cy="384048"/>
          </a:xfrm>
          <a:prstGeom prst="rect">
            <a:avLst/>
          </a:prstGeom>
          <a:solidFill>
            <a:srgbClr val="EAF3DE"/>
          </a:solidFill>
          <a:ln w="12700">
            <a:solidFill>
              <a:srgbClr val="1D5B9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4599432"/>
            <a:ext cx="329184" cy="329184"/>
          </a:xfrm>
          <a:prstGeom prst="ellipse">
            <a:avLst/>
          </a:prstGeom>
          <a:solidFill>
            <a:srgbClr val="1D5B9B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45994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0" y="4626864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A"/>
                </a:solidFill>
              </a:rPr>
              <a:t>Deliver verified metrics to CRPR, CFO Hub, reporters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D5B9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Technology Stack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888780"/>
                </a:solidFill>
              </a:rPr>
              <a:t>Azure-first architecture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5B9B"/>
                </a:solidFill>
              </a:rPr>
              <a:t>Everything is built on Microsoft Azure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5394960" cy="457200"/>
          </a:xfrm>
          <a:prstGeom prst="rect">
            <a:avLst/>
          </a:prstGeom>
          <a:solidFill>
            <a:srgbClr val="E6F1FB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50592"/>
            <a:ext cx="4846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5B9B"/>
                </a:solidFill>
              </a:rPr>
              <a:t>Database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4846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</a:rPr>
              <a:t>Azure SQL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5394960" cy="457200"/>
          </a:xfrm>
          <a:prstGeom prst="rect">
            <a:avLst/>
          </a:prstGeom>
          <a:solidFill>
            <a:srgbClr val="E6F1FB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044952"/>
            <a:ext cx="4846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5B9B"/>
                </a:solidFill>
              </a:rPr>
              <a:t>ETL / Integration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4846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</a:rPr>
              <a:t>Azure Data Factory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5394960" cy="457200"/>
          </a:xfrm>
          <a:prstGeom prst="rect">
            <a:avLst/>
          </a:prstGeom>
          <a:solidFill>
            <a:srgbClr val="E6F1FB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639312"/>
            <a:ext cx="4846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5B9B"/>
                </a:solidFill>
              </a:rPr>
              <a:t>Workflow Orchestration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794760"/>
            <a:ext cx="4846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</a:rPr>
              <a:t>Logic Apps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160520"/>
            <a:ext cx="5394960" cy="457200"/>
          </a:xfrm>
          <a:prstGeom prst="rect">
            <a:avLst/>
          </a:prstGeom>
          <a:solidFill>
            <a:srgbClr val="E6F1FB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233672"/>
            <a:ext cx="4846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5B9B"/>
                </a:solidFill>
              </a:rPr>
              <a:t>User Interface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389120"/>
            <a:ext cx="4846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</a:rPr>
              <a:t>Azure Web App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754880"/>
            <a:ext cx="5394960" cy="457200"/>
          </a:xfrm>
          <a:prstGeom prst="rect">
            <a:avLst/>
          </a:prstGeom>
          <a:solidFill>
            <a:srgbClr val="E6F1FB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828032"/>
            <a:ext cx="4846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5B9B"/>
                </a:solidFill>
              </a:rPr>
              <a:t>Reporting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983480"/>
            <a:ext cx="4846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</a:rPr>
              <a:t>Power BI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349240"/>
            <a:ext cx="5394960" cy="457200"/>
          </a:xfrm>
          <a:prstGeom prst="rect">
            <a:avLst/>
          </a:prstGeom>
          <a:solidFill>
            <a:srgbClr val="E6F1FB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422392"/>
            <a:ext cx="4846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5B9B"/>
                </a:solidFill>
              </a:rPr>
              <a:t>Identity &amp; Security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5577840"/>
            <a:ext cx="4846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</a:rPr>
              <a:t>Azure AD, SSO, RBAC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2377440"/>
            <a:ext cx="5303520" cy="3840480"/>
          </a:xfrm>
          <a:prstGeom prst="rect">
            <a:avLst/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251460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E56"/>
                </a:solidFill>
              </a:rPr>
              <a:t>Security &amp; Compliance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0" y="29260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2C2A"/>
                </a:solidFill>
              </a:rPr>
              <a:t>AIC Classification: 223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32918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2C2A"/>
                </a:solidFill>
              </a:rPr>
              <a:t>Authentication: Azure AD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0" y="3657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2C2A"/>
                </a:solidFill>
              </a:rPr>
              <a:t>Authorization: RBAC via AD Groups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0" y="4023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2C2A"/>
                </a:solidFill>
              </a:rPr>
              <a:t>Service Accounts: Managed identities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43891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2C2A"/>
                </a:solidFill>
              </a:rPr>
              <a:t>Controls: SoX compliance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0" y="4754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2C2A"/>
                </a:solidFill>
              </a:rPr>
              <a:t>Audit: Comprehensive logging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D5B9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Implementation Roadmap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888780"/>
                </a:solidFill>
              </a:rPr>
              <a:t>Phased portfolio rollout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1247120" cy="502920"/>
          </a:xfrm>
          <a:prstGeom prst="rect">
            <a:avLst/>
          </a:prstGeom>
          <a:solidFill>
            <a:srgbClr val="FFE6D9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9339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5B9B"/>
                </a:solidFill>
              </a:rPr>
              <a:t>MVP / Release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19933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A"/>
                </a:solidFill>
              </a:rPr>
              <a:t>RSME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863840" y="1979676"/>
            <a:ext cx="3749040" cy="429768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0" y="1979676"/>
            <a:ext cx="37490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 Progress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11247120" cy="502920"/>
          </a:xfrm>
          <a:prstGeom prst="rect">
            <a:avLst/>
          </a:prstGeom>
          <a:solidFill>
            <a:srgbClr val="E1F5EE"/>
          </a:solidFill>
          <a:ln w="12700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1" name="Text 9"/>
          <p:cNvSpPr/>
          <p:nvPr/>
        </p:nvSpPr>
        <p:spPr>
          <a:xfrm>
            <a:off x="731520" y="267919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5B9B"/>
                </a:solidFill>
              </a:rPr>
              <a:t>Release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0" y="26791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A"/>
                </a:solidFill>
              </a:rPr>
              <a:t>RMM &amp; Corporate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63840" y="2665476"/>
            <a:ext cx="3749040" cy="42976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0" y="2665476"/>
            <a:ext cx="37490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Q4 2024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11247120" cy="502920"/>
          </a:xfrm>
          <a:prstGeom prst="rect">
            <a:avLst/>
          </a:prstGeom>
          <a:solidFill>
            <a:srgbClr val="E1F5EE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36499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5B9B"/>
                </a:solidFill>
              </a:rPr>
              <a:t>Release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7520" y="33649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A"/>
                </a:solidFill>
              </a:rPr>
              <a:t>Rural, SL&amp;I, </a:t>
            </a:r>
            <a:r>
              <a:rPr lang="en-US" sz="1100" dirty="0" err="1">
                <a:solidFill>
                  <a:srgbClr val="2C2C2A"/>
                </a:solidFill>
              </a:rPr>
              <a:t>Obvion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863840" y="3351276"/>
            <a:ext cx="3749040" cy="42976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0" y="3351276"/>
            <a:ext cx="37490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Q1-Q2 2025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11247120" cy="502920"/>
          </a:xfrm>
          <a:prstGeom prst="rect">
            <a:avLst/>
          </a:prstGeom>
          <a:solidFill>
            <a:srgbClr val="E1F5EE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05079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5B9B"/>
                </a:solidFill>
              </a:rPr>
              <a:t>Release 4+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17520" y="40507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A"/>
                </a:solidFill>
              </a:rPr>
              <a:t>IFRS9, Stress Testing enhancements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863840" y="4037076"/>
            <a:ext cx="3749040" cy="429768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0" y="4037076"/>
            <a:ext cx="37490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Q3+ 2025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846320"/>
            <a:ext cx="11247120" cy="1645920"/>
          </a:xfrm>
          <a:prstGeom prst="rect">
            <a:avLst/>
          </a:prstGeom>
          <a:solidFill>
            <a:srgbClr val="EAF3D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983480"/>
            <a:ext cx="10698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6E56"/>
                </a:solidFill>
              </a:rPr>
              <a:t>Key Principle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" y="53035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2C2A"/>
                </a:solidFill>
              </a:rPr>
              <a:t>Incremental modernization per portfolio, not big-bang transformation. Each portfolio has clear ownership and independent deployment path to minimize risk and enable faster delivery.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D5B9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nBIF Platform Architecture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888780"/>
                </a:solidFill>
              </a:rPr>
              <a:t>Detailed component view</a:t>
            </a:r>
            <a:endParaRPr lang="en-US" sz="1800" dirty="0"/>
          </a:p>
        </p:txBody>
      </p:sp>
      <p:pic>
        <p:nvPicPr>
          <p:cNvPr id="5" name="Image 0" descr="/home/claude/component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828800"/>
            <a:ext cx="94183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D5B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nBIF: The Strategic Shift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828800" y="1417320"/>
            <a:ext cx="850392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0116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From scattered orchestration → unified platform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25146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From calculations → verified risk metrics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From multiple approvals → atomic sign-off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From unclear lineage → complete audit trail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0233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From portfolio isolation → shared platform with independent instances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5262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From manual workflows → automated orchestration with governance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5394960"/>
            <a:ext cx="9418320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554480" y="5532120"/>
            <a:ext cx="9052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5B9B"/>
                </a:solidFill>
              </a:rPr>
              <a:t>One Line Summary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54480" y="5852160"/>
            <a:ext cx="9052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C2C2A"/>
                </a:solidFill>
              </a:rPr>
              <a:t>nBIF is the Azure-native orchestration and governance layer that sits between GRFD and CAS, executes end-to-end credit-risk model chains, enforces inspection/sign-off controls, and delivers verified risk metrics.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892</Words>
  <Application>Microsoft Office PowerPoint</Application>
  <PresentationFormat>Widescreen</PresentationFormat>
  <Paragraphs>215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abhitanshu</cp:lastModifiedBy>
  <cp:revision>2</cp:revision>
  <dcterms:created xsi:type="dcterms:W3CDTF">2026-07-28T13:51:02Z</dcterms:created>
  <dcterms:modified xsi:type="dcterms:W3CDTF">2026-07-28T13:58:20Z</dcterms:modified>
</cp:coreProperties>
</file>