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147475615" r:id="rId2"/>
    <p:sldId id="2147475649" r:id="rId3"/>
    <p:sldId id="2147475650" r:id="rId4"/>
    <p:sldId id="257" r:id="rId5"/>
    <p:sldId id="258" r:id="rId6"/>
    <p:sldId id="265" r:id="rId7"/>
    <p:sldId id="2147475651" r:id="rId8"/>
    <p:sldId id="256" r:id="rId9"/>
    <p:sldId id="263" r:id="rId10"/>
    <p:sldId id="2147475618" r:id="rId11"/>
    <p:sldId id="2147475616" r:id="rId12"/>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1BA1A4-DAF1-4599-834F-2329F2516327}" v="2" dt="2026-09-22T06:40:35.6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8F1350-F5C0-4B0A-ACD7-F751E660905D}" type="datetimeFigureOut">
              <a:rPr lang="nl-NL" smtClean="0"/>
              <a:t>21-9-2026</a:t>
            </a:fld>
            <a:endParaRPr lang="nl-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55B67B-7107-4C0F-9256-B72BD984423A}" type="slidenum">
              <a:rPr lang="nl-NL" smtClean="0"/>
              <a:t>‹#›</a:t>
            </a:fld>
            <a:endParaRPr lang="nl-NL"/>
          </a:p>
        </p:txBody>
      </p:sp>
    </p:spTree>
    <p:extLst>
      <p:ext uri="{BB962C8B-B14F-4D97-AF65-F5344CB8AC3E}">
        <p14:creationId xmlns:p14="http://schemas.microsoft.com/office/powerpoint/2010/main" val="1275470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1A03A0-002F-4F17-9C65-9EC3095880AA}"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8448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tool compares two artefacts produced by two different roles. The DA's pull request is turned into a flat table/column/datatype list by the PR tool; the BA's MDR mapping sheet holds the agreed baseline. The engine normalises both sides before comparing — that normalisation step is where most of our test effort goes.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 raw count is not a verdict. Every line in the report has to resolve to one of three outcomes, and the tool is only as useful as the discipline around that triage. The accepted-deviation route is the one most often missing — without it the same known difference is re-reported every run and the report loses credibility.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The problem is an environment problem, not a tooling problem: we already have the assertions, we do not have anywhere realistic to run them. The synthetic test data generation tool creates large, production-shaped populations directly in dev and test. The proof of concept is deliberately narrow — one delivery, one assertion pack, run twice and compared. The question it has to answer is fidelity, not throughput: if a generated population produces a different verdict from production, the tool has not yet solved the problem. If it produces the same verdict, most of our data quality and volume testing can move left, and the parallel production runs reduce to a final confirmation.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[Sources]
- User-provided &lt;File&gt;UT5_Test_Strategy.pptx&lt;/File&gt;, slide 1.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All diagram elements, labels, connectors, and layout components are editable PowerPoint objects.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[Sources]
- Microsoft Learn, “Azure Pipelines key concepts”: https://learn.microsoft.com/en-us/azure/devops/pipelines/get-started/key-pipelines-concepts
- User-provided &lt;File&gt;UT5_Test_Strategy.pptx&lt;/File&gt;, slide 1.
[/Sources]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0CEFB-622A-9A39-685C-290244575D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53E874-9AB5-D338-28F1-1CA584E0F5F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552A91C-90D6-2BE6-E7B6-FFC34DA498D6}"/>
              </a:ext>
            </a:extLst>
          </p:cNvPr>
          <p:cNvSpPr>
            <a:spLocks noGrp="1"/>
          </p:cNvSpPr>
          <p:nvPr>
            <p:ph type="body" idx="1"/>
          </p:nvPr>
        </p:nvSpPr>
        <p:spPr/>
        <p:txBody>
          <a:bodyPr/>
          <a:lstStyle/>
          <a:p>
            <a:r>
              <a:rPr lang="en-US"/>
              <a:t>All diagram elements, labels, connectors, and layout components are editable PowerPoint objects.</a:t>
            </a:r>
          </a:p>
        </p:txBody>
      </p:sp>
      <p:sp>
        <p:nvSpPr>
          <p:cNvPr id="4" name="Slide Number Placeholder 3">
            <a:extLst>
              <a:ext uri="{FF2B5EF4-FFF2-40B4-BE49-F238E27FC236}">
                <a16:creationId xmlns:a16="http://schemas.microsoft.com/office/drawing/2014/main" id="{67E124EE-5B48-3251-B524-A83286A2B708}"/>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8884693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1A03A0-002F-4F17-9C65-9EC3095880AA}"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0034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0F916-38AB-5014-D797-CE7C4E31AF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NL"/>
          </a:p>
        </p:txBody>
      </p:sp>
      <p:sp>
        <p:nvSpPr>
          <p:cNvPr id="3" name="Subtitle 2">
            <a:extLst>
              <a:ext uri="{FF2B5EF4-FFF2-40B4-BE49-F238E27FC236}">
                <a16:creationId xmlns:a16="http://schemas.microsoft.com/office/drawing/2014/main" id="{D1D4D2E1-EE56-4B57-77B6-76316D2DE8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4" name="Date Placeholder 3">
            <a:extLst>
              <a:ext uri="{FF2B5EF4-FFF2-40B4-BE49-F238E27FC236}">
                <a16:creationId xmlns:a16="http://schemas.microsoft.com/office/drawing/2014/main" id="{8FA3FA39-2BBA-58DB-83E3-0B5FD813B083}"/>
              </a:ext>
            </a:extLst>
          </p:cNvPr>
          <p:cNvSpPr>
            <a:spLocks noGrp="1"/>
          </p:cNvSpPr>
          <p:nvPr>
            <p:ph type="dt" sz="half" idx="10"/>
          </p:nvPr>
        </p:nvSpPr>
        <p:spPr/>
        <p:txBody>
          <a:bodyPr/>
          <a:lstStyle/>
          <a:p>
            <a:fld id="{1EB48122-E151-4A9B-8CE8-F9EC241E73C7}" type="datetimeFigureOut">
              <a:rPr lang="nl-NL" smtClean="0"/>
              <a:t>21-9-2026</a:t>
            </a:fld>
            <a:endParaRPr lang="nl-NL"/>
          </a:p>
        </p:txBody>
      </p:sp>
      <p:sp>
        <p:nvSpPr>
          <p:cNvPr id="5" name="Footer Placeholder 4">
            <a:extLst>
              <a:ext uri="{FF2B5EF4-FFF2-40B4-BE49-F238E27FC236}">
                <a16:creationId xmlns:a16="http://schemas.microsoft.com/office/drawing/2014/main" id="{794ED71E-518E-89D6-4B68-DB183B99B71A}"/>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71790020-D3F8-0B52-C502-4D8AB0EC8E49}"/>
              </a:ext>
            </a:extLst>
          </p:cNvPr>
          <p:cNvSpPr>
            <a:spLocks noGrp="1"/>
          </p:cNvSpPr>
          <p:nvPr>
            <p:ph type="sldNum" sz="quarter" idx="12"/>
          </p:nvPr>
        </p:nvSpPr>
        <p:spPr/>
        <p:txBody>
          <a:bodyPr/>
          <a:lstStyle/>
          <a:p>
            <a:fld id="{6B687451-F95E-4074-81A1-41B69FE4EDDA}" type="slidenum">
              <a:rPr lang="nl-NL" smtClean="0"/>
              <a:t>‹#›</a:t>
            </a:fld>
            <a:endParaRPr lang="nl-NL"/>
          </a:p>
        </p:txBody>
      </p:sp>
    </p:spTree>
    <p:extLst>
      <p:ext uri="{BB962C8B-B14F-4D97-AF65-F5344CB8AC3E}">
        <p14:creationId xmlns:p14="http://schemas.microsoft.com/office/powerpoint/2010/main" val="3943259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4B92A-AF9F-786E-BCF4-F9BD90B73CF9}"/>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62D2F4E0-A8E4-1C2A-188D-FE3102C593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A77D0583-1924-C6C4-6FC2-3C3D80B1017F}"/>
              </a:ext>
            </a:extLst>
          </p:cNvPr>
          <p:cNvSpPr>
            <a:spLocks noGrp="1"/>
          </p:cNvSpPr>
          <p:nvPr>
            <p:ph type="dt" sz="half" idx="10"/>
          </p:nvPr>
        </p:nvSpPr>
        <p:spPr/>
        <p:txBody>
          <a:bodyPr/>
          <a:lstStyle/>
          <a:p>
            <a:fld id="{1EB48122-E151-4A9B-8CE8-F9EC241E73C7}" type="datetimeFigureOut">
              <a:rPr lang="nl-NL" smtClean="0"/>
              <a:t>21-9-2026</a:t>
            </a:fld>
            <a:endParaRPr lang="nl-NL"/>
          </a:p>
        </p:txBody>
      </p:sp>
      <p:sp>
        <p:nvSpPr>
          <p:cNvPr id="5" name="Footer Placeholder 4">
            <a:extLst>
              <a:ext uri="{FF2B5EF4-FFF2-40B4-BE49-F238E27FC236}">
                <a16:creationId xmlns:a16="http://schemas.microsoft.com/office/drawing/2014/main" id="{537579C2-E992-850C-4282-6EAD402BD389}"/>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532157BF-A1B9-5DDC-625B-F0357783B493}"/>
              </a:ext>
            </a:extLst>
          </p:cNvPr>
          <p:cNvSpPr>
            <a:spLocks noGrp="1"/>
          </p:cNvSpPr>
          <p:nvPr>
            <p:ph type="sldNum" sz="quarter" idx="12"/>
          </p:nvPr>
        </p:nvSpPr>
        <p:spPr/>
        <p:txBody>
          <a:bodyPr/>
          <a:lstStyle/>
          <a:p>
            <a:fld id="{6B687451-F95E-4074-81A1-41B69FE4EDDA}" type="slidenum">
              <a:rPr lang="nl-NL" smtClean="0"/>
              <a:t>‹#›</a:t>
            </a:fld>
            <a:endParaRPr lang="nl-NL"/>
          </a:p>
        </p:txBody>
      </p:sp>
    </p:spTree>
    <p:extLst>
      <p:ext uri="{BB962C8B-B14F-4D97-AF65-F5344CB8AC3E}">
        <p14:creationId xmlns:p14="http://schemas.microsoft.com/office/powerpoint/2010/main" val="59919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454C3-93E4-3154-6705-586321E3A9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NL"/>
          </a:p>
        </p:txBody>
      </p:sp>
      <p:sp>
        <p:nvSpPr>
          <p:cNvPr id="3" name="Text Placeholder 2">
            <a:extLst>
              <a:ext uri="{FF2B5EF4-FFF2-40B4-BE49-F238E27FC236}">
                <a16:creationId xmlns:a16="http://schemas.microsoft.com/office/drawing/2014/main" id="{BF7F59C8-906B-0CAD-285B-1F7E80316A5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4E702A-B8C1-C5D4-AD5D-DA9B7FAD8537}"/>
              </a:ext>
            </a:extLst>
          </p:cNvPr>
          <p:cNvSpPr>
            <a:spLocks noGrp="1"/>
          </p:cNvSpPr>
          <p:nvPr>
            <p:ph type="dt" sz="half" idx="10"/>
          </p:nvPr>
        </p:nvSpPr>
        <p:spPr/>
        <p:txBody>
          <a:bodyPr/>
          <a:lstStyle/>
          <a:p>
            <a:fld id="{1EB48122-E151-4A9B-8CE8-F9EC241E73C7}" type="datetimeFigureOut">
              <a:rPr lang="nl-NL" smtClean="0"/>
              <a:t>21-9-2026</a:t>
            </a:fld>
            <a:endParaRPr lang="nl-NL"/>
          </a:p>
        </p:txBody>
      </p:sp>
      <p:sp>
        <p:nvSpPr>
          <p:cNvPr id="5" name="Footer Placeholder 4">
            <a:extLst>
              <a:ext uri="{FF2B5EF4-FFF2-40B4-BE49-F238E27FC236}">
                <a16:creationId xmlns:a16="http://schemas.microsoft.com/office/drawing/2014/main" id="{767F356E-FFB4-201E-39AB-E1EE483B6DDF}"/>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53F33FD3-1517-1E3F-FC56-CD55BDC4CD92}"/>
              </a:ext>
            </a:extLst>
          </p:cNvPr>
          <p:cNvSpPr>
            <a:spLocks noGrp="1"/>
          </p:cNvSpPr>
          <p:nvPr>
            <p:ph type="sldNum" sz="quarter" idx="12"/>
          </p:nvPr>
        </p:nvSpPr>
        <p:spPr/>
        <p:txBody>
          <a:bodyPr/>
          <a:lstStyle/>
          <a:p>
            <a:fld id="{6B687451-F95E-4074-81A1-41B69FE4EDDA}" type="slidenum">
              <a:rPr lang="nl-NL" smtClean="0"/>
              <a:t>‹#›</a:t>
            </a:fld>
            <a:endParaRPr lang="nl-NL"/>
          </a:p>
        </p:txBody>
      </p:sp>
    </p:spTree>
    <p:extLst>
      <p:ext uri="{BB962C8B-B14F-4D97-AF65-F5344CB8AC3E}">
        <p14:creationId xmlns:p14="http://schemas.microsoft.com/office/powerpoint/2010/main" val="3912220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BFE24-E926-655A-0312-1AED6E8B1F2C}"/>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AC6CF6A2-A9E2-1DA8-706D-6C6E6BB2D0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a:extLst>
              <a:ext uri="{FF2B5EF4-FFF2-40B4-BE49-F238E27FC236}">
                <a16:creationId xmlns:a16="http://schemas.microsoft.com/office/drawing/2014/main" id="{6AFFA398-7494-F24B-9C22-1F6B05832E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Date Placeholder 4">
            <a:extLst>
              <a:ext uri="{FF2B5EF4-FFF2-40B4-BE49-F238E27FC236}">
                <a16:creationId xmlns:a16="http://schemas.microsoft.com/office/drawing/2014/main" id="{BD3C988C-40B0-3DC1-4536-A392E2791329}"/>
              </a:ext>
            </a:extLst>
          </p:cNvPr>
          <p:cNvSpPr>
            <a:spLocks noGrp="1"/>
          </p:cNvSpPr>
          <p:nvPr>
            <p:ph type="dt" sz="half" idx="10"/>
          </p:nvPr>
        </p:nvSpPr>
        <p:spPr/>
        <p:txBody>
          <a:bodyPr/>
          <a:lstStyle/>
          <a:p>
            <a:fld id="{1EB48122-E151-4A9B-8CE8-F9EC241E73C7}" type="datetimeFigureOut">
              <a:rPr lang="nl-NL" smtClean="0"/>
              <a:t>21-9-2026</a:t>
            </a:fld>
            <a:endParaRPr lang="nl-NL"/>
          </a:p>
        </p:txBody>
      </p:sp>
      <p:sp>
        <p:nvSpPr>
          <p:cNvPr id="6" name="Footer Placeholder 5">
            <a:extLst>
              <a:ext uri="{FF2B5EF4-FFF2-40B4-BE49-F238E27FC236}">
                <a16:creationId xmlns:a16="http://schemas.microsoft.com/office/drawing/2014/main" id="{EC98A8F4-57B6-D2CE-5615-5768B917FF7E}"/>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E315CF72-66FB-79C9-9097-C4EB7D6A1E19}"/>
              </a:ext>
            </a:extLst>
          </p:cNvPr>
          <p:cNvSpPr>
            <a:spLocks noGrp="1"/>
          </p:cNvSpPr>
          <p:nvPr>
            <p:ph type="sldNum" sz="quarter" idx="12"/>
          </p:nvPr>
        </p:nvSpPr>
        <p:spPr/>
        <p:txBody>
          <a:bodyPr/>
          <a:lstStyle/>
          <a:p>
            <a:fld id="{6B687451-F95E-4074-81A1-41B69FE4EDDA}" type="slidenum">
              <a:rPr lang="nl-NL" smtClean="0"/>
              <a:t>‹#›</a:t>
            </a:fld>
            <a:endParaRPr lang="nl-NL"/>
          </a:p>
        </p:txBody>
      </p:sp>
    </p:spTree>
    <p:extLst>
      <p:ext uri="{BB962C8B-B14F-4D97-AF65-F5344CB8AC3E}">
        <p14:creationId xmlns:p14="http://schemas.microsoft.com/office/powerpoint/2010/main" val="3619446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B8927-7D29-D36B-8E94-21390BCDF916}"/>
              </a:ext>
            </a:extLst>
          </p:cNvPr>
          <p:cNvSpPr>
            <a:spLocks noGrp="1"/>
          </p:cNvSpPr>
          <p:nvPr>
            <p:ph type="title"/>
          </p:nvPr>
        </p:nvSpPr>
        <p:spPr>
          <a:xfrm>
            <a:off x="839788" y="365125"/>
            <a:ext cx="10515600" cy="1325563"/>
          </a:xfrm>
        </p:spPr>
        <p:txBody>
          <a:bodyPr/>
          <a:lstStyle/>
          <a:p>
            <a:r>
              <a:rPr lang="en-US"/>
              <a:t>Click to edit Master title style</a:t>
            </a:r>
            <a:endParaRPr lang="nl-NL"/>
          </a:p>
        </p:txBody>
      </p:sp>
      <p:sp>
        <p:nvSpPr>
          <p:cNvPr id="3" name="Text Placeholder 2">
            <a:extLst>
              <a:ext uri="{FF2B5EF4-FFF2-40B4-BE49-F238E27FC236}">
                <a16:creationId xmlns:a16="http://schemas.microsoft.com/office/drawing/2014/main" id="{0EF61F38-2D9A-7013-4E9F-22290CB264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233035-232F-0708-3BC0-6090521751E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ext Placeholder 4">
            <a:extLst>
              <a:ext uri="{FF2B5EF4-FFF2-40B4-BE49-F238E27FC236}">
                <a16:creationId xmlns:a16="http://schemas.microsoft.com/office/drawing/2014/main" id="{10210286-8A71-24E1-A8C9-DFED1DF5CA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8C9EEF-35AF-EA97-C21B-5A6DC37811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7" name="Date Placeholder 6">
            <a:extLst>
              <a:ext uri="{FF2B5EF4-FFF2-40B4-BE49-F238E27FC236}">
                <a16:creationId xmlns:a16="http://schemas.microsoft.com/office/drawing/2014/main" id="{09868C63-EE3A-878B-606D-7A62E3038F65}"/>
              </a:ext>
            </a:extLst>
          </p:cNvPr>
          <p:cNvSpPr>
            <a:spLocks noGrp="1"/>
          </p:cNvSpPr>
          <p:nvPr>
            <p:ph type="dt" sz="half" idx="10"/>
          </p:nvPr>
        </p:nvSpPr>
        <p:spPr/>
        <p:txBody>
          <a:bodyPr/>
          <a:lstStyle/>
          <a:p>
            <a:fld id="{1EB48122-E151-4A9B-8CE8-F9EC241E73C7}" type="datetimeFigureOut">
              <a:rPr lang="nl-NL" smtClean="0"/>
              <a:t>21-9-2026</a:t>
            </a:fld>
            <a:endParaRPr lang="nl-NL"/>
          </a:p>
        </p:txBody>
      </p:sp>
      <p:sp>
        <p:nvSpPr>
          <p:cNvPr id="8" name="Footer Placeholder 7">
            <a:extLst>
              <a:ext uri="{FF2B5EF4-FFF2-40B4-BE49-F238E27FC236}">
                <a16:creationId xmlns:a16="http://schemas.microsoft.com/office/drawing/2014/main" id="{A789514B-4C07-291F-0988-0A7A4A24C69B}"/>
              </a:ext>
            </a:extLst>
          </p:cNvPr>
          <p:cNvSpPr>
            <a:spLocks noGrp="1"/>
          </p:cNvSpPr>
          <p:nvPr>
            <p:ph type="ftr" sz="quarter" idx="11"/>
          </p:nvPr>
        </p:nvSpPr>
        <p:spPr/>
        <p:txBody>
          <a:bodyPr/>
          <a:lstStyle/>
          <a:p>
            <a:endParaRPr lang="nl-NL"/>
          </a:p>
        </p:txBody>
      </p:sp>
      <p:sp>
        <p:nvSpPr>
          <p:cNvPr id="9" name="Slide Number Placeholder 8">
            <a:extLst>
              <a:ext uri="{FF2B5EF4-FFF2-40B4-BE49-F238E27FC236}">
                <a16:creationId xmlns:a16="http://schemas.microsoft.com/office/drawing/2014/main" id="{79A87A7D-6CF6-36B1-B55D-F44F91EC1FF4}"/>
              </a:ext>
            </a:extLst>
          </p:cNvPr>
          <p:cNvSpPr>
            <a:spLocks noGrp="1"/>
          </p:cNvSpPr>
          <p:nvPr>
            <p:ph type="sldNum" sz="quarter" idx="12"/>
          </p:nvPr>
        </p:nvSpPr>
        <p:spPr/>
        <p:txBody>
          <a:bodyPr/>
          <a:lstStyle/>
          <a:p>
            <a:fld id="{6B687451-F95E-4074-81A1-41B69FE4EDDA}" type="slidenum">
              <a:rPr lang="nl-NL" smtClean="0"/>
              <a:t>‹#›</a:t>
            </a:fld>
            <a:endParaRPr lang="nl-NL"/>
          </a:p>
        </p:txBody>
      </p:sp>
    </p:spTree>
    <p:extLst>
      <p:ext uri="{BB962C8B-B14F-4D97-AF65-F5344CB8AC3E}">
        <p14:creationId xmlns:p14="http://schemas.microsoft.com/office/powerpoint/2010/main" val="3112126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EBD25-69AE-F2CC-B07B-B78FE26BC29B}"/>
              </a:ext>
            </a:extLst>
          </p:cNvPr>
          <p:cNvSpPr>
            <a:spLocks noGrp="1"/>
          </p:cNvSpPr>
          <p:nvPr>
            <p:ph type="title"/>
          </p:nvPr>
        </p:nvSpPr>
        <p:spPr/>
        <p:txBody>
          <a:bodyPr/>
          <a:lstStyle/>
          <a:p>
            <a:r>
              <a:rPr lang="en-US"/>
              <a:t>Click to edit Master title style</a:t>
            </a:r>
            <a:endParaRPr lang="nl-NL"/>
          </a:p>
        </p:txBody>
      </p:sp>
      <p:sp>
        <p:nvSpPr>
          <p:cNvPr id="3" name="Date Placeholder 2">
            <a:extLst>
              <a:ext uri="{FF2B5EF4-FFF2-40B4-BE49-F238E27FC236}">
                <a16:creationId xmlns:a16="http://schemas.microsoft.com/office/drawing/2014/main" id="{73DD148D-FE40-956A-ED25-D13F2EFFB888}"/>
              </a:ext>
            </a:extLst>
          </p:cNvPr>
          <p:cNvSpPr>
            <a:spLocks noGrp="1"/>
          </p:cNvSpPr>
          <p:nvPr>
            <p:ph type="dt" sz="half" idx="10"/>
          </p:nvPr>
        </p:nvSpPr>
        <p:spPr/>
        <p:txBody>
          <a:bodyPr/>
          <a:lstStyle/>
          <a:p>
            <a:fld id="{1EB48122-E151-4A9B-8CE8-F9EC241E73C7}" type="datetimeFigureOut">
              <a:rPr lang="nl-NL" smtClean="0"/>
              <a:t>21-9-2026</a:t>
            </a:fld>
            <a:endParaRPr lang="nl-NL"/>
          </a:p>
        </p:txBody>
      </p:sp>
      <p:sp>
        <p:nvSpPr>
          <p:cNvPr id="4" name="Footer Placeholder 3">
            <a:extLst>
              <a:ext uri="{FF2B5EF4-FFF2-40B4-BE49-F238E27FC236}">
                <a16:creationId xmlns:a16="http://schemas.microsoft.com/office/drawing/2014/main" id="{C2A02176-157A-65A9-35E6-11689EF96E30}"/>
              </a:ext>
            </a:extLst>
          </p:cNvPr>
          <p:cNvSpPr>
            <a:spLocks noGrp="1"/>
          </p:cNvSpPr>
          <p:nvPr>
            <p:ph type="ftr" sz="quarter" idx="11"/>
          </p:nvPr>
        </p:nvSpPr>
        <p:spPr/>
        <p:txBody>
          <a:bodyPr/>
          <a:lstStyle/>
          <a:p>
            <a:endParaRPr lang="nl-NL"/>
          </a:p>
        </p:txBody>
      </p:sp>
      <p:sp>
        <p:nvSpPr>
          <p:cNvPr id="5" name="Slide Number Placeholder 4">
            <a:extLst>
              <a:ext uri="{FF2B5EF4-FFF2-40B4-BE49-F238E27FC236}">
                <a16:creationId xmlns:a16="http://schemas.microsoft.com/office/drawing/2014/main" id="{1ED0DBD0-2858-F62C-79B7-11373CF77197}"/>
              </a:ext>
            </a:extLst>
          </p:cNvPr>
          <p:cNvSpPr>
            <a:spLocks noGrp="1"/>
          </p:cNvSpPr>
          <p:nvPr>
            <p:ph type="sldNum" sz="quarter" idx="12"/>
          </p:nvPr>
        </p:nvSpPr>
        <p:spPr/>
        <p:txBody>
          <a:bodyPr/>
          <a:lstStyle/>
          <a:p>
            <a:fld id="{6B687451-F95E-4074-81A1-41B69FE4EDDA}" type="slidenum">
              <a:rPr lang="nl-NL" smtClean="0"/>
              <a:t>‹#›</a:t>
            </a:fld>
            <a:endParaRPr lang="nl-NL"/>
          </a:p>
        </p:txBody>
      </p:sp>
    </p:spTree>
    <p:extLst>
      <p:ext uri="{BB962C8B-B14F-4D97-AF65-F5344CB8AC3E}">
        <p14:creationId xmlns:p14="http://schemas.microsoft.com/office/powerpoint/2010/main" val="6343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5FE91D-AEA4-7621-9CDF-D4B8181CAB94}"/>
              </a:ext>
            </a:extLst>
          </p:cNvPr>
          <p:cNvSpPr>
            <a:spLocks noGrp="1"/>
          </p:cNvSpPr>
          <p:nvPr>
            <p:ph type="dt" sz="half" idx="10"/>
          </p:nvPr>
        </p:nvSpPr>
        <p:spPr/>
        <p:txBody>
          <a:bodyPr/>
          <a:lstStyle/>
          <a:p>
            <a:fld id="{1EB48122-E151-4A9B-8CE8-F9EC241E73C7}" type="datetimeFigureOut">
              <a:rPr lang="nl-NL" smtClean="0"/>
              <a:t>21-9-2026</a:t>
            </a:fld>
            <a:endParaRPr lang="nl-NL"/>
          </a:p>
        </p:txBody>
      </p:sp>
      <p:sp>
        <p:nvSpPr>
          <p:cNvPr id="3" name="Footer Placeholder 2">
            <a:extLst>
              <a:ext uri="{FF2B5EF4-FFF2-40B4-BE49-F238E27FC236}">
                <a16:creationId xmlns:a16="http://schemas.microsoft.com/office/drawing/2014/main" id="{808C929C-8DF2-877B-2AE6-33E45CAC1BBE}"/>
              </a:ext>
            </a:extLst>
          </p:cNvPr>
          <p:cNvSpPr>
            <a:spLocks noGrp="1"/>
          </p:cNvSpPr>
          <p:nvPr>
            <p:ph type="ftr" sz="quarter" idx="11"/>
          </p:nvPr>
        </p:nvSpPr>
        <p:spPr/>
        <p:txBody>
          <a:bodyPr/>
          <a:lstStyle/>
          <a:p>
            <a:endParaRPr lang="nl-NL"/>
          </a:p>
        </p:txBody>
      </p:sp>
      <p:sp>
        <p:nvSpPr>
          <p:cNvPr id="4" name="Slide Number Placeholder 3">
            <a:extLst>
              <a:ext uri="{FF2B5EF4-FFF2-40B4-BE49-F238E27FC236}">
                <a16:creationId xmlns:a16="http://schemas.microsoft.com/office/drawing/2014/main" id="{D5DCCBBD-29AF-BC02-E494-1482591E819E}"/>
              </a:ext>
            </a:extLst>
          </p:cNvPr>
          <p:cNvSpPr>
            <a:spLocks noGrp="1"/>
          </p:cNvSpPr>
          <p:nvPr>
            <p:ph type="sldNum" sz="quarter" idx="12"/>
          </p:nvPr>
        </p:nvSpPr>
        <p:spPr/>
        <p:txBody>
          <a:bodyPr/>
          <a:lstStyle/>
          <a:p>
            <a:fld id="{6B687451-F95E-4074-81A1-41B69FE4EDDA}" type="slidenum">
              <a:rPr lang="nl-NL" smtClean="0"/>
              <a:t>‹#›</a:t>
            </a:fld>
            <a:endParaRPr lang="nl-NL"/>
          </a:p>
        </p:txBody>
      </p:sp>
    </p:spTree>
    <p:extLst>
      <p:ext uri="{BB962C8B-B14F-4D97-AF65-F5344CB8AC3E}">
        <p14:creationId xmlns:p14="http://schemas.microsoft.com/office/powerpoint/2010/main" val="2757479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8387F-535F-3DC4-40F1-1D6D04CAF0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Content Placeholder 2">
            <a:extLst>
              <a:ext uri="{FF2B5EF4-FFF2-40B4-BE49-F238E27FC236}">
                <a16:creationId xmlns:a16="http://schemas.microsoft.com/office/drawing/2014/main" id="{70E33B6F-557D-A53D-7057-461FA992B6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ext Placeholder 3">
            <a:extLst>
              <a:ext uri="{FF2B5EF4-FFF2-40B4-BE49-F238E27FC236}">
                <a16:creationId xmlns:a16="http://schemas.microsoft.com/office/drawing/2014/main" id="{81BDD352-17D5-2315-435E-EB037511D5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73B7E1-19B2-AE04-B02B-33347A07FEF5}"/>
              </a:ext>
            </a:extLst>
          </p:cNvPr>
          <p:cNvSpPr>
            <a:spLocks noGrp="1"/>
          </p:cNvSpPr>
          <p:nvPr>
            <p:ph type="dt" sz="half" idx="10"/>
          </p:nvPr>
        </p:nvSpPr>
        <p:spPr/>
        <p:txBody>
          <a:bodyPr/>
          <a:lstStyle/>
          <a:p>
            <a:fld id="{1EB48122-E151-4A9B-8CE8-F9EC241E73C7}" type="datetimeFigureOut">
              <a:rPr lang="nl-NL" smtClean="0"/>
              <a:t>21-9-2026</a:t>
            </a:fld>
            <a:endParaRPr lang="nl-NL"/>
          </a:p>
        </p:txBody>
      </p:sp>
      <p:sp>
        <p:nvSpPr>
          <p:cNvPr id="6" name="Footer Placeholder 5">
            <a:extLst>
              <a:ext uri="{FF2B5EF4-FFF2-40B4-BE49-F238E27FC236}">
                <a16:creationId xmlns:a16="http://schemas.microsoft.com/office/drawing/2014/main" id="{894AAC6B-A7FA-3C7B-B1E7-79770FC634CE}"/>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81450CFB-A426-1077-BE93-0CE2CB61B493}"/>
              </a:ext>
            </a:extLst>
          </p:cNvPr>
          <p:cNvSpPr>
            <a:spLocks noGrp="1"/>
          </p:cNvSpPr>
          <p:nvPr>
            <p:ph type="sldNum" sz="quarter" idx="12"/>
          </p:nvPr>
        </p:nvSpPr>
        <p:spPr/>
        <p:txBody>
          <a:bodyPr/>
          <a:lstStyle/>
          <a:p>
            <a:fld id="{6B687451-F95E-4074-81A1-41B69FE4EDDA}" type="slidenum">
              <a:rPr lang="nl-NL" smtClean="0"/>
              <a:t>‹#›</a:t>
            </a:fld>
            <a:endParaRPr lang="nl-NL"/>
          </a:p>
        </p:txBody>
      </p:sp>
    </p:spTree>
    <p:extLst>
      <p:ext uri="{BB962C8B-B14F-4D97-AF65-F5344CB8AC3E}">
        <p14:creationId xmlns:p14="http://schemas.microsoft.com/office/powerpoint/2010/main" val="4273570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D5A23-FA19-88F0-B3C8-1A4E8564F4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Picture Placeholder 2">
            <a:extLst>
              <a:ext uri="{FF2B5EF4-FFF2-40B4-BE49-F238E27FC236}">
                <a16:creationId xmlns:a16="http://schemas.microsoft.com/office/drawing/2014/main" id="{12D89DC4-4D36-E3AE-48B7-F11FE6C1A3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a:extLst>
              <a:ext uri="{FF2B5EF4-FFF2-40B4-BE49-F238E27FC236}">
                <a16:creationId xmlns:a16="http://schemas.microsoft.com/office/drawing/2014/main" id="{E0E24072-4F79-BF52-8437-781EEF622B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1B7143-7388-5C88-C6A7-9BEEEC9C143F}"/>
              </a:ext>
            </a:extLst>
          </p:cNvPr>
          <p:cNvSpPr>
            <a:spLocks noGrp="1"/>
          </p:cNvSpPr>
          <p:nvPr>
            <p:ph type="dt" sz="half" idx="10"/>
          </p:nvPr>
        </p:nvSpPr>
        <p:spPr/>
        <p:txBody>
          <a:bodyPr/>
          <a:lstStyle/>
          <a:p>
            <a:fld id="{1EB48122-E151-4A9B-8CE8-F9EC241E73C7}" type="datetimeFigureOut">
              <a:rPr lang="nl-NL" smtClean="0"/>
              <a:t>21-9-2026</a:t>
            </a:fld>
            <a:endParaRPr lang="nl-NL"/>
          </a:p>
        </p:txBody>
      </p:sp>
      <p:sp>
        <p:nvSpPr>
          <p:cNvPr id="6" name="Footer Placeholder 5">
            <a:extLst>
              <a:ext uri="{FF2B5EF4-FFF2-40B4-BE49-F238E27FC236}">
                <a16:creationId xmlns:a16="http://schemas.microsoft.com/office/drawing/2014/main" id="{809A45F9-6A9D-46DD-3BF7-6CD463D6D375}"/>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C9B48953-9302-DA6C-78BE-C6F76C1CEB6A}"/>
              </a:ext>
            </a:extLst>
          </p:cNvPr>
          <p:cNvSpPr>
            <a:spLocks noGrp="1"/>
          </p:cNvSpPr>
          <p:nvPr>
            <p:ph type="sldNum" sz="quarter" idx="12"/>
          </p:nvPr>
        </p:nvSpPr>
        <p:spPr/>
        <p:txBody>
          <a:bodyPr/>
          <a:lstStyle/>
          <a:p>
            <a:fld id="{6B687451-F95E-4074-81A1-41B69FE4EDDA}" type="slidenum">
              <a:rPr lang="nl-NL" smtClean="0"/>
              <a:t>‹#›</a:t>
            </a:fld>
            <a:endParaRPr lang="nl-NL"/>
          </a:p>
        </p:txBody>
      </p:sp>
    </p:spTree>
    <p:extLst>
      <p:ext uri="{BB962C8B-B14F-4D97-AF65-F5344CB8AC3E}">
        <p14:creationId xmlns:p14="http://schemas.microsoft.com/office/powerpoint/2010/main" val="3725714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F5BA6-7AF9-099F-7C18-EF4795897FE0}"/>
              </a:ext>
            </a:extLst>
          </p:cNvPr>
          <p:cNvSpPr>
            <a:spLocks noGrp="1"/>
          </p:cNvSpPr>
          <p:nvPr>
            <p:ph type="title"/>
          </p:nvPr>
        </p:nvSpPr>
        <p:spPr/>
        <p:txBody>
          <a:bodyPr/>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0FE6EC86-8E69-C85B-A502-C68B2F8C3B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E2284AAE-1EE2-AE98-887B-7F5D975FF823}"/>
              </a:ext>
            </a:extLst>
          </p:cNvPr>
          <p:cNvSpPr>
            <a:spLocks noGrp="1"/>
          </p:cNvSpPr>
          <p:nvPr>
            <p:ph type="dt" sz="half" idx="10"/>
          </p:nvPr>
        </p:nvSpPr>
        <p:spPr/>
        <p:txBody>
          <a:bodyPr/>
          <a:lstStyle/>
          <a:p>
            <a:fld id="{1EB48122-E151-4A9B-8CE8-F9EC241E73C7}" type="datetimeFigureOut">
              <a:rPr lang="nl-NL" smtClean="0"/>
              <a:t>21-9-2026</a:t>
            </a:fld>
            <a:endParaRPr lang="nl-NL"/>
          </a:p>
        </p:txBody>
      </p:sp>
      <p:sp>
        <p:nvSpPr>
          <p:cNvPr id="5" name="Footer Placeholder 4">
            <a:extLst>
              <a:ext uri="{FF2B5EF4-FFF2-40B4-BE49-F238E27FC236}">
                <a16:creationId xmlns:a16="http://schemas.microsoft.com/office/drawing/2014/main" id="{216502EA-F64E-685F-00A6-76CAABE3299F}"/>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4472A2BB-D152-C86E-1937-2D563B0CC2CF}"/>
              </a:ext>
            </a:extLst>
          </p:cNvPr>
          <p:cNvSpPr>
            <a:spLocks noGrp="1"/>
          </p:cNvSpPr>
          <p:nvPr>
            <p:ph type="sldNum" sz="quarter" idx="12"/>
          </p:nvPr>
        </p:nvSpPr>
        <p:spPr/>
        <p:txBody>
          <a:bodyPr/>
          <a:lstStyle/>
          <a:p>
            <a:fld id="{6B687451-F95E-4074-81A1-41B69FE4EDDA}" type="slidenum">
              <a:rPr lang="nl-NL" smtClean="0"/>
              <a:t>‹#›</a:t>
            </a:fld>
            <a:endParaRPr lang="nl-NL"/>
          </a:p>
        </p:txBody>
      </p:sp>
    </p:spTree>
    <p:extLst>
      <p:ext uri="{BB962C8B-B14F-4D97-AF65-F5344CB8AC3E}">
        <p14:creationId xmlns:p14="http://schemas.microsoft.com/office/powerpoint/2010/main" val="2108346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81E93D-3F63-B162-621F-07BF627F0CF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E2BA8999-DD76-DC1D-14B5-DC2352E39F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77091541-1C1B-0C5A-46BF-2108480A3D36}"/>
              </a:ext>
            </a:extLst>
          </p:cNvPr>
          <p:cNvSpPr>
            <a:spLocks noGrp="1"/>
          </p:cNvSpPr>
          <p:nvPr>
            <p:ph type="dt" sz="half" idx="10"/>
          </p:nvPr>
        </p:nvSpPr>
        <p:spPr/>
        <p:txBody>
          <a:bodyPr/>
          <a:lstStyle/>
          <a:p>
            <a:fld id="{1EB48122-E151-4A9B-8CE8-F9EC241E73C7}" type="datetimeFigureOut">
              <a:rPr lang="nl-NL" smtClean="0"/>
              <a:t>21-9-2026</a:t>
            </a:fld>
            <a:endParaRPr lang="nl-NL"/>
          </a:p>
        </p:txBody>
      </p:sp>
      <p:sp>
        <p:nvSpPr>
          <p:cNvPr id="5" name="Footer Placeholder 4">
            <a:extLst>
              <a:ext uri="{FF2B5EF4-FFF2-40B4-BE49-F238E27FC236}">
                <a16:creationId xmlns:a16="http://schemas.microsoft.com/office/drawing/2014/main" id="{3E3FA21F-3A9C-0070-5762-53450D7936CF}"/>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A7B34A2D-9E3C-585F-4608-D751077A5DFB}"/>
              </a:ext>
            </a:extLst>
          </p:cNvPr>
          <p:cNvSpPr>
            <a:spLocks noGrp="1"/>
          </p:cNvSpPr>
          <p:nvPr>
            <p:ph type="sldNum" sz="quarter" idx="12"/>
          </p:nvPr>
        </p:nvSpPr>
        <p:spPr/>
        <p:txBody>
          <a:bodyPr/>
          <a:lstStyle/>
          <a:p>
            <a:fld id="{6B687451-F95E-4074-81A1-41B69FE4EDDA}" type="slidenum">
              <a:rPr lang="nl-NL" smtClean="0"/>
              <a:t>‹#›</a:t>
            </a:fld>
            <a:endParaRPr lang="nl-NL"/>
          </a:p>
        </p:txBody>
      </p:sp>
    </p:spTree>
    <p:extLst>
      <p:ext uri="{BB962C8B-B14F-4D97-AF65-F5344CB8AC3E}">
        <p14:creationId xmlns:p14="http://schemas.microsoft.com/office/powerpoint/2010/main" val="15302203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8747ACC-9F38-4EE9-BBE5-E8CDF2BF505F}"/>
              </a:ext>
            </a:extLst>
          </p:cNvPr>
          <p:cNvSpPr/>
          <p:nvPr/>
        </p:nvSpPr>
        <p:spPr>
          <a:xfrm>
            <a:off x="0" y="5811520"/>
            <a:ext cx="12192000" cy="1046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a:p>
        </p:txBody>
      </p:sp>
      <p:sp>
        <p:nvSpPr>
          <p:cNvPr id="35" name="Picture Placeholder 34">
            <a:extLst>
              <a:ext uri="{FF2B5EF4-FFF2-40B4-BE49-F238E27FC236}">
                <a16:creationId xmlns:a16="http://schemas.microsoft.com/office/drawing/2014/main" id="{F2CB285B-2964-4CCA-9F70-1542304B2A43}"/>
              </a:ext>
            </a:extLst>
          </p:cNvPr>
          <p:cNvSpPr>
            <a:spLocks noGrp="1"/>
          </p:cNvSpPr>
          <p:nvPr>
            <p:ph type="pic" sz="quarter" idx="14" hasCustomPrompt="1"/>
          </p:nvPr>
        </p:nvSpPr>
        <p:spPr>
          <a:xfrm>
            <a:off x="0" y="1"/>
            <a:ext cx="12192000" cy="5811520"/>
          </a:xfrm>
          <a:prstGeom prst="rect">
            <a:avLst/>
          </a:prstGeom>
          <a:solidFill>
            <a:schemeClr val="tx2"/>
          </a:solidFill>
        </p:spPr>
        <p:txBody>
          <a:bodyPr wrap="square" bIns="180000" anchor="b">
            <a:noAutofit/>
          </a:bodyPr>
          <a:lstStyle>
            <a:lvl1pPr algn="ctr">
              <a:spcAft>
                <a:spcPts val="0"/>
              </a:spcAft>
              <a:defRPr>
                <a:solidFill>
                  <a:schemeClr val="bg1"/>
                </a:solidFill>
              </a:defRPr>
            </a:lvl1pPr>
          </a:lstStyle>
          <a:p>
            <a:r>
              <a:rPr lang="en-US" noProof="0"/>
              <a:t>Click here and select an image from the Images Library in Templafy.</a:t>
            </a:r>
            <a:br>
              <a:rPr lang="en-US" noProof="0"/>
            </a:br>
            <a:r>
              <a:rPr lang="en-US" noProof="0"/>
              <a:t>Next, select a line from the Slide Elements Library.</a:t>
            </a:r>
            <a:endParaRPr lang="en-US"/>
          </a:p>
        </p:txBody>
      </p:sp>
      <p:sp>
        <p:nvSpPr>
          <p:cNvPr id="4" name="Date Placeholder 3">
            <a:extLst>
              <a:ext uri="{FF2B5EF4-FFF2-40B4-BE49-F238E27FC236}">
                <a16:creationId xmlns:a16="http://schemas.microsoft.com/office/drawing/2014/main" id="{D6AFD005-2827-46C1-9709-F5526773BF59}"/>
              </a:ext>
            </a:extLst>
          </p:cNvPr>
          <p:cNvSpPr>
            <a:spLocks noGrp="1"/>
          </p:cNvSpPr>
          <p:nvPr>
            <p:ph type="dt" sz="half" idx="10"/>
          </p:nvPr>
        </p:nvSpPr>
        <p:spPr>
          <a:xfrm>
            <a:off x="3746976" y="6078592"/>
            <a:ext cx="4671039" cy="472929"/>
          </a:xfrm>
          <a:prstGeom prst="rect">
            <a:avLst/>
          </a:prstGeom>
        </p:spPr>
        <p:txBody>
          <a:bodyPr lIns="0" tIns="0" rIns="0" bIns="0" anchor="ctr">
            <a:noAutofit/>
          </a:bodyPr>
          <a:lstStyle>
            <a:lvl1pPr algn="ctr">
              <a:defRPr sz="1300">
                <a:solidFill>
                  <a:srgbClr val="000FAA"/>
                </a:solidFill>
              </a:defRPr>
            </a:lvl1pPr>
          </a:lstStyle>
          <a:p>
            <a:fld id="{830C3D98-1E1D-4331-928F-04F06DE77012}" type="datetimeFigureOut">
              <a:rPr lang="en-AU" smtClean="0"/>
              <a:pPr/>
              <a:t>18/09/2026</a:t>
            </a:fld>
            <a:endParaRPr lang="en-AU" dirty="0"/>
          </a:p>
        </p:txBody>
      </p:sp>
      <p:sp>
        <p:nvSpPr>
          <p:cNvPr id="8" name="Subtitle 2">
            <a:extLst>
              <a:ext uri="{FF2B5EF4-FFF2-40B4-BE49-F238E27FC236}">
                <a16:creationId xmlns:a16="http://schemas.microsoft.com/office/drawing/2014/main" id="{8A8E11C7-8AC7-4E57-9FF2-B2290BF164B7}"/>
              </a:ext>
            </a:extLst>
          </p:cNvPr>
          <p:cNvSpPr>
            <a:spLocks noGrp="1"/>
          </p:cNvSpPr>
          <p:nvPr>
            <p:ph type="subTitle" idx="13"/>
          </p:nvPr>
        </p:nvSpPr>
        <p:spPr>
          <a:xfrm>
            <a:off x="609600" y="1363532"/>
            <a:ext cx="10945792" cy="462728"/>
          </a:xfrm>
        </p:spPr>
        <p:txBody>
          <a:bodyPr lIns="0" tIns="0" rIns="0" bIns="0">
            <a:noAutofit/>
          </a:bodyPr>
          <a:lstStyle>
            <a:lvl1pPr>
              <a:defRPr lang="en-GB" sz="2400" dirty="0">
                <a:solidFill>
                  <a:schemeClr val="bg1"/>
                </a:solidFill>
              </a:defRPr>
            </a:lvl1pPr>
          </a:lstStyle>
          <a:p>
            <a:pPr marL="0" lvl="0" indent="0">
              <a:buNone/>
            </a:pPr>
            <a:r>
              <a:rPr lang="en-US" noProof="0"/>
              <a:t>Click to edit Master subtitle style</a:t>
            </a:r>
          </a:p>
        </p:txBody>
      </p:sp>
      <p:sp>
        <p:nvSpPr>
          <p:cNvPr id="11" name="Title 1">
            <a:extLst>
              <a:ext uri="{FF2B5EF4-FFF2-40B4-BE49-F238E27FC236}">
                <a16:creationId xmlns:a16="http://schemas.microsoft.com/office/drawing/2014/main" id="{FC5F9583-417F-4FD2-8504-D6CCC8BDEA49}"/>
              </a:ext>
            </a:extLst>
          </p:cNvPr>
          <p:cNvSpPr>
            <a:spLocks noGrp="1"/>
          </p:cNvSpPr>
          <p:nvPr>
            <p:ph type="title"/>
          </p:nvPr>
        </p:nvSpPr>
        <p:spPr>
          <a:xfrm>
            <a:off x="609600" y="555307"/>
            <a:ext cx="10945792" cy="640585"/>
          </a:xfrm>
        </p:spPr>
        <p:txBody>
          <a:bodyPr>
            <a:noAutofit/>
          </a:bodyPr>
          <a:lstStyle>
            <a:lvl1pPr>
              <a:defRPr sz="5800">
                <a:solidFill>
                  <a:schemeClr val="bg1"/>
                </a:solidFill>
              </a:defRPr>
            </a:lvl1pPr>
          </a:lstStyle>
          <a:p>
            <a:r>
              <a:rPr lang="en-US" noProof="0"/>
              <a:t>Click to edit Master title style</a:t>
            </a:r>
          </a:p>
        </p:txBody>
      </p:sp>
      <p:sp>
        <p:nvSpPr>
          <p:cNvPr id="38" name="Slide Number Placeholder 5">
            <a:extLst>
              <a:ext uri="{FF2B5EF4-FFF2-40B4-BE49-F238E27FC236}">
                <a16:creationId xmlns:a16="http://schemas.microsoft.com/office/drawing/2014/main" id="{3BF99B16-D53B-4578-85E0-77BFFA779E5A}"/>
              </a:ext>
            </a:extLst>
          </p:cNvPr>
          <p:cNvSpPr>
            <a:spLocks noGrp="1"/>
          </p:cNvSpPr>
          <p:nvPr>
            <p:ph type="sldNum" sz="quarter" idx="4"/>
          </p:nvPr>
        </p:nvSpPr>
        <p:spPr>
          <a:xfrm>
            <a:off x="609600" y="7120376"/>
            <a:ext cx="495300" cy="365125"/>
          </a:xfrm>
          <a:prstGeom prst="rect">
            <a:avLst/>
          </a:prstGeom>
        </p:spPr>
        <p:txBody>
          <a:bodyPr vert="horz" lIns="0" tIns="0" rIns="0" bIns="0" rtlCol="0" anchor="ctr">
            <a:noAutofit/>
          </a:bodyPr>
          <a:lstStyle>
            <a:lvl1pPr algn="l">
              <a:defRPr sz="1200">
                <a:solidFill>
                  <a:srgbClr val="D8D9DA"/>
                </a:solidFill>
              </a:defRPr>
            </a:lvl1pPr>
          </a:lstStyle>
          <a:p>
            <a:fld id="{ED6EBBE6-E445-463B-B62F-DC8841FBBE6D}" type="slidenum">
              <a:rPr lang="en-AU" smtClean="0"/>
              <a:t>‹#›</a:t>
            </a:fld>
            <a:endParaRPr lang="en-AU"/>
          </a:p>
        </p:txBody>
      </p:sp>
      <p:pic>
        <p:nvPicPr>
          <p:cNvPr id="23" name="Graphic 22">
            <a:extLst>
              <a:ext uri="{FF2B5EF4-FFF2-40B4-BE49-F238E27FC236}">
                <a16:creationId xmlns:a16="http://schemas.microsoft.com/office/drawing/2014/main" id="{D928D51D-9B86-4B1C-82E0-D5417B3B1A24}"/>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869805" y="5878386"/>
            <a:ext cx="1901611" cy="810000"/>
          </a:xfrm>
          <a:prstGeom prst="rect">
            <a:avLst/>
          </a:prstGeom>
        </p:spPr>
      </p:pic>
      <p:grpSp>
        <p:nvGrpSpPr>
          <p:cNvPr id="5" name="Group 4">
            <a:extLst>
              <a:ext uri="{FF2B5EF4-FFF2-40B4-BE49-F238E27FC236}">
                <a16:creationId xmlns:a16="http://schemas.microsoft.com/office/drawing/2014/main" id="{1B3B2816-8B2A-6529-6D2E-3E1EF106C4FF}"/>
              </a:ext>
            </a:extLst>
          </p:cNvPr>
          <p:cNvGrpSpPr/>
          <p:nvPr userDrawn="1"/>
        </p:nvGrpSpPr>
        <p:grpSpPr>
          <a:xfrm>
            <a:off x="479199" y="5940410"/>
            <a:ext cx="4969253" cy="685951"/>
            <a:chOff x="479199" y="5940410"/>
            <a:chExt cx="4969253" cy="685951"/>
          </a:xfrm>
        </p:grpSpPr>
        <p:sp>
          <p:nvSpPr>
            <p:cNvPr id="9" name="Rectangle: Rounded Corners 8">
              <a:extLst>
                <a:ext uri="{FF2B5EF4-FFF2-40B4-BE49-F238E27FC236}">
                  <a16:creationId xmlns:a16="http://schemas.microsoft.com/office/drawing/2014/main" id="{02EE06ED-DD62-4387-A077-BBD092383BBC}"/>
                </a:ext>
              </a:extLst>
            </p:cNvPr>
            <p:cNvSpPr/>
            <p:nvPr/>
          </p:nvSpPr>
          <p:spPr>
            <a:xfrm>
              <a:off x="1097930" y="6092609"/>
              <a:ext cx="4350522" cy="4729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800" b="1" i="1" dirty="0">
                  <a:solidFill>
                    <a:schemeClr val="accent2"/>
                  </a:solidFill>
                  <a:latin typeface="Myriad-ExtraBoldItalic" panose="02000000000000000000" pitchFamily="2" charset="0"/>
                </a:rPr>
                <a:t>Tribe Credit Analytics</a:t>
              </a:r>
            </a:p>
          </p:txBody>
        </p:sp>
        <p:pic>
          <p:nvPicPr>
            <p:cNvPr id="3" name="Picture 2" descr="A group of people with a light bulb above them&#10;&#10;AI-generated content may be incorrect.">
              <a:extLst>
                <a:ext uri="{FF2B5EF4-FFF2-40B4-BE49-F238E27FC236}">
                  <a16:creationId xmlns:a16="http://schemas.microsoft.com/office/drawing/2014/main" id="{ECB2F117-8E4B-AF9A-B96A-4D50C3C61FA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79199" y="5940410"/>
              <a:ext cx="685951" cy="685951"/>
            </a:xfrm>
            <a:prstGeom prst="rect">
              <a:avLst/>
            </a:prstGeom>
          </p:spPr>
        </p:pic>
      </p:grpSp>
    </p:spTree>
    <p:extLst>
      <p:ext uri="{BB962C8B-B14F-4D97-AF65-F5344CB8AC3E}">
        <p14:creationId xmlns:p14="http://schemas.microsoft.com/office/powerpoint/2010/main" val="1613087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ext a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a:xfrm>
            <a:off x="609600" y="585787"/>
            <a:ext cx="5125133" cy="64058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D2159C9-BC02-401C-A343-DC0C89192608}"/>
              </a:ext>
            </a:extLst>
          </p:cNvPr>
          <p:cNvSpPr>
            <a:spLocks noGrp="1"/>
          </p:cNvSpPr>
          <p:nvPr>
            <p:ph idx="1"/>
          </p:nvPr>
        </p:nvSpPr>
        <p:spPr>
          <a:xfrm>
            <a:off x="609600" y="2182368"/>
            <a:ext cx="5125133" cy="3902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9BE79EB1-3DB8-4F7A-A690-08A369F2B06B}"/>
              </a:ext>
            </a:extLst>
          </p:cNvPr>
          <p:cNvSpPr>
            <a:spLocks noGrp="1"/>
          </p:cNvSpPr>
          <p:nvPr>
            <p:ph type="sldNum" sz="quarter" idx="12"/>
          </p:nvPr>
        </p:nvSpPr>
        <p:spPr/>
        <p:txBody>
          <a:bodyPr/>
          <a:lstStyle/>
          <a:p>
            <a:fld id="{ED6EBBE6-E445-463B-B62F-DC8841FBBE6D}" type="slidenum">
              <a:rPr lang="en-AU" smtClean="0"/>
              <a:t>‹#›</a:t>
            </a:fld>
            <a:endParaRPr lang="en-AU"/>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09600" y="1241612"/>
            <a:ext cx="5125133" cy="462728"/>
          </a:xfrm>
        </p:spPr>
        <p:txBody>
          <a:bodyPr lIns="0" tIns="0" rIns="0" bIns="0"/>
          <a:lstStyle>
            <a:lvl1pPr>
              <a:defRPr lang="en-GB" sz="2400" dirty="0">
                <a:solidFill>
                  <a:srgbClr val="000060"/>
                </a:solidFill>
              </a:defRPr>
            </a:lvl1pPr>
          </a:lstStyle>
          <a:p>
            <a:pPr marL="0" lvl="0" indent="0">
              <a:buNone/>
            </a:pPr>
            <a:r>
              <a:rPr lang="en-US" noProof="0"/>
              <a:t>Click to edit Master subtitle style</a:t>
            </a:r>
          </a:p>
        </p:txBody>
      </p:sp>
      <p:sp>
        <p:nvSpPr>
          <p:cNvPr id="11" name="Content Placeholder 2">
            <a:extLst>
              <a:ext uri="{FF2B5EF4-FFF2-40B4-BE49-F238E27FC236}">
                <a16:creationId xmlns:a16="http://schemas.microsoft.com/office/drawing/2014/main" id="{FB9D5938-12D4-43D5-9A41-F5466FF8AA2C}"/>
              </a:ext>
            </a:extLst>
          </p:cNvPr>
          <p:cNvSpPr>
            <a:spLocks noGrp="1"/>
          </p:cNvSpPr>
          <p:nvPr>
            <p:ph idx="15"/>
          </p:nvPr>
        </p:nvSpPr>
        <p:spPr>
          <a:xfrm>
            <a:off x="609600" y="1825624"/>
            <a:ext cx="5125133" cy="375320"/>
          </a:xfrm>
        </p:spPr>
        <p:txBody>
          <a:bodyPr/>
          <a:lstStyle>
            <a:lvl1pPr>
              <a:defRPr sz="1800">
                <a:solidFill>
                  <a:schemeClr val="accent1"/>
                </a:solidFill>
                <a:latin typeface="+mj-lt"/>
              </a:defRPr>
            </a:lvl1pPr>
          </a:lstStyle>
          <a:p>
            <a:pPr lvl="0"/>
            <a:r>
              <a:rPr lang="en-US"/>
              <a:t>Click to edit Master text styles</a:t>
            </a:r>
          </a:p>
        </p:txBody>
      </p:sp>
      <p:sp>
        <p:nvSpPr>
          <p:cNvPr id="26" name="Picture Placeholder 25">
            <a:extLst>
              <a:ext uri="{FF2B5EF4-FFF2-40B4-BE49-F238E27FC236}">
                <a16:creationId xmlns:a16="http://schemas.microsoft.com/office/drawing/2014/main" id="{D1C6E884-F1C7-41B3-82F4-E73A98C2A159}"/>
              </a:ext>
            </a:extLst>
          </p:cNvPr>
          <p:cNvSpPr>
            <a:spLocks noGrp="1"/>
          </p:cNvSpPr>
          <p:nvPr>
            <p:ph type="pic" sz="quarter" idx="14" hasCustomPrompt="1"/>
          </p:nvPr>
        </p:nvSpPr>
        <p:spPr>
          <a:xfrm>
            <a:off x="6096000" y="0"/>
            <a:ext cx="6096000" cy="6858000"/>
          </a:xfrm>
          <a:prstGeom prst="rect">
            <a:avLst/>
          </a:prstGeom>
          <a:solidFill>
            <a:schemeClr val="tx2"/>
          </a:solidFill>
        </p:spPr>
        <p:txBody>
          <a:bodyPr wrap="square" bIns="720000" anchor="b">
            <a:noAutofit/>
          </a:bodyPr>
          <a:lstStyle>
            <a:lvl1pPr algn="ctr">
              <a:defRPr>
                <a:solidFill>
                  <a:schemeClr val="bg1"/>
                </a:solidFill>
              </a:defRPr>
            </a:lvl1pPr>
          </a:lstStyle>
          <a:p>
            <a:r>
              <a:rPr lang="en-US"/>
              <a:t>Click here and select an image from the Images Library in Templafy.</a:t>
            </a:r>
            <a:br>
              <a:rPr lang="en-US"/>
            </a:br>
            <a:r>
              <a:rPr lang="en-US"/>
              <a:t>Next, select a line from the Slide Elements Library.</a:t>
            </a:r>
          </a:p>
        </p:txBody>
      </p:sp>
      <p:sp>
        <p:nvSpPr>
          <p:cNvPr id="12" name="Text Placeholder 21">
            <a:extLst>
              <a:ext uri="{FF2B5EF4-FFF2-40B4-BE49-F238E27FC236}">
                <a16:creationId xmlns:a16="http://schemas.microsoft.com/office/drawing/2014/main" id="{9CFE1D75-7251-4483-BBC0-74419743A7AE}"/>
              </a:ext>
            </a:extLst>
          </p:cNvPr>
          <p:cNvSpPr>
            <a:spLocks noGrp="1" noChangeAspect="1"/>
          </p:cNvSpPr>
          <p:nvPr>
            <p:ph type="body" sz="quarter" idx="18" hasCustomPrompt="1"/>
          </p:nvPr>
        </p:nvSpPr>
        <p:spPr>
          <a:xfrm>
            <a:off x="10664855" y="6392069"/>
            <a:ext cx="890406" cy="162000"/>
          </a:xfrm>
          <a:blipFill>
            <a:blip r:embed="rId2"/>
            <a:stretch>
              <a:fillRect/>
            </a:stretch>
          </a:blipFill>
        </p:spPr>
        <p:txBody>
          <a:bodyPr/>
          <a:lstStyle>
            <a:lvl1pPr>
              <a:defRPr/>
            </a:lvl1pPr>
            <a:lvl5pPr>
              <a:defRPr/>
            </a:lvl5pPr>
          </a:lstStyle>
          <a:p>
            <a:pPr lvl="0"/>
            <a:r>
              <a:rPr lang="en-US"/>
              <a:t>  </a:t>
            </a:r>
          </a:p>
        </p:txBody>
      </p:sp>
      <p:sp>
        <p:nvSpPr>
          <p:cNvPr id="13" name="Text Placeholder 21">
            <a:extLst>
              <a:ext uri="{FF2B5EF4-FFF2-40B4-BE49-F238E27FC236}">
                <a16:creationId xmlns:a16="http://schemas.microsoft.com/office/drawing/2014/main" id="{BA0FC536-0452-4EEF-9633-5C9F8DD298BC}"/>
              </a:ext>
            </a:extLst>
          </p:cNvPr>
          <p:cNvSpPr>
            <a:spLocks noGrp="1" noChangeAspect="1"/>
          </p:cNvSpPr>
          <p:nvPr>
            <p:ph type="body" sz="quarter" idx="17" hasCustomPrompt="1"/>
          </p:nvPr>
        </p:nvSpPr>
        <p:spPr>
          <a:xfrm>
            <a:off x="10664855" y="6392069"/>
            <a:ext cx="890406" cy="162000"/>
          </a:xfrm>
          <a:blipFill>
            <a:blip r:embed="rId3"/>
            <a:stretch>
              <a:fillRect/>
            </a:stretch>
          </a:blipFill>
        </p:spPr>
        <p:txBody>
          <a:bodyPr/>
          <a:lstStyle>
            <a:lvl1pPr>
              <a:defRPr/>
            </a:lvl1pPr>
            <a:lvl5pPr>
              <a:defRPr/>
            </a:lvl5pPr>
          </a:lstStyle>
          <a:p>
            <a:pPr lvl="0"/>
            <a:r>
              <a:rPr lang="en-US"/>
              <a:t>  </a:t>
            </a:r>
          </a:p>
        </p:txBody>
      </p:sp>
      <p:pic>
        <p:nvPicPr>
          <p:cNvPr id="8" name="Picture 7">
            <a:extLst>
              <a:ext uri="{FF2B5EF4-FFF2-40B4-BE49-F238E27FC236}">
                <a16:creationId xmlns:a16="http://schemas.microsoft.com/office/drawing/2014/main" id="{8C52B808-2CAC-DBA4-E148-F7766DDE8D12}"/>
              </a:ext>
            </a:extLst>
          </p:cNvPr>
          <p:cNvPicPr>
            <a:picLocks noChangeAspect="1"/>
          </p:cNvPicPr>
          <p:nvPr userDrawn="1"/>
        </p:nvPicPr>
        <p:blipFill>
          <a:blip r:embed="rId4"/>
          <a:stretch>
            <a:fillRect/>
          </a:stretch>
        </p:blipFill>
        <p:spPr>
          <a:xfrm>
            <a:off x="10180146" y="0"/>
            <a:ext cx="2011854" cy="1097375"/>
          </a:xfrm>
          <a:prstGeom prst="rect">
            <a:avLst/>
          </a:prstGeom>
        </p:spPr>
      </p:pic>
    </p:spTree>
    <p:extLst>
      <p:ext uri="{BB962C8B-B14F-4D97-AF65-F5344CB8AC3E}">
        <p14:creationId xmlns:p14="http://schemas.microsoft.com/office/powerpoint/2010/main" val="1664087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D2159C9-BC02-401C-A343-DC0C89192608}"/>
              </a:ext>
            </a:extLst>
          </p:cNvPr>
          <p:cNvSpPr>
            <a:spLocks noGrp="1"/>
          </p:cNvSpPr>
          <p:nvPr>
            <p:ph idx="1"/>
          </p:nvPr>
        </p:nvSpPr>
        <p:spPr>
          <a:xfrm>
            <a:off x="609600" y="1825625"/>
            <a:ext cx="10945792" cy="4258800"/>
          </a:xfrm>
        </p:spPr>
        <p:txBody>
          <a:bodyPr/>
          <a:lstStyle>
            <a:lvl4pPr>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9BE79EB1-3DB8-4F7A-A690-08A369F2B06B}"/>
              </a:ext>
            </a:extLst>
          </p:cNvPr>
          <p:cNvSpPr>
            <a:spLocks noGrp="1"/>
          </p:cNvSpPr>
          <p:nvPr>
            <p:ph type="sldNum" sz="quarter" idx="12"/>
          </p:nvPr>
        </p:nvSpPr>
        <p:spPr/>
        <p:txBody>
          <a:bodyPr/>
          <a:lstStyle/>
          <a:p>
            <a:fld id="{ED6EBBE6-E445-463B-B62F-DC8841FBBE6D}" type="slidenum">
              <a:rPr lang="en-AU" smtClean="0"/>
              <a:t>‹#›</a:t>
            </a:fld>
            <a:endParaRPr lang="en-AU"/>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09600" y="1241612"/>
            <a:ext cx="10945792" cy="462728"/>
          </a:xfrm>
        </p:spPr>
        <p:txBody>
          <a:bodyPr lIns="0" tIns="0" rIns="0" bIns="0"/>
          <a:lstStyle>
            <a:lvl1pPr>
              <a:defRPr lang="en-GB" sz="2400" dirty="0">
                <a:solidFill>
                  <a:srgbClr val="000060"/>
                </a:solidFill>
              </a:defRPr>
            </a:lvl1pPr>
          </a:lstStyle>
          <a:p>
            <a:pPr marL="0" lvl="0" indent="0">
              <a:buNone/>
            </a:pPr>
            <a:r>
              <a:rPr lang="en-US" noProof="0"/>
              <a:t>Click to edit Master subtitle style</a:t>
            </a:r>
          </a:p>
        </p:txBody>
      </p:sp>
    </p:spTree>
    <p:extLst>
      <p:ext uri="{BB962C8B-B14F-4D97-AF65-F5344CB8AC3E}">
        <p14:creationId xmlns:p14="http://schemas.microsoft.com/office/powerpoint/2010/main" val="823618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338BA5-BF9F-2E7D-ECC3-C40EC8C1B6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NL"/>
          </a:p>
        </p:txBody>
      </p:sp>
      <p:sp>
        <p:nvSpPr>
          <p:cNvPr id="3" name="Text Placeholder 2">
            <a:extLst>
              <a:ext uri="{FF2B5EF4-FFF2-40B4-BE49-F238E27FC236}">
                <a16:creationId xmlns:a16="http://schemas.microsoft.com/office/drawing/2014/main" id="{2526B9E9-CBC6-4763-E1BE-65AF59E08E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CE228BDE-A320-1423-F615-AD998693E2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B48122-E151-4A9B-8CE8-F9EC241E73C7}" type="datetimeFigureOut">
              <a:rPr lang="nl-NL" smtClean="0"/>
              <a:t>21-9-2026</a:t>
            </a:fld>
            <a:endParaRPr lang="nl-NL"/>
          </a:p>
        </p:txBody>
      </p:sp>
      <p:sp>
        <p:nvSpPr>
          <p:cNvPr id="5" name="Footer Placeholder 4">
            <a:extLst>
              <a:ext uri="{FF2B5EF4-FFF2-40B4-BE49-F238E27FC236}">
                <a16:creationId xmlns:a16="http://schemas.microsoft.com/office/drawing/2014/main" id="{FD4BDEC0-0511-B84D-C430-5A741BE19C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NL"/>
          </a:p>
        </p:txBody>
      </p:sp>
      <p:sp>
        <p:nvSpPr>
          <p:cNvPr id="6" name="Slide Number Placeholder 5">
            <a:extLst>
              <a:ext uri="{FF2B5EF4-FFF2-40B4-BE49-F238E27FC236}">
                <a16:creationId xmlns:a16="http://schemas.microsoft.com/office/drawing/2014/main" id="{00DB6275-43F5-ED90-D0C8-C598EE04E3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687451-F95E-4074-81A1-41B69FE4EDDA}" type="slidenum">
              <a:rPr lang="nl-NL" smtClean="0"/>
              <a:t>‹#›</a:t>
            </a:fld>
            <a:endParaRPr lang="nl-NL"/>
          </a:p>
        </p:txBody>
      </p:sp>
    </p:spTree>
    <p:extLst>
      <p:ext uri="{BB962C8B-B14F-4D97-AF65-F5344CB8AC3E}">
        <p14:creationId xmlns:p14="http://schemas.microsoft.com/office/powerpoint/2010/main" val="28803862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4.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svg"/><Relationship Id="rId3" Type="http://schemas.openxmlformats.org/officeDocument/2006/relationships/image" Target="../media/image17.svg"/><Relationship Id="rId7" Type="http://schemas.openxmlformats.org/officeDocument/2006/relationships/image" Target="../media/image21.svg"/><Relationship Id="rId12" Type="http://schemas.openxmlformats.org/officeDocument/2006/relationships/image" Target="../media/image26.svg"/><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image" Target="../media/image20.sv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svg"/><Relationship Id="rId14" Type="http://schemas.openxmlformats.org/officeDocument/2006/relationships/image" Target="../media/image28.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oup of people talking and smiling&#10;&#10;AI-generated content may be incorrect.">
            <a:extLst>
              <a:ext uri="{FF2B5EF4-FFF2-40B4-BE49-F238E27FC236}">
                <a16:creationId xmlns:a16="http://schemas.microsoft.com/office/drawing/2014/main" id="{8782E448-192D-AFA5-A91C-AF73A61D5865}"/>
              </a:ext>
            </a:extLst>
          </p:cNvPr>
          <p:cNvPicPr>
            <a:picLocks noChangeAspect="1"/>
          </p:cNvPicPr>
          <p:nvPr/>
        </p:nvPicPr>
        <p:blipFill>
          <a:blip r:embed="rId3">
            <a:extLst>
              <a:ext uri="{28A0092B-C50C-407E-A947-70E740481C1C}">
                <a14:useLocalDpi xmlns:a14="http://schemas.microsoft.com/office/drawing/2010/main" val="0"/>
              </a:ext>
            </a:extLst>
          </a:blip>
          <a:srcRect l="10216" t="2" r="6425" b="535"/>
          <a:stretch/>
        </p:blipFill>
        <p:spPr>
          <a:xfrm>
            <a:off x="-2" y="-1"/>
            <a:ext cx="12192001" cy="5787851"/>
          </a:xfrm>
          <a:prstGeom prst="rect">
            <a:avLst/>
          </a:prstGeom>
        </p:spPr>
      </p:pic>
      <p:sp>
        <p:nvSpPr>
          <p:cNvPr id="8" name="Rectangle 7">
            <a:extLst>
              <a:ext uri="{FF2B5EF4-FFF2-40B4-BE49-F238E27FC236}">
                <a16:creationId xmlns:a16="http://schemas.microsoft.com/office/drawing/2014/main" id="{5B767976-F7F4-4E8E-9060-D89CB58314B7}"/>
              </a:ext>
            </a:extLst>
          </p:cNvPr>
          <p:cNvSpPr/>
          <p:nvPr/>
        </p:nvSpPr>
        <p:spPr>
          <a:xfrm>
            <a:off x="-2" y="-23670"/>
            <a:ext cx="12192000" cy="5811520"/>
          </a:xfrm>
          <a:prstGeom prst="rect">
            <a:avLst/>
          </a:prstGeom>
          <a:gradFill>
            <a:gsLst>
              <a:gs pos="20000">
                <a:srgbClr val="000000">
                  <a:alpha val="14902"/>
                </a:srgbClr>
              </a:gs>
              <a:gs pos="100000">
                <a:schemeClr val="tx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Myriad for Rabobank"/>
              <a:ea typeface="+mn-ea"/>
              <a:cs typeface="+mn-cs"/>
            </a:endParaRPr>
          </a:p>
        </p:txBody>
      </p:sp>
      <p:sp>
        <p:nvSpPr>
          <p:cNvPr id="4" name="Rectangle 3">
            <a:extLst>
              <a:ext uri="{FF2B5EF4-FFF2-40B4-BE49-F238E27FC236}">
                <a16:creationId xmlns:a16="http://schemas.microsoft.com/office/drawing/2014/main" id="{B7B57116-8B7F-0CE7-C9CE-51EA93DE19D9}"/>
              </a:ext>
            </a:extLst>
          </p:cNvPr>
          <p:cNvSpPr/>
          <p:nvPr/>
        </p:nvSpPr>
        <p:spPr>
          <a:xfrm>
            <a:off x="-3" y="-23670"/>
            <a:ext cx="12192000" cy="5811520"/>
          </a:xfrm>
          <a:prstGeom prst="rect">
            <a:avLst/>
          </a:prstGeom>
          <a:gradFill>
            <a:gsLst>
              <a:gs pos="20000">
                <a:srgbClr val="000000">
                  <a:alpha val="14902"/>
                </a:srgbClr>
              </a:gs>
              <a:gs pos="100000">
                <a:schemeClr val="tx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Myriad for Rabobank"/>
              <a:ea typeface="+mn-ea"/>
              <a:cs typeface="+mn-cs"/>
            </a:endParaRPr>
          </a:p>
        </p:txBody>
      </p:sp>
      <p:sp>
        <p:nvSpPr>
          <p:cNvPr id="5" name="Rectangle 4">
            <a:extLst>
              <a:ext uri="{FF2B5EF4-FFF2-40B4-BE49-F238E27FC236}">
                <a16:creationId xmlns:a16="http://schemas.microsoft.com/office/drawing/2014/main" id="{4FC0A403-AA1F-85A3-75DB-64FA3A529616}"/>
              </a:ext>
            </a:extLst>
          </p:cNvPr>
          <p:cNvSpPr/>
          <p:nvPr/>
        </p:nvSpPr>
        <p:spPr>
          <a:xfrm>
            <a:off x="0" y="1035163"/>
            <a:ext cx="12192000" cy="5811520"/>
          </a:xfrm>
          <a:prstGeom prst="rect">
            <a:avLst/>
          </a:prstGeom>
          <a:gradFill>
            <a:gsLst>
              <a:gs pos="20000">
                <a:srgbClr val="000000">
                  <a:alpha val="14902"/>
                </a:srgbClr>
              </a:gs>
              <a:gs pos="100000">
                <a:schemeClr val="tx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Myriad for Rabobank"/>
              <a:ea typeface="+mn-ea"/>
              <a:cs typeface="+mn-cs"/>
            </a:endParaRPr>
          </a:p>
        </p:txBody>
      </p:sp>
      <p:sp>
        <p:nvSpPr>
          <p:cNvPr id="19" name="Title 1">
            <a:extLst>
              <a:ext uri="{FF2B5EF4-FFF2-40B4-BE49-F238E27FC236}">
                <a16:creationId xmlns:a16="http://schemas.microsoft.com/office/drawing/2014/main" id="{4C628336-B341-4DD4-9998-52AA100D60E4}"/>
              </a:ext>
            </a:extLst>
          </p:cNvPr>
          <p:cNvSpPr txBox="1">
            <a:spLocks/>
          </p:cNvSpPr>
          <p:nvPr/>
        </p:nvSpPr>
        <p:spPr>
          <a:xfrm>
            <a:off x="438905" y="1439814"/>
            <a:ext cx="10945792" cy="64058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5800" kern="1200">
                <a:solidFill>
                  <a:schemeClr val="bg1"/>
                </a:solidFill>
                <a:latin typeface="+mj-lt"/>
                <a:ea typeface="+mj-ea"/>
                <a:cs typeface="+mj-cs"/>
              </a:defRPr>
            </a:lvl1pPr>
          </a:lstStyle>
          <a:p>
            <a:pPr lvl="0">
              <a:defRPr/>
            </a:pPr>
            <a:r>
              <a:rPr lang="nl-NL" b="1" dirty="0"/>
              <a:t>E2E Batch  Automation Test </a:t>
            </a:r>
            <a:r>
              <a:rPr lang="nl-NL" b="1" dirty="0" err="1"/>
              <a:t>Strategy</a:t>
            </a:r>
            <a:endParaRPr kumimoji="0" lang="en-IE" sz="4800" b="0" i="0" u="none" strike="noStrike" kern="1200" cap="none" spc="0" normalizeH="0" baseline="0" noProof="0" dirty="0">
              <a:ln>
                <a:noFill/>
              </a:ln>
              <a:solidFill>
                <a:prstClr val="white"/>
              </a:solidFill>
              <a:effectLst>
                <a:outerShdw blurRad="431800" sx="102000" sy="102000" algn="ctr" rotWithShape="0">
                  <a:prstClr val="black">
                    <a:alpha val="40000"/>
                  </a:prstClr>
                </a:outerShdw>
              </a:effectLst>
              <a:uLnTx/>
              <a:uFillTx/>
              <a:latin typeface="Myriad for Rabobank It"/>
            </a:endParaRPr>
          </a:p>
        </p:txBody>
      </p:sp>
      <p:sp>
        <p:nvSpPr>
          <p:cNvPr id="9" name="Subtitle 9">
            <a:extLst>
              <a:ext uri="{FF2B5EF4-FFF2-40B4-BE49-F238E27FC236}">
                <a16:creationId xmlns:a16="http://schemas.microsoft.com/office/drawing/2014/main" id="{C09D8D18-DC44-454E-9490-D2B58597760F}"/>
              </a:ext>
            </a:extLst>
          </p:cNvPr>
          <p:cNvSpPr>
            <a:spLocks noGrp="1"/>
          </p:cNvSpPr>
          <p:nvPr>
            <p:ph type="subTitle" idx="13"/>
          </p:nvPr>
        </p:nvSpPr>
        <p:spPr>
          <a:xfrm>
            <a:off x="1747619" y="4402821"/>
            <a:ext cx="10945792" cy="462728"/>
          </a:xfrm>
        </p:spPr>
        <p:txBody>
          <a:bodyPr/>
          <a:lstStyle/>
          <a:p>
            <a:pPr marL="0" indent="0">
              <a:buNone/>
            </a:pPr>
            <a:r>
              <a:rPr lang="en-GB" sz="1800" dirty="0">
                <a:solidFill>
                  <a:schemeClr val="bg2"/>
                </a:solidFill>
                <a:effectLst>
                  <a:outerShdw blurRad="406400" sx="102000" sy="102000" algn="ctr" rotWithShape="0">
                    <a:prstClr val="black">
                      <a:alpha val="40000"/>
                    </a:prstClr>
                  </a:outerShdw>
                </a:effectLst>
              </a:rPr>
              <a:t>26 August 2026 | Abhitanshu Shukla | Ankur Puri</a:t>
            </a:r>
            <a:endParaRPr lang="en-AU" sz="1800" dirty="0">
              <a:solidFill>
                <a:schemeClr val="bg2"/>
              </a:solidFill>
              <a:effectLst>
                <a:outerShdw blurRad="406400" sx="102000" sy="102000" algn="ctr" rotWithShape="0">
                  <a:prstClr val="black">
                    <a:alpha val="40000"/>
                  </a:prstClr>
                </a:outerShdw>
              </a:effectLst>
            </a:endParaRPr>
          </a:p>
        </p:txBody>
      </p:sp>
    </p:spTree>
    <p:extLst>
      <p:ext uri="{BB962C8B-B14F-4D97-AF65-F5344CB8AC3E}">
        <p14:creationId xmlns:p14="http://schemas.microsoft.com/office/powerpoint/2010/main" val="234170306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6C7FC59-4687-A87F-97A6-38B232A365B4}"/>
              </a:ext>
            </a:extLst>
          </p:cNvPr>
          <p:cNvSpPr>
            <a:spLocks noGrp="1"/>
          </p:cNvSpPr>
          <p:nvPr>
            <p:ph type="title"/>
          </p:nvPr>
        </p:nvSpPr>
        <p:spPr/>
        <p:txBody>
          <a:bodyPr/>
          <a:lstStyle/>
          <a:p>
            <a:r>
              <a:rPr lang="nl-NL" sz="3200" dirty="0"/>
              <a:t>Use Case</a:t>
            </a:r>
          </a:p>
        </p:txBody>
      </p:sp>
      <p:sp>
        <p:nvSpPr>
          <p:cNvPr id="9" name="Content Placeholder 8">
            <a:extLst>
              <a:ext uri="{FF2B5EF4-FFF2-40B4-BE49-F238E27FC236}">
                <a16:creationId xmlns:a16="http://schemas.microsoft.com/office/drawing/2014/main" id="{34518004-BFEB-E77F-7C40-F23E78CD38D4}"/>
              </a:ext>
            </a:extLst>
          </p:cNvPr>
          <p:cNvSpPr>
            <a:spLocks noGrp="1"/>
          </p:cNvSpPr>
          <p:nvPr>
            <p:ph idx="1"/>
          </p:nvPr>
        </p:nvSpPr>
        <p:spPr>
          <a:xfrm>
            <a:off x="609600" y="2250000"/>
            <a:ext cx="5125133" cy="1750000"/>
          </a:xfrm>
        </p:spPr>
        <p:txBody>
          <a:bodyPr>
            <a:normAutofit fontScale="92500"/>
          </a:bodyPr>
          <a:lstStyle/>
          <a:p>
            <a:pPr marL="228600" indent="-228600" algn="l">
              <a:lnSpc>
                <a:spcPct val="95000"/>
              </a:lnSpc>
              <a:spcBef>
                <a:spcPts val="800"/>
              </a:spcBef>
              <a:buClr>
                <a:srgbClr val="0058FF"/>
              </a:buClr>
              <a:buFont typeface="Arial" panose="020B0604020202020204" pitchFamily="34" charset="0"/>
              <a:buChar char="•"/>
            </a:pPr>
            <a:r>
              <a:rPr lang="en-GB" sz="1600" dirty="0">
                <a:solidFill>
                  <a:srgbClr val="363A3B"/>
                </a:solidFill>
                <a:latin typeface="Myriad for Rabobank"/>
              </a:rPr>
              <a:t>Portfolios ingest data from many heterogeneous sources</a:t>
            </a:r>
          </a:p>
          <a:p>
            <a:pPr marL="228600" indent="-228600" algn="l">
              <a:lnSpc>
                <a:spcPct val="95000"/>
              </a:lnSpc>
              <a:spcBef>
                <a:spcPts val="800"/>
              </a:spcBef>
              <a:buClr>
                <a:srgbClr val="0058FF"/>
              </a:buClr>
              <a:buFont typeface="Arial" panose="020B0604020202020204" pitchFamily="34" charset="0"/>
              <a:buChar char="•"/>
            </a:pPr>
            <a:r>
              <a:rPr lang="en-GB" sz="1600" dirty="0">
                <a:solidFill>
                  <a:srgbClr val="363A3B"/>
                </a:solidFill>
                <a:latin typeface="Myriad for Rabobank"/>
              </a:rPr>
              <a:t>No systematic quality framework across those sources</a:t>
            </a:r>
          </a:p>
          <a:p>
            <a:pPr marL="228600" indent="-228600" algn="l">
              <a:lnSpc>
                <a:spcPct val="95000"/>
              </a:lnSpc>
              <a:spcBef>
                <a:spcPts val="800"/>
              </a:spcBef>
              <a:buClr>
                <a:srgbClr val="0058FF"/>
              </a:buClr>
              <a:buFont typeface="Arial" panose="020B0604020202020204" pitchFamily="34" charset="0"/>
              <a:buChar char="•"/>
            </a:pPr>
            <a:r>
              <a:rPr lang="en-GB" sz="1600" dirty="0">
                <a:solidFill>
                  <a:srgbClr val="363A3B"/>
                </a:solidFill>
                <a:latin typeface="Myriad for Rabobank"/>
              </a:rPr>
              <a:t>Dirty, stale or structurally inconsistent records propagate silently into reports, dashboards and models</a:t>
            </a:r>
          </a:p>
          <a:p>
            <a:pPr marL="228600" indent="-228600" algn="l">
              <a:lnSpc>
                <a:spcPct val="95000"/>
              </a:lnSpc>
              <a:spcBef>
                <a:spcPts val="800"/>
              </a:spcBef>
              <a:buClr>
                <a:srgbClr val="0058FF"/>
              </a:buClr>
              <a:buFont typeface="Arial" panose="020B0604020202020204" pitchFamily="34" charset="0"/>
              <a:buChar char="•"/>
            </a:pPr>
            <a:r>
              <a:rPr lang="en-GB" sz="1600" dirty="0">
                <a:solidFill>
                  <a:srgbClr val="363A3B"/>
                </a:solidFill>
                <a:latin typeface="Myriad for Rabobank"/>
              </a:rPr>
              <a:t>Consumers lose trust in the platform and fall back on manual reconciliation</a:t>
            </a:r>
          </a:p>
        </p:txBody>
      </p:sp>
      <p:sp>
        <p:nvSpPr>
          <p:cNvPr id="12" name="Content Placeholder 11">
            <a:extLst>
              <a:ext uri="{FF2B5EF4-FFF2-40B4-BE49-F238E27FC236}">
                <a16:creationId xmlns:a16="http://schemas.microsoft.com/office/drawing/2014/main" id="{54476649-A934-C48E-B744-385E5057ED57}"/>
              </a:ext>
            </a:extLst>
          </p:cNvPr>
          <p:cNvSpPr>
            <a:spLocks noGrp="1"/>
          </p:cNvSpPr>
          <p:nvPr>
            <p:ph idx="15"/>
          </p:nvPr>
        </p:nvSpPr>
        <p:spPr/>
        <p:txBody>
          <a:bodyPr/>
          <a:lstStyle/>
          <a:p>
            <a:r>
              <a:rPr lang="en-GB" dirty="0"/>
              <a:t>Problem</a:t>
            </a:r>
            <a:endParaRPr lang="nl-NL" dirty="0"/>
          </a:p>
        </p:txBody>
      </p:sp>
      <p:pic>
        <p:nvPicPr>
          <p:cNvPr id="22" name="Picture Placeholder 21" descr="A person holding a tablet with a drawing on it&#10;&#10;AI-generated content may be incorrect.">
            <a:extLst>
              <a:ext uri="{FF2B5EF4-FFF2-40B4-BE49-F238E27FC236}">
                <a16:creationId xmlns:a16="http://schemas.microsoft.com/office/drawing/2014/main" id="{1B1D4E98-0963-33BD-AC43-ACC942D5E3ED}"/>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3037" r="13037"/>
          <a:stretch>
            <a:fillRect/>
          </a:stretch>
        </p:blipFill>
        <p:spPr/>
      </p:pic>
      <p:sp>
        <p:nvSpPr>
          <p:cNvPr id="14" name="Text Placeholder 13">
            <a:extLst>
              <a:ext uri="{FF2B5EF4-FFF2-40B4-BE49-F238E27FC236}">
                <a16:creationId xmlns:a16="http://schemas.microsoft.com/office/drawing/2014/main" id="{8EF901C3-A0FC-45BA-D67A-7705E0B4A1ED}"/>
              </a:ext>
            </a:extLst>
          </p:cNvPr>
          <p:cNvSpPr>
            <a:spLocks noGrp="1"/>
          </p:cNvSpPr>
          <p:nvPr>
            <p:ph type="body" sz="quarter" idx="18"/>
          </p:nvPr>
        </p:nvSpPr>
        <p:spPr/>
        <p:txBody>
          <a:bodyPr>
            <a:normAutofit fontScale="25000" lnSpcReduction="20000"/>
          </a:bodyPr>
          <a:lstStyle/>
          <a:p>
            <a:endParaRPr lang="nl-NL"/>
          </a:p>
        </p:txBody>
      </p:sp>
      <p:sp>
        <p:nvSpPr>
          <p:cNvPr id="13" name="Text Placeholder 12">
            <a:extLst>
              <a:ext uri="{FF2B5EF4-FFF2-40B4-BE49-F238E27FC236}">
                <a16:creationId xmlns:a16="http://schemas.microsoft.com/office/drawing/2014/main" id="{F5A2D31B-8E03-6C88-FFAD-D45D2C7B4906}"/>
              </a:ext>
            </a:extLst>
          </p:cNvPr>
          <p:cNvSpPr>
            <a:spLocks noGrp="1"/>
          </p:cNvSpPr>
          <p:nvPr>
            <p:ph type="body" sz="quarter" idx="17"/>
          </p:nvPr>
        </p:nvSpPr>
        <p:spPr/>
        <p:txBody>
          <a:bodyPr>
            <a:normAutofit fontScale="25000" lnSpcReduction="20000"/>
          </a:bodyPr>
          <a:lstStyle/>
          <a:p>
            <a:endParaRPr lang="nl-NL"/>
          </a:p>
        </p:txBody>
      </p:sp>
      <p:sp>
        <p:nvSpPr>
          <p:cNvPr id="15" name="Content Placeholder 11">
            <a:extLst>
              <a:ext uri="{FF2B5EF4-FFF2-40B4-BE49-F238E27FC236}">
                <a16:creationId xmlns:a16="http://schemas.microsoft.com/office/drawing/2014/main" id="{6367416F-87E9-F2DB-99A9-CF1954FDEE30}"/>
              </a:ext>
            </a:extLst>
          </p:cNvPr>
          <p:cNvSpPr txBox="1">
            <a:spLocks/>
          </p:cNvSpPr>
          <p:nvPr/>
        </p:nvSpPr>
        <p:spPr>
          <a:xfrm>
            <a:off x="609598" y="4180000"/>
            <a:ext cx="5125133" cy="375320"/>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800" kern="1200">
                <a:solidFill>
                  <a:schemeClr val="accent1"/>
                </a:solidFill>
                <a:latin typeface="+mj-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kumimoji="0" lang="en-GB" sz="1800" b="0" i="0" u="none" strike="noStrike" kern="1200" cap="none" spc="0" normalizeH="0" baseline="0" noProof="0" dirty="0">
                <a:ln>
                  <a:noFill/>
                </a:ln>
                <a:solidFill>
                  <a:srgbClr val="0058FF"/>
                </a:solidFill>
                <a:effectLst/>
                <a:uLnTx/>
                <a:uFillTx/>
                <a:latin typeface="Myriad for Rabobank It"/>
                <a:ea typeface="+mn-ea"/>
                <a:cs typeface="+mn-cs"/>
              </a:rPr>
              <a:t>Idea</a:t>
            </a:r>
            <a:endParaRPr kumimoji="0" lang="nl-NL" sz="1800" b="0" i="0" u="none" strike="noStrike" kern="1200" cap="none" spc="0" normalizeH="0" baseline="0" noProof="0" dirty="0">
              <a:ln>
                <a:noFill/>
              </a:ln>
              <a:solidFill>
                <a:srgbClr val="0058FF"/>
              </a:solidFill>
              <a:effectLst/>
              <a:uLnTx/>
              <a:uFillTx/>
              <a:latin typeface="Myriad for Rabobank It"/>
              <a:ea typeface="+mn-ea"/>
              <a:cs typeface="+mn-cs"/>
            </a:endParaRPr>
          </a:p>
        </p:txBody>
      </p:sp>
      <p:sp>
        <p:nvSpPr>
          <p:cNvPr id="16" name="Content Placeholder 14">
            <a:extLst>
              <a:ext uri="{FF2B5EF4-FFF2-40B4-BE49-F238E27FC236}">
                <a16:creationId xmlns:a16="http://schemas.microsoft.com/office/drawing/2014/main" id="{7A97A952-D007-54CD-6A01-4B6348E065FC}"/>
              </a:ext>
            </a:extLst>
          </p:cNvPr>
          <p:cNvSpPr txBox="1">
            <a:spLocks/>
          </p:cNvSpPr>
          <p:nvPr/>
        </p:nvSpPr>
        <p:spPr>
          <a:xfrm>
            <a:off x="609598" y="4600000"/>
            <a:ext cx="5125133" cy="1350000"/>
          </a:xfrm>
          <a:prstGeom prst="rect">
            <a:avLst/>
          </a:prstGeom>
          <a:blipFill>
            <a:blip r:embed="rId3"/>
            <a:stretch>
              <a:fillRect/>
            </a:stretch>
          </a:blipFill>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28600" algn="l">
              <a:lnSpc>
                <a:spcPct val="95000"/>
              </a:lnSpc>
              <a:spcBef>
                <a:spcPts val="800"/>
              </a:spcBef>
              <a:buClr>
                <a:srgbClr val="0058FF"/>
              </a:buClr>
              <a:buFont typeface="Arial" panose="020B0604020202020204" pitchFamily="34" charset="0"/>
              <a:buChar char="•"/>
            </a:pPr>
            <a:r>
              <a:rPr lang="en-GB" sz="1600" dirty="0">
                <a:solidFill>
                  <a:srgbClr val="363A3B"/>
                </a:solidFill>
                <a:latin typeface="Myriad for Rabobank"/>
              </a:rPr>
              <a:t>Every record passes a defined set of quality gates before it is delivered</a:t>
            </a:r>
          </a:p>
          <a:p>
            <a:pPr marL="228600" indent="-228600" algn="l">
              <a:lnSpc>
                <a:spcPct val="95000"/>
              </a:lnSpc>
              <a:spcBef>
                <a:spcPts val="800"/>
              </a:spcBef>
              <a:buClr>
                <a:srgbClr val="0058FF"/>
              </a:buClr>
              <a:buFont typeface="Arial" panose="020B0604020202020204" pitchFamily="34" charset="0"/>
              <a:buChar char="•"/>
            </a:pPr>
            <a:r>
              <a:rPr lang="en-GB" sz="1600" dirty="0">
                <a:solidFill>
                  <a:srgbClr val="363A3B"/>
                </a:solidFill>
                <a:latin typeface="Myriad for Rabobank"/>
              </a:rPr>
              <a:t>Consumers rely on the data as delivered — no quality checks of their own</a:t>
            </a:r>
          </a:p>
        </p:txBody>
      </p:sp>
    </p:spTree>
    <p:extLst>
      <p:ext uri="{BB962C8B-B14F-4D97-AF65-F5344CB8AC3E}">
        <p14:creationId xmlns:p14="http://schemas.microsoft.com/office/powerpoint/2010/main" val="1498028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669D433-4765-6950-8FA8-0C6294005E20}"/>
              </a:ext>
            </a:extLst>
          </p:cNvPr>
          <p:cNvSpPr>
            <a:spLocks noGrp="1"/>
          </p:cNvSpPr>
          <p:nvPr>
            <p:ph type="title"/>
          </p:nvPr>
        </p:nvSpPr>
        <p:spPr>
          <a:xfrm>
            <a:off x="838200" y="365125"/>
            <a:ext cx="9920776" cy="281651"/>
          </a:xfrm>
        </p:spPr>
        <p:txBody>
          <a:bodyPr>
            <a:normAutofit fontScale="90000"/>
          </a:bodyPr>
          <a:lstStyle/>
          <a:p>
            <a:r>
              <a:rPr lang="en-GB" sz="3200" dirty="0"/>
              <a:t>End to End Batch Test Framework Architecture</a:t>
            </a:r>
            <a:endParaRPr lang="nl-NL" sz="3200" dirty="0"/>
          </a:p>
        </p:txBody>
      </p:sp>
      <p:sp>
        <p:nvSpPr>
          <p:cNvPr id="39" name="Subtitle 38">
            <a:extLst>
              <a:ext uri="{FF2B5EF4-FFF2-40B4-BE49-F238E27FC236}">
                <a16:creationId xmlns:a16="http://schemas.microsoft.com/office/drawing/2014/main" id="{27DC3199-6EC8-A640-57F0-FE0FE5A3E1CF}"/>
              </a:ext>
            </a:extLst>
          </p:cNvPr>
          <p:cNvSpPr>
            <a:spLocks noGrp="1"/>
          </p:cNvSpPr>
          <p:nvPr>
            <p:ph type="subTitle" idx="13"/>
          </p:nvPr>
        </p:nvSpPr>
        <p:spPr>
          <a:xfrm>
            <a:off x="621580" y="982024"/>
            <a:ext cx="10945792" cy="462728"/>
          </a:xfrm>
        </p:spPr>
        <p:txBody>
          <a:bodyPr/>
          <a:lstStyle/>
          <a:p>
            <a:r>
              <a:rPr lang="en-US" sz="1800" dirty="0"/>
              <a:t>One batch, seven hops — and the three points where we test</a:t>
            </a:r>
          </a:p>
        </p:txBody>
      </p:sp>
      <p:sp>
        <p:nvSpPr>
          <p:cNvPr id="201" name="Shape 201"/>
          <p:cNvSpPr/>
          <p:nvPr/>
        </p:nvSpPr>
        <p:spPr>
          <a:xfrm>
            <a:off x="502976" y="1540000"/>
            <a:ext cx="1400000" cy="1560000"/>
          </a:xfrm>
          <a:prstGeom prst="roundRect">
            <a:avLst>
              <a:gd name="adj" fmla="val 8000"/>
            </a:avLst>
          </a:prstGeom>
          <a:solidFill>
            <a:srgbClr val="FFFFFF"/>
          </a:solidFill>
          <a:ln w="12700">
            <a:solidFill>
              <a:srgbClr val="0E7C7B"/>
            </a:solidFill>
            <a:prstDash val="dash"/>
          </a:ln>
        </p:spPr>
        <p:txBody>
          <a:bodyPr/>
          <a:lstStyle/>
          <a:p>
            <a:endParaRPr sz="1800"/>
          </a:p>
        </p:txBody>
      </p:sp>
      <p:pic>
        <p:nvPicPr>
          <p:cNvPr id="202" name="Icon 202"/>
          <p:cNvPicPr>
            <a:picLocks noChangeAspect="1"/>
          </p:cNvPicPr>
          <p:nvPr/>
        </p:nvPicPr>
        <p:blipFill>
          <a:blip r:embed="rId2"/>
          <a:stretch>
            <a:fillRect/>
          </a:stretch>
        </p:blipFill>
        <p:spPr>
          <a:xfrm>
            <a:off x="972976" y="1790000"/>
            <a:ext cx="460000" cy="460000"/>
          </a:xfrm>
          <a:prstGeom prst="rect">
            <a:avLst/>
          </a:prstGeom>
        </p:spPr>
      </p:pic>
      <p:sp>
        <p:nvSpPr>
          <p:cNvPr id="203" name="Text 203"/>
          <p:cNvSpPr/>
          <p:nvPr/>
        </p:nvSpPr>
        <p:spPr>
          <a:xfrm>
            <a:off x="572976" y="2400000"/>
            <a:ext cx="1260000" cy="290000"/>
          </a:xfrm>
          <a:prstGeom prst="rect">
            <a:avLst/>
          </a:prstGeom>
          <a:noFill/>
          <a:ln/>
        </p:spPr>
        <p:txBody>
          <a:bodyPr wrap="square" lIns="0" tIns="0" rIns="0" bIns="0" rtlCol="0" anchor="ctr"/>
          <a:lstStyle/>
          <a:p>
            <a:pPr marL="0" indent="0" algn="ctr">
              <a:buNone/>
            </a:pPr>
            <a:r>
              <a:rPr lang="en-GB" sz="1300" b="1" dirty="0">
                <a:solidFill>
                  <a:srgbClr val="0E7C7B"/>
                </a:solidFill>
                <a:latin typeface="Calibri" pitchFamily="34" charset="0"/>
                <a:ea typeface="Calibri" pitchFamily="34" charset="-122"/>
                <a:cs typeface="Calibri" pitchFamily="34" charset="-120"/>
              </a:rPr>
              <a:t>Batch Initiation</a:t>
            </a:r>
          </a:p>
        </p:txBody>
      </p:sp>
      <p:sp>
        <p:nvSpPr>
          <p:cNvPr id="204" name="Text 204"/>
          <p:cNvSpPr/>
          <p:nvPr/>
        </p:nvSpPr>
        <p:spPr>
          <a:xfrm>
            <a:off x="562976" y="2710000"/>
            <a:ext cx="1280000" cy="220000"/>
          </a:xfrm>
          <a:prstGeom prst="rect">
            <a:avLst/>
          </a:prstGeom>
          <a:noFill/>
          <a:ln/>
        </p:spPr>
        <p:txBody>
          <a:bodyPr wrap="square" lIns="0" tIns="0" rIns="0" bIns="0" rtlCol="0" anchor="ctr"/>
          <a:lstStyle/>
          <a:p>
            <a:pPr marL="0" indent="0" algn="ctr">
              <a:buNone/>
            </a:pPr>
            <a:r>
              <a:rPr lang="en-GB" sz="850" dirty="0">
                <a:solidFill>
                  <a:srgbClr val="6B7B85"/>
                </a:solidFill>
                <a:latin typeface="Calibri" pitchFamily="34" charset="0"/>
                <a:ea typeface="Calibri" pitchFamily="34" charset="-122"/>
                <a:cs typeface="Calibri" pitchFamily="34" charset="-120"/>
              </a:rPr>
              <a:t>Technical run</a:t>
            </a:r>
          </a:p>
        </p:txBody>
      </p:sp>
      <p:sp>
        <p:nvSpPr>
          <p:cNvPr id="205" name="Shape 205"/>
          <p:cNvSpPr/>
          <p:nvPr/>
        </p:nvSpPr>
        <p:spPr>
          <a:xfrm>
            <a:off x="1947976" y="2262000"/>
            <a:ext cx="141000" cy="116000"/>
          </a:xfrm>
          <a:prstGeom prst="rightArrow">
            <a:avLst/>
          </a:prstGeom>
          <a:solidFill>
            <a:srgbClr val="C3CDD4"/>
          </a:solidFill>
          <a:ln>
            <a:noFill/>
          </a:ln>
        </p:spPr>
        <p:txBody>
          <a:bodyPr/>
          <a:lstStyle/>
          <a:p>
            <a:endParaRPr sz="1800"/>
          </a:p>
        </p:txBody>
      </p:sp>
      <p:sp>
        <p:nvSpPr>
          <p:cNvPr id="206" name="Shape 206"/>
          <p:cNvSpPr/>
          <p:nvPr/>
        </p:nvSpPr>
        <p:spPr>
          <a:xfrm>
            <a:off x="2133976" y="1540000"/>
            <a:ext cx="1400000" cy="1560000"/>
          </a:xfrm>
          <a:prstGeom prst="roundRect">
            <a:avLst>
              <a:gd name="adj" fmla="val 8000"/>
            </a:avLst>
          </a:prstGeom>
          <a:solidFill>
            <a:srgbClr val="FFFFFF"/>
          </a:solidFill>
          <a:ln w="12700">
            <a:solidFill>
              <a:srgbClr val="D8E0E4"/>
            </a:solidFill>
            <a:prstDash val="solid"/>
          </a:ln>
        </p:spPr>
        <p:txBody>
          <a:bodyPr/>
          <a:lstStyle/>
          <a:p>
            <a:endParaRPr sz="1800"/>
          </a:p>
        </p:txBody>
      </p:sp>
      <p:pic>
        <p:nvPicPr>
          <p:cNvPr id="207" name="Icon 207"/>
          <p:cNvPicPr>
            <a:picLocks noChangeAspect="1"/>
          </p:cNvPicPr>
          <p:nvPr/>
        </p:nvPicPr>
        <p:blipFill>
          <a:blip r:embed="rId3"/>
          <a:stretch>
            <a:fillRect/>
          </a:stretch>
        </p:blipFill>
        <p:spPr>
          <a:xfrm>
            <a:off x="2603976" y="1790000"/>
            <a:ext cx="460000" cy="460000"/>
          </a:xfrm>
          <a:prstGeom prst="rect">
            <a:avLst/>
          </a:prstGeom>
        </p:spPr>
      </p:pic>
      <p:sp>
        <p:nvSpPr>
          <p:cNvPr id="208" name="Text 208"/>
          <p:cNvSpPr/>
          <p:nvPr/>
        </p:nvSpPr>
        <p:spPr>
          <a:xfrm>
            <a:off x="2203976" y="2400000"/>
            <a:ext cx="1260000" cy="290000"/>
          </a:xfrm>
          <a:prstGeom prst="rect">
            <a:avLst/>
          </a:prstGeom>
          <a:noFill/>
          <a:ln/>
        </p:spPr>
        <p:txBody>
          <a:bodyPr wrap="square" lIns="0" tIns="0" rIns="0" bIns="0" rtlCol="0" anchor="ctr"/>
          <a:lstStyle/>
          <a:p>
            <a:pPr marL="0" indent="0" algn="ctr">
              <a:buNone/>
            </a:pPr>
            <a:r>
              <a:rPr lang="en-GB" sz="1300" b="1" dirty="0">
                <a:solidFill>
                  <a:srgbClr val="1B2A33"/>
                </a:solidFill>
                <a:latin typeface="Calibri" pitchFamily="34" charset="0"/>
                <a:ea typeface="Calibri" pitchFamily="34" charset="-122"/>
                <a:cs typeface="Calibri" pitchFamily="34" charset="-120"/>
              </a:rPr>
              <a:t>GRFD2</a:t>
            </a:r>
          </a:p>
        </p:txBody>
      </p:sp>
      <p:sp>
        <p:nvSpPr>
          <p:cNvPr id="209" name="Text 209"/>
          <p:cNvSpPr/>
          <p:nvPr/>
        </p:nvSpPr>
        <p:spPr>
          <a:xfrm>
            <a:off x="2193976" y="2710000"/>
            <a:ext cx="1280000" cy="220000"/>
          </a:xfrm>
          <a:prstGeom prst="rect">
            <a:avLst/>
          </a:prstGeom>
          <a:noFill/>
          <a:ln/>
        </p:spPr>
        <p:txBody>
          <a:bodyPr wrap="square" lIns="0" tIns="0" rIns="0" bIns="0" rtlCol="0" anchor="ctr"/>
          <a:lstStyle/>
          <a:p>
            <a:pPr marL="0" indent="0" algn="ctr">
              <a:buNone/>
            </a:pPr>
            <a:r>
              <a:rPr lang="en-GB" sz="850" dirty="0">
                <a:solidFill>
                  <a:srgbClr val="6B7B85"/>
                </a:solidFill>
                <a:latin typeface="Calibri" pitchFamily="34" charset="0"/>
                <a:ea typeface="Calibri" pitchFamily="34" charset="-122"/>
                <a:cs typeface="Calibri" pitchFamily="34" charset="-120"/>
              </a:rPr>
              <a:t>SAP HANA</a:t>
            </a:r>
          </a:p>
        </p:txBody>
      </p:sp>
      <p:sp>
        <p:nvSpPr>
          <p:cNvPr id="210" name="Shape 210"/>
          <p:cNvSpPr/>
          <p:nvPr/>
        </p:nvSpPr>
        <p:spPr>
          <a:xfrm>
            <a:off x="3578976" y="2262000"/>
            <a:ext cx="141000" cy="116000"/>
          </a:xfrm>
          <a:prstGeom prst="rightArrow">
            <a:avLst/>
          </a:prstGeom>
          <a:solidFill>
            <a:srgbClr val="C3CDD4"/>
          </a:solidFill>
          <a:ln>
            <a:noFill/>
          </a:ln>
        </p:spPr>
        <p:txBody>
          <a:bodyPr/>
          <a:lstStyle/>
          <a:p>
            <a:endParaRPr sz="1800"/>
          </a:p>
        </p:txBody>
      </p:sp>
      <p:sp>
        <p:nvSpPr>
          <p:cNvPr id="211" name="Shape 211"/>
          <p:cNvSpPr/>
          <p:nvPr/>
        </p:nvSpPr>
        <p:spPr>
          <a:xfrm>
            <a:off x="3736336" y="1540000"/>
            <a:ext cx="1400000" cy="1560000"/>
          </a:xfrm>
          <a:prstGeom prst="roundRect">
            <a:avLst>
              <a:gd name="adj" fmla="val 8000"/>
            </a:avLst>
          </a:prstGeom>
          <a:solidFill>
            <a:srgbClr val="E3F0EF"/>
          </a:solidFill>
          <a:ln w="12700">
            <a:solidFill>
              <a:srgbClr val="CBE0DE"/>
            </a:solidFill>
            <a:prstDash val="solid"/>
          </a:ln>
        </p:spPr>
        <p:txBody>
          <a:bodyPr/>
          <a:lstStyle/>
          <a:p>
            <a:endParaRPr sz="1800"/>
          </a:p>
        </p:txBody>
      </p:sp>
      <p:pic>
        <p:nvPicPr>
          <p:cNvPr id="212" name="Icon 212"/>
          <p:cNvPicPr>
            <a:picLocks noChangeAspect="1"/>
          </p:cNvPicPr>
          <p:nvPr/>
        </p:nvPicPr>
        <p:blipFill>
          <a:blip r:embed="rId4"/>
          <a:stretch>
            <a:fillRect/>
          </a:stretch>
        </p:blipFill>
        <p:spPr>
          <a:xfrm>
            <a:off x="4234976" y="1790000"/>
            <a:ext cx="460000" cy="460000"/>
          </a:xfrm>
          <a:prstGeom prst="rect">
            <a:avLst/>
          </a:prstGeom>
        </p:spPr>
      </p:pic>
      <p:sp>
        <p:nvSpPr>
          <p:cNvPr id="213" name="Text 213"/>
          <p:cNvSpPr/>
          <p:nvPr/>
        </p:nvSpPr>
        <p:spPr>
          <a:xfrm>
            <a:off x="3834976" y="2400000"/>
            <a:ext cx="1260000" cy="360000"/>
          </a:xfrm>
          <a:prstGeom prst="rect">
            <a:avLst/>
          </a:prstGeom>
          <a:noFill/>
          <a:ln/>
        </p:spPr>
        <p:txBody>
          <a:bodyPr wrap="square" lIns="0" tIns="0" rIns="0" bIns="0" rtlCol="0" anchor="ctr"/>
          <a:lstStyle/>
          <a:p>
            <a:pPr marL="0" indent="0" algn="ctr">
              <a:buNone/>
            </a:pPr>
            <a:r>
              <a:rPr lang="en-GB" sz="1300" b="1" dirty="0">
                <a:solidFill>
                  <a:srgbClr val="0E7C7B"/>
                </a:solidFill>
                <a:latin typeface="Calibri" pitchFamily="34" charset="0"/>
                <a:ea typeface="Calibri" pitchFamily="34" charset="-122"/>
                <a:cs typeface="Calibri" pitchFamily="34" charset="-120"/>
              </a:rPr>
              <a:t>Centralized SQL Server</a:t>
            </a:r>
          </a:p>
        </p:txBody>
      </p:sp>
      <p:sp>
        <p:nvSpPr>
          <p:cNvPr id="214" name="Text 214"/>
          <p:cNvSpPr/>
          <p:nvPr/>
        </p:nvSpPr>
        <p:spPr>
          <a:xfrm>
            <a:off x="3814976" y="2800000"/>
            <a:ext cx="1280000" cy="220000"/>
          </a:xfrm>
          <a:prstGeom prst="rect">
            <a:avLst/>
          </a:prstGeom>
          <a:noFill/>
          <a:ln/>
        </p:spPr>
        <p:txBody>
          <a:bodyPr wrap="square" lIns="0" tIns="0" rIns="0" bIns="0" rtlCol="0" anchor="ctr"/>
          <a:lstStyle/>
          <a:p>
            <a:pPr marL="0" indent="0" algn="ctr">
              <a:buNone/>
            </a:pPr>
            <a:r>
              <a:rPr lang="en-GB" sz="850" dirty="0">
                <a:solidFill>
                  <a:srgbClr val="6B7B85"/>
                </a:solidFill>
                <a:latin typeface="Calibri" pitchFamily="34" charset="0"/>
                <a:ea typeface="Calibri" pitchFamily="34" charset="-122"/>
                <a:cs typeface="Calibri" pitchFamily="34" charset="-120"/>
              </a:rPr>
              <a:t>Databricks</a:t>
            </a:r>
          </a:p>
        </p:txBody>
      </p:sp>
      <p:sp>
        <p:nvSpPr>
          <p:cNvPr id="215" name="Shape 215"/>
          <p:cNvSpPr/>
          <p:nvPr/>
        </p:nvSpPr>
        <p:spPr>
          <a:xfrm>
            <a:off x="4914976" y="1420000"/>
            <a:ext cx="360000" cy="360000"/>
          </a:xfrm>
          <a:prstGeom prst="ellipse">
            <a:avLst/>
          </a:prstGeom>
          <a:solidFill>
            <a:srgbClr val="0E7C7B"/>
          </a:solidFill>
          <a:ln w="12700">
            <a:solidFill>
              <a:srgbClr val="0E7C7B"/>
            </a:solidFill>
            <a:prstDash val="solid"/>
          </a:ln>
        </p:spPr>
        <p:txBody>
          <a:bodyPr/>
          <a:lstStyle/>
          <a:p>
            <a:endParaRPr sz="1800"/>
          </a:p>
        </p:txBody>
      </p:sp>
      <p:sp>
        <p:nvSpPr>
          <p:cNvPr id="216" name="Text 216"/>
          <p:cNvSpPr/>
          <p:nvPr/>
        </p:nvSpPr>
        <p:spPr>
          <a:xfrm>
            <a:off x="4914976" y="1420000"/>
            <a:ext cx="360000" cy="360000"/>
          </a:xfrm>
          <a:prstGeom prst="rect">
            <a:avLst/>
          </a:prstGeom>
          <a:noFill/>
          <a:ln/>
        </p:spPr>
        <p:txBody>
          <a:bodyPr wrap="square" lIns="0" tIns="0" rIns="0" bIns="0" rtlCol="0" anchor="ctr"/>
          <a:lstStyle/>
          <a:p>
            <a:pPr marL="0" indent="0" algn="ctr">
              <a:buNone/>
            </a:pPr>
            <a:r>
              <a:rPr lang="en-GB" sz="1200" b="1" dirty="0">
                <a:solidFill>
                  <a:srgbClr val="FFFFFF"/>
                </a:solidFill>
                <a:latin typeface="Calibri" pitchFamily="34" charset="0"/>
                <a:ea typeface="Calibri" pitchFamily="34" charset="-122"/>
                <a:cs typeface="Calibri" pitchFamily="34" charset="-120"/>
              </a:rPr>
              <a:t>1</a:t>
            </a:r>
          </a:p>
        </p:txBody>
      </p:sp>
      <p:sp>
        <p:nvSpPr>
          <p:cNvPr id="217" name="Shape 217"/>
          <p:cNvSpPr/>
          <p:nvPr/>
        </p:nvSpPr>
        <p:spPr>
          <a:xfrm>
            <a:off x="5209976" y="2262000"/>
            <a:ext cx="141000" cy="116000"/>
          </a:xfrm>
          <a:prstGeom prst="rightArrow">
            <a:avLst/>
          </a:prstGeom>
          <a:solidFill>
            <a:srgbClr val="C3CDD4"/>
          </a:solidFill>
          <a:ln>
            <a:noFill/>
          </a:ln>
        </p:spPr>
        <p:txBody>
          <a:bodyPr/>
          <a:lstStyle/>
          <a:p>
            <a:endParaRPr sz="1800"/>
          </a:p>
        </p:txBody>
      </p:sp>
      <p:sp>
        <p:nvSpPr>
          <p:cNvPr id="218" name="Shape 218"/>
          <p:cNvSpPr/>
          <p:nvPr/>
        </p:nvSpPr>
        <p:spPr>
          <a:xfrm>
            <a:off x="5395976" y="1540000"/>
            <a:ext cx="1400000" cy="1560000"/>
          </a:xfrm>
          <a:prstGeom prst="roundRect">
            <a:avLst>
              <a:gd name="adj" fmla="val 8000"/>
            </a:avLst>
          </a:prstGeom>
          <a:solidFill>
            <a:srgbClr val="FBEEDC"/>
          </a:solidFill>
          <a:ln w="12700">
            <a:solidFill>
              <a:srgbClr val="EBD6B4"/>
            </a:solidFill>
            <a:prstDash val="solid"/>
          </a:ln>
        </p:spPr>
        <p:txBody>
          <a:bodyPr/>
          <a:lstStyle/>
          <a:p>
            <a:endParaRPr sz="1800"/>
          </a:p>
        </p:txBody>
      </p:sp>
      <p:pic>
        <p:nvPicPr>
          <p:cNvPr id="219" name="Icon 219"/>
          <p:cNvPicPr>
            <a:picLocks noChangeAspect="1"/>
          </p:cNvPicPr>
          <p:nvPr/>
        </p:nvPicPr>
        <p:blipFill>
          <a:blip r:embed="rId5"/>
          <a:stretch>
            <a:fillRect/>
          </a:stretch>
        </p:blipFill>
        <p:spPr>
          <a:xfrm>
            <a:off x="5865976" y="1790000"/>
            <a:ext cx="460000" cy="460000"/>
          </a:xfrm>
          <a:prstGeom prst="rect">
            <a:avLst/>
          </a:prstGeom>
        </p:spPr>
      </p:pic>
      <p:sp>
        <p:nvSpPr>
          <p:cNvPr id="220" name="Text 220"/>
          <p:cNvSpPr/>
          <p:nvPr/>
        </p:nvSpPr>
        <p:spPr>
          <a:xfrm>
            <a:off x="5465976" y="2400000"/>
            <a:ext cx="1260000" cy="290000"/>
          </a:xfrm>
          <a:prstGeom prst="rect">
            <a:avLst/>
          </a:prstGeom>
          <a:noFill/>
          <a:ln/>
        </p:spPr>
        <p:txBody>
          <a:bodyPr wrap="square" lIns="0" tIns="0" rIns="0" bIns="0" rtlCol="0" anchor="ctr"/>
          <a:lstStyle/>
          <a:p>
            <a:pPr marL="0" indent="0" algn="ctr">
              <a:buNone/>
            </a:pPr>
            <a:r>
              <a:rPr lang="en-GB" sz="1300" b="1" dirty="0">
                <a:solidFill>
                  <a:srgbClr val="B26A00"/>
                </a:solidFill>
                <a:latin typeface="Calibri" pitchFamily="34" charset="0"/>
                <a:ea typeface="Calibri" pitchFamily="34" charset="-122"/>
                <a:cs typeface="Calibri" pitchFamily="34" charset="-120"/>
              </a:rPr>
              <a:t>ADF Pipelines</a:t>
            </a:r>
          </a:p>
        </p:txBody>
      </p:sp>
      <p:sp>
        <p:nvSpPr>
          <p:cNvPr id="221" name="Text 221"/>
          <p:cNvSpPr/>
          <p:nvPr/>
        </p:nvSpPr>
        <p:spPr>
          <a:xfrm>
            <a:off x="5455976" y="2710000"/>
            <a:ext cx="1280000" cy="220000"/>
          </a:xfrm>
          <a:prstGeom prst="rect">
            <a:avLst/>
          </a:prstGeom>
          <a:noFill/>
          <a:ln/>
        </p:spPr>
        <p:txBody>
          <a:bodyPr wrap="square" lIns="0" tIns="0" rIns="0" bIns="0" rtlCol="0" anchor="ctr"/>
          <a:lstStyle/>
          <a:p>
            <a:pPr marL="0" indent="0" algn="ctr">
              <a:buNone/>
            </a:pPr>
            <a:r>
              <a:rPr lang="en-GB" sz="850" dirty="0">
                <a:solidFill>
                  <a:srgbClr val="6B7B85"/>
                </a:solidFill>
                <a:latin typeface="Calibri" pitchFamily="34" charset="0"/>
                <a:ea typeface="Calibri" pitchFamily="34" charset="-122"/>
                <a:cs typeface="Calibri" pitchFamily="34" charset="-120"/>
              </a:rPr>
              <a:t>Azure Data Factory</a:t>
            </a:r>
          </a:p>
        </p:txBody>
      </p:sp>
      <p:sp>
        <p:nvSpPr>
          <p:cNvPr id="222" name="Shape 222"/>
          <p:cNvSpPr/>
          <p:nvPr/>
        </p:nvSpPr>
        <p:spPr>
          <a:xfrm>
            <a:off x="6545976" y="1420000"/>
            <a:ext cx="360000" cy="360000"/>
          </a:xfrm>
          <a:prstGeom prst="ellipse">
            <a:avLst/>
          </a:prstGeom>
          <a:solidFill>
            <a:srgbClr val="B26A00"/>
          </a:solidFill>
          <a:ln w="12700">
            <a:solidFill>
              <a:srgbClr val="B26A00"/>
            </a:solidFill>
            <a:prstDash val="solid"/>
          </a:ln>
        </p:spPr>
        <p:txBody>
          <a:bodyPr/>
          <a:lstStyle/>
          <a:p>
            <a:endParaRPr sz="1800"/>
          </a:p>
        </p:txBody>
      </p:sp>
      <p:sp>
        <p:nvSpPr>
          <p:cNvPr id="223" name="Text 223"/>
          <p:cNvSpPr/>
          <p:nvPr/>
        </p:nvSpPr>
        <p:spPr>
          <a:xfrm>
            <a:off x="6545976" y="1420000"/>
            <a:ext cx="360000" cy="360000"/>
          </a:xfrm>
          <a:prstGeom prst="rect">
            <a:avLst/>
          </a:prstGeom>
          <a:noFill/>
          <a:ln/>
        </p:spPr>
        <p:txBody>
          <a:bodyPr wrap="square" lIns="0" tIns="0" rIns="0" bIns="0" rtlCol="0" anchor="ctr"/>
          <a:lstStyle/>
          <a:p>
            <a:pPr marL="0" indent="0" algn="ctr">
              <a:buNone/>
            </a:pPr>
            <a:r>
              <a:rPr lang="en-GB" sz="1200" b="1" dirty="0">
                <a:solidFill>
                  <a:srgbClr val="FFFFFF"/>
                </a:solidFill>
                <a:latin typeface="Calibri" pitchFamily="34" charset="0"/>
                <a:ea typeface="Calibri" pitchFamily="34" charset="-122"/>
                <a:cs typeface="Calibri" pitchFamily="34" charset="-120"/>
              </a:rPr>
              <a:t>2</a:t>
            </a:r>
          </a:p>
        </p:txBody>
      </p:sp>
      <p:sp>
        <p:nvSpPr>
          <p:cNvPr id="224" name="Shape 224"/>
          <p:cNvSpPr/>
          <p:nvPr/>
        </p:nvSpPr>
        <p:spPr>
          <a:xfrm>
            <a:off x="6840976" y="2262000"/>
            <a:ext cx="141000" cy="116000"/>
          </a:xfrm>
          <a:prstGeom prst="rightArrow">
            <a:avLst/>
          </a:prstGeom>
          <a:solidFill>
            <a:srgbClr val="C3CDD4"/>
          </a:solidFill>
          <a:ln>
            <a:noFill/>
          </a:ln>
        </p:spPr>
        <p:txBody>
          <a:bodyPr/>
          <a:lstStyle/>
          <a:p>
            <a:endParaRPr sz="1800"/>
          </a:p>
        </p:txBody>
      </p:sp>
      <p:sp>
        <p:nvSpPr>
          <p:cNvPr id="225" name="Shape 225"/>
          <p:cNvSpPr/>
          <p:nvPr/>
        </p:nvSpPr>
        <p:spPr>
          <a:xfrm>
            <a:off x="7026976" y="1540000"/>
            <a:ext cx="1400000" cy="1560000"/>
          </a:xfrm>
          <a:prstGeom prst="roundRect">
            <a:avLst>
              <a:gd name="adj" fmla="val 8000"/>
            </a:avLst>
          </a:prstGeom>
          <a:solidFill>
            <a:srgbClr val="FFFFFF"/>
          </a:solidFill>
          <a:ln w="12700">
            <a:solidFill>
              <a:srgbClr val="D8E0E4"/>
            </a:solidFill>
            <a:prstDash val="solid"/>
          </a:ln>
        </p:spPr>
        <p:txBody>
          <a:bodyPr/>
          <a:lstStyle/>
          <a:p>
            <a:endParaRPr sz="1800"/>
          </a:p>
        </p:txBody>
      </p:sp>
      <p:pic>
        <p:nvPicPr>
          <p:cNvPr id="226" name="Icon 226"/>
          <p:cNvPicPr>
            <a:picLocks noChangeAspect="1"/>
          </p:cNvPicPr>
          <p:nvPr/>
        </p:nvPicPr>
        <p:blipFill>
          <a:blip r:embed="rId3"/>
          <a:stretch>
            <a:fillRect/>
          </a:stretch>
        </p:blipFill>
        <p:spPr>
          <a:xfrm>
            <a:off x="7496976" y="1790000"/>
            <a:ext cx="460000" cy="460000"/>
          </a:xfrm>
          <a:prstGeom prst="rect">
            <a:avLst/>
          </a:prstGeom>
        </p:spPr>
      </p:pic>
      <p:sp>
        <p:nvSpPr>
          <p:cNvPr id="227" name="Text 227"/>
          <p:cNvSpPr/>
          <p:nvPr/>
        </p:nvSpPr>
        <p:spPr>
          <a:xfrm>
            <a:off x="7096976" y="2400000"/>
            <a:ext cx="1260000" cy="290000"/>
          </a:xfrm>
          <a:prstGeom prst="rect">
            <a:avLst/>
          </a:prstGeom>
          <a:noFill/>
          <a:ln/>
        </p:spPr>
        <p:txBody>
          <a:bodyPr wrap="square" lIns="0" tIns="0" rIns="0" bIns="0" rtlCol="0" anchor="ctr"/>
          <a:lstStyle/>
          <a:p>
            <a:pPr marL="0" indent="0" algn="ctr">
              <a:buNone/>
            </a:pPr>
            <a:r>
              <a:rPr lang="en-GB" sz="1300" b="1" dirty="0">
                <a:solidFill>
                  <a:srgbClr val="1B2A33"/>
                </a:solidFill>
                <a:latin typeface="Calibri" pitchFamily="34" charset="0"/>
                <a:ea typeface="Calibri" pitchFamily="34" charset="-122"/>
                <a:cs typeface="Calibri" pitchFamily="34" charset="-120"/>
              </a:rPr>
              <a:t>Input DB</a:t>
            </a:r>
          </a:p>
        </p:txBody>
      </p:sp>
      <p:sp>
        <p:nvSpPr>
          <p:cNvPr id="228" name="Text 228"/>
          <p:cNvSpPr/>
          <p:nvPr/>
        </p:nvSpPr>
        <p:spPr>
          <a:xfrm>
            <a:off x="7086976" y="2710000"/>
            <a:ext cx="1280000" cy="220000"/>
          </a:xfrm>
          <a:prstGeom prst="rect">
            <a:avLst/>
          </a:prstGeom>
          <a:noFill/>
          <a:ln/>
        </p:spPr>
        <p:txBody>
          <a:bodyPr wrap="square" lIns="0" tIns="0" rIns="0" bIns="0" rtlCol="0" anchor="ctr"/>
          <a:lstStyle/>
          <a:p>
            <a:pPr marL="0" indent="0" algn="ctr">
              <a:buNone/>
            </a:pPr>
            <a:r>
              <a:rPr lang="en-GB" sz="850" dirty="0">
                <a:solidFill>
                  <a:srgbClr val="6B7B85"/>
                </a:solidFill>
                <a:latin typeface="Calibri" pitchFamily="34" charset="0"/>
                <a:ea typeface="Calibri" pitchFamily="34" charset="-122"/>
                <a:cs typeface="Calibri" pitchFamily="34" charset="-120"/>
              </a:rPr>
              <a:t>Calculator input</a:t>
            </a:r>
          </a:p>
        </p:txBody>
      </p:sp>
      <p:sp>
        <p:nvSpPr>
          <p:cNvPr id="229" name="Shape 229"/>
          <p:cNvSpPr/>
          <p:nvPr/>
        </p:nvSpPr>
        <p:spPr>
          <a:xfrm>
            <a:off x="8471976" y="2262000"/>
            <a:ext cx="141000" cy="116000"/>
          </a:xfrm>
          <a:prstGeom prst="rightArrow">
            <a:avLst/>
          </a:prstGeom>
          <a:solidFill>
            <a:srgbClr val="C3CDD4"/>
          </a:solidFill>
          <a:ln>
            <a:noFill/>
          </a:ln>
        </p:spPr>
        <p:txBody>
          <a:bodyPr/>
          <a:lstStyle/>
          <a:p>
            <a:endParaRPr sz="1800"/>
          </a:p>
        </p:txBody>
      </p:sp>
      <p:sp>
        <p:nvSpPr>
          <p:cNvPr id="230" name="Shape 230"/>
          <p:cNvSpPr/>
          <p:nvPr/>
        </p:nvSpPr>
        <p:spPr>
          <a:xfrm>
            <a:off x="8657976" y="1540000"/>
            <a:ext cx="1400000" cy="1560000"/>
          </a:xfrm>
          <a:prstGeom prst="roundRect">
            <a:avLst>
              <a:gd name="adj" fmla="val 8000"/>
            </a:avLst>
          </a:prstGeom>
          <a:solidFill>
            <a:srgbClr val="FFFFFF"/>
          </a:solidFill>
          <a:ln w="12700">
            <a:solidFill>
              <a:srgbClr val="D8E0E4"/>
            </a:solidFill>
            <a:prstDash val="solid"/>
          </a:ln>
        </p:spPr>
        <p:txBody>
          <a:bodyPr/>
          <a:lstStyle/>
          <a:p>
            <a:endParaRPr sz="1800"/>
          </a:p>
        </p:txBody>
      </p:sp>
      <p:pic>
        <p:nvPicPr>
          <p:cNvPr id="231" name="Icon 231"/>
          <p:cNvPicPr>
            <a:picLocks noChangeAspect="1"/>
          </p:cNvPicPr>
          <p:nvPr/>
        </p:nvPicPr>
        <p:blipFill>
          <a:blip r:embed="rId6"/>
          <a:stretch>
            <a:fillRect/>
          </a:stretch>
        </p:blipFill>
        <p:spPr>
          <a:xfrm>
            <a:off x="9127976" y="1790000"/>
            <a:ext cx="460000" cy="460000"/>
          </a:xfrm>
          <a:prstGeom prst="rect">
            <a:avLst/>
          </a:prstGeom>
        </p:spPr>
      </p:pic>
      <p:sp>
        <p:nvSpPr>
          <p:cNvPr id="232" name="Text 232"/>
          <p:cNvSpPr/>
          <p:nvPr/>
        </p:nvSpPr>
        <p:spPr>
          <a:xfrm>
            <a:off x="8727976" y="2400000"/>
            <a:ext cx="1260000" cy="290000"/>
          </a:xfrm>
          <a:prstGeom prst="rect">
            <a:avLst/>
          </a:prstGeom>
          <a:noFill/>
          <a:ln/>
        </p:spPr>
        <p:txBody>
          <a:bodyPr wrap="square" lIns="0" tIns="0" rIns="0" bIns="0" rtlCol="0" anchor="ctr"/>
          <a:lstStyle/>
          <a:p>
            <a:pPr marL="0" indent="0" algn="ctr">
              <a:buNone/>
            </a:pPr>
            <a:r>
              <a:rPr lang="en-GB" sz="1300" b="1" dirty="0">
                <a:solidFill>
                  <a:srgbClr val="1B2A33"/>
                </a:solidFill>
                <a:latin typeface="Calibri" pitchFamily="34" charset="0"/>
                <a:ea typeface="Calibri" pitchFamily="34" charset="-122"/>
                <a:cs typeface="Calibri" pitchFamily="34" charset="-120"/>
              </a:rPr>
              <a:t>Calculator</a:t>
            </a:r>
          </a:p>
        </p:txBody>
      </p:sp>
      <p:sp>
        <p:nvSpPr>
          <p:cNvPr id="233" name="Text 233"/>
          <p:cNvSpPr/>
          <p:nvPr/>
        </p:nvSpPr>
        <p:spPr>
          <a:xfrm>
            <a:off x="8717976" y="2710000"/>
            <a:ext cx="1280000" cy="220000"/>
          </a:xfrm>
          <a:prstGeom prst="rect">
            <a:avLst/>
          </a:prstGeom>
          <a:noFill/>
          <a:ln/>
        </p:spPr>
        <p:txBody>
          <a:bodyPr wrap="square" lIns="0" tIns="0" rIns="0" bIns="0" rtlCol="0" anchor="ctr"/>
          <a:lstStyle/>
          <a:p>
            <a:pPr marL="0" indent="0" algn="ctr">
              <a:buNone/>
            </a:pPr>
            <a:r>
              <a:rPr lang="en-GB" sz="850" dirty="0">
                <a:solidFill>
                  <a:srgbClr val="6B7B85"/>
                </a:solidFill>
                <a:latin typeface="Calibri" pitchFamily="34" charset="0"/>
                <a:ea typeface="Calibri" pitchFamily="34" charset="-122"/>
                <a:cs typeface="Calibri" pitchFamily="34" charset="-120"/>
              </a:rPr>
              <a:t>Batch processing</a:t>
            </a:r>
          </a:p>
        </p:txBody>
      </p:sp>
      <p:sp>
        <p:nvSpPr>
          <p:cNvPr id="234" name="Shape 234"/>
          <p:cNvSpPr/>
          <p:nvPr/>
        </p:nvSpPr>
        <p:spPr>
          <a:xfrm>
            <a:off x="10102976" y="2262000"/>
            <a:ext cx="141000" cy="116000"/>
          </a:xfrm>
          <a:prstGeom prst="rightArrow">
            <a:avLst/>
          </a:prstGeom>
          <a:solidFill>
            <a:srgbClr val="C3CDD4"/>
          </a:solidFill>
          <a:ln>
            <a:noFill/>
          </a:ln>
        </p:spPr>
        <p:txBody>
          <a:bodyPr/>
          <a:lstStyle/>
          <a:p>
            <a:endParaRPr sz="1800"/>
          </a:p>
        </p:txBody>
      </p:sp>
      <p:sp>
        <p:nvSpPr>
          <p:cNvPr id="235" name="Shape 235"/>
          <p:cNvSpPr/>
          <p:nvPr/>
        </p:nvSpPr>
        <p:spPr>
          <a:xfrm>
            <a:off x="10288976" y="1540000"/>
            <a:ext cx="1400000" cy="1560000"/>
          </a:xfrm>
          <a:prstGeom prst="roundRect">
            <a:avLst>
              <a:gd name="adj" fmla="val 8000"/>
            </a:avLst>
          </a:prstGeom>
          <a:solidFill>
            <a:srgbClr val="E6EFF6"/>
          </a:solidFill>
          <a:ln w="12700">
            <a:solidFill>
              <a:srgbClr val="C9DCEA"/>
            </a:solidFill>
            <a:prstDash val="solid"/>
          </a:ln>
        </p:spPr>
        <p:txBody>
          <a:bodyPr/>
          <a:lstStyle/>
          <a:p>
            <a:endParaRPr sz="1800"/>
          </a:p>
        </p:txBody>
      </p:sp>
      <p:pic>
        <p:nvPicPr>
          <p:cNvPr id="236" name="Icon 236"/>
          <p:cNvPicPr>
            <a:picLocks noChangeAspect="1"/>
          </p:cNvPicPr>
          <p:nvPr/>
        </p:nvPicPr>
        <p:blipFill>
          <a:blip r:embed="rId7"/>
          <a:stretch>
            <a:fillRect/>
          </a:stretch>
        </p:blipFill>
        <p:spPr>
          <a:xfrm>
            <a:off x="10758976" y="1790000"/>
            <a:ext cx="460000" cy="460000"/>
          </a:xfrm>
          <a:prstGeom prst="rect">
            <a:avLst/>
          </a:prstGeom>
        </p:spPr>
      </p:pic>
      <p:sp>
        <p:nvSpPr>
          <p:cNvPr id="237" name="Text 237"/>
          <p:cNvSpPr/>
          <p:nvPr/>
        </p:nvSpPr>
        <p:spPr>
          <a:xfrm>
            <a:off x="10358976" y="2400000"/>
            <a:ext cx="1260000" cy="290000"/>
          </a:xfrm>
          <a:prstGeom prst="rect">
            <a:avLst/>
          </a:prstGeom>
          <a:noFill/>
          <a:ln/>
        </p:spPr>
        <p:txBody>
          <a:bodyPr wrap="square" lIns="0" tIns="0" rIns="0" bIns="0" rtlCol="0" anchor="ctr"/>
          <a:lstStyle/>
          <a:p>
            <a:pPr marL="0" indent="0" algn="ctr">
              <a:buNone/>
            </a:pPr>
            <a:r>
              <a:rPr lang="en-GB" sz="1300" b="1" dirty="0">
                <a:solidFill>
                  <a:srgbClr val="1F5C8B"/>
                </a:solidFill>
                <a:latin typeface="Calibri" pitchFamily="34" charset="0"/>
                <a:ea typeface="Calibri" pitchFamily="34" charset="-122"/>
                <a:cs typeface="Calibri" pitchFamily="34" charset="-120"/>
              </a:rPr>
              <a:t>Output DB</a:t>
            </a:r>
          </a:p>
        </p:txBody>
      </p:sp>
      <p:sp>
        <p:nvSpPr>
          <p:cNvPr id="238" name="Text 238"/>
          <p:cNvSpPr/>
          <p:nvPr/>
        </p:nvSpPr>
        <p:spPr>
          <a:xfrm>
            <a:off x="10348976" y="2710000"/>
            <a:ext cx="1280000" cy="220000"/>
          </a:xfrm>
          <a:prstGeom prst="rect">
            <a:avLst/>
          </a:prstGeom>
          <a:noFill/>
          <a:ln/>
        </p:spPr>
        <p:txBody>
          <a:bodyPr wrap="square" lIns="0" tIns="0" rIns="0" bIns="0" rtlCol="0" anchor="ctr"/>
          <a:lstStyle/>
          <a:p>
            <a:pPr marL="0" indent="0" algn="ctr">
              <a:buNone/>
            </a:pPr>
            <a:r>
              <a:rPr lang="en-GB" sz="850" dirty="0">
                <a:solidFill>
                  <a:srgbClr val="6B7B85"/>
                </a:solidFill>
                <a:latin typeface="Calibri" pitchFamily="34" charset="0"/>
                <a:ea typeface="Calibri" pitchFamily="34" charset="-122"/>
                <a:cs typeface="Calibri" pitchFamily="34" charset="-120"/>
              </a:rPr>
              <a:t>Calculator output</a:t>
            </a:r>
          </a:p>
        </p:txBody>
      </p:sp>
      <p:sp>
        <p:nvSpPr>
          <p:cNvPr id="239" name="Shape 239"/>
          <p:cNvSpPr/>
          <p:nvPr/>
        </p:nvSpPr>
        <p:spPr>
          <a:xfrm>
            <a:off x="11438976" y="1420000"/>
            <a:ext cx="360000" cy="360000"/>
          </a:xfrm>
          <a:prstGeom prst="ellipse">
            <a:avLst/>
          </a:prstGeom>
          <a:solidFill>
            <a:srgbClr val="1F5C8B"/>
          </a:solidFill>
          <a:ln w="12700">
            <a:solidFill>
              <a:srgbClr val="1F5C8B"/>
            </a:solidFill>
            <a:prstDash val="solid"/>
          </a:ln>
        </p:spPr>
        <p:txBody>
          <a:bodyPr/>
          <a:lstStyle/>
          <a:p>
            <a:endParaRPr sz="1800"/>
          </a:p>
        </p:txBody>
      </p:sp>
      <p:sp>
        <p:nvSpPr>
          <p:cNvPr id="240" name="Text 240"/>
          <p:cNvSpPr/>
          <p:nvPr/>
        </p:nvSpPr>
        <p:spPr>
          <a:xfrm>
            <a:off x="11438976" y="1420000"/>
            <a:ext cx="360000" cy="360000"/>
          </a:xfrm>
          <a:prstGeom prst="rect">
            <a:avLst/>
          </a:prstGeom>
          <a:noFill/>
          <a:ln/>
        </p:spPr>
        <p:txBody>
          <a:bodyPr wrap="square" lIns="0" tIns="0" rIns="0" bIns="0" rtlCol="0" anchor="ctr"/>
          <a:lstStyle/>
          <a:p>
            <a:pPr marL="0" indent="0" algn="ctr">
              <a:buNone/>
            </a:pPr>
            <a:r>
              <a:rPr lang="en-GB" sz="1200" b="1" dirty="0">
                <a:solidFill>
                  <a:srgbClr val="FFFFFF"/>
                </a:solidFill>
                <a:latin typeface="Calibri" pitchFamily="34" charset="0"/>
                <a:ea typeface="Calibri" pitchFamily="34" charset="-122"/>
                <a:cs typeface="Calibri" pitchFamily="34" charset="-120"/>
              </a:rPr>
              <a:t>3</a:t>
            </a:r>
          </a:p>
        </p:txBody>
      </p:sp>
      <p:sp>
        <p:nvSpPr>
          <p:cNvPr id="241" name="Shape 241"/>
          <p:cNvSpPr/>
          <p:nvPr/>
        </p:nvSpPr>
        <p:spPr>
          <a:xfrm>
            <a:off x="502920" y="3560000"/>
            <a:ext cx="3528704" cy="2000000"/>
          </a:xfrm>
          <a:prstGeom prst="roundRect">
            <a:avLst>
              <a:gd name="adj" fmla="val 5000"/>
            </a:avLst>
          </a:prstGeom>
          <a:solidFill>
            <a:srgbClr val="E3F0EF"/>
          </a:solidFill>
          <a:ln w="12700">
            <a:solidFill>
              <a:srgbClr val="CBE0DE"/>
            </a:solidFill>
            <a:prstDash val="solid"/>
          </a:ln>
        </p:spPr>
        <p:txBody>
          <a:bodyPr/>
          <a:lstStyle/>
          <a:p>
            <a:endParaRPr sz="1800"/>
          </a:p>
        </p:txBody>
      </p:sp>
      <p:sp>
        <p:nvSpPr>
          <p:cNvPr id="242" name="Shape 242"/>
          <p:cNvSpPr/>
          <p:nvPr/>
        </p:nvSpPr>
        <p:spPr>
          <a:xfrm>
            <a:off x="752920" y="3820000"/>
            <a:ext cx="400000" cy="400000"/>
          </a:xfrm>
          <a:prstGeom prst="ellipse">
            <a:avLst/>
          </a:prstGeom>
          <a:solidFill>
            <a:srgbClr val="0E7C7B"/>
          </a:solidFill>
          <a:ln w="12700">
            <a:solidFill>
              <a:srgbClr val="0E7C7B"/>
            </a:solidFill>
            <a:prstDash val="solid"/>
          </a:ln>
        </p:spPr>
        <p:txBody>
          <a:bodyPr/>
          <a:lstStyle/>
          <a:p>
            <a:endParaRPr sz="1800"/>
          </a:p>
        </p:txBody>
      </p:sp>
      <p:sp>
        <p:nvSpPr>
          <p:cNvPr id="243" name="Text 243"/>
          <p:cNvSpPr/>
          <p:nvPr/>
        </p:nvSpPr>
        <p:spPr>
          <a:xfrm>
            <a:off x="752920" y="3820000"/>
            <a:ext cx="400000" cy="400000"/>
          </a:xfrm>
          <a:prstGeom prst="rect">
            <a:avLst/>
          </a:prstGeom>
          <a:noFill/>
          <a:ln/>
        </p:spPr>
        <p:txBody>
          <a:bodyPr wrap="square" lIns="0" tIns="0" rIns="0" bIns="0" rtlCol="0" anchor="ctr"/>
          <a:lstStyle/>
          <a:p>
            <a:pPr marL="0" indent="0" algn="ctr">
              <a:buNone/>
            </a:pPr>
            <a:r>
              <a:rPr lang="en-GB" sz="1300" b="1" dirty="0">
                <a:solidFill>
                  <a:srgbClr val="FFFFFF"/>
                </a:solidFill>
                <a:latin typeface="Calibri" pitchFamily="34" charset="0"/>
                <a:ea typeface="Calibri" pitchFamily="34" charset="-122"/>
                <a:cs typeface="Calibri" pitchFamily="34" charset="-120"/>
              </a:rPr>
              <a:t>1</a:t>
            </a:r>
          </a:p>
        </p:txBody>
      </p:sp>
      <p:pic>
        <p:nvPicPr>
          <p:cNvPr id="244" name="Icon 244"/>
          <p:cNvPicPr>
            <a:picLocks noChangeAspect="1"/>
          </p:cNvPicPr>
          <p:nvPr/>
        </p:nvPicPr>
        <p:blipFill>
          <a:blip r:embed="rId8"/>
          <a:stretch>
            <a:fillRect/>
          </a:stretch>
        </p:blipFill>
        <p:spPr>
          <a:xfrm>
            <a:off x="3271624" y="3810000"/>
            <a:ext cx="440000" cy="440000"/>
          </a:xfrm>
          <a:prstGeom prst="rect">
            <a:avLst/>
          </a:prstGeom>
        </p:spPr>
      </p:pic>
      <p:sp>
        <p:nvSpPr>
          <p:cNvPr id="245" name="Text 245"/>
          <p:cNvSpPr/>
          <p:nvPr/>
        </p:nvSpPr>
        <p:spPr>
          <a:xfrm>
            <a:off x="752920" y="4390000"/>
            <a:ext cx="3028704" cy="440000"/>
          </a:xfrm>
          <a:prstGeom prst="rect">
            <a:avLst/>
          </a:prstGeom>
          <a:noFill/>
          <a:ln/>
        </p:spPr>
        <p:txBody>
          <a:bodyPr wrap="square" lIns="0" tIns="0" rIns="0" bIns="0" rtlCol="0" anchor="t"/>
          <a:lstStyle/>
          <a:p>
            <a:pPr marL="0" indent="0">
              <a:buNone/>
            </a:pPr>
            <a:r>
              <a:rPr lang="en-GB" sz="1400" b="1" dirty="0">
                <a:solidFill>
                  <a:srgbClr val="1B2A33"/>
                </a:solidFill>
                <a:latin typeface="Calibri" pitchFamily="34" charset="0"/>
                <a:ea typeface="Calibri" pitchFamily="34" charset="-122"/>
                <a:cs typeface="Calibri" pitchFamily="34" charset="-120"/>
              </a:rPr>
              <a:t>Schema comparison</a:t>
            </a:r>
          </a:p>
        </p:txBody>
      </p:sp>
      <p:sp>
        <p:nvSpPr>
          <p:cNvPr id="246" name="Text 246"/>
          <p:cNvSpPr/>
          <p:nvPr/>
        </p:nvSpPr>
        <p:spPr>
          <a:xfrm>
            <a:off x="752920" y="4960000"/>
            <a:ext cx="3028704" cy="540000"/>
          </a:xfrm>
          <a:prstGeom prst="rect">
            <a:avLst/>
          </a:prstGeom>
          <a:noFill/>
          <a:ln/>
        </p:spPr>
        <p:txBody>
          <a:bodyPr wrap="square" lIns="0" tIns="0" rIns="0" bIns="0" rtlCol="0" anchor="t"/>
          <a:lstStyle/>
          <a:p>
            <a:pPr marL="0" indent="0">
              <a:lnSpc>
                <a:spcPct val="100000"/>
              </a:lnSpc>
              <a:spcAft>
                <a:spcPts val="500"/>
              </a:spcAft>
              <a:buNone/>
            </a:pPr>
            <a:r>
              <a:rPr lang="en-GB" sz="1050" b="1" dirty="0">
                <a:solidFill>
                  <a:srgbClr val="0E7C7B"/>
                </a:solidFill>
                <a:latin typeface="Calibri" pitchFamily="34" charset="0"/>
                <a:ea typeface="Calibri" pitchFamily="34" charset="-122"/>
                <a:cs typeface="Calibri" pitchFamily="34" charset="-120"/>
              </a:rPr>
              <a:t>MSP team</a:t>
            </a:r>
            <a:r>
              <a:rPr lang="en-GB" sz="1050" dirty="0">
                <a:solidFill>
                  <a:srgbClr val="3E4C55"/>
                </a:solidFill>
                <a:latin typeface="Calibri" pitchFamily="34" charset="0"/>
                <a:ea typeface="Calibri" pitchFamily="34" charset="-122"/>
                <a:cs typeface="Calibri" pitchFamily="34" charset="-120"/>
              </a:rPr>
              <a:t>  ·  </a:t>
            </a:r>
            <a:r>
              <a:rPr lang="en-GB" sz="1050" b="1" dirty="0">
                <a:solidFill>
                  <a:srgbClr val="0E7C7B"/>
                </a:solidFill>
                <a:latin typeface="Calibri" pitchFamily="34" charset="0"/>
                <a:ea typeface="Calibri" pitchFamily="34" charset="-122"/>
                <a:cs typeface="Calibri" pitchFamily="34" charset="-120"/>
              </a:rPr>
              <a:t>Data Factory squads</a:t>
            </a:r>
          </a:p>
        </p:txBody>
      </p:sp>
      <p:sp>
        <p:nvSpPr>
          <p:cNvPr id="247" name="Shape 247"/>
          <p:cNvSpPr/>
          <p:nvPr/>
        </p:nvSpPr>
        <p:spPr>
          <a:xfrm>
            <a:off x="4331624" y="3560000"/>
            <a:ext cx="3528704" cy="2000000"/>
          </a:xfrm>
          <a:prstGeom prst="roundRect">
            <a:avLst>
              <a:gd name="adj" fmla="val 5000"/>
            </a:avLst>
          </a:prstGeom>
          <a:solidFill>
            <a:srgbClr val="FBEEDC"/>
          </a:solidFill>
          <a:ln w="12700">
            <a:solidFill>
              <a:srgbClr val="EBD6B4"/>
            </a:solidFill>
            <a:prstDash val="solid"/>
          </a:ln>
        </p:spPr>
        <p:txBody>
          <a:bodyPr/>
          <a:lstStyle/>
          <a:p>
            <a:endParaRPr sz="1800"/>
          </a:p>
        </p:txBody>
      </p:sp>
      <p:sp>
        <p:nvSpPr>
          <p:cNvPr id="248" name="Shape 248"/>
          <p:cNvSpPr/>
          <p:nvPr/>
        </p:nvSpPr>
        <p:spPr>
          <a:xfrm>
            <a:off x="4581624" y="3820000"/>
            <a:ext cx="400000" cy="400000"/>
          </a:xfrm>
          <a:prstGeom prst="ellipse">
            <a:avLst/>
          </a:prstGeom>
          <a:solidFill>
            <a:srgbClr val="B26A00"/>
          </a:solidFill>
          <a:ln w="12700">
            <a:solidFill>
              <a:srgbClr val="B26A00"/>
            </a:solidFill>
            <a:prstDash val="solid"/>
          </a:ln>
        </p:spPr>
        <p:txBody>
          <a:bodyPr/>
          <a:lstStyle/>
          <a:p>
            <a:endParaRPr sz="1800"/>
          </a:p>
        </p:txBody>
      </p:sp>
      <p:sp>
        <p:nvSpPr>
          <p:cNvPr id="249" name="Text 249"/>
          <p:cNvSpPr/>
          <p:nvPr/>
        </p:nvSpPr>
        <p:spPr>
          <a:xfrm>
            <a:off x="4581624" y="3820000"/>
            <a:ext cx="400000" cy="400000"/>
          </a:xfrm>
          <a:prstGeom prst="rect">
            <a:avLst/>
          </a:prstGeom>
          <a:noFill/>
          <a:ln/>
        </p:spPr>
        <p:txBody>
          <a:bodyPr wrap="square" lIns="0" tIns="0" rIns="0" bIns="0" rtlCol="0" anchor="ctr"/>
          <a:lstStyle/>
          <a:p>
            <a:pPr marL="0" indent="0" algn="ctr">
              <a:buNone/>
            </a:pPr>
            <a:r>
              <a:rPr lang="en-GB" sz="1300" b="1" dirty="0">
                <a:solidFill>
                  <a:srgbClr val="FFFFFF"/>
                </a:solidFill>
                <a:latin typeface="Calibri" pitchFamily="34" charset="0"/>
                <a:ea typeface="Calibri" pitchFamily="34" charset="-122"/>
                <a:cs typeface="Calibri" pitchFamily="34" charset="-120"/>
              </a:rPr>
              <a:t>2</a:t>
            </a:r>
          </a:p>
        </p:txBody>
      </p:sp>
      <p:pic>
        <p:nvPicPr>
          <p:cNvPr id="250" name="Icon 250"/>
          <p:cNvPicPr>
            <a:picLocks noChangeAspect="1"/>
          </p:cNvPicPr>
          <p:nvPr/>
        </p:nvPicPr>
        <p:blipFill>
          <a:blip r:embed="rId9"/>
          <a:stretch>
            <a:fillRect/>
          </a:stretch>
        </p:blipFill>
        <p:spPr>
          <a:xfrm>
            <a:off x="7100328" y="3810000"/>
            <a:ext cx="440000" cy="440000"/>
          </a:xfrm>
          <a:prstGeom prst="rect">
            <a:avLst/>
          </a:prstGeom>
        </p:spPr>
      </p:pic>
      <p:sp>
        <p:nvSpPr>
          <p:cNvPr id="251" name="Text 251"/>
          <p:cNvSpPr/>
          <p:nvPr/>
        </p:nvSpPr>
        <p:spPr>
          <a:xfrm>
            <a:off x="4581624" y="4390000"/>
            <a:ext cx="3028704" cy="440000"/>
          </a:xfrm>
          <a:prstGeom prst="rect">
            <a:avLst/>
          </a:prstGeom>
          <a:noFill/>
          <a:ln/>
        </p:spPr>
        <p:txBody>
          <a:bodyPr wrap="square" lIns="0" tIns="0" rIns="0" bIns="0" rtlCol="0" anchor="t"/>
          <a:lstStyle/>
          <a:p>
            <a:pPr marL="0" indent="0">
              <a:buNone/>
            </a:pPr>
            <a:r>
              <a:rPr lang="en-GB" sz="1400" b="1" dirty="0">
                <a:solidFill>
                  <a:srgbClr val="1B2A33"/>
                </a:solidFill>
                <a:latin typeface="Calibri" pitchFamily="34" charset="0"/>
                <a:ea typeface="Calibri" pitchFamily="34" charset="-122"/>
                <a:cs typeface="Calibri" pitchFamily="34" charset="-120"/>
              </a:rPr>
              <a:t>Pipeline &amp; transformation</a:t>
            </a:r>
          </a:p>
        </p:txBody>
      </p:sp>
      <p:sp>
        <p:nvSpPr>
          <p:cNvPr id="252" name="Text 252"/>
          <p:cNvSpPr/>
          <p:nvPr/>
        </p:nvSpPr>
        <p:spPr>
          <a:xfrm>
            <a:off x="4581624" y="4960000"/>
            <a:ext cx="3028704" cy="540000"/>
          </a:xfrm>
          <a:prstGeom prst="rect">
            <a:avLst/>
          </a:prstGeom>
          <a:noFill/>
          <a:ln/>
        </p:spPr>
        <p:txBody>
          <a:bodyPr wrap="square" lIns="0" tIns="0" rIns="0" bIns="0" rtlCol="0" anchor="t"/>
          <a:lstStyle/>
          <a:p>
            <a:pPr marL="0" indent="0">
              <a:lnSpc>
                <a:spcPct val="100000"/>
              </a:lnSpc>
              <a:spcAft>
                <a:spcPts val="500"/>
              </a:spcAft>
              <a:buNone/>
            </a:pPr>
            <a:r>
              <a:rPr lang="en-GB" sz="1050" b="1" dirty="0">
                <a:solidFill>
                  <a:srgbClr val="B26A00"/>
                </a:solidFill>
                <a:latin typeface="Calibri" pitchFamily="34" charset="0"/>
                <a:ea typeface="Calibri" pitchFamily="34" charset="-122"/>
                <a:cs typeface="Calibri" pitchFamily="34" charset="-120"/>
              </a:rPr>
              <a:t>MSP team</a:t>
            </a:r>
          </a:p>
        </p:txBody>
      </p:sp>
      <p:sp>
        <p:nvSpPr>
          <p:cNvPr id="253" name="Shape 253"/>
          <p:cNvSpPr/>
          <p:nvPr/>
        </p:nvSpPr>
        <p:spPr>
          <a:xfrm>
            <a:off x="8160328" y="3560000"/>
            <a:ext cx="3528704" cy="2000000"/>
          </a:xfrm>
          <a:prstGeom prst="roundRect">
            <a:avLst>
              <a:gd name="adj" fmla="val 5000"/>
            </a:avLst>
          </a:prstGeom>
          <a:solidFill>
            <a:srgbClr val="E6EFF6"/>
          </a:solidFill>
          <a:ln w="12700">
            <a:solidFill>
              <a:srgbClr val="C9DCEA"/>
            </a:solidFill>
            <a:prstDash val="solid"/>
          </a:ln>
        </p:spPr>
        <p:txBody>
          <a:bodyPr/>
          <a:lstStyle/>
          <a:p>
            <a:endParaRPr sz="1800"/>
          </a:p>
        </p:txBody>
      </p:sp>
      <p:sp>
        <p:nvSpPr>
          <p:cNvPr id="254" name="Shape 254"/>
          <p:cNvSpPr/>
          <p:nvPr/>
        </p:nvSpPr>
        <p:spPr>
          <a:xfrm>
            <a:off x="8410328" y="3820000"/>
            <a:ext cx="400000" cy="400000"/>
          </a:xfrm>
          <a:prstGeom prst="ellipse">
            <a:avLst/>
          </a:prstGeom>
          <a:solidFill>
            <a:srgbClr val="1F5C8B"/>
          </a:solidFill>
          <a:ln w="12700">
            <a:solidFill>
              <a:srgbClr val="1F5C8B"/>
            </a:solidFill>
            <a:prstDash val="solid"/>
          </a:ln>
        </p:spPr>
        <p:txBody>
          <a:bodyPr/>
          <a:lstStyle/>
          <a:p>
            <a:endParaRPr sz="1800"/>
          </a:p>
        </p:txBody>
      </p:sp>
      <p:sp>
        <p:nvSpPr>
          <p:cNvPr id="255" name="Text 255"/>
          <p:cNvSpPr/>
          <p:nvPr/>
        </p:nvSpPr>
        <p:spPr>
          <a:xfrm>
            <a:off x="8410328" y="3820000"/>
            <a:ext cx="400000" cy="400000"/>
          </a:xfrm>
          <a:prstGeom prst="rect">
            <a:avLst/>
          </a:prstGeom>
          <a:noFill/>
          <a:ln/>
        </p:spPr>
        <p:txBody>
          <a:bodyPr wrap="square" lIns="0" tIns="0" rIns="0" bIns="0" rtlCol="0" anchor="ctr"/>
          <a:lstStyle/>
          <a:p>
            <a:pPr marL="0" indent="0" algn="ctr">
              <a:buNone/>
            </a:pPr>
            <a:r>
              <a:rPr lang="en-GB" sz="1300" b="1" dirty="0">
                <a:solidFill>
                  <a:srgbClr val="FFFFFF"/>
                </a:solidFill>
                <a:latin typeface="Calibri" pitchFamily="34" charset="0"/>
                <a:ea typeface="Calibri" pitchFamily="34" charset="-122"/>
                <a:cs typeface="Calibri" pitchFamily="34" charset="-120"/>
              </a:rPr>
              <a:t>3</a:t>
            </a:r>
          </a:p>
        </p:txBody>
      </p:sp>
      <p:pic>
        <p:nvPicPr>
          <p:cNvPr id="256" name="Icon 256"/>
          <p:cNvPicPr>
            <a:picLocks noChangeAspect="1"/>
          </p:cNvPicPr>
          <p:nvPr/>
        </p:nvPicPr>
        <p:blipFill>
          <a:blip r:embed="rId10"/>
          <a:stretch>
            <a:fillRect/>
          </a:stretch>
        </p:blipFill>
        <p:spPr>
          <a:xfrm>
            <a:off x="10929032" y="3810000"/>
            <a:ext cx="440000" cy="440000"/>
          </a:xfrm>
          <a:prstGeom prst="rect">
            <a:avLst/>
          </a:prstGeom>
        </p:spPr>
      </p:pic>
      <p:sp>
        <p:nvSpPr>
          <p:cNvPr id="257" name="Text 257"/>
          <p:cNvSpPr/>
          <p:nvPr/>
        </p:nvSpPr>
        <p:spPr>
          <a:xfrm>
            <a:off x="8410328" y="4390000"/>
            <a:ext cx="3028704" cy="440000"/>
          </a:xfrm>
          <a:prstGeom prst="rect">
            <a:avLst/>
          </a:prstGeom>
          <a:noFill/>
          <a:ln/>
        </p:spPr>
        <p:txBody>
          <a:bodyPr wrap="square" lIns="0" tIns="0" rIns="0" bIns="0" rtlCol="0" anchor="t"/>
          <a:lstStyle/>
          <a:p>
            <a:pPr marL="0" indent="0">
              <a:buNone/>
            </a:pPr>
            <a:r>
              <a:rPr lang="en-GB" sz="1400" b="1" dirty="0">
                <a:solidFill>
                  <a:srgbClr val="1B2A33"/>
                </a:solidFill>
                <a:latin typeface="Calibri" pitchFamily="34" charset="0"/>
                <a:ea typeface="Calibri" pitchFamily="34" charset="-122"/>
                <a:cs typeface="Calibri" pitchFamily="34" charset="-120"/>
              </a:rPr>
              <a:t>Batch success &amp; validation</a:t>
            </a:r>
          </a:p>
        </p:txBody>
      </p:sp>
      <p:sp>
        <p:nvSpPr>
          <p:cNvPr id="258" name="Text 258"/>
          <p:cNvSpPr/>
          <p:nvPr/>
        </p:nvSpPr>
        <p:spPr>
          <a:xfrm>
            <a:off x="8410328" y="4960000"/>
            <a:ext cx="3028704" cy="540000"/>
          </a:xfrm>
          <a:prstGeom prst="rect">
            <a:avLst/>
          </a:prstGeom>
          <a:noFill/>
          <a:ln/>
        </p:spPr>
        <p:txBody>
          <a:bodyPr wrap="square" lIns="0" tIns="0" rIns="0" bIns="0" rtlCol="0" anchor="t"/>
          <a:lstStyle/>
          <a:p>
            <a:pPr marL="0" indent="0">
              <a:lnSpc>
                <a:spcPct val="100000"/>
              </a:lnSpc>
              <a:spcAft>
                <a:spcPts val="500"/>
              </a:spcAft>
              <a:buNone/>
            </a:pPr>
            <a:r>
              <a:rPr lang="en-GB" sz="1050" b="1" dirty="0">
                <a:solidFill>
                  <a:srgbClr val="1F5C8B"/>
                </a:solidFill>
                <a:latin typeface="Calibri" pitchFamily="34" charset="0"/>
                <a:ea typeface="Calibri" pitchFamily="34" charset="-122"/>
                <a:cs typeface="Calibri" pitchFamily="34" charset="-120"/>
              </a:rPr>
              <a:t>Data Factory</a:t>
            </a:r>
            <a:r>
              <a:rPr lang="en-GB" sz="1050" dirty="0">
                <a:solidFill>
                  <a:srgbClr val="3E4C55"/>
                </a:solidFill>
                <a:latin typeface="Calibri" pitchFamily="34" charset="0"/>
                <a:ea typeface="Calibri" pitchFamily="34" charset="-122"/>
                <a:cs typeface="Calibri" pitchFamily="34" charset="-120"/>
              </a:rPr>
              <a:t>  ·  batch run success</a:t>
            </a:r>
          </a:p>
          <a:p>
            <a:pPr>
              <a:spcAft>
                <a:spcPts val="500"/>
              </a:spcAft>
            </a:pPr>
            <a:r>
              <a:rPr lang="en-GB" sz="1050" b="1" dirty="0">
                <a:solidFill>
                  <a:srgbClr val="1F5C8B"/>
                </a:solidFill>
                <a:latin typeface="Calibri" pitchFamily="34" charset="0"/>
                <a:ea typeface="Calibri" pitchFamily="34" charset="-122"/>
                <a:cs typeface="Calibri" pitchFamily="34" charset="-120"/>
              </a:rPr>
              <a:t>Data Factory</a:t>
            </a:r>
            <a:r>
              <a:rPr lang="en-GB" sz="1050" dirty="0">
                <a:solidFill>
                  <a:srgbClr val="3E4C55"/>
                </a:solidFill>
                <a:latin typeface="Calibri" pitchFamily="34" charset="0"/>
                <a:ea typeface="Calibri" pitchFamily="34" charset="-122"/>
                <a:cs typeface="Calibri" pitchFamily="34" charset="-120"/>
              </a:rPr>
              <a:t> / </a:t>
            </a:r>
            <a:r>
              <a:rPr lang="en-GB" sz="1050" b="1" dirty="0">
                <a:solidFill>
                  <a:srgbClr val="1F5C8B"/>
                </a:solidFill>
                <a:latin typeface="Calibri" pitchFamily="34" charset="0"/>
                <a:ea typeface="Calibri" pitchFamily="34" charset="-122"/>
                <a:cs typeface="Calibri" pitchFamily="34" charset="-120"/>
              </a:rPr>
              <a:t>CAS calculator teams</a:t>
            </a:r>
            <a:r>
              <a:rPr lang="en-GB" sz="1050" dirty="0">
                <a:solidFill>
                  <a:srgbClr val="3E4C55"/>
                </a:solidFill>
                <a:latin typeface="Calibri" pitchFamily="34" charset="0"/>
                <a:ea typeface="Calibri" pitchFamily="34" charset="-122"/>
                <a:cs typeface="Calibri" pitchFamily="34" charset="-120"/>
              </a:rPr>
              <a:t>  ·  output check</a:t>
            </a:r>
          </a:p>
        </p:txBody>
      </p:sp>
      <p:sp>
        <p:nvSpPr>
          <p:cNvPr id="259" name="Text 259"/>
          <p:cNvSpPr/>
          <p:nvPr/>
        </p:nvSpPr>
        <p:spPr>
          <a:xfrm>
            <a:off x="502920" y="5820000"/>
            <a:ext cx="11186112" cy="300000"/>
          </a:xfrm>
          <a:prstGeom prst="rect">
            <a:avLst/>
          </a:prstGeom>
          <a:noFill/>
          <a:ln/>
        </p:spPr>
        <p:txBody>
          <a:bodyPr wrap="square" lIns="0" tIns="0" rIns="0" bIns="0" rtlCol="0" anchor="ctr"/>
          <a:lstStyle/>
          <a:p>
            <a:pPr marL="0" indent="0">
              <a:buNone/>
            </a:pPr>
            <a:r>
              <a:rPr lang="en-GB" sz="1050" b="1" i="1" dirty="0">
                <a:solidFill>
                  <a:srgbClr val="6B7B85"/>
                </a:solidFill>
                <a:latin typeface="Calibri" pitchFamily="34" charset="0"/>
                <a:ea typeface="Calibri" pitchFamily="34" charset="-122"/>
                <a:cs typeface="Calibri" pitchFamily="34" charset="-120"/>
              </a:rPr>
              <a:t>Batch initiation is a process step, not a platform component.</a:t>
            </a:r>
            <a:r>
              <a:rPr lang="en-GB" sz="1050" i="1" dirty="0">
                <a:solidFill>
                  <a:srgbClr val="6B7B85"/>
                </a:solidFill>
                <a:latin typeface="Calibri" pitchFamily="34" charset="0"/>
                <a:ea typeface="Calibri" pitchFamily="34" charset="-122"/>
                <a:cs typeface="Calibri" pitchFamily="34" charset="-120"/>
              </a:rPr>
              <a:t>  Numbered markers show where the test effort lands. Reporting and business consumers sit outside this scope.</a:t>
            </a:r>
          </a:p>
        </p:txBody>
      </p:sp>
    </p:spTree>
    <p:extLst>
      <p:ext uri="{BB962C8B-B14F-4D97-AF65-F5344CB8AC3E}">
        <p14:creationId xmlns:p14="http://schemas.microsoft.com/office/powerpoint/2010/main" val="3815605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502920" y="1450000"/>
            <a:ext cx="2971800" cy="980000"/>
          </a:xfrm>
          <a:prstGeom prst="roundRect">
            <a:avLst>
              <a:gd name="adj" fmla="val 4667"/>
            </a:avLst>
          </a:prstGeom>
          <a:solidFill>
            <a:srgbClr val="E8EDEF"/>
          </a:solidFill>
          <a:ln w="12700">
            <a:solidFill>
              <a:srgbClr val="C9D4D9"/>
            </a:solidFill>
            <a:prstDash val="solid"/>
          </a:ln>
        </p:spPr>
        <p:txBody>
          <a:bodyPr/>
          <a:lstStyle/>
          <a:p>
            <a:endParaRPr sz="2400"/>
          </a:p>
        </p:txBody>
      </p:sp>
      <p:sp>
        <p:nvSpPr>
          <p:cNvPr id="5" name="Shape 3"/>
          <p:cNvSpPr/>
          <p:nvPr/>
        </p:nvSpPr>
        <p:spPr>
          <a:xfrm>
            <a:off x="633008" y="1478000"/>
            <a:ext cx="868680" cy="237744"/>
          </a:xfrm>
          <a:prstGeom prst="roundRect">
            <a:avLst>
              <a:gd name="adj" fmla="val 46154"/>
            </a:avLst>
          </a:prstGeom>
          <a:solidFill>
            <a:srgbClr val="1B2A33"/>
          </a:solidFill>
          <a:ln w="12700">
            <a:solidFill>
              <a:srgbClr val="1B2A33"/>
            </a:solidFill>
            <a:prstDash val="solid"/>
          </a:ln>
        </p:spPr>
        <p:txBody>
          <a:bodyPr/>
          <a:lstStyle/>
          <a:p>
            <a:endParaRPr sz="2400"/>
          </a:p>
        </p:txBody>
      </p:sp>
      <p:sp>
        <p:nvSpPr>
          <p:cNvPr id="6" name="Text 4"/>
          <p:cNvSpPr/>
          <p:nvPr/>
        </p:nvSpPr>
        <p:spPr>
          <a:xfrm>
            <a:off x="633008" y="1482000"/>
            <a:ext cx="868680" cy="237744"/>
          </a:xfrm>
          <a:prstGeom prst="rect">
            <a:avLst/>
          </a:prstGeom>
          <a:noFill/>
          <a:ln/>
        </p:spPr>
        <p:txBody>
          <a:bodyPr wrap="square" lIns="0" tIns="0" rIns="0" bIns="0" rtlCol="0" anchor="ctr"/>
          <a:lstStyle/>
          <a:p>
            <a:pPr marL="0" indent="0" algn="ctr">
              <a:buNone/>
            </a:pPr>
            <a:r>
              <a:rPr lang="en-US" sz="1050" b="1" dirty="0">
                <a:solidFill>
                  <a:srgbClr val="FFFFFF"/>
                </a:solidFill>
                <a:ea typeface="Calibri" pitchFamily="34" charset="-122"/>
                <a:cs typeface="Calibri" pitchFamily="34" charset="-120"/>
              </a:rPr>
              <a:t>TARGET A</a:t>
            </a:r>
          </a:p>
        </p:txBody>
      </p:sp>
      <p:sp>
        <p:nvSpPr>
          <p:cNvPr id="7" name="Text 5"/>
          <p:cNvSpPr/>
          <p:nvPr/>
        </p:nvSpPr>
        <p:spPr>
          <a:xfrm>
            <a:off x="667512" y="1750000"/>
            <a:ext cx="2651760" cy="230000"/>
          </a:xfrm>
          <a:prstGeom prst="rect">
            <a:avLst/>
          </a:prstGeom>
          <a:noFill/>
          <a:ln/>
        </p:spPr>
        <p:txBody>
          <a:bodyPr wrap="square" lIns="0" tIns="0" rIns="0" bIns="0" rtlCol="0" anchor="ctr"/>
          <a:lstStyle/>
          <a:p>
            <a:pPr marL="0" indent="0">
              <a:buNone/>
            </a:pPr>
            <a:r>
              <a:rPr lang="en-US" sz="1400" b="1" dirty="0">
                <a:solidFill>
                  <a:srgbClr val="1B2A33"/>
                </a:solidFill>
                <a:ea typeface="Cambria" pitchFamily="34" charset="-122"/>
                <a:cs typeface="Cambria" pitchFamily="34" charset="-120"/>
              </a:rPr>
              <a:t>Data Model</a:t>
            </a:r>
            <a:endParaRPr lang="en-US" sz="1400" dirty="0"/>
          </a:p>
        </p:txBody>
      </p:sp>
      <p:sp>
        <p:nvSpPr>
          <p:cNvPr id="8" name="Text 6"/>
          <p:cNvSpPr/>
          <p:nvPr/>
        </p:nvSpPr>
        <p:spPr>
          <a:xfrm>
            <a:off x="667512" y="1975000"/>
            <a:ext cx="2651760" cy="430000"/>
          </a:xfrm>
          <a:prstGeom prst="rect">
            <a:avLst/>
          </a:prstGeom>
          <a:noFill/>
          <a:ln/>
        </p:spPr>
        <p:txBody>
          <a:bodyPr wrap="square" lIns="0" tIns="0" rIns="0" bIns="0" rtlCol="0" anchor="ctr"/>
          <a:lstStyle/>
          <a:p>
            <a:pPr marL="0" indent="0">
              <a:lnSpc>
                <a:spcPct val="105000"/>
              </a:lnSpc>
              <a:buNone/>
            </a:pPr>
            <a:r>
              <a:rPr lang="en-US" sz="1000" dirty="0">
                <a:solidFill>
                  <a:srgbClr val="3E4C55"/>
                </a:solidFill>
                <a:ea typeface="Calibri" pitchFamily="34" charset="-122"/>
                <a:cs typeface="Calibri" pitchFamily="34" charset="-120"/>
              </a:rPr>
              <a:t>Power Designer </a:t>
            </a:r>
            <a:r>
              <a:rPr lang="en-US" sz="1000" b="1" dirty="0">
                <a:solidFill>
                  <a:srgbClr val="1B2A33"/>
                </a:solidFill>
                <a:ea typeface="Calibri" pitchFamily="34" charset="-122"/>
                <a:cs typeface="Calibri" pitchFamily="34" charset="-120"/>
              </a:rPr>
              <a:t>extracts the data model</a:t>
            </a:r>
            <a:r>
              <a:rPr lang="en-US" sz="1000" dirty="0">
                <a:solidFill>
                  <a:srgbClr val="3E4C55"/>
                </a:solidFill>
                <a:ea typeface="Calibri" pitchFamily="34" charset="-122"/>
                <a:cs typeface="Calibri" pitchFamily="34" charset="-120"/>
              </a:rPr>
              <a:t> from Collibra</a:t>
            </a:r>
          </a:p>
          <a:p>
            <a:pPr marL="0" indent="0">
              <a:lnSpc>
                <a:spcPct val="105000"/>
              </a:lnSpc>
              <a:buNone/>
            </a:pPr>
            <a:r>
              <a:rPr lang="en-US" sz="1000" dirty="0">
                <a:solidFill>
                  <a:srgbClr val="3E4C55"/>
                </a:solidFill>
                <a:ea typeface="Calibri" pitchFamily="34" charset="-122"/>
                <a:cs typeface="Calibri" pitchFamily="34" charset="-120"/>
              </a:rPr>
              <a:t>Table Name · Column Name · Data Type</a:t>
            </a:r>
          </a:p>
        </p:txBody>
      </p:sp>
      <p:sp>
        <p:nvSpPr>
          <p:cNvPr id="301" name="Shape 2 copy"/>
          <p:cNvSpPr/>
          <p:nvPr/>
        </p:nvSpPr>
        <p:spPr>
          <a:xfrm>
            <a:off x="502920" y="2470000"/>
            <a:ext cx="2971800" cy="980000"/>
          </a:xfrm>
          <a:prstGeom prst="roundRect">
            <a:avLst>
              <a:gd name="adj" fmla="val 4667"/>
            </a:avLst>
          </a:prstGeom>
          <a:solidFill>
            <a:srgbClr val="E8EDEF"/>
          </a:solidFill>
          <a:ln w="12700">
            <a:solidFill>
              <a:srgbClr val="C9D4D9"/>
            </a:solidFill>
            <a:prstDash val="solid"/>
          </a:ln>
        </p:spPr>
        <p:txBody>
          <a:bodyPr/>
          <a:lstStyle/>
          <a:p>
            <a:endParaRPr sz="2400"/>
          </a:p>
        </p:txBody>
      </p:sp>
      <p:sp>
        <p:nvSpPr>
          <p:cNvPr id="302" name="Shape 3 copy"/>
          <p:cNvSpPr/>
          <p:nvPr/>
        </p:nvSpPr>
        <p:spPr>
          <a:xfrm>
            <a:off x="633008" y="2498000"/>
            <a:ext cx="868680" cy="237744"/>
          </a:xfrm>
          <a:prstGeom prst="roundRect">
            <a:avLst>
              <a:gd name="adj" fmla="val 46154"/>
            </a:avLst>
          </a:prstGeom>
          <a:solidFill>
            <a:srgbClr val="0058FF"/>
          </a:solidFill>
          <a:ln w="12700">
            <a:solidFill>
              <a:srgbClr val="0058FF"/>
            </a:solidFill>
            <a:prstDash val="solid"/>
          </a:ln>
        </p:spPr>
        <p:txBody>
          <a:bodyPr/>
          <a:lstStyle/>
          <a:p>
            <a:endParaRPr sz="2400"/>
          </a:p>
        </p:txBody>
      </p:sp>
      <p:sp>
        <p:nvSpPr>
          <p:cNvPr id="303" name="Text 4 copy"/>
          <p:cNvSpPr/>
          <p:nvPr/>
        </p:nvSpPr>
        <p:spPr>
          <a:xfrm>
            <a:off x="633008" y="2502000"/>
            <a:ext cx="868680" cy="237744"/>
          </a:xfrm>
          <a:prstGeom prst="rect">
            <a:avLst/>
          </a:prstGeom>
          <a:noFill/>
          <a:ln/>
        </p:spPr>
        <p:txBody>
          <a:bodyPr wrap="square" lIns="0" tIns="0" rIns="0" bIns="0" rtlCol="0" anchor="ctr"/>
          <a:lstStyle/>
          <a:p>
            <a:pPr marL="0" indent="0" algn="ctr">
              <a:buNone/>
            </a:pPr>
            <a:r>
              <a:rPr lang="en-US" sz="1050" b="1" dirty="0">
                <a:solidFill>
                  <a:srgbClr val="FFFFFF"/>
                </a:solidFill>
                <a:ea typeface="Calibri" pitchFamily="34" charset="-122"/>
                <a:cs typeface="Calibri" pitchFamily="34" charset="-120"/>
              </a:rPr>
              <a:t>TARGET B</a:t>
            </a:r>
          </a:p>
        </p:txBody>
      </p:sp>
      <p:sp>
        <p:nvSpPr>
          <p:cNvPr id="304" name="Text 5 copy"/>
          <p:cNvSpPr/>
          <p:nvPr/>
        </p:nvSpPr>
        <p:spPr>
          <a:xfrm>
            <a:off x="667512" y="2770000"/>
            <a:ext cx="2651760" cy="230000"/>
          </a:xfrm>
          <a:prstGeom prst="rect">
            <a:avLst/>
          </a:prstGeom>
          <a:noFill/>
          <a:ln/>
        </p:spPr>
        <p:txBody>
          <a:bodyPr wrap="square" lIns="0" tIns="0" rIns="0" bIns="0" rtlCol="0" anchor="ctr"/>
          <a:lstStyle/>
          <a:p>
            <a:pPr marL="0" indent="0">
              <a:buNone/>
            </a:pPr>
            <a:r>
              <a:rPr lang="en-US" sz="1400" b="1" dirty="0">
                <a:solidFill>
                  <a:srgbClr val="1B2A33"/>
                </a:solidFill>
                <a:ea typeface="Cambria" pitchFamily="34" charset="-122"/>
                <a:cs typeface="Cambria" pitchFamily="34" charset="-120"/>
              </a:rPr>
              <a:t>DDL Queries</a:t>
            </a:r>
          </a:p>
        </p:txBody>
      </p:sp>
      <p:sp>
        <p:nvSpPr>
          <p:cNvPr id="305" name="Text 6 copy"/>
          <p:cNvSpPr/>
          <p:nvPr/>
        </p:nvSpPr>
        <p:spPr>
          <a:xfrm>
            <a:off x="667512" y="2995000"/>
            <a:ext cx="2651760" cy="430000"/>
          </a:xfrm>
          <a:prstGeom prst="rect">
            <a:avLst/>
          </a:prstGeom>
          <a:noFill/>
          <a:ln/>
        </p:spPr>
        <p:txBody>
          <a:bodyPr wrap="square" lIns="0" tIns="0" rIns="0" bIns="0" rtlCol="0" anchor="ctr"/>
          <a:lstStyle/>
          <a:p>
            <a:pPr marL="0" indent="0">
              <a:lnSpc>
                <a:spcPct val="105000"/>
              </a:lnSpc>
              <a:buNone/>
            </a:pPr>
            <a:r>
              <a:rPr lang="en-US" sz="1000" dirty="0">
                <a:solidFill>
                  <a:srgbClr val="3E4C55"/>
                </a:solidFill>
                <a:ea typeface="Calibri" pitchFamily="34" charset="-122"/>
                <a:cs typeface="Calibri" pitchFamily="34" charset="-120"/>
              </a:rPr>
              <a:t>Power Designer </a:t>
            </a:r>
            <a:r>
              <a:rPr lang="en-US" sz="1000" b="1" dirty="0">
                <a:solidFill>
                  <a:srgbClr val="0058FF"/>
                </a:solidFill>
                <a:ea typeface="Calibri" pitchFamily="34" charset="-122"/>
                <a:cs typeface="Calibri" pitchFamily="34" charset="-120"/>
              </a:rPr>
              <a:t>generates the DDL queries</a:t>
            </a:r>
            <a:r>
              <a:rPr lang="en-US" sz="1000" dirty="0">
                <a:solidFill>
                  <a:srgbClr val="3E4C55"/>
                </a:solidFill>
                <a:ea typeface="Calibri" pitchFamily="34" charset="-122"/>
                <a:cs typeface="Calibri" pitchFamily="34" charset="-120"/>
              </a:rPr>
              <a:t> from Collibra</a:t>
            </a:r>
          </a:p>
          <a:p>
            <a:pPr marL="0" indent="0">
              <a:lnSpc>
                <a:spcPct val="105000"/>
              </a:lnSpc>
              <a:buNone/>
            </a:pPr>
            <a:r>
              <a:rPr lang="en-US" sz="1000" dirty="0">
                <a:solidFill>
                  <a:srgbClr val="3E4C55"/>
                </a:solidFill>
                <a:ea typeface="Calibri" pitchFamily="34" charset="-122"/>
                <a:cs typeface="Calibri" pitchFamily="34" charset="-120"/>
              </a:rPr>
              <a:t>Table Name · Column Name · Data Type</a:t>
            </a:r>
          </a:p>
        </p:txBody>
      </p:sp>
      <p:sp>
        <p:nvSpPr>
          <p:cNvPr id="9" name="Shape 7"/>
          <p:cNvSpPr/>
          <p:nvPr/>
        </p:nvSpPr>
        <p:spPr>
          <a:xfrm>
            <a:off x="502920" y="3520000"/>
            <a:ext cx="2971800" cy="980000"/>
          </a:xfrm>
          <a:prstGeom prst="roundRect">
            <a:avLst>
              <a:gd name="adj" fmla="val 4667"/>
            </a:avLst>
          </a:prstGeom>
          <a:solidFill>
            <a:srgbClr val="E8EDEF"/>
          </a:solidFill>
          <a:ln w="12700">
            <a:solidFill>
              <a:srgbClr val="C9D4D9"/>
            </a:solidFill>
            <a:prstDash val="solid"/>
          </a:ln>
        </p:spPr>
        <p:txBody>
          <a:bodyPr/>
          <a:lstStyle/>
          <a:p>
            <a:endParaRPr sz="2400"/>
          </a:p>
        </p:txBody>
      </p:sp>
      <p:sp>
        <p:nvSpPr>
          <p:cNvPr id="10" name="Shape 8"/>
          <p:cNvSpPr/>
          <p:nvPr/>
        </p:nvSpPr>
        <p:spPr>
          <a:xfrm>
            <a:off x="624382" y="3548000"/>
            <a:ext cx="868680" cy="237744"/>
          </a:xfrm>
          <a:prstGeom prst="roundRect">
            <a:avLst>
              <a:gd name="adj" fmla="val 46154"/>
            </a:avLst>
          </a:prstGeom>
          <a:solidFill>
            <a:srgbClr val="0E7C7B"/>
          </a:solidFill>
          <a:ln w="12700">
            <a:solidFill>
              <a:srgbClr val="0E7C7B"/>
            </a:solidFill>
            <a:prstDash val="solid"/>
          </a:ln>
        </p:spPr>
        <p:txBody>
          <a:bodyPr/>
          <a:lstStyle/>
          <a:p>
            <a:endParaRPr sz="2400"/>
          </a:p>
        </p:txBody>
      </p:sp>
      <p:sp>
        <p:nvSpPr>
          <p:cNvPr id="11" name="Text 9"/>
          <p:cNvSpPr/>
          <p:nvPr/>
        </p:nvSpPr>
        <p:spPr>
          <a:xfrm>
            <a:off x="624382" y="3552000"/>
            <a:ext cx="868680" cy="237744"/>
          </a:xfrm>
          <a:prstGeom prst="rect">
            <a:avLst/>
          </a:prstGeom>
          <a:noFill/>
          <a:ln/>
        </p:spPr>
        <p:txBody>
          <a:bodyPr wrap="square" lIns="0" tIns="0" rIns="0" bIns="0" rtlCol="0" anchor="ctr"/>
          <a:lstStyle/>
          <a:p>
            <a:pPr marL="0" indent="0" algn="ctr">
              <a:buNone/>
            </a:pPr>
            <a:r>
              <a:rPr lang="en-US" sz="1050" b="1" kern="0" spc="60" dirty="0">
                <a:solidFill>
                  <a:srgbClr val="FFFFFF"/>
                </a:solidFill>
                <a:ea typeface="Calibri" pitchFamily="34" charset="-122"/>
                <a:cs typeface="Calibri" pitchFamily="34" charset="-120"/>
              </a:rPr>
              <a:t>SOURCE</a:t>
            </a:r>
            <a:endParaRPr lang="en-US" sz="1050" dirty="0"/>
          </a:p>
        </p:txBody>
      </p:sp>
      <p:sp>
        <p:nvSpPr>
          <p:cNvPr id="12" name="Text 10"/>
          <p:cNvSpPr/>
          <p:nvPr/>
        </p:nvSpPr>
        <p:spPr>
          <a:xfrm>
            <a:off x="650260" y="3820000"/>
            <a:ext cx="2651760" cy="230000"/>
          </a:xfrm>
          <a:prstGeom prst="rect">
            <a:avLst/>
          </a:prstGeom>
          <a:noFill/>
          <a:ln/>
        </p:spPr>
        <p:txBody>
          <a:bodyPr wrap="square" lIns="0" tIns="0" rIns="0" bIns="0" rtlCol="0" anchor="ctr"/>
          <a:lstStyle/>
          <a:p>
            <a:pPr marL="0" indent="0">
              <a:buNone/>
            </a:pPr>
            <a:r>
              <a:rPr lang="en-US" sz="1400" b="1" dirty="0">
                <a:solidFill>
                  <a:srgbClr val="1B2A33"/>
                </a:solidFill>
                <a:ea typeface="Cambria" pitchFamily="34" charset="-122"/>
                <a:cs typeface="Cambria" pitchFamily="34" charset="-120"/>
              </a:rPr>
              <a:t>MDR mapping sheet (BA)</a:t>
            </a:r>
            <a:endParaRPr lang="en-US" sz="1400" dirty="0"/>
          </a:p>
        </p:txBody>
      </p:sp>
      <p:sp>
        <p:nvSpPr>
          <p:cNvPr id="13" name="Text 11"/>
          <p:cNvSpPr/>
          <p:nvPr/>
        </p:nvSpPr>
        <p:spPr>
          <a:xfrm>
            <a:off x="667512" y="4045000"/>
            <a:ext cx="2651760" cy="430000"/>
          </a:xfrm>
          <a:prstGeom prst="rect">
            <a:avLst/>
          </a:prstGeom>
          <a:noFill/>
          <a:ln/>
        </p:spPr>
        <p:txBody>
          <a:bodyPr wrap="square" lIns="0" tIns="0" rIns="0" bIns="0" rtlCol="0" anchor="ctr"/>
          <a:lstStyle/>
          <a:p>
            <a:pPr marL="0" indent="0">
              <a:lnSpc>
                <a:spcPct val="105000"/>
              </a:lnSpc>
              <a:buNone/>
            </a:pPr>
            <a:r>
              <a:rPr lang="en-US" sz="1000" dirty="0">
                <a:solidFill>
                  <a:srgbClr val="3E4C55"/>
                </a:solidFill>
                <a:ea typeface="Calibri" pitchFamily="34" charset="-122"/>
                <a:cs typeface="Calibri" pitchFamily="34" charset="-120"/>
              </a:rPr>
              <a:t>The agreed schema baseline — table, column, datatype, key and nullability — versioned by the BA team</a:t>
            </a:r>
          </a:p>
        </p:txBody>
      </p:sp>
      <p:sp>
        <p:nvSpPr>
          <p:cNvPr id="14" name="Shape 12"/>
          <p:cNvSpPr/>
          <p:nvPr/>
        </p:nvSpPr>
        <p:spPr>
          <a:xfrm>
            <a:off x="3474720" y="1940000"/>
            <a:ext cx="566928" cy="0"/>
          </a:xfrm>
          <a:prstGeom prst="line">
            <a:avLst/>
          </a:prstGeom>
          <a:noFill/>
          <a:ln w="25400">
            <a:solidFill>
              <a:srgbClr val="1B2A33"/>
            </a:solidFill>
            <a:prstDash val="solid"/>
            <a:tailEnd type="triangle"/>
          </a:ln>
        </p:spPr>
        <p:txBody>
          <a:bodyPr/>
          <a:lstStyle/>
          <a:p>
            <a:endParaRPr sz="2400"/>
          </a:p>
        </p:txBody>
      </p:sp>
      <p:sp>
        <p:nvSpPr>
          <p:cNvPr id="306" name="Shape 12 copy"/>
          <p:cNvSpPr/>
          <p:nvPr/>
        </p:nvSpPr>
        <p:spPr>
          <a:xfrm>
            <a:off x="3474720" y="2960000"/>
            <a:ext cx="566928" cy="0"/>
          </a:xfrm>
          <a:prstGeom prst="line">
            <a:avLst/>
          </a:prstGeom>
          <a:noFill/>
          <a:ln w="25400">
            <a:solidFill>
              <a:srgbClr val="1B2A33"/>
            </a:solidFill>
            <a:prstDash val="solid"/>
            <a:tailEnd type="triangle"/>
          </a:ln>
        </p:spPr>
        <p:txBody>
          <a:bodyPr/>
          <a:lstStyle/>
          <a:p>
            <a:endParaRPr sz="2400"/>
          </a:p>
        </p:txBody>
      </p:sp>
      <p:sp>
        <p:nvSpPr>
          <p:cNvPr id="15" name="Shape 13"/>
          <p:cNvSpPr/>
          <p:nvPr/>
        </p:nvSpPr>
        <p:spPr>
          <a:xfrm>
            <a:off x="3474720" y="4010000"/>
            <a:ext cx="566928" cy="0"/>
          </a:xfrm>
          <a:prstGeom prst="line">
            <a:avLst/>
          </a:prstGeom>
          <a:noFill/>
          <a:ln w="25400">
            <a:solidFill>
              <a:srgbClr val="0E7C7B"/>
            </a:solidFill>
            <a:prstDash val="solid"/>
            <a:tailEnd type="triangle"/>
          </a:ln>
        </p:spPr>
        <p:txBody>
          <a:bodyPr/>
          <a:lstStyle/>
          <a:p>
            <a:endParaRPr sz="2400"/>
          </a:p>
        </p:txBody>
      </p:sp>
      <p:sp>
        <p:nvSpPr>
          <p:cNvPr id="16" name="Shape 14"/>
          <p:cNvSpPr/>
          <p:nvPr/>
        </p:nvSpPr>
        <p:spPr>
          <a:xfrm>
            <a:off x="4069080" y="1853817"/>
            <a:ext cx="3017520" cy="2194560"/>
          </a:xfrm>
          <a:prstGeom prst="roundRect">
            <a:avLst>
              <a:gd name="adj" fmla="val 2917"/>
            </a:avLst>
          </a:prstGeom>
          <a:solidFill>
            <a:srgbClr val="FFFFFF"/>
          </a:solidFill>
          <a:ln w="12700">
            <a:solidFill>
              <a:srgbClr val="0E7C7B"/>
            </a:solidFill>
            <a:prstDash val="solid"/>
          </a:ln>
        </p:spPr>
        <p:txBody>
          <a:bodyPr/>
          <a:lstStyle/>
          <a:p>
            <a:endParaRPr sz="2400"/>
          </a:p>
        </p:txBody>
      </p:sp>
      <p:sp>
        <p:nvSpPr>
          <p:cNvPr id="17" name="Text 15"/>
          <p:cNvSpPr/>
          <p:nvPr/>
        </p:nvSpPr>
        <p:spPr>
          <a:xfrm>
            <a:off x="4233672" y="1990977"/>
            <a:ext cx="2697480" cy="256032"/>
          </a:xfrm>
          <a:prstGeom prst="rect">
            <a:avLst/>
          </a:prstGeom>
          <a:noFill/>
          <a:ln/>
        </p:spPr>
        <p:txBody>
          <a:bodyPr wrap="square" lIns="0" tIns="0" rIns="0" bIns="0" rtlCol="0" anchor="ctr"/>
          <a:lstStyle/>
          <a:p>
            <a:pPr marL="0" indent="0">
              <a:buNone/>
            </a:pPr>
            <a:r>
              <a:rPr lang="en-US" sz="1400" b="1" dirty="0">
                <a:solidFill>
                  <a:srgbClr val="1B2A33"/>
                </a:solidFill>
                <a:ea typeface="Cambria" pitchFamily="34" charset="-122"/>
                <a:cs typeface="Cambria" pitchFamily="34" charset="-120"/>
              </a:rPr>
              <a:t>Comparison engine</a:t>
            </a:r>
            <a:endParaRPr lang="en-US" sz="1400" dirty="0"/>
          </a:p>
        </p:txBody>
      </p:sp>
      <p:sp>
        <p:nvSpPr>
          <p:cNvPr id="18" name="Shape 16"/>
          <p:cNvSpPr/>
          <p:nvPr/>
        </p:nvSpPr>
        <p:spPr>
          <a:xfrm>
            <a:off x="4233672" y="2311017"/>
            <a:ext cx="201168" cy="201168"/>
          </a:xfrm>
          <a:prstGeom prst="ellipse">
            <a:avLst/>
          </a:prstGeom>
          <a:solidFill>
            <a:srgbClr val="E3F0EF"/>
          </a:solidFill>
          <a:ln w="12700">
            <a:solidFill>
              <a:srgbClr val="E3F0EF"/>
            </a:solidFill>
            <a:prstDash val="solid"/>
          </a:ln>
        </p:spPr>
        <p:txBody>
          <a:bodyPr/>
          <a:lstStyle/>
          <a:p>
            <a:endParaRPr sz="2400"/>
          </a:p>
        </p:txBody>
      </p:sp>
      <p:sp>
        <p:nvSpPr>
          <p:cNvPr id="19" name="Text 17"/>
          <p:cNvSpPr/>
          <p:nvPr/>
        </p:nvSpPr>
        <p:spPr>
          <a:xfrm>
            <a:off x="4233672" y="2311017"/>
            <a:ext cx="201168" cy="201168"/>
          </a:xfrm>
          <a:prstGeom prst="rect">
            <a:avLst/>
          </a:prstGeom>
          <a:noFill/>
          <a:ln/>
        </p:spPr>
        <p:txBody>
          <a:bodyPr wrap="square" lIns="0" tIns="0" rIns="0" bIns="0" rtlCol="0" anchor="ctr"/>
          <a:lstStyle/>
          <a:p>
            <a:pPr marL="0" indent="0" algn="ctr">
              <a:buNone/>
            </a:pPr>
            <a:r>
              <a:rPr lang="en-US" sz="1000" b="1" dirty="0">
                <a:solidFill>
                  <a:srgbClr val="0E7C7B"/>
                </a:solidFill>
                <a:ea typeface="Calibri" pitchFamily="34" charset="-122"/>
                <a:cs typeface="Calibri" pitchFamily="34" charset="-120"/>
              </a:rPr>
              <a:t>1</a:t>
            </a:r>
            <a:endParaRPr lang="en-US" sz="1000" dirty="0"/>
          </a:p>
        </p:txBody>
      </p:sp>
      <p:sp>
        <p:nvSpPr>
          <p:cNvPr id="20" name="Text 18"/>
          <p:cNvSpPr/>
          <p:nvPr/>
        </p:nvSpPr>
        <p:spPr>
          <a:xfrm>
            <a:off x="4507992" y="2292729"/>
            <a:ext cx="2423160" cy="384048"/>
          </a:xfrm>
          <a:prstGeom prst="rect">
            <a:avLst/>
          </a:prstGeom>
          <a:noFill/>
          <a:ln/>
        </p:spPr>
        <p:txBody>
          <a:bodyPr wrap="square" lIns="0" tIns="0" rIns="0" bIns="0" rtlCol="0" anchor="ctr"/>
          <a:lstStyle/>
          <a:p>
            <a:pPr marL="0" indent="0">
              <a:lnSpc>
                <a:spcPct val="100000"/>
              </a:lnSpc>
              <a:buNone/>
            </a:pPr>
            <a:r>
              <a:rPr lang="en-US" sz="1100" b="1" dirty="0">
                <a:solidFill>
                  <a:srgbClr val="1B2A33"/>
                </a:solidFill>
                <a:ea typeface="Calibri" pitchFamily="34" charset="-122"/>
                <a:cs typeface="Calibri" pitchFamily="34" charset="-120"/>
              </a:rPr>
              <a:t>Normalise — </a:t>
            </a:r>
            <a:r>
              <a:rPr lang="en-US" sz="1100" dirty="0">
                <a:solidFill>
                  <a:srgbClr val="3E4C55"/>
                </a:solidFill>
                <a:ea typeface="Calibri" pitchFamily="34" charset="-122"/>
                <a:cs typeface="Calibri" pitchFamily="34" charset="-120"/>
              </a:rPr>
              <a:t>Canonicalize object names and datatypes on both sides</a:t>
            </a:r>
            <a:endParaRPr lang="en-US" sz="1100" dirty="0"/>
          </a:p>
        </p:txBody>
      </p:sp>
      <p:sp>
        <p:nvSpPr>
          <p:cNvPr id="21" name="Shape 19"/>
          <p:cNvSpPr/>
          <p:nvPr/>
        </p:nvSpPr>
        <p:spPr>
          <a:xfrm>
            <a:off x="4233672" y="2731641"/>
            <a:ext cx="201168" cy="201168"/>
          </a:xfrm>
          <a:prstGeom prst="ellipse">
            <a:avLst/>
          </a:prstGeom>
          <a:solidFill>
            <a:srgbClr val="E3F0EF"/>
          </a:solidFill>
          <a:ln w="12700">
            <a:solidFill>
              <a:srgbClr val="E3F0EF"/>
            </a:solidFill>
            <a:prstDash val="solid"/>
          </a:ln>
        </p:spPr>
        <p:txBody>
          <a:bodyPr/>
          <a:lstStyle/>
          <a:p>
            <a:endParaRPr sz="2400"/>
          </a:p>
        </p:txBody>
      </p:sp>
      <p:sp>
        <p:nvSpPr>
          <p:cNvPr id="22" name="Text 20"/>
          <p:cNvSpPr/>
          <p:nvPr/>
        </p:nvSpPr>
        <p:spPr>
          <a:xfrm>
            <a:off x="4233672" y="2731641"/>
            <a:ext cx="201168" cy="201168"/>
          </a:xfrm>
          <a:prstGeom prst="rect">
            <a:avLst/>
          </a:prstGeom>
          <a:noFill/>
          <a:ln/>
        </p:spPr>
        <p:txBody>
          <a:bodyPr wrap="square" lIns="0" tIns="0" rIns="0" bIns="0" rtlCol="0" anchor="ctr"/>
          <a:lstStyle/>
          <a:p>
            <a:pPr marL="0" indent="0" algn="ctr">
              <a:buNone/>
            </a:pPr>
            <a:r>
              <a:rPr lang="en-US" sz="1000" b="1" dirty="0">
                <a:solidFill>
                  <a:srgbClr val="0E7C7B"/>
                </a:solidFill>
                <a:ea typeface="Calibri" pitchFamily="34" charset="-122"/>
                <a:cs typeface="Calibri" pitchFamily="34" charset="-120"/>
              </a:rPr>
              <a:t>2</a:t>
            </a:r>
            <a:endParaRPr lang="en-US" sz="1000" dirty="0"/>
          </a:p>
        </p:txBody>
      </p:sp>
      <p:sp>
        <p:nvSpPr>
          <p:cNvPr id="23" name="Text 21"/>
          <p:cNvSpPr/>
          <p:nvPr/>
        </p:nvSpPr>
        <p:spPr>
          <a:xfrm>
            <a:off x="4507992" y="2713353"/>
            <a:ext cx="2423160" cy="384048"/>
          </a:xfrm>
          <a:prstGeom prst="rect">
            <a:avLst/>
          </a:prstGeom>
          <a:noFill/>
          <a:ln/>
        </p:spPr>
        <p:txBody>
          <a:bodyPr wrap="square" lIns="0" tIns="0" rIns="0" bIns="0" rtlCol="0" anchor="ctr"/>
          <a:lstStyle/>
          <a:p>
            <a:pPr marL="0" indent="0">
              <a:lnSpc>
                <a:spcPct val="100000"/>
              </a:lnSpc>
              <a:buNone/>
            </a:pPr>
            <a:r>
              <a:rPr lang="en-US" sz="1100" b="1" dirty="0">
                <a:solidFill>
                  <a:srgbClr val="1B2A33"/>
                </a:solidFill>
                <a:ea typeface="Calibri" pitchFamily="34" charset="-122"/>
                <a:cs typeface="Calibri" pitchFamily="34" charset="-120"/>
              </a:rPr>
              <a:t>Match tables — </a:t>
            </a:r>
            <a:r>
              <a:rPr lang="en-US" sz="1100" dirty="0">
                <a:solidFill>
                  <a:srgbClr val="3E4C55"/>
                </a:solidFill>
                <a:ea typeface="Calibri" pitchFamily="34" charset="-122"/>
                <a:cs typeface="Calibri" pitchFamily="34" charset="-120"/>
              </a:rPr>
              <a:t>source set vs target set, both directions</a:t>
            </a:r>
            <a:endParaRPr lang="en-US" sz="1100" dirty="0"/>
          </a:p>
        </p:txBody>
      </p:sp>
      <p:sp>
        <p:nvSpPr>
          <p:cNvPr id="24" name="Shape 22"/>
          <p:cNvSpPr/>
          <p:nvPr/>
        </p:nvSpPr>
        <p:spPr>
          <a:xfrm>
            <a:off x="4233672" y="3152265"/>
            <a:ext cx="201168" cy="201168"/>
          </a:xfrm>
          <a:prstGeom prst="ellipse">
            <a:avLst/>
          </a:prstGeom>
          <a:solidFill>
            <a:srgbClr val="E3F0EF"/>
          </a:solidFill>
          <a:ln w="12700">
            <a:solidFill>
              <a:srgbClr val="E3F0EF"/>
            </a:solidFill>
            <a:prstDash val="solid"/>
          </a:ln>
        </p:spPr>
        <p:txBody>
          <a:bodyPr/>
          <a:lstStyle/>
          <a:p>
            <a:endParaRPr sz="2400"/>
          </a:p>
        </p:txBody>
      </p:sp>
      <p:sp>
        <p:nvSpPr>
          <p:cNvPr id="25" name="Text 23"/>
          <p:cNvSpPr/>
          <p:nvPr/>
        </p:nvSpPr>
        <p:spPr>
          <a:xfrm>
            <a:off x="4233672" y="3152265"/>
            <a:ext cx="201168" cy="201168"/>
          </a:xfrm>
          <a:prstGeom prst="rect">
            <a:avLst/>
          </a:prstGeom>
          <a:noFill/>
          <a:ln/>
        </p:spPr>
        <p:txBody>
          <a:bodyPr wrap="square" lIns="0" tIns="0" rIns="0" bIns="0" rtlCol="0" anchor="ctr"/>
          <a:lstStyle/>
          <a:p>
            <a:pPr marL="0" indent="0" algn="ctr">
              <a:buNone/>
            </a:pPr>
            <a:r>
              <a:rPr lang="en-US" sz="1000" b="1" dirty="0">
                <a:solidFill>
                  <a:srgbClr val="0E7C7B"/>
                </a:solidFill>
                <a:ea typeface="Calibri" pitchFamily="34" charset="-122"/>
                <a:cs typeface="Calibri" pitchFamily="34" charset="-120"/>
              </a:rPr>
              <a:t>3</a:t>
            </a:r>
            <a:endParaRPr lang="en-US" sz="1000" dirty="0"/>
          </a:p>
        </p:txBody>
      </p:sp>
      <p:sp>
        <p:nvSpPr>
          <p:cNvPr id="26" name="Text 24"/>
          <p:cNvSpPr/>
          <p:nvPr/>
        </p:nvSpPr>
        <p:spPr>
          <a:xfrm>
            <a:off x="4507992" y="3133977"/>
            <a:ext cx="2423160" cy="384048"/>
          </a:xfrm>
          <a:prstGeom prst="rect">
            <a:avLst/>
          </a:prstGeom>
          <a:noFill/>
          <a:ln/>
        </p:spPr>
        <p:txBody>
          <a:bodyPr wrap="square" lIns="0" tIns="0" rIns="0" bIns="0" rtlCol="0" anchor="ctr"/>
          <a:lstStyle/>
          <a:p>
            <a:pPr marL="0" indent="0">
              <a:lnSpc>
                <a:spcPct val="100000"/>
              </a:lnSpc>
              <a:buNone/>
            </a:pPr>
            <a:r>
              <a:rPr lang="en-US" sz="1100" b="1" dirty="0">
                <a:solidFill>
                  <a:srgbClr val="1B2A33"/>
                </a:solidFill>
                <a:ea typeface="Calibri" pitchFamily="34" charset="-122"/>
                <a:cs typeface="Calibri" pitchFamily="34" charset="-120"/>
              </a:rPr>
              <a:t>Match columns — </a:t>
            </a:r>
            <a:r>
              <a:rPr lang="en-US" sz="1100" dirty="0">
                <a:solidFill>
                  <a:srgbClr val="3E4C55"/>
                </a:solidFill>
                <a:ea typeface="Calibri" pitchFamily="34" charset="-122"/>
                <a:cs typeface="Calibri" pitchFamily="34" charset="-120"/>
              </a:rPr>
              <a:t>per table, both directions</a:t>
            </a:r>
            <a:endParaRPr lang="en-US" sz="1100" dirty="0"/>
          </a:p>
        </p:txBody>
      </p:sp>
      <p:sp>
        <p:nvSpPr>
          <p:cNvPr id="27" name="Shape 25"/>
          <p:cNvSpPr/>
          <p:nvPr/>
        </p:nvSpPr>
        <p:spPr>
          <a:xfrm>
            <a:off x="4233672" y="3572889"/>
            <a:ext cx="201168" cy="201168"/>
          </a:xfrm>
          <a:prstGeom prst="ellipse">
            <a:avLst/>
          </a:prstGeom>
          <a:solidFill>
            <a:srgbClr val="E3F0EF"/>
          </a:solidFill>
          <a:ln w="12700">
            <a:solidFill>
              <a:srgbClr val="E3F0EF"/>
            </a:solidFill>
            <a:prstDash val="solid"/>
          </a:ln>
        </p:spPr>
        <p:txBody>
          <a:bodyPr/>
          <a:lstStyle/>
          <a:p>
            <a:endParaRPr sz="2400"/>
          </a:p>
        </p:txBody>
      </p:sp>
      <p:sp>
        <p:nvSpPr>
          <p:cNvPr id="28" name="Text 26"/>
          <p:cNvSpPr/>
          <p:nvPr/>
        </p:nvSpPr>
        <p:spPr>
          <a:xfrm>
            <a:off x="4233672" y="3572889"/>
            <a:ext cx="201168" cy="201168"/>
          </a:xfrm>
          <a:prstGeom prst="rect">
            <a:avLst/>
          </a:prstGeom>
          <a:noFill/>
          <a:ln/>
        </p:spPr>
        <p:txBody>
          <a:bodyPr wrap="square" lIns="0" tIns="0" rIns="0" bIns="0" rtlCol="0" anchor="ctr"/>
          <a:lstStyle/>
          <a:p>
            <a:pPr marL="0" indent="0" algn="ctr">
              <a:buNone/>
            </a:pPr>
            <a:r>
              <a:rPr lang="en-US" sz="1000" b="1" dirty="0">
                <a:solidFill>
                  <a:srgbClr val="0E7C7B"/>
                </a:solidFill>
                <a:ea typeface="Calibri" pitchFamily="34" charset="-122"/>
                <a:cs typeface="Calibri" pitchFamily="34" charset="-120"/>
              </a:rPr>
              <a:t>4</a:t>
            </a:r>
            <a:endParaRPr lang="en-US" sz="1000" dirty="0"/>
          </a:p>
        </p:txBody>
      </p:sp>
      <p:sp>
        <p:nvSpPr>
          <p:cNvPr id="29" name="Text 27"/>
          <p:cNvSpPr/>
          <p:nvPr/>
        </p:nvSpPr>
        <p:spPr>
          <a:xfrm>
            <a:off x="4507992" y="3554601"/>
            <a:ext cx="2423160" cy="384048"/>
          </a:xfrm>
          <a:prstGeom prst="rect">
            <a:avLst/>
          </a:prstGeom>
          <a:noFill/>
          <a:ln/>
        </p:spPr>
        <p:txBody>
          <a:bodyPr wrap="square" lIns="0" tIns="0" rIns="0" bIns="0" rtlCol="0" anchor="ctr"/>
          <a:lstStyle/>
          <a:p>
            <a:pPr marL="0" indent="0">
              <a:lnSpc>
                <a:spcPct val="100000"/>
              </a:lnSpc>
              <a:buNone/>
            </a:pPr>
            <a:r>
              <a:rPr lang="en-US" sz="1100" b="1" dirty="0">
                <a:solidFill>
                  <a:srgbClr val="1B2A33"/>
                </a:solidFill>
                <a:ea typeface="Calibri" pitchFamily="34" charset="-122"/>
                <a:cs typeface="Calibri" pitchFamily="34" charset="-120"/>
              </a:rPr>
              <a:t>Compare datatypes — </a:t>
            </a:r>
            <a:r>
              <a:rPr lang="en-US" sz="1100" dirty="0">
                <a:solidFill>
                  <a:srgbClr val="3E4C55"/>
                </a:solidFill>
                <a:ea typeface="Calibri" pitchFamily="34" charset="-122"/>
                <a:cs typeface="Calibri" pitchFamily="34" charset="-120"/>
              </a:rPr>
              <a:t>on the columns present in both</a:t>
            </a:r>
            <a:endParaRPr lang="en-US" sz="1100" dirty="0"/>
          </a:p>
        </p:txBody>
      </p:sp>
      <p:sp>
        <p:nvSpPr>
          <p:cNvPr id="30" name="Shape 28"/>
          <p:cNvSpPr/>
          <p:nvPr/>
        </p:nvSpPr>
        <p:spPr>
          <a:xfrm>
            <a:off x="7132320" y="2951097"/>
            <a:ext cx="548640" cy="0"/>
          </a:xfrm>
          <a:prstGeom prst="line">
            <a:avLst/>
          </a:prstGeom>
          <a:noFill/>
          <a:ln w="25400">
            <a:solidFill>
              <a:srgbClr val="1B2A33"/>
            </a:solidFill>
            <a:prstDash val="solid"/>
            <a:tailEnd type="triangle"/>
          </a:ln>
        </p:spPr>
        <p:txBody>
          <a:bodyPr/>
          <a:lstStyle/>
          <a:p>
            <a:endParaRPr sz="2400"/>
          </a:p>
        </p:txBody>
      </p:sp>
      <p:sp>
        <p:nvSpPr>
          <p:cNvPr id="31" name="Shape 29"/>
          <p:cNvSpPr/>
          <p:nvPr/>
        </p:nvSpPr>
        <p:spPr>
          <a:xfrm>
            <a:off x="7726680" y="1853817"/>
            <a:ext cx="3959352" cy="2194560"/>
          </a:xfrm>
          <a:prstGeom prst="roundRect">
            <a:avLst>
              <a:gd name="adj" fmla="val 2917"/>
            </a:avLst>
          </a:prstGeom>
          <a:solidFill>
            <a:srgbClr val="F2F6F7"/>
          </a:solidFill>
          <a:ln w="12700">
            <a:solidFill>
              <a:srgbClr val="C9D4D9"/>
            </a:solidFill>
            <a:prstDash val="solid"/>
          </a:ln>
        </p:spPr>
        <p:txBody>
          <a:bodyPr/>
          <a:lstStyle/>
          <a:p>
            <a:endParaRPr sz="2400"/>
          </a:p>
        </p:txBody>
      </p:sp>
      <p:sp>
        <p:nvSpPr>
          <p:cNvPr id="32" name="Text 30"/>
          <p:cNvSpPr/>
          <p:nvPr/>
        </p:nvSpPr>
        <p:spPr>
          <a:xfrm>
            <a:off x="7891272" y="1990977"/>
            <a:ext cx="3630168" cy="256032"/>
          </a:xfrm>
          <a:prstGeom prst="rect">
            <a:avLst/>
          </a:prstGeom>
          <a:noFill/>
          <a:ln/>
        </p:spPr>
        <p:txBody>
          <a:bodyPr wrap="square" lIns="0" tIns="0" rIns="0" bIns="0" rtlCol="0" anchor="ctr"/>
          <a:lstStyle/>
          <a:p>
            <a:pPr marL="0" indent="0">
              <a:buNone/>
            </a:pPr>
            <a:r>
              <a:rPr lang="en-US" sz="1300" b="1" dirty="0">
                <a:solidFill>
                  <a:srgbClr val="1B2A33"/>
                </a:solidFill>
                <a:latin typeface="Cambria" pitchFamily="34" charset="0"/>
                <a:ea typeface="Cambria" pitchFamily="34" charset="-122"/>
                <a:cs typeface="Cambria" pitchFamily="34" charset="-120"/>
              </a:rPr>
              <a:t>Schema Comparison Report (.xlsx)</a:t>
            </a:r>
            <a:endParaRPr lang="en-US" sz="1600" dirty="0"/>
          </a:p>
        </p:txBody>
      </p:sp>
      <p:sp>
        <p:nvSpPr>
          <p:cNvPr id="33" name="Text 31"/>
          <p:cNvSpPr/>
          <p:nvPr/>
        </p:nvSpPr>
        <p:spPr>
          <a:xfrm>
            <a:off x="7891272" y="2320161"/>
            <a:ext cx="3630168" cy="123444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3E4C55"/>
                </a:solidFill>
                <a:ea typeface="Calibri" pitchFamily="34" charset="-122"/>
                <a:cs typeface="Calibri" pitchFamily="34" charset="-120"/>
              </a:rPr>
              <a:t>Summary</a:t>
            </a:r>
            <a:endParaRPr lang="en-US" sz="1100" dirty="0"/>
          </a:p>
          <a:p>
            <a:pPr marL="342900" indent="-342900">
              <a:spcAft>
                <a:spcPts val="400"/>
              </a:spcAft>
              <a:buSzPct val="100000"/>
              <a:buChar char="•"/>
            </a:pPr>
            <a:r>
              <a:rPr lang="en-US" sz="1100" dirty="0">
                <a:solidFill>
                  <a:srgbClr val="3E4C55"/>
                </a:solidFill>
                <a:ea typeface="Calibri" pitchFamily="34" charset="-122"/>
                <a:cs typeface="Calibri" pitchFamily="34" charset="-120"/>
              </a:rPr>
              <a:t>Missing_Tables_Target  /  Missing_Tables_Source</a:t>
            </a:r>
            <a:endParaRPr lang="en-US" sz="1100" dirty="0"/>
          </a:p>
          <a:p>
            <a:pPr marL="342900" indent="-342900">
              <a:spcAft>
                <a:spcPts val="400"/>
              </a:spcAft>
              <a:buSzPct val="100000"/>
              <a:buChar char="•"/>
            </a:pPr>
            <a:r>
              <a:rPr lang="en-US" sz="1100" dirty="0">
                <a:solidFill>
                  <a:srgbClr val="3E4C55"/>
                </a:solidFill>
                <a:ea typeface="Calibri" pitchFamily="34" charset="-122"/>
                <a:cs typeface="Calibri" pitchFamily="34" charset="-120"/>
              </a:rPr>
              <a:t>Missing_Columns_Target  /  Missing_Columns_Source</a:t>
            </a:r>
            <a:endParaRPr lang="en-US" sz="1100" dirty="0"/>
          </a:p>
          <a:p>
            <a:pPr marL="342900" indent="-342900">
              <a:spcAft>
                <a:spcPts val="400"/>
              </a:spcAft>
              <a:buSzPct val="100000"/>
              <a:buChar char="•"/>
            </a:pPr>
            <a:r>
              <a:rPr lang="en-US" sz="1100" dirty="0">
                <a:solidFill>
                  <a:srgbClr val="3E4C55"/>
                </a:solidFill>
                <a:ea typeface="Calibri" pitchFamily="34" charset="-122"/>
                <a:cs typeface="Calibri" pitchFamily="34" charset="-120"/>
              </a:rPr>
              <a:t>Datatype_Mismatches</a:t>
            </a:r>
            <a:endParaRPr lang="en-US" sz="1100" dirty="0"/>
          </a:p>
          <a:p>
            <a:pPr marL="342900" indent="-342900">
              <a:spcAft>
                <a:spcPts val="400"/>
              </a:spcAft>
              <a:buSzPct val="100000"/>
              <a:buChar char="•"/>
            </a:pPr>
            <a:r>
              <a:rPr lang="en-US" sz="1100" dirty="0">
                <a:solidFill>
                  <a:srgbClr val="3E4C55"/>
                </a:solidFill>
                <a:ea typeface="Calibri" pitchFamily="34" charset="-122"/>
                <a:cs typeface="Calibri" pitchFamily="34" charset="-120"/>
              </a:rPr>
              <a:t>Datatype_Matches</a:t>
            </a:r>
            <a:endParaRPr lang="en-US" sz="1100" dirty="0"/>
          </a:p>
        </p:txBody>
      </p:sp>
      <p:sp>
        <p:nvSpPr>
          <p:cNvPr id="34" name="Text 32"/>
          <p:cNvSpPr/>
          <p:nvPr/>
        </p:nvSpPr>
        <p:spPr>
          <a:xfrm>
            <a:off x="7891272" y="3610000"/>
            <a:ext cx="3630168" cy="400000"/>
          </a:xfrm>
          <a:prstGeom prst="rect">
            <a:avLst/>
          </a:prstGeom>
          <a:noFill/>
          <a:ln/>
        </p:spPr>
        <p:txBody>
          <a:bodyPr wrap="square" lIns="0" tIns="0" rIns="0" bIns="0" rtlCol="0" anchor="ctr"/>
          <a:lstStyle/>
          <a:p>
            <a:pPr marL="0" indent="0">
              <a:lnSpc>
                <a:spcPct val="105000"/>
              </a:lnSpc>
              <a:buNone/>
            </a:pPr>
            <a:r>
              <a:rPr lang="en-US" sz="1000" b="1" dirty="0">
                <a:solidFill>
                  <a:srgbClr val="1B2A33"/>
                </a:solidFill>
                <a:ea typeface="Calibri" pitchFamily="34" charset="-122"/>
                <a:cs typeface="Calibri" pitchFamily="34" charset="-120"/>
              </a:rPr>
              <a:t>A → </a:t>
            </a:r>
            <a:r>
              <a:rPr lang="en-US" sz="1000" i="1" dirty="0">
                <a:solidFill>
                  <a:srgbClr val="6B7B85"/>
                </a:solidFill>
                <a:ea typeface="Calibri" pitchFamily="34" charset="-122"/>
                <a:cs typeface="Calibri" pitchFamily="34" charset="-120"/>
              </a:rPr>
              <a:t>DA and BA fix the data model in Collibra</a:t>
            </a:r>
          </a:p>
          <a:p>
            <a:pPr marL="0" indent="0">
              <a:lnSpc>
                <a:spcPct val="105000"/>
              </a:lnSpc>
              <a:buNone/>
            </a:pPr>
            <a:r>
              <a:rPr lang="en-US" sz="1000" b="1" dirty="0">
                <a:solidFill>
                  <a:srgbClr val="0058FF"/>
                </a:solidFill>
                <a:ea typeface="Calibri" pitchFamily="34" charset="-122"/>
                <a:cs typeface="Calibri" pitchFamily="34" charset="-120"/>
              </a:rPr>
              <a:t>B → </a:t>
            </a:r>
            <a:r>
              <a:rPr lang="en-US" sz="1000" i="1" dirty="0">
                <a:solidFill>
                  <a:srgbClr val="6B7B85"/>
                </a:solidFill>
                <a:ea typeface="Calibri" pitchFamily="34" charset="-122"/>
                <a:cs typeface="Calibri" pitchFamily="34" charset="-120"/>
              </a:rPr>
              <a:t>DA fixes the PR; BA confirms the baseline</a:t>
            </a:r>
          </a:p>
        </p:txBody>
      </p:sp>
      <p:sp>
        <p:nvSpPr>
          <p:cNvPr id="35" name="Text 33"/>
          <p:cNvSpPr/>
          <p:nvPr/>
        </p:nvSpPr>
        <p:spPr>
          <a:xfrm>
            <a:off x="502920" y="4668187"/>
            <a:ext cx="11183112" cy="256032"/>
          </a:xfrm>
          <a:prstGeom prst="rect">
            <a:avLst/>
          </a:prstGeom>
          <a:noFill/>
          <a:ln/>
        </p:spPr>
        <p:txBody>
          <a:bodyPr wrap="square" lIns="0" tIns="0" rIns="0" bIns="0" rtlCol="0" anchor="ctr"/>
          <a:lstStyle/>
          <a:p>
            <a:pPr marL="0" indent="0">
              <a:buNone/>
            </a:pPr>
            <a:r>
              <a:rPr lang="en-US" b="1" dirty="0">
                <a:solidFill>
                  <a:srgbClr val="1B2A33"/>
                </a:solidFill>
                <a:ea typeface="Cambria" pitchFamily="34" charset="-122"/>
                <a:cs typeface="Cambria" pitchFamily="34" charset="-120"/>
              </a:rPr>
              <a:t>Process Workflow</a:t>
            </a:r>
            <a:endParaRPr lang="en-US" dirty="0"/>
          </a:p>
        </p:txBody>
      </p:sp>
      <p:sp>
        <p:nvSpPr>
          <p:cNvPr id="36" name="Shape 34"/>
          <p:cNvSpPr/>
          <p:nvPr/>
        </p:nvSpPr>
        <p:spPr>
          <a:xfrm>
            <a:off x="502920" y="5083633"/>
            <a:ext cx="2596896" cy="1170432"/>
          </a:xfrm>
          <a:prstGeom prst="roundRect">
            <a:avLst>
              <a:gd name="adj" fmla="val 5469"/>
            </a:avLst>
          </a:prstGeom>
          <a:solidFill>
            <a:srgbClr val="E3F0EF"/>
          </a:solidFill>
          <a:ln w="12700">
            <a:solidFill>
              <a:srgbClr val="CBE0DE"/>
            </a:solidFill>
            <a:prstDash val="solid"/>
          </a:ln>
        </p:spPr>
        <p:txBody>
          <a:bodyPr/>
          <a:lstStyle/>
          <a:p>
            <a:endParaRPr sz="2400"/>
          </a:p>
        </p:txBody>
      </p:sp>
      <p:sp>
        <p:nvSpPr>
          <p:cNvPr id="37" name="Text 35"/>
          <p:cNvSpPr/>
          <p:nvPr/>
        </p:nvSpPr>
        <p:spPr>
          <a:xfrm>
            <a:off x="649224" y="5211649"/>
            <a:ext cx="2304288" cy="237744"/>
          </a:xfrm>
          <a:prstGeom prst="rect">
            <a:avLst/>
          </a:prstGeom>
          <a:noFill/>
          <a:ln/>
        </p:spPr>
        <p:txBody>
          <a:bodyPr wrap="square" lIns="0" tIns="0" rIns="0" bIns="0" rtlCol="0" anchor="ctr"/>
          <a:lstStyle/>
          <a:p>
            <a:pPr marL="0" indent="0">
              <a:buNone/>
            </a:pPr>
            <a:r>
              <a:rPr lang="en-US" sz="1400" b="1" dirty="0">
                <a:solidFill>
                  <a:srgbClr val="0E7C7B"/>
                </a:solidFill>
                <a:ea typeface="Calibri" pitchFamily="34" charset="-122"/>
                <a:cs typeface="Calibri" pitchFamily="34" charset="-120"/>
              </a:rPr>
              <a:t>Extraction</a:t>
            </a:r>
            <a:endParaRPr lang="en-US" sz="1400" dirty="0"/>
          </a:p>
        </p:txBody>
      </p:sp>
      <p:sp>
        <p:nvSpPr>
          <p:cNvPr id="38" name="Text 36"/>
          <p:cNvSpPr/>
          <p:nvPr/>
        </p:nvSpPr>
        <p:spPr>
          <a:xfrm>
            <a:off x="649224" y="5458537"/>
            <a:ext cx="2304288" cy="658368"/>
          </a:xfrm>
          <a:prstGeom prst="rect">
            <a:avLst/>
          </a:prstGeom>
          <a:noFill/>
          <a:ln/>
        </p:spPr>
        <p:txBody>
          <a:bodyPr wrap="square" lIns="0" tIns="0" rIns="0" bIns="0" rtlCol="0" anchor="ctr"/>
          <a:lstStyle/>
          <a:p>
            <a:pPr marL="0" indent="0">
              <a:lnSpc>
                <a:spcPct val="105000"/>
              </a:lnSpc>
              <a:buNone/>
            </a:pPr>
            <a:r>
              <a:rPr lang="en-US" sz="1100" dirty="0">
                <a:solidFill>
                  <a:srgbClr val="3E4C55"/>
                </a:solidFill>
                <a:ea typeface="Calibri" pitchFamily="34" charset="-122"/>
                <a:cs typeface="Calibri" pitchFamily="34" charset="-120"/>
              </a:rPr>
              <a:t>The tool reads every table and column in the data model or DDL queries — nothing dropped, nothing invented</a:t>
            </a:r>
            <a:endParaRPr lang="en-US" sz="1100" dirty="0"/>
          </a:p>
        </p:txBody>
      </p:sp>
      <p:sp>
        <p:nvSpPr>
          <p:cNvPr id="39" name="Shape 37"/>
          <p:cNvSpPr/>
          <p:nvPr/>
        </p:nvSpPr>
        <p:spPr>
          <a:xfrm>
            <a:off x="3364992" y="5083633"/>
            <a:ext cx="2596896" cy="1170432"/>
          </a:xfrm>
          <a:prstGeom prst="roundRect">
            <a:avLst>
              <a:gd name="adj" fmla="val 5469"/>
            </a:avLst>
          </a:prstGeom>
          <a:solidFill>
            <a:srgbClr val="E3F0EF"/>
          </a:solidFill>
          <a:ln w="12700">
            <a:solidFill>
              <a:srgbClr val="CBE0DE"/>
            </a:solidFill>
            <a:prstDash val="solid"/>
          </a:ln>
        </p:spPr>
        <p:txBody>
          <a:bodyPr/>
          <a:lstStyle/>
          <a:p>
            <a:endParaRPr sz="2400"/>
          </a:p>
        </p:txBody>
      </p:sp>
      <p:sp>
        <p:nvSpPr>
          <p:cNvPr id="40" name="Text 38"/>
          <p:cNvSpPr/>
          <p:nvPr/>
        </p:nvSpPr>
        <p:spPr>
          <a:xfrm>
            <a:off x="3511296" y="5211649"/>
            <a:ext cx="2304288" cy="237744"/>
          </a:xfrm>
          <a:prstGeom prst="rect">
            <a:avLst/>
          </a:prstGeom>
          <a:noFill/>
          <a:ln/>
        </p:spPr>
        <p:txBody>
          <a:bodyPr wrap="square" lIns="0" tIns="0" rIns="0" bIns="0" rtlCol="0" anchor="ctr"/>
          <a:lstStyle/>
          <a:p>
            <a:pPr marL="0" indent="0">
              <a:buNone/>
            </a:pPr>
            <a:r>
              <a:rPr lang="en-US" sz="1400" b="1" dirty="0">
                <a:solidFill>
                  <a:srgbClr val="0E7C7B"/>
                </a:solidFill>
                <a:ea typeface="Calibri" pitchFamily="34" charset="-122"/>
                <a:cs typeface="Calibri" pitchFamily="34" charset="-120"/>
              </a:rPr>
              <a:t>Baseline load</a:t>
            </a:r>
            <a:endParaRPr lang="en-US" sz="1400" dirty="0"/>
          </a:p>
        </p:txBody>
      </p:sp>
      <p:sp>
        <p:nvSpPr>
          <p:cNvPr id="41" name="Text 39"/>
          <p:cNvSpPr/>
          <p:nvPr/>
        </p:nvSpPr>
        <p:spPr>
          <a:xfrm>
            <a:off x="3511296" y="5459370"/>
            <a:ext cx="2304288" cy="449674"/>
          </a:xfrm>
          <a:prstGeom prst="rect">
            <a:avLst/>
          </a:prstGeom>
          <a:noFill/>
          <a:ln/>
        </p:spPr>
        <p:txBody>
          <a:bodyPr wrap="square" lIns="0" tIns="0" rIns="0" bIns="0" rtlCol="0" anchor="ctr"/>
          <a:lstStyle/>
          <a:p>
            <a:pPr marL="0" indent="0">
              <a:lnSpc>
                <a:spcPct val="105000"/>
              </a:lnSpc>
              <a:buNone/>
            </a:pPr>
            <a:r>
              <a:rPr lang="en-US" sz="1100" dirty="0">
                <a:solidFill>
                  <a:srgbClr val="3E4C55"/>
                </a:solidFill>
                <a:ea typeface="Calibri" pitchFamily="34" charset="-122"/>
                <a:cs typeface="Calibri" pitchFamily="34" charset="-120"/>
              </a:rPr>
              <a:t>The correct MDR tab and version are picked up and parsed in full</a:t>
            </a:r>
            <a:endParaRPr lang="en-US" sz="1100" dirty="0"/>
          </a:p>
        </p:txBody>
      </p:sp>
      <p:sp>
        <p:nvSpPr>
          <p:cNvPr id="42" name="Shape 40"/>
          <p:cNvSpPr/>
          <p:nvPr/>
        </p:nvSpPr>
        <p:spPr>
          <a:xfrm>
            <a:off x="6227064" y="5083633"/>
            <a:ext cx="2596896" cy="1170432"/>
          </a:xfrm>
          <a:prstGeom prst="roundRect">
            <a:avLst>
              <a:gd name="adj" fmla="val 5469"/>
            </a:avLst>
          </a:prstGeom>
          <a:solidFill>
            <a:srgbClr val="E3F0EF"/>
          </a:solidFill>
          <a:ln w="12700">
            <a:solidFill>
              <a:srgbClr val="CBE0DE"/>
            </a:solidFill>
            <a:prstDash val="solid"/>
          </a:ln>
        </p:spPr>
        <p:txBody>
          <a:bodyPr/>
          <a:lstStyle/>
          <a:p>
            <a:endParaRPr sz="2400"/>
          </a:p>
        </p:txBody>
      </p:sp>
      <p:sp>
        <p:nvSpPr>
          <p:cNvPr id="43" name="Text 41"/>
          <p:cNvSpPr/>
          <p:nvPr/>
        </p:nvSpPr>
        <p:spPr>
          <a:xfrm>
            <a:off x="6373368" y="5211649"/>
            <a:ext cx="2304288" cy="237744"/>
          </a:xfrm>
          <a:prstGeom prst="rect">
            <a:avLst/>
          </a:prstGeom>
          <a:noFill/>
          <a:ln/>
        </p:spPr>
        <p:txBody>
          <a:bodyPr wrap="square" lIns="0" tIns="0" rIns="0" bIns="0" rtlCol="0" anchor="ctr"/>
          <a:lstStyle/>
          <a:p>
            <a:pPr marL="0" indent="0">
              <a:buNone/>
            </a:pPr>
            <a:r>
              <a:rPr lang="en-US" sz="1400" b="1" dirty="0">
                <a:solidFill>
                  <a:srgbClr val="0E7C7B"/>
                </a:solidFill>
                <a:ea typeface="Calibri" pitchFamily="34" charset="-122"/>
                <a:cs typeface="Calibri" pitchFamily="34" charset="-120"/>
              </a:rPr>
              <a:t>Comparison logic</a:t>
            </a:r>
            <a:endParaRPr lang="en-US" sz="1400" dirty="0"/>
          </a:p>
        </p:txBody>
      </p:sp>
      <p:sp>
        <p:nvSpPr>
          <p:cNvPr id="44" name="Text 42"/>
          <p:cNvSpPr/>
          <p:nvPr/>
        </p:nvSpPr>
        <p:spPr>
          <a:xfrm>
            <a:off x="6373368" y="5488435"/>
            <a:ext cx="2304288" cy="408795"/>
          </a:xfrm>
          <a:prstGeom prst="rect">
            <a:avLst/>
          </a:prstGeom>
          <a:noFill/>
          <a:ln/>
        </p:spPr>
        <p:txBody>
          <a:bodyPr wrap="square" lIns="0" tIns="0" rIns="0" bIns="0" rtlCol="0" anchor="ctr"/>
          <a:lstStyle/>
          <a:p>
            <a:pPr marL="0" indent="0">
              <a:lnSpc>
                <a:spcPct val="105000"/>
              </a:lnSpc>
              <a:buNone/>
            </a:pPr>
            <a:r>
              <a:rPr lang="en-US" sz="1100" dirty="0">
                <a:solidFill>
                  <a:srgbClr val="3E4C55"/>
                </a:solidFill>
                <a:ea typeface="Calibri" pitchFamily="34" charset="-122"/>
                <a:cs typeface="Calibri" pitchFamily="34" charset="-120"/>
              </a:rPr>
              <a:t>Normalisation, matching and datatype rules behave as specified</a:t>
            </a:r>
            <a:endParaRPr lang="en-US" sz="1100" dirty="0"/>
          </a:p>
        </p:txBody>
      </p:sp>
      <p:sp>
        <p:nvSpPr>
          <p:cNvPr id="45" name="Shape 43"/>
          <p:cNvSpPr/>
          <p:nvPr/>
        </p:nvSpPr>
        <p:spPr>
          <a:xfrm>
            <a:off x="9089136" y="5083633"/>
            <a:ext cx="2596896" cy="1170432"/>
          </a:xfrm>
          <a:prstGeom prst="roundRect">
            <a:avLst>
              <a:gd name="adj" fmla="val 5469"/>
            </a:avLst>
          </a:prstGeom>
          <a:solidFill>
            <a:srgbClr val="E3F0EF"/>
          </a:solidFill>
          <a:ln w="12700">
            <a:solidFill>
              <a:srgbClr val="CBE0DE"/>
            </a:solidFill>
            <a:prstDash val="solid"/>
          </a:ln>
        </p:spPr>
        <p:txBody>
          <a:bodyPr/>
          <a:lstStyle/>
          <a:p>
            <a:endParaRPr sz="2400"/>
          </a:p>
        </p:txBody>
      </p:sp>
      <p:sp>
        <p:nvSpPr>
          <p:cNvPr id="46" name="Text 44"/>
          <p:cNvSpPr/>
          <p:nvPr/>
        </p:nvSpPr>
        <p:spPr>
          <a:xfrm>
            <a:off x="9235440" y="5211649"/>
            <a:ext cx="2304288" cy="237744"/>
          </a:xfrm>
          <a:prstGeom prst="rect">
            <a:avLst/>
          </a:prstGeom>
          <a:noFill/>
          <a:ln/>
        </p:spPr>
        <p:txBody>
          <a:bodyPr wrap="square" lIns="0" tIns="0" rIns="0" bIns="0" rtlCol="0" anchor="ctr"/>
          <a:lstStyle/>
          <a:p>
            <a:pPr marL="0" indent="0">
              <a:buNone/>
            </a:pPr>
            <a:r>
              <a:rPr lang="en-US" sz="1400" b="1" dirty="0">
                <a:solidFill>
                  <a:srgbClr val="0E7C7B"/>
                </a:solidFill>
                <a:ea typeface="Calibri" pitchFamily="34" charset="-122"/>
                <a:cs typeface="Calibri" pitchFamily="34" charset="-120"/>
              </a:rPr>
              <a:t>Report output</a:t>
            </a:r>
            <a:endParaRPr lang="en-US" sz="1400" dirty="0"/>
          </a:p>
        </p:txBody>
      </p:sp>
      <p:sp>
        <p:nvSpPr>
          <p:cNvPr id="47" name="Text 45"/>
          <p:cNvSpPr/>
          <p:nvPr/>
        </p:nvSpPr>
        <p:spPr>
          <a:xfrm>
            <a:off x="9235440" y="5445331"/>
            <a:ext cx="2304288" cy="598516"/>
          </a:xfrm>
          <a:prstGeom prst="rect">
            <a:avLst/>
          </a:prstGeom>
          <a:noFill/>
          <a:ln/>
        </p:spPr>
        <p:txBody>
          <a:bodyPr wrap="square" lIns="0" tIns="0" rIns="0" bIns="0" rtlCol="0" anchor="ctr"/>
          <a:lstStyle/>
          <a:p>
            <a:pPr marL="0" indent="0">
              <a:lnSpc>
                <a:spcPct val="105000"/>
              </a:lnSpc>
              <a:buNone/>
            </a:pPr>
            <a:r>
              <a:rPr lang="en-US" sz="1100" dirty="0">
                <a:solidFill>
                  <a:srgbClr val="3E4C55"/>
                </a:solidFill>
                <a:ea typeface="Calibri" pitchFamily="34" charset="-122"/>
                <a:cs typeface="Calibri" pitchFamily="34" charset="-120"/>
              </a:rPr>
              <a:t>Every tab is populated and the Summary counts reconcile to the detail</a:t>
            </a:r>
            <a:endParaRPr lang="en-US" sz="1100" dirty="0"/>
          </a:p>
        </p:txBody>
      </p:sp>
      <p:sp>
        <p:nvSpPr>
          <p:cNvPr id="48" name="Title 47">
            <a:extLst>
              <a:ext uri="{FF2B5EF4-FFF2-40B4-BE49-F238E27FC236}">
                <a16:creationId xmlns:a16="http://schemas.microsoft.com/office/drawing/2014/main" id="{6EB43922-0904-12B3-DF9F-D32E684F534D}"/>
              </a:ext>
            </a:extLst>
          </p:cNvPr>
          <p:cNvSpPr>
            <a:spLocks noGrp="1"/>
          </p:cNvSpPr>
          <p:nvPr>
            <p:ph type="title"/>
          </p:nvPr>
        </p:nvSpPr>
        <p:spPr>
          <a:xfrm>
            <a:off x="502920" y="498430"/>
            <a:ext cx="11500000" cy="640585"/>
          </a:xfrm>
        </p:spPr>
        <p:txBody>
          <a:bodyPr>
            <a:normAutofit fontScale="90000"/>
          </a:bodyPr>
          <a:lstStyle/>
          <a:p>
            <a:r>
              <a:rPr lang="it-IT" sz="3200" dirty="0"/>
              <a:t>Schema Conformance — Data Model &amp; DDL vs MDR</a:t>
            </a:r>
            <a:br>
              <a:rPr lang="it-IT" sz="3200" dirty="0"/>
            </a:br>
            <a:endParaRPr lang="en-US" sz="3200" dirty="0"/>
          </a:p>
        </p:txBody>
      </p:sp>
      <p:sp>
        <p:nvSpPr>
          <p:cNvPr id="401" name="Subtitle diff"/>
          <p:cNvSpPr txBox="1"/>
          <p:nvPr/>
        </p:nvSpPr>
        <p:spPr>
          <a:xfrm>
            <a:off x="502920" y="1160000"/>
            <a:ext cx="11183112" cy="250000"/>
          </a:xfrm>
          <a:prstGeom prst="rect">
            <a:avLst/>
          </a:prstGeom>
          <a:noFill/>
          <a:ln/>
        </p:spPr>
        <p:txBody>
          <a:bodyPr wrap="square" lIns="0" tIns="0" rIns="0" bIns="0" rtlCol="0" anchor="ctr"/>
          <a:lstStyle/>
          <a:p>
            <a:pPr marL="0" indent="0">
              <a:buNone/>
            </a:pPr>
            <a:r>
              <a:rPr lang="en-US" sz="1200" dirty="0">
                <a:solidFill>
                  <a:srgbClr val="6B7B85"/>
                </a:solidFill>
                <a:ea typeface="Calibri" pitchFamily="34" charset="-122"/>
                <a:cs typeface="Calibri" pitchFamily="34" charset="-120"/>
              </a:rPr>
              <a:t>Same MDR baseline, same engine, same report — only the target differs: </a:t>
            </a:r>
            <a:r>
              <a:rPr lang="en-US" sz="1200" b="1" dirty="0">
                <a:solidFill>
                  <a:srgbClr val="1B2A33"/>
                </a:solidFill>
                <a:ea typeface="Calibri" pitchFamily="34" charset="-122"/>
                <a:cs typeface="Calibri" pitchFamily="34" charset="-120"/>
              </a:rPr>
              <a:t>the data model (A)</a:t>
            </a:r>
            <a:r>
              <a:rPr lang="en-US" sz="1200" dirty="0">
                <a:solidFill>
                  <a:srgbClr val="6B7B85"/>
                </a:solidFill>
                <a:ea typeface="Calibri" pitchFamily="34" charset="-122"/>
                <a:cs typeface="Calibri" pitchFamily="34" charset="-120"/>
              </a:rPr>
              <a:t> or </a:t>
            </a:r>
            <a:r>
              <a:rPr lang="en-US" sz="1200" b="1" dirty="0">
                <a:solidFill>
                  <a:srgbClr val="0058FF"/>
                </a:solidFill>
                <a:ea typeface="Calibri" pitchFamily="34" charset="-122"/>
                <a:cs typeface="Calibri" pitchFamily="34" charset="-120"/>
              </a:rPr>
              <a:t>the DDL queries (B)</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0"/>
          <p:cNvGraphicFramePr>
            <a:graphicFrameLocks noGrp="1"/>
          </p:cNvGraphicFramePr>
          <p:nvPr/>
        </p:nvGraphicFramePr>
        <p:xfrm>
          <a:off x="511546" y="1290174"/>
          <a:ext cx="6309360" cy="2926080"/>
        </p:xfrm>
        <a:graphic>
          <a:graphicData uri="http://schemas.openxmlformats.org/drawingml/2006/table">
            <a:tbl>
              <a:tblPr/>
              <a:tblGrid>
                <a:gridCol w="196596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65760">
                <a:tc>
                  <a:txBody>
                    <a:bodyPr/>
                    <a:lstStyle/>
                    <a:p>
                      <a:pPr marL="0" indent="0" algn="l">
                        <a:buNone/>
                      </a:pPr>
                      <a:r>
                        <a:rPr lang="en-US" sz="1300" b="1" dirty="0">
                          <a:solidFill>
                            <a:srgbClr val="1B2A33"/>
                          </a:solidFill>
                          <a:latin typeface="Calibri" pitchFamily="34" charset="0"/>
                          <a:ea typeface="Calibri" pitchFamily="34" charset="-122"/>
                          <a:cs typeface="Calibri" pitchFamily="34" charset="-120"/>
                        </a:rPr>
                        <a:t>Tab</a:t>
                      </a:r>
                      <a:endParaRPr lang="en-US" sz="13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2F6F7"/>
                    </a:solidFill>
                  </a:tcPr>
                </a:tc>
                <a:tc>
                  <a:txBody>
                    <a:bodyPr/>
                    <a:lstStyle/>
                    <a:p>
                      <a:pPr marL="0" indent="0" algn="l">
                        <a:buNone/>
                      </a:pPr>
                      <a:r>
                        <a:rPr lang="en-US" sz="1300" b="1" dirty="0">
                          <a:solidFill>
                            <a:srgbClr val="1B2A33"/>
                          </a:solidFill>
                          <a:latin typeface="Calibri" pitchFamily="34" charset="0"/>
                          <a:ea typeface="Calibri" pitchFamily="34" charset="-122"/>
                          <a:cs typeface="Calibri" pitchFamily="34" charset="-120"/>
                        </a:rPr>
                        <a:t>What it answers</a:t>
                      </a:r>
                      <a:endParaRPr lang="en-US" sz="13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2F6F7"/>
                    </a:solidFill>
                  </a:tcPr>
                </a:tc>
                <a:tc>
                  <a:txBody>
                    <a:bodyPr/>
                    <a:lstStyle/>
                    <a:p>
                      <a:pPr marL="0" indent="0" algn="ctr">
                        <a:buNone/>
                      </a:pPr>
                      <a:r>
                        <a:rPr lang="en-US" sz="1300" b="1" dirty="0">
                          <a:solidFill>
                            <a:srgbClr val="1B2A33"/>
                          </a:solidFill>
                          <a:latin typeface="Calibri" pitchFamily="34" charset="0"/>
                          <a:ea typeface="Calibri" pitchFamily="34" charset="-122"/>
                          <a:cs typeface="Calibri" pitchFamily="34" charset="-120"/>
                        </a:rPr>
                        <a:t>Usual owner</a:t>
                      </a:r>
                      <a:endParaRPr lang="en-US" sz="13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2F6F7"/>
                    </a:solidFill>
                  </a:tcPr>
                </a:tc>
                <a:extLst>
                  <a:ext uri="{0D108BD9-81ED-4DB2-BD59-A6C34878D82A}">
                    <a16:rowId xmlns:a16="http://schemas.microsoft.com/office/drawing/2014/main" val="10000"/>
                  </a:ext>
                </a:extLst>
              </a:tr>
              <a:tr h="365760">
                <a:tc>
                  <a:txBody>
                    <a:bodyPr/>
                    <a:lstStyle/>
                    <a:p>
                      <a:pPr marL="0" indent="0" algn="l">
                        <a:buNone/>
                      </a:pPr>
                      <a:r>
                        <a:rPr lang="en-US" sz="1300" dirty="0">
                          <a:solidFill>
                            <a:srgbClr val="3E4C55"/>
                          </a:solidFill>
                          <a:latin typeface="Calibri" pitchFamily="34" charset="0"/>
                          <a:ea typeface="Calibri" pitchFamily="34" charset="-122"/>
                          <a:cs typeface="Calibri" pitchFamily="34" charset="-120"/>
                        </a:rPr>
                        <a:t>Summary</a:t>
                      </a:r>
                      <a:endParaRPr lang="en-US" sz="13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E4C55"/>
                          </a:solidFill>
                          <a:latin typeface="Calibri" pitchFamily="34" charset="0"/>
                          <a:ea typeface="Calibri" pitchFamily="34" charset="-122"/>
                          <a:cs typeface="Calibri" pitchFamily="34" charset="-120"/>
                        </a:rPr>
                        <a:t>Headline counts for every check</a:t>
                      </a:r>
                      <a:endParaRPr lang="en-US" sz="13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E4C55"/>
                          </a:solidFill>
                          <a:latin typeface="Calibri" pitchFamily="34" charset="0"/>
                          <a:ea typeface="Calibri" pitchFamily="34" charset="-122"/>
                          <a:cs typeface="Calibri" pitchFamily="34" charset="-120"/>
                        </a:rPr>
                        <a:t>All</a:t>
                      </a:r>
                      <a:endParaRPr lang="en-US" sz="13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300" dirty="0">
                          <a:solidFill>
                            <a:srgbClr val="3E4C55"/>
                          </a:solidFill>
                          <a:latin typeface="Calibri" pitchFamily="34" charset="0"/>
                          <a:ea typeface="Calibri" pitchFamily="34" charset="-122"/>
                          <a:cs typeface="Calibri" pitchFamily="34" charset="-120"/>
                        </a:rPr>
                        <a:t>Missing_Tables_Target</a:t>
                      </a:r>
                      <a:endParaRPr lang="en-US" sz="13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E4C55"/>
                          </a:solidFill>
                          <a:latin typeface="Calibri" pitchFamily="34" charset="0"/>
                          <a:ea typeface="Calibri" pitchFamily="34" charset="-122"/>
                          <a:cs typeface="Calibri" pitchFamily="34" charset="-120"/>
                        </a:rPr>
                        <a:t>In the baseline, absent from the PR</a:t>
                      </a:r>
                      <a:endParaRPr lang="en-US" sz="13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E4C55"/>
                          </a:solidFill>
                          <a:latin typeface="Calibri" pitchFamily="34" charset="0"/>
                          <a:ea typeface="Calibri" pitchFamily="34" charset="-122"/>
                          <a:cs typeface="Calibri" pitchFamily="34" charset="-120"/>
                        </a:rPr>
                        <a:t>DA</a:t>
                      </a:r>
                      <a:endParaRPr lang="en-US" sz="13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300" dirty="0">
                          <a:solidFill>
                            <a:srgbClr val="3E4C55"/>
                          </a:solidFill>
                          <a:latin typeface="Calibri" pitchFamily="34" charset="0"/>
                          <a:ea typeface="Calibri" pitchFamily="34" charset="-122"/>
                          <a:cs typeface="Calibri" pitchFamily="34" charset="-120"/>
                        </a:rPr>
                        <a:t>Missing_Tables_Source</a:t>
                      </a:r>
                      <a:endParaRPr lang="en-US" sz="13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E4C55"/>
                          </a:solidFill>
                          <a:latin typeface="Calibri" pitchFamily="34" charset="0"/>
                          <a:ea typeface="Calibri" pitchFamily="34" charset="-122"/>
                          <a:cs typeface="Calibri" pitchFamily="34" charset="-120"/>
                        </a:rPr>
                        <a:t>In the PR, absent from the baseline</a:t>
                      </a:r>
                      <a:endParaRPr lang="en-US" sz="13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E4C55"/>
                          </a:solidFill>
                          <a:latin typeface="Calibri" pitchFamily="34" charset="0"/>
                          <a:ea typeface="Calibri" pitchFamily="34" charset="-122"/>
                          <a:cs typeface="Calibri" pitchFamily="34" charset="-120"/>
                        </a:rPr>
                        <a:t>BA</a:t>
                      </a:r>
                      <a:endParaRPr lang="en-US" sz="13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300" dirty="0">
                          <a:solidFill>
                            <a:srgbClr val="3E4C55"/>
                          </a:solidFill>
                          <a:latin typeface="Calibri" pitchFamily="34" charset="0"/>
                          <a:ea typeface="Calibri" pitchFamily="34" charset="-122"/>
                          <a:cs typeface="Calibri" pitchFamily="34" charset="-120"/>
                        </a:rPr>
                        <a:t>Missing_Columns_Target</a:t>
                      </a:r>
                      <a:endParaRPr lang="en-US" sz="13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E4C55"/>
                          </a:solidFill>
                          <a:latin typeface="Calibri" pitchFamily="34" charset="0"/>
                          <a:ea typeface="Calibri" pitchFamily="34" charset="-122"/>
                          <a:cs typeface="Calibri" pitchFamily="34" charset="-120"/>
                        </a:rPr>
                        <a:t>Baseline columns the PR does not create</a:t>
                      </a:r>
                      <a:endParaRPr lang="en-US" sz="13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E4C55"/>
                          </a:solidFill>
                          <a:latin typeface="Calibri" pitchFamily="34" charset="0"/>
                          <a:ea typeface="Calibri" pitchFamily="34" charset="-122"/>
                          <a:cs typeface="Calibri" pitchFamily="34" charset="-120"/>
                        </a:rPr>
                        <a:t>DA</a:t>
                      </a:r>
                      <a:endParaRPr lang="en-US" sz="13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l">
                        <a:buNone/>
                      </a:pPr>
                      <a:r>
                        <a:rPr lang="en-US" sz="1300" dirty="0">
                          <a:solidFill>
                            <a:srgbClr val="3E4C55"/>
                          </a:solidFill>
                          <a:latin typeface="Calibri" pitchFamily="34" charset="0"/>
                          <a:ea typeface="Calibri" pitchFamily="34" charset="-122"/>
                          <a:cs typeface="Calibri" pitchFamily="34" charset="-120"/>
                        </a:rPr>
                        <a:t>Missing_Columns_Source</a:t>
                      </a:r>
                      <a:endParaRPr lang="en-US" sz="13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E4C55"/>
                          </a:solidFill>
                          <a:latin typeface="Calibri" pitchFamily="34" charset="0"/>
                          <a:ea typeface="Calibri" pitchFamily="34" charset="-122"/>
                          <a:cs typeface="Calibri" pitchFamily="34" charset="-120"/>
                        </a:rPr>
                        <a:t>PR columns with no baseline entry</a:t>
                      </a:r>
                      <a:endParaRPr lang="en-US" sz="13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E4C55"/>
                          </a:solidFill>
                          <a:latin typeface="Calibri" pitchFamily="34" charset="0"/>
                          <a:ea typeface="Calibri" pitchFamily="34" charset="-122"/>
                          <a:cs typeface="Calibri" pitchFamily="34" charset="-120"/>
                        </a:rPr>
                        <a:t>BA</a:t>
                      </a:r>
                      <a:endParaRPr lang="en-US" sz="13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300" dirty="0">
                          <a:solidFill>
                            <a:srgbClr val="3E4C55"/>
                          </a:solidFill>
                          <a:latin typeface="Calibri" pitchFamily="34" charset="0"/>
                          <a:ea typeface="Calibri" pitchFamily="34" charset="-122"/>
                          <a:cs typeface="Calibri" pitchFamily="34" charset="-120"/>
                        </a:rPr>
                        <a:t>Datatype_Mismatches</a:t>
                      </a:r>
                      <a:endParaRPr lang="en-US" sz="13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E4C55"/>
                          </a:solidFill>
                          <a:latin typeface="Calibri" pitchFamily="34" charset="0"/>
                          <a:ea typeface="Calibri" pitchFamily="34" charset="-122"/>
                          <a:cs typeface="Calibri" pitchFamily="34" charset="-120"/>
                        </a:rPr>
                        <a:t>Same column, different declared type</a:t>
                      </a:r>
                      <a:endParaRPr lang="en-US" sz="13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E4C55"/>
                          </a:solidFill>
                          <a:latin typeface="Calibri" pitchFamily="34" charset="0"/>
                          <a:ea typeface="Calibri" pitchFamily="34" charset="-122"/>
                          <a:cs typeface="Calibri" pitchFamily="34" charset="-120"/>
                        </a:rPr>
                        <a:t>DA / BA</a:t>
                      </a:r>
                      <a:endParaRPr lang="en-US" sz="13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lgn="l">
                        <a:buNone/>
                      </a:pPr>
                      <a:r>
                        <a:rPr lang="en-US" sz="1300" dirty="0">
                          <a:solidFill>
                            <a:srgbClr val="3E4C55"/>
                          </a:solidFill>
                          <a:latin typeface="Calibri" pitchFamily="34" charset="0"/>
                          <a:ea typeface="Calibri" pitchFamily="34" charset="-122"/>
                          <a:cs typeface="Calibri" pitchFamily="34" charset="-120"/>
                        </a:rPr>
                        <a:t>Datatype_Matches</a:t>
                      </a:r>
                      <a:endParaRPr lang="en-US" sz="13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E4C55"/>
                          </a:solidFill>
                          <a:latin typeface="Calibri" pitchFamily="34" charset="0"/>
                          <a:ea typeface="Calibri" pitchFamily="34" charset="-122"/>
                          <a:cs typeface="Calibri" pitchFamily="34" charset="-120"/>
                        </a:rPr>
                        <a:t>Same column, type agrees — the pass list</a:t>
                      </a:r>
                      <a:endParaRPr lang="en-US" sz="13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E4C55"/>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88900" marR="88900" marT="38100" marB="3810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hape 4"/>
          <p:cNvSpPr/>
          <p:nvPr/>
        </p:nvSpPr>
        <p:spPr>
          <a:xfrm>
            <a:off x="477042" y="4646535"/>
            <a:ext cx="6309360" cy="1340200"/>
          </a:xfrm>
          <a:prstGeom prst="roundRect">
            <a:avLst>
              <a:gd name="adj" fmla="val 5385"/>
            </a:avLst>
          </a:prstGeom>
          <a:solidFill>
            <a:srgbClr val="F2F6F7"/>
          </a:solidFill>
          <a:ln w="12700">
            <a:solidFill>
              <a:srgbClr val="D8E0E4"/>
            </a:solidFill>
            <a:prstDash val="solid"/>
          </a:ln>
        </p:spPr>
        <p:txBody>
          <a:bodyPr/>
          <a:lstStyle/>
          <a:p>
            <a:endParaRPr sz="2400"/>
          </a:p>
        </p:txBody>
      </p:sp>
      <p:sp>
        <p:nvSpPr>
          <p:cNvPr id="8" name="Text 5"/>
          <p:cNvSpPr/>
          <p:nvPr/>
        </p:nvSpPr>
        <p:spPr>
          <a:xfrm>
            <a:off x="659922" y="4774551"/>
            <a:ext cx="5943600" cy="950976"/>
          </a:xfrm>
          <a:prstGeom prst="rect">
            <a:avLst/>
          </a:prstGeom>
          <a:noFill/>
          <a:ln/>
        </p:spPr>
        <p:txBody>
          <a:bodyPr wrap="square" lIns="0" tIns="0" rIns="0" bIns="0" rtlCol="0" anchor="ctr"/>
          <a:lstStyle/>
          <a:p>
            <a:pPr marL="0" indent="0">
              <a:lnSpc>
                <a:spcPct val="106000"/>
              </a:lnSpc>
              <a:spcAft>
                <a:spcPts val="300"/>
              </a:spcAft>
              <a:buNone/>
            </a:pPr>
            <a:r>
              <a:rPr lang="en-US" sz="1200" b="1" dirty="0">
                <a:solidFill>
                  <a:srgbClr val="1B2A33"/>
                </a:solidFill>
                <a:ea typeface="Calibri" pitchFamily="34" charset="-122"/>
                <a:cs typeface="Calibri" pitchFamily="34" charset="-120"/>
              </a:rPr>
              <a:t>Target-side gaps</a:t>
            </a:r>
            <a:r>
              <a:rPr lang="en-US" sz="1200" dirty="0">
                <a:solidFill>
                  <a:srgbClr val="3E4C55"/>
                </a:solidFill>
                <a:ea typeface="Calibri" pitchFamily="34" charset="-122"/>
                <a:cs typeface="Calibri" pitchFamily="34" charset="-120"/>
              </a:rPr>
              <a:t> are things the baseline expects and the pull request has not built — the DA's queue.</a:t>
            </a:r>
            <a:endParaRPr lang="en-US" sz="1200" dirty="0"/>
          </a:p>
          <a:p>
            <a:pPr marL="0" indent="0">
              <a:lnSpc>
                <a:spcPct val="106000"/>
              </a:lnSpc>
              <a:spcAft>
                <a:spcPts val="300"/>
              </a:spcAft>
              <a:buNone/>
            </a:pPr>
            <a:r>
              <a:rPr lang="en-US" sz="1200" b="1" dirty="0">
                <a:solidFill>
                  <a:srgbClr val="1B2A33"/>
                </a:solidFill>
                <a:ea typeface="Calibri" pitchFamily="34" charset="-122"/>
                <a:cs typeface="Calibri" pitchFamily="34" charset="-120"/>
              </a:rPr>
              <a:t>Source-side gaps</a:t>
            </a:r>
            <a:r>
              <a:rPr lang="en-US" sz="1200" dirty="0">
                <a:solidFill>
                  <a:srgbClr val="3E4C55"/>
                </a:solidFill>
                <a:ea typeface="Calibri" pitchFamily="34" charset="-122"/>
                <a:cs typeface="Calibri" pitchFamily="34" charset="-120"/>
              </a:rPr>
              <a:t> are things the pull request introduces that the baseline has never agreed — the BA's queue, and often the earlier signal of the two.</a:t>
            </a:r>
            <a:endParaRPr lang="en-US" sz="1200" dirty="0"/>
          </a:p>
          <a:p>
            <a:pPr marL="0" indent="0">
              <a:lnSpc>
                <a:spcPct val="106000"/>
              </a:lnSpc>
              <a:spcAft>
                <a:spcPts val="300"/>
              </a:spcAft>
              <a:buNone/>
            </a:pPr>
            <a:r>
              <a:rPr lang="en-US" sz="1200" b="1" dirty="0">
                <a:solidFill>
                  <a:srgbClr val="1B2A33"/>
                </a:solidFill>
                <a:ea typeface="Calibri" pitchFamily="34" charset="-122"/>
                <a:cs typeface="Calibri" pitchFamily="34" charset="-120"/>
              </a:rPr>
              <a:t>Datatype differences</a:t>
            </a:r>
            <a:r>
              <a:rPr lang="en-US" sz="1200" dirty="0">
                <a:solidFill>
                  <a:srgbClr val="3E4C55"/>
                </a:solidFill>
                <a:ea typeface="Calibri" pitchFamily="34" charset="-122"/>
                <a:cs typeface="Calibri" pitchFamily="34" charset="-120"/>
              </a:rPr>
              <a:t> need a judgement call: an equivalent type expressed differently is not a defect, a different length or precision is.</a:t>
            </a:r>
            <a:endParaRPr lang="en-US" sz="1200" dirty="0"/>
          </a:p>
        </p:txBody>
      </p:sp>
      <p:sp>
        <p:nvSpPr>
          <p:cNvPr id="9" name="Text 6"/>
          <p:cNvSpPr/>
          <p:nvPr/>
        </p:nvSpPr>
        <p:spPr>
          <a:xfrm>
            <a:off x="7178040" y="1272570"/>
            <a:ext cx="4507992" cy="256032"/>
          </a:xfrm>
          <a:prstGeom prst="rect">
            <a:avLst/>
          </a:prstGeom>
          <a:noFill/>
          <a:ln/>
        </p:spPr>
        <p:txBody>
          <a:bodyPr wrap="square" lIns="0" tIns="0" rIns="0" bIns="0" rtlCol="0" anchor="ctr"/>
          <a:lstStyle/>
          <a:p>
            <a:pPr marL="0" indent="0">
              <a:buNone/>
            </a:pPr>
            <a:r>
              <a:rPr lang="en-US" sz="1600" b="1" dirty="0">
                <a:solidFill>
                  <a:srgbClr val="1B2A33"/>
                </a:solidFill>
                <a:ea typeface="Cambria" pitchFamily="34" charset="-122"/>
                <a:cs typeface="Cambria" pitchFamily="34" charset="-120"/>
              </a:rPr>
              <a:t>How a difference is resolved</a:t>
            </a:r>
            <a:endParaRPr lang="en-US" sz="1600" dirty="0"/>
          </a:p>
        </p:txBody>
      </p:sp>
      <p:sp>
        <p:nvSpPr>
          <p:cNvPr id="10" name="Shape 7"/>
          <p:cNvSpPr/>
          <p:nvPr/>
        </p:nvSpPr>
        <p:spPr>
          <a:xfrm>
            <a:off x="7178040" y="1575876"/>
            <a:ext cx="4507992" cy="786384"/>
          </a:xfrm>
          <a:prstGeom prst="roundRect">
            <a:avLst>
              <a:gd name="adj" fmla="val 8140"/>
            </a:avLst>
          </a:prstGeom>
          <a:solidFill>
            <a:srgbClr val="FFFFFF"/>
          </a:solidFill>
          <a:ln w="19050">
            <a:solidFill>
              <a:srgbClr val="0E7C7B"/>
            </a:solidFill>
            <a:prstDash val="solid"/>
          </a:ln>
        </p:spPr>
        <p:txBody>
          <a:bodyPr/>
          <a:lstStyle/>
          <a:p>
            <a:endParaRPr sz="2400"/>
          </a:p>
        </p:txBody>
      </p:sp>
      <p:sp>
        <p:nvSpPr>
          <p:cNvPr id="11" name="Text 8"/>
          <p:cNvSpPr/>
          <p:nvPr/>
        </p:nvSpPr>
        <p:spPr>
          <a:xfrm>
            <a:off x="7342632" y="1658172"/>
            <a:ext cx="4178808" cy="219456"/>
          </a:xfrm>
          <a:prstGeom prst="rect">
            <a:avLst/>
          </a:prstGeom>
          <a:noFill/>
          <a:ln/>
        </p:spPr>
        <p:txBody>
          <a:bodyPr wrap="square" lIns="0" tIns="0" rIns="0" bIns="0" rtlCol="0" anchor="ctr"/>
          <a:lstStyle/>
          <a:p>
            <a:pPr marL="0" indent="0">
              <a:buNone/>
            </a:pPr>
            <a:r>
              <a:rPr lang="en-US" sz="1400" b="1" dirty="0">
                <a:solidFill>
                  <a:srgbClr val="FF6700"/>
                </a:solidFill>
                <a:ea typeface="Calibri" pitchFamily="34" charset="-122"/>
                <a:cs typeface="Calibri" pitchFamily="34" charset="-120"/>
              </a:rPr>
              <a:t>Difference reported</a:t>
            </a:r>
            <a:endParaRPr lang="en-US" sz="1400" dirty="0">
              <a:solidFill>
                <a:srgbClr val="FF6700"/>
              </a:solidFill>
            </a:endParaRPr>
          </a:p>
        </p:txBody>
      </p:sp>
      <p:sp>
        <p:nvSpPr>
          <p:cNvPr id="12" name="Text 9"/>
          <p:cNvSpPr/>
          <p:nvPr/>
        </p:nvSpPr>
        <p:spPr>
          <a:xfrm>
            <a:off x="7342632" y="1886772"/>
            <a:ext cx="4178808" cy="402336"/>
          </a:xfrm>
          <a:prstGeom prst="rect">
            <a:avLst/>
          </a:prstGeom>
          <a:noFill/>
          <a:ln/>
        </p:spPr>
        <p:txBody>
          <a:bodyPr wrap="square" lIns="0" tIns="0" rIns="0" bIns="0" rtlCol="0" anchor="ctr"/>
          <a:lstStyle/>
          <a:p>
            <a:pPr marL="0" indent="0">
              <a:lnSpc>
                <a:spcPct val="102000"/>
              </a:lnSpc>
              <a:buNone/>
            </a:pPr>
            <a:r>
              <a:rPr lang="en-US" sz="1200" dirty="0">
                <a:solidFill>
                  <a:srgbClr val="3E4C55"/>
                </a:solidFill>
                <a:ea typeface="Calibri" pitchFamily="34" charset="-122"/>
                <a:cs typeface="Calibri" pitchFamily="34" charset="-120"/>
              </a:rPr>
              <a:t>The engine flags a table, column or datatype that does not agree across the two sides.</a:t>
            </a:r>
            <a:endParaRPr lang="en-US" sz="1200" dirty="0"/>
          </a:p>
        </p:txBody>
      </p:sp>
      <p:sp>
        <p:nvSpPr>
          <p:cNvPr id="13" name="Shape 10"/>
          <p:cNvSpPr/>
          <p:nvPr/>
        </p:nvSpPr>
        <p:spPr>
          <a:xfrm>
            <a:off x="7178040" y="2508564"/>
            <a:ext cx="4507992" cy="786384"/>
          </a:xfrm>
          <a:prstGeom prst="roundRect">
            <a:avLst>
              <a:gd name="adj" fmla="val 8140"/>
            </a:avLst>
          </a:prstGeom>
          <a:solidFill>
            <a:srgbClr val="FFFFFF"/>
          </a:solidFill>
          <a:ln w="12700">
            <a:solidFill>
              <a:srgbClr val="D8E0E4"/>
            </a:solidFill>
            <a:prstDash val="solid"/>
          </a:ln>
        </p:spPr>
        <p:txBody>
          <a:bodyPr/>
          <a:lstStyle/>
          <a:p>
            <a:endParaRPr sz="2400"/>
          </a:p>
        </p:txBody>
      </p:sp>
      <p:sp>
        <p:nvSpPr>
          <p:cNvPr id="14" name="Text 11"/>
          <p:cNvSpPr/>
          <p:nvPr/>
        </p:nvSpPr>
        <p:spPr>
          <a:xfrm>
            <a:off x="7342632" y="2590860"/>
            <a:ext cx="4178808" cy="219456"/>
          </a:xfrm>
          <a:prstGeom prst="rect">
            <a:avLst/>
          </a:prstGeom>
          <a:noFill/>
          <a:ln/>
        </p:spPr>
        <p:txBody>
          <a:bodyPr wrap="square" lIns="0" tIns="0" rIns="0" bIns="0" rtlCol="0" anchor="ctr"/>
          <a:lstStyle/>
          <a:p>
            <a:pPr marL="0" indent="0">
              <a:buNone/>
            </a:pPr>
            <a:r>
              <a:rPr lang="en-US" sz="1400" b="1" dirty="0">
                <a:solidFill>
                  <a:schemeClr val="tx2">
                    <a:lumMod val="75000"/>
                    <a:lumOff val="25000"/>
                  </a:schemeClr>
                </a:solidFill>
                <a:ea typeface="Calibri" pitchFamily="34" charset="-122"/>
                <a:cs typeface="Calibri" pitchFamily="34" charset="-120"/>
              </a:rPr>
              <a:t>Is the baseline correct?</a:t>
            </a:r>
            <a:endParaRPr lang="en-US" sz="1400" dirty="0">
              <a:solidFill>
                <a:schemeClr val="tx2">
                  <a:lumMod val="75000"/>
                  <a:lumOff val="25000"/>
                </a:schemeClr>
              </a:solidFill>
            </a:endParaRPr>
          </a:p>
        </p:txBody>
      </p:sp>
      <p:sp>
        <p:nvSpPr>
          <p:cNvPr id="15" name="Text 12"/>
          <p:cNvSpPr/>
          <p:nvPr/>
        </p:nvSpPr>
        <p:spPr>
          <a:xfrm>
            <a:off x="7342632" y="2819460"/>
            <a:ext cx="4178808" cy="402336"/>
          </a:xfrm>
          <a:prstGeom prst="rect">
            <a:avLst/>
          </a:prstGeom>
          <a:noFill/>
          <a:ln/>
        </p:spPr>
        <p:txBody>
          <a:bodyPr wrap="square" lIns="0" tIns="0" rIns="0" bIns="0" rtlCol="0" anchor="ctr"/>
          <a:lstStyle/>
          <a:p>
            <a:pPr marL="0" indent="0">
              <a:lnSpc>
                <a:spcPct val="102000"/>
              </a:lnSpc>
              <a:buNone/>
            </a:pPr>
            <a:r>
              <a:rPr lang="en-US" sz="1200" dirty="0">
                <a:solidFill>
                  <a:srgbClr val="3E4C55"/>
                </a:solidFill>
                <a:ea typeface="Calibri" pitchFamily="34" charset="-122"/>
                <a:cs typeface="Calibri" pitchFamily="34" charset="-120"/>
              </a:rPr>
              <a:t>The BA confirms whether the MDR entry still reflects the agreed design.</a:t>
            </a:r>
            <a:endParaRPr lang="en-US" sz="1200" dirty="0"/>
          </a:p>
        </p:txBody>
      </p:sp>
      <p:sp>
        <p:nvSpPr>
          <p:cNvPr id="16" name="Shape 13"/>
          <p:cNvSpPr/>
          <p:nvPr/>
        </p:nvSpPr>
        <p:spPr>
          <a:xfrm>
            <a:off x="9427464" y="2380548"/>
            <a:ext cx="0" cy="128016"/>
          </a:xfrm>
          <a:prstGeom prst="line">
            <a:avLst/>
          </a:prstGeom>
          <a:noFill/>
          <a:ln w="19050">
            <a:solidFill>
              <a:srgbClr val="6B7B85"/>
            </a:solidFill>
            <a:prstDash val="solid"/>
            <a:tailEnd type="triangle"/>
          </a:ln>
        </p:spPr>
        <p:txBody>
          <a:bodyPr/>
          <a:lstStyle/>
          <a:p>
            <a:endParaRPr sz="2400"/>
          </a:p>
        </p:txBody>
      </p:sp>
      <p:sp>
        <p:nvSpPr>
          <p:cNvPr id="17" name="Shape 14"/>
          <p:cNvSpPr/>
          <p:nvPr/>
        </p:nvSpPr>
        <p:spPr>
          <a:xfrm>
            <a:off x="9427464" y="3304610"/>
            <a:ext cx="0" cy="128016"/>
          </a:xfrm>
          <a:prstGeom prst="line">
            <a:avLst/>
          </a:prstGeom>
          <a:noFill/>
          <a:ln w="19050">
            <a:solidFill>
              <a:srgbClr val="6B7B85"/>
            </a:solidFill>
            <a:prstDash val="solid"/>
            <a:tailEnd type="triangle"/>
          </a:ln>
        </p:spPr>
        <p:txBody>
          <a:bodyPr/>
          <a:lstStyle/>
          <a:p>
            <a:endParaRPr sz="2400"/>
          </a:p>
        </p:txBody>
      </p:sp>
      <p:sp>
        <p:nvSpPr>
          <p:cNvPr id="18" name="Shape 15"/>
          <p:cNvSpPr/>
          <p:nvPr/>
        </p:nvSpPr>
        <p:spPr>
          <a:xfrm>
            <a:off x="7178040" y="3443659"/>
            <a:ext cx="4507992" cy="680132"/>
          </a:xfrm>
          <a:prstGeom prst="roundRect">
            <a:avLst>
              <a:gd name="adj" fmla="val 7778"/>
            </a:avLst>
          </a:prstGeom>
          <a:solidFill>
            <a:srgbClr val="E3F0EF"/>
          </a:solidFill>
          <a:ln w="12700">
            <a:solidFill>
              <a:srgbClr val="CBE0DE"/>
            </a:solidFill>
            <a:prstDash val="solid"/>
          </a:ln>
        </p:spPr>
        <p:txBody>
          <a:bodyPr/>
          <a:lstStyle/>
          <a:p>
            <a:endParaRPr sz="2400"/>
          </a:p>
        </p:txBody>
      </p:sp>
      <p:sp>
        <p:nvSpPr>
          <p:cNvPr id="19" name="Text 16"/>
          <p:cNvSpPr/>
          <p:nvPr/>
        </p:nvSpPr>
        <p:spPr>
          <a:xfrm>
            <a:off x="7342632" y="3463683"/>
            <a:ext cx="4178808" cy="219456"/>
          </a:xfrm>
          <a:prstGeom prst="rect">
            <a:avLst/>
          </a:prstGeom>
          <a:noFill/>
          <a:ln/>
        </p:spPr>
        <p:txBody>
          <a:bodyPr wrap="square" lIns="0" tIns="0" rIns="0" bIns="0" rtlCol="0" anchor="ctr"/>
          <a:lstStyle/>
          <a:p>
            <a:pPr marL="0" indent="0">
              <a:buNone/>
            </a:pPr>
            <a:r>
              <a:rPr lang="en-US" sz="1400" b="1" dirty="0">
                <a:solidFill>
                  <a:srgbClr val="0E7C7B"/>
                </a:solidFill>
                <a:ea typeface="Calibri" pitchFamily="34" charset="-122"/>
                <a:cs typeface="Calibri" pitchFamily="34" charset="-120"/>
              </a:rPr>
              <a:t>Baseline is right → DA fixes the PR</a:t>
            </a:r>
            <a:endParaRPr lang="en-US" sz="1400" dirty="0"/>
          </a:p>
        </p:txBody>
      </p:sp>
      <p:sp>
        <p:nvSpPr>
          <p:cNvPr id="20" name="Text 17"/>
          <p:cNvSpPr/>
          <p:nvPr/>
        </p:nvSpPr>
        <p:spPr>
          <a:xfrm>
            <a:off x="7342632" y="3701427"/>
            <a:ext cx="4178808" cy="402336"/>
          </a:xfrm>
          <a:prstGeom prst="rect">
            <a:avLst/>
          </a:prstGeom>
          <a:noFill/>
          <a:ln/>
        </p:spPr>
        <p:txBody>
          <a:bodyPr wrap="square" lIns="0" tIns="0" rIns="0" bIns="0" rtlCol="0" anchor="ctr"/>
          <a:lstStyle/>
          <a:p>
            <a:pPr marL="0" indent="0">
              <a:lnSpc>
                <a:spcPct val="102000"/>
              </a:lnSpc>
              <a:buNone/>
            </a:pPr>
            <a:r>
              <a:rPr lang="en-US" sz="1200" dirty="0">
                <a:solidFill>
                  <a:srgbClr val="3E4C55"/>
                </a:solidFill>
                <a:ea typeface="Calibri" pitchFamily="34" charset="-122"/>
                <a:cs typeface="Calibri" pitchFamily="34" charset="-120"/>
              </a:rPr>
              <a:t>The pull request is amended and re-run until the difference clears.</a:t>
            </a:r>
            <a:endParaRPr lang="en-US" sz="1200" dirty="0"/>
          </a:p>
        </p:txBody>
      </p:sp>
      <p:sp>
        <p:nvSpPr>
          <p:cNvPr id="21" name="Shape 18"/>
          <p:cNvSpPr/>
          <p:nvPr/>
        </p:nvSpPr>
        <p:spPr>
          <a:xfrm>
            <a:off x="7178040" y="4284570"/>
            <a:ext cx="4507992" cy="822960"/>
          </a:xfrm>
          <a:prstGeom prst="roundRect">
            <a:avLst>
              <a:gd name="adj" fmla="val 7778"/>
            </a:avLst>
          </a:prstGeom>
          <a:solidFill>
            <a:srgbClr val="FBEEDC"/>
          </a:solidFill>
          <a:ln w="12700">
            <a:solidFill>
              <a:srgbClr val="F0DCC0"/>
            </a:solidFill>
            <a:prstDash val="solid"/>
          </a:ln>
        </p:spPr>
        <p:txBody>
          <a:bodyPr/>
          <a:lstStyle/>
          <a:p>
            <a:endParaRPr sz="2400"/>
          </a:p>
        </p:txBody>
      </p:sp>
      <p:sp>
        <p:nvSpPr>
          <p:cNvPr id="22" name="Text 19"/>
          <p:cNvSpPr/>
          <p:nvPr/>
        </p:nvSpPr>
        <p:spPr>
          <a:xfrm>
            <a:off x="7342632" y="4376010"/>
            <a:ext cx="4178808" cy="219456"/>
          </a:xfrm>
          <a:prstGeom prst="rect">
            <a:avLst/>
          </a:prstGeom>
          <a:noFill/>
          <a:ln/>
        </p:spPr>
        <p:txBody>
          <a:bodyPr wrap="square" lIns="0" tIns="0" rIns="0" bIns="0" rtlCol="0" anchor="ctr"/>
          <a:lstStyle/>
          <a:p>
            <a:pPr marL="0" indent="0">
              <a:buNone/>
            </a:pPr>
            <a:r>
              <a:rPr lang="en-US" sz="1400" b="1" dirty="0">
                <a:solidFill>
                  <a:srgbClr val="B26A00"/>
                </a:solidFill>
                <a:ea typeface="Calibri" pitchFamily="34" charset="-122"/>
                <a:cs typeface="Calibri" pitchFamily="34" charset="-120"/>
              </a:rPr>
              <a:t>Baseline is stale → BA updates the MDR</a:t>
            </a:r>
            <a:endParaRPr lang="en-US" sz="1400" dirty="0"/>
          </a:p>
        </p:txBody>
      </p:sp>
      <p:sp>
        <p:nvSpPr>
          <p:cNvPr id="23" name="Text 20"/>
          <p:cNvSpPr/>
          <p:nvPr/>
        </p:nvSpPr>
        <p:spPr>
          <a:xfrm>
            <a:off x="7342632" y="4613754"/>
            <a:ext cx="4178808" cy="402336"/>
          </a:xfrm>
          <a:prstGeom prst="rect">
            <a:avLst/>
          </a:prstGeom>
          <a:noFill/>
          <a:ln/>
        </p:spPr>
        <p:txBody>
          <a:bodyPr wrap="square" lIns="0" tIns="0" rIns="0" bIns="0" rtlCol="0" anchor="ctr"/>
          <a:lstStyle/>
          <a:p>
            <a:pPr marL="0" indent="0">
              <a:lnSpc>
                <a:spcPct val="102000"/>
              </a:lnSpc>
              <a:buNone/>
            </a:pPr>
            <a:r>
              <a:rPr lang="en-US" sz="1200" dirty="0">
                <a:solidFill>
                  <a:srgbClr val="3E4C55"/>
                </a:solidFill>
                <a:ea typeface="Calibri" pitchFamily="34" charset="-122"/>
                <a:cs typeface="Calibri" pitchFamily="34" charset="-120"/>
              </a:rPr>
              <a:t>The mapping sheet is re-versioned; the difference disappears on the next run.</a:t>
            </a:r>
            <a:endParaRPr lang="en-US" sz="1200" dirty="0"/>
          </a:p>
        </p:txBody>
      </p:sp>
      <p:sp>
        <p:nvSpPr>
          <p:cNvPr id="24" name="Shape 21"/>
          <p:cNvSpPr/>
          <p:nvPr/>
        </p:nvSpPr>
        <p:spPr>
          <a:xfrm>
            <a:off x="7178040" y="5248656"/>
            <a:ext cx="4507992" cy="822960"/>
          </a:xfrm>
          <a:prstGeom prst="roundRect">
            <a:avLst>
              <a:gd name="adj" fmla="val 7778"/>
            </a:avLst>
          </a:prstGeom>
          <a:solidFill>
            <a:srgbClr val="E8EDEF"/>
          </a:solidFill>
          <a:ln w="12700">
            <a:solidFill>
              <a:srgbClr val="C9D4D9"/>
            </a:solidFill>
            <a:prstDash val="solid"/>
          </a:ln>
        </p:spPr>
        <p:txBody>
          <a:bodyPr/>
          <a:lstStyle/>
          <a:p>
            <a:endParaRPr sz="2400"/>
          </a:p>
        </p:txBody>
      </p:sp>
      <p:sp>
        <p:nvSpPr>
          <p:cNvPr id="25" name="Text 22"/>
          <p:cNvSpPr/>
          <p:nvPr/>
        </p:nvSpPr>
        <p:spPr>
          <a:xfrm>
            <a:off x="7342632" y="5340096"/>
            <a:ext cx="4178808" cy="219456"/>
          </a:xfrm>
          <a:prstGeom prst="rect">
            <a:avLst/>
          </a:prstGeom>
          <a:noFill/>
          <a:ln/>
        </p:spPr>
        <p:txBody>
          <a:bodyPr wrap="square" lIns="0" tIns="0" rIns="0" bIns="0" rtlCol="0" anchor="ctr"/>
          <a:lstStyle/>
          <a:p>
            <a:pPr marL="0" indent="0">
              <a:buNone/>
            </a:pPr>
            <a:r>
              <a:rPr lang="en-US" sz="1400" b="1" dirty="0">
                <a:solidFill>
                  <a:srgbClr val="1B2A33"/>
                </a:solidFill>
                <a:ea typeface="Calibri" pitchFamily="34" charset="-122"/>
                <a:cs typeface="Calibri" pitchFamily="34" charset="-120"/>
              </a:rPr>
              <a:t>Neither → accepted deviation</a:t>
            </a:r>
            <a:endParaRPr lang="en-US" sz="1400" dirty="0"/>
          </a:p>
        </p:txBody>
      </p:sp>
      <p:sp>
        <p:nvSpPr>
          <p:cNvPr id="26" name="Text 23"/>
          <p:cNvSpPr/>
          <p:nvPr/>
        </p:nvSpPr>
        <p:spPr>
          <a:xfrm>
            <a:off x="7342632" y="5577840"/>
            <a:ext cx="4178808" cy="402336"/>
          </a:xfrm>
          <a:prstGeom prst="rect">
            <a:avLst/>
          </a:prstGeom>
          <a:noFill/>
          <a:ln/>
        </p:spPr>
        <p:txBody>
          <a:bodyPr wrap="square" lIns="0" tIns="0" rIns="0" bIns="0" rtlCol="0" anchor="ctr"/>
          <a:lstStyle/>
          <a:p>
            <a:pPr marL="0" indent="0">
              <a:lnSpc>
                <a:spcPct val="102000"/>
              </a:lnSpc>
              <a:buNone/>
            </a:pPr>
            <a:r>
              <a:rPr lang="en-US" sz="1200" dirty="0">
                <a:solidFill>
                  <a:srgbClr val="3E4C55"/>
                </a:solidFill>
                <a:ea typeface="Calibri" pitchFamily="34" charset="-122"/>
                <a:cs typeface="Calibri" pitchFamily="34" charset="-120"/>
              </a:rPr>
              <a:t>Recorded with a reason and an owner and suppressed from future runs.</a:t>
            </a:r>
            <a:endParaRPr lang="en-US" sz="1200" dirty="0"/>
          </a:p>
        </p:txBody>
      </p:sp>
      <p:sp>
        <p:nvSpPr>
          <p:cNvPr id="4" name="Title 3">
            <a:extLst>
              <a:ext uri="{FF2B5EF4-FFF2-40B4-BE49-F238E27FC236}">
                <a16:creationId xmlns:a16="http://schemas.microsoft.com/office/drawing/2014/main" id="{2E950B58-6F54-7FAA-6AED-C5A2B834B81F}"/>
              </a:ext>
            </a:extLst>
          </p:cNvPr>
          <p:cNvSpPr>
            <a:spLocks noGrp="1"/>
          </p:cNvSpPr>
          <p:nvPr>
            <p:ph type="title"/>
          </p:nvPr>
        </p:nvSpPr>
        <p:spPr>
          <a:xfrm>
            <a:off x="609600" y="630179"/>
            <a:ext cx="10945792" cy="640585"/>
          </a:xfrm>
        </p:spPr>
        <p:txBody>
          <a:bodyPr>
            <a:normAutofit fontScale="90000"/>
          </a:bodyPr>
          <a:lstStyle/>
          <a:p>
            <a:r>
              <a:rPr lang="en-US" sz="3200" dirty="0">
                <a:latin typeface="+mn-lt"/>
              </a:rPr>
              <a:t>What the report tells us, and who acts on it</a:t>
            </a:r>
            <a:br>
              <a:rPr lang="en-US" sz="3200" dirty="0">
                <a:latin typeface="+mn-lt"/>
              </a:rPr>
            </a:br>
            <a:endParaRPr lang="en-US" sz="3200" dirty="0">
              <a:latin typeface="+mn-lt"/>
            </a:endParaRPr>
          </a:p>
        </p:txBody>
      </p:sp>
      <p:sp>
        <p:nvSpPr>
          <p:cNvPr id="32" name="Shape 14">
            <a:extLst>
              <a:ext uri="{FF2B5EF4-FFF2-40B4-BE49-F238E27FC236}">
                <a16:creationId xmlns:a16="http://schemas.microsoft.com/office/drawing/2014/main" id="{2C1DE4AC-A9F6-7212-A4D0-006920481B33}"/>
              </a:ext>
            </a:extLst>
          </p:cNvPr>
          <p:cNvSpPr/>
          <p:nvPr/>
        </p:nvSpPr>
        <p:spPr>
          <a:xfrm>
            <a:off x="9450469" y="4129867"/>
            <a:ext cx="0" cy="128016"/>
          </a:xfrm>
          <a:prstGeom prst="line">
            <a:avLst/>
          </a:prstGeom>
          <a:noFill/>
          <a:ln w="19050">
            <a:solidFill>
              <a:srgbClr val="6B7B85"/>
            </a:solidFill>
            <a:prstDash val="solid"/>
            <a:tailEnd type="triangle"/>
          </a:ln>
        </p:spPr>
        <p:txBody>
          <a:bodyPr/>
          <a:lstStyle/>
          <a:p>
            <a:endParaRPr sz="2400"/>
          </a:p>
        </p:txBody>
      </p:sp>
      <p:sp>
        <p:nvSpPr>
          <p:cNvPr id="34" name="Shape 14">
            <a:extLst>
              <a:ext uri="{FF2B5EF4-FFF2-40B4-BE49-F238E27FC236}">
                <a16:creationId xmlns:a16="http://schemas.microsoft.com/office/drawing/2014/main" id="{B4C7835F-FCC5-B903-34D6-2AD7E1B1ADA0}"/>
              </a:ext>
            </a:extLst>
          </p:cNvPr>
          <p:cNvSpPr/>
          <p:nvPr/>
        </p:nvSpPr>
        <p:spPr>
          <a:xfrm>
            <a:off x="9473475" y="5119011"/>
            <a:ext cx="0" cy="128016"/>
          </a:xfrm>
          <a:prstGeom prst="line">
            <a:avLst/>
          </a:prstGeom>
          <a:noFill/>
          <a:ln w="19050">
            <a:solidFill>
              <a:srgbClr val="6B7B85"/>
            </a:solidFill>
            <a:prstDash val="solid"/>
            <a:tailEnd type="triangle"/>
          </a:ln>
        </p:spPr>
        <p:txBody>
          <a:bodyPr/>
          <a:lstStyle/>
          <a:p>
            <a:endParaRPr sz="24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Text 176"/>
          <p:cNvSpPr/>
          <p:nvPr/>
        </p:nvSpPr>
        <p:spPr>
          <a:xfrm>
            <a:off x="649567" y="1298448"/>
            <a:ext cx="5340096" cy="256032"/>
          </a:xfrm>
          <a:prstGeom prst="rect">
            <a:avLst/>
          </a:prstGeom>
          <a:noFill/>
          <a:ln/>
        </p:spPr>
        <p:txBody>
          <a:bodyPr wrap="square" lIns="0" tIns="0" rIns="0" bIns="0" rtlCol="0" anchor="ctr"/>
          <a:lstStyle/>
          <a:p>
            <a:pPr marL="0" indent="0">
              <a:buNone/>
            </a:pPr>
            <a:r>
              <a:rPr lang="en-US" sz="1500" b="1" dirty="0">
                <a:solidFill>
                  <a:srgbClr val="1B2A33"/>
                </a:solidFill>
                <a:ea typeface="Cambria" pitchFamily="34" charset="-122"/>
                <a:cs typeface="Cambria" pitchFamily="34" charset="-120"/>
              </a:rPr>
              <a:t>Today</a:t>
            </a:r>
          </a:p>
        </p:txBody>
      </p:sp>
      <p:sp>
        <p:nvSpPr>
          <p:cNvPr id="177" name="Shape 178"/>
          <p:cNvSpPr/>
          <p:nvPr/>
        </p:nvSpPr>
        <p:spPr>
          <a:xfrm>
            <a:off x="649567" y="1671786"/>
            <a:ext cx="5340096" cy="2111433"/>
          </a:xfrm>
          <a:prstGeom prst="roundRect">
            <a:avLst>
              <a:gd name="adj" fmla="val 3646"/>
            </a:avLst>
          </a:prstGeom>
          <a:solidFill>
            <a:srgbClr val="EDF1F3"/>
          </a:solidFill>
          <a:ln w="12700">
            <a:solidFill>
              <a:srgbClr val="D8E0E4"/>
            </a:solidFill>
            <a:prstDash val="solid"/>
          </a:ln>
        </p:spPr>
        <p:txBody>
          <a:bodyPr/>
          <a:lstStyle/>
          <a:p>
            <a:endParaRPr/>
          </a:p>
        </p:txBody>
      </p:sp>
      <p:sp>
        <p:nvSpPr>
          <p:cNvPr id="179" name="Text 180"/>
          <p:cNvSpPr/>
          <p:nvPr/>
        </p:nvSpPr>
        <p:spPr>
          <a:xfrm>
            <a:off x="814159" y="1755648"/>
            <a:ext cx="5010912" cy="190195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3E4C55"/>
                </a:solidFill>
                <a:ea typeface="Calibri" pitchFamily="34" charset="-122"/>
                <a:cs typeface="Calibri" pitchFamily="34" charset="-120"/>
              </a:rPr>
              <a:t>Dev and test hold thin, stale extracts, so most assertions cannot be exercised there at all</a:t>
            </a:r>
          </a:p>
          <a:p>
            <a:pPr marL="342900" indent="-342900">
              <a:spcAft>
                <a:spcPts val="400"/>
              </a:spcAft>
              <a:buSzPct val="100000"/>
              <a:buChar char="•"/>
            </a:pPr>
            <a:r>
              <a:rPr lang="en-US" sz="1200" dirty="0">
                <a:solidFill>
                  <a:srgbClr val="3E4C55"/>
                </a:solidFill>
                <a:ea typeface="Calibri" pitchFamily="34" charset="-122"/>
                <a:cs typeface="Calibri" pitchFamily="34" charset="-120"/>
              </a:rPr>
              <a:t>Volume, rare conditions and complete portfolios exist only in production</a:t>
            </a:r>
          </a:p>
          <a:p>
            <a:pPr marL="342900" indent="-342900">
              <a:spcAft>
                <a:spcPts val="400"/>
              </a:spcAft>
              <a:buSzPct val="100000"/>
              <a:buChar char="•"/>
            </a:pPr>
            <a:r>
              <a:rPr lang="en-US" sz="1200" dirty="0">
                <a:solidFill>
                  <a:srgbClr val="3E4C55"/>
                </a:solidFill>
                <a:ea typeface="Calibri" pitchFamily="34" charset="-122"/>
                <a:cs typeface="Calibri" pitchFamily="34" charset="-120"/>
              </a:rPr>
              <a:t>Runs are repeated on the parallel production environment to get a result anyone will act on</a:t>
            </a:r>
          </a:p>
          <a:p>
            <a:pPr marL="342900" indent="-342900">
              <a:spcAft>
                <a:spcPts val="400"/>
              </a:spcAft>
              <a:buSzPct val="100000"/>
              <a:buChar char="•"/>
            </a:pPr>
            <a:r>
              <a:rPr lang="en-US" sz="1200" dirty="0">
                <a:solidFill>
                  <a:srgbClr val="3E4C55"/>
                </a:solidFill>
                <a:ea typeface="Calibri" pitchFamily="34" charset="-122"/>
                <a:cs typeface="Calibri" pitchFamily="34" charset="-120"/>
              </a:rPr>
              <a:t>Defects surface late, because the first realistic run is also close to the last one</a:t>
            </a:r>
          </a:p>
          <a:p>
            <a:pPr marL="0" indent="0">
              <a:lnSpc>
                <a:spcPct val="105000"/>
              </a:lnSpc>
              <a:buNone/>
            </a:pPr>
            <a:r>
              <a:rPr lang="en-US" sz="1200" b="1" i="1" dirty="0">
                <a:solidFill>
                  <a:srgbClr val="6B7B85"/>
                </a:solidFill>
                <a:ea typeface="Calibri" pitchFamily="34" charset="-122"/>
                <a:cs typeface="Calibri" pitchFamily="34" charset="-120"/>
              </a:rPr>
              <a:t>* The environment, not the test, is what limits us</a:t>
            </a:r>
            <a:endParaRPr lang="en-US" sz="1100" i="1" dirty="0">
              <a:solidFill>
                <a:srgbClr val="6B7B85"/>
              </a:solidFill>
              <a:ea typeface="Calibri" pitchFamily="34" charset="-122"/>
              <a:cs typeface="Calibri" pitchFamily="34" charset="-120"/>
            </a:endParaRPr>
          </a:p>
        </p:txBody>
      </p:sp>
      <p:sp>
        <p:nvSpPr>
          <p:cNvPr id="181" name="Text 182"/>
          <p:cNvSpPr/>
          <p:nvPr/>
        </p:nvSpPr>
        <p:spPr>
          <a:xfrm>
            <a:off x="6498631" y="1298448"/>
            <a:ext cx="5334048" cy="256032"/>
          </a:xfrm>
          <a:prstGeom prst="rect">
            <a:avLst/>
          </a:prstGeom>
          <a:noFill/>
          <a:ln/>
        </p:spPr>
        <p:txBody>
          <a:bodyPr wrap="square" lIns="0" tIns="0" rIns="0" bIns="0" rtlCol="0" anchor="ctr"/>
          <a:lstStyle/>
          <a:p>
            <a:pPr marL="0" indent="0">
              <a:buNone/>
            </a:pPr>
            <a:r>
              <a:rPr lang="en-US" sz="1500" b="1" dirty="0">
                <a:solidFill>
                  <a:srgbClr val="1B2A33"/>
                </a:solidFill>
                <a:ea typeface="Cambria" pitchFamily="34" charset="-122"/>
                <a:cs typeface="Cambria" pitchFamily="34" charset="-120"/>
              </a:rPr>
              <a:t>With generated test data</a:t>
            </a:r>
          </a:p>
        </p:txBody>
      </p:sp>
      <p:sp>
        <p:nvSpPr>
          <p:cNvPr id="183" name="Shape 184"/>
          <p:cNvSpPr/>
          <p:nvPr/>
        </p:nvSpPr>
        <p:spPr>
          <a:xfrm>
            <a:off x="6498631" y="1665967"/>
            <a:ext cx="5334048" cy="1995055"/>
          </a:xfrm>
          <a:prstGeom prst="roundRect">
            <a:avLst>
              <a:gd name="adj" fmla="val 3646"/>
            </a:avLst>
          </a:prstGeom>
          <a:solidFill>
            <a:srgbClr val="E3F0EF"/>
          </a:solidFill>
          <a:ln w="12700">
            <a:solidFill>
              <a:srgbClr val="CBE0DE"/>
            </a:solidFill>
            <a:prstDash val="solid"/>
          </a:ln>
        </p:spPr>
        <p:txBody>
          <a:bodyPr/>
          <a:lstStyle/>
          <a:p>
            <a:endParaRPr/>
          </a:p>
        </p:txBody>
      </p:sp>
      <p:sp>
        <p:nvSpPr>
          <p:cNvPr id="185" name="Text 186"/>
          <p:cNvSpPr/>
          <p:nvPr/>
        </p:nvSpPr>
        <p:spPr>
          <a:xfrm>
            <a:off x="6663223" y="1729770"/>
            <a:ext cx="5004864" cy="190195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3E4C55"/>
                </a:solidFill>
                <a:ea typeface="Calibri" pitchFamily="34" charset="-122"/>
                <a:cs typeface="Calibri" pitchFamily="34" charset="-120"/>
              </a:rPr>
              <a:t>Production-shaped populations created on demand in dev and test</a:t>
            </a:r>
          </a:p>
          <a:p>
            <a:pPr marL="342900" indent="-342900">
              <a:spcAft>
                <a:spcPts val="400"/>
              </a:spcAft>
              <a:buSzPct val="100000"/>
              <a:buChar char="•"/>
            </a:pPr>
            <a:r>
              <a:rPr lang="en-US" sz="1200" dirty="0">
                <a:solidFill>
                  <a:srgbClr val="3E4C55"/>
                </a:solidFill>
                <a:ea typeface="Calibri" pitchFamily="34" charset="-122"/>
                <a:cs typeface="Calibri" pitchFamily="34" charset="-120"/>
              </a:rPr>
              <a:t>Edge cases and rare conditions built deliberately rather than waited for</a:t>
            </a:r>
          </a:p>
          <a:p>
            <a:pPr marL="342900" indent="-342900">
              <a:spcAft>
                <a:spcPts val="400"/>
              </a:spcAft>
              <a:buSzPct val="100000"/>
              <a:buChar char="•"/>
            </a:pPr>
            <a:r>
              <a:rPr lang="en-US" sz="1200" dirty="0">
                <a:solidFill>
                  <a:srgbClr val="3E4C55"/>
                </a:solidFill>
                <a:ea typeface="Calibri" pitchFamily="34" charset="-122"/>
                <a:cs typeface="Calibri" pitchFamily="34" charset="-120"/>
              </a:rPr>
              <a:t>No dependency on production data, production access or the production schedule</a:t>
            </a:r>
          </a:p>
          <a:p>
            <a:pPr marL="342900" indent="-342900">
              <a:spcAft>
                <a:spcPts val="400"/>
              </a:spcAft>
              <a:buSzPct val="100000"/>
              <a:buChar char="•"/>
            </a:pPr>
            <a:r>
              <a:rPr lang="en-US" sz="1200" dirty="0">
                <a:solidFill>
                  <a:srgbClr val="3E4C55"/>
                </a:solidFill>
                <a:ea typeface="Calibri" pitchFamily="34" charset="-122"/>
                <a:cs typeface="Calibri" pitchFamily="34" charset="-120"/>
              </a:rPr>
              <a:t>The parallel production run becomes confirmation rather than first discovery</a:t>
            </a:r>
          </a:p>
          <a:p>
            <a:pPr marL="0" indent="0">
              <a:lnSpc>
                <a:spcPct val="105000"/>
              </a:lnSpc>
              <a:buNone/>
            </a:pPr>
            <a:r>
              <a:rPr lang="en-US" sz="1200" b="1" i="1" dirty="0">
                <a:solidFill>
                  <a:srgbClr val="6B7B85"/>
                </a:solidFill>
                <a:ea typeface="Calibri" pitchFamily="34" charset="-122"/>
                <a:cs typeface="Calibri" pitchFamily="34" charset="-120"/>
              </a:rPr>
              <a:t>* Each test runs in the environment it was designed for</a:t>
            </a:r>
            <a:r>
              <a:rPr lang="en-US" sz="1100" i="1" dirty="0">
                <a:solidFill>
                  <a:srgbClr val="6B7B85"/>
                </a:solidFill>
                <a:ea typeface="Calibri" pitchFamily="34" charset="-122"/>
                <a:cs typeface="Calibri" pitchFamily="34" charset="-120"/>
              </a:rPr>
              <a:t>.</a:t>
            </a:r>
          </a:p>
        </p:txBody>
      </p:sp>
      <p:sp>
        <p:nvSpPr>
          <p:cNvPr id="187" name="Text 188"/>
          <p:cNvSpPr/>
          <p:nvPr/>
        </p:nvSpPr>
        <p:spPr>
          <a:xfrm>
            <a:off x="623688" y="3997481"/>
            <a:ext cx="11183112" cy="256032"/>
          </a:xfrm>
          <a:prstGeom prst="rect">
            <a:avLst/>
          </a:prstGeom>
          <a:noFill/>
          <a:ln/>
        </p:spPr>
        <p:txBody>
          <a:bodyPr wrap="square" lIns="0" tIns="0" rIns="0" bIns="0" rtlCol="0" anchor="ctr"/>
          <a:lstStyle/>
          <a:p>
            <a:pPr marL="0" indent="0">
              <a:buNone/>
            </a:pPr>
            <a:r>
              <a:rPr lang="en-US" sz="1600" b="1" dirty="0">
                <a:solidFill>
                  <a:srgbClr val="1B2A33"/>
                </a:solidFill>
                <a:ea typeface="Cambria" pitchFamily="34" charset="-122"/>
                <a:cs typeface="Cambria" pitchFamily="34" charset="-120"/>
              </a:rPr>
              <a:t>Proof of concept — To be done</a:t>
            </a:r>
          </a:p>
        </p:txBody>
      </p:sp>
      <p:sp>
        <p:nvSpPr>
          <p:cNvPr id="189" name="Shape 190"/>
          <p:cNvSpPr/>
          <p:nvPr/>
        </p:nvSpPr>
        <p:spPr>
          <a:xfrm>
            <a:off x="623688" y="4363241"/>
            <a:ext cx="2658618" cy="1444752"/>
          </a:xfrm>
          <a:prstGeom prst="roundRect">
            <a:avLst>
              <a:gd name="adj" fmla="val 7778"/>
            </a:avLst>
          </a:prstGeom>
          <a:solidFill>
            <a:srgbClr val="FFFFFF"/>
          </a:solidFill>
          <a:ln w="12700">
            <a:solidFill>
              <a:srgbClr val="D8E0E4"/>
            </a:solidFill>
            <a:prstDash val="solid"/>
          </a:ln>
        </p:spPr>
        <p:txBody>
          <a:bodyPr/>
          <a:lstStyle/>
          <a:p>
            <a:endParaRPr sz="2000"/>
          </a:p>
        </p:txBody>
      </p:sp>
      <p:sp>
        <p:nvSpPr>
          <p:cNvPr id="191" name="Shape 192"/>
          <p:cNvSpPr/>
          <p:nvPr/>
        </p:nvSpPr>
        <p:spPr>
          <a:xfrm>
            <a:off x="779652" y="4491771"/>
            <a:ext cx="256032" cy="256032"/>
          </a:xfrm>
          <a:prstGeom prst="ellipse">
            <a:avLst/>
          </a:prstGeom>
          <a:solidFill>
            <a:srgbClr val="E3F0EF"/>
          </a:solidFill>
          <a:ln w="12700">
            <a:solidFill>
              <a:srgbClr val="E3F0EF"/>
            </a:solidFill>
            <a:prstDash val="solid"/>
          </a:ln>
        </p:spPr>
        <p:txBody>
          <a:bodyPr/>
          <a:lstStyle/>
          <a:p>
            <a:endParaRPr sz="2000"/>
          </a:p>
        </p:txBody>
      </p:sp>
      <p:sp>
        <p:nvSpPr>
          <p:cNvPr id="193" name="Text 194"/>
          <p:cNvSpPr/>
          <p:nvPr/>
        </p:nvSpPr>
        <p:spPr>
          <a:xfrm>
            <a:off x="788280" y="4500401"/>
            <a:ext cx="256032" cy="256032"/>
          </a:xfrm>
          <a:prstGeom prst="rect">
            <a:avLst/>
          </a:prstGeom>
          <a:noFill/>
          <a:ln/>
        </p:spPr>
        <p:txBody>
          <a:bodyPr wrap="square" lIns="0" tIns="0" rIns="0" bIns="0" rtlCol="0" anchor="ctr"/>
          <a:lstStyle/>
          <a:p>
            <a:pPr marL="0" indent="0" algn="ctr">
              <a:buNone/>
            </a:pPr>
            <a:r>
              <a:rPr lang="en-US" sz="1100" b="1" dirty="0">
                <a:solidFill>
                  <a:srgbClr val="0E7C7B"/>
                </a:solidFill>
                <a:ea typeface="Calibri" pitchFamily="34" charset="-122"/>
                <a:cs typeface="Calibri" pitchFamily="34" charset="-120"/>
              </a:rPr>
              <a:t>1</a:t>
            </a:r>
          </a:p>
        </p:txBody>
      </p:sp>
      <p:sp>
        <p:nvSpPr>
          <p:cNvPr id="195" name="Text 196"/>
          <p:cNvSpPr/>
          <p:nvPr/>
        </p:nvSpPr>
        <p:spPr>
          <a:xfrm>
            <a:off x="788280" y="4847873"/>
            <a:ext cx="2329434" cy="219456"/>
          </a:xfrm>
          <a:prstGeom prst="rect">
            <a:avLst/>
          </a:prstGeom>
          <a:noFill/>
          <a:ln/>
        </p:spPr>
        <p:txBody>
          <a:bodyPr wrap="square" lIns="0" tIns="0" rIns="0" bIns="0" rtlCol="0" anchor="ctr"/>
          <a:lstStyle/>
          <a:p>
            <a:pPr marL="0" indent="0">
              <a:buNone/>
            </a:pPr>
            <a:r>
              <a:rPr lang="en-US" sz="1400" b="1" dirty="0">
                <a:solidFill>
                  <a:srgbClr val="1B2A33"/>
                </a:solidFill>
                <a:ea typeface="Calibri" pitchFamily="34" charset="-122"/>
                <a:cs typeface="Calibri" pitchFamily="34" charset="-120"/>
              </a:rPr>
              <a:t>Scope</a:t>
            </a:r>
          </a:p>
        </p:txBody>
      </p:sp>
      <p:sp>
        <p:nvSpPr>
          <p:cNvPr id="197" name="Text 198"/>
          <p:cNvSpPr/>
          <p:nvPr/>
        </p:nvSpPr>
        <p:spPr>
          <a:xfrm>
            <a:off x="788280" y="5076473"/>
            <a:ext cx="2329434" cy="640080"/>
          </a:xfrm>
          <a:prstGeom prst="rect">
            <a:avLst/>
          </a:prstGeom>
          <a:noFill/>
          <a:ln/>
        </p:spPr>
        <p:txBody>
          <a:bodyPr wrap="square" lIns="0" tIns="0" rIns="0" bIns="0" rtlCol="0" anchor="t"/>
          <a:lstStyle/>
          <a:p>
            <a:pPr marL="0" indent="0">
              <a:lnSpc>
                <a:spcPct val="102000"/>
              </a:lnSpc>
              <a:buNone/>
            </a:pPr>
            <a:r>
              <a:rPr lang="en-US" sz="1200" dirty="0">
                <a:solidFill>
                  <a:srgbClr val="3E4C55"/>
                </a:solidFill>
                <a:ea typeface="Calibri" pitchFamily="34" charset="-122"/>
                <a:cs typeface="Calibri" pitchFamily="34" charset="-120"/>
              </a:rPr>
              <a:t>One delivery and its existing assertion pack, generated into dev — small enough to finish, real enough to judge</a:t>
            </a:r>
          </a:p>
        </p:txBody>
      </p:sp>
      <p:sp>
        <p:nvSpPr>
          <p:cNvPr id="199" name="Shape 200"/>
          <p:cNvSpPr/>
          <p:nvPr/>
        </p:nvSpPr>
        <p:spPr>
          <a:xfrm>
            <a:off x="3465186" y="4363241"/>
            <a:ext cx="2658618" cy="1444752"/>
          </a:xfrm>
          <a:prstGeom prst="roundRect">
            <a:avLst>
              <a:gd name="adj" fmla="val 7778"/>
            </a:avLst>
          </a:prstGeom>
          <a:solidFill>
            <a:srgbClr val="FFFFFF"/>
          </a:solidFill>
          <a:ln w="12700">
            <a:solidFill>
              <a:srgbClr val="D8E0E4"/>
            </a:solidFill>
            <a:prstDash val="solid"/>
          </a:ln>
        </p:spPr>
        <p:txBody>
          <a:bodyPr/>
          <a:lstStyle/>
          <a:p>
            <a:endParaRPr sz="2000"/>
          </a:p>
        </p:txBody>
      </p:sp>
      <p:sp>
        <p:nvSpPr>
          <p:cNvPr id="201" name="Shape 202"/>
          <p:cNvSpPr/>
          <p:nvPr/>
        </p:nvSpPr>
        <p:spPr>
          <a:xfrm>
            <a:off x="3612526" y="4500401"/>
            <a:ext cx="256032" cy="256032"/>
          </a:xfrm>
          <a:prstGeom prst="ellipse">
            <a:avLst/>
          </a:prstGeom>
          <a:solidFill>
            <a:srgbClr val="E3F0EF"/>
          </a:solidFill>
          <a:ln w="12700">
            <a:solidFill>
              <a:srgbClr val="E3F0EF"/>
            </a:solidFill>
            <a:prstDash val="solid"/>
          </a:ln>
        </p:spPr>
        <p:txBody>
          <a:bodyPr/>
          <a:lstStyle/>
          <a:p>
            <a:endParaRPr sz="2000"/>
          </a:p>
        </p:txBody>
      </p:sp>
      <p:sp>
        <p:nvSpPr>
          <p:cNvPr id="203" name="Text 204"/>
          <p:cNvSpPr/>
          <p:nvPr/>
        </p:nvSpPr>
        <p:spPr>
          <a:xfrm>
            <a:off x="3629778" y="4500401"/>
            <a:ext cx="256032" cy="256032"/>
          </a:xfrm>
          <a:prstGeom prst="rect">
            <a:avLst/>
          </a:prstGeom>
          <a:noFill/>
          <a:ln/>
        </p:spPr>
        <p:txBody>
          <a:bodyPr wrap="square" lIns="0" tIns="0" rIns="0" bIns="0" rtlCol="0" anchor="ctr"/>
          <a:lstStyle/>
          <a:p>
            <a:pPr marL="0" indent="0" algn="ctr">
              <a:buNone/>
            </a:pPr>
            <a:r>
              <a:rPr lang="en-US" sz="1100" b="1" dirty="0">
                <a:solidFill>
                  <a:srgbClr val="0E7C7B"/>
                </a:solidFill>
                <a:ea typeface="Calibri" pitchFamily="34" charset="-122"/>
                <a:cs typeface="Calibri" pitchFamily="34" charset="-120"/>
              </a:rPr>
              <a:t>2</a:t>
            </a:r>
          </a:p>
        </p:txBody>
      </p:sp>
      <p:sp>
        <p:nvSpPr>
          <p:cNvPr id="205" name="Text 206"/>
          <p:cNvSpPr/>
          <p:nvPr/>
        </p:nvSpPr>
        <p:spPr>
          <a:xfrm>
            <a:off x="3629778" y="4847873"/>
            <a:ext cx="2329434" cy="219456"/>
          </a:xfrm>
          <a:prstGeom prst="rect">
            <a:avLst/>
          </a:prstGeom>
          <a:noFill/>
          <a:ln/>
        </p:spPr>
        <p:txBody>
          <a:bodyPr wrap="square" lIns="0" tIns="0" rIns="0" bIns="0" rtlCol="0" anchor="ctr"/>
          <a:lstStyle/>
          <a:p>
            <a:pPr marL="0" indent="0">
              <a:buNone/>
            </a:pPr>
            <a:r>
              <a:rPr lang="en-US" sz="1400" b="1" dirty="0">
                <a:solidFill>
                  <a:srgbClr val="1B2A33"/>
                </a:solidFill>
                <a:ea typeface="Calibri" pitchFamily="34" charset="-122"/>
                <a:cs typeface="Calibri" pitchFamily="34" charset="-120"/>
              </a:rPr>
              <a:t>Generate</a:t>
            </a:r>
          </a:p>
        </p:txBody>
      </p:sp>
      <p:sp>
        <p:nvSpPr>
          <p:cNvPr id="207" name="Text 208"/>
          <p:cNvSpPr/>
          <p:nvPr/>
        </p:nvSpPr>
        <p:spPr>
          <a:xfrm>
            <a:off x="3629778" y="5076473"/>
            <a:ext cx="2329434" cy="640080"/>
          </a:xfrm>
          <a:prstGeom prst="rect">
            <a:avLst/>
          </a:prstGeom>
          <a:noFill/>
          <a:ln/>
        </p:spPr>
        <p:txBody>
          <a:bodyPr wrap="square" lIns="0" tIns="0" rIns="0" bIns="0" rtlCol="0" anchor="t"/>
          <a:lstStyle/>
          <a:p>
            <a:pPr marL="0" indent="0">
              <a:lnSpc>
                <a:spcPct val="102000"/>
              </a:lnSpc>
              <a:buNone/>
            </a:pPr>
            <a:r>
              <a:rPr lang="en-US" sz="1200" dirty="0">
                <a:solidFill>
                  <a:srgbClr val="3E4C55"/>
                </a:solidFill>
                <a:ea typeface="Calibri" pitchFamily="34" charset="-122"/>
                <a:cs typeface="Calibri" pitchFamily="34" charset="-120"/>
              </a:rPr>
              <a:t>Produce a production-shaped population for that scope with the synthetic data generation tool</a:t>
            </a:r>
          </a:p>
        </p:txBody>
      </p:sp>
      <p:sp>
        <p:nvSpPr>
          <p:cNvPr id="209" name="Shape 210"/>
          <p:cNvSpPr/>
          <p:nvPr/>
        </p:nvSpPr>
        <p:spPr>
          <a:xfrm>
            <a:off x="6306684" y="4363241"/>
            <a:ext cx="2658618" cy="1444752"/>
          </a:xfrm>
          <a:prstGeom prst="roundRect">
            <a:avLst>
              <a:gd name="adj" fmla="val 7778"/>
            </a:avLst>
          </a:prstGeom>
          <a:solidFill>
            <a:srgbClr val="FFFFFF"/>
          </a:solidFill>
          <a:ln w="12700">
            <a:solidFill>
              <a:srgbClr val="D8E0E4"/>
            </a:solidFill>
            <a:prstDash val="solid"/>
          </a:ln>
        </p:spPr>
        <p:txBody>
          <a:bodyPr/>
          <a:lstStyle/>
          <a:p>
            <a:endParaRPr sz="2000"/>
          </a:p>
        </p:txBody>
      </p:sp>
      <p:sp>
        <p:nvSpPr>
          <p:cNvPr id="211" name="Shape 212"/>
          <p:cNvSpPr/>
          <p:nvPr/>
        </p:nvSpPr>
        <p:spPr>
          <a:xfrm>
            <a:off x="6471276" y="4500401"/>
            <a:ext cx="256032" cy="256032"/>
          </a:xfrm>
          <a:prstGeom prst="ellipse">
            <a:avLst/>
          </a:prstGeom>
          <a:solidFill>
            <a:srgbClr val="E3F0EF"/>
          </a:solidFill>
          <a:ln w="12700">
            <a:solidFill>
              <a:srgbClr val="E3F0EF"/>
            </a:solidFill>
            <a:prstDash val="solid"/>
          </a:ln>
        </p:spPr>
        <p:txBody>
          <a:bodyPr/>
          <a:lstStyle/>
          <a:p>
            <a:endParaRPr sz="2000"/>
          </a:p>
        </p:txBody>
      </p:sp>
      <p:sp>
        <p:nvSpPr>
          <p:cNvPr id="213" name="Text 214"/>
          <p:cNvSpPr/>
          <p:nvPr/>
        </p:nvSpPr>
        <p:spPr>
          <a:xfrm>
            <a:off x="6479903" y="4517655"/>
            <a:ext cx="256032" cy="256032"/>
          </a:xfrm>
          <a:prstGeom prst="rect">
            <a:avLst/>
          </a:prstGeom>
          <a:noFill/>
          <a:ln/>
        </p:spPr>
        <p:txBody>
          <a:bodyPr wrap="square" lIns="0" tIns="0" rIns="0" bIns="0" rtlCol="0" anchor="ctr"/>
          <a:lstStyle/>
          <a:p>
            <a:pPr marL="0" indent="0" algn="ctr">
              <a:buNone/>
            </a:pPr>
            <a:r>
              <a:rPr lang="en-US" sz="1100" b="1" dirty="0">
                <a:solidFill>
                  <a:srgbClr val="0E7C7B"/>
                </a:solidFill>
                <a:ea typeface="Calibri" pitchFamily="34" charset="-122"/>
                <a:cs typeface="Calibri" pitchFamily="34" charset="-120"/>
              </a:rPr>
              <a:t>3</a:t>
            </a:r>
          </a:p>
        </p:txBody>
      </p:sp>
      <p:sp>
        <p:nvSpPr>
          <p:cNvPr id="215" name="Text 216"/>
          <p:cNvSpPr/>
          <p:nvPr/>
        </p:nvSpPr>
        <p:spPr>
          <a:xfrm>
            <a:off x="6471276" y="4847873"/>
            <a:ext cx="2329434" cy="219456"/>
          </a:xfrm>
          <a:prstGeom prst="rect">
            <a:avLst/>
          </a:prstGeom>
          <a:noFill/>
          <a:ln/>
        </p:spPr>
        <p:txBody>
          <a:bodyPr wrap="square" lIns="0" tIns="0" rIns="0" bIns="0" rtlCol="0" anchor="ctr"/>
          <a:lstStyle/>
          <a:p>
            <a:pPr marL="0" indent="0">
              <a:buNone/>
            </a:pPr>
            <a:r>
              <a:rPr lang="en-US" sz="1400" b="1" dirty="0">
                <a:solidFill>
                  <a:srgbClr val="1B2A33"/>
                </a:solidFill>
                <a:ea typeface="Calibri" pitchFamily="34" charset="-122"/>
                <a:cs typeface="Calibri" pitchFamily="34" charset="-120"/>
              </a:rPr>
              <a:t>Re-run</a:t>
            </a:r>
          </a:p>
        </p:txBody>
      </p:sp>
      <p:sp>
        <p:nvSpPr>
          <p:cNvPr id="217" name="Text 218"/>
          <p:cNvSpPr/>
          <p:nvPr/>
        </p:nvSpPr>
        <p:spPr>
          <a:xfrm>
            <a:off x="6471276" y="5076473"/>
            <a:ext cx="2329434" cy="640080"/>
          </a:xfrm>
          <a:prstGeom prst="rect">
            <a:avLst/>
          </a:prstGeom>
          <a:noFill/>
          <a:ln/>
        </p:spPr>
        <p:txBody>
          <a:bodyPr wrap="square" lIns="0" tIns="0" rIns="0" bIns="0" rtlCol="0" anchor="t"/>
          <a:lstStyle/>
          <a:p>
            <a:pPr marL="0" indent="0">
              <a:lnSpc>
                <a:spcPct val="102000"/>
              </a:lnSpc>
              <a:buNone/>
            </a:pPr>
            <a:r>
              <a:rPr lang="en-US" sz="1200" dirty="0">
                <a:solidFill>
                  <a:srgbClr val="3E4C55"/>
                </a:solidFill>
                <a:ea typeface="Calibri" pitchFamily="34" charset="-122"/>
                <a:cs typeface="Calibri" pitchFamily="34" charset="-120"/>
              </a:rPr>
              <a:t>Execute the same assertions against the generated data that were last run against production</a:t>
            </a:r>
          </a:p>
        </p:txBody>
      </p:sp>
      <p:sp>
        <p:nvSpPr>
          <p:cNvPr id="219" name="Shape 220"/>
          <p:cNvSpPr/>
          <p:nvPr/>
        </p:nvSpPr>
        <p:spPr>
          <a:xfrm>
            <a:off x="9148182" y="4363241"/>
            <a:ext cx="2658618" cy="1444752"/>
          </a:xfrm>
          <a:prstGeom prst="roundRect">
            <a:avLst>
              <a:gd name="adj" fmla="val 7778"/>
            </a:avLst>
          </a:prstGeom>
          <a:solidFill>
            <a:srgbClr val="FFFFFF"/>
          </a:solidFill>
          <a:ln w="12700">
            <a:solidFill>
              <a:srgbClr val="D8E0E4"/>
            </a:solidFill>
            <a:prstDash val="solid"/>
          </a:ln>
        </p:spPr>
        <p:txBody>
          <a:bodyPr/>
          <a:lstStyle/>
          <a:p>
            <a:endParaRPr sz="2000"/>
          </a:p>
        </p:txBody>
      </p:sp>
      <p:sp>
        <p:nvSpPr>
          <p:cNvPr id="221" name="Shape 222"/>
          <p:cNvSpPr/>
          <p:nvPr/>
        </p:nvSpPr>
        <p:spPr>
          <a:xfrm>
            <a:off x="9295521" y="4500398"/>
            <a:ext cx="256032" cy="256032"/>
          </a:xfrm>
          <a:prstGeom prst="ellipse">
            <a:avLst/>
          </a:prstGeom>
          <a:solidFill>
            <a:srgbClr val="E3F0EF"/>
          </a:solidFill>
          <a:ln w="12700">
            <a:solidFill>
              <a:srgbClr val="E3F0EF"/>
            </a:solidFill>
            <a:prstDash val="solid"/>
          </a:ln>
        </p:spPr>
        <p:txBody>
          <a:bodyPr/>
          <a:lstStyle/>
          <a:p>
            <a:endParaRPr sz="2000"/>
          </a:p>
        </p:txBody>
      </p:sp>
      <p:sp>
        <p:nvSpPr>
          <p:cNvPr id="223" name="Text 224"/>
          <p:cNvSpPr/>
          <p:nvPr/>
        </p:nvSpPr>
        <p:spPr>
          <a:xfrm>
            <a:off x="9312774" y="4500401"/>
            <a:ext cx="256032" cy="256032"/>
          </a:xfrm>
          <a:prstGeom prst="rect">
            <a:avLst/>
          </a:prstGeom>
          <a:noFill/>
          <a:ln/>
        </p:spPr>
        <p:txBody>
          <a:bodyPr wrap="square" lIns="0" tIns="0" rIns="0" bIns="0" rtlCol="0" anchor="ctr"/>
          <a:lstStyle/>
          <a:p>
            <a:pPr marL="0" indent="0" algn="ctr">
              <a:buNone/>
            </a:pPr>
            <a:r>
              <a:rPr lang="en-US" sz="1100" b="1" dirty="0">
                <a:solidFill>
                  <a:srgbClr val="0E7C7B"/>
                </a:solidFill>
                <a:ea typeface="Calibri" pitchFamily="34" charset="-122"/>
                <a:cs typeface="Calibri" pitchFamily="34" charset="-120"/>
              </a:rPr>
              <a:t>4</a:t>
            </a:r>
          </a:p>
        </p:txBody>
      </p:sp>
      <p:sp>
        <p:nvSpPr>
          <p:cNvPr id="225" name="Text 226"/>
          <p:cNvSpPr/>
          <p:nvPr/>
        </p:nvSpPr>
        <p:spPr>
          <a:xfrm>
            <a:off x="9312774" y="4847873"/>
            <a:ext cx="2329434" cy="219456"/>
          </a:xfrm>
          <a:prstGeom prst="rect">
            <a:avLst/>
          </a:prstGeom>
          <a:noFill/>
          <a:ln/>
        </p:spPr>
        <p:txBody>
          <a:bodyPr wrap="square" lIns="0" tIns="0" rIns="0" bIns="0" rtlCol="0" anchor="ctr"/>
          <a:lstStyle/>
          <a:p>
            <a:pPr marL="0" indent="0">
              <a:buNone/>
            </a:pPr>
            <a:r>
              <a:rPr lang="en-US" sz="1400" b="1" dirty="0">
                <a:solidFill>
                  <a:srgbClr val="1B2A33"/>
                </a:solidFill>
                <a:ea typeface="Calibri" pitchFamily="34" charset="-122"/>
                <a:cs typeface="Calibri" pitchFamily="34" charset="-120"/>
              </a:rPr>
              <a:t>Compare</a:t>
            </a:r>
          </a:p>
        </p:txBody>
      </p:sp>
      <p:sp>
        <p:nvSpPr>
          <p:cNvPr id="227" name="Text 228"/>
          <p:cNvSpPr/>
          <p:nvPr/>
        </p:nvSpPr>
        <p:spPr>
          <a:xfrm>
            <a:off x="9312774" y="5076473"/>
            <a:ext cx="2329434" cy="640080"/>
          </a:xfrm>
          <a:prstGeom prst="rect">
            <a:avLst/>
          </a:prstGeom>
          <a:noFill/>
          <a:ln/>
        </p:spPr>
        <p:txBody>
          <a:bodyPr wrap="square" lIns="0" tIns="0" rIns="0" bIns="0" rtlCol="0" anchor="t"/>
          <a:lstStyle/>
          <a:p>
            <a:pPr marL="0" indent="0">
              <a:lnSpc>
                <a:spcPct val="102000"/>
              </a:lnSpc>
              <a:buNone/>
            </a:pPr>
            <a:r>
              <a:rPr lang="en-US" sz="1200" dirty="0">
                <a:solidFill>
                  <a:srgbClr val="3E4C55"/>
                </a:solidFill>
                <a:ea typeface="Calibri" pitchFamily="34" charset="-122"/>
                <a:cs typeface="Calibri" pitchFamily="34" charset="-120"/>
              </a:rPr>
              <a:t>Does the generated run reach the same verdict? Where it does not, understand why before widening scope</a:t>
            </a:r>
          </a:p>
        </p:txBody>
      </p:sp>
      <p:sp>
        <p:nvSpPr>
          <p:cNvPr id="2" name="Title 1">
            <a:extLst>
              <a:ext uri="{FF2B5EF4-FFF2-40B4-BE49-F238E27FC236}">
                <a16:creationId xmlns:a16="http://schemas.microsoft.com/office/drawing/2014/main" id="{46F44613-F807-9316-257E-11BA6788037D}"/>
              </a:ext>
            </a:extLst>
          </p:cNvPr>
          <p:cNvSpPr>
            <a:spLocks noGrp="1"/>
          </p:cNvSpPr>
          <p:nvPr>
            <p:ph type="title"/>
          </p:nvPr>
        </p:nvSpPr>
        <p:spPr/>
        <p:txBody>
          <a:bodyPr/>
          <a:lstStyle/>
          <a:p>
            <a:r>
              <a:rPr lang="en-US" sz="3200" dirty="0">
                <a:latin typeface="+mn-lt"/>
              </a:rPr>
              <a:t>Test data for the lower environments</a:t>
            </a:r>
            <a:br>
              <a:rPr lang="en-US" sz="3200" dirty="0">
                <a:latin typeface="+mn-lt"/>
              </a:rPr>
            </a:br>
            <a:endParaRPr lang="en-US" sz="3200" dirty="0">
              <a:latin typeface="+mn-lt"/>
            </a:endParaRPr>
          </a:p>
        </p:txBody>
      </p:sp>
      <p:sp>
        <p:nvSpPr>
          <p:cNvPr id="4" name="Subtitle 3">
            <a:extLst>
              <a:ext uri="{FF2B5EF4-FFF2-40B4-BE49-F238E27FC236}">
                <a16:creationId xmlns:a16="http://schemas.microsoft.com/office/drawing/2014/main" id="{A767B0BA-E39C-2853-7884-A432D2216824}"/>
              </a:ext>
            </a:extLst>
          </p:cNvPr>
          <p:cNvSpPr>
            <a:spLocks noGrp="1"/>
          </p:cNvSpPr>
          <p:nvPr>
            <p:ph type="subTitle" idx="13"/>
          </p:nvPr>
        </p:nvSpPr>
        <p:spPr>
          <a:xfrm>
            <a:off x="658566" y="948320"/>
            <a:ext cx="9950720" cy="462728"/>
          </a:xfrm>
        </p:spPr>
        <p:txBody>
          <a:bodyPr/>
          <a:lstStyle/>
          <a:p>
            <a:r>
              <a:rPr lang="en-US" sz="2000" dirty="0"/>
              <a:t>Generating production-shaped data based on the schema</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1" name="Shape 32">
            <a:extLst>
              <a:ext uri="{FF2B5EF4-FFF2-40B4-BE49-F238E27FC236}">
                <a16:creationId xmlns:a16="http://schemas.microsoft.com/office/drawing/2014/main" id="{23B1CE53-C217-477E-466C-268DC07CB2E7}"/>
              </a:ext>
            </a:extLst>
          </p:cNvPr>
          <p:cNvSpPr/>
          <p:nvPr/>
        </p:nvSpPr>
        <p:spPr>
          <a:xfrm>
            <a:off x="9186850" y="5463461"/>
            <a:ext cx="2423160" cy="768539"/>
          </a:xfrm>
          <a:prstGeom prst="roundRect">
            <a:avLst>
              <a:gd name="adj" fmla="val 2752"/>
            </a:avLst>
          </a:prstGeom>
          <a:solidFill>
            <a:srgbClr val="FFFFFF"/>
          </a:solidFill>
          <a:ln w="15875">
            <a:solidFill>
              <a:srgbClr val="138A72"/>
            </a:solidFill>
            <a:prstDash val="solid"/>
          </a:ln>
          <a:effectLst/>
        </p:spPr>
        <p:txBody>
          <a:bodyPr anchor="ctr"/>
          <a:lstStyle/>
          <a:p>
            <a:r>
              <a:rPr lang="en-US" sz="1200">
                <a:latin typeface="Myriad for Rabobank"/>
              </a:rPr>
              <a:t>To be planned</a:t>
            </a:r>
            <a:endParaRPr lang="en-US" sz="2000">
              <a:latin typeface="Myriad for Rabobank"/>
            </a:endParaRPr>
          </a:p>
        </p:txBody>
      </p:sp>
      <p:sp>
        <p:nvSpPr>
          <p:cNvPr id="65" name="Shape 24">
            <a:extLst>
              <a:ext uri="{FF2B5EF4-FFF2-40B4-BE49-F238E27FC236}">
                <a16:creationId xmlns:a16="http://schemas.microsoft.com/office/drawing/2014/main" id="{4A25A584-657C-88F5-0C8A-938165F35D64}"/>
              </a:ext>
            </a:extLst>
          </p:cNvPr>
          <p:cNvSpPr/>
          <p:nvPr/>
        </p:nvSpPr>
        <p:spPr>
          <a:xfrm>
            <a:off x="6315114" y="5472083"/>
            <a:ext cx="2423160" cy="768539"/>
          </a:xfrm>
          <a:prstGeom prst="roundRect">
            <a:avLst>
              <a:gd name="adj" fmla="val 2752"/>
            </a:avLst>
          </a:prstGeom>
          <a:solidFill>
            <a:srgbClr val="FFFFFF"/>
          </a:solidFill>
          <a:ln w="15875">
            <a:solidFill>
              <a:srgbClr val="6B5DD3"/>
            </a:solidFill>
            <a:prstDash val="solid"/>
          </a:ln>
          <a:effectLst/>
        </p:spPr>
        <p:txBody>
          <a:bodyPr lIns="91440" tIns="45720" rIns="91440" bIns="45720" anchor="ctr"/>
          <a:lstStyle/>
          <a:p>
            <a:endParaRPr lang="en-US" sz="1200" dirty="0">
              <a:latin typeface="Myriad for Rabobank"/>
            </a:endParaRPr>
          </a:p>
          <a:p>
            <a:r>
              <a:rPr lang="en-US" sz="1200" dirty="0">
                <a:latin typeface="Myriad for Rabobank"/>
              </a:rPr>
              <a:t>Developed in C# - Abhay</a:t>
            </a:r>
          </a:p>
          <a:p>
            <a:r>
              <a:rPr lang="en-US" sz="1200" b="1" dirty="0">
                <a:solidFill>
                  <a:srgbClr val="363A3B"/>
                </a:solidFill>
                <a:latin typeface="Myriad for Rabobank"/>
              </a:rPr>
              <a:t>E2E to be planned – Ankur &amp; Abhi</a:t>
            </a:r>
          </a:p>
        </p:txBody>
      </p:sp>
      <p:sp>
        <p:nvSpPr>
          <p:cNvPr id="59" name="Shape 16">
            <a:extLst>
              <a:ext uri="{FF2B5EF4-FFF2-40B4-BE49-F238E27FC236}">
                <a16:creationId xmlns:a16="http://schemas.microsoft.com/office/drawing/2014/main" id="{D0101A1E-26D5-4C06-4D6D-0BA3DF4DE573}"/>
              </a:ext>
            </a:extLst>
          </p:cNvPr>
          <p:cNvSpPr/>
          <p:nvPr/>
        </p:nvSpPr>
        <p:spPr>
          <a:xfrm>
            <a:off x="3426127" y="5472080"/>
            <a:ext cx="2423160" cy="768539"/>
          </a:xfrm>
          <a:prstGeom prst="roundRect">
            <a:avLst>
              <a:gd name="adj" fmla="val 2752"/>
            </a:avLst>
          </a:prstGeom>
          <a:solidFill>
            <a:srgbClr val="FFFFFF"/>
          </a:solidFill>
          <a:ln w="15875">
            <a:solidFill>
              <a:srgbClr val="19A7CE"/>
            </a:solidFill>
            <a:prstDash val="solid"/>
          </a:ln>
          <a:effectLst/>
        </p:spPr>
        <p:txBody>
          <a:bodyPr anchor="ctr"/>
          <a:lstStyle/>
          <a:p>
            <a:r>
              <a:rPr lang="en-US" sz="1200">
                <a:latin typeface="Myriad for Rabobank"/>
              </a:rPr>
              <a:t>Under Development - Selvarani</a:t>
            </a:r>
          </a:p>
        </p:txBody>
      </p:sp>
      <p:sp>
        <p:nvSpPr>
          <p:cNvPr id="2" name="Text 0"/>
          <p:cNvSpPr/>
          <p:nvPr/>
        </p:nvSpPr>
        <p:spPr>
          <a:xfrm>
            <a:off x="530352" y="320040"/>
            <a:ext cx="1828800" cy="201168"/>
          </a:xfrm>
          <a:prstGeom prst="rect">
            <a:avLst/>
          </a:prstGeom>
          <a:noFill/>
          <a:ln/>
        </p:spPr>
        <p:txBody>
          <a:bodyPr wrap="square" lIns="0" tIns="0" rIns="0" bIns="0" rtlCol="0" anchor="ctr"/>
          <a:lstStyle/>
          <a:p>
            <a:pPr marL="0" indent="0">
              <a:buNone/>
            </a:pPr>
            <a:r>
              <a:rPr lang="en-US" sz="1050" b="1" kern="0" spc="140">
                <a:solidFill>
                  <a:srgbClr val="0F6CBD"/>
                </a:solidFill>
                <a:latin typeface="Myriad for Rabobank"/>
              </a:rPr>
              <a:t>STRATEGY</a:t>
            </a:r>
            <a:endParaRPr lang="en-US" sz="1050">
              <a:latin typeface="Myriad for Rabobank"/>
            </a:endParaRPr>
          </a:p>
        </p:txBody>
      </p:sp>
      <p:sp>
        <p:nvSpPr>
          <p:cNvPr id="3" name="Text 1"/>
          <p:cNvSpPr/>
          <p:nvPr/>
        </p:nvSpPr>
        <p:spPr>
          <a:xfrm>
            <a:off x="530352" y="566928"/>
            <a:ext cx="10972800" cy="475488"/>
          </a:xfrm>
          <a:prstGeom prst="rect">
            <a:avLst/>
          </a:prstGeom>
          <a:noFill/>
          <a:ln/>
        </p:spPr>
        <p:txBody>
          <a:bodyPr wrap="square" lIns="0" tIns="0" rIns="0" bIns="0" rtlCol="0" anchor="ctr"/>
          <a:lstStyle/>
          <a:p>
            <a:pPr marL="0" indent="0">
              <a:buNone/>
            </a:pPr>
            <a:r>
              <a:rPr lang="en-US" sz="2800" b="1">
                <a:solidFill>
                  <a:srgbClr val="17324D"/>
                </a:solidFill>
                <a:latin typeface="Myriad for Rabobank"/>
              </a:rPr>
              <a:t>Four stages, one gated lifecycle</a:t>
            </a:r>
            <a:endParaRPr lang="en-US" sz="2800">
              <a:latin typeface="Myriad for Rabobank"/>
            </a:endParaRPr>
          </a:p>
        </p:txBody>
      </p:sp>
      <p:sp>
        <p:nvSpPr>
          <p:cNvPr id="4" name="Text 2"/>
          <p:cNvSpPr/>
          <p:nvPr/>
        </p:nvSpPr>
        <p:spPr>
          <a:xfrm>
            <a:off x="530352" y="1069848"/>
            <a:ext cx="10972800" cy="329184"/>
          </a:xfrm>
          <a:prstGeom prst="rect">
            <a:avLst/>
          </a:prstGeom>
          <a:noFill/>
          <a:ln/>
        </p:spPr>
        <p:txBody>
          <a:bodyPr wrap="square" lIns="0" tIns="0" rIns="0" bIns="0" rtlCol="0" anchor="ctr"/>
          <a:lstStyle/>
          <a:p>
            <a:pPr marL="0" indent="0">
              <a:buNone/>
            </a:pPr>
            <a:r>
              <a:rPr lang="en-US" sz="1400" dirty="0">
                <a:solidFill>
                  <a:srgbClr val="64748B"/>
                </a:solidFill>
                <a:latin typeface="Myriad for Rabobank"/>
              </a:rPr>
              <a:t>A portfolio can advance only when the preceding quality gate has passed</a:t>
            </a:r>
            <a:endParaRPr lang="en-US" sz="1400" dirty="0">
              <a:latin typeface="Myriad for Rabobank"/>
            </a:endParaRPr>
          </a:p>
        </p:txBody>
      </p:sp>
      <p:sp>
        <p:nvSpPr>
          <p:cNvPr id="5" name="Shape 3"/>
          <p:cNvSpPr/>
          <p:nvPr/>
        </p:nvSpPr>
        <p:spPr>
          <a:xfrm>
            <a:off x="2971800" y="2656074"/>
            <a:ext cx="347472" cy="1"/>
          </a:xfrm>
          <a:prstGeom prst="line">
            <a:avLst/>
          </a:prstGeom>
          <a:noFill/>
          <a:ln w="17145">
            <a:solidFill>
              <a:srgbClr val="0F6CBD"/>
            </a:solidFill>
            <a:prstDash val="solid"/>
            <a:headEnd type="none"/>
            <a:tailEnd type="triangle"/>
          </a:ln>
        </p:spPr>
        <p:txBody>
          <a:bodyPr/>
          <a:lstStyle/>
          <a:p>
            <a:endParaRPr lang="en-US" sz="2000">
              <a:latin typeface="Myriad for Rabobank"/>
            </a:endParaRPr>
          </a:p>
        </p:txBody>
      </p:sp>
      <p:sp>
        <p:nvSpPr>
          <p:cNvPr id="6" name="Shape 4"/>
          <p:cNvSpPr/>
          <p:nvPr/>
        </p:nvSpPr>
        <p:spPr>
          <a:xfrm>
            <a:off x="5852160" y="2656074"/>
            <a:ext cx="347472" cy="1"/>
          </a:xfrm>
          <a:prstGeom prst="line">
            <a:avLst/>
          </a:prstGeom>
          <a:noFill/>
          <a:ln w="17145">
            <a:solidFill>
              <a:srgbClr val="19A7CE"/>
            </a:solidFill>
            <a:prstDash val="solid"/>
            <a:headEnd type="none"/>
            <a:tailEnd type="triangle"/>
          </a:ln>
        </p:spPr>
        <p:txBody>
          <a:bodyPr/>
          <a:lstStyle/>
          <a:p>
            <a:endParaRPr lang="en-US" sz="2000">
              <a:latin typeface="Myriad for Rabobank"/>
            </a:endParaRPr>
          </a:p>
        </p:txBody>
      </p:sp>
      <p:sp>
        <p:nvSpPr>
          <p:cNvPr id="7" name="Shape 5"/>
          <p:cNvSpPr/>
          <p:nvPr/>
        </p:nvSpPr>
        <p:spPr>
          <a:xfrm>
            <a:off x="8732520" y="2656074"/>
            <a:ext cx="347472" cy="1"/>
          </a:xfrm>
          <a:prstGeom prst="line">
            <a:avLst/>
          </a:prstGeom>
          <a:noFill/>
          <a:ln w="17145">
            <a:solidFill>
              <a:srgbClr val="6B5DD3"/>
            </a:solidFill>
            <a:prstDash val="solid"/>
            <a:headEnd type="none"/>
            <a:tailEnd type="triangle"/>
          </a:ln>
        </p:spPr>
        <p:txBody>
          <a:bodyPr/>
          <a:lstStyle/>
          <a:p>
            <a:endParaRPr lang="en-US" sz="2000">
              <a:latin typeface="Myriad for Rabobank"/>
            </a:endParaRPr>
          </a:p>
        </p:txBody>
      </p:sp>
      <p:sp>
        <p:nvSpPr>
          <p:cNvPr id="8" name="Shape 6"/>
          <p:cNvSpPr/>
          <p:nvPr/>
        </p:nvSpPr>
        <p:spPr>
          <a:xfrm>
            <a:off x="548640" y="1552063"/>
            <a:ext cx="941832" cy="292608"/>
          </a:xfrm>
          <a:prstGeom prst="roundRect">
            <a:avLst>
              <a:gd name="adj" fmla="val 18750"/>
            </a:avLst>
          </a:prstGeom>
          <a:solidFill>
            <a:srgbClr val="0F6CBD"/>
          </a:solidFill>
          <a:ln w="12700">
            <a:solidFill>
              <a:srgbClr val="0F6CBD"/>
            </a:solidFill>
            <a:prstDash val="solid"/>
          </a:ln>
        </p:spPr>
        <p:txBody>
          <a:bodyPr/>
          <a:lstStyle/>
          <a:p>
            <a:endParaRPr lang="en-US" sz="2000">
              <a:latin typeface="Myriad for Rabobank"/>
            </a:endParaRPr>
          </a:p>
        </p:txBody>
      </p:sp>
      <p:sp>
        <p:nvSpPr>
          <p:cNvPr id="9" name="Text 7"/>
          <p:cNvSpPr/>
          <p:nvPr/>
        </p:nvSpPr>
        <p:spPr>
          <a:xfrm>
            <a:off x="621792" y="1633322"/>
            <a:ext cx="795528" cy="128016"/>
          </a:xfrm>
          <a:prstGeom prst="rect">
            <a:avLst/>
          </a:prstGeom>
          <a:noFill/>
          <a:ln/>
        </p:spPr>
        <p:txBody>
          <a:bodyPr wrap="square" lIns="0" tIns="0" rIns="0" bIns="0" rtlCol="0" anchor="ctr"/>
          <a:lstStyle/>
          <a:p>
            <a:pPr marL="0" indent="0" algn="ctr">
              <a:buNone/>
            </a:pPr>
            <a:r>
              <a:rPr lang="en-US" sz="1000" b="1">
                <a:solidFill>
                  <a:srgbClr val="FFFFFF"/>
                </a:solidFill>
                <a:latin typeface="Myriad for Rabobank"/>
              </a:rPr>
              <a:t>STAGE 1</a:t>
            </a:r>
            <a:endParaRPr lang="en-US" sz="1000">
              <a:latin typeface="Myriad for Rabobank"/>
            </a:endParaRPr>
          </a:p>
        </p:txBody>
      </p:sp>
      <p:sp>
        <p:nvSpPr>
          <p:cNvPr id="10" name="Shape 8"/>
          <p:cNvSpPr/>
          <p:nvPr/>
        </p:nvSpPr>
        <p:spPr>
          <a:xfrm>
            <a:off x="548640" y="1860546"/>
            <a:ext cx="2423160" cy="1993392"/>
          </a:xfrm>
          <a:prstGeom prst="roundRect">
            <a:avLst>
              <a:gd name="adj" fmla="val 2752"/>
            </a:avLst>
          </a:prstGeom>
          <a:solidFill>
            <a:srgbClr val="FFFFFF"/>
          </a:solidFill>
          <a:ln w="15875">
            <a:solidFill>
              <a:srgbClr val="0F6CBD"/>
            </a:solidFill>
            <a:prstDash val="solid"/>
          </a:ln>
          <a:effectLst>
            <a:outerShdw blurRad="25400" dist="12700" dir="2700000" algn="bl" rotWithShape="0">
              <a:srgbClr val="000000">
                <a:alpha val="16000"/>
              </a:srgbClr>
            </a:outerShdw>
          </a:effectLst>
        </p:spPr>
        <p:txBody>
          <a:bodyPr/>
          <a:lstStyle/>
          <a:p>
            <a:endParaRPr lang="en-US" sz="2000">
              <a:latin typeface="Myriad for Rabobank"/>
            </a:endParaRPr>
          </a:p>
        </p:txBody>
      </p:sp>
      <p:sp>
        <p:nvSpPr>
          <p:cNvPr id="11" name="Shape 9"/>
          <p:cNvSpPr/>
          <p:nvPr/>
        </p:nvSpPr>
        <p:spPr>
          <a:xfrm>
            <a:off x="548640" y="1860546"/>
            <a:ext cx="73152" cy="1993392"/>
          </a:xfrm>
          <a:prstGeom prst="rect">
            <a:avLst/>
          </a:prstGeom>
          <a:solidFill>
            <a:srgbClr val="0F6CBD"/>
          </a:solidFill>
          <a:ln w="12700">
            <a:solidFill>
              <a:srgbClr val="0F6CBD"/>
            </a:solidFill>
            <a:prstDash val="solid"/>
          </a:ln>
        </p:spPr>
        <p:txBody>
          <a:bodyPr/>
          <a:lstStyle/>
          <a:p>
            <a:endParaRPr lang="en-US" sz="2000">
              <a:latin typeface="Myriad for Rabobank"/>
            </a:endParaRPr>
          </a:p>
        </p:txBody>
      </p:sp>
      <p:sp>
        <p:nvSpPr>
          <p:cNvPr id="12" name="Text 10"/>
          <p:cNvSpPr/>
          <p:nvPr/>
        </p:nvSpPr>
        <p:spPr>
          <a:xfrm>
            <a:off x="713232" y="1988562"/>
            <a:ext cx="2148840" cy="228600"/>
          </a:xfrm>
          <a:prstGeom prst="rect">
            <a:avLst/>
          </a:prstGeom>
          <a:noFill/>
          <a:ln/>
        </p:spPr>
        <p:txBody>
          <a:bodyPr wrap="square" lIns="0" tIns="0" rIns="0" bIns="0" rtlCol="0" anchor="ctr"/>
          <a:lstStyle/>
          <a:p>
            <a:pPr marL="0" indent="0">
              <a:buNone/>
            </a:pPr>
            <a:r>
              <a:rPr lang="en-US" sz="1400" b="1">
                <a:solidFill>
                  <a:srgbClr val="17324D"/>
                </a:solidFill>
                <a:latin typeface="Myriad for Rabobank"/>
              </a:rPr>
              <a:t>Schema conformance</a:t>
            </a:r>
            <a:endParaRPr lang="en-US" sz="1400">
              <a:latin typeface="Myriad for Rabobank"/>
            </a:endParaRPr>
          </a:p>
        </p:txBody>
      </p:sp>
      <p:sp>
        <p:nvSpPr>
          <p:cNvPr id="13" name="Text 11"/>
          <p:cNvSpPr/>
          <p:nvPr/>
        </p:nvSpPr>
        <p:spPr>
          <a:xfrm>
            <a:off x="713232" y="2218410"/>
            <a:ext cx="2148840" cy="1487978"/>
          </a:xfrm>
          <a:prstGeom prst="rect">
            <a:avLst/>
          </a:prstGeom>
          <a:noFill/>
          <a:ln/>
        </p:spPr>
        <p:txBody>
          <a:bodyPr wrap="square" lIns="254" tIns="254" rIns="254" bIns="254" rtlCol="0" anchor="t">
            <a:noAutofit/>
          </a:bodyPr>
          <a:lstStyle/>
          <a:p>
            <a:pPr marL="171450" indent="-171450">
              <a:buFont typeface="Arial" panose="020B0604020202020204" pitchFamily="34" charset="0"/>
              <a:buChar char="•"/>
            </a:pPr>
            <a:r>
              <a:rPr lang="en-US" sz="1200" dirty="0">
                <a:solidFill>
                  <a:srgbClr val="243447"/>
                </a:solidFill>
                <a:latin typeface="Myriad for Rabobank"/>
              </a:rPr>
              <a:t>Retrieve portfolio physical metadata from Collibra</a:t>
            </a:r>
          </a:p>
          <a:p>
            <a:pPr marL="171450" indent="-171450">
              <a:buFont typeface="Arial" panose="020B0604020202020204" pitchFamily="34" charset="0"/>
              <a:buChar char="•"/>
            </a:pPr>
            <a:endParaRPr lang="en-US" sz="1200" dirty="0">
              <a:solidFill>
                <a:srgbClr val="243447"/>
              </a:solidFill>
              <a:latin typeface="Myriad for Rabobank"/>
            </a:endParaRPr>
          </a:p>
          <a:p>
            <a:pPr marL="171450" indent="-171450">
              <a:buFont typeface="Arial" panose="020B0604020202020204" pitchFamily="34" charset="0"/>
              <a:buChar char="•"/>
            </a:pPr>
            <a:r>
              <a:rPr lang="en-US" sz="1200" dirty="0">
                <a:solidFill>
                  <a:srgbClr val="243447"/>
                </a:solidFill>
                <a:latin typeface="Myriad for Rabobank"/>
              </a:rPr>
              <a:t>Compare SQL queries for tables creation with data model</a:t>
            </a:r>
          </a:p>
          <a:p>
            <a:pPr marL="171450" indent="-171450">
              <a:buFont typeface="Arial" panose="020B0604020202020204" pitchFamily="34" charset="0"/>
              <a:buChar char="•"/>
            </a:pPr>
            <a:endParaRPr lang="en-US" sz="1200" dirty="0">
              <a:solidFill>
                <a:srgbClr val="243447"/>
              </a:solidFill>
              <a:latin typeface="Myriad for Rabobank"/>
            </a:endParaRPr>
          </a:p>
          <a:p>
            <a:pPr marL="171450" indent="-171450">
              <a:buFont typeface="Arial" panose="020B0604020202020204" pitchFamily="34" charset="0"/>
              <a:buChar char="•"/>
            </a:pPr>
            <a:r>
              <a:rPr lang="en-US" sz="1200" dirty="0">
                <a:solidFill>
                  <a:srgbClr val="243447"/>
                </a:solidFill>
                <a:latin typeface="Myriad for Rabobank"/>
              </a:rPr>
              <a:t>Compare both to the latest MDR</a:t>
            </a:r>
            <a:endParaRPr lang="en-US" sz="1200" dirty="0">
              <a:latin typeface="Myriad for Rabobank"/>
            </a:endParaRPr>
          </a:p>
        </p:txBody>
      </p:sp>
      <p:sp>
        <p:nvSpPr>
          <p:cNvPr id="14" name="Shape 12"/>
          <p:cNvSpPr/>
          <p:nvPr/>
        </p:nvSpPr>
        <p:spPr>
          <a:xfrm>
            <a:off x="548640" y="3919675"/>
            <a:ext cx="2423160" cy="457200"/>
          </a:xfrm>
          <a:prstGeom prst="chevron">
            <a:avLst/>
          </a:prstGeom>
          <a:solidFill>
            <a:srgbClr val="0F6CBD"/>
          </a:solidFill>
          <a:ln w="12700">
            <a:solidFill>
              <a:srgbClr val="0F6CBD"/>
            </a:solidFill>
            <a:prstDash val="solid"/>
          </a:ln>
        </p:spPr>
        <p:txBody>
          <a:bodyPr/>
          <a:lstStyle/>
          <a:p>
            <a:endParaRPr lang="en-US" sz="2000">
              <a:latin typeface="Myriad for Rabobank"/>
            </a:endParaRPr>
          </a:p>
        </p:txBody>
      </p:sp>
      <p:sp>
        <p:nvSpPr>
          <p:cNvPr id="15" name="Text 13"/>
          <p:cNvSpPr/>
          <p:nvPr/>
        </p:nvSpPr>
        <p:spPr>
          <a:xfrm>
            <a:off x="658368" y="4065979"/>
            <a:ext cx="2167128" cy="164592"/>
          </a:xfrm>
          <a:prstGeom prst="rect">
            <a:avLst/>
          </a:prstGeom>
          <a:noFill/>
          <a:ln/>
        </p:spPr>
        <p:txBody>
          <a:bodyPr wrap="square" lIns="0" tIns="0" rIns="0" bIns="0" rtlCol="0" anchor="ctr"/>
          <a:lstStyle/>
          <a:p>
            <a:pPr marL="0" indent="0" algn="ctr">
              <a:buNone/>
            </a:pPr>
            <a:r>
              <a:rPr lang="en-US" sz="1200" b="1">
                <a:solidFill>
                  <a:srgbClr val="FFFFFF"/>
                </a:solidFill>
                <a:latin typeface="Myriad for Rabobank"/>
              </a:rPr>
              <a:t>Schema aligned</a:t>
            </a:r>
            <a:endParaRPr lang="en-US" sz="1200">
              <a:latin typeface="Myriad for Rabobank"/>
            </a:endParaRPr>
          </a:p>
        </p:txBody>
      </p:sp>
      <p:sp>
        <p:nvSpPr>
          <p:cNvPr id="16" name="Shape 14"/>
          <p:cNvSpPr/>
          <p:nvPr/>
        </p:nvSpPr>
        <p:spPr>
          <a:xfrm>
            <a:off x="3429000" y="1552063"/>
            <a:ext cx="941832" cy="292608"/>
          </a:xfrm>
          <a:prstGeom prst="roundRect">
            <a:avLst>
              <a:gd name="adj" fmla="val 18750"/>
            </a:avLst>
          </a:prstGeom>
          <a:solidFill>
            <a:srgbClr val="19A7CE"/>
          </a:solidFill>
          <a:ln w="12700">
            <a:solidFill>
              <a:srgbClr val="19A7CE"/>
            </a:solidFill>
            <a:prstDash val="solid"/>
          </a:ln>
        </p:spPr>
        <p:txBody>
          <a:bodyPr/>
          <a:lstStyle/>
          <a:p>
            <a:endParaRPr lang="en-US" sz="2000">
              <a:latin typeface="Myriad for Rabobank"/>
            </a:endParaRPr>
          </a:p>
        </p:txBody>
      </p:sp>
      <p:sp>
        <p:nvSpPr>
          <p:cNvPr id="17" name="Text 15"/>
          <p:cNvSpPr/>
          <p:nvPr/>
        </p:nvSpPr>
        <p:spPr>
          <a:xfrm>
            <a:off x="3502152" y="1633322"/>
            <a:ext cx="795528" cy="128016"/>
          </a:xfrm>
          <a:prstGeom prst="rect">
            <a:avLst/>
          </a:prstGeom>
          <a:noFill/>
          <a:ln/>
        </p:spPr>
        <p:txBody>
          <a:bodyPr wrap="square" lIns="0" tIns="0" rIns="0" bIns="0" rtlCol="0" anchor="ctr"/>
          <a:lstStyle/>
          <a:p>
            <a:pPr marL="0" indent="0" algn="ctr">
              <a:buNone/>
            </a:pPr>
            <a:r>
              <a:rPr lang="en-US" sz="1000" b="1">
                <a:solidFill>
                  <a:srgbClr val="FFFFFF"/>
                </a:solidFill>
                <a:latin typeface="Myriad for Rabobank"/>
              </a:rPr>
              <a:t>STAGE 2</a:t>
            </a:r>
            <a:endParaRPr lang="en-US" sz="1000">
              <a:latin typeface="Myriad for Rabobank"/>
            </a:endParaRPr>
          </a:p>
        </p:txBody>
      </p:sp>
      <p:sp>
        <p:nvSpPr>
          <p:cNvPr id="18" name="Shape 16"/>
          <p:cNvSpPr/>
          <p:nvPr/>
        </p:nvSpPr>
        <p:spPr>
          <a:xfrm>
            <a:off x="3429000" y="1860546"/>
            <a:ext cx="2423160" cy="1993392"/>
          </a:xfrm>
          <a:prstGeom prst="roundRect">
            <a:avLst>
              <a:gd name="adj" fmla="val 2752"/>
            </a:avLst>
          </a:prstGeom>
          <a:solidFill>
            <a:srgbClr val="FFFFFF"/>
          </a:solidFill>
          <a:ln w="15875">
            <a:solidFill>
              <a:srgbClr val="19A7CE"/>
            </a:solidFill>
            <a:prstDash val="solid"/>
          </a:ln>
          <a:effectLst/>
        </p:spPr>
        <p:txBody>
          <a:bodyPr/>
          <a:lstStyle/>
          <a:p>
            <a:endParaRPr lang="en-US" sz="2000">
              <a:latin typeface="Myriad for Rabobank"/>
            </a:endParaRPr>
          </a:p>
        </p:txBody>
      </p:sp>
      <p:sp>
        <p:nvSpPr>
          <p:cNvPr id="19" name="Shape 17"/>
          <p:cNvSpPr/>
          <p:nvPr/>
        </p:nvSpPr>
        <p:spPr>
          <a:xfrm>
            <a:off x="3429000" y="1860546"/>
            <a:ext cx="73152" cy="1993392"/>
          </a:xfrm>
          <a:prstGeom prst="rect">
            <a:avLst/>
          </a:prstGeom>
          <a:solidFill>
            <a:srgbClr val="19A7CE"/>
          </a:solidFill>
          <a:ln w="12700">
            <a:solidFill>
              <a:srgbClr val="19A7CE"/>
            </a:solidFill>
            <a:prstDash val="solid"/>
          </a:ln>
        </p:spPr>
        <p:txBody>
          <a:bodyPr/>
          <a:lstStyle/>
          <a:p>
            <a:endParaRPr lang="en-US" sz="2000">
              <a:latin typeface="Myriad for Rabobank"/>
            </a:endParaRPr>
          </a:p>
        </p:txBody>
      </p:sp>
      <p:sp>
        <p:nvSpPr>
          <p:cNvPr id="20" name="Text 18"/>
          <p:cNvSpPr/>
          <p:nvPr/>
        </p:nvSpPr>
        <p:spPr>
          <a:xfrm>
            <a:off x="3593592" y="1988562"/>
            <a:ext cx="2148840" cy="228600"/>
          </a:xfrm>
          <a:prstGeom prst="rect">
            <a:avLst/>
          </a:prstGeom>
          <a:noFill/>
          <a:ln/>
        </p:spPr>
        <p:txBody>
          <a:bodyPr wrap="square" lIns="0" tIns="0" rIns="0" bIns="0" rtlCol="0" anchor="ctr"/>
          <a:lstStyle/>
          <a:p>
            <a:pPr marL="0" indent="0">
              <a:buNone/>
            </a:pPr>
            <a:r>
              <a:rPr lang="en-US" sz="1400" b="1">
                <a:solidFill>
                  <a:srgbClr val="17324D"/>
                </a:solidFill>
                <a:latin typeface="Myriad for Rabobank"/>
              </a:rPr>
              <a:t>Data ingestion</a:t>
            </a:r>
            <a:endParaRPr lang="en-US" sz="1400">
              <a:latin typeface="Myriad for Rabobank"/>
            </a:endParaRPr>
          </a:p>
        </p:txBody>
      </p:sp>
      <p:sp>
        <p:nvSpPr>
          <p:cNvPr id="21" name="Text 19"/>
          <p:cNvSpPr/>
          <p:nvPr/>
        </p:nvSpPr>
        <p:spPr>
          <a:xfrm>
            <a:off x="3563287" y="2271087"/>
            <a:ext cx="2148840" cy="1330036"/>
          </a:xfrm>
          <a:prstGeom prst="rect">
            <a:avLst/>
          </a:prstGeom>
          <a:noFill/>
          <a:ln/>
        </p:spPr>
        <p:txBody>
          <a:bodyPr wrap="square" lIns="254" tIns="254" rIns="254" bIns="254" rtlCol="0" anchor="t">
            <a:noAutofit/>
          </a:bodyPr>
          <a:lstStyle/>
          <a:p>
            <a:pPr marL="171450" indent="-171450">
              <a:buFont typeface="Arial" panose="020B0604020202020204" pitchFamily="34" charset="0"/>
              <a:buChar char="•"/>
            </a:pPr>
            <a:r>
              <a:rPr lang="en-US" sz="1200" dirty="0">
                <a:solidFill>
                  <a:srgbClr val="243447"/>
                </a:solidFill>
                <a:latin typeface="Myriad for Rabobank"/>
              </a:rPr>
              <a:t>Read CADDI SQL from portfolio ADLS container</a:t>
            </a:r>
          </a:p>
          <a:p>
            <a:pPr marL="171450" indent="-171450">
              <a:buFont typeface="Arial" panose="020B0604020202020204" pitchFamily="34" charset="0"/>
              <a:buChar char="•"/>
            </a:pPr>
            <a:endParaRPr lang="en-US" sz="1200" dirty="0">
              <a:solidFill>
                <a:srgbClr val="243447"/>
              </a:solidFill>
              <a:latin typeface="Myriad for Rabobank"/>
            </a:endParaRPr>
          </a:p>
          <a:p>
            <a:pPr marL="171450" indent="-171450">
              <a:buFont typeface="Arial" panose="020B0604020202020204" pitchFamily="34" charset="0"/>
              <a:buChar char="•"/>
            </a:pPr>
            <a:r>
              <a:rPr lang="en-US" sz="1200" dirty="0">
                <a:solidFill>
                  <a:srgbClr val="243447"/>
                </a:solidFill>
                <a:latin typeface="Myriad for Rabobank"/>
              </a:rPr>
              <a:t>Execute controlled comparisons against GRFD2</a:t>
            </a:r>
          </a:p>
          <a:p>
            <a:pPr marL="171450" indent="-171450">
              <a:buFont typeface="Arial" panose="020B0604020202020204" pitchFamily="34" charset="0"/>
              <a:buChar char="•"/>
            </a:pPr>
            <a:endParaRPr lang="en-US" sz="1200" dirty="0">
              <a:solidFill>
                <a:srgbClr val="243447"/>
              </a:solidFill>
              <a:latin typeface="Myriad for Rabobank"/>
            </a:endParaRPr>
          </a:p>
          <a:p>
            <a:pPr marL="171450" indent="-171450">
              <a:buFont typeface="Arial" panose="020B0604020202020204" pitchFamily="34" charset="0"/>
              <a:buChar char="•"/>
            </a:pPr>
            <a:r>
              <a:rPr lang="en-US" sz="1200" dirty="0">
                <a:solidFill>
                  <a:srgbClr val="243447"/>
                </a:solidFill>
                <a:latin typeface="Myriad for Rabobank"/>
              </a:rPr>
              <a:t>Reconcile counts, keys and hashes</a:t>
            </a:r>
            <a:endParaRPr lang="en-US" sz="1200" dirty="0">
              <a:latin typeface="Myriad for Rabobank"/>
            </a:endParaRPr>
          </a:p>
        </p:txBody>
      </p:sp>
      <p:sp>
        <p:nvSpPr>
          <p:cNvPr id="22" name="Shape 20"/>
          <p:cNvSpPr/>
          <p:nvPr/>
        </p:nvSpPr>
        <p:spPr>
          <a:xfrm>
            <a:off x="3429000" y="3919675"/>
            <a:ext cx="2423160" cy="457200"/>
          </a:xfrm>
          <a:prstGeom prst="chevron">
            <a:avLst/>
          </a:prstGeom>
          <a:solidFill>
            <a:srgbClr val="19A7CE"/>
          </a:solidFill>
          <a:ln w="12700">
            <a:solidFill>
              <a:srgbClr val="19A7CE"/>
            </a:solidFill>
            <a:prstDash val="solid"/>
          </a:ln>
        </p:spPr>
        <p:txBody>
          <a:bodyPr/>
          <a:lstStyle/>
          <a:p>
            <a:endParaRPr lang="en-US" sz="2000">
              <a:latin typeface="Myriad for Rabobank"/>
            </a:endParaRPr>
          </a:p>
        </p:txBody>
      </p:sp>
      <p:sp>
        <p:nvSpPr>
          <p:cNvPr id="23" name="Text 21"/>
          <p:cNvSpPr/>
          <p:nvPr/>
        </p:nvSpPr>
        <p:spPr>
          <a:xfrm>
            <a:off x="3538728" y="4065979"/>
            <a:ext cx="2167128" cy="164592"/>
          </a:xfrm>
          <a:prstGeom prst="rect">
            <a:avLst/>
          </a:prstGeom>
          <a:noFill/>
          <a:ln/>
        </p:spPr>
        <p:txBody>
          <a:bodyPr wrap="square" lIns="0" tIns="0" rIns="0" bIns="0" rtlCol="0" anchor="ctr"/>
          <a:lstStyle/>
          <a:p>
            <a:pPr marL="0" indent="0" algn="ctr">
              <a:buNone/>
            </a:pPr>
            <a:r>
              <a:rPr lang="en-US" sz="1200" b="1">
                <a:solidFill>
                  <a:srgbClr val="FFFFFF"/>
                </a:solidFill>
                <a:latin typeface="Myriad for Rabobank"/>
              </a:rPr>
              <a:t>Data reconciled</a:t>
            </a:r>
            <a:endParaRPr lang="en-US" sz="1200">
              <a:latin typeface="Myriad for Rabobank"/>
            </a:endParaRPr>
          </a:p>
        </p:txBody>
      </p:sp>
      <p:sp>
        <p:nvSpPr>
          <p:cNvPr id="24" name="Shape 22"/>
          <p:cNvSpPr/>
          <p:nvPr/>
        </p:nvSpPr>
        <p:spPr>
          <a:xfrm>
            <a:off x="6309360" y="1552063"/>
            <a:ext cx="941832" cy="292608"/>
          </a:xfrm>
          <a:prstGeom prst="roundRect">
            <a:avLst>
              <a:gd name="adj" fmla="val 18750"/>
            </a:avLst>
          </a:prstGeom>
          <a:solidFill>
            <a:srgbClr val="6B5DD3"/>
          </a:solidFill>
          <a:ln w="12700">
            <a:solidFill>
              <a:srgbClr val="6B5DD3"/>
            </a:solidFill>
            <a:prstDash val="solid"/>
          </a:ln>
        </p:spPr>
        <p:txBody>
          <a:bodyPr/>
          <a:lstStyle/>
          <a:p>
            <a:endParaRPr lang="en-US" sz="2000">
              <a:latin typeface="Myriad for Rabobank"/>
            </a:endParaRPr>
          </a:p>
        </p:txBody>
      </p:sp>
      <p:sp>
        <p:nvSpPr>
          <p:cNvPr id="25" name="Text 23"/>
          <p:cNvSpPr/>
          <p:nvPr/>
        </p:nvSpPr>
        <p:spPr>
          <a:xfrm>
            <a:off x="6382512" y="1633322"/>
            <a:ext cx="795528" cy="128016"/>
          </a:xfrm>
          <a:prstGeom prst="rect">
            <a:avLst/>
          </a:prstGeom>
          <a:noFill/>
          <a:ln/>
        </p:spPr>
        <p:txBody>
          <a:bodyPr wrap="square" lIns="0" tIns="0" rIns="0" bIns="0" rtlCol="0" anchor="ctr"/>
          <a:lstStyle/>
          <a:p>
            <a:pPr marL="0" indent="0" algn="ctr">
              <a:buNone/>
            </a:pPr>
            <a:r>
              <a:rPr lang="en-US" sz="1000" b="1">
                <a:solidFill>
                  <a:srgbClr val="FFFFFF"/>
                </a:solidFill>
                <a:latin typeface="Myriad for Rabobank"/>
              </a:rPr>
              <a:t>STAGE 3</a:t>
            </a:r>
            <a:endParaRPr lang="en-US" sz="1000">
              <a:latin typeface="Myriad for Rabobank"/>
            </a:endParaRPr>
          </a:p>
        </p:txBody>
      </p:sp>
      <p:sp>
        <p:nvSpPr>
          <p:cNvPr id="26" name="Shape 24"/>
          <p:cNvSpPr/>
          <p:nvPr/>
        </p:nvSpPr>
        <p:spPr>
          <a:xfrm>
            <a:off x="6309360" y="1860546"/>
            <a:ext cx="2423160" cy="1993392"/>
          </a:xfrm>
          <a:prstGeom prst="roundRect">
            <a:avLst>
              <a:gd name="adj" fmla="val 2752"/>
            </a:avLst>
          </a:prstGeom>
          <a:solidFill>
            <a:srgbClr val="FFFFFF"/>
          </a:solidFill>
          <a:ln w="15875">
            <a:solidFill>
              <a:srgbClr val="6B5DD3"/>
            </a:solidFill>
            <a:prstDash val="solid"/>
          </a:ln>
          <a:effectLst/>
        </p:spPr>
        <p:txBody>
          <a:bodyPr/>
          <a:lstStyle/>
          <a:p>
            <a:endParaRPr lang="en-US" sz="2000">
              <a:latin typeface="Myriad for Rabobank"/>
            </a:endParaRPr>
          </a:p>
        </p:txBody>
      </p:sp>
      <p:sp>
        <p:nvSpPr>
          <p:cNvPr id="27" name="Shape 25"/>
          <p:cNvSpPr/>
          <p:nvPr/>
        </p:nvSpPr>
        <p:spPr>
          <a:xfrm>
            <a:off x="6309360" y="1860546"/>
            <a:ext cx="73152" cy="1993392"/>
          </a:xfrm>
          <a:prstGeom prst="rect">
            <a:avLst/>
          </a:prstGeom>
          <a:solidFill>
            <a:srgbClr val="6B5DD3"/>
          </a:solidFill>
          <a:ln w="12700">
            <a:solidFill>
              <a:srgbClr val="6B5DD3"/>
            </a:solidFill>
            <a:prstDash val="solid"/>
          </a:ln>
        </p:spPr>
        <p:txBody>
          <a:bodyPr/>
          <a:lstStyle/>
          <a:p>
            <a:endParaRPr lang="en-US" sz="2000">
              <a:latin typeface="Myriad for Rabobank"/>
            </a:endParaRPr>
          </a:p>
        </p:txBody>
      </p:sp>
      <p:sp>
        <p:nvSpPr>
          <p:cNvPr id="28" name="Text 26"/>
          <p:cNvSpPr/>
          <p:nvPr/>
        </p:nvSpPr>
        <p:spPr>
          <a:xfrm>
            <a:off x="6473952" y="1988562"/>
            <a:ext cx="2148840" cy="228600"/>
          </a:xfrm>
          <a:prstGeom prst="rect">
            <a:avLst/>
          </a:prstGeom>
          <a:noFill/>
          <a:ln/>
        </p:spPr>
        <p:txBody>
          <a:bodyPr wrap="square" lIns="0" tIns="0" rIns="0" bIns="0" rtlCol="0" anchor="ctr"/>
          <a:lstStyle/>
          <a:p>
            <a:pPr marL="0" indent="0">
              <a:buNone/>
            </a:pPr>
            <a:r>
              <a:rPr lang="en-US" sz="1400" b="1">
                <a:solidFill>
                  <a:srgbClr val="17324D"/>
                </a:solidFill>
                <a:latin typeface="Myriad for Rabobank"/>
              </a:rPr>
              <a:t>Batch execution &amp; output</a:t>
            </a:r>
            <a:endParaRPr lang="en-US" sz="1400">
              <a:latin typeface="Myriad for Rabobank"/>
            </a:endParaRPr>
          </a:p>
        </p:txBody>
      </p:sp>
      <p:sp>
        <p:nvSpPr>
          <p:cNvPr id="29" name="Text 27"/>
          <p:cNvSpPr/>
          <p:nvPr/>
        </p:nvSpPr>
        <p:spPr>
          <a:xfrm>
            <a:off x="6483096" y="2219484"/>
            <a:ext cx="2148840" cy="1330036"/>
          </a:xfrm>
          <a:prstGeom prst="rect">
            <a:avLst/>
          </a:prstGeom>
          <a:noFill/>
          <a:ln/>
        </p:spPr>
        <p:txBody>
          <a:bodyPr wrap="square" lIns="254" tIns="254" rIns="254" bIns="254" rtlCol="0" anchor="t">
            <a:noAutofit/>
          </a:bodyPr>
          <a:lstStyle/>
          <a:p>
            <a:pPr marL="171450" indent="-171450">
              <a:buFont typeface="Arial" panose="020B0604020202020204" pitchFamily="34" charset="0"/>
              <a:buChar char="•"/>
            </a:pPr>
            <a:r>
              <a:rPr lang="en-US" sz="900" dirty="0">
                <a:solidFill>
                  <a:srgbClr val="243447"/>
                </a:solidFill>
                <a:latin typeface="Myriad for Rabobank"/>
              </a:rPr>
              <a:t>Trigger End to End batches through </a:t>
            </a:r>
            <a:r>
              <a:rPr lang="en-US" sz="900" dirty="0" err="1">
                <a:solidFill>
                  <a:srgbClr val="243447"/>
                </a:solidFill>
                <a:latin typeface="Myriad for Rabobank"/>
              </a:rPr>
              <a:t>nBridge</a:t>
            </a:r>
            <a:r>
              <a:rPr lang="en-US" sz="900" dirty="0">
                <a:solidFill>
                  <a:srgbClr val="243447"/>
                </a:solidFill>
                <a:latin typeface="Myriad for Rabobank"/>
              </a:rPr>
              <a:t> UI /API</a:t>
            </a:r>
            <a:endParaRPr lang="en-US" sz="900" b="1" dirty="0">
              <a:solidFill>
                <a:srgbClr val="243447"/>
              </a:solidFill>
              <a:latin typeface="Myriad for Rabobank"/>
            </a:endParaRPr>
          </a:p>
          <a:p>
            <a:pPr marL="171450" indent="-171450">
              <a:buFont typeface="Arial" panose="020B0604020202020204" pitchFamily="34" charset="0"/>
              <a:buChar char="•"/>
            </a:pPr>
            <a:endParaRPr lang="en-US" sz="900" dirty="0">
              <a:solidFill>
                <a:srgbClr val="243447"/>
              </a:solidFill>
              <a:latin typeface="Myriad for Rabobank"/>
            </a:endParaRPr>
          </a:p>
          <a:p>
            <a:pPr marL="171450" indent="-171450">
              <a:buFont typeface="Arial" panose="020B0604020202020204" pitchFamily="34" charset="0"/>
              <a:buChar char="•"/>
            </a:pPr>
            <a:r>
              <a:rPr lang="en-US" sz="900" dirty="0">
                <a:solidFill>
                  <a:srgbClr val="243447"/>
                </a:solidFill>
                <a:latin typeface="Myriad for Rabobank"/>
              </a:rPr>
              <a:t>Poll workflow state using Logic App API’s</a:t>
            </a:r>
          </a:p>
          <a:p>
            <a:pPr marL="171450" indent="-171450">
              <a:buFont typeface="Arial" panose="020B0604020202020204" pitchFamily="34" charset="0"/>
              <a:buChar char="•"/>
            </a:pPr>
            <a:endParaRPr lang="en-US" sz="900" dirty="0">
              <a:solidFill>
                <a:srgbClr val="243447"/>
              </a:solidFill>
              <a:latin typeface="Myriad for Rabobank"/>
            </a:endParaRPr>
          </a:p>
          <a:p>
            <a:pPr marL="171450" indent="-171450">
              <a:buFont typeface="Arial" panose="020B0604020202020204" pitchFamily="34" charset="0"/>
              <a:buChar char="•"/>
            </a:pPr>
            <a:r>
              <a:rPr lang="en-US" sz="900" dirty="0">
                <a:solidFill>
                  <a:srgbClr val="243447"/>
                </a:solidFill>
                <a:latin typeface="Myriad for Rabobank"/>
              </a:rPr>
              <a:t>Validate if Calculator Output data gets stored in portfolio tables</a:t>
            </a:r>
          </a:p>
          <a:p>
            <a:pPr marL="171450" indent="-171450">
              <a:buFont typeface="Arial" panose="020B0604020202020204" pitchFamily="34" charset="0"/>
              <a:buChar char="•"/>
            </a:pPr>
            <a:endParaRPr lang="en-US" sz="900" dirty="0">
              <a:solidFill>
                <a:srgbClr val="243447"/>
              </a:solidFill>
              <a:latin typeface="Myriad for Rabobank"/>
            </a:endParaRPr>
          </a:p>
          <a:p>
            <a:pPr marL="171450" indent="-171450">
              <a:buFont typeface="Arial" panose="020B0604020202020204" pitchFamily="34" charset="0"/>
              <a:buChar char="•"/>
            </a:pPr>
            <a:r>
              <a:rPr lang="en-US" sz="900" dirty="0">
                <a:solidFill>
                  <a:srgbClr val="FF0000"/>
                </a:solidFill>
                <a:latin typeface="Myriad for Rabobank"/>
              </a:rPr>
              <a:t>Check if we can validate output data with expected output values?</a:t>
            </a:r>
          </a:p>
        </p:txBody>
      </p:sp>
      <p:sp>
        <p:nvSpPr>
          <p:cNvPr id="30" name="Shape 28"/>
          <p:cNvSpPr/>
          <p:nvPr/>
        </p:nvSpPr>
        <p:spPr>
          <a:xfrm>
            <a:off x="6309360" y="3919675"/>
            <a:ext cx="2423160" cy="457200"/>
          </a:xfrm>
          <a:prstGeom prst="chevron">
            <a:avLst/>
          </a:prstGeom>
          <a:solidFill>
            <a:srgbClr val="6B5DD3"/>
          </a:solidFill>
          <a:ln w="12700">
            <a:solidFill>
              <a:srgbClr val="6B5DD3"/>
            </a:solidFill>
            <a:prstDash val="solid"/>
          </a:ln>
        </p:spPr>
        <p:txBody>
          <a:bodyPr/>
          <a:lstStyle/>
          <a:p>
            <a:endParaRPr lang="en-US" sz="2000">
              <a:latin typeface="Myriad for Rabobank"/>
            </a:endParaRPr>
          </a:p>
        </p:txBody>
      </p:sp>
      <p:sp>
        <p:nvSpPr>
          <p:cNvPr id="31" name="Text 29"/>
          <p:cNvSpPr/>
          <p:nvPr/>
        </p:nvSpPr>
        <p:spPr>
          <a:xfrm>
            <a:off x="6419088" y="4065979"/>
            <a:ext cx="2167128" cy="164592"/>
          </a:xfrm>
          <a:prstGeom prst="rect">
            <a:avLst/>
          </a:prstGeom>
          <a:noFill/>
          <a:ln/>
        </p:spPr>
        <p:txBody>
          <a:bodyPr wrap="square" lIns="0" tIns="0" rIns="0" bIns="0" rtlCol="0" anchor="ctr"/>
          <a:lstStyle/>
          <a:p>
            <a:pPr marL="0" indent="0" algn="ctr">
              <a:buNone/>
            </a:pPr>
            <a:r>
              <a:rPr lang="en-US" sz="1200" b="1">
                <a:solidFill>
                  <a:srgbClr val="FFFFFF"/>
                </a:solidFill>
                <a:latin typeface="Myriad for Rabobank"/>
              </a:rPr>
              <a:t>Run + Output verified</a:t>
            </a:r>
            <a:endParaRPr lang="en-US" sz="1200">
              <a:latin typeface="Myriad for Rabobank"/>
            </a:endParaRPr>
          </a:p>
        </p:txBody>
      </p:sp>
      <p:sp>
        <p:nvSpPr>
          <p:cNvPr id="32" name="Shape 30"/>
          <p:cNvSpPr/>
          <p:nvPr/>
        </p:nvSpPr>
        <p:spPr>
          <a:xfrm>
            <a:off x="9189720" y="1552063"/>
            <a:ext cx="941832" cy="292608"/>
          </a:xfrm>
          <a:prstGeom prst="roundRect">
            <a:avLst>
              <a:gd name="adj" fmla="val 18750"/>
            </a:avLst>
          </a:prstGeom>
          <a:solidFill>
            <a:srgbClr val="138A72"/>
          </a:solidFill>
          <a:ln w="12700">
            <a:solidFill>
              <a:srgbClr val="138A72"/>
            </a:solidFill>
            <a:prstDash val="solid"/>
          </a:ln>
        </p:spPr>
        <p:txBody>
          <a:bodyPr/>
          <a:lstStyle/>
          <a:p>
            <a:endParaRPr lang="en-US" sz="2000">
              <a:latin typeface="Myriad for Rabobank"/>
            </a:endParaRPr>
          </a:p>
        </p:txBody>
      </p:sp>
      <p:sp>
        <p:nvSpPr>
          <p:cNvPr id="33" name="Text 31"/>
          <p:cNvSpPr/>
          <p:nvPr/>
        </p:nvSpPr>
        <p:spPr>
          <a:xfrm>
            <a:off x="9262872" y="1633322"/>
            <a:ext cx="795528" cy="128016"/>
          </a:xfrm>
          <a:prstGeom prst="rect">
            <a:avLst/>
          </a:prstGeom>
          <a:noFill/>
          <a:ln/>
        </p:spPr>
        <p:txBody>
          <a:bodyPr wrap="square" lIns="0" tIns="0" rIns="0" bIns="0" rtlCol="0" anchor="ctr"/>
          <a:lstStyle/>
          <a:p>
            <a:pPr marL="0" indent="0" algn="ctr">
              <a:buNone/>
            </a:pPr>
            <a:r>
              <a:rPr lang="en-US" sz="1000" b="1">
                <a:solidFill>
                  <a:srgbClr val="FFFFFF"/>
                </a:solidFill>
                <a:latin typeface="Myriad for Rabobank"/>
              </a:rPr>
              <a:t>STAGE 4</a:t>
            </a:r>
            <a:endParaRPr lang="en-US" sz="1000">
              <a:latin typeface="Myriad for Rabobank"/>
            </a:endParaRPr>
          </a:p>
        </p:txBody>
      </p:sp>
      <p:sp>
        <p:nvSpPr>
          <p:cNvPr id="34" name="Shape 32"/>
          <p:cNvSpPr/>
          <p:nvPr/>
        </p:nvSpPr>
        <p:spPr>
          <a:xfrm>
            <a:off x="9189720" y="1860546"/>
            <a:ext cx="2423160" cy="1993392"/>
          </a:xfrm>
          <a:prstGeom prst="roundRect">
            <a:avLst>
              <a:gd name="adj" fmla="val 2752"/>
            </a:avLst>
          </a:prstGeom>
          <a:solidFill>
            <a:srgbClr val="FFFFFF"/>
          </a:solidFill>
          <a:ln w="15875">
            <a:solidFill>
              <a:srgbClr val="138A72"/>
            </a:solidFill>
            <a:prstDash val="solid"/>
          </a:ln>
          <a:effectLst/>
        </p:spPr>
        <p:txBody>
          <a:bodyPr/>
          <a:lstStyle/>
          <a:p>
            <a:endParaRPr lang="en-US" sz="2000">
              <a:latin typeface="Myriad for Rabobank"/>
            </a:endParaRPr>
          </a:p>
        </p:txBody>
      </p:sp>
      <p:sp>
        <p:nvSpPr>
          <p:cNvPr id="35" name="Shape 33"/>
          <p:cNvSpPr/>
          <p:nvPr/>
        </p:nvSpPr>
        <p:spPr>
          <a:xfrm>
            <a:off x="9189720" y="1860546"/>
            <a:ext cx="73152" cy="1993392"/>
          </a:xfrm>
          <a:prstGeom prst="rect">
            <a:avLst/>
          </a:prstGeom>
          <a:solidFill>
            <a:srgbClr val="138A72"/>
          </a:solidFill>
          <a:ln w="12700">
            <a:solidFill>
              <a:srgbClr val="138A72"/>
            </a:solidFill>
            <a:prstDash val="solid"/>
          </a:ln>
        </p:spPr>
        <p:txBody>
          <a:bodyPr/>
          <a:lstStyle/>
          <a:p>
            <a:endParaRPr lang="en-US" sz="2000">
              <a:latin typeface="Myriad for Rabobank"/>
            </a:endParaRPr>
          </a:p>
        </p:txBody>
      </p:sp>
      <p:sp>
        <p:nvSpPr>
          <p:cNvPr id="36" name="Text 34"/>
          <p:cNvSpPr/>
          <p:nvPr/>
        </p:nvSpPr>
        <p:spPr>
          <a:xfrm>
            <a:off x="9354312" y="1988562"/>
            <a:ext cx="2148840" cy="228600"/>
          </a:xfrm>
          <a:prstGeom prst="rect">
            <a:avLst/>
          </a:prstGeom>
          <a:noFill/>
          <a:ln/>
        </p:spPr>
        <p:txBody>
          <a:bodyPr wrap="square" lIns="0" tIns="0" rIns="0" bIns="0" rtlCol="0" anchor="ctr"/>
          <a:lstStyle/>
          <a:p>
            <a:pPr marL="0" indent="0">
              <a:buNone/>
            </a:pPr>
            <a:r>
              <a:rPr lang="en-US" sz="1400" b="1">
                <a:solidFill>
                  <a:srgbClr val="17324D"/>
                </a:solidFill>
                <a:latin typeface="Myriad for Rabobank"/>
              </a:rPr>
              <a:t>Performance testing</a:t>
            </a:r>
            <a:endParaRPr lang="en-US" sz="1400">
              <a:latin typeface="Myriad for Rabobank"/>
            </a:endParaRPr>
          </a:p>
        </p:txBody>
      </p:sp>
      <p:sp>
        <p:nvSpPr>
          <p:cNvPr id="37" name="Text 35"/>
          <p:cNvSpPr/>
          <p:nvPr/>
        </p:nvSpPr>
        <p:spPr>
          <a:xfrm>
            <a:off x="9354312" y="2365960"/>
            <a:ext cx="2148840" cy="1330036"/>
          </a:xfrm>
          <a:prstGeom prst="rect">
            <a:avLst/>
          </a:prstGeom>
          <a:noFill/>
          <a:ln/>
        </p:spPr>
        <p:txBody>
          <a:bodyPr wrap="square" lIns="254" tIns="254" rIns="254" bIns="254" rtlCol="0" anchor="t">
            <a:normAutofit/>
          </a:bodyPr>
          <a:lstStyle/>
          <a:p>
            <a:pPr marL="171450" indent="-171450">
              <a:buFont typeface="Arial" panose="020B0604020202020204" pitchFamily="34" charset="0"/>
              <a:buChar char="•"/>
            </a:pPr>
            <a:r>
              <a:rPr lang="en-US" sz="1200" dirty="0">
                <a:solidFill>
                  <a:srgbClr val="243447"/>
                </a:solidFill>
                <a:latin typeface="Myriad for Rabobank"/>
              </a:rPr>
              <a:t>Run database-level workload tests across data volumes</a:t>
            </a:r>
          </a:p>
          <a:p>
            <a:pPr marL="171450" indent="-171450">
              <a:buFont typeface="Arial" panose="020B0604020202020204" pitchFamily="34" charset="0"/>
              <a:buChar char="•"/>
            </a:pPr>
            <a:endParaRPr lang="en-US" sz="1200" dirty="0">
              <a:solidFill>
                <a:srgbClr val="243447"/>
              </a:solidFill>
              <a:latin typeface="Myriad for Rabobank"/>
            </a:endParaRPr>
          </a:p>
          <a:p>
            <a:pPr marL="171450" indent="-171450">
              <a:buFont typeface="Arial" panose="020B0604020202020204" pitchFamily="34" charset="0"/>
              <a:buChar char="•"/>
            </a:pPr>
            <a:r>
              <a:rPr lang="en-US" sz="1200" dirty="0">
                <a:solidFill>
                  <a:srgbClr val="243447"/>
                </a:solidFill>
                <a:latin typeface="Myriad for Rabobank"/>
              </a:rPr>
              <a:t>Capture duration, throughput, resource use and regression thresholds</a:t>
            </a:r>
            <a:endParaRPr lang="en-US" sz="1200" dirty="0">
              <a:latin typeface="Myriad for Rabobank"/>
            </a:endParaRPr>
          </a:p>
        </p:txBody>
      </p:sp>
      <p:sp>
        <p:nvSpPr>
          <p:cNvPr id="38" name="Shape 36"/>
          <p:cNvSpPr/>
          <p:nvPr/>
        </p:nvSpPr>
        <p:spPr>
          <a:xfrm>
            <a:off x="9189720" y="3919675"/>
            <a:ext cx="2423160" cy="457200"/>
          </a:xfrm>
          <a:prstGeom prst="chevron">
            <a:avLst/>
          </a:prstGeom>
          <a:solidFill>
            <a:srgbClr val="138A72"/>
          </a:solidFill>
          <a:ln w="12700">
            <a:solidFill>
              <a:srgbClr val="138A72"/>
            </a:solidFill>
            <a:prstDash val="solid"/>
          </a:ln>
        </p:spPr>
        <p:txBody>
          <a:bodyPr/>
          <a:lstStyle/>
          <a:p>
            <a:endParaRPr lang="en-US" sz="2000">
              <a:latin typeface="Myriad for Rabobank"/>
            </a:endParaRPr>
          </a:p>
        </p:txBody>
      </p:sp>
      <p:sp>
        <p:nvSpPr>
          <p:cNvPr id="39" name="Text 37"/>
          <p:cNvSpPr/>
          <p:nvPr/>
        </p:nvSpPr>
        <p:spPr>
          <a:xfrm>
            <a:off x="9299448" y="4065979"/>
            <a:ext cx="2167128" cy="164592"/>
          </a:xfrm>
          <a:prstGeom prst="rect">
            <a:avLst/>
          </a:prstGeom>
          <a:noFill/>
          <a:ln/>
        </p:spPr>
        <p:txBody>
          <a:bodyPr wrap="square" lIns="0" tIns="0" rIns="0" bIns="0" rtlCol="0" anchor="ctr"/>
          <a:lstStyle/>
          <a:p>
            <a:pPr marL="0" indent="0" algn="ctr">
              <a:buNone/>
            </a:pPr>
            <a:r>
              <a:rPr lang="en-US" sz="1200" b="1">
                <a:solidFill>
                  <a:srgbClr val="FFFFFF"/>
                </a:solidFill>
                <a:latin typeface="Myriad for Rabobank"/>
              </a:rPr>
              <a:t>Scalability validated</a:t>
            </a:r>
            <a:endParaRPr lang="en-US" sz="1200">
              <a:latin typeface="Myriad for Rabobank"/>
            </a:endParaRPr>
          </a:p>
        </p:txBody>
      </p:sp>
      <p:sp>
        <p:nvSpPr>
          <p:cNvPr id="40" name="Shape 38"/>
          <p:cNvSpPr/>
          <p:nvPr/>
        </p:nvSpPr>
        <p:spPr>
          <a:xfrm>
            <a:off x="521900" y="4438107"/>
            <a:ext cx="10944676" cy="384770"/>
          </a:xfrm>
          <a:prstGeom prst="roundRect">
            <a:avLst>
              <a:gd name="adj" fmla="val 6098"/>
            </a:avLst>
          </a:prstGeom>
          <a:solidFill>
            <a:srgbClr val="EAF2FB"/>
          </a:solidFill>
          <a:ln w="12700">
            <a:solidFill>
              <a:srgbClr val="B8D3EE"/>
            </a:solidFill>
            <a:prstDash val="solid"/>
          </a:ln>
        </p:spPr>
        <p:txBody>
          <a:bodyPr/>
          <a:lstStyle/>
          <a:p>
            <a:endParaRPr lang="en-US" sz="2000">
              <a:latin typeface="Myriad for Rabobank"/>
            </a:endParaRPr>
          </a:p>
        </p:txBody>
      </p:sp>
      <p:sp>
        <p:nvSpPr>
          <p:cNvPr id="41" name="Text 39"/>
          <p:cNvSpPr/>
          <p:nvPr/>
        </p:nvSpPr>
        <p:spPr>
          <a:xfrm>
            <a:off x="656644" y="4544570"/>
            <a:ext cx="1417320" cy="164592"/>
          </a:xfrm>
          <a:prstGeom prst="rect">
            <a:avLst/>
          </a:prstGeom>
          <a:noFill/>
          <a:ln/>
        </p:spPr>
        <p:txBody>
          <a:bodyPr wrap="square" lIns="0" tIns="0" rIns="0" bIns="0" rtlCol="0" anchor="ctr"/>
          <a:lstStyle/>
          <a:p>
            <a:pPr marL="0" indent="0">
              <a:buNone/>
            </a:pPr>
            <a:r>
              <a:rPr lang="en-US" sz="1200" b="1">
                <a:solidFill>
                  <a:srgbClr val="0F6CBD"/>
                </a:solidFill>
                <a:latin typeface="Myriad for Rabobank"/>
              </a:rPr>
              <a:t>CONTROL PRINCIPLE</a:t>
            </a:r>
            <a:endParaRPr lang="en-US" sz="1200">
              <a:latin typeface="Myriad for Rabobank"/>
            </a:endParaRPr>
          </a:p>
        </p:txBody>
      </p:sp>
      <p:sp>
        <p:nvSpPr>
          <p:cNvPr id="42" name="Text 40"/>
          <p:cNvSpPr/>
          <p:nvPr/>
        </p:nvSpPr>
        <p:spPr>
          <a:xfrm>
            <a:off x="2220268" y="4526282"/>
            <a:ext cx="8183880" cy="201168"/>
          </a:xfrm>
          <a:prstGeom prst="rect">
            <a:avLst/>
          </a:prstGeom>
          <a:noFill/>
          <a:ln/>
        </p:spPr>
        <p:txBody>
          <a:bodyPr wrap="square" lIns="0" tIns="0" rIns="0" bIns="0" rtlCol="0" anchor="ctr"/>
          <a:lstStyle/>
          <a:p>
            <a:pPr marL="0" indent="0">
              <a:buNone/>
            </a:pPr>
            <a:r>
              <a:rPr lang="en-US" sz="1400" b="1">
                <a:solidFill>
                  <a:srgbClr val="17324D"/>
                </a:solidFill>
                <a:latin typeface="Myriad for Rabobank"/>
              </a:rPr>
              <a:t>Fail fast, preserve evidence, and stop downstream execution when a quality gate fails</a:t>
            </a:r>
            <a:endParaRPr lang="en-US" sz="1400">
              <a:latin typeface="Myriad for Rabobank"/>
            </a:endParaRPr>
          </a:p>
        </p:txBody>
      </p:sp>
      <p:sp>
        <p:nvSpPr>
          <p:cNvPr id="43" name="Slide Number Placeholder 0"/>
          <p:cNvSpPr>
            <a:spLocks noGrp="1"/>
          </p:cNvSpPr>
          <p:nvPr>
            <p:ph type="sldNum" sz="quarter" idx="12"/>
          </p:nvPr>
        </p:nvSpPr>
        <p:spPr>
          <a:prstGeom prst="rect">
            <a:avLst/>
          </a:prstGeom>
          <a:extLst>
            <a:ext uri="{C572A759-6A51-4108-AA02-DFA0A04FC94B}">
              <ma14:wrappingTextBoxFlag xmlns="" xmlns:ma14="http://schemas.microsoft.com/office/mac/drawingml/2011/main" val="0"/>
            </a:ext>
          </a:extLst>
        </p:spPr>
        <p:txBody>
          <a:bodyPr/>
          <a:lstStyle>
            <a:lvl1pPr>
              <a:defRPr sz="800">
                <a:solidFill>
                  <a:srgbClr val="6C7A89"/>
                </a:solidFill>
                <a:latin typeface="Aptos"/>
                <a:ea typeface="Aptos"/>
                <a:cs typeface="Aptos"/>
              </a:defRPr>
            </a:lvl1pPr>
          </a:lstStyle>
          <a:p>
            <a:pPr algn="r"/>
            <a:fld id="{F7021451-1387-4CA6-816F-3879F97B5CBC}" type="slidenum">
              <a:rPr lang="en-US" sz="900" b="0">
                <a:latin typeface="Myriad for Rabobank"/>
              </a:rPr>
              <a:t>7</a:t>
            </a:fld>
            <a:endParaRPr lang="en-US" sz="900">
              <a:latin typeface="Myriad for Rabobank"/>
            </a:endParaRPr>
          </a:p>
        </p:txBody>
      </p:sp>
      <p:sp>
        <p:nvSpPr>
          <p:cNvPr id="45" name="Rectangle: Rounded Corners 44">
            <a:extLst>
              <a:ext uri="{FF2B5EF4-FFF2-40B4-BE49-F238E27FC236}">
                <a16:creationId xmlns:a16="http://schemas.microsoft.com/office/drawing/2014/main" id="{C3D99CBA-C429-6722-78E6-6D3B6A1C59D1}"/>
              </a:ext>
            </a:extLst>
          </p:cNvPr>
          <p:cNvSpPr/>
          <p:nvPr/>
        </p:nvSpPr>
        <p:spPr>
          <a:xfrm>
            <a:off x="561410" y="5013980"/>
            <a:ext cx="11161198" cy="1368312"/>
          </a:xfrm>
          <a:prstGeom prst="roundRect">
            <a:avLst/>
          </a:prstGeom>
          <a:no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atin typeface="Myriad for Rabobank"/>
            </a:endParaRPr>
          </a:p>
        </p:txBody>
      </p:sp>
      <p:sp>
        <p:nvSpPr>
          <p:cNvPr id="47" name="Shape 8">
            <a:extLst>
              <a:ext uri="{FF2B5EF4-FFF2-40B4-BE49-F238E27FC236}">
                <a16:creationId xmlns:a16="http://schemas.microsoft.com/office/drawing/2014/main" id="{48D4090E-2F70-E07D-2207-F5CCEB502A5C}"/>
              </a:ext>
            </a:extLst>
          </p:cNvPr>
          <p:cNvSpPr/>
          <p:nvPr/>
        </p:nvSpPr>
        <p:spPr>
          <a:xfrm>
            <a:off x="728548" y="5427443"/>
            <a:ext cx="2243251" cy="768539"/>
          </a:xfrm>
          <a:prstGeom prst="roundRect">
            <a:avLst>
              <a:gd name="adj" fmla="val 2752"/>
            </a:avLst>
          </a:prstGeom>
          <a:solidFill>
            <a:srgbClr val="FFFFFF"/>
          </a:solidFill>
          <a:ln w="15875">
            <a:solidFill>
              <a:srgbClr val="0F6CBD"/>
            </a:solidFill>
            <a:prstDash val="solid"/>
          </a:ln>
          <a:effectLst>
            <a:outerShdw blurRad="25400" dist="12700" dir="2700000" algn="bl" rotWithShape="0">
              <a:srgbClr val="000000">
                <a:alpha val="16000"/>
              </a:srgbClr>
            </a:outerShdw>
          </a:effectLst>
        </p:spPr>
        <p:txBody>
          <a:bodyPr anchor="b"/>
          <a:lstStyle/>
          <a:p>
            <a:r>
              <a:rPr lang="en-US" sz="1200">
                <a:latin typeface="Myriad for Rabobank"/>
              </a:rPr>
              <a:t>Under Development – Ankur &amp; Abhi</a:t>
            </a:r>
          </a:p>
        </p:txBody>
      </p:sp>
      <p:sp>
        <p:nvSpPr>
          <p:cNvPr id="49" name="Shape 30">
            <a:extLst>
              <a:ext uri="{FF2B5EF4-FFF2-40B4-BE49-F238E27FC236}">
                <a16:creationId xmlns:a16="http://schemas.microsoft.com/office/drawing/2014/main" id="{BD6DBD6B-8FB7-F9EA-7BEA-51D6F108117E}"/>
              </a:ext>
            </a:extLst>
          </p:cNvPr>
          <p:cNvSpPr/>
          <p:nvPr/>
        </p:nvSpPr>
        <p:spPr>
          <a:xfrm>
            <a:off x="730484" y="5075159"/>
            <a:ext cx="941832" cy="292608"/>
          </a:xfrm>
          <a:prstGeom prst="roundRect">
            <a:avLst>
              <a:gd name="adj" fmla="val 18750"/>
            </a:avLst>
          </a:prstGeom>
          <a:solidFill>
            <a:srgbClr val="138A72"/>
          </a:solidFill>
          <a:ln w="12700">
            <a:solidFill>
              <a:srgbClr val="138A72"/>
            </a:solidFill>
            <a:prstDash val="solid"/>
          </a:ln>
        </p:spPr>
        <p:txBody>
          <a:bodyPr anchor="ctr"/>
          <a:lstStyle/>
          <a:p>
            <a:r>
              <a:rPr lang="en-US" sz="1400" b="1">
                <a:solidFill>
                  <a:schemeClr val="bg1"/>
                </a:solidFill>
                <a:latin typeface="Myriad for Rabobank"/>
              </a:rPr>
              <a:t>Status</a:t>
            </a:r>
          </a:p>
        </p:txBody>
      </p:sp>
      <p:sp>
        <p:nvSpPr>
          <p:cNvPr id="51" name="Shape 6">
            <a:extLst>
              <a:ext uri="{FF2B5EF4-FFF2-40B4-BE49-F238E27FC236}">
                <a16:creationId xmlns:a16="http://schemas.microsoft.com/office/drawing/2014/main" id="{127368BA-24B0-5A02-FF16-2A1D0CC9C27F}"/>
              </a:ext>
            </a:extLst>
          </p:cNvPr>
          <p:cNvSpPr/>
          <p:nvPr/>
        </p:nvSpPr>
        <p:spPr>
          <a:xfrm>
            <a:off x="718292" y="5431069"/>
            <a:ext cx="941832" cy="292608"/>
          </a:xfrm>
          <a:prstGeom prst="roundRect">
            <a:avLst>
              <a:gd name="adj" fmla="val 18750"/>
            </a:avLst>
          </a:prstGeom>
          <a:solidFill>
            <a:srgbClr val="0F6CBD"/>
          </a:solidFill>
          <a:ln w="12700">
            <a:solidFill>
              <a:srgbClr val="0F6CBD"/>
            </a:solidFill>
            <a:prstDash val="solid"/>
          </a:ln>
        </p:spPr>
        <p:txBody>
          <a:bodyPr/>
          <a:lstStyle/>
          <a:p>
            <a:endParaRPr lang="en-US" sz="2000">
              <a:latin typeface="Myriad for Rabobank"/>
            </a:endParaRPr>
          </a:p>
        </p:txBody>
      </p:sp>
      <p:sp>
        <p:nvSpPr>
          <p:cNvPr id="53" name="Text 7">
            <a:extLst>
              <a:ext uri="{FF2B5EF4-FFF2-40B4-BE49-F238E27FC236}">
                <a16:creationId xmlns:a16="http://schemas.microsoft.com/office/drawing/2014/main" id="{1A32FD66-D23E-E2E5-67A7-FE200F30A77E}"/>
              </a:ext>
            </a:extLst>
          </p:cNvPr>
          <p:cNvSpPr/>
          <p:nvPr/>
        </p:nvSpPr>
        <p:spPr>
          <a:xfrm>
            <a:off x="774192" y="5512328"/>
            <a:ext cx="795528" cy="128016"/>
          </a:xfrm>
          <a:prstGeom prst="rect">
            <a:avLst/>
          </a:prstGeom>
          <a:noFill/>
          <a:ln/>
        </p:spPr>
        <p:txBody>
          <a:bodyPr wrap="square" lIns="0" tIns="0" rIns="0" bIns="0" rtlCol="0" anchor="ctr"/>
          <a:lstStyle/>
          <a:p>
            <a:pPr marL="0" indent="0" algn="ctr">
              <a:buNone/>
            </a:pPr>
            <a:r>
              <a:rPr lang="en-US" sz="1000" b="1">
                <a:solidFill>
                  <a:srgbClr val="FFFFFF"/>
                </a:solidFill>
                <a:latin typeface="Myriad for Rabobank"/>
              </a:rPr>
              <a:t>STAGE 1</a:t>
            </a:r>
            <a:endParaRPr lang="en-US" sz="1000">
              <a:latin typeface="Myriad for Rabobank"/>
            </a:endParaRPr>
          </a:p>
        </p:txBody>
      </p:sp>
      <p:sp>
        <p:nvSpPr>
          <p:cNvPr id="55" name="Shape 14">
            <a:extLst>
              <a:ext uri="{FF2B5EF4-FFF2-40B4-BE49-F238E27FC236}">
                <a16:creationId xmlns:a16="http://schemas.microsoft.com/office/drawing/2014/main" id="{1FB13330-A0E3-028F-1707-03F66AFA276D}"/>
              </a:ext>
            </a:extLst>
          </p:cNvPr>
          <p:cNvSpPr/>
          <p:nvPr/>
        </p:nvSpPr>
        <p:spPr>
          <a:xfrm>
            <a:off x="3426127" y="5465573"/>
            <a:ext cx="941832" cy="292608"/>
          </a:xfrm>
          <a:prstGeom prst="roundRect">
            <a:avLst>
              <a:gd name="adj" fmla="val 18750"/>
            </a:avLst>
          </a:prstGeom>
          <a:solidFill>
            <a:srgbClr val="19A7CE"/>
          </a:solidFill>
          <a:ln w="12700">
            <a:solidFill>
              <a:srgbClr val="19A7CE"/>
            </a:solidFill>
            <a:prstDash val="solid"/>
          </a:ln>
        </p:spPr>
        <p:txBody>
          <a:bodyPr/>
          <a:lstStyle/>
          <a:p>
            <a:endParaRPr lang="en-US" sz="2000">
              <a:latin typeface="Myriad for Rabobank"/>
            </a:endParaRPr>
          </a:p>
        </p:txBody>
      </p:sp>
      <p:sp>
        <p:nvSpPr>
          <p:cNvPr id="57" name="Text 15">
            <a:extLst>
              <a:ext uri="{FF2B5EF4-FFF2-40B4-BE49-F238E27FC236}">
                <a16:creationId xmlns:a16="http://schemas.microsoft.com/office/drawing/2014/main" id="{09E0E9E6-6302-FE9C-67EA-783C8C0BC6CA}"/>
              </a:ext>
            </a:extLst>
          </p:cNvPr>
          <p:cNvSpPr/>
          <p:nvPr/>
        </p:nvSpPr>
        <p:spPr>
          <a:xfrm>
            <a:off x="3499279" y="5546832"/>
            <a:ext cx="795528" cy="128016"/>
          </a:xfrm>
          <a:prstGeom prst="rect">
            <a:avLst/>
          </a:prstGeom>
          <a:noFill/>
          <a:ln/>
        </p:spPr>
        <p:txBody>
          <a:bodyPr wrap="square" lIns="0" tIns="0" rIns="0" bIns="0" rtlCol="0" anchor="ctr"/>
          <a:lstStyle/>
          <a:p>
            <a:pPr marL="0" indent="0" algn="ctr">
              <a:buNone/>
            </a:pPr>
            <a:r>
              <a:rPr lang="en-US" sz="1000" b="1">
                <a:solidFill>
                  <a:srgbClr val="FFFFFF"/>
                </a:solidFill>
                <a:latin typeface="Myriad for Rabobank"/>
              </a:rPr>
              <a:t>STAGE 2</a:t>
            </a:r>
            <a:endParaRPr lang="en-US" sz="1000">
              <a:latin typeface="Myriad for Rabobank"/>
            </a:endParaRPr>
          </a:p>
        </p:txBody>
      </p:sp>
      <p:sp>
        <p:nvSpPr>
          <p:cNvPr id="61" name="Shape 22">
            <a:extLst>
              <a:ext uri="{FF2B5EF4-FFF2-40B4-BE49-F238E27FC236}">
                <a16:creationId xmlns:a16="http://schemas.microsoft.com/office/drawing/2014/main" id="{05B5FEF8-95F8-2731-A562-39579B090993}"/>
              </a:ext>
            </a:extLst>
          </p:cNvPr>
          <p:cNvSpPr/>
          <p:nvPr/>
        </p:nvSpPr>
        <p:spPr>
          <a:xfrm>
            <a:off x="6315114" y="5456942"/>
            <a:ext cx="941832" cy="292608"/>
          </a:xfrm>
          <a:prstGeom prst="roundRect">
            <a:avLst>
              <a:gd name="adj" fmla="val 18750"/>
            </a:avLst>
          </a:prstGeom>
          <a:solidFill>
            <a:srgbClr val="6B5DD3"/>
          </a:solidFill>
          <a:ln w="12700">
            <a:solidFill>
              <a:srgbClr val="6B5DD3"/>
            </a:solidFill>
            <a:prstDash val="solid"/>
          </a:ln>
        </p:spPr>
        <p:txBody>
          <a:bodyPr/>
          <a:lstStyle/>
          <a:p>
            <a:endParaRPr lang="en-US" sz="2000">
              <a:latin typeface="Myriad for Rabobank"/>
            </a:endParaRPr>
          </a:p>
        </p:txBody>
      </p:sp>
      <p:sp>
        <p:nvSpPr>
          <p:cNvPr id="63" name="Text 23">
            <a:extLst>
              <a:ext uri="{FF2B5EF4-FFF2-40B4-BE49-F238E27FC236}">
                <a16:creationId xmlns:a16="http://schemas.microsoft.com/office/drawing/2014/main" id="{E366A350-377B-C3F1-4441-8B8476C0DB9D}"/>
              </a:ext>
            </a:extLst>
          </p:cNvPr>
          <p:cNvSpPr/>
          <p:nvPr/>
        </p:nvSpPr>
        <p:spPr>
          <a:xfrm>
            <a:off x="6388266" y="5538201"/>
            <a:ext cx="795528" cy="128016"/>
          </a:xfrm>
          <a:prstGeom prst="rect">
            <a:avLst/>
          </a:prstGeom>
          <a:noFill/>
          <a:ln/>
        </p:spPr>
        <p:txBody>
          <a:bodyPr wrap="square" lIns="0" tIns="0" rIns="0" bIns="0" rtlCol="0" anchor="ctr"/>
          <a:lstStyle/>
          <a:p>
            <a:pPr marL="0" indent="0" algn="ctr">
              <a:buNone/>
            </a:pPr>
            <a:r>
              <a:rPr lang="en-US" sz="1000" b="1">
                <a:solidFill>
                  <a:srgbClr val="FFFFFF"/>
                </a:solidFill>
                <a:latin typeface="Myriad for Rabobank"/>
              </a:rPr>
              <a:t>STAGE 3</a:t>
            </a:r>
            <a:endParaRPr lang="en-US" sz="1000">
              <a:latin typeface="Myriad for Rabobank"/>
            </a:endParaRPr>
          </a:p>
        </p:txBody>
      </p:sp>
      <p:sp>
        <p:nvSpPr>
          <p:cNvPr id="67" name="Shape 30">
            <a:extLst>
              <a:ext uri="{FF2B5EF4-FFF2-40B4-BE49-F238E27FC236}">
                <a16:creationId xmlns:a16="http://schemas.microsoft.com/office/drawing/2014/main" id="{FAE0C59C-4FBF-4166-75FC-7103B70A9E46}"/>
              </a:ext>
            </a:extLst>
          </p:cNvPr>
          <p:cNvSpPr/>
          <p:nvPr/>
        </p:nvSpPr>
        <p:spPr>
          <a:xfrm>
            <a:off x="9186850" y="5465573"/>
            <a:ext cx="941832" cy="292608"/>
          </a:xfrm>
          <a:prstGeom prst="roundRect">
            <a:avLst>
              <a:gd name="adj" fmla="val 18750"/>
            </a:avLst>
          </a:prstGeom>
          <a:solidFill>
            <a:srgbClr val="138A72"/>
          </a:solidFill>
          <a:ln w="12700">
            <a:solidFill>
              <a:srgbClr val="138A72"/>
            </a:solidFill>
            <a:prstDash val="solid"/>
          </a:ln>
        </p:spPr>
        <p:txBody>
          <a:bodyPr/>
          <a:lstStyle/>
          <a:p>
            <a:endParaRPr lang="en-US" sz="2000">
              <a:latin typeface="Myriad for Rabobank"/>
            </a:endParaRPr>
          </a:p>
        </p:txBody>
      </p:sp>
      <p:sp>
        <p:nvSpPr>
          <p:cNvPr id="69" name="Text 31">
            <a:extLst>
              <a:ext uri="{FF2B5EF4-FFF2-40B4-BE49-F238E27FC236}">
                <a16:creationId xmlns:a16="http://schemas.microsoft.com/office/drawing/2014/main" id="{10CE46EB-E67A-244F-D5D7-AD9BB52D71AE}"/>
              </a:ext>
            </a:extLst>
          </p:cNvPr>
          <p:cNvSpPr/>
          <p:nvPr/>
        </p:nvSpPr>
        <p:spPr>
          <a:xfrm>
            <a:off x="9260002" y="5546832"/>
            <a:ext cx="795528" cy="128016"/>
          </a:xfrm>
          <a:prstGeom prst="rect">
            <a:avLst/>
          </a:prstGeom>
          <a:noFill/>
          <a:ln/>
        </p:spPr>
        <p:txBody>
          <a:bodyPr wrap="square" lIns="0" tIns="0" rIns="0" bIns="0" rtlCol="0" anchor="ctr"/>
          <a:lstStyle/>
          <a:p>
            <a:pPr marL="0" indent="0" algn="ctr">
              <a:buNone/>
            </a:pPr>
            <a:r>
              <a:rPr lang="en-US" sz="1000" b="1">
                <a:solidFill>
                  <a:srgbClr val="FFFFFF"/>
                </a:solidFill>
                <a:latin typeface="Myriad for Rabobank"/>
              </a:rPr>
              <a:t>STAGE 4</a:t>
            </a:r>
            <a:endParaRPr lang="en-US" sz="1000">
              <a:latin typeface="Myriad for Rabobank"/>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347472" y="182880"/>
            <a:ext cx="2743200" cy="201168"/>
          </a:xfrm>
          <a:prstGeom prst="rect">
            <a:avLst/>
          </a:prstGeom>
          <a:noFill/>
          <a:ln/>
        </p:spPr>
        <p:txBody>
          <a:bodyPr wrap="square" lIns="0" tIns="0" rIns="0" bIns="0" rtlCol="0" anchor="ctr"/>
          <a:lstStyle/>
          <a:p>
            <a:pPr marL="0" indent="0">
              <a:buNone/>
            </a:pPr>
            <a:r>
              <a:rPr lang="en-US" sz="1000" b="1" kern="0" spc="180">
                <a:solidFill>
                  <a:srgbClr val="0868C9"/>
                </a:solidFill>
                <a:latin typeface="Myriad for Rabobank"/>
                <a:ea typeface="Aptos" pitchFamily="34" charset="-122"/>
                <a:cs typeface="Aptos" pitchFamily="34" charset="-120"/>
              </a:rPr>
              <a:t>TARGET ARCHITECTURE</a:t>
            </a:r>
            <a:endParaRPr lang="en-US" sz="1000">
              <a:latin typeface="Myriad for Rabobank"/>
            </a:endParaRPr>
          </a:p>
        </p:txBody>
      </p:sp>
      <p:sp>
        <p:nvSpPr>
          <p:cNvPr id="3" name="Text 1"/>
          <p:cNvSpPr/>
          <p:nvPr/>
        </p:nvSpPr>
        <p:spPr>
          <a:xfrm>
            <a:off x="347472" y="448056"/>
            <a:ext cx="11109960" cy="438912"/>
          </a:xfrm>
          <a:prstGeom prst="rect">
            <a:avLst/>
          </a:prstGeom>
          <a:noFill/>
          <a:ln/>
        </p:spPr>
        <p:txBody>
          <a:bodyPr wrap="square" lIns="0" tIns="0" rIns="0" bIns="0" rtlCol="0" anchor="ctr">
            <a:normAutofit/>
          </a:bodyPr>
          <a:lstStyle/>
          <a:p>
            <a:pPr marL="0" indent="0">
              <a:buNone/>
            </a:pPr>
            <a:r>
              <a:rPr lang="en-US" sz="2800" b="1">
                <a:solidFill>
                  <a:srgbClr val="1A3048"/>
                </a:solidFill>
                <a:latin typeface="Myriad for Rabobank"/>
                <a:ea typeface="Aptos Display" pitchFamily="34" charset="-122"/>
                <a:cs typeface="Aptos Display" pitchFamily="34" charset="-120"/>
              </a:rPr>
              <a:t>A centralized control plane with portfolio-specific adapters</a:t>
            </a:r>
            <a:endParaRPr lang="en-US" sz="2800">
              <a:latin typeface="Myriad for Rabobank"/>
            </a:endParaRPr>
          </a:p>
        </p:txBody>
      </p:sp>
      <p:sp>
        <p:nvSpPr>
          <p:cNvPr id="4" name="Text 2"/>
          <p:cNvSpPr/>
          <p:nvPr/>
        </p:nvSpPr>
        <p:spPr>
          <a:xfrm>
            <a:off x="347472" y="932688"/>
            <a:ext cx="9601200" cy="246888"/>
          </a:xfrm>
          <a:prstGeom prst="rect">
            <a:avLst/>
          </a:prstGeom>
          <a:noFill/>
          <a:ln/>
        </p:spPr>
        <p:txBody>
          <a:bodyPr wrap="square" lIns="0" tIns="0" rIns="0" bIns="0" rtlCol="0" anchor="ctr"/>
          <a:lstStyle/>
          <a:p>
            <a:pPr marL="0" indent="0">
              <a:buNone/>
            </a:pPr>
            <a:r>
              <a:rPr lang="en-US" sz="1400">
                <a:solidFill>
                  <a:srgbClr val="64748B"/>
                </a:solidFill>
                <a:latin typeface="Myriad for Rabobank"/>
                <a:ea typeface="Aptos" pitchFamily="34" charset="-122"/>
                <a:cs typeface="Aptos" pitchFamily="34" charset="-120"/>
              </a:rPr>
              <a:t>The framework separates orchestration, connectivity, validation logic, evidence and configuration</a:t>
            </a:r>
            <a:endParaRPr lang="en-US" sz="1400">
              <a:latin typeface="Myriad for Rabobank"/>
            </a:endParaRPr>
          </a:p>
        </p:txBody>
      </p:sp>
      <p:sp>
        <p:nvSpPr>
          <p:cNvPr id="5" name="Shape 3"/>
          <p:cNvSpPr/>
          <p:nvPr/>
        </p:nvSpPr>
        <p:spPr>
          <a:xfrm>
            <a:off x="4022325" y="1261872"/>
            <a:ext cx="4151376" cy="640080"/>
          </a:xfrm>
          <a:prstGeom prst="roundRect">
            <a:avLst>
              <a:gd name="adj" fmla="val 11429"/>
            </a:avLst>
          </a:prstGeom>
          <a:solidFill>
            <a:srgbClr val="F0FAFC"/>
          </a:solidFill>
          <a:ln w="13970">
            <a:solidFill>
              <a:srgbClr val="0A9EC3"/>
            </a:solidFill>
            <a:prstDash val="solid"/>
          </a:ln>
          <a:effectLst>
            <a:outerShdw blurRad="12700" dist="5080" dir="2700000" algn="bl" rotWithShape="0">
              <a:srgbClr val="1A3048">
                <a:alpha val="7000"/>
              </a:srgbClr>
            </a:outerShdw>
          </a:effectLst>
        </p:spPr>
        <p:txBody>
          <a:bodyPr/>
          <a:lstStyle/>
          <a:p>
            <a:endParaRPr lang="en-US" sz="2000">
              <a:latin typeface="Myriad for Rabobank"/>
            </a:endParaRPr>
          </a:p>
        </p:txBody>
      </p:sp>
      <p:sp>
        <p:nvSpPr>
          <p:cNvPr id="6" name="Shape 4"/>
          <p:cNvSpPr/>
          <p:nvPr/>
        </p:nvSpPr>
        <p:spPr>
          <a:xfrm>
            <a:off x="4022326" y="1261872"/>
            <a:ext cx="64008" cy="640080"/>
          </a:xfrm>
          <a:prstGeom prst="rect">
            <a:avLst/>
          </a:prstGeom>
          <a:solidFill>
            <a:srgbClr val="0A9EC3"/>
          </a:solidFill>
          <a:ln w="12700">
            <a:solidFill>
              <a:srgbClr val="0A9EC3"/>
            </a:solidFill>
            <a:prstDash val="solid"/>
          </a:ln>
        </p:spPr>
        <p:txBody>
          <a:bodyPr/>
          <a:lstStyle/>
          <a:p>
            <a:endParaRPr lang="en-US" sz="2000">
              <a:latin typeface="Myriad for Rabobank"/>
            </a:endParaRPr>
          </a:p>
        </p:txBody>
      </p:sp>
      <p:sp>
        <p:nvSpPr>
          <p:cNvPr id="7" name="Shape 5"/>
          <p:cNvSpPr/>
          <p:nvPr/>
        </p:nvSpPr>
        <p:spPr>
          <a:xfrm>
            <a:off x="4205206" y="1389888"/>
            <a:ext cx="365760" cy="365760"/>
          </a:xfrm>
          <a:prstGeom prst="ellipse">
            <a:avLst/>
          </a:prstGeom>
          <a:solidFill>
            <a:srgbClr val="FFFFFF"/>
          </a:solidFill>
          <a:ln w="8890">
            <a:solidFill>
              <a:srgbClr val="DCE6F1"/>
            </a:solidFill>
            <a:prstDash val="solid"/>
          </a:ln>
          <a:effectLst>
            <a:outerShdw blurRad="15240" dist="5080" dir="2700000" algn="bl" rotWithShape="0">
              <a:srgbClr val="000000">
                <a:alpha val="10000"/>
              </a:srgbClr>
            </a:outerShdw>
          </a:effectLst>
        </p:spPr>
        <p:txBody>
          <a:bodyPr/>
          <a:lstStyle/>
          <a:p>
            <a:endParaRPr lang="en-US" sz="2000">
              <a:latin typeface="Myriad for Rabobank"/>
            </a:endParaRPr>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92988" y="1477670"/>
            <a:ext cx="190195" cy="190195"/>
          </a:xfrm>
          <a:prstGeom prst="rect">
            <a:avLst/>
          </a:prstGeom>
        </p:spPr>
      </p:pic>
      <p:sp>
        <p:nvSpPr>
          <p:cNvPr id="9" name="Text 6"/>
          <p:cNvSpPr/>
          <p:nvPr/>
        </p:nvSpPr>
        <p:spPr>
          <a:xfrm>
            <a:off x="4698982" y="1389888"/>
            <a:ext cx="2148840" cy="201168"/>
          </a:xfrm>
          <a:prstGeom prst="rect">
            <a:avLst/>
          </a:prstGeom>
          <a:noFill/>
          <a:ln/>
        </p:spPr>
        <p:txBody>
          <a:bodyPr wrap="square" lIns="0" tIns="0" rIns="0" bIns="0" rtlCol="0" anchor="ctr"/>
          <a:lstStyle/>
          <a:p>
            <a:pPr marL="0" indent="0">
              <a:buNone/>
            </a:pPr>
            <a:r>
              <a:rPr lang="en-US" sz="1600" b="1">
                <a:solidFill>
                  <a:srgbClr val="1A3048"/>
                </a:solidFill>
                <a:latin typeface="Myriad for Rabobank"/>
              </a:rPr>
              <a:t>Portfolio configuration</a:t>
            </a:r>
            <a:endParaRPr lang="en-US" sz="1600">
              <a:latin typeface="Myriad for Rabobank"/>
            </a:endParaRPr>
          </a:p>
        </p:txBody>
      </p:sp>
      <p:sp>
        <p:nvSpPr>
          <p:cNvPr id="10" name="Text 7"/>
          <p:cNvSpPr/>
          <p:nvPr/>
        </p:nvSpPr>
        <p:spPr>
          <a:xfrm>
            <a:off x="4717219" y="1653510"/>
            <a:ext cx="3536627" cy="137160"/>
          </a:xfrm>
          <a:prstGeom prst="rect">
            <a:avLst/>
          </a:prstGeom>
          <a:noFill/>
          <a:ln/>
        </p:spPr>
        <p:txBody>
          <a:bodyPr wrap="square" lIns="0" tIns="0" rIns="0" bIns="0" rtlCol="0" anchor="ctr">
            <a:noAutofit/>
          </a:bodyPr>
          <a:lstStyle/>
          <a:p>
            <a:pPr marL="0" indent="0">
              <a:buNone/>
            </a:pPr>
            <a:r>
              <a:rPr lang="en-US" sz="1100">
                <a:solidFill>
                  <a:srgbClr val="64748B"/>
                </a:solidFill>
                <a:latin typeface="Myriad for Rabobank"/>
              </a:rPr>
              <a:t>Endpoints  •  MDR mapping  •  Schema rules  •  Thresholds</a:t>
            </a:r>
            <a:endParaRPr lang="en-US" sz="1100">
              <a:latin typeface="Myriad for Rabobank"/>
            </a:endParaRPr>
          </a:p>
        </p:txBody>
      </p:sp>
      <p:sp>
        <p:nvSpPr>
          <p:cNvPr id="11" name="Shape 8"/>
          <p:cNvSpPr/>
          <p:nvPr/>
        </p:nvSpPr>
        <p:spPr>
          <a:xfrm>
            <a:off x="6080760" y="1901952"/>
            <a:ext cx="1" cy="256032"/>
          </a:xfrm>
          <a:prstGeom prst="line">
            <a:avLst/>
          </a:prstGeom>
          <a:noFill/>
          <a:ln w="15240">
            <a:solidFill>
              <a:srgbClr val="0A9EC3"/>
            </a:solidFill>
            <a:prstDash val="solid"/>
          </a:ln>
        </p:spPr>
        <p:txBody>
          <a:bodyPr/>
          <a:lstStyle/>
          <a:p>
            <a:endParaRPr lang="en-US" sz="2000">
              <a:latin typeface="Myriad for Rabobank"/>
            </a:endParaRPr>
          </a:p>
        </p:txBody>
      </p:sp>
      <p:sp>
        <p:nvSpPr>
          <p:cNvPr id="12" name="Shape 9"/>
          <p:cNvSpPr/>
          <p:nvPr/>
        </p:nvSpPr>
        <p:spPr>
          <a:xfrm>
            <a:off x="347472" y="2176272"/>
            <a:ext cx="1975104" cy="1755648"/>
          </a:xfrm>
          <a:prstGeom prst="roundRect">
            <a:avLst>
              <a:gd name="adj" fmla="val 4167"/>
            </a:avLst>
          </a:prstGeom>
          <a:solidFill>
            <a:srgbClr val="FFFFFF"/>
          </a:solidFill>
          <a:ln w="14605">
            <a:solidFill>
              <a:srgbClr val="0868C9"/>
            </a:solidFill>
            <a:prstDash val="solid"/>
          </a:ln>
          <a:effectLst>
            <a:outerShdw blurRad="19050" dist="7620" dir="2700000" algn="bl" rotWithShape="0">
              <a:srgbClr val="1A3048">
                <a:alpha val="12000"/>
              </a:srgbClr>
            </a:outerShdw>
          </a:effectLst>
        </p:spPr>
        <p:txBody>
          <a:bodyPr/>
          <a:lstStyle/>
          <a:p>
            <a:endParaRPr lang="en-US" sz="2000">
              <a:latin typeface="Myriad for Rabobank"/>
            </a:endParaRPr>
          </a:p>
        </p:txBody>
      </p:sp>
      <p:sp>
        <p:nvSpPr>
          <p:cNvPr id="13" name="Shape 10"/>
          <p:cNvSpPr/>
          <p:nvPr/>
        </p:nvSpPr>
        <p:spPr>
          <a:xfrm>
            <a:off x="347472" y="2176272"/>
            <a:ext cx="68580" cy="1755648"/>
          </a:xfrm>
          <a:prstGeom prst="rect">
            <a:avLst/>
          </a:prstGeom>
          <a:solidFill>
            <a:srgbClr val="0868C9"/>
          </a:solidFill>
          <a:ln w="12700">
            <a:solidFill>
              <a:srgbClr val="0868C9"/>
            </a:solidFill>
            <a:prstDash val="solid"/>
          </a:ln>
        </p:spPr>
        <p:txBody>
          <a:bodyPr/>
          <a:lstStyle/>
          <a:p>
            <a:endParaRPr lang="en-US" sz="2000">
              <a:latin typeface="Myriad for Rabobank"/>
            </a:endParaRPr>
          </a:p>
        </p:txBody>
      </p:sp>
      <p:sp>
        <p:nvSpPr>
          <p:cNvPr id="14" name="Shape 11"/>
          <p:cNvSpPr/>
          <p:nvPr/>
        </p:nvSpPr>
        <p:spPr>
          <a:xfrm>
            <a:off x="530352" y="2331720"/>
            <a:ext cx="402336" cy="402336"/>
          </a:xfrm>
          <a:prstGeom prst="ellipse">
            <a:avLst/>
          </a:prstGeom>
          <a:solidFill>
            <a:srgbClr val="FFFFFF"/>
          </a:solidFill>
          <a:ln w="8890">
            <a:solidFill>
              <a:srgbClr val="DCE6F1"/>
            </a:solidFill>
            <a:prstDash val="solid"/>
          </a:ln>
          <a:effectLst>
            <a:outerShdw blurRad="15240" dist="5080" dir="2700000" algn="bl" rotWithShape="0">
              <a:srgbClr val="000000">
                <a:alpha val="10000"/>
              </a:srgbClr>
            </a:outerShdw>
          </a:effectLst>
        </p:spPr>
        <p:txBody>
          <a:bodyPr/>
          <a:lstStyle/>
          <a:p>
            <a:endParaRPr lang="en-US" sz="2000">
              <a:latin typeface="Myriad for Rabobank"/>
            </a:endParaRPr>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6913" y="2428281"/>
            <a:ext cx="209215" cy="209215"/>
          </a:xfrm>
          <a:prstGeom prst="rect">
            <a:avLst/>
          </a:prstGeom>
        </p:spPr>
      </p:pic>
      <p:sp>
        <p:nvSpPr>
          <p:cNvPr id="16" name="Text 12"/>
          <p:cNvSpPr/>
          <p:nvPr/>
        </p:nvSpPr>
        <p:spPr>
          <a:xfrm>
            <a:off x="1014984" y="2340864"/>
            <a:ext cx="1133856" cy="256032"/>
          </a:xfrm>
          <a:prstGeom prst="rect">
            <a:avLst/>
          </a:prstGeom>
          <a:noFill/>
          <a:ln/>
        </p:spPr>
        <p:txBody>
          <a:bodyPr wrap="square" lIns="0" tIns="0" rIns="0" bIns="0" rtlCol="0" anchor="ctr"/>
          <a:lstStyle/>
          <a:p>
            <a:pPr marL="0" indent="0">
              <a:buNone/>
            </a:pPr>
            <a:r>
              <a:rPr lang="en-US" sz="1600" b="1">
                <a:solidFill>
                  <a:srgbClr val="1A3048"/>
                </a:solidFill>
                <a:latin typeface="Myriad for Rabobank"/>
                <a:ea typeface="Aptos Display" pitchFamily="34" charset="-122"/>
                <a:cs typeface="Aptos Display" pitchFamily="34" charset="-120"/>
              </a:rPr>
              <a:t>Azure Repos</a:t>
            </a:r>
            <a:endParaRPr lang="en-US" sz="1600">
              <a:latin typeface="Myriad for Rabobank"/>
            </a:endParaRPr>
          </a:p>
        </p:txBody>
      </p:sp>
      <p:sp>
        <p:nvSpPr>
          <p:cNvPr id="17" name="Shape 13"/>
          <p:cNvSpPr/>
          <p:nvPr/>
        </p:nvSpPr>
        <p:spPr>
          <a:xfrm>
            <a:off x="1014984" y="2670048"/>
            <a:ext cx="1097280" cy="1"/>
          </a:xfrm>
          <a:prstGeom prst="line">
            <a:avLst/>
          </a:prstGeom>
          <a:noFill/>
          <a:ln w="8890">
            <a:solidFill>
              <a:srgbClr val="CBD7E5"/>
            </a:solidFill>
            <a:prstDash val="solid"/>
          </a:ln>
        </p:spPr>
        <p:txBody>
          <a:bodyPr/>
          <a:lstStyle/>
          <a:p>
            <a:endParaRPr lang="en-US" sz="2000">
              <a:latin typeface="Myriad for Rabobank"/>
            </a:endParaRPr>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4360" y="2807208"/>
            <a:ext cx="118872" cy="118872"/>
          </a:xfrm>
          <a:prstGeom prst="rect">
            <a:avLst/>
          </a:prstGeom>
        </p:spPr>
      </p:pic>
      <p:sp>
        <p:nvSpPr>
          <p:cNvPr id="19" name="Text 14"/>
          <p:cNvSpPr/>
          <p:nvPr/>
        </p:nvSpPr>
        <p:spPr>
          <a:xfrm>
            <a:off x="777240" y="2793492"/>
            <a:ext cx="1399032" cy="251460"/>
          </a:xfrm>
          <a:prstGeom prst="rect">
            <a:avLst/>
          </a:prstGeom>
          <a:noFill/>
          <a:ln/>
        </p:spPr>
        <p:txBody>
          <a:bodyPr wrap="square" lIns="0" tIns="0" rIns="0" bIns="0" rtlCol="0" anchor="ctr">
            <a:normAutofit/>
          </a:bodyPr>
          <a:lstStyle/>
          <a:p>
            <a:pPr marL="0" indent="0">
              <a:buNone/>
            </a:pPr>
            <a:r>
              <a:rPr lang="en-US" sz="1100">
                <a:solidFill>
                  <a:srgbClr val="1A3048"/>
                </a:solidFill>
                <a:latin typeface="Myriad for Rabobank"/>
                <a:ea typeface="Aptos" pitchFamily="34" charset="-122"/>
                <a:cs typeface="Aptos" pitchFamily="34" charset="-120"/>
              </a:rPr>
              <a:t>Python packages</a:t>
            </a:r>
            <a:endParaRPr lang="en-US" sz="1100">
              <a:latin typeface="Myriad for Rabobank"/>
            </a:endParaRPr>
          </a:p>
        </p:txBody>
      </p:sp>
      <p:pic>
        <p:nvPicPr>
          <p:cNvPr id="20"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4360" y="3058668"/>
            <a:ext cx="118872" cy="118872"/>
          </a:xfrm>
          <a:prstGeom prst="rect">
            <a:avLst/>
          </a:prstGeom>
        </p:spPr>
      </p:pic>
      <p:sp>
        <p:nvSpPr>
          <p:cNvPr id="21" name="Text 15"/>
          <p:cNvSpPr/>
          <p:nvPr/>
        </p:nvSpPr>
        <p:spPr>
          <a:xfrm>
            <a:off x="777240" y="3044952"/>
            <a:ext cx="1399032" cy="251460"/>
          </a:xfrm>
          <a:prstGeom prst="rect">
            <a:avLst/>
          </a:prstGeom>
          <a:noFill/>
          <a:ln/>
        </p:spPr>
        <p:txBody>
          <a:bodyPr wrap="square" lIns="0" tIns="0" rIns="0" bIns="0" rtlCol="0" anchor="ctr">
            <a:normAutofit/>
          </a:bodyPr>
          <a:lstStyle/>
          <a:p>
            <a:pPr marL="0" indent="0">
              <a:buNone/>
            </a:pPr>
            <a:r>
              <a:rPr lang="en-US" sz="1100">
                <a:solidFill>
                  <a:srgbClr val="1A3048"/>
                </a:solidFill>
                <a:latin typeface="Myriad for Rabobank"/>
                <a:ea typeface="Aptos" pitchFamily="34" charset="-122"/>
                <a:cs typeface="Aptos" pitchFamily="34" charset="-120"/>
              </a:rPr>
              <a:t>YAML pipelines</a:t>
            </a:r>
            <a:endParaRPr lang="en-US" sz="1100">
              <a:latin typeface="Myriad for Rabobank"/>
            </a:endParaRPr>
          </a:p>
        </p:txBody>
      </p:sp>
      <p:pic>
        <p:nvPicPr>
          <p:cNvPr id="22"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4360" y="3310128"/>
            <a:ext cx="118872" cy="118872"/>
          </a:xfrm>
          <a:prstGeom prst="rect">
            <a:avLst/>
          </a:prstGeom>
        </p:spPr>
      </p:pic>
      <p:sp>
        <p:nvSpPr>
          <p:cNvPr id="23" name="Text 16"/>
          <p:cNvSpPr/>
          <p:nvPr/>
        </p:nvSpPr>
        <p:spPr>
          <a:xfrm>
            <a:off x="777240" y="3296412"/>
            <a:ext cx="1399032" cy="251460"/>
          </a:xfrm>
          <a:prstGeom prst="rect">
            <a:avLst/>
          </a:prstGeom>
          <a:noFill/>
          <a:ln/>
        </p:spPr>
        <p:txBody>
          <a:bodyPr wrap="square" lIns="0" tIns="0" rIns="0" bIns="0" rtlCol="0" anchor="ctr">
            <a:normAutofit/>
          </a:bodyPr>
          <a:lstStyle/>
          <a:p>
            <a:pPr marL="0" indent="0">
              <a:buNone/>
            </a:pPr>
            <a:r>
              <a:rPr lang="en-US" sz="1100">
                <a:solidFill>
                  <a:srgbClr val="1A3048"/>
                </a:solidFill>
                <a:latin typeface="Myriad for Rabobank"/>
                <a:ea typeface="Aptos" pitchFamily="34" charset="-122"/>
                <a:cs typeface="Aptos" pitchFamily="34" charset="-120"/>
              </a:rPr>
              <a:t>Test assets</a:t>
            </a:r>
            <a:endParaRPr lang="en-US" sz="1100">
              <a:latin typeface="Myriad for Rabobank"/>
            </a:endParaRPr>
          </a:p>
        </p:txBody>
      </p:sp>
      <p:pic>
        <p:nvPicPr>
          <p:cNvPr id="24" name="Image 5"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4360" y="3561588"/>
            <a:ext cx="118872" cy="118872"/>
          </a:xfrm>
          <a:prstGeom prst="rect">
            <a:avLst/>
          </a:prstGeom>
        </p:spPr>
      </p:pic>
      <p:sp>
        <p:nvSpPr>
          <p:cNvPr id="25" name="Text 17"/>
          <p:cNvSpPr/>
          <p:nvPr/>
        </p:nvSpPr>
        <p:spPr>
          <a:xfrm>
            <a:off x="777240" y="3547872"/>
            <a:ext cx="1399032" cy="251460"/>
          </a:xfrm>
          <a:prstGeom prst="rect">
            <a:avLst/>
          </a:prstGeom>
          <a:noFill/>
          <a:ln/>
        </p:spPr>
        <p:txBody>
          <a:bodyPr wrap="square" lIns="0" tIns="0" rIns="0" bIns="0" rtlCol="0" anchor="ctr">
            <a:normAutofit/>
          </a:bodyPr>
          <a:lstStyle/>
          <a:p>
            <a:pPr marL="0" indent="0">
              <a:buNone/>
            </a:pPr>
            <a:r>
              <a:rPr lang="en-US" sz="1100">
                <a:solidFill>
                  <a:srgbClr val="1A3048"/>
                </a:solidFill>
                <a:latin typeface="Myriad for Rabobank"/>
                <a:ea typeface="Aptos" pitchFamily="34" charset="-122"/>
                <a:cs typeface="Aptos" pitchFamily="34" charset="-120"/>
              </a:rPr>
              <a:t>Versioned configs</a:t>
            </a:r>
            <a:endParaRPr lang="en-US" sz="1100">
              <a:latin typeface="Myriad for Rabobank"/>
            </a:endParaRPr>
          </a:p>
        </p:txBody>
      </p:sp>
      <p:sp>
        <p:nvSpPr>
          <p:cNvPr id="26" name="Shape 18"/>
          <p:cNvSpPr/>
          <p:nvPr/>
        </p:nvSpPr>
        <p:spPr>
          <a:xfrm>
            <a:off x="2779776" y="2176272"/>
            <a:ext cx="2340864" cy="1755648"/>
          </a:xfrm>
          <a:prstGeom prst="roundRect">
            <a:avLst>
              <a:gd name="adj" fmla="val 4167"/>
            </a:avLst>
          </a:prstGeom>
          <a:solidFill>
            <a:srgbClr val="FFFFFF"/>
          </a:solidFill>
          <a:ln w="14605">
            <a:solidFill>
              <a:srgbClr val="0868C9"/>
            </a:solidFill>
            <a:prstDash val="solid"/>
          </a:ln>
          <a:effectLst>
            <a:outerShdw blurRad="19050" dist="7620" dir="2700000" algn="bl" rotWithShape="0">
              <a:srgbClr val="1A3048">
                <a:alpha val="12000"/>
              </a:srgbClr>
            </a:outerShdw>
          </a:effectLst>
        </p:spPr>
        <p:txBody>
          <a:bodyPr/>
          <a:lstStyle/>
          <a:p>
            <a:endParaRPr lang="en-US" sz="2000">
              <a:latin typeface="Myriad for Rabobank"/>
            </a:endParaRPr>
          </a:p>
        </p:txBody>
      </p:sp>
      <p:sp>
        <p:nvSpPr>
          <p:cNvPr id="27" name="Shape 19"/>
          <p:cNvSpPr/>
          <p:nvPr/>
        </p:nvSpPr>
        <p:spPr>
          <a:xfrm>
            <a:off x="2779776" y="2176272"/>
            <a:ext cx="68580" cy="1755648"/>
          </a:xfrm>
          <a:prstGeom prst="rect">
            <a:avLst/>
          </a:prstGeom>
          <a:solidFill>
            <a:srgbClr val="0868C9"/>
          </a:solidFill>
          <a:ln w="12700">
            <a:solidFill>
              <a:srgbClr val="0868C9"/>
            </a:solidFill>
            <a:prstDash val="solid"/>
          </a:ln>
        </p:spPr>
        <p:txBody>
          <a:bodyPr/>
          <a:lstStyle/>
          <a:p>
            <a:endParaRPr lang="en-US" sz="2000">
              <a:latin typeface="Myriad for Rabobank"/>
            </a:endParaRPr>
          </a:p>
        </p:txBody>
      </p:sp>
      <p:sp>
        <p:nvSpPr>
          <p:cNvPr id="28" name="Shape 20"/>
          <p:cNvSpPr/>
          <p:nvPr/>
        </p:nvSpPr>
        <p:spPr>
          <a:xfrm>
            <a:off x="2962656" y="2331720"/>
            <a:ext cx="402336" cy="402336"/>
          </a:xfrm>
          <a:prstGeom prst="ellipse">
            <a:avLst/>
          </a:prstGeom>
          <a:solidFill>
            <a:srgbClr val="FFFFFF"/>
          </a:solidFill>
          <a:ln w="8890">
            <a:solidFill>
              <a:srgbClr val="DCE6F1"/>
            </a:solidFill>
            <a:prstDash val="solid"/>
          </a:ln>
          <a:effectLst>
            <a:outerShdw blurRad="15240" dist="5080" dir="2700000" algn="bl" rotWithShape="0">
              <a:srgbClr val="000000">
                <a:alpha val="10000"/>
              </a:srgbClr>
            </a:outerShdw>
          </a:effectLst>
        </p:spPr>
        <p:txBody>
          <a:bodyPr/>
          <a:lstStyle/>
          <a:p>
            <a:endParaRPr lang="en-US" sz="2000">
              <a:latin typeface="Myriad for Rabobank"/>
            </a:endParaRPr>
          </a:p>
        </p:txBody>
      </p:sp>
      <p:pic>
        <p:nvPicPr>
          <p:cNvPr id="29" name="Image 6"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059217" y="2428281"/>
            <a:ext cx="209215" cy="209215"/>
          </a:xfrm>
          <a:prstGeom prst="rect">
            <a:avLst/>
          </a:prstGeom>
        </p:spPr>
      </p:pic>
      <p:sp>
        <p:nvSpPr>
          <p:cNvPr id="30" name="Text 21"/>
          <p:cNvSpPr/>
          <p:nvPr/>
        </p:nvSpPr>
        <p:spPr>
          <a:xfrm>
            <a:off x="3447288" y="2340864"/>
            <a:ext cx="1499616" cy="256032"/>
          </a:xfrm>
          <a:prstGeom prst="rect">
            <a:avLst/>
          </a:prstGeom>
          <a:noFill/>
          <a:ln/>
        </p:spPr>
        <p:txBody>
          <a:bodyPr wrap="square" lIns="0" tIns="0" rIns="0" bIns="0" rtlCol="0" anchor="ctr"/>
          <a:lstStyle/>
          <a:p>
            <a:pPr marL="0" indent="0">
              <a:buNone/>
            </a:pPr>
            <a:r>
              <a:rPr lang="en-US" sz="1600" b="1">
                <a:solidFill>
                  <a:srgbClr val="1A3048"/>
                </a:solidFill>
                <a:latin typeface="Myriad for Rabobank"/>
                <a:ea typeface="Aptos Display" pitchFamily="34" charset="-122"/>
                <a:cs typeface="Aptos Display" pitchFamily="34" charset="-120"/>
              </a:rPr>
              <a:t>Pipeline runner</a:t>
            </a:r>
            <a:endParaRPr lang="en-US" sz="1600">
              <a:latin typeface="Myriad for Rabobank"/>
            </a:endParaRPr>
          </a:p>
        </p:txBody>
      </p:sp>
      <p:sp>
        <p:nvSpPr>
          <p:cNvPr id="31" name="Shape 22"/>
          <p:cNvSpPr/>
          <p:nvPr/>
        </p:nvSpPr>
        <p:spPr>
          <a:xfrm>
            <a:off x="3447288" y="2670048"/>
            <a:ext cx="1463040" cy="1"/>
          </a:xfrm>
          <a:prstGeom prst="line">
            <a:avLst/>
          </a:prstGeom>
          <a:noFill/>
          <a:ln w="8890">
            <a:solidFill>
              <a:srgbClr val="CBD7E5"/>
            </a:solidFill>
            <a:prstDash val="solid"/>
          </a:ln>
        </p:spPr>
        <p:txBody>
          <a:bodyPr/>
          <a:lstStyle/>
          <a:p>
            <a:endParaRPr lang="en-US" sz="2000">
              <a:latin typeface="Myriad for Rabobank"/>
            </a:endParaRPr>
          </a:p>
        </p:txBody>
      </p:sp>
      <p:pic>
        <p:nvPicPr>
          <p:cNvPr id="32" name="Image 7"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26664" y="2807208"/>
            <a:ext cx="118872" cy="118872"/>
          </a:xfrm>
          <a:prstGeom prst="rect">
            <a:avLst/>
          </a:prstGeom>
        </p:spPr>
      </p:pic>
      <p:sp>
        <p:nvSpPr>
          <p:cNvPr id="33" name="Text 23"/>
          <p:cNvSpPr/>
          <p:nvPr/>
        </p:nvSpPr>
        <p:spPr>
          <a:xfrm>
            <a:off x="3209544" y="2793492"/>
            <a:ext cx="1764792" cy="251460"/>
          </a:xfrm>
          <a:prstGeom prst="rect">
            <a:avLst/>
          </a:prstGeom>
          <a:noFill/>
          <a:ln/>
        </p:spPr>
        <p:txBody>
          <a:bodyPr wrap="square" lIns="0" tIns="0" rIns="0" bIns="0" rtlCol="0" anchor="ctr">
            <a:normAutofit/>
          </a:bodyPr>
          <a:lstStyle/>
          <a:p>
            <a:pPr marL="0" indent="0">
              <a:buNone/>
            </a:pPr>
            <a:r>
              <a:rPr lang="en-US" sz="1100">
                <a:solidFill>
                  <a:srgbClr val="1A3048"/>
                </a:solidFill>
                <a:latin typeface="Myriad for Rabobank"/>
                <a:ea typeface="Aptos" pitchFamily="34" charset="-122"/>
                <a:cs typeface="Aptos" pitchFamily="34" charset="-120"/>
              </a:rPr>
              <a:t>PR checks</a:t>
            </a:r>
            <a:endParaRPr lang="en-US" sz="1100">
              <a:latin typeface="Myriad for Rabobank"/>
            </a:endParaRPr>
          </a:p>
        </p:txBody>
      </p:sp>
      <p:pic>
        <p:nvPicPr>
          <p:cNvPr id="34" name="Image 8"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26664" y="3058668"/>
            <a:ext cx="118872" cy="118872"/>
          </a:xfrm>
          <a:prstGeom prst="rect">
            <a:avLst/>
          </a:prstGeom>
        </p:spPr>
      </p:pic>
      <p:sp>
        <p:nvSpPr>
          <p:cNvPr id="35" name="Text 24"/>
          <p:cNvSpPr/>
          <p:nvPr/>
        </p:nvSpPr>
        <p:spPr>
          <a:xfrm>
            <a:off x="3209544" y="3044952"/>
            <a:ext cx="1764792" cy="251460"/>
          </a:xfrm>
          <a:prstGeom prst="rect">
            <a:avLst/>
          </a:prstGeom>
          <a:noFill/>
          <a:ln/>
        </p:spPr>
        <p:txBody>
          <a:bodyPr wrap="square" lIns="0" tIns="0" rIns="0" bIns="0" rtlCol="0" anchor="ctr">
            <a:normAutofit/>
          </a:bodyPr>
          <a:lstStyle/>
          <a:p>
            <a:pPr marL="0" indent="0">
              <a:buNone/>
            </a:pPr>
            <a:r>
              <a:rPr lang="en-US" sz="1100">
                <a:solidFill>
                  <a:srgbClr val="1A3048"/>
                </a:solidFill>
                <a:latin typeface="Myriad for Rabobank"/>
                <a:ea typeface="Aptos" pitchFamily="34" charset="-122"/>
                <a:cs typeface="Aptos" pitchFamily="34" charset="-120"/>
              </a:rPr>
              <a:t>Scheduled suites</a:t>
            </a:r>
            <a:endParaRPr lang="en-US" sz="1100">
              <a:latin typeface="Myriad for Rabobank"/>
            </a:endParaRPr>
          </a:p>
        </p:txBody>
      </p:sp>
      <p:pic>
        <p:nvPicPr>
          <p:cNvPr id="36" name="Image 9"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26664" y="3310128"/>
            <a:ext cx="118872" cy="118872"/>
          </a:xfrm>
          <a:prstGeom prst="rect">
            <a:avLst/>
          </a:prstGeom>
        </p:spPr>
      </p:pic>
      <p:sp>
        <p:nvSpPr>
          <p:cNvPr id="37" name="Text 25"/>
          <p:cNvSpPr/>
          <p:nvPr/>
        </p:nvSpPr>
        <p:spPr>
          <a:xfrm>
            <a:off x="3209544" y="3296412"/>
            <a:ext cx="1764792" cy="251460"/>
          </a:xfrm>
          <a:prstGeom prst="rect">
            <a:avLst/>
          </a:prstGeom>
          <a:noFill/>
          <a:ln/>
        </p:spPr>
        <p:txBody>
          <a:bodyPr wrap="square" lIns="0" tIns="0" rIns="0" bIns="0" rtlCol="0" anchor="ctr">
            <a:normAutofit/>
          </a:bodyPr>
          <a:lstStyle/>
          <a:p>
            <a:pPr marL="0" indent="0">
              <a:buNone/>
            </a:pPr>
            <a:r>
              <a:rPr lang="en-US" sz="1100">
                <a:solidFill>
                  <a:srgbClr val="1A3048"/>
                </a:solidFill>
                <a:latin typeface="Myriad for Rabobank"/>
                <a:ea typeface="Aptos" pitchFamily="34" charset="-122"/>
                <a:cs typeface="Aptos" pitchFamily="34" charset="-120"/>
              </a:rPr>
              <a:t>On-demand portfolio run</a:t>
            </a:r>
            <a:endParaRPr lang="en-US" sz="1100">
              <a:latin typeface="Myriad for Rabobank"/>
            </a:endParaRPr>
          </a:p>
        </p:txBody>
      </p:sp>
      <p:pic>
        <p:nvPicPr>
          <p:cNvPr id="38" name="Image 10"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26664" y="3561588"/>
            <a:ext cx="118872" cy="118872"/>
          </a:xfrm>
          <a:prstGeom prst="rect">
            <a:avLst/>
          </a:prstGeom>
        </p:spPr>
      </p:pic>
      <p:sp>
        <p:nvSpPr>
          <p:cNvPr id="39" name="Text 26"/>
          <p:cNvSpPr/>
          <p:nvPr/>
        </p:nvSpPr>
        <p:spPr>
          <a:xfrm>
            <a:off x="3209544" y="3547872"/>
            <a:ext cx="1764792" cy="251460"/>
          </a:xfrm>
          <a:prstGeom prst="rect">
            <a:avLst/>
          </a:prstGeom>
          <a:noFill/>
          <a:ln/>
        </p:spPr>
        <p:txBody>
          <a:bodyPr wrap="square" lIns="0" tIns="0" rIns="0" bIns="0" rtlCol="0" anchor="ctr">
            <a:normAutofit/>
          </a:bodyPr>
          <a:lstStyle/>
          <a:p>
            <a:pPr marL="0" indent="0">
              <a:buNone/>
            </a:pPr>
            <a:r>
              <a:rPr lang="en-US" sz="1100">
                <a:solidFill>
                  <a:srgbClr val="1A3048"/>
                </a:solidFill>
                <a:latin typeface="Myriad for Rabobank"/>
                <a:ea typeface="Aptos" pitchFamily="34" charset="-122"/>
                <a:cs typeface="Aptos" pitchFamily="34" charset="-120"/>
              </a:rPr>
              <a:t>Gate enforcement</a:t>
            </a:r>
            <a:endParaRPr lang="en-US" sz="1100">
              <a:latin typeface="Myriad for Rabobank"/>
            </a:endParaRPr>
          </a:p>
        </p:txBody>
      </p:sp>
      <p:sp>
        <p:nvSpPr>
          <p:cNvPr id="40" name="Shape 27"/>
          <p:cNvSpPr/>
          <p:nvPr/>
        </p:nvSpPr>
        <p:spPr>
          <a:xfrm>
            <a:off x="5577840" y="2176272"/>
            <a:ext cx="2542032" cy="1755648"/>
          </a:xfrm>
          <a:prstGeom prst="roundRect">
            <a:avLst>
              <a:gd name="adj" fmla="val 4167"/>
            </a:avLst>
          </a:prstGeom>
          <a:solidFill>
            <a:srgbClr val="F7F4FF"/>
          </a:solidFill>
          <a:ln w="14605">
            <a:solidFill>
              <a:srgbClr val="6750C8"/>
            </a:solidFill>
            <a:prstDash val="solid"/>
          </a:ln>
          <a:effectLst>
            <a:outerShdw blurRad="19050" dist="7620" dir="2700000" algn="bl" rotWithShape="0">
              <a:srgbClr val="1A3048">
                <a:alpha val="12000"/>
              </a:srgbClr>
            </a:outerShdw>
          </a:effectLst>
        </p:spPr>
        <p:txBody>
          <a:bodyPr/>
          <a:lstStyle/>
          <a:p>
            <a:endParaRPr lang="en-US" sz="2000">
              <a:latin typeface="Myriad for Rabobank"/>
            </a:endParaRPr>
          </a:p>
        </p:txBody>
      </p:sp>
      <p:sp>
        <p:nvSpPr>
          <p:cNvPr id="41" name="Shape 28"/>
          <p:cNvSpPr/>
          <p:nvPr/>
        </p:nvSpPr>
        <p:spPr>
          <a:xfrm>
            <a:off x="5577840" y="2176272"/>
            <a:ext cx="68580" cy="1755648"/>
          </a:xfrm>
          <a:prstGeom prst="rect">
            <a:avLst/>
          </a:prstGeom>
          <a:solidFill>
            <a:srgbClr val="6750C8"/>
          </a:solidFill>
          <a:ln w="12700">
            <a:solidFill>
              <a:srgbClr val="6750C8"/>
            </a:solidFill>
            <a:prstDash val="solid"/>
          </a:ln>
        </p:spPr>
        <p:txBody>
          <a:bodyPr/>
          <a:lstStyle/>
          <a:p>
            <a:endParaRPr lang="en-US" sz="2000">
              <a:latin typeface="Myriad for Rabobank"/>
            </a:endParaRPr>
          </a:p>
        </p:txBody>
      </p:sp>
      <p:sp>
        <p:nvSpPr>
          <p:cNvPr id="42" name="Shape 29"/>
          <p:cNvSpPr/>
          <p:nvPr/>
        </p:nvSpPr>
        <p:spPr>
          <a:xfrm>
            <a:off x="5760720" y="2331720"/>
            <a:ext cx="402336" cy="402336"/>
          </a:xfrm>
          <a:prstGeom prst="ellipse">
            <a:avLst/>
          </a:prstGeom>
          <a:solidFill>
            <a:srgbClr val="F7F4FF"/>
          </a:solidFill>
          <a:ln w="8890">
            <a:solidFill>
              <a:srgbClr val="DCE6F1"/>
            </a:solidFill>
            <a:prstDash val="solid"/>
          </a:ln>
          <a:effectLst>
            <a:outerShdw blurRad="15240" dist="5080" dir="2700000" algn="bl" rotWithShape="0">
              <a:srgbClr val="000000">
                <a:alpha val="10000"/>
              </a:srgbClr>
            </a:outerShdw>
          </a:effectLst>
        </p:spPr>
        <p:txBody>
          <a:bodyPr/>
          <a:lstStyle/>
          <a:p>
            <a:endParaRPr lang="en-US" sz="2000">
              <a:latin typeface="Myriad for Rabobank"/>
            </a:endParaRPr>
          </a:p>
        </p:txBody>
      </p:sp>
      <p:pic>
        <p:nvPicPr>
          <p:cNvPr id="43" name="Image 11"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57281" y="2428281"/>
            <a:ext cx="209215" cy="209215"/>
          </a:xfrm>
          <a:prstGeom prst="rect">
            <a:avLst/>
          </a:prstGeom>
        </p:spPr>
      </p:pic>
      <p:sp>
        <p:nvSpPr>
          <p:cNvPr id="44" name="Text 30"/>
          <p:cNvSpPr/>
          <p:nvPr/>
        </p:nvSpPr>
        <p:spPr>
          <a:xfrm>
            <a:off x="6245352" y="2340864"/>
            <a:ext cx="1700784" cy="256032"/>
          </a:xfrm>
          <a:prstGeom prst="rect">
            <a:avLst/>
          </a:prstGeom>
          <a:noFill/>
          <a:ln/>
        </p:spPr>
        <p:txBody>
          <a:bodyPr wrap="square" lIns="0" tIns="0" rIns="0" bIns="0" rtlCol="0" anchor="ctr"/>
          <a:lstStyle/>
          <a:p>
            <a:pPr marL="0" indent="0">
              <a:buNone/>
            </a:pPr>
            <a:r>
              <a:rPr lang="en-US" sz="1600" b="1">
                <a:solidFill>
                  <a:srgbClr val="1A3048"/>
                </a:solidFill>
                <a:latin typeface="Myriad for Rabobank"/>
                <a:ea typeface="Aptos Display" pitchFamily="34" charset="-122"/>
                <a:cs typeface="Aptos Display" pitchFamily="34" charset="-120"/>
              </a:rPr>
              <a:t>Python core</a:t>
            </a:r>
            <a:endParaRPr lang="en-US" sz="1600">
              <a:latin typeface="Myriad for Rabobank"/>
            </a:endParaRPr>
          </a:p>
        </p:txBody>
      </p:sp>
      <p:sp>
        <p:nvSpPr>
          <p:cNvPr id="45" name="Shape 31"/>
          <p:cNvSpPr/>
          <p:nvPr/>
        </p:nvSpPr>
        <p:spPr>
          <a:xfrm>
            <a:off x="6245352" y="2670048"/>
            <a:ext cx="1664208" cy="1"/>
          </a:xfrm>
          <a:prstGeom prst="line">
            <a:avLst/>
          </a:prstGeom>
          <a:noFill/>
          <a:ln w="8890">
            <a:solidFill>
              <a:srgbClr val="CBD7E5"/>
            </a:solidFill>
            <a:prstDash val="solid"/>
          </a:ln>
        </p:spPr>
        <p:txBody>
          <a:bodyPr/>
          <a:lstStyle/>
          <a:p>
            <a:endParaRPr lang="en-US" sz="2000">
              <a:latin typeface="Myriad for Rabobank"/>
            </a:endParaRPr>
          </a:p>
        </p:txBody>
      </p:sp>
      <p:pic>
        <p:nvPicPr>
          <p:cNvPr id="46" name="Image 12"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24728" y="2807208"/>
            <a:ext cx="118872" cy="118872"/>
          </a:xfrm>
          <a:prstGeom prst="rect">
            <a:avLst/>
          </a:prstGeom>
        </p:spPr>
      </p:pic>
      <p:sp>
        <p:nvSpPr>
          <p:cNvPr id="47" name="Text 32"/>
          <p:cNvSpPr/>
          <p:nvPr/>
        </p:nvSpPr>
        <p:spPr>
          <a:xfrm>
            <a:off x="6007608" y="2793492"/>
            <a:ext cx="1965960" cy="251460"/>
          </a:xfrm>
          <a:prstGeom prst="rect">
            <a:avLst/>
          </a:prstGeom>
          <a:noFill/>
          <a:ln/>
        </p:spPr>
        <p:txBody>
          <a:bodyPr wrap="square" lIns="0" tIns="0" rIns="0" bIns="0" rtlCol="0" anchor="ctr">
            <a:normAutofit/>
          </a:bodyPr>
          <a:lstStyle/>
          <a:p>
            <a:pPr marL="0" indent="0">
              <a:buNone/>
            </a:pPr>
            <a:r>
              <a:rPr lang="en-US" sz="1100">
                <a:solidFill>
                  <a:srgbClr val="1A3048"/>
                </a:solidFill>
                <a:latin typeface="Myriad for Rabobank"/>
                <a:ea typeface="Aptos" pitchFamily="34" charset="-122"/>
                <a:cs typeface="Aptos" pitchFamily="34" charset="-120"/>
              </a:rPr>
              <a:t>Orchestrator</a:t>
            </a:r>
            <a:endParaRPr lang="en-US" sz="1100">
              <a:latin typeface="Myriad for Rabobank"/>
            </a:endParaRPr>
          </a:p>
        </p:txBody>
      </p:sp>
      <p:pic>
        <p:nvPicPr>
          <p:cNvPr id="48" name="Image 13"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24728" y="3058668"/>
            <a:ext cx="118872" cy="118872"/>
          </a:xfrm>
          <a:prstGeom prst="rect">
            <a:avLst/>
          </a:prstGeom>
        </p:spPr>
      </p:pic>
      <p:sp>
        <p:nvSpPr>
          <p:cNvPr id="49" name="Text 33"/>
          <p:cNvSpPr/>
          <p:nvPr/>
        </p:nvSpPr>
        <p:spPr>
          <a:xfrm>
            <a:off x="6007608" y="3044952"/>
            <a:ext cx="1965960" cy="251460"/>
          </a:xfrm>
          <a:prstGeom prst="rect">
            <a:avLst/>
          </a:prstGeom>
          <a:noFill/>
          <a:ln/>
        </p:spPr>
        <p:txBody>
          <a:bodyPr wrap="square" lIns="0" tIns="0" rIns="0" bIns="0" rtlCol="0" anchor="ctr">
            <a:normAutofit/>
          </a:bodyPr>
          <a:lstStyle/>
          <a:p>
            <a:pPr marL="0" indent="0">
              <a:buNone/>
            </a:pPr>
            <a:r>
              <a:rPr lang="en-US" sz="1100">
                <a:solidFill>
                  <a:srgbClr val="1A3048"/>
                </a:solidFill>
                <a:latin typeface="Myriad for Rabobank"/>
                <a:ea typeface="Aptos" pitchFamily="34" charset="-122"/>
                <a:cs typeface="Aptos" pitchFamily="34" charset="-120"/>
              </a:rPr>
              <a:t>Portfolio specific models</a:t>
            </a:r>
            <a:endParaRPr lang="en-US" sz="1100">
              <a:latin typeface="Myriad for Rabobank"/>
            </a:endParaRPr>
          </a:p>
        </p:txBody>
      </p:sp>
      <p:pic>
        <p:nvPicPr>
          <p:cNvPr id="50" name="Image 14"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24728" y="3310128"/>
            <a:ext cx="118872" cy="118872"/>
          </a:xfrm>
          <a:prstGeom prst="rect">
            <a:avLst/>
          </a:prstGeom>
        </p:spPr>
      </p:pic>
      <p:sp>
        <p:nvSpPr>
          <p:cNvPr id="51" name="Text 34"/>
          <p:cNvSpPr/>
          <p:nvPr/>
        </p:nvSpPr>
        <p:spPr>
          <a:xfrm>
            <a:off x="6007608" y="3296412"/>
            <a:ext cx="1965960" cy="251460"/>
          </a:xfrm>
          <a:prstGeom prst="rect">
            <a:avLst/>
          </a:prstGeom>
          <a:noFill/>
          <a:ln/>
        </p:spPr>
        <p:txBody>
          <a:bodyPr wrap="square" lIns="0" tIns="0" rIns="0" bIns="0" rtlCol="0" anchor="ctr">
            <a:normAutofit/>
          </a:bodyPr>
          <a:lstStyle/>
          <a:p>
            <a:pPr marL="0" indent="0">
              <a:buNone/>
            </a:pPr>
            <a:r>
              <a:rPr lang="en-US" sz="1100">
                <a:solidFill>
                  <a:srgbClr val="1A3048"/>
                </a:solidFill>
                <a:latin typeface="Myriad for Rabobank"/>
                <a:ea typeface="Aptos" pitchFamily="34" charset="-122"/>
                <a:cs typeface="Aptos" pitchFamily="34" charset="-120"/>
              </a:rPr>
              <a:t>Comparison engine</a:t>
            </a:r>
            <a:endParaRPr lang="en-US" sz="1100">
              <a:latin typeface="Myriad for Rabobank"/>
            </a:endParaRPr>
          </a:p>
        </p:txBody>
      </p:sp>
      <p:pic>
        <p:nvPicPr>
          <p:cNvPr id="52" name="Image 1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24728" y="3561588"/>
            <a:ext cx="118872" cy="118872"/>
          </a:xfrm>
          <a:prstGeom prst="rect">
            <a:avLst/>
          </a:prstGeom>
        </p:spPr>
      </p:pic>
      <p:sp>
        <p:nvSpPr>
          <p:cNvPr id="53" name="Text 35"/>
          <p:cNvSpPr/>
          <p:nvPr/>
        </p:nvSpPr>
        <p:spPr>
          <a:xfrm>
            <a:off x="6007608" y="3547872"/>
            <a:ext cx="1965960" cy="251460"/>
          </a:xfrm>
          <a:prstGeom prst="rect">
            <a:avLst/>
          </a:prstGeom>
          <a:noFill/>
          <a:ln/>
        </p:spPr>
        <p:txBody>
          <a:bodyPr wrap="square" lIns="0" tIns="0" rIns="0" bIns="0" rtlCol="0" anchor="ctr">
            <a:normAutofit/>
          </a:bodyPr>
          <a:lstStyle/>
          <a:p>
            <a:pPr marL="0" indent="0">
              <a:buNone/>
            </a:pPr>
            <a:r>
              <a:rPr lang="en-US" sz="1100">
                <a:solidFill>
                  <a:srgbClr val="1A3048"/>
                </a:solidFill>
                <a:latin typeface="Myriad for Rabobank"/>
                <a:ea typeface="Aptos" pitchFamily="34" charset="-122"/>
                <a:cs typeface="Aptos" pitchFamily="34" charset="-120"/>
              </a:rPr>
              <a:t>Retry + timeout policies</a:t>
            </a:r>
            <a:endParaRPr lang="en-US" sz="1100">
              <a:latin typeface="Myriad for Rabobank"/>
            </a:endParaRPr>
          </a:p>
        </p:txBody>
      </p:sp>
      <p:sp>
        <p:nvSpPr>
          <p:cNvPr id="54" name="Shape 36"/>
          <p:cNvSpPr/>
          <p:nvPr/>
        </p:nvSpPr>
        <p:spPr>
          <a:xfrm>
            <a:off x="8686800" y="2176272"/>
            <a:ext cx="2816352" cy="1755648"/>
          </a:xfrm>
          <a:prstGeom prst="roundRect">
            <a:avLst>
              <a:gd name="adj" fmla="val 4167"/>
            </a:avLst>
          </a:prstGeom>
          <a:solidFill>
            <a:srgbClr val="FFFFFF"/>
          </a:solidFill>
          <a:ln w="14605">
            <a:solidFill>
              <a:srgbClr val="0A9EC3"/>
            </a:solidFill>
            <a:prstDash val="solid"/>
          </a:ln>
          <a:effectLst>
            <a:outerShdw blurRad="19050" dist="7620" dir="2700000" algn="bl" rotWithShape="0">
              <a:srgbClr val="1A3048">
                <a:alpha val="12000"/>
              </a:srgbClr>
            </a:outerShdw>
          </a:effectLst>
        </p:spPr>
        <p:txBody>
          <a:bodyPr/>
          <a:lstStyle/>
          <a:p>
            <a:endParaRPr lang="en-US" sz="2000">
              <a:latin typeface="Myriad for Rabobank"/>
            </a:endParaRPr>
          </a:p>
        </p:txBody>
      </p:sp>
      <p:sp>
        <p:nvSpPr>
          <p:cNvPr id="55" name="Shape 37"/>
          <p:cNvSpPr/>
          <p:nvPr/>
        </p:nvSpPr>
        <p:spPr>
          <a:xfrm>
            <a:off x="8686800" y="2176272"/>
            <a:ext cx="68580" cy="1755648"/>
          </a:xfrm>
          <a:prstGeom prst="rect">
            <a:avLst/>
          </a:prstGeom>
          <a:solidFill>
            <a:srgbClr val="0A9EC3"/>
          </a:solidFill>
          <a:ln w="12700">
            <a:solidFill>
              <a:srgbClr val="0A9EC3"/>
            </a:solidFill>
            <a:prstDash val="solid"/>
          </a:ln>
        </p:spPr>
        <p:txBody>
          <a:bodyPr/>
          <a:lstStyle/>
          <a:p>
            <a:endParaRPr lang="en-US" sz="2000">
              <a:latin typeface="Myriad for Rabobank"/>
            </a:endParaRPr>
          </a:p>
        </p:txBody>
      </p:sp>
      <p:sp>
        <p:nvSpPr>
          <p:cNvPr id="56" name="Shape 38"/>
          <p:cNvSpPr/>
          <p:nvPr/>
        </p:nvSpPr>
        <p:spPr>
          <a:xfrm>
            <a:off x="8869680" y="2331720"/>
            <a:ext cx="402336" cy="402336"/>
          </a:xfrm>
          <a:prstGeom prst="ellipse">
            <a:avLst/>
          </a:prstGeom>
          <a:solidFill>
            <a:srgbClr val="FFFFFF"/>
          </a:solidFill>
          <a:ln w="8890">
            <a:solidFill>
              <a:srgbClr val="DCE6F1"/>
            </a:solidFill>
            <a:prstDash val="solid"/>
          </a:ln>
          <a:effectLst>
            <a:outerShdw blurRad="15240" dist="5080" dir="2700000" algn="bl" rotWithShape="0">
              <a:srgbClr val="000000">
                <a:alpha val="10000"/>
              </a:srgbClr>
            </a:outerShdw>
          </a:effectLst>
        </p:spPr>
        <p:txBody>
          <a:bodyPr/>
          <a:lstStyle/>
          <a:p>
            <a:endParaRPr lang="en-US" sz="2000">
              <a:latin typeface="Myriad for Rabobank"/>
            </a:endParaRPr>
          </a:p>
        </p:txBody>
      </p:sp>
      <p:pic>
        <p:nvPicPr>
          <p:cNvPr id="57" name="Image 1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966241" y="2428281"/>
            <a:ext cx="209215" cy="209215"/>
          </a:xfrm>
          <a:prstGeom prst="rect">
            <a:avLst/>
          </a:prstGeom>
        </p:spPr>
      </p:pic>
      <p:sp>
        <p:nvSpPr>
          <p:cNvPr id="58" name="Text 39"/>
          <p:cNvSpPr/>
          <p:nvPr/>
        </p:nvSpPr>
        <p:spPr>
          <a:xfrm>
            <a:off x="9354312" y="2340864"/>
            <a:ext cx="1975104" cy="256032"/>
          </a:xfrm>
          <a:prstGeom prst="rect">
            <a:avLst/>
          </a:prstGeom>
          <a:noFill/>
          <a:ln/>
        </p:spPr>
        <p:txBody>
          <a:bodyPr wrap="square" lIns="0" tIns="0" rIns="0" bIns="0" rtlCol="0" anchor="ctr"/>
          <a:lstStyle/>
          <a:p>
            <a:pPr marL="0" indent="0">
              <a:buNone/>
            </a:pPr>
            <a:r>
              <a:rPr lang="en-US" sz="1600" b="1">
                <a:solidFill>
                  <a:srgbClr val="1A3048"/>
                </a:solidFill>
                <a:latin typeface="Myriad for Rabobank"/>
                <a:ea typeface="Aptos Display" pitchFamily="34" charset="-122"/>
                <a:cs typeface="Aptos Display" pitchFamily="34" charset="-120"/>
              </a:rPr>
              <a:t>System adapters</a:t>
            </a:r>
            <a:endParaRPr lang="en-US" sz="1600">
              <a:latin typeface="Myriad for Rabobank"/>
            </a:endParaRPr>
          </a:p>
        </p:txBody>
      </p:sp>
      <p:sp>
        <p:nvSpPr>
          <p:cNvPr id="59" name="Shape 40"/>
          <p:cNvSpPr/>
          <p:nvPr/>
        </p:nvSpPr>
        <p:spPr>
          <a:xfrm>
            <a:off x="9354312" y="2670048"/>
            <a:ext cx="1938528" cy="1"/>
          </a:xfrm>
          <a:prstGeom prst="line">
            <a:avLst/>
          </a:prstGeom>
          <a:noFill/>
          <a:ln w="8890">
            <a:solidFill>
              <a:srgbClr val="CBD7E5"/>
            </a:solidFill>
            <a:prstDash val="solid"/>
          </a:ln>
        </p:spPr>
        <p:txBody>
          <a:bodyPr/>
          <a:lstStyle/>
          <a:p>
            <a:endParaRPr lang="en-US" sz="2000">
              <a:latin typeface="Myriad for Rabobank"/>
            </a:endParaRPr>
          </a:p>
        </p:txBody>
      </p:sp>
      <p:pic>
        <p:nvPicPr>
          <p:cNvPr id="60" name="Image 1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933688" y="2807208"/>
            <a:ext cx="118872" cy="118872"/>
          </a:xfrm>
          <a:prstGeom prst="rect">
            <a:avLst/>
          </a:prstGeom>
        </p:spPr>
      </p:pic>
      <p:sp>
        <p:nvSpPr>
          <p:cNvPr id="61" name="Text 41"/>
          <p:cNvSpPr/>
          <p:nvPr/>
        </p:nvSpPr>
        <p:spPr>
          <a:xfrm>
            <a:off x="9116568" y="2793492"/>
            <a:ext cx="2240280" cy="251460"/>
          </a:xfrm>
          <a:prstGeom prst="rect">
            <a:avLst/>
          </a:prstGeom>
          <a:noFill/>
          <a:ln/>
        </p:spPr>
        <p:txBody>
          <a:bodyPr wrap="square" lIns="0" tIns="0" rIns="0" bIns="0" rtlCol="0" anchor="ctr">
            <a:normAutofit/>
          </a:bodyPr>
          <a:lstStyle/>
          <a:p>
            <a:pPr marL="0" indent="0">
              <a:buNone/>
            </a:pPr>
            <a:r>
              <a:rPr lang="en-US" sz="1100">
                <a:solidFill>
                  <a:srgbClr val="1A3048"/>
                </a:solidFill>
                <a:latin typeface="Myriad for Rabobank"/>
                <a:ea typeface="Aptos" pitchFamily="34" charset="-122"/>
                <a:cs typeface="Aptos" pitchFamily="34" charset="-120"/>
              </a:rPr>
              <a:t>Collibra API</a:t>
            </a:r>
            <a:endParaRPr lang="en-US" sz="1100">
              <a:latin typeface="Myriad for Rabobank"/>
            </a:endParaRPr>
          </a:p>
        </p:txBody>
      </p:sp>
      <p:pic>
        <p:nvPicPr>
          <p:cNvPr id="62" name="Image 18"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933688" y="3058668"/>
            <a:ext cx="118872" cy="118872"/>
          </a:xfrm>
          <a:prstGeom prst="rect">
            <a:avLst/>
          </a:prstGeom>
        </p:spPr>
      </p:pic>
      <p:sp>
        <p:nvSpPr>
          <p:cNvPr id="63" name="Text 42"/>
          <p:cNvSpPr/>
          <p:nvPr/>
        </p:nvSpPr>
        <p:spPr>
          <a:xfrm>
            <a:off x="9116568" y="3044952"/>
            <a:ext cx="2240280" cy="251460"/>
          </a:xfrm>
          <a:prstGeom prst="rect">
            <a:avLst/>
          </a:prstGeom>
          <a:noFill/>
          <a:ln/>
        </p:spPr>
        <p:txBody>
          <a:bodyPr wrap="square" lIns="0" tIns="0" rIns="0" bIns="0" rtlCol="0" anchor="ctr">
            <a:normAutofit/>
          </a:bodyPr>
          <a:lstStyle/>
          <a:p>
            <a:pPr marL="0" indent="0">
              <a:buNone/>
            </a:pPr>
            <a:r>
              <a:rPr lang="en-US" sz="1100">
                <a:solidFill>
                  <a:srgbClr val="1A3048"/>
                </a:solidFill>
                <a:latin typeface="Myriad for Rabobank"/>
                <a:ea typeface="Aptos" pitchFamily="34" charset="-122"/>
                <a:cs typeface="Aptos" pitchFamily="34" charset="-120"/>
              </a:rPr>
              <a:t>ADLS Gen2</a:t>
            </a:r>
            <a:endParaRPr lang="en-US" sz="1100">
              <a:latin typeface="Myriad for Rabobank"/>
            </a:endParaRPr>
          </a:p>
        </p:txBody>
      </p:sp>
      <p:pic>
        <p:nvPicPr>
          <p:cNvPr id="64" name="Image 19"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933688" y="3310128"/>
            <a:ext cx="118872" cy="118872"/>
          </a:xfrm>
          <a:prstGeom prst="rect">
            <a:avLst/>
          </a:prstGeom>
        </p:spPr>
      </p:pic>
      <p:sp>
        <p:nvSpPr>
          <p:cNvPr id="65" name="Text 43"/>
          <p:cNvSpPr/>
          <p:nvPr/>
        </p:nvSpPr>
        <p:spPr>
          <a:xfrm>
            <a:off x="9116568" y="3296412"/>
            <a:ext cx="2240280" cy="251460"/>
          </a:xfrm>
          <a:prstGeom prst="rect">
            <a:avLst/>
          </a:prstGeom>
          <a:noFill/>
          <a:ln/>
        </p:spPr>
        <p:txBody>
          <a:bodyPr wrap="square" lIns="0" tIns="0" rIns="0" bIns="0" rtlCol="0" anchor="ctr">
            <a:normAutofit/>
          </a:bodyPr>
          <a:lstStyle/>
          <a:p>
            <a:pPr marL="0" indent="0">
              <a:buNone/>
            </a:pPr>
            <a:r>
              <a:rPr lang="en-US" sz="1100">
                <a:solidFill>
                  <a:srgbClr val="1A3048"/>
                </a:solidFill>
                <a:latin typeface="Myriad for Rabobank"/>
                <a:ea typeface="Aptos" pitchFamily="34" charset="-122"/>
                <a:cs typeface="Aptos" pitchFamily="34" charset="-120"/>
              </a:rPr>
              <a:t>GRFD2 + portfolio DBs</a:t>
            </a:r>
            <a:endParaRPr lang="en-US" sz="1100">
              <a:latin typeface="Myriad for Rabobank"/>
            </a:endParaRPr>
          </a:p>
        </p:txBody>
      </p:sp>
      <p:pic>
        <p:nvPicPr>
          <p:cNvPr id="66" name="Image 20"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933688" y="3561588"/>
            <a:ext cx="118872" cy="118872"/>
          </a:xfrm>
          <a:prstGeom prst="rect">
            <a:avLst/>
          </a:prstGeom>
        </p:spPr>
      </p:pic>
      <p:sp>
        <p:nvSpPr>
          <p:cNvPr id="67" name="Text 44"/>
          <p:cNvSpPr/>
          <p:nvPr/>
        </p:nvSpPr>
        <p:spPr>
          <a:xfrm>
            <a:off x="9116568" y="3547872"/>
            <a:ext cx="2240280" cy="251460"/>
          </a:xfrm>
          <a:prstGeom prst="rect">
            <a:avLst/>
          </a:prstGeom>
          <a:noFill/>
          <a:ln/>
        </p:spPr>
        <p:txBody>
          <a:bodyPr wrap="square" lIns="0" tIns="0" rIns="0" bIns="0" rtlCol="0" anchor="ctr">
            <a:normAutofit/>
          </a:bodyPr>
          <a:lstStyle/>
          <a:p>
            <a:pPr marL="0" indent="0">
              <a:buNone/>
            </a:pPr>
            <a:r>
              <a:rPr lang="en-US" sz="1100">
                <a:solidFill>
                  <a:srgbClr val="1A3048"/>
                </a:solidFill>
                <a:latin typeface="Myriad for Rabobank"/>
                <a:ea typeface="Aptos" pitchFamily="34" charset="-122"/>
                <a:cs typeface="Aptos" pitchFamily="34" charset="-120"/>
              </a:rPr>
              <a:t>nBridge UI / API</a:t>
            </a:r>
            <a:endParaRPr lang="en-US" sz="1100">
              <a:latin typeface="Myriad for Rabobank"/>
            </a:endParaRPr>
          </a:p>
        </p:txBody>
      </p:sp>
      <p:sp>
        <p:nvSpPr>
          <p:cNvPr id="68" name="Shape 45"/>
          <p:cNvSpPr/>
          <p:nvPr/>
        </p:nvSpPr>
        <p:spPr>
          <a:xfrm>
            <a:off x="2322576" y="3054096"/>
            <a:ext cx="457200" cy="1"/>
          </a:xfrm>
          <a:prstGeom prst="line">
            <a:avLst/>
          </a:prstGeom>
          <a:noFill/>
          <a:ln w="21590">
            <a:solidFill>
              <a:srgbClr val="0868C9"/>
            </a:solidFill>
            <a:prstDash val="solid"/>
            <a:headEnd type="none"/>
            <a:tailEnd type="triangle"/>
          </a:ln>
        </p:spPr>
        <p:txBody>
          <a:bodyPr/>
          <a:lstStyle/>
          <a:p>
            <a:endParaRPr lang="en-US" sz="2000">
              <a:latin typeface="Myriad for Rabobank"/>
            </a:endParaRPr>
          </a:p>
        </p:txBody>
      </p:sp>
      <p:sp>
        <p:nvSpPr>
          <p:cNvPr id="69" name="Shape 46"/>
          <p:cNvSpPr/>
          <p:nvPr/>
        </p:nvSpPr>
        <p:spPr>
          <a:xfrm>
            <a:off x="5120640" y="3054096"/>
            <a:ext cx="457200" cy="1"/>
          </a:xfrm>
          <a:prstGeom prst="line">
            <a:avLst/>
          </a:prstGeom>
          <a:noFill/>
          <a:ln w="21590">
            <a:solidFill>
              <a:srgbClr val="0868C9"/>
            </a:solidFill>
            <a:prstDash val="solid"/>
            <a:headEnd type="none"/>
            <a:tailEnd type="triangle"/>
          </a:ln>
        </p:spPr>
        <p:txBody>
          <a:bodyPr/>
          <a:lstStyle/>
          <a:p>
            <a:endParaRPr lang="en-US" sz="2000">
              <a:latin typeface="Myriad for Rabobank"/>
            </a:endParaRPr>
          </a:p>
        </p:txBody>
      </p:sp>
      <p:sp>
        <p:nvSpPr>
          <p:cNvPr id="70" name="Shape 47"/>
          <p:cNvSpPr/>
          <p:nvPr/>
        </p:nvSpPr>
        <p:spPr>
          <a:xfrm>
            <a:off x="8119872" y="3054096"/>
            <a:ext cx="566928" cy="1"/>
          </a:xfrm>
          <a:prstGeom prst="line">
            <a:avLst/>
          </a:prstGeom>
          <a:noFill/>
          <a:ln w="21590">
            <a:solidFill>
              <a:srgbClr val="0868C9"/>
            </a:solidFill>
            <a:prstDash val="solid"/>
            <a:headEnd type="none"/>
            <a:tailEnd type="triangle"/>
          </a:ln>
        </p:spPr>
        <p:txBody>
          <a:bodyPr/>
          <a:lstStyle/>
          <a:p>
            <a:endParaRPr lang="en-US" sz="2000">
              <a:latin typeface="Myriad for Rabobank"/>
            </a:endParaRPr>
          </a:p>
        </p:txBody>
      </p:sp>
      <p:sp>
        <p:nvSpPr>
          <p:cNvPr id="71" name="Shape 48"/>
          <p:cNvSpPr/>
          <p:nvPr/>
        </p:nvSpPr>
        <p:spPr>
          <a:xfrm>
            <a:off x="6848856" y="3931920"/>
            <a:ext cx="1" cy="356616"/>
          </a:xfrm>
          <a:prstGeom prst="line">
            <a:avLst/>
          </a:prstGeom>
          <a:noFill/>
          <a:ln w="20320">
            <a:solidFill>
              <a:srgbClr val="6750C8"/>
            </a:solidFill>
            <a:prstDash val="solid"/>
            <a:headEnd type="none"/>
            <a:tailEnd type="triangle"/>
          </a:ln>
        </p:spPr>
        <p:txBody>
          <a:bodyPr/>
          <a:lstStyle/>
          <a:p>
            <a:endParaRPr lang="en-US" sz="2000">
              <a:latin typeface="Myriad for Rabobank"/>
            </a:endParaRPr>
          </a:p>
        </p:txBody>
      </p:sp>
      <p:sp>
        <p:nvSpPr>
          <p:cNvPr id="72" name="Shape 49"/>
          <p:cNvSpPr/>
          <p:nvPr/>
        </p:nvSpPr>
        <p:spPr>
          <a:xfrm>
            <a:off x="4617720" y="4315968"/>
            <a:ext cx="4736592" cy="841248"/>
          </a:xfrm>
          <a:prstGeom prst="roundRect">
            <a:avLst>
              <a:gd name="adj" fmla="val 8696"/>
            </a:avLst>
          </a:prstGeom>
          <a:solidFill>
            <a:srgbClr val="EFFAF6"/>
          </a:solidFill>
          <a:ln w="13970">
            <a:solidFill>
              <a:srgbClr val="078A69"/>
            </a:solidFill>
            <a:prstDash val="solid"/>
          </a:ln>
          <a:effectLst>
            <a:outerShdw blurRad="15240" dist="5080" dir="2700000" algn="bl" rotWithShape="0">
              <a:srgbClr val="1A3048">
                <a:alpha val="8000"/>
              </a:srgbClr>
            </a:outerShdw>
          </a:effectLst>
        </p:spPr>
        <p:txBody>
          <a:bodyPr/>
          <a:lstStyle/>
          <a:p>
            <a:endParaRPr lang="en-US" sz="2000">
              <a:latin typeface="Myriad for Rabobank"/>
            </a:endParaRPr>
          </a:p>
        </p:txBody>
      </p:sp>
      <p:sp>
        <p:nvSpPr>
          <p:cNvPr id="73" name="Shape 50"/>
          <p:cNvSpPr/>
          <p:nvPr/>
        </p:nvSpPr>
        <p:spPr>
          <a:xfrm>
            <a:off x="4617720" y="4315968"/>
            <a:ext cx="64008" cy="841248"/>
          </a:xfrm>
          <a:prstGeom prst="rect">
            <a:avLst/>
          </a:prstGeom>
          <a:solidFill>
            <a:srgbClr val="078A69"/>
          </a:solidFill>
          <a:ln w="12700">
            <a:solidFill>
              <a:srgbClr val="078A69"/>
            </a:solidFill>
            <a:prstDash val="solid"/>
          </a:ln>
        </p:spPr>
        <p:txBody>
          <a:bodyPr/>
          <a:lstStyle/>
          <a:p>
            <a:endParaRPr lang="en-US" sz="2000">
              <a:latin typeface="Myriad for Rabobank"/>
            </a:endParaRPr>
          </a:p>
        </p:txBody>
      </p:sp>
      <p:sp>
        <p:nvSpPr>
          <p:cNvPr id="74" name="Shape 51"/>
          <p:cNvSpPr/>
          <p:nvPr/>
        </p:nvSpPr>
        <p:spPr>
          <a:xfrm>
            <a:off x="4846320" y="4480560"/>
            <a:ext cx="475488" cy="475488"/>
          </a:xfrm>
          <a:prstGeom prst="ellipse">
            <a:avLst/>
          </a:prstGeom>
          <a:solidFill>
            <a:srgbClr val="FFFFFF"/>
          </a:solidFill>
          <a:ln w="8890">
            <a:solidFill>
              <a:srgbClr val="DCE6F1"/>
            </a:solidFill>
            <a:prstDash val="solid"/>
          </a:ln>
          <a:effectLst>
            <a:outerShdw blurRad="15240" dist="5080" dir="2700000" algn="bl" rotWithShape="0">
              <a:srgbClr val="000000">
                <a:alpha val="10000"/>
              </a:srgbClr>
            </a:outerShdw>
          </a:effectLst>
        </p:spPr>
        <p:txBody>
          <a:bodyPr/>
          <a:lstStyle/>
          <a:p>
            <a:endParaRPr lang="en-US" sz="2000">
              <a:latin typeface="Myriad for Rabobank"/>
            </a:endParaRPr>
          </a:p>
        </p:txBody>
      </p:sp>
      <p:pic>
        <p:nvPicPr>
          <p:cNvPr id="75" name="Image 21"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960437" y="4594677"/>
            <a:ext cx="247254" cy="247254"/>
          </a:xfrm>
          <a:prstGeom prst="rect">
            <a:avLst/>
          </a:prstGeom>
        </p:spPr>
      </p:pic>
      <p:sp>
        <p:nvSpPr>
          <p:cNvPr id="76" name="Text 52"/>
          <p:cNvSpPr/>
          <p:nvPr/>
        </p:nvSpPr>
        <p:spPr>
          <a:xfrm>
            <a:off x="5468112" y="4410516"/>
            <a:ext cx="1828800" cy="228600"/>
          </a:xfrm>
          <a:prstGeom prst="rect">
            <a:avLst/>
          </a:prstGeom>
          <a:noFill/>
          <a:ln/>
        </p:spPr>
        <p:txBody>
          <a:bodyPr wrap="square" lIns="0" tIns="0" rIns="0" bIns="0" rtlCol="0" anchor="ctr"/>
          <a:lstStyle/>
          <a:p>
            <a:pPr marL="0" indent="0">
              <a:buNone/>
            </a:pPr>
            <a:r>
              <a:rPr lang="en-US" sz="1600" b="1">
                <a:solidFill>
                  <a:srgbClr val="078A69"/>
                </a:solidFill>
                <a:latin typeface="Myriad for Rabobank"/>
              </a:rPr>
              <a:t>Evidence store</a:t>
            </a:r>
            <a:endParaRPr lang="en-US" sz="1600">
              <a:latin typeface="Myriad for Rabobank"/>
            </a:endParaRPr>
          </a:p>
        </p:txBody>
      </p:sp>
      <p:sp>
        <p:nvSpPr>
          <p:cNvPr id="77" name="Shape 53"/>
          <p:cNvSpPr/>
          <p:nvPr/>
        </p:nvSpPr>
        <p:spPr>
          <a:xfrm>
            <a:off x="5468112" y="4745736"/>
            <a:ext cx="3154680" cy="1"/>
          </a:xfrm>
          <a:prstGeom prst="line">
            <a:avLst/>
          </a:prstGeom>
          <a:noFill/>
          <a:ln w="8890">
            <a:solidFill>
              <a:srgbClr val="BFDACE"/>
            </a:solidFill>
            <a:prstDash val="solid"/>
          </a:ln>
        </p:spPr>
        <p:txBody>
          <a:bodyPr/>
          <a:lstStyle/>
          <a:p>
            <a:endParaRPr lang="en-US" sz="2000">
              <a:latin typeface="Myriad for Rabobank"/>
            </a:endParaRPr>
          </a:p>
        </p:txBody>
      </p:sp>
      <p:sp>
        <p:nvSpPr>
          <p:cNvPr id="78" name="Text 54"/>
          <p:cNvSpPr/>
          <p:nvPr/>
        </p:nvSpPr>
        <p:spPr>
          <a:xfrm>
            <a:off x="5376851" y="4742287"/>
            <a:ext cx="4232736" cy="91436"/>
          </a:xfrm>
          <a:prstGeom prst="rect">
            <a:avLst/>
          </a:prstGeom>
          <a:noFill/>
          <a:ln/>
        </p:spPr>
        <p:txBody>
          <a:bodyPr wrap="square" lIns="0" tIns="0" rIns="0" bIns="0" rtlCol="0" anchor="ctr">
            <a:noAutofit/>
          </a:bodyPr>
          <a:lstStyle/>
          <a:p>
            <a:pPr marL="0" indent="0">
              <a:buNone/>
            </a:pPr>
            <a:r>
              <a:rPr lang="en-US" sz="1400">
                <a:solidFill>
                  <a:srgbClr val="1A3048"/>
                </a:solidFill>
                <a:latin typeface="Myriad for Rabobank"/>
              </a:rPr>
              <a:t>JSON results  •  Logs  •  SQL snapshots  •  Dashboards</a:t>
            </a:r>
            <a:endParaRPr lang="en-US" sz="1400">
              <a:latin typeface="Myriad for Rabobank"/>
            </a:endParaRPr>
          </a:p>
        </p:txBody>
      </p:sp>
      <p:sp>
        <p:nvSpPr>
          <p:cNvPr id="79" name="Shape 55"/>
          <p:cNvSpPr/>
          <p:nvPr/>
        </p:nvSpPr>
        <p:spPr>
          <a:xfrm>
            <a:off x="347472" y="5266606"/>
            <a:ext cx="11155680" cy="1005840"/>
          </a:xfrm>
          <a:prstGeom prst="roundRect">
            <a:avLst>
              <a:gd name="adj" fmla="val 5455"/>
            </a:avLst>
          </a:prstGeom>
          <a:solidFill>
            <a:srgbClr val="FFFFFF">
              <a:alpha val="80000"/>
            </a:srgbClr>
          </a:solidFill>
          <a:ln w="10160">
            <a:solidFill>
              <a:srgbClr val="C7D3E2"/>
            </a:solidFill>
            <a:prstDash val="solid"/>
          </a:ln>
        </p:spPr>
        <p:txBody>
          <a:bodyPr/>
          <a:lstStyle/>
          <a:p>
            <a:endParaRPr lang="en-US" sz="2800">
              <a:latin typeface="Myriad for Rabobank"/>
            </a:endParaRPr>
          </a:p>
        </p:txBody>
      </p:sp>
      <p:sp>
        <p:nvSpPr>
          <p:cNvPr id="80" name="Text 56"/>
          <p:cNvSpPr/>
          <p:nvPr/>
        </p:nvSpPr>
        <p:spPr>
          <a:xfrm>
            <a:off x="4663440" y="5321470"/>
            <a:ext cx="2880360" cy="219456"/>
          </a:xfrm>
          <a:prstGeom prst="rect">
            <a:avLst/>
          </a:prstGeom>
          <a:noFill/>
          <a:ln/>
        </p:spPr>
        <p:txBody>
          <a:bodyPr wrap="square" lIns="0" tIns="0" rIns="0" bIns="0" rtlCol="0" anchor="ctr"/>
          <a:lstStyle/>
          <a:p>
            <a:pPr marL="0" indent="0" algn="ctr">
              <a:buNone/>
            </a:pPr>
            <a:r>
              <a:rPr lang="en-US" b="1">
                <a:solidFill>
                  <a:srgbClr val="1A3048"/>
                </a:solidFill>
                <a:latin typeface="Myriad for Rabobank"/>
              </a:rPr>
              <a:t>Cross-cutting controls</a:t>
            </a:r>
            <a:endParaRPr lang="en-US">
              <a:latin typeface="Myriad for Rabobank"/>
            </a:endParaRPr>
          </a:p>
        </p:txBody>
      </p:sp>
      <p:sp>
        <p:nvSpPr>
          <p:cNvPr id="81" name="Shape 57"/>
          <p:cNvSpPr/>
          <p:nvPr/>
        </p:nvSpPr>
        <p:spPr>
          <a:xfrm>
            <a:off x="676656" y="5431198"/>
            <a:ext cx="3840480" cy="1"/>
          </a:xfrm>
          <a:prstGeom prst="line">
            <a:avLst/>
          </a:prstGeom>
          <a:noFill/>
          <a:ln w="8890">
            <a:solidFill>
              <a:srgbClr val="D7E0EB"/>
            </a:solidFill>
            <a:prstDash val="solid"/>
          </a:ln>
        </p:spPr>
        <p:txBody>
          <a:bodyPr/>
          <a:lstStyle/>
          <a:p>
            <a:endParaRPr lang="en-US" sz="2800">
              <a:latin typeface="Myriad for Rabobank"/>
            </a:endParaRPr>
          </a:p>
        </p:txBody>
      </p:sp>
      <p:sp>
        <p:nvSpPr>
          <p:cNvPr id="82" name="Shape 58"/>
          <p:cNvSpPr/>
          <p:nvPr/>
        </p:nvSpPr>
        <p:spPr>
          <a:xfrm>
            <a:off x="7699248" y="5431198"/>
            <a:ext cx="3474720" cy="1"/>
          </a:xfrm>
          <a:prstGeom prst="line">
            <a:avLst/>
          </a:prstGeom>
          <a:noFill/>
          <a:ln w="8890">
            <a:solidFill>
              <a:srgbClr val="D7E0EB"/>
            </a:solidFill>
            <a:prstDash val="solid"/>
          </a:ln>
        </p:spPr>
        <p:txBody>
          <a:bodyPr/>
          <a:lstStyle/>
          <a:p>
            <a:endParaRPr lang="en-US" sz="2800">
              <a:latin typeface="Myriad for Rabobank"/>
            </a:endParaRPr>
          </a:p>
        </p:txBody>
      </p:sp>
      <p:sp>
        <p:nvSpPr>
          <p:cNvPr id="83" name="Shape 59"/>
          <p:cNvSpPr/>
          <p:nvPr/>
        </p:nvSpPr>
        <p:spPr>
          <a:xfrm>
            <a:off x="768096" y="5614078"/>
            <a:ext cx="493776" cy="493776"/>
          </a:xfrm>
          <a:prstGeom prst="ellipse">
            <a:avLst/>
          </a:prstGeom>
          <a:solidFill>
            <a:srgbClr val="F8FBFF"/>
          </a:solidFill>
          <a:ln w="8890">
            <a:solidFill>
              <a:srgbClr val="DCE6F1"/>
            </a:solidFill>
            <a:prstDash val="solid"/>
          </a:ln>
          <a:effectLst>
            <a:outerShdw blurRad="15240" dist="5080" dir="2700000" algn="bl" rotWithShape="0">
              <a:srgbClr val="000000">
                <a:alpha val="10000"/>
              </a:srgbClr>
            </a:outerShdw>
          </a:effectLst>
        </p:spPr>
        <p:txBody>
          <a:bodyPr/>
          <a:lstStyle/>
          <a:p>
            <a:endParaRPr lang="en-US" sz="2800">
              <a:latin typeface="Myriad for Rabobank"/>
            </a:endParaRPr>
          </a:p>
        </p:txBody>
      </p:sp>
      <p:pic>
        <p:nvPicPr>
          <p:cNvPr id="84" name="Image 22"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86602" y="5732584"/>
            <a:ext cx="256764" cy="256764"/>
          </a:xfrm>
          <a:prstGeom prst="rect">
            <a:avLst/>
          </a:prstGeom>
        </p:spPr>
      </p:pic>
      <p:sp>
        <p:nvSpPr>
          <p:cNvPr id="85" name="Text 60"/>
          <p:cNvSpPr/>
          <p:nvPr/>
        </p:nvSpPr>
        <p:spPr>
          <a:xfrm>
            <a:off x="1389888" y="5623222"/>
            <a:ext cx="1572768" cy="182880"/>
          </a:xfrm>
          <a:prstGeom prst="rect">
            <a:avLst/>
          </a:prstGeom>
          <a:noFill/>
          <a:ln/>
        </p:spPr>
        <p:txBody>
          <a:bodyPr wrap="square" lIns="0" tIns="0" rIns="0" bIns="0" rtlCol="0" anchor="ctr">
            <a:noAutofit/>
          </a:bodyPr>
          <a:lstStyle/>
          <a:p>
            <a:pPr marL="0" indent="0">
              <a:buNone/>
            </a:pPr>
            <a:r>
              <a:rPr lang="en-US" sz="1400" b="1">
                <a:solidFill>
                  <a:srgbClr val="0868C9"/>
                </a:solidFill>
                <a:latin typeface="Myriad for Rabobank"/>
              </a:rPr>
              <a:t>Identity + RBAC</a:t>
            </a:r>
            <a:endParaRPr lang="en-US" sz="1400">
              <a:latin typeface="Myriad for Rabobank"/>
            </a:endParaRPr>
          </a:p>
        </p:txBody>
      </p:sp>
      <p:sp>
        <p:nvSpPr>
          <p:cNvPr id="86" name="Text 61"/>
          <p:cNvSpPr/>
          <p:nvPr/>
        </p:nvSpPr>
        <p:spPr>
          <a:xfrm>
            <a:off x="1389888" y="5851822"/>
            <a:ext cx="1664208" cy="292608"/>
          </a:xfrm>
          <a:prstGeom prst="rect">
            <a:avLst/>
          </a:prstGeom>
          <a:noFill/>
          <a:ln/>
        </p:spPr>
        <p:txBody>
          <a:bodyPr wrap="square" lIns="0" tIns="0" rIns="0" bIns="0" rtlCol="0" anchor="ctr">
            <a:noAutofit/>
          </a:bodyPr>
          <a:lstStyle/>
          <a:p>
            <a:pPr marL="0" indent="0">
              <a:buNone/>
            </a:pPr>
            <a:r>
              <a:rPr lang="en-US" sz="1050">
                <a:solidFill>
                  <a:srgbClr val="64748B"/>
                </a:solidFill>
                <a:latin typeface="Myriad for Rabobank"/>
              </a:rPr>
              <a:t>Role-based access</a:t>
            </a:r>
            <a:endParaRPr lang="en-US" sz="1050">
              <a:latin typeface="Myriad for Rabobank"/>
            </a:endParaRPr>
          </a:p>
          <a:p>
            <a:pPr marL="0" indent="0">
              <a:buNone/>
            </a:pPr>
            <a:r>
              <a:rPr lang="en-US" sz="1050">
                <a:solidFill>
                  <a:srgbClr val="64748B"/>
                </a:solidFill>
                <a:latin typeface="Myriad for Rabobank"/>
              </a:rPr>
              <a:t>across the platform</a:t>
            </a:r>
            <a:endParaRPr lang="en-US" sz="1050">
              <a:latin typeface="Myriad for Rabobank"/>
            </a:endParaRPr>
          </a:p>
        </p:txBody>
      </p:sp>
      <p:sp>
        <p:nvSpPr>
          <p:cNvPr id="87" name="Shape 62"/>
          <p:cNvSpPr/>
          <p:nvPr/>
        </p:nvSpPr>
        <p:spPr>
          <a:xfrm>
            <a:off x="3456432" y="5614078"/>
            <a:ext cx="493776" cy="493776"/>
          </a:xfrm>
          <a:prstGeom prst="ellipse">
            <a:avLst/>
          </a:prstGeom>
          <a:solidFill>
            <a:srgbClr val="F8FBFF"/>
          </a:solidFill>
          <a:ln w="8890">
            <a:solidFill>
              <a:srgbClr val="DCE6F1"/>
            </a:solidFill>
            <a:prstDash val="solid"/>
          </a:ln>
          <a:effectLst>
            <a:outerShdw blurRad="15240" dist="5080" dir="2700000" algn="bl" rotWithShape="0">
              <a:srgbClr val="000000">
                <a:alpha val="10000"/>
              </a:srgbClr>
            </a:outerShdw>
          </a:effectLst>
        </p:spPr>
        <p:txBody>
          <a:bodyPr/>
          <a:lstStyle/>
          <a:p>
            <a:endParaRPr lang="en-US" sz="2800">
              <a:latin typeface="Myriad for Rabobank"/>
            </a:endParaRPr>
          </a:p>
        </p:txBody>
      </p:sp>
      <p:pic>
        <p:nvPicPr>
          <p:cNvPr id="88" name="Image 23"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574938" y="5732584"/>
            <a:ext cx="256764" cy="256764"/>
          </a:xfrm>
          <a:prstGeom prst="rect">
            <a:avLst/>
          </a:prstGeom>
        </p:spPr>
      </p:pic>
      <p:sp>
        <p:nvSpPr>
          <p:cNvPr id="89" name="Text 63"/>
          <p:cNvSpPr/>
          <p:nvPr/>
        </p:nvSpPr>
        <p:spPr>
          <a:xfrm>
            <a:off x="4078224" y="5623222"/>
            <a:ext cx="1572768" cy="182880"/>
          </a:xfrm>
          <a:prstGeom prst="rect">
            <a:avLst/>
          </a:prstGeom>
          <a:noFill/>
          <a:ln/>
        </p:spPr>
        <p:txBody>
          <a:bodyPr wrap="square" lIns="0" tIns="0" rIns="0" bIns="0" rtlCol="0" anchor="ctr">
            <a:noAutofit/>
          </a:bodyPr>
          <a:lstStyle/>
          <a:p>
            <a:pPr marL="0" indent="0">
              <a:buNone/>
            </a:pPr>
            <a:r>
              <a:rPr lang="en-US" sz="1400" b="1">
                <a:solidFill>
                  <a:srgbClr val="6750C8"/>
                </a:solidFill>
                <a:latin typeface="Myriad for Rabobank"/>
              </a:rPr>
              <a:t>Secrets outside code</a:t>
            </a:r>
            <a:endParaRPr lang="en-US" sz="1400">
              <a:latin typeface="Myriad for Rabobank"/>
            </a:endParaRPr>
          </a:p>
        </p:txBody>
      </p:sp>
      <p:sp>
        <p:nvSpPr>
          <p:cNvPr id="90" name="Text 64"/>
          <p:cNvSpPr/>
          <p:nvPr/>
        </p:nvSpPr>
        <p:spPr>
          <a:xfrm>
            <a:off x="4078224" y="5851822"/>
            <a:ext cx="1664208" cy="292608"/>
          </a:xfrm>
          <a:prstGeom prst="rect">
            <a:avLst/>
          </a:prstGeom>
          <a:noFill/>
          <a:ln/>
        </p:spPr>
        <p:txBody>
          <a:bodyPr wrap="square" lIns="0" tIns="0" rIns="0" bIns="0" rtlCol="0" anchor="ctr">
            <a:noAutofit/>
          </a:bodyPr>
          <a:lstStyle/>
          <a:p>
            <a:pPr marL="0" indent="0">
              <a:buNone/>
            </a:pPr>
            <a:r>
              <a:rPr lang="en-US" sz="1050">
                <a:solidFill>
                  <a:srgbClr val="64748B"/>
                </a:solidFill>
                <a:latin typeface="Myriad for Rabobank"/>
              </a:rPr>
              <a:t>Key Vault or secure</a:t>
            </a:r>
            <a:endParaRPr lang="en-US" sz="1050">
              <a:latin typeface="Myriad for Rabobank"/>
            </a:endParaRPr>
          </a:p>
          <a:p>
            <a:pPr marL="0" indent="0">
              <a:buNone/>
            </a:pPr>
            <a:r>
              <a:rPr lang="en-US" sz="1050">
                <a:solidFill>
                  <a:srgbClr val="64748B"/>
                </a:solidFill>
                <a:latin typeface="Myriad for Rabobank"/>
              </a:rPr>
              <a:t>secret store</a:t>
            </a:r>
            <a:endParaRPr lang="en-US" sz="1050">
              <a:latin typeface="Myriad for Rabobank"/>
            </a:endParaRPr>
          </a:p>
        </p:txBody>
      </p:sp>
      <p:sp>
        <p:nvSpPr>
          <p:cNvPr id="91" name="Shape 65"/>
          <p:cNvSpPr/>
          <p:nvPr/>
        </p:nvSpPr>
        <p:spPr>
          <a:xfrm>
            <a:off x="6327648" y="5614078"/>
            <a:ext cx="493776" cy="493776"/>
          </a:xfrm>
          <a:prstGeom prst="ellipse">
            <a:avLst/>
          </a:prstGeom>
          <a:solidFill>
            <a:srgbClr val="F8FBFF"/>
          </a:solidFill>
          <a:ln w="8890">
            <a:solidFill>
              <a:srgbClr val="DCE6F1"/>
            </a:solidFill>
            <a:prstDash val="solid"/>
          </a:ln>
          <a:effectLst>
            <a:outerShdw blurRad="15240" dist="5080" dir="2700000" algn="bl" rotWithShape="0">
              <a:srgbClr val="000000">
                <a:alpha val="10000"/>
              </a:srgbClr>
            </a:outerShdw>
          </a:effectLst>
        </p:spPr>
        <p:txBody>
          <a:bodyPr/>
          <a:lstStyle/>
          <a:p>
            <a:endParaRPr lang="en-US" sz="2800">
              <a:latin typeface="Myriad for Rabobank"/>
            </a:endParaRPr>
          </a:p>
        </p:txBody>
      </p:sp>
      <p:pic>
        <p:nvPicPr>
          <p:cNvPr id="92" name="Image 24" descr="preencoded.png"/>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446154" y="5732584"/>
            <a:ext cx="256764" cy="256764"/>
          </a:xfrm>
          <a:prstGeom prst="rect">
            <a:avLst/>
          </a:prstGeom>
        </p:spPr>
      </p:pic>
      <p:sp>
        <p:nvSpPr>
          <p:cNvPr id="93" name="Text 66"/>
          <p:cNvSpPr/>
          <p:nvPr/>
        </p:nvSpPr>
        <p:spPr>
          <a:xfrm>
            <a:off x="6949440" y="5623222"/>
            <a:ext cx="1572768" cy="182880"/>
          </a:xfrm>
          <a:prstGeom prst="rect">
            <a:avLst/>
          </a:prstGeom>
          <a:noFill/>
          <a:ln/>
        </p:spPr>
        <p:txBody>
          <a:bodyPr wrap="square" lIns="0" tIns="0" rIns="0" bIns="0" rtlCol="0" anchor="ctr">
            <a:noAutofit/>
          </a:bodyPr>
          <a:lstStyle/>
          <a:p>
            <a:pPr marL="0" indent="0">
              <a:buNone/>
            </a:pPr>
            <a:r>
              <a:rPr lang="en-US" sz="1400" b="1">
                <a:solidFill>
                  <a:srgbClr val="078A69"/>
                </a:solidFill>
                <a:latin typeface="Myriad for Rabobank"/>
              </a:rPr>
              <a:t>Correlation IDs</a:t>
            </a:r>
            <a:endParaRPr lang="en-US" sz="1400">
              <a:latin typeface="Myriad for Rabobank"/>
            </a:endParaRPr>
          </a:p>
        </p:txBody>
      </p:sp>
      <p:sp>
        <p:nvSpPr>
          <p:cNvPr id="94" name="Text 67"/>
          <p:cNvSpPr/>
          <p:nvPr/>
        </p:nvSpPr>
        <p:spPr>
          <a:xfrm>
            <a:off x="6949440" y="5851822"/>
            <a:ext cx="1664208" cy="292608"/>
          </a:xfrm>
          <a:prstGeom prst="rect">
            <a:avLst/>
          </a:prstGeom>
          <a:noFill/>
          <a:ln/>
        </p:spPr>
        <p:txBody>
          <a:bodyPr wrap="square" lIns="0" tIns="0" rIns="0" bIns="0" rtlCol="0" anchor="ctr">
            <a:noAutofit/>
          </a:bodyPr>
          <a:lstStyle/>
          <a:p>
            <a:pPr marL="0" indent="0">
              <a:buNone/>
            </a:pPr>
            <a:r>
              <a:rPr lang="en-US" sz="1050">
                <a:solidFill>
                  <a:srgbClr val="64748B"/>
                </a:solidFill>
                <a:latin typeface="Myriad for Rabobank"/>
              </a:rPr>
              <a:t>End-to-end traceability</a:t>
            </a:r>
            <a:endParaRPr lang="en-US" sz="1050">
              <a:latin typeface="Myriad for Rabobank"/>
            </a:endParaRPr>
          </a:p>
          <a:p>
            <a:pPr marL="0" indent="0">
              <a:buNone/>
            </a:pPr>
            <a:r>
              <a:rPr lang="en-US" sz="1050">
                <a:solidFill>
                  <a:srgbClr val="64748B"/>
                </a:solidFill>
                <a:latin typeface="Myriad for Rabobank"/>
              </a:rPr>
              <a:t>across all services</a:t>
            </a:r>
            <a:endParaRPr lang="en-US" sz="1050">
              <a:latin typeface="Myriad for Rabobank"/>
            </a:endParaRPr>
          </a:p>
        </p:txBody>
      </p:sp>
      <p:sp>
        <p:nvSpPr>
          <p:cNvPr id="95" name="Shape 68"/>
          <p:cNvSpPr/>
          <p:nvPr/>
        </p:nvSpPr>
        <p:spPr>
          <a:xfrm>
            <a:off x="9089136" y="5614078"/>
            <a:ext cx="493776" cy="493776"/>
          </a:xfrm>
          <a:prstGeom prst="ellipse">
            <a:avLst/>
          </a:prstGeom>
          <a:solidFill>
            <a:srgbClr val="F8FBFF"/>
          </a:solidFill>
          <a:ln w="8890">
            <a:solidFill>
              <a:srgbClr val="DCE6F1"/>
            </a:solidFill>
            <a:prstDash val="solid"/>
          </a:ln>
          <a:effectLst>
            <a:outerShdw blurRad="15240" dist="5080" dir="2700000" algn="bl" rotWithShape="0">
              <a:srgbClr val="000000">
                <a:alpha val="10000"/>
              </a:srgbClr>
            </a:outerShdw>
          </a:effectLst>
        </p:spPr>
        <p:txBody>
          <a:bodyPr/>
          <a:lstStyle/>
          <a:p>
            <a:endParaRPr lang="en-US" sz="2800">
              <a:latin typeface="Myriad for Rabobank"/>
            </a:endParaRPr>
          </a:p>
        </p:txBody>
      </p:sp>
      <p:pic>
        <p:nvPicPr>
          <p:cNvPr id="96" name="Image 25" descr="preencoded.png"/>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207642" y="5732584"/>
            <a:ext cx="256764" cy="256764"/>
          </a:xfrm>
          <a:prstGeom prst="rect">
            <a:avLst/>
          </a:prstGeom>
        </p:spPr>
      </p:pic>
      <p:sp>
        <p:nvSpPr>
          <p:cNvPr id="97" name="Text 69"/>
          <p:cNvSpPr/>
          <p:nvPr/>
        </p:nvSpPr>
        <p:spPr>
          <a:xfrm>
            <a:off x="9710928" y="5623222"/>
            <a:ext cx="1572768" cy="182880"/>
          </a:xfrm>
          <a:prstGeom prst="rect">
            <a:avLst/>
          </a:prstGeom>
          <a:noFill/>
          <a:ln/>
        </p:spPr>
        <p:txBody>
          <a:bodyPr wrap="square" lIns="0" tIns="0" rIns="0" bIns="0" rtlCol="0" anchor="ctr">
            <a:noAutofit/>
          </a:bodyPr>
          <a:lstStyle/>
          <a:p>
            <a:pPr marL="0" indent="0">
              <a:buNone/>
            </a:pPr>
            <a:r>
              <a:rPr lang="en-US" sz="1400" b="1">
                <a:solidFill>
                  <a:srgbClr val="0868C9"/>
                </a:solidFill>
                <a:latin typeface="Myriad for Rabobank"/>
              </a:rPr>
              <a:t>Audit trail</a:t>
            </a:r>
            <a:endParaRPr lang="en-US" sz="1400">
              <a:latin typeface="Myriad for Rabobank"/>
            </a:endParaRPr>
          </a:p>
        </p:txBody>
      </p:sp>
      <p:sp>
        <p:nvSpPr>
          <p:cNvPr id="98" name="Text 70"/>
          <p:cNvSpPr/>
          <p:nvPr/>
        </p:nvSpPr>
        <p:spPr>
          <a:xfrm>
            <a:off x="9710928" y="5851822"/>
            <a:ext cx="1664208" cy="292608"/>
          </a:xfrm>
          <a:prstGeom prst="rect">
            <a:avLst/>
          </a:prstGeom>
          <a:noFill/>
          <a:ln/>
        </p:spPr>
        <p:txBody>
          <a:bodyPr wrap="square" lIns="0" tIns="0" rIns="0" bIns="0" rtlCol="0" anchor="ctr">
            <a:noAutofit/>
          </a:bodyPr>
          <a:lstStyle/>
          <a:p>
            <a:pPr marL="0" indent="0">
              <a:buNone/>
            </a:pPr>
            <a:r>
              <a:rPr lang="en-US" sz="1050">
                <a:solidFill>
                  <a:srgbClr val="64748B"/>
                </a:solidFill>
                <a:latin typeface="Myriad for Rabobank"/>
              </a:rPr>
              <a:t>Immutable logs and</a:t>
            </a:r>
            <a:endParaRPr lang="en-US" sz="1050">
              <a:latin typeface="Myriad for Rabobank"/>
            </a:endParaRPr>
          </a:p>
          <a:p>
            <a:pPr marL="0" indent="0">
              <a:buNone/>
            </a:pPr>
            <a:r>
              <a:rPr lang="en-US" sz="1050">
                <a:solidFill>
                  <a:srgbClr val="64748B"/>
                </a:solidFill>
                <a:latin typeface="Myriad for Rabobank"/>
              </a:rPr>
              <a:t>change history</a:t>
            </a:r>
            <a:endParaRPr lang="en-US" sz="1050">
              <a:latin typeface="Myriad for Rabobank"/>
            </a:endParaRPr>
          </a:p>
        </p:txBody>
      </p:sp>
      <p:sp>
        <p:nvSpPr>
          <p:cNvPr id="99"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700" kern="1200">
                <a:solidFill>
                  <a:srgbClr val="7B8AA0"/>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z="1000" smtClean="0">
                <a:latin typeface="Myriad for Rabobank"/>
              </a:rPr>
              <a:pPr algn="r"/>
              <a:t>8</a:t>
            </a:fld>
            <a:endParaRPr lang="en-US" sz="1000">
              <a:latin typeface="Myriad for Rabobank"/>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3" name="Text 1"/>
          <p:cNvSpPr/>
          <p:nvPr/>
        </p:nvSpPr>
        <p:spPr>
          <a:xfrm>
            <a:off x="530352" y="566928"/>
            <a:ext cx="10972800" cy="475488"/>
          </a:xfrm>
          <a:prstGeom prst="rect">
            <a:avLst/>
          </a:prstGeom>
          <a:noFill/>
          <a:ln/>
        </p:spPr>
        <p:txBody>
          <a:bodyPr wrap="square" lIns="0" tIns="0" rIns="0" bIns="0" rtlCol="0" anchor="ctr"/>
          <a:lstStyle/>
          <a:p>
            <a:pPr marL="0" indent="0">
              <a:buNone/>
            </a:pPr>
            <a:r>
              <a:rPr lang="en-US" sz="4000" b="1">
                <a:solidFill>
                  <a:srgbClr val="17324D"/>
                </a:solidFill>
                <a:latin typeface="Myriad for Rabobank"/>
              </a:rPr>
              <a:t>Repo structure for Portfolio Onboarding</a:t>
            </a:r>
            <a:endParaRPr lang="en-US" sz="4000">
              <a:latin typeface="Myriad for Rabobank"/>
            </a:endParaRPr>
          </a:p>
        </p:txBody>
      </p:sp>
      <p:sp>
        <p:nvSpPr>
          <p:cNvPr id="4" name="Text 2"/>
          <p:cNvSpPr/>
          <p:nvPr/>
        </p:nvSpPr>
        <p:spPr>
          <a:xfrm>
            <a:off x="530352" y="1069848"/>
            <a:ext cx="10972800" cy="329184"/>
          </a:xfrm>
          <a:prstGeom prst="rect">
            <a:avLst/>
          </a:prstGeom>
          <a:noFill/>
          <a:ln/>
        </p:spPr>
        <p:txBody>
          <a:bodyPr wrap="square" lIns="0" tIns="0" rIns="0" bIns="0" rtlCol="0" anchor="ctr"/>
          <a:lstStyle/>
          <a:p>
            <a:pPr marL="0" indent="0">
              <a:buNone/>
            </a:pPr>
            <a:r>
              <a:rPr lang="en-US" sz="2000">
                <a:solidFill>
                  <a:srgbClr val="64748B"/>
                </a:solidFill>
                <a:latin typeface="Myriad for Rabobank"/>
              </a:rPr>
              <a:t>A shared core stays stable while adapters and configuration absorb system and portfolio differences</a:t>
            </a:r>
            <a:endParaRPr lang="en-US" sz="2000">
              <a:latin typeface="Myriad for Rabobank"/>
            </a:endParaRPr>
          </a:p>
        </p:txBody>
      </p:sp>
      <p:sp>
        <p:nvSpPr>
          <p:cNvPr id="5" name="Shape 3"/>
          <p:cNvSpPr/>
          <p:nvPr/>
        </p:nvSpPr>
        <p:spPr>
          <a:xfrm>
            <a:off x="548640" y="1600200"/>
            <a:ext cx="4663440" cy="4315968"/>
          </a:xfrm>
          <a:prstGeom prst="roundRect">
            <a:avLst>
              <a:gd name="adj" fmla="val 1059"/>
            </a:avLst>
          </a:prstGeom>
          <a:solidFill>
            <a:srgbClr val="0B1F33"/>
          </a:solidFill>
          <a:ln w="12700">
            <a:solidFill>
              <a:srgbClr val="0B1F33"/>
            </a:solidFill>
            <a:prstDash val="solid"/>
          </a:ln>
          <a:effectLst/>
        </p:spPr>
        <p:txBody>
          <a:bodyPr/>
          <a:lstStyle/>
          <a:p>
            <a:endParaRPr lang="en-US" sz="3200">
              <a:latin typeface="Myriad for Rabobank"/>
            </a:endParaRPr>
          </a:p>
        </p:txBody>
      </p:sp>
      <p:sp>
        <p:nvSpPr>
          <p:cNvPr id="6" name="Text 4"/>
          <p:cNvSpPr/>
          <p:nvPr/>
        </p:nvSpPr>
        <p:spPr>
          <a:xfrm>
            <a:off x="822960" y="1847088"/>
            <a:ext cx="4023360" cy="256032"/>
          </a:xfrm>
          <a:prstGeom prst="rect">
            <a:avLst/>
          </a:prstGeom>
          <a:noFill/>
          <a:ln/>
        </p:spPr>
        <p:txBody>
          <a:bodyPr wrap="square" lIns="0" tIns="0" rIns="0" bIns="0" rtlCol="0" anchor="ctr"/>
          <a:lstStyle/>
          <a:p>
            <a:pPr marL="0" indent="0">
              <a:buNone/>
            </a:pPr>
            <a:r>
              <a:rPr lang="en-US" sz="2400" b="1">
                <a:solidFill>
                  <a:srgbClr val="6BB8FF"/>
                </a:solidFill>
                <a:latin typeface="Myriad for Rabobank"/>
                <a:ea typeface="Aptos Mono" pitchFamily="34" charset="-122"/>
                <a:cs typeface="Aptos Mono" pitchFamily="34" charset="-120"/>
              </a:rPr>
              <a:t>Unified-batch-test-framework/</a:t>
            </a:r>
            <a:endParaRPr lang="en-US" sz="2400">
              <a:latin typeface="Myriad for Rabobank"/>
            </a:endParaRPr>
          </a:p>
        </p:txBody>
      </p:sp>
      <p:sp>
        <p:nvSpPr>
          <p:cNvPr id="7" name="Text 5"/>
          <p:cNvSpPr/>
          <p:nvPr/>
        </p:nvSpPr>
        <p:spPr>
          <a:xfrm>
            <a:off x="822960" y="2198481"/>
            <a:ext cx="4069080" cy="2607174"/>
          </a:xfrm>
          <a:prstGeom prst="rect">
            <a:avLst/>
          </a:prstGeom>
          <a:noFill/>
          <a:ln/>
        </p:spPr>
        <p:txBody>
          <a:bodyPr wrap="square" lIns="254" tIns="254" rIns="254" bIns="254" rtlCol="0" anchor="ctr"/>
          <a:lstStyle/>
          <a:p>
            <a:pPr marL="0" indent="0">
              <a:buNone/>
            </a:pPr>
            <a:r>
              <a:rPr lang="en-US" sz="1400">
                <a:solidFill>
                  <a:srgbClr val="E7EEF5"/>
                </a:solidFill>
                <a:latin typeface="Myriad for Rabobank"/>
                <a:ea typeface="Aptos Mono" pitchFamily="34" charset="-122"/>
                <a:cs typeface="Aptos Mono" pitchFamily="34" charset="-120"/>
              </a:rPr>
              <a:t>├─ src/batch_test/</a:t>
            </a:r>
            <a:endParaRPr lang="en-US" sz="1400">
              <a:latin typeface="Myriad for Rabobank"/>
            </a:endParaRPr>
          </a:p>
          <a:p>
            <a:pPr marL="0" indent="0">
              <a:buNone/>
            </a:pPr>
            <a:r>
              <a:rPr lang="en-US" sz="1400">
                <a:solidFill>
                  <a:srgbClr val="E7EEF5"/>
                </a:solidFill>
                <a:latin typeface="Myriad for Rabobank"/>
                <a:ea typeface="Aptos Mono" pitchFamily="34" charset="-122"/>
                <a:cs typeface="Aptos Mono" pitchFamily="34" charset="-120"/>
              </a:rPr>
              <a:t>│  ├─ core/              Orchestration</a:t>
            </a:r>
            <a:endParaRPr lang="en-US" sz="1400">
              <a:latin typeface="Myriad for Rabobank"/>
            </a:endParaRPr>
          </a:p>
          <a:p>
            <a:pPr marL="0" indent="0">
              <a:buNone/>
            </a:pPr>
            <a:r>
              <a:rPr lang="en-US" sz="1400">
                <a:solidFill>
                  <a:srgbClr val="E7EEF5"/>
                </a:solidFill>
                <a:latin typeface="Myriad for Rabobank"/>
                <a:ea typeface="Aptos Mono" pitchFamily="34" charset="-122"/>
                <a:cs typeface="Aptos Mono" pitchFamily="34" charset="-120"/>
              </a:rPr>
              <a:t>│  ├─ adapters/          Collibra, ADLS, DB, nBridge</a:t>
            </a:r>
            <a:endParaRPr lang="en-US" sz="1400">
              <a:latin typeface="Myriad for Rabobank"/>
            </a:endParaRPr>
          </a:p>
          <a:p>
            <a:pPr marL="0" indent="0">
              <a:buNone/>
            </a:pPr>
            <a:r>
              <a:rPr lang="en-US" sz="1400">
                <a:solidFill>
                  <a:srgbClr val="E7EEF5"/>
                </a:solidFill>
                <a:latin typeface="Myriad for Rabobank"/>
                <a:ea typeface="Aptos Mono" pitchFamily="34" charset="-122"/>
                <a:cs typeface="Aptos Mono" pitchFamily="34" charset="-120"/>
              </a:rPr>
              <a:t>│  ├─ validators/        Schema, Data, Batch, Perf</a:t>
            </a:r>
            <a:endParaRPr lang="en-US" sz="1400">
              <a:latin typeface="Myriad for Rabobank"/>
            </a:endParaRPr>
          </a:p>
          <a:p>
            <a:pPr marL="0" indent="0">
              <a:buNone/>
            </a:pPr>
            <a:r>
              <a:rPr lang="en-US" sz="1400">
                <a:solidFill>
                  <a:srgbClr val="E7EEF5"/>
                </a:solidFill>
                <a:latin typeface="Myriad for Rabobank"/>
                <a:ea typeface="Aptos Mono" pitchFamily="34" charset="-122"/>
                <a:cs typeface="Aptos Mono" pitchFamily="34" charset="-120"/>
              </a:rPr>
              <a:t>│  └─ reporting/         Evidence + Unit Tests</a:t>
            </a:r>
            <a:endParaRPr lang="en-US" sz="1400">
              <a:latin typeface="Myriad for Rabobank"/>
            </a:endParaRPr>
          </a:p>
          <a:p>
            <a:pPr marL="0" indent="0">
              <a:buNone/>
            </a:pPr>
            <a:r>
              <a:rPr lang="en-US" sz="1400">
                <a:solidFill>
                  <a:srgbClr val="E7EEF5"/>
                </a:solidFill>
                <a:latin typeface="Myriad for Rabobank"/>
                <a:ea typeface="Aptos Mono" pitchFamily="34" charset="-122"/>
                <a:cs typeface="Aptos Mono" pitchFamily="34" charset="-120"/>
              </a:rPr>
              <a:t>├─ portfolios/&lt;name&gt;/    Declarative configuration</a:t>
            </a:r>
            <a:endParaRPr lang="en-US" sz="1400">
              <a:latin typeface="Myriad for Rabobank"/>
            </a:endParaRPr>
          </a:p>
          <a:p>
            <a:pPr marL="0" indent="0">
              <a:buNone/>
            </a:pPr>
            <a:r>
              <a:rPr lang="en-US" sz="1400">
                <a:solidFill>
                  <a:srgbClr val="E7EEF5"/>
                </a:solidFill>
                <a:latin typeface="Myriad for Rabobank"/>
                <a:ea typeface="Aptos Mono" pitchFamily="34" charset="-122"/>
                <a:cs typeface="Aptos Mono" pitchFamily="34" charset="-120"/>
              </a:rPr>
              <a:t>├─ tests/                Unit + Contract + Integration</a:t>
            </a:r>
            <a:endParaRPr lang="en-US" sz="1400">
              <a:latin typeface="Myriad for Rabobank"/>
            </a:endParaRPr>
          </a:p>
          <a:p>
            <a:pPr marL="0" indent="0">
              <a:buNone/>
            </a:pPr>
            <a:r>
              <a:rPr lang="en-US" sz="1400">
                <a:solidFill>
                  <a:srgbClr val="E7EEF5"/>
                </a:solidFill>
                <a:latin typeface="Myriad for Rabobank"/>
                <a:ea typeface="Aptos Mono" pitchFamily="34" charset="-122"/>
                <a:cs typeface="Aptos Mono" pitchFamily="34" charset="-120"/>
              </a:rPr>
              <a:t>├─ pipelines/            Reusable YAML templates</a:t>
            </a:r>
            <a:endParaRPr lang="en-US" sz="1400">
              <a:latin typeface="Myriad for Rabobank"/>
            </a:endParaRPr>
          </a:p>
          <a:p>
            <a:pPr marL="0" indent="0">
              <a:buNone/>
            </a:pPr>
            <a:r>
              <a:rPr lang="en-US" sz="1400">
                <a:solidFill>
                  <a:srgbClr val="E7EEF5"/>
                </a:solidFill>
                <a:latin typeface="Myriad for Rabobank"/>
                <a:ea typeface="Aptos Mono" pitchFamily="34" charset="-122"/>
                <a:cs typeface="Aptos Mono" pitchFamily="34" charset="-120"/>
              </a:rPr>
              <a:t>├─ docs/                 Runbooks + Contribution guide</a:t>
            </a:r>
            <a:endParaRPr lang="en-US" sz="1400">
              <a:latin typeface="Myriad for Rabobank"/>
            </a:endParaRPr>
          </a:p>
          <a:p>
            <a:pPr marL="0" indent="0">
              <a:buNone/>
            </a:pPr>
            <a:r>
              <a:rPr lang="en-US" sz="1400">
                <a:solidFill>
                  <a:srgbClr val="E7EEF5"/>
                </a:solidFill>
                <a:latin typeface="Myriad for Rabobank"/>
                <a:ea typeface="Aptos Mono" pitchFamily="34" charset="-122"/>
                <a:cs typeface="Aptos Mono" pitchFamily="34" charset="-120"/>
              </a:rPr>
              <a:t>└─ pyproject.toml        Pinned dependencies + tooling</a:t>
            </a:r>
            <a:endParaRPr lang="en-US" sz="1400">
              <a:latin typeface="Myriad for Rabobank"/>
            </a:endParaRPr>
          </a:p>
        </p:txBody>
      </p:sp>
      <p:sp>
        <p:nvSpPr>
          <p:cNvPr id="8" name="Shape 6"/>
          <p:cNvSpPr/>
          <p:nvPr/>
        </p:nvSpPr>
        <p:spPr>
          <a:xfrm>
            <a:off x="5623560" y="1600200"/>
            <a:ext cx="5989320" cy="859536"/>
          </a:xfrm>
          <a:prstGeom prst="roundRect">
            <a:avLst>
              <a:gd name="adj" fmla="val 6383"/>
            </a:avLst>
          </a:prstGeom>
          <a:solidFill>
            <a:srgbClr val="FFFFFF"/>
          </a:solidFill>
          <a:ln w="15875">
            <a:solidFill>
              <a:srgbClr val="0F6CBD"/>
            </a:solidFill>
            <a:prstDash val="solid"/>
          </a:ln>
          <a:effectLst/>
        </p:spPr>
        <p:txBody>
          <a:bodyPr/>
          <a:lstStyle/>
          <a:p>
            <a:endParaRPr lang="en-US" sz="3200">
              <a:latin typeface="Myriad for Rabobank"/>
            </a:endParaRPr>
          </a:p>
        </p:txBody>
      </p:sp>
      <p:sp>
        <p:nvSpPr>
          <p:cNvPr id="9" name="Shape 7"/>
          <p:cNvSpPr/>
          <p:nvPr/>
        </p:nvSpPr>
        <p:spPr>
          <a:xfrm>
            <a:off x="5623560" y="1600200"/>
            <a:ext cx="73152" cy="859536"/>
          </a:xfrm>
          <a:prstGeom prst="rect">
            <a:avLst/>
          </a:prstGeom>
          <a:solidFill>
            <a:srgbClr val="0F6CBD"/>
          </a:solidFill>
          <a:ln w="12700">
            <a:solidFill>
              <a:srgbClr val="0F6CBD"/>
            </a:solidFill>
            <a:prstDash val="solid"/>
          </a:ln>
        </p:spPr>
        <p:txBody>
          <a:bodyPr/>
          <a:lstStyle/>
          <a:p>
            <a:endParaRPr lang="en-US" sz="3200">
              <a:latin typeface="Myriad for Rabobank"/>
            </a:endParaRPr>
          </a:p>
        </p:txBody>
      </p:sp>
      <p:sp>
        <p:nvSpPr>
          <p:cNvPr id="10" name="Text 8"/>
          <p:cNvSpPr/>
          <p:nvPr/>
        </p:nvSpPr>
        <p:spPr>
          <a:xfrm>
            <a:off x="5788152" y="1728216"/>
            <a:ext cx="5715000" cy="228600"/>
          </a:xfrm>
          <a:prstGeom prst="rect">
            <a:avLst/>
          </a:prstGeom>
          <a:noFill/>
          <a:ln/>
        </p:spPr>
        <p:txBody>
          <a:bodyPr wrap="square" lIns="0" tIns="0" rIns="0" bIns="0" rtlCol="0" anchor="ctr"/>
          <a:lstStyle/>
          <a:p>
            <a:pPr marL="0" indent="0">
              <a:buNone/>
            </a:pPr>
            <a:r>
              <a:rPr lang="en-US" sz="2000" b="1">
                <a:solidFill>
                  <a:srgbClr val="17324D"/>
                </a:solidFill>
                <a:latin typeface="Myriad for Rabobank"/>
              </a:rPr>
              <a:t>Configuration over forks</a:t>
            </a:r>
            <a:endParaRPr lang="en-US" sz="2000">
              <a:latin typeface="Myriad for Rabobank"/>
            </a:endParaRPr>
          </a:p>
        </p:txBody>
      </p:sp>
      <p:sp>
        <p:nvSpPr>
          <p:cNvPr id="11" name="Text 9"/>
          <p:cNvSpPr/>
          <p:nvPr/>
        </p:nvSpPr>
        <p:spPr>
          <a:xfrm>
            <a:off x="5788152" y="2039112"/>
            <a:ext cx="5715000" cy="329184"/>
          </a:xfrm>
          <a:prstGeom prst="rect">
            <a:avLst/>
          </a:prstGeom>
          <a:noFill/>
          <a:ln/>
        </p:spPr>
        <p:txBody>
          <a:bodyPr wrap="square" lIns="254" tIns="254" rIns="254" bIns="254" rtlCol="0" anchor="t">
            <a:noAutofit/>
          </a:bodyPr>
          <a:lstStyle/>
          <a:p>
            <a:pPr marL="0" indent="0">
              <a:buNone/>
            </a:pPr>
            <a:r>
              <a:rPr lang="en-US" sz="1300">
                <a:solidFill>
                  <a:srgbClr val="243447"/>
                </a:solidFill>
                <a:latin typeface="Myriad for Rabobank"/>
              </a:rPr>
              <a:t>One package; portfolio mappings, thresholds and exclusions live in versioned configuration</a:t>
            </a:r>
            <a:endParaRPr lang="en-US" sz="1300">
              <a:latin typeface="Myriad for Rabobank"/>
            </a:endParaRPr>
          </a:p>
        </p:txBody>
      </p:sp>
      <p:sp>
        <p:nvSpPr>
          <p:cNvPr id="12" name="Shape 10"/>
          <p:cNvSpPr/>
          <p:nvPr/>
        </p:nvSpPr>
        <p:spPr>
          <a:xfrm>
            <a:off x="5623560" y="2679192"/>
            <a:ext cx="5989320" cy="859536"/>
          </a:xfrm>
          <a:prstGeom prst="roundRect">
            <a:avLst>
              <a:gd name="adj" fmla="val 6383"/>
            </a:avLst>
          </a:prstGeom>
          <a:solidFill>
            <a:srgbClr val="FFFFFF"/>
          </a:solidFill>
          <a:ln w="15875">
            <a:solidFill>
              <a:srgbClr val="19A7CE"/>
            </a:solidFill>
            <a:prstDash val="solid"/>
          </a:ln>
          <a:effectLst/>
        </p:spPr>
        <p:txBody>
          <a:bodyPr/>
          <a:lstStyle/>
          <a:p>
            <a:endParaRPr lang="en-US" sz="3200">
              <a:latin typeface="Myriad for Rabobank"/>
            </a:endParaRPr>
          </a:p>
        </p:txBody>
      </p:sp>
      <p:sp>
        <p:nvSpPr>
          <p:cNvPr id="13" name="Shape 11"/>
          <p:cNvSpPr/>
          <p:nvPr/>
        </p:nvSpPr>
        <p:spPr>
          <a:xfrm>
            <a:off x="5623560" y="2679192"/>
            <a:ext cx="73152" cy="859536"/>
          </a:xfrm>
          <a:prstGeom prst="rect">
            <a:avLst/>
          </a:prstGeom>
          <a:solidFill>
            <a:srgbClr val="19A7CE"/>
          </a:solidFill>
          <a:ln w="12700">
            <a:solidFill>
              <a:srgbClr val="19A7CE"/>
            </a:solidFill>
            <a:prstDash val="solid"/>
          </a:ln>
        </p:spPr>
        <p:txBody>
          <a:bodyPr/>
          <a:lstStyle/>
          <a:p>
            <a:endParaRPr lang="en-US" sz="3200">
              <a:latin typeface="Myriad for Rabobank"/>
            </a:endParaRPr>
          </a:p>
        </p:txBody>
      </p:sp>
      <p:sp>
        <p:nvSpPr>
          <p:cNvPr id="14" name="Text 12"/>
          <p:cNvSpPr/>
          <p:nvPr/>
        </p:nvSpPr>
        <p:spPr>
          <a:xfrm>
            <a:off x="5788152" y="2807208"/>
            <a:ext cx="5715000" cy="228600"/>
          </a:xfrm>
          <a:prstGeom prst="rect">
            <a:avLst/>
          </a:prstGeom>
          <a:noFill/>
          <a:ln/>
        </p:spPr>
        <p:txBody>
          <a:bodyPr wrap="square" lIns="0" tIns="0" rIns="0" bIns="0" rtlCol="0" anchor="ctr"/>
          <a:lstStyle/>
          <a:p>
            <a:pPr marL="0" indent="0">
              <a:buNone/>
            </a:pPr>
            <a:r>
              <a:rPr lang="en-US" sz="2000" b="1">
                <a:solidFill>
                  <a:srgbClr val="17324D"/>
                </a:solidFill>
                <a:latin typeface="Myriad for Rabobank"/>
              </a:rPr>
              <a:t>Ports and adapters</a:t>
            </a:r>
            <a:endParaRPr lang="en-US" sz="2000">
              <a:latin typeface="Myriad for Rabobank"/>
            </a:endParaRPr>
          </a:p>
        </p:txBody>
      </p:sp>
      <p:sp>
        <p:nvSpPr>
          <p:cNvPr id="15" name="Text 13"/>
          <p:cNvSpPr/>
          <p:nvPr/>
        </p:nvSpPr>
        <p:spPr>
          <a:xfrm>
            <a:off x="5788152" y="3118104"/>
            <a:ext cx="5715000" cy="329184"/>
          </a:xfrm>
          <a:prstGeom prst="rect">
            <a:avLst/>
          </a:prstGeom>
          <a:noFill/>
          <a:ln/>
        </p:spPr>
        <p:txBody>
          <a:bodyPr wrap="square" lIns="254" tIns="254" rIns="254" bIns="254" rtlCol="0" anchor="t">
            <a:normAutofit/>
          </a:bodyPr>
          <a:lstStyle/>
          <a:p>
            <a:pPr marL="0" indent="0">
              <a:buNone/>
            </a:pPr>
            <a:r>
              <a:rPr lang="en-US" sz="1300">
                <a:solidFill>
                  <a:srgbClr val="243447"/>
                </a:solidFill>
                <a:latin typeface="Myriad for Rabobank"/>
              </a:rPr>
              <a:t>Core validation logic depends on portfolios, not the UI locators</a:t>
            </a:r>
            <a:endParaRPr lang="en-US" sz="1300">
              <a:latin typeface="Myriad for Rabobank"/>
            </a:endParaRPr>
          </a:p>
        </p:txBody>
      </p:sp>
      <p:sp>
        <p:nvSpPr>
          <p:cNvPr id="16" name="Shape 14"/>
          <p:cNvSpPr/>
          <p:nvPr/>
        </p:nvSpPr>
        <p:spPr>
          <a:xfrm>
            <a:off x="5623560" y="3758184"/>
            <a:ext cx="5989320" cy="859536"/>
          </a:xfrm>
          <a:prstGeom prst="roundRect">
            <a:avLst>
              <a:gd name="adj" fmla="val 6383"/>
            </a:avLst>
          </a:prstGeom>
          <a:solidFill>
            <a:srgbClr val="FFFFFF"/>
          </a:solidFill>
          <a:ln w="15875">
            <a:solidFill>
              <a:srgbClr val="6B5DD3"/>
            </a:solidFill>
            <a:prstDash val="solid"/>
          </a:ln>
          <a:effectLst/>
        </p:spPr>
        <p:txBody>
          <a:bodyPr/>
          <a:lstStyle/>
          <a:p>
            <a:endParaRPr lang="en-US" sz="3200">
              <a:latin typeface="Myriad for Rabobank"/>
            </a:endParaRPr>
          </a:p>
        </p:txBody>
      </p:sp>
      <p:sp>
        <p:nvSpPr>
          <p:cNvPr id="17" name="Shape 15"/>
          <p:cNvSpPr/>
          <p:nvPr/>
        </p:nvSpPr>
        <p:spPr>
          <a:xfrm>
            <a:off x="5623560" y="3758184"/>
            <a:ext cx="73152" cy="859536"/>
          </a:xfrm>
          <a:prstGeom prst="rect">
            <a:avLst/>
          </a:prstGeom>
          <a:solidFill>
            <a:srgbClr val="6B5DD3"/>
          </a:solidFill>
          <a:ln w="12700">
            <a:solidFill>
              <a:srgbClr val="6B5DD3"/>
            </a:solidFill>
            <a:prstDash val="solid"/>
          </a:ln>
        </p:spPr>
        <p:txBody>
          <a:bodyPr/>
          <a:lstStyle/>
          <a:p>
            <a:endParaRPr lang="en-US" sz="3200">
              <a:latin typeface="Myriad for Rabobank"/>
            </a:endParaRPr>
          </a:p>
        </p:txBody>
      </p:sp>
      <p:sp>
        <p:nvSpPr>
          <p:cNvPr id="18" name="Text 16"/>
          <p:cNvSpPr/>
          <p:nvPr/>
        </p:nvSpPr>
        <p:spPr>
          <a:xfrm>
            <a:off x="5788152" y="3886200"/>
            <a:ext cx="5715000" cy="228600"/>
          </a:xfrm>
          <a:prstGeom prst="rect">
            <a:avLst/>
          </a:prstGeom>
          <a:noFill/>
          <a:ln/>
        </p:spPr>
        <p:txBody>
          <a:bodyPr wrap="square" lIns="0" tIns="0" rIns="0" bIns="0" rtlCol="0" anchor="ctr"/>
          <a:lstStyle/>
          <a:p>
            <a:pPr marL="0" indent="0">
              <a:buNone/>
            </a:pPr>
            <a:r>
              <a:rPr lang="en-US" sz="2000" b="1">
                <a:solidFill>
                  <a:srgbClr val="17324D"/>
                </a:solidFill>
                <a:latin typeface="Myriad for Rabobank"/>
              </a:rPr>
              <a:t>Evidence is a product</a:t>
            </a:r>
            <a:endParaRPr lang="en-US" sz="2000">
              <a:latin typeface="Myriad for Rabobank"/>
            </a:endParaRPr>
          </a:p>
        </p:txBody>
      </p:sp>
      <p:sp>
        <p:nvSpPr>
          <p:cNvPr id="19" name="Text 17"/>
          <p:cNvSpPr/>
          <p:nvPr/>
        </p:nvSpPr>
        <p:spPr>
          <a:xfrm>
            <a:off x="5788152" y="4197096"/>
            <a:ext cx="5715000" cy="329184"/>
          </a:xfrm>
          <a:prstGeom prst="rect">
            <a:avLst/>
          </a:prstGeom>
          <a:noFill/>
          <a:ln/>
        </p:spPr>
        <p:txBody>
          <a:bodyPr wrap="square" lIns="254" tIns="254" rIns="254" bIns="254" rtlCol="0" anchor="t">
            <a:noAutofit/>
          </a:bodyPr>
          <a:lstStyle/>
          <a:p>
            <a:pPr marL="0" indent="0">
              <a:buNone/>
            </a:pPr>
            <a:r>
              <a:rPr lang="en-US" sz="1300">
                <a:solidFill>
                  <a:srgbClr val="243447"/>
                </a:solidFill>
                <a:latin typeface="Myriad for Rabobank"/>
              </a:rPr>
              <a:t>Every execution emits reproducible inputs, normalized snapshots, diffs and machine-readable results</a:t>
            </a:r>
            <a:endParaRPr lang="en-US" sz="1300">
              <a:latin typeface="Myriad for Rabobank"/>
            </a:endParaRPr>
          </a:p>
        </p:txBody>
      </p:sp>
      <p:sp>
        <p:nvSpPr>
          <p:cNvPr id="20" name="Shape 18"/>
          <p:cNvSpPr/>
          <p:nvPr/>
        </p:nvSpPr>
        <p:spPr>
          <a:xfrm>
            <a:off x="5623560" y="4837176"/>
            <a:ext cx="5989320" cy="859536"/>
          </a:xfrm>
          <a:prstGeom prst="roundRect">
            <a:avLst>
              <a:gd name="adj" fmla="val 6383"/>
            </a:avLst>
          </a:prstGeom>
          <a:solidFill>
            <a:srgbClr val="FFFFFF"/>
          </a:solidFill>
          <a:ln w="15875">
            <a:solidFill>
              <a:srgbClr val="138A72"/>
            </a:solidFill>
            <a:prstDash val="solid"/>
          </a:ln>
          <a:effectLst/>
        </p:spPr>
        <p:txBody>
          <a:bodyPr/>
          <a:lstStyle/>
          <a:p>
            <a:endParaRPr lang="en-US" sz="3200">
              <a:latin typeface="Myriad for Rabobank"/>
            </a:endParaRPr>
          </a:p>
        </p:txBody>
      </p:sp>
      <p:sp>
        <p:nvSpPr>
          <p:cNvPr id="21" name="Shape 19"/>
          <p:cNvSpPr/>
          <p:nvPr/>
        </p:nvSpPr>
        <p:spPr>
          <a:xfrm>
            <a:off x="5623560" y="4837176"/>
            <a:ext cx="73152" cy="859536"/>
          </a:xfrm>
          <a:prstGeom prst="rect">
            <a:avLst/>
          </a:prstGeom>
          <a:solidFill>
            <a:srgbClr val="138A72"/>
          </a:solidFill>
          <a:ln w="12700">
            <a:solidFill>
              <a:srgbClr val="138A72"/>
            </a:solidFill>
            <a:prstDash val="solid"/>
          </a:ln>
        </p:spPr>
        <p:txBody>
          <a:bodyPr/>
          <a:lstStyle/>
          <a:p>
            <a:endParaRPr lang="en-US" sz="3200">
              <a:latin typeface="Myriad for Rabobank"/>
            </a:endParaRPr>
          </a:p>
        </p:txBody>
      </p:sp>
      <p:sp>
        <p:nvSpPr>
          <p:cNvPr id="22" name="Text 20"/>
          <p:cNvSpPr/>
          <p:nvPr/>
        </p:nvSpPr>
        <p:spPr>
          <a:xfrm>
            <a:off x="5788152" y="4965192"/>
            <a:ext cx="5715000" cy="228600"/>
          </a:xfrm>
          <a:prstGeom prst="rect">
            <a:avLst/>
          </a:prstGeom>
          <a:noFill/>
          <a:ln/>
        </p:spPr>
        <p:txBody>
          <a:bodyPr wrap="square" lIns="0" tIns="0" rIns="0" bIns="0" rtlCol="0" anchor="ctr"/>
          <a:lstStyle/>
          <a:p>
            <a:pPr marL="0" indent="0">
              <a:buNone/>
            </a:pPr>
            <a:r>
              <a:rPr lang="en-US" sz="2000" b="1">
                <a:solidFill>
                  <a:srgbClr val="17324D"/>
                </a:solidFill>
                <a:latin typeface="Myriad for Rabobank"/>
              </a:rPr>
              <a:t>Test the framework</a:t>
            </a:r>
            <a:endParaRPr lang="en-US" sz="2000">
              <a:latin typeface="Myriad for Rabobank"/>
            </a:endParaRPr>
          </a:p>
        </p:txBody>
      </p:sp>
      <p:sp>
        <p:nvSpPr>
          <p:cNvPr id="23" name="Text 21"/>
          <p:cNvSpPr/>
          <p:nvPr/>
        </p:nvSpPr>
        <p:spPr>
          <a:xfrm>
            <a:off x="5788152" y="5276088"/>
            <a:ext cx="5715000" cy="329184"/>
          </a:xfrm>
          <a:prstGeom prst="rect">
            <a:avLst/>
          </a:prstGeom>
          <a:noFill/>
          <a:ln/>
        </p:spPr>
        <p:txBody>
          <a:bodyPr wrap="square" lIns="254" tIns="254" rIns="254" bIns="254" rtlCol="0" anchor="t">
            <a:noAutofit/>
          </a:bodyPr>
          <a:lstStyle/>
          <a:p>
            <a:pPr marL="0" indent="0">
              <a:buNone/>
            </a:pPr>
            <a:r>
              <a:rPr lang="en-US" sz="1300">
                <a:solidFill>
                  <a:srgbClr val="243447"/>
                </a:solidFill>
                <a:latin typeface="Myriad for Rabobank"/>
              </a:rPr>
              <a:t>Unit-test comparators, contract-test adapters, and run integration suites in a controlled environment.</a:t>
            </a:r>
            <a:endParaRPr lang="en-US" sz="1300">
              <a:latin typeface="Myriad for Rabobank"/>
            </a:endParaRPr>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800">
                <a:solidFill>
                  <a:srgbClr val="6C7A89"/>
                </a:solidFill>
                <a:latin typeface="Aptos"/>
                <a:ea typeface="Aptos"/>
                <a:cs typeface="Aptos"/>
              </a:defRPr>
            </a:lvl1pPr>
          </a:lstStyle>
          <a:p>
            <a:pPr algn="r"/>
            <a:fld id="{F7021451-1387-4CA6-816F-3879F97B5CBC}" type="slidenum">
              <a:rPr lang="en-US" sz="1100" b="0">
                <a:latin typeface="Myriad for Rabobank"/>
              </a:rPr>
              <a:t>9</a:t>
            </a:fld>
            <a:endParaRPr lang="en-US" sz="1100">
              <a:latin typeface="Myriad for Rabobank"/>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79FCC-23F9-27CE-93BF-74B70FF883C3}"/>
            </a:ext>
          </a:extLst>
        </p:cNvPr>
        <p:cNvGrpSpPr/>
        <p:nvPr/>
      </p:nvGrpSpPr>
      <p:grpSpPr>
        <a:xfrm>
          <a:off x="0" y="0"/>
          <a:ext cx="1" cy="1"/>
          <a:chOff x="0" y="0"/>
          <a:chExt cx="1" cy="1"/>
        </a:xfrm>
      </p:grpSpPr>
      <p:sp>
        <p:nvSpPr>
          <p:cNvPr id="2" name="Text 0">
            <a:extLst>
              <a:ext uri="{FF2B5EF4-FFF2-40B4-BE49-F238E27FC236}">
                <a16:creationId xmlns:a16="http://schemas.microsoft.com/office/drawing/2014/main" id="{BC74761A-BCD5-46DE-A02A-A02F1349EEE7}"/>
              </a:ext>
            </a:extLst>
          </p:cNvPr>
          <p:cNvSpPr/>
          <p:nvPr/>
        </p:nvSpPr>
        <p:spPr>
          <a:xfrm>
            <a:off x="347472" y="182880"/>
            <a:ext cx="2743200" cy="201168"/>
          </a:xfrm>
          <a:prstGeom prst="rect">
            <a:avLst/>
          </a:prstGeom>
          <a:noFill/>
          <a:ln/>
        </p:spPr>
        <p:txBody>
          <a:bodyPr wrap="square" lIns="0" tIns="0" rIns="0" bIns="0" rtlCol="0" anchor="ctr"/>
          <a:lstStyle/>
          <a:p>
            <a:pPr marL="0" indent="0">
              <a:buNone/>
            </a:pPr>
            <a:r>
              <a:rPr lang="en-US" sz="1000" b="1" kern="0" spc="180">
                <a:solidFill>
                  <a:srgbClr val="0868C9"/>
                </a:solidFill>
                <a:latin typeface="Myriad for Rabobank"/>
                <a:ea typeface="Aptos" pitchFamily="34" charset="-122"/>
                <a:cs typeface="Aptos" pitchFamily="34" charset="-120"/>
              </a:rPr>
              <a:t>Pre-requisites</a:t>
            </a:r>
            <a:endParaRPr lang="en-US" sz="1000">
              <a:latin typeface="Myriad for Rabobank"/>
            </a:endParaRPr>
          </a:p>
        </p:txBody>
      </p:sp>
      <p:sp>
        <p:nvSpPr>
          <p:cNvPr id="3" name="Text 1">
            <a:extLst>
              <a:ext uri="{FF2B5EF4-FFF2-40B4-BE49-F238E27FC236}">
                <a16:creationId xmlns:a16="http://schemas.microsoft.com/office/drawing/2014/main" id="{BD314260-A59B-1274-B375-A8C7B00FFFF0}"/>
              </a:ext>
            </a:extLst>
          </p:cNvPr>
          <p:cNvSpPr/>
          <p:nvPr/>
        </p:nvSpPr>
        <p:spPr>
          <a:xfrm>
            <a:off x="347472" y="448056"/>
            <a:ext cx="11109960" cy="438912"/>
          </a:xfrm>
          <a:prstGeom prst="rect">
            <a:avLst/>
          </a:prstGeom>
          <a:noFill/>
          <a:ln/>
        </p:spPr>
        <p:txBody>
          <a:bodyPr wrap="square" lIns="0" tIns="0" rIns="0" bIns="0" rtlCol="0" anchor="ctr">
            <a:normAutofit/>
          </a:bodyPr>
          <a:lstStyle/>
          <a:p>
            <a:r>
              <a:rPr lang="en-US" sz="2800" b="1" dirty="0">
                <a:solidFill>
                  <a:srgbClr val="1A3048"/>
                </a:solidFill>
                <a:latin typeface="Myriad for Rabobank"/>
                <a:ea typeface="Aptos Display" pitchFamily="34" charset="-122"/>
                <a:cs typeface="Aptos Display" pitchFamily="34" charset="-120"/>
              </a:rPr>
              <a:t>Pre-requisites to build the </a:t>
            </a:r>
            <a:r>
              <a:rPr lang="en-US" sz="2800" i="1" dirty="0">
                <a:solidFill>
                  <a:srgbClr val="1A3048"/>
                </a:solidFill>
                <a:latin typeface="Myriad for Rabobank"/>
                <a:ea typeface="Aptos Display" pitchFamily="34" charset="-122"/>
                <a:cs typeface="Aptos Display" pitchFamily="34" charset="-120"/>
              </a:rPr>
              <a:t>E2E Portfolio / </a:t>
            </a:r>
            <a:r>
              <a:rPr lang="en-US" sz="2800" b="1" dirty="0">
                <a:solidFill>
                  <a:srgbClr val="1A3048"/>
                </a:solidFill>
                <a:latin typeface="Myriad for Rabobank"/>
                <a:ea typeface="Aptos Display" pitchFamily="34" charset="-122"/>
                <a:cs typeface="Aptos Display" pitchFamily="34" charset="-120"/>
              </a:rPr>
              <a:t>Batch Automation Framework</a:t>
            </a:r>
            <a:endParaRPr lang="en-US" sz="2800" dirty="0">
              <a:latin typeface="Myriad for Rabobank"/>
            </a:endParaRPr>
          </a:p>
        </p:txBody>
      </p:sp>
      <p:sp>
        <p:nvSpPr>
          <p:cNvPr id="99" name="Slide Number Placeholder 0">
            <a:extLst>
              <a:ext uri="{FF2B5EF4-FFF2-40B4-BE49-F238E27FC236}">
                <a16:creationId xmlns:a16="http://schemas.microsoft.com/office/drawing/2014/main" id="{378BBA0C-2E4A-B74A-2887-8F1786E1A791}"/>
              </a:ext>
            </a:extLst>
          </p:cNvPr>
          <p:cNvSpPr>
            <a:spLocks noGrp="1"/>
          </p:cNvSpPr>
          <p:nvPr>
            <p:ph type="sldNum" sz="quarter" idx="12"/>
          </p:nvPr>
        </p:nvSpPr>
        <p:spPr>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700" kern="1200">
                <a:solidFill>
                  <a:srgbClr val="7B8AA0"/>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z="1000" smtClean="0">
                <a:latin typeface="Myriad for Rabobank"/>
              </a:rPr>
              <a:pPr algn="r"/>
              <a:t>10</a:t>
            </a:fld>
            <a:endParaRPr lang="en-US" sz="1000">
              <a:latin typeface="Myriad for Rabobank"/>
            </a:endParaRPr>
          </a:p>
        </p:txBody>
      </p:sp>
      <p:graphicFrame>
        <p:nvGraphicFramePr>
          <p:cNvPr id="4" name="Table 3">
            <a:extLst>
              <a:ext uri="{FF2B5EF4-FFF2-40B4-BE49-F238E27FC236}">
                <a16:creationId xmlns:a16="http://schemas.microsoft.com/office/drawing/2014/main" id="{E9B1C3AE-874C-4BCE-4BC0-CDC2FBDDE90D}"/>
              </a:ext>
            </a:extLst>
          </p:cNvPr>
          <p:cNvGraphicFramePr>
            <a:graphicFrameLocks noGrp="1"/>
          </p:cNvGraphicFramePr>
          <p:nvPr/>
        </p:nvGraphicFramePr>
        <p:xfrm>
          <a:off x="519837" y="1241171"/>
          <a:ext cx="10648035" cy="4684205"/>
        </p:xfrm>
        <a:graphic>
          <a:graphicData uri="http://schemas.openxmlformats.org/drawingml/2006/table">
            <a:tbl>
              <a:tblPr firstRow="1" bandRow="1">
                <a:tableStyleId>{5C22544A-7EE6-4342-B048-85BDC9FD1C3A}</a:tableStyleId>
              </a:tblPr>
              <a:tblGrid>
                <a:gridCol w="923009">
                  <a:extLst>
                    <a:ext uri="{9D8B030D-6E8A-4147-A177-3AD203B41FA5}">
                      <a16:colId xmlns:a16="http://schemas.microsoft.com/office/drawing/2014/main" val="962626186"/>
                    </a:ext>
                  </a:extLst>
                </a:gridCol>
                <a:gridCol w="7628002">
                  <a:extLst>
                    <a:ext uri="{9D8B030D-6E8A-4147-A177-3AD203B41FA5}">
                      <a16:colId xmlns:a16="http://schemas.microsoft.com/office/drawing/2014/main" val="3942097547"/>
                    </a:ext>
                  </a:extLst>
                </a:gridCol>
                <a:gridCol w="2097024">
                  <a:extLst>
                    <a:ext uri="{9D8B030D-6E8A-4147-A177-3AD203B41FA5}">
                      <a16:colId xmlns:a16="http://schemas.microsoft.com/office/drawing/2014/main" val="898854049"/>
                    </a:ext>
                  </a:extLst>
                </a:gridCol>
              </a:tblGrid>
              <a:tr h="370840">
                <a:tc>
                  <a:txBody>
                    <a:bodyPr/>
                    <a:lstStyle/>
                    <a:p>
                      <a:pPr algn="ctr"/>
                      <a:r>
                        <a:rPr lang="en-US" sz="1600" dirty="0"/>
                        <a:t>S No</a:t>
                      </a:r>
                    </a:p>
                  </a:txBody>
                  <a:tcPr/>
                </a:tc>
                <a:tc>
                  <a:txBody>
                    <a:bodyPr/>
                    <a:lstStyle/>
                    <a:p>
                      <a:pPr algn="ctr"/>
                      <a:r>
                        <a:rPr lang="en-US" sz="1600" dirty="0"/>
                        <a:t>Requirements</a:t>
                      </a:r>
                    </a:p>
                  </a:txBody>
                  <a:tcPr/>
                </a:tc>
                <a:tc>
                  <a:txBody>
                    <a:bodyPr/>
                    <a:lstStyle/>
                    <a:p>
                      <a:pPr algn="ctr"/>
                      <a:r>
                        <a:rPr lang="en-US" sz="1600" dirty="0"/>
                        <a:t>Provider</a:t>
                      </a:r>
                    </a:p>
                  </a:txBody>
                  <a:tcPr/>
                </a:tc>
                <a:extLst>
                  <a:ext uri="{0D108BD9-81ED-4DB2-BD59-A6C34878D82A}">
                    <a16:rowId xmlns:a16="http://schemas.microsoft.com/office/drawing/2014/main" val="1403419406"/>
                  </a:ext>
                </a:extLst>
              </a:tr>
              <a:tr h="370840">
                <a:tc>
                  <a:txBody>
                    <a:bodyPr/>
                    <a:lstStyle/>
                    <a:p>
                      <a:pPr algn="ctr"/>
                      <a:r>
                        <a:rPr lang="en-US" sz="1600"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mn-lt"/>
                        </a:rPr>
                        <a:t>A Centralized repository for maintaining the Automation Framework</a:t>
                      </a:r>
                    </a:p>
                  </a:txBody>
                  <a:tcPr/>
                </a:tc>
                <a:tc>
                  <a:txBody>
                    <a:bodyPr/>
                    <a:lstStyle/>
                    <a:p>
                      <a:pPr algn="ctr"/>
                      <a:r>
                        <a:rPr lang="en-US" sz="1600" dirty="0"/>
                        <a:t>CCC team</a:t>
                      </a:r>
                    </a:p>
                  </a:txBody>
                  <a:tcPr/>
                </a:tc>
                <a:extLst>
                  <a:ext uri="{0D108BD9-81ED-4DB2-BD59-A6C34878D82A}">
                    <a16:rowId xmlns:a16="http://schemas.microsoft.com/office/drawing/2014/main" val="4032292728"/>
                  </a:ext>
                </a:extLst>
              </a:tr>
              <a:tr h="370840">
                <a:tc>
                  <a:txBody>
                    <a:bodyPr/>
                    <a:lstStyle/>
                    <a:p>
                      <a:pPr algn="ctr"/>
                      <a:r>
                        <a:rPr lang="en-US" sz="1600"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mn-lt"/>
                        </a:rPr>
                        <a:t>A new Service Principal (</a:t>
                      </a:r>
                      <a:r>
                        <a:rPr lang="en-US" sz="1600" b="1" dirty="0">
                          <a:latin typeface="+mn-lt"/>
                        </a:rPr>
                        <a:t>SPN</a:t>
                      </a:r>
                      <a:r>
                        <a:rPr lang="en-US" sz="1600" dirty="0">
                          <a:latin typeface="+mn-lt"/>
                        </a:rPr>
                        <a:t>) for the Azure DevOps Pipeline for running the automation scripts</a:t>
                      </a:r>
                    </a:p>
                  </a:txBody>
                  <a:tcPr/>
                </a:tc>
                <a:tc>
                  <a:txBody>
                    <a:bodyPr/>
                    <a:lstStyle/>
                    <a:p>
                      <a:pPr algn="ctr"/>
                      <a:r>
                        <a:rPr lang="en-US" sz="1600" dirty="0"/>
                        <a:t>MSP team</a:t>
                      </a:r>
                    </a:p>
                  </a:txBody>
                  <a:tcPr/>
                </a:tc>
                <a:extLst>
                  <a:ext uri="{0D108BD9-81ED-4DB2-BD59-A6C34878D82A}">
                    <a16:rowId xmlns:a16="http://schemas.microsoft.com/office/drawing/2014/main" val="2790817362"/>
                  </a:ext>
                </a:extLst>
              </a:tr>
              <a:tr h="370840">
                <a:tc>
                  <a:txBody>
                    <a:bodyPr/>
                    <a:lstStyle/>
                    <a:p>
                      <a:pPr algn="ctr"/>
                      <a:r>
                        <a:rPr lang="en-US" sz="1600" dirty="0"/>
                        <a:t>3</a:t>
                      </a:r>
                    </a:p>
                  </a:txBody>
                  <a:tcPr/>
                </a:tc>
                <a:tc>
                  <a:txBody>
                    <a:bodyPr/>
                    <a:lstStyle/>
                    <a:p>
                      <a:pPr marL="0" indent="0">
                        <a:lnSpc>
                          <a:spcPct val="150000"/>
                        </a:lnSpc>
                        <a:buFont typeface="Arial" panose="020B0604020202020204" pitchFamily="34" charset="0"/>
                        <a:buNone/>
                      </a:pPr>
                      <a:r>
                        <a:rPr lang="en-US" sz="1600" dirty="0">
                          <a:latin typeface="+mn-lt"/>
                        </a:rPr>
                        <a:t>The Automation Framework and Azure DevOps Pipeline</a:t>
                      </a:r>
                      <a:r>
                        <a:rPr lang="en-US" sz="1600" b="1" dirty="0">
                          <a:latin typeface="+mn-lt"/>
                        </a:rPr>
                        <a:t> Service Principal </a:t>
                      </a:r>
                      <a:r>
                        <a:rPr lang="en-US" sz="1600" dirty="0">
                          <a:latin typeface="+mn-lt"/>
                        </a:rPr>
                        <a:t>needs access to -</a:t>
                      </a:r>
                    </a:p>
                    <a:p>
                      <a:pPr marL="742950" lvl="1" indent="-285750">
                        <a:lnSpc>
                          <a:spcPct val="150000"/>
                        </a:lnSpc>
                        <a:buFont typeface="Arial" panose="020B0604020202020204" pitchFamily="34" charset="0"/>
                        <a:buChar char="•"/>
                      </a:pPr>
                      <a:r>
                        <a:rPr lang="en-US" sz="1600" dirty="0">
                          <a:latin typeface="+mn-lt"/>
                        </a:rPr>
                        <a:t>ADLS storage containers for all portfolios (Containing CADDI SQL scripts and Table creation SQL Scripts- </a:t>
                      </a:r>
                      <a:r>
                        <a:rPr lang="en-US" sz="1600" b="1" dirty="0">
                          <a:latin typeface="+mn-lt"/>
                        </a:rPr>
                        <a:t>Read-only</a:t>
                      </a:r>
                      <a:r>
                        <a:rPr lang="en-US" sz="1600" dirty="0">
                          <a:latin typeface="+mn-lt"/>
                        </a:rPr>
                        <a:t>)</a:t>
                      </a:r>
                    </a:p>
                    <a:p>
                      <a:pPr marL="742950" lvl="1" indent="-285750">
                        <a:lnSpc>
                          <a:spcPct val="150000"/>
                        </a:lnSpc>
                        <a:buFont typeface="Arial" panose="020B0604020202020204" pitchFamily="34" charset="0"/>
                        <a:buChar char="•"/>
                      </a:pPr>
                      <a:r>
                        <a:rPr lang="en-US" sz="1600" dirty="0">
                          <a:latin typeface="+mn-lt"/>
                        </a:rPr>
                        <a:t>All portfolio Model Factory databases (</a:t>
                      </a:r>
                      <a:r>
                        <a:rPr lang="en-US" sz="1600" b="1" dirty="0">
                          <a:latin typeface="+mn-lt"/>
                        </a:rPr>
                        <a:t>Read-only</a:t>
                      </a:r>
                      <a:r>
                        <a:rPr lang="en-US" sz="1600" dirty="0">
                          <a:latin typeface="+mn-lt"/>
                        </a:rPr>
                        <a:t>)</a:t>
                      </a:r>
                    </a:p>
                    <a:p>
                      <a:pPr marL="742950" lvl="1" indent="-285750">
                        <a:lnSpc>
                          <a:spcPct val="150000"/>
                        </a:lnSpc>
                        <a:buFont typeface="Arial" panose="020B0604020202020204" pitchFamily="34" charset="0"/>
                        <a:buChar char="•"/>
                      </a:pPr>
                      <a:r>
                        <a:rPr lang="en-US" sz="1600" b="0" dirty="0">
                          <a:latin typeface="+mn-lt"/>
                        </a:rPr>
                        <a:t>Logic app workflows and ADF Pipeline </a:t>
                      </a:r>
                      <a:r>
                        <a:rPr lang="en-US" sz="1600" b="1" dirty="0">
                          <a:latin typeface="+mn-lt"/>
                        </a:rPr>
                        <a:t>(Read only access)</a:t>
                      </a:r>
                      <a:endParaRPr lang="en-US" sz="1600" dirty="0">
                        <a:latin typeface="+mn-lt"/>
                      </a:endParaRPr>
                    </a:p>
                  </a:txBody>
                  <a:tcPr/>
                </a:tc>
                <a:tc>
                  <a:txBody>
                    <a:bodyPr/>
                    <a:lstStyle/>
                    <a:p>
                      <a:pPr algn="ctr"/>
                      <a:r>
                        <a:rPr lang="en-US" sz="1600" dirty="0"/>
                        <a:t>MSP team</a:t>
                      </a:r>
                    </a:p>
                  </a:txBody>
                  <a:tcPr/>
                </a:tc>
                <a:extLst>
                  <a:ext uri="{0D108BD9-81ED-4DB2-BD59-A6C34878D82A}">
                    <a16:rowId xmlns:a16="http://schemas.microsoft.com/office/drawing/2014/main" val="2879206479"/>
                  </a:ext>
                </a:extLst>
              </a:tr>
              <a:tr h="370840">
                <a:tc>
                  <a:txBody>
                    <a:bodyPr/>
                    <a:lstStyle/>
                    <a:p>
                      <a:pPr algn="ctr"/>
                      <a:r>
                        <a:rPr lang="en-US" sz="1600" dirty="0"/>
                        <a:t>4</a:t>
                      </a:r>
                    </a:p>
                  </a:txBody>
                  <a:tcPr/>
                </a:tc>
                <a:tc>
                  <a:txBody>
                    <a:bodyPr/>
                    <a:lstStyle/>
                    <a:p>
                      <a:r>
                        <a:rPr lang="en-US" sz="1600" dirty="0">
                          <a:latin typeface="+mn-lt"/>
                        </a:rPr>
                        <a:t>Latest MDR’s for all portfolios</a:t>
                      </a:r>
                      <a:endParaRPr lang="en-US" sz="1600" dirty="0"/>
                    </a:p>
                  </a:txBody>
                  <a:tcPr/>
                </a:tc>
                <a:tc>
                  <a:txBody>
                    <a:bodyPr/>
                    <a:lstStyle/>
                    <a:p>
                      <a:pPr algn="ctr"/>
                      <a:r>
                        <a:rPr lang="en-US" sz="1600" b="0" dirty="0">
                          <a:latin typeface="+mn-lt"/>
                        </a:rPr>
                        <a:t>Data Factory squads</a:t>
                      </a:r>
                      <a:endParaRPr lang="en-US" sz="1600" b="0" dirty="0"/>
                    </a:p>
                  </a:txBody>
                  <a:tcPr/>
                </a:tc>
                <a:extLst>
                  <a:ext uri="{0D108BD9-81ED-4DB2-BD59-A6C34878D82A}">
                    <a16:rowId xmlns:a16="http://schemas.microsoft.com/office/drawing/2014/main" val="968983167"/>
                  </a:ext>
                </a:extLst>
              </a:tr>
              <a:tr h="370840">
                <a:tc>
                  <a:txBody>
                    <a:bodyPr/>
                    <a:lstStyle/>
                    <a:p>
                      <a:pPr algn="ctr"/>
                      <a:r>
                        <a:rPr lang="en-US" sz="1600"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JMeter / Gatling tool for performance testing</a:t>
                      </a:r>
                    </a:p>
                  </a:txBody>
                  <a:tcPr/>
                </a:tc>
                <a:tc>
                  <a:txBody>
                    <a:bodyPr/>
                    <a:lstStyle/>
                    <a:p>
                      <a:pPr algn="ctr"/>
                      <a:r>
                        <a:rPr lang="en-US" sz="1600" dirty="0"/>
                        <a:t>Self Provisioned</a:t>
                      </a:r>
                    </a:p>
                  </a:txBody>
                  <a:tcPr/>
                </a:tc>
                <a:extLst>
                  <a:ext uri="{0D108BD9-81ED-4DB2-BD59-A6C34878D82A}">
                    <a16:rowId xmlns:a16="http://schemas.microsoft.com/office/drawing/2014/main" val="2973390410"/>
                  </a:ext>
                </a:extLst>
              </a:tr>
              <a:tr h="370840">
                <a:tc>
                  <a:txBody>
                    <a:bodyPr/>
                    <a:lstStyle/>
                    <a:p>
                      <a:pPr algn="ctr"/>
                      <a:r>
                        <a:rPr lang="en-US" sz="1600" dirty="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mn-lt"/>
                        </a:rPr>
                        <a:t>Collibra data models (Able to extract or download)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Self Provisioned</a:t>
                      </a:r>
                    </a:p>
                  </a:txBody>
                  <a:tcPr/>
                </a:tc>
                <a:extLst>
                  <a:ext uri="{0D108BD9-81ED-4DB2-BD59-A6C34878D82A}">
                    <a16:rowId xmlns:a16="http://schemas.microsoft.com/office/drawing/2014/main" val="2525722360"/>
                  </a:ext>
                </a:extLst>
              </a:tr>
            </a:tbl>
          </a:graphicData>
        </a:graphic>
      </p:graphicFrame>
    </p:spTree>
    <p:extLst>
      <p:ext uri="{BB962C8B-B14F-4D97-AF65-F5344CB8AC3E}">
        <p14:creationId xmlns:p14="http://schemas.microsoft.com/office/powerpoint/2010/main" val="2504302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82C97832-9ACC-584A-AD65-B1D1F340FE23}"/>
              </a:ext>
            </a:extLst>
          </p:cNvPr>
          <p:cNvPicPr>
            <a:picLocks noChangeAspect="1"/>
          </p:cNvPicPr>
          <p:nvPr/>
        </p:nvPicPr>
        <p:blipFill>
          <a:blip r:embed="rId3"/>
          <a:srcRect l="10446" t="4092" b="31720"/>
          <a:stretch/>
        </p:blipFill>
        <p:spPr>
          <a:xfrm>
            <a:off x="-3" y="0"/>
            <a:ext cx="12192001" cy="5787850"/>
          </a:xfrm>
          <a:prstGeom prst="rect">
            <a:avLst/>
          </a:prstGeom>
        </p:spPr>
      </p:pic>
      <p:sp>
        <p:nvSpPr>
          <p:cNvPr id="27" name="Rectangle 26">
            <a:extLst>
              <a:ext uri="{FF2B5EF4-FFF2-40B4-BE49-F238E27FC236}">
                <a16:creationId xmlns:a16="http://schemas.microsoft.com/office/drawing/2014/main" id="{26791E89-8EA6-83A2-88A0-DF26751778E9}"/>
              </a:ext>
            </a:extLst>
          </p:cNvPr>
          <p:cNvSpPr/>
          <p:nvPr/>
        </p:nvSpPr>
        <p:spPr>
          <a:xfrm>
            <a:off x="-4" y="-23670"/>
            <a:ext cx="12192000" cy="5811520"/>
          </a:xfrm>
          <a:prstGeom prst="rect">
            <a:avLst/>
          </a:prstGeom>
          <a:gradFill>
            <a:gsLst>
              <a:gs pos="20000">
                <a:srgbClr val="000000">
                  <a:alpha val="14902"/>
                </a:srgbClr>
              </a:gs>
              <a:gs pos="100000">
                <a:schemeClr val="tx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Myriad for Rabobank"/>
              <a:ea typeface="+mn-ea"/>
              <a:cs typeface="+mn-cs"/>
            </a:endParaRPr>
          </a:p>
        </p:txBody>
      </p:sp>
      <p:sp>
        <p:nvSpPr>
          <p:cNvPr id="19" name="Title 1">
            <a:extLst>
              <a:ext uri="{FF2B5EF4-FFF2-40B4-BE49-F238E27FC236}">
                <a16:creationId xmlns:a16="http://schemas.microsoft.com/office/drawing/2014/main" id="{4C628336-B341-4DD4-9998-52AA100D60E4}"/>
              </a:ext>
            </a:extLst>
          </p:cNvPr>
          <p:cNvSpPr txBox="1">
            <a:spLocks/>
          </p:cNvSpPr>
          <p:nvPr/>
        </p:nvSpPr>
        <p:spPr>
          <a:xfrm>
            <a:off x="438905" y="404651"/>
            <a:ext cx="10945792" cy="64058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5800" kern="1200">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IE" sz="4800">
                <a:solidFill>
                  <a:prstClr val="white"/>
                </a:solidFill>
                <a:effectLst>
                  <a:outerShdw blurRad="431800" sx="102000" sy="102000" algn="ctr" rotWithShape="0">
                    <a:prstClr val="black">
                      <a:alpha val="40000"/>
                    </a:prstClr>
                  </a:outerShdw>
                </a:effectLst>
                <a:latin typeface="Myriad for Rabobank It"/>
              </a:rPr>
              <a:t>Thank You</a:t>
            </a:r>
            <a:endParaRPr kumimoji="0" lang="en-IE" sz="4800" b="0" i="0" u="none" strike="noStrike" kern="1200" cap="none" spc="0" normalizeH="0" baseline="0" noProof="0">
              <a:ln>
                <a:noFill/>
              </a:ln>
              <a:solidFill>
                <a:prstClr val="white"/>
              </a:solidFill>
              <a:effectLst>
                <a:outerShdw blurRad="431800" sx="102000" sy="102000" algn="ctr" rotWithShape="0">
                  <a:prstClr val="black">
                    <a:alpha val="40000"/>
                  </a:prstClr>
                </a:outerShdw>
              </a:effectLst>
              <a:uLnTx/>
              <a:uFillTx/>
              <a:latin typeface="Myriad for Rabobank It"/>
            </a:endParaRPr>
          </a:p>
        </p:txBody>
      </p:sp>
    </p:spTree>
    <p:extLst>
      <p:ext uri="{BB962C8B-B14F-4D97-AF65-F5344CB8AC3E}">
        <p14:creationId xmlns:p14="http://schemas.microsoft.com/office/powerpoint/2010/main" val="2430920770"/>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1439</TotalTime>
  <Words>1966</Words>
  <Application>Microsoft Office PowerPoint</Application>
  <PresentationFormat>Widescreen</PresentationFormat>
  <Paragraphs>301</Paragraphs>
  <Slides>11</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vt:lpstr>
      <vt:lpstr>Aptos Display</vt:lpstr>
      <vt:lpstr>Arial</vt:lpstr>
      <vt:lpstr>Calibri</vt:lpstr>
      <vt:lpstr>Cambria</vt:lpstr>
      <vt:lpstr>Myriad for Rabobank</vt:lpstr>
      <vt:lpstr>Myriad for Rabobank It</vt:lpstr>
      <vt:lpstr>Myriad-ExtraBoldItalic</vt:lpstr>
      <vt:lpstr>Office Theme</vt:lpstr>
      <vt:lpstr>PowerPoint Presentation</vt:lpstr>
      <vt:lpstr>Use Case</vt:lpstr>
      <vt:lpstr>End to End Batch Test Framework Architecture</vt:lpstr>
      <vt:lpstr>Schema Conformance — Data Model &amp; DDL vs MDR </vt:lpstr>
      <vt:lpstr>What the report tells us, and who acts on it </vt:lpstr>
      <vt:lpstr>Test data for the lower environments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Shukla, A (Abhitanshu)</dc:creator>
  <cp:lastModifiedBy>Shukla, A (Abhitanshu)</cp:lastModifiedBy>
  <cp:revision>2</cp:revision>
  <dcterms:created xsi:type="dcterms:W3CDTF">2026-09-21T07:37:44Z</dcterms:created>
  <dcterms:modified xsi:type="dcterms:W3CDTF">2026-09-22T07:37:21Z</dcterms:modified>
</cp:coreProperties>
</file>