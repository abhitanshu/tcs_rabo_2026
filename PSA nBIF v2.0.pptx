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heme/themeOverride1.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8"/>
    <p:sldMasterId id="2147483909" r:id="rId9"/>
  </p:sldMasterIdLst>
  <p:notesMasterIdLst>
    <p:notesMasterId r:id="rId87"/>
  </p:notesMasterIdLst>
  <p:handoutMasterIdLst>
    <p:handoutMasterId r:id="rId88"/>
  </p:handoutMasterIdLst>
  <p:sldIdLst>
    <p:sldId id="264" r:id="rId10"/>
    <p:sldId id="258" r:id="rId11"/>
    <p:sldId id="394" r:id="rId12"/>
    <p:sldId id="395" r:id="rId13"/>
    <p:sldId id="369" r:id="rId14"/>
    <p:sldId id="260" r:id="rId15"/>
    <p:sldId id="261" r:id="rId16"/>
    <p:sldId id="330" r:id="rId17"/>
    <p:sldId id="444" r:id="rId18"/>
    <p:sldId id="450" r:id="rId19"/>
    <p:sldId id="266" r:id="rId20"/>
    <p:sldId id="262" r:id="rId21"/>
    <p:sldId id="436" r:id="rId22"/>
    <p:sldId id="342" r:id="rId23"/>
    <p:sldId id="398" r:id="rId24"/>
    <p:sldId id="604" r:id="rId25"/>
    <p:sldId id="543" r:id="rId26"/>
    <p:sldId id="542" r:id="rId27"/>
    <p:sldId id="587" r:id="rId28"/>
    <p:sldId id="435" r:id="rId29"/>
    <p:sldId id="549" r:id="rId30"/>
    <p:sldId id="550" r:id="rId31"/>
    <p:sldId id="589" r:id="rId32"/>
    <p:sldId id="551" r:id="rId33"/>
    <p:sldId id="270" r:id="rId34"/>
    <p:sldId id="434" r:id="rId35"/>
    <p:sldId id="292" r:id="rId36"/>
    <p:sldId id="591" r:id="rId37"/>
    <p:sldId id="605" r:id="rId38"/>
    <p:sldId id="386" r:id="rId39"/>
    <p:sldId id="606" r:id="rId40"/>
    <p:sldId id="608" r:id="rId41"/>
    <p:sldId id="599" r:id="rId42"/>
    <p:sldId id="563" r:id="rId43"/>
    <p:sldId id="570" r:id="rId44"/>
    <p:sldId id="571" r:id="rId45"/>
    <p:sldId id="572" r:id="rId46"/>
    <p:sldId id="417" r:id="rId47"/>
    <p:sldId id="562" r:id="rId48"/>
    <p:sldId id="574" r:id="rId49"/>
    <p:sldId id="561" r:id="rId50"/>
    <p:sldId id="583" r:id="rId51"/>
    <p:sldId id="584" r:id="rId52"/>
    <p:sldId id="603" r:id="rId53"/>
    <p:sldId id="432" r:id="rId54"/>
    <p:sldId id="569" r:id="rId55"/>
    <p:sldId id="379" r:id="rId56"/>
    <p:sldId id="568" r:id="rId57"/>
    <p:sldId id="588" r:id="rId58"/>
    <p:sldId id="557" r:id="rId59"/>
    <p:sldId id="554" r:id="rId60"/>
    <p:sldId id="602" r:id="rId61"/>
    <p:sldId id="441" r:id="rId62"/>
    <p:sldId id="548" r:id="rId63"/>
    <p:sldId id="454" r:id="rId64"/>
    <p:sldId id="607" r:id="rId65"/>
    <p:sldId id="601" r:id="rId66"/>
    <p:sldId id="546" r:id="rId67"/>
    <p:sldId id="409" r:id="rId68"/>
    <p:sldId id="592" r:id="rId69"/>
    <p:sldId id="594" r:id="rId70"/>
    <p:sldId id="439" r:id="rId71"/>
    <p:sldId id="438" r:id="rId72"/>
    <p:sldId id="596" r:id="rId73"/>
    <p:sldId id="440" r:id="rId74"/>
    <p:sldId id="445" r:id="rId75"/>
    <p:sldId id="431" r:id="rId76"/>
    <p:sldId id="295" r:id="rId77"/>
    <p:sldId id="443" r:id="rId78"/>
    <p:sldId id="429" r:id="rId79"/>
    <p:sldId id="430" r:id="rId80"/>
    <p:sldId id="598" r:id="rId81"/>
    <p:sldId id="428" r:id="rId82"/>
    <p:sldId id="286" r:id="rId83"/>
    <p:sldId id="287" r:id="rId84"/>
    <p:sldId id="609" r:id="rId85"/>
    <p:sldId id="301" r:id="rId86"/>
  </p:sldIdLst>
  <p:sldSz cx="9144000" cy="5143500" type="screen16x9"/>
  <p:notesSz cx="6858000" cy="9144000"/>
  <p:custDataLst>
    <p:tags r:id="rId89"/>
  </p:custDataLst>
  <p:defaultTex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253AB1-935A-41F7-B2F8-88B3CC95A7A9}">
          <p14:sldIdLst>
            <p14:sldId id="264"/>
            <p14:sldId id="258"/>
          </p14:sldIdLst>
        </p14:section>
        <p14:section name="Introduction" id="{AD99B6E1-A14D-4CFF-937C-472EDD94AD2D}">
          <p14:sldIdLst>
            <p14:sldId id="394"/>
            <p14:sldId id="395"/>
            <p14:sldId id="369"/>
            <p14:sldId id="260"/>
            <p14:sldId id="261"/>
            <p14:sldId id="330"/>
            <p14:sldId id="444"/>
            <p14:sldId id="450"/>
            <p14:sldId id="266"/>
            <p14:sldId id="262"/>
          </p14:sldIdLst>
        </p14:section>
        <p14:section name="Business Architecture" id="{588741FE-1CD2-4B46-9279-6076B96CBDFD}">
          <p14:sldIdLst>
            <p14:sldId id="436"/>
            <p14:sldId id="342"/>
            <p14:sldId id="398"/>
            <p14:sldId id="604"/>
            <p14:sldId id="543"/>
            <p14:sldId id="542"/>
            <p14:sldId id="587"/>
          </p14:sldIdLst>
        </p14:section>
        <p14:section name="Process Architecture" id="{3A6660DD-7D12-4D06-A83F-AEFF8DCFC800}">
          <p14:sldIdLst>
            <p14:sldId id="435"/>
            <p14:sldId id="549"/>
            <p14:sldId id="550"/>
            <p14:sldId id="589"/>
            <p14:sldId id="551"/>
            <p14:sldId id="270"/>
          </p14:sldIdLst>
        </p14:section>
        <p14:section name="Information Architecture" id="{38FB3BED-5188-450C-9DB0-51A9DA0774DD}">
          <p14:sldIdLst>
            <p14:sldId id="434"/>
            <p14:sldId id="292"/>
            <p14:sldId id="591"/>
            <p14:sldId id="605"/>
            <p14:sldId id="386"/>
            <p14:sldId id="606"/>
            <p14:sldId id="608"/>
            <p14:sldId id="599"/>
            <p14:sldId id="563"/>
            <p14:sldId id="570"/>
            <p14:sldId id="571"/>
            <p14:sldId id="572"/>
            <p14:sldId id="417"/>
            <p14:sldId id="562"/>
            <p14:sldId id="574"/>
            <p14:sldId id="561"/>
            <p14:sldId id="583"/>
            <p14:sldId id="584"/>
            <p14:sldId id="603"/>
          </p14:sldIdLst>
        </p14:section>
        <p14:section name="Target Application Architecture" id="{9B1E520D-B910-4742-BFF2-2505FF6745D8}">
          <p14:sldIdLst>
            <p14:sldId id="432"/>
            <p14:sldId id="569"/>
            <p14:sldId id="379"/>
            <p14:sldId id="568"/>
            <p14:sldId id="588"/>
            <p14:sldId id="557"/>
            <p14:sldId id="554"/>
            <p14:sldId id="602"/>
            <p14:sldId id="441"/>
            <p14:sldId id="548"/>
            <p14:sldId id="454"/>
            <p14:sldId id="607"/>
            <p14:sldId id="601"/>
            <p14:sldId id="546"/>
            <p14:sldId id="409"/>
            <p14:sldId id="592"/>
            <p14:sldId id="594"/>
          </p14:sldIdLst>
        </p14:section>
        <p14:section name="Infrastructure" id="{28424DFE-7945-49A8-8F4B-A8575E0CEE43}">
          <p14:sldIdLst>
            <p14:sldId id="439"/>
            <p14:sldId id="438"/>
            <p14:sldId id="596"/>
          </p14:sldIdLst>
        </p14:section>
        <p14:section name="Migration" id="{ABC8A722-FEF7-41AC-A880-85384F9BF72B}">
          <p14:sldIdLst>
            <p14:sldId id="440"/>
            <p14:sldId id="445"/>
          </p14:sldIdLst>
        </p14:section>
        <p14:section name="Risk" id="{35AC9DEA-3EEC-4354-8905-7413761EEEFA}">
          <p14:sldIdLst>
            <p14:sldId id="431"/>
            <p14:sldId id="295"/>
            <p14:sldId id="443"/>
          </p14:sldIdLst>
        </p14:section>
        <p14:section name="Impact on Operations" id="{4E7A02DE-A1D5-4C80-8ED2-9438AF67D104}">
          <p14:sldIdLst>
            <p14:sldId id="429"/>
            <p14:sldId id="430"/>
            <p14:sldId id="598"/>
          </p14:sldIdLst>
        </p14:section>
        <p14:section name="Document Control" id="{10C28183-DF84-410A-A2FD-BCB39353B8EF}">
          <p14:sldIdLst>
            <p14:sldId id="428"/>
            <p14:sldId id="286"/>
            <p14:sldId id="287"/>
            <p14:sldId id="609"/>
            <p14:sldId id="301"/>
          </p14:sldIdLst>
        </p14:section>
      </p14:sectionLst>
    </p:ext>
    <p:ext uri="{EFAFB233-063F-42B5-8137-9DF3F51BA10A}">
      <p15:sldGuideLst xmlns:p15="http://schemas.microsoft.com/office/powerpoint/2012/main">
        <p15:guide id="1" orient="horz" pos="3002">
          <p15:clr>
            <a:srgbClr val="A4A3A4"/>
          </p15:clr>
        </p15:guide>
        <p15:guide id="2" orient="horz" pos="586">
          <p15:clr>
            <a:srgbClr val="A4A3A4"/>
          </p15:clr>
        </p15:guide>
        <p15:guide id="3" orient="horz" pos="830">
          <p15:clr>
            <a:srgbClr val="A4A3A4"/>
          </p15:clr>
        </p15:guide>
        <p15:guide id="4" pos="2885">
          <p15:clr>
            <a:srgbClr val="A4A3A4"/>
          </p15:clr>
        </p15:guide>
        <p15:guide id="5" pos="294">
          <p15:clr>
            <a:srgbClr val="A4A3A4"/>
          </p15:clr>
        </p15:guide>
        <p15:guide id="6" pos="538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52EE01-FB5E-3AF1-1C11-495FD293B34A}" name="Dam van, AA (Aaron)" initials="DvA(" userId="S::Aaron.van.Dam@rabobank.com::3db20e68-cbc0-4564-84e6-96e3b2ddaf76" providerId="AD"/>
  <p188:author id="{4DA9D302-C47D-FE9A-ECC1-369DE7B366FD}" name="Kumar, P (Prabhat)" initials="K(" userId="S::prabhat.kumar@rabobank.com::4833a003-7d3f-4aaa-bb1d-2fdff4e1c7ee" providerId="AD"/>
  <p188:author id="{FC913B03-9A26-AADF-C8C2-D17178529EFB}" name="Hoope ten, RA (Ronald)" initials="H(" userId="S::ronald.ten.hoope@rabobank.com::4bf0ea29-429e-4cb5-9ff0-e79ec6df285f" providerId="AD"/>
  <p188:author id="{CBA73827-7BAF-352D-9F5E-CC51D0A86EFD}" name="Kumar, P (Prabhat)" initials="KP(" userId="S::Prabhat.Kumar@rabobank.com::4833a003-7d3f-4aaa-bb1d-2fdff4e1c7ee" providerId="AD"/>
  <p188:author id="{9AD7CC28-2E0D-920B-43C9-71B3F9D1E7DF}" name="Joosten, EFM (Evi)" initials="JE(" userId="S::Evi.Joosten@rabobank.nl::1e2b3a84-cdc3-4e3a-bbb1-34760e9a278e" providerId="AD"/>
  <p188:author id="{FB953630-CF7A-BFF1-DD82-2CCD8DA19A44}" name="Savenije, M (Mathijs)" initials="SM(" userId="S::Mathijs.Savenije@rabobank.com::61c391c3-59e8-48a6-b57e-383981230b20" providerId="AD"/>
  <p188:author id="{BBBBBD3B-A442-62D6-50D6-9CCE1DB6554C}" name="Maheshwari, AA (Abhishek)" initials="MA(" userId="S::Abhishek.Maheshwari@rabobank.nl::6c475b78-e747-417a-a8cf-f478212d0a04" providerId="AD"/>
  <p188:author id="{1F80DA41-0C4F-D074-B694-57CE232EBDCA}" name="Neethling, MC (Marius)" initials="N(" userId="S::marius.neethling@rabobank.com::f2713d80-efe2-43a3-b63a-6f981fd72040" providerId="AD"/>
  <p188:author id="{51055F46-911F-AEFA-9BEC-29F2AA85C1D7}" name="Parashar, V (Vishal)" initials="PV(" userId="S::Vishal.Parashar@rabobank.com::0dce8c79-26c1-4c7e-aa61-7f328a35577d" providerId="AD"/>
  <p188:author id="{E946B679-BA52-BC56-DCDE-E62FD7A62518}" name="Coopmans, HPW (Harry)" initials="C(" userId="S::harry.coopmans@rabobank.nl::4e4f9135-d5c0-4d36-9be1-05f3e7ff23f5" providerId="AD"/>
  <p188:author id="{A2D0599F-D98C-7719-3467-7F7023513E47}" name="Cammen van der, MA (Michael)" initials="C(" userId="S::michael.van.der.cammen@rabobank.com::73d32ef5-d014-43fb-b3e3-9c1d0009a33d" providerId="AD"/>
  <p188:author id="{044DABC5-9916-7FB4-BC99-20513E5C1807}" name="Helder, GJ (Guido)" initials="HG(" userId="S::Guido.Helder@rabobank.nl::62215bb8-727b-47c4-9e1a-b03e05ee40e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Laan van der, DJ (Dirk)" initials="LvdD(" lastIdx="50" clrIdx="5">
    <p:extLst>
      <p:ext uri="{19B8F6BF-5375-455C-9EA6-DF929625EA0E}">
        <p15:presenceInfo xmlns:p15="http://schemas.microsoft.com/office/powerpoint/2012/main" userId="S-1-5-21-1214440339-329068152-725345543-53052" providerId="AD"/>
      </p:ext>
    </p:extLst>
  </p:cmAuthor>
  <p:cmAuthor id="14" name="Klein, BP (Barrie)" initials="K(" lastIdx="9" clrIdx="10">
    <p:extLst>
      <p:ext uri="{19B8F6BF-5375-455C-9EA6-DF929625EA0E}">
        <p15:presenceInfo xmlns:p15="http://schemas.microsoft.com/office/powerpoint/2012/main" userId="S::barrie.klein@rabobank.com::530f817c-e4d1-4db0-9b35-45232131f3f7" providerId="AD"/>
      </p:ext>
    </p:extLst>
  </p:cmAuthor>
  <p:cmAuthor id="8" name="Kumar, P (Prabhat)" initials="KP(" lastIdx="17" clrIdx="2">
    <p:extLst>
      <p:ext uri="{19B8F6BF-5375-455C-9EA6-DF929625EA0E}">
        <p15:presenceInfo xmlns:p15="http://schemas.microsoft.com/office/powerpoint/2012/main" userId="S-1-5-21-1214440339-329068152-725345543-600880" providerId="AD"/>
      </p:ext>
    </p:extLst>
  </p:cmAuthor>
  <p:cmAuthor id="15" name="Aaron Dam" initials="AD" lastIdx="12" clrIdx="11">
    <p:extLst>
      <p:ext uri="{19B8F6BF-5375-455C-9EA6-DF929625EA0E}">
        <p15:presenceInfo xmlns:p15="http://schemas.microsoft.com/office/powerpoint/2012/main" userId="Aaron Dam" providerId="None"/>
      </p:ext>
    </p:extLst>
  </p:cmAuthor>
  <p:cmAuthor id="9" name="Moorman, R (Rick)" initials="M(" lastIdx="1" clrIdx="3">
    <p:extLst>
      <p:ext uri="{19B8F6BF-5375-455C-9EA6-DF929625EA0E}">
        <p15:presenceInfo xmlns:p15="http://schemas.microsoft.com/office/powerpoint/2012/main" userId="S::rick.moorman@rabobank.com::7f3021f3-ad84-4f5c-9d54-776999981827" providerId="AD"/>
      </p:ext>
    </p:extLst>
  </p:cmAuthor>
  <p:cmAuthor id="10" name="Coopmans, HPW (Harry)" initials="C(" lastIdx="13" clrIdx="6">
    <p:extLst>
      <p:ext uri="{19B8F6BF-5375-455C-9EA6-DF929625EA0E}">
        <p15:presenceInfo xmlns:p15="http://schemas.microsoft.com/office/powerpoint/2012/main" userId="S::harry.coopmans@rabobank.nl::4e4f9135-d5c0-4d36-9be1-05f3e7ff23f5" providerId="AD"/>
      </p:ext>
    </p:extLst>
  </p:cmAuthor>
  <p:cmAuthor id="11" name="Coopmans, HPW (Harry)" initials="CH(" lastIdx="27" clrIdx="7">
    <p:extLst>
      <p:ext uri="{19B8F6BF-5375-455C-9EA6-DF929625EA0E}">
        <p15:presenceInfo xmlns:p15="http://schemas.microsoft.com/office/powerpoint/2012/main" userId="Coopmans, HPW (Harry)" providerId="None"/>
      </p:ext>
    </p:extLst>
  </p:cmAuthor>
  <p:cmAuthor id="12" name="Kumar, P (Prabhat)" initials="KP( [2]" lastIdx="14" clrIdx="8">
    <p:extLst>
      <p:ext uri="{19B8F6BF-5375-455C-9EA6-DF929625EA0E}">
        <p15:presenceInfo xmlns:p15="http://schemas.microsoft.com/office/powerpoint/2012/main" userId="S-1-5-21-1214440339-329068152-725345543-627013" providerId="AD"/>
      </p:ext>
    </p:extLst>
  </p:cmAuthor>
  <p:cmAuthor id="6" name="Altena van, F (Fabian)" initials="AvF(" lastIdx="22" clrIdx="0">
    <p:extLst>
      <p:ext uri="{19B8F6BF-5375-455C-9EA6-DF929625EA0E}">
        <p15:presenceInfo xmlns:p15="http://schemas.microsoft.com/office/powerpoint/2012/main" userId="S-1-5-21-1214440339-329068152-725345543-314433" providerId="AD"/>
      </p:ext>
    </p:extLst>
  </p:cmAuthor>
  <p:cmAuthor id="13" name="Hoope ten, RA (Ronald)" initials="HtR(" lastIdx="8" clrIdx="9">
    <p:extLst>
      <p:ext uri="{19B8F6BF-5375-455C-9EA6-DF929625EA0E}">
        <p15:presenceInfo xmlns:p15="http://schemas.microsoft.com/office/powerpoint/2012/main" userId="S-1-5-21-1214440339-329068152-725345543-7056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EEFF"/>
    <a:srgbClr val="FFCCFF"/>
    <a:srgbClr val="FF99CC"/>
    <a:srgbClr val="F9EEED"/>
    <a:srgbClr val="F3DEDC"/>
    <a:srgbClr val="D9EBD3"/>
    <a:srgbClr val="DCA7FF"/>
    <a:srgbClr val="0258FF"/>
    <a:srgbClr val="C8009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905E8-62FA-4767-8610-A37463CA0C8F}" v="6" dt="2023-10-23T11:35:23.098"/>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Stijl, gemiddeld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Stijl, donker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Stijl, licht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E9639D4-E3E2-4D34-9284-5A2195B3D0D7}" styleName="Stijl, licht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Stijl, licht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Stijl, licht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Stijl, licht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2DE63D5-997A-4646-A377-4702673A728D}" styleName="Stijl, licht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Stijl, licht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Stijl, licht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8B1032C-EA38-4F05-BA0D-38AFFFC7BED3}" styleName="Stijl, licht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Stijl, thema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Stijl, thema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Stijl, thema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113A9D2-9D6B-4929-AA2D-F23B5EE8CBE7}" styleName="Stijl, thema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Stijl, thema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Stijl, licht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DA37D80-6434-44D0-A028-1B22A696006F}" styleName="Stijl, licht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FECB4D8-DB02-4DC6-A0A2-4F2EBAE1DC90}" styleName="Stijl, gemiddeld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DBED569-4797-4DF1-A0F4-6AAB3CD982D8}" styleName="Stijl, licht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93D81CF-94F2-401A-BA57-92F5A7B2D0C5}" styleName="Stijl, gemiddeld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Stijl, licht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Stijl, donker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2C8C85-51F0-491E-9774-3900AFEF0FD7}" styleName="Stijl, licht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332" y="44"/>
      </p:cViewPr>
      <p:guideLst>
        <p:guide orient="horz" pos="3002"/>
        <p:guide orient="horz" pos="586"/>
        <p:guide orient="horz" pos="830"/>
        <p:guide pos="2885"/>
        <p:guide pos="294"/>
        <p:guide pos="5387"/>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tags" Target="tags/tag1.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5" Type="http://schemas.openxmlformats.org/officeDocument/2006/relationships/customXml" Target="../customXml/item5.xml"/><Relationship Id="rId90" Type="http://schemas.openxmlformats.org/officeDocument/2006/relationships/commentAuthors" Target="commentAuthors.xml"/><Relationship Id="rId95" Type="http://schemas.microsoft.com/office/2015/10/relationships/revisionInfo" Target="revisionInfo.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 Type="http://schemas.openxmlformats.org/officeDocument/2006/relationships/slideMaster" Target="slideMasters/slideMaster1.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slide" Target="slides/slide71.xml"/><Relationship Id="rId85" Type="http://schemas.openxmlformats.org/officeDocument/2006/relationships/slide" Target="slides/slide76.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handoutMaster" Target="handoutMasters/handoutMaster1.xml"/><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Master" Target="slideMasters/slideMaster2.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7" Type="http://schemas.openxmlformats.org/officeDocument/2006/relationships/customXml" Target="../customXml/item7.xml"/><Relationship Id="rId71" Type="http://schemas.openxmlformats.org/officeDocument/2006/relationships/slide" Target="slides/slide62.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notesMaster" Target="notesMasters/notesMaster1.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904838" cy="457200"/>
          </a:xfrm>
          <a:prstGeom prst="rect">
            <a:avLst/>
          </a:prstGeom>
        </p:spPr>
        <p:txBody>
          <a:bodyPr vert="horz" lIns="91440" tIns="45720" rIns="91440" bIns="45720" rtlCol="0"/>
          <a:lstStyle>
            <a:lvl1pPr algn="l">
              <a:defRPr sz="1200"/>
            </a:lvl1pPr>
          </a:lstStyle>
          <a:p>
            <a:endParaRPr lang="nl-NL" b="1">
              <a:latin typeface="Corbel"/>
              <a:cs typeface="Corbel"/>
            </a:endParaRPr>
          </a:p>
        </p:txBody>
      </p:sp>
      <p:sp>
        <p:nvSpPr>
          <p:cNvPr id="3" name="Tijdelijke aanduiding voor datum 2"/>
          <p:cNvSpPr>
            <a:spLocks noGrp="1"/>
          </p:cNvSpPr>
          <p:nvPr>
            <p:ph type="dt" sz="quarter" idx="1"/>
          </p:nvPr>
        </p:nvSpPr>
        <p:spPr>
          <a:xfrm>
            <a:off x="5372761" y="0"/>
            <a:ext cx="1483652" cy="457200"/>
          </a:xfrm>
          <a:prstGeom prst="rect">
            <a:avLst/>
          </a:prstGeom>
        </p:spPr>
        <p:txBody>
          <a:bodyPr vert="horz" lIns="91440" tIns="45720" rIns="91440" bIns="45720" rtlCol="0"/>
          <a:lstStyle>
            <a:lvl1pPr algn="r">
              <a:defRPr sz="1200"/>
            </a:lvl1pPr>
          </a:lstStyle>
          <a:p>
            <a:fld id="{1DFF1D61-6A12-B148-B795-5CBE2F827FD7}" type="datetime3">
              <a:rPr lang="nl-NL">
                <a:latin typeface="Corbel"/>
                <a:cs typeface="Corbel"/>
              </a:rPr>
              <a:t>27/7/26</a:t>
            </a:fld>
            <a:endParaRPr lang="nl-NL">
              <a:latin typeface="Corbel"/>
              <a:cs typeface="Corbel"/>
            </a:endParaRPr>
          </a:p>
        </p:txBody>
      </p:sp>
      <p:sp>
        <p:nvSpPr>
          <p:cNvPr id="4" name="Tijdelijke aanduiding voor voettekst 3"/>
          <p:cNvSpPr>
            <a:spLocks noGrp="1"/>
          </p:cNvSpPr>
          <p:nvPr>
            <p:ph type="ftr" sz="quarter" idx="2"/>
          </p:nvPr>
        </p:nvSpPr>
        <p:spPr>
          <a:xfrm>
            <a:off x="-1" y="8685213"/>
            <a:ext cx="5740415" cy="457200"/>
          </a:xfrm>
          <a:prstGeom prst="rect">
            <a:avLst/>
          </a:prstGeom>
        </p:spPr>
        <p:txBody>
          <a:bodyPr vert="horz" lIns="91440" tIns="45720" rIns="91440" bIns="45720" rtlCol="0" anchor="b"/>
          <a:lstStyle>
            <a:lvl1pPr algn="l">
              <a:defRPr sz="1200"/>
            </a:lvl1pPr>
          </a:lstStyle>
          <a:p>
            <a:endParaRPr lang="nl-NL">
              <a:latin typeface="Corbel"/>
              <a:cs typeface="Corbel"/>
            </a:endParaRPr>
          </a:p>
        </p:txBody>
      </p:sp>
      <p:sp>
        <p:nvSpPr>
          <p:cNvPr id="5" name="Tijdelijke aanduiding voor dianummer 4"/>
          <p:cNvSpPr>
            <a:spLocks noGrp="1"/>
          </p:cNvSpPr>
          <p:nvPr>
            <p:ph type="sldNum" sz="quarter" idx="3"/>
          </p:nvPr>
        </p:nvSpPr>
        <p:spPr>
          <a:xfrm>
            <a:off x="6091357" y="8685213"/>
            <a:ext cx="765055" cy="457200"/>
          </a:xfrm>
          <a:prstGeom prst="rect">
            <a:avLst/>
          </a:prstGeom>
        </p:spPr>
        <p:txBody>
          <a:bodyPr vert="horz" lIns="91440" tIns="45720" rIns="91440" bIns="45720" rtlCol="0" anchor="b"/>
          <a:lstStyle>
            <a:lvl1pPr algn="r">
              <a:defRPr sz="1200"/>
            </a:lvl1pPr>
          </a:lstStyle>
          <a:p>
            <a:fld id="{59E047AC-04BA-824E-9526-AEF0380CB1CE}" type="slidenum">
              <a:rPr>
                <a:latin typeface="Corbel"/>
                <a:cs typeface="Corbel"/>
              </a:rPr>
              <a:pPr/>
              <a:t>‹#›</a:t>
            </a:fld>
            <a:endParaRPr lang="nl-NL">
              <a:latin typeface="Corbel"/>
              <a:cs typeface="Corbel"/>
            </a:endParaRPr>
          </a:p>
        </p:txBody>
      </p:sp>
    </p:spTree>
    <p:extLst>
      <p:ext uri="{BB962C8B-B14F-4D97-AF65-F5344CB8AC3E}">
        <p14:creationId xmlns:p14="http://schemas.microsoft.com/office/powerpoint/2010/main" val="17018190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1" y="0"/>
            <a:ext cx="5058969" cy="457200"/>
          </a:xfrm>
          <a:prstGeom prst="rect">
            <a:avLst/>
          </a:prstGeom>
        </p:spPr>
        <p:txBody>
          <a:bodyPr vert="horz" lIns="91440" tIns="45720" rIns="91440" bIns="45720" rtlCol="0"/>
          <a:lstStyle>
            <a:lvl1pPr algn="l">
              <a:defRPr sz="1200" b="1" i="0">
                <a:latin typeface="Corbel"/>
                <a:cs typeface="Corbel"/>
              </a:defRPr>
            </a:lvl1pPr>
          </a:lstStyle>
          <a:p>
            <a:endParaRPr lang="nl-NL"/>
          </a:p>
        </p:txBody>
      </p:sp>
      <p:sp>
        <p:nvSpPr>
          <p:cNvPr id="3" name="Tijdelijke aanduiding voor datum 2"/>
          <p:cNvSpPr>
            <a:spLocks noGrp="1"/>
          </p:cNvSpPr>
          <p:nvPr>
            <p:ph type="dt" idx="1"/>
          </p:nvPr>
        </p:nvSpPr>
        <p:spPr>
          <a:xfrm>
            <a:off x="5358377" y="0"/>
            <a:ext cx="1498036" cy="457200"/>
          </a:xfrm>
          <a:prstGeom prst="rect">
            <a:avLst/>
          </a:prstGeom>
        </p:spPr>
        <p:txBody>
          <a:bodyPr vert="horz" lIns="91440" tIns="45720" rIns="91440" bIns="45720" rtlCol="0"/>
          <a:lstStyle>
            <a:lvl1pPr algn="r">
              <a:defRPr sz="1200">
                <a:latin typeface="Corbel"/>
                <a:cs typeface="Corbel"/>
              </a:defRPr>
            </a:lvl1pPr>
          </a:lstStyle>
          <a:p>
            <a:fld id="{301EDAA2-3DF6-7940-91E3-A225DE787136}" type="datetime3">
              <a:t>27/7/26</a:t>
            </a:fld>
            <a:endParaRPr lang="nl-NL"/>
          </a:p>
        </p:txBody>
      </p:sp>
      <p:sp>
        <p:nvSpPr>
          <p:cNvPr id="4" name="Tijdelijke aanduiding voor dia-afbeelding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Klik om de tekststijl van het model te bewerken</a:t>
            </a:r>
          </a:p>
          <a:p>
            <a:pPr lvl="1"/>
            <a:r>
              <a:rPr lang="en-US"/>
              <a:t>Tweede niveau</a:t>
            </a:r>
          </a:p>
          <a:p>
            <a:pPr lvl="2"/>
            <a:r>
              <a:rPr lang="en-US"/>
              <a:t>Derde niveau</a:t>
            </a:r>
          </a:p>
          <a:p>
            <a:pPr lvl="3"/>
            <a:r>
              <a:rPr lang="en-US"/>
              <a:t>Vierde niveau</a:t>
            </a:r>
          </a:p>
          <a:p>
            <a:pPr lvl="4"/>
            <a:r>
              <a:rPr lang="en-US"/>
              <a:t>Vijfde niveau</a:t>
            </a:r>
            <a:endParaRPr lang="nl-NL"/>
          </a:p>
        </p:txBody>
      </p:sp>
      <p:sp>
        <p:nvSpPr>
          <p:cNvPr id="6" name="Tijdelijke aanduiding voor voettekst 5"/>
          <p:cNvSpPr>
            <a:spLocks noGrp="1"/>
          </p:cNvSpPr>
          <p:nvPr>
            <p:ph type="ftr" sz="quarter" idx="4"/>
          </p:nvPr>
        </p:nvSpPr>
        <p:spPr>
          <a:xfrm>
            <a:off x="0" y="8685213"/>
            <a:ext cx="5715000" cy="457200"/>
          </a:xfrm>
          <a:prstGeom prst="rect">
            <a:avLst/>
          </a:prstGeom>
        </p:spPr>
        <p:txBody>
          <a:bodyPr vert="horz" lIns="91440" tIns="45720" rIns="91440" bIns="45720" rtlCol="0" anchor="b"/>
          <a:lstStyle>
            <a:lvl1pPr algn="l">
              <a:defRPr sz="1200">
                <a:latin typeface="Corbel"/>
                <a:cs typeface="Corbel"/>
              </a:defRPr>
            </a:lvl1pPr>
          </a:lstStyle>
          <a:p>
            <a:endParaRPr lang="nl-NL"/>
          </a:p>
        </p:txBody>
      </p:sp>
      <p:sp>
        <p:nvSpPr>
          <p:cNvPr id="7" name="Tijdelijke aanduiding voor dianummer 6"/>
          <p:cNvSpPr>
            <a:spLocks noGrp="1"/>
          </p:cNvSpPr>
          <p:nvPr>
            <p:ph type="sldNum" sz="quarter" idx="5"/>
          </p:nvPr>
        </p:nvSpPr>
        <p:spPr>
          <a:xfrm>
            <a:off x="6070763" y="8685213"/>
            <a:ext cx="785650" cy="457200"/>
          </a:xfrm>
          <a:prstGeom prst="rect">
            <a:avLst/>
          </a:prstGeom>
        </p:spPr>
        <p:txBody>
          <a:bodyPr vert="horz" lIns="91440" tIns="45720" rIns="91440" bIns="45720" rtlCol="0" anchor="b"/>
          <a:lstStyle>
            <a:lvl1pPr algn="r">
              <a:defRPr sz="1200">
                <a:latin typeface="Corbel"/>
                <a:cs typeface="Corbel"/>
              </a:defRPr>
            </a:lvl1pPr>
          </a:lstStyle>
          <a:p>
            <a:fld id="{1CB5D99F-C216-8C4C-B398-F06F7517D80F}" type="slidenum">
              <a:rPr lang="nl-NL"/>
              <a:pPr/>
              <a:t>‹#›</a:t>
            </a:fld>
            <a:endParaRPr lang="nl-NL"/>
          </a:p>
        </p:txBody>
      </p:sp>
    </p:spTree>
    <p:extLst>
      <p:ext uri="{BB962C8B-B14F-4D97-AF65-F5344CB8AC3E}">
        <p14:creationId xmlns:p14="http://schemas.microsoft.com/office/powerpoint/2010/main" val="328618843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lnSpc>
        <a:spcPct val="100000"/>
      </a:lnSpc>
      <a:defRPr sz="1200" kern="1200">
        <a:solidFill>
          <a:schemeClr val="tx1"/>
        </a:solidFill>
        <a:latin typeface="Corbel"/>
        <a:ea typeface="+mn-ea"/>
        <a:cs typeface="Corbel"/>
      </a:defRPr>
    </a:lvl1pPr>
    <a:lvl2pPr marL="176213" indent="-176213" algn="l" defTabSz="457200" rtl="0" eaLnBrk="1" latinLnBrk="0" hangingPunct="1">
      <a:lnSpc>
        <a:spcPct val="100000"/>
      </a:lnSpc>
      <a:buFont typeface="Arial"/>
      <a:buChar char="•"/>
      <a:defRPr sz="1200" kern="1200">
        <a:solidFill>
          <a:schemeClr val="tx1"/>
        </a:solidFill>
        <a:latin typeface="Corbel"/>
        <a:ea typeface="+mn-ea"/>
        <a:cs typeface="Corbel"/>
      </a:defRPr>
    </a:lvl2pPr>
    <a:lvl3pPr marL="361950" indent="-185738" algn="l" defTabSz="457200" rtl="0" eaLnBrk="1" latinLnBrk="0" hangingPunct="1">
      <a:lnSpc>
        <a:spcPct val="100000"/>
      </a:lnSpc>
      <a:buFont typeface="Arial"/>
      <a:buChar char="•"/>
      <a:defRPr sz="1100" kern="1200">
        <a:solidFill>
          <a:schemeClr val="tx1"/>
        </a:solidFill>
        <a:latin typeface="Corbel"/>
        <a:ea typeface="+mn-ea"/>
        <a:cs typeface="Corbel"/>
      </a:defRPr>
    </a:lvl3pPr>
    <a:lvl4pPr marL="536575" indent="-174625" algn="l" defTabSz="457200" rtl="0" eaLnBrk="1" latinLnBrk="0" hangingPunct="1">
      <a:lnSpc>
        <a:spcPct val="100000"/>
      </a:lnSpc>
      <a:buFont typeface="Arial"/>
      <a:buChar char="•"/>
      <a:defRPr sz="1000" kern="1200">
        <a:solidFill>
          <a:schemeClr val="tx1"/>
        </a:solidFill>
        <a:latin typeface="Corbel"/>
        <a:ea typeface="+mn-ea"/>
        <a:cs typeface="Corbel"/>
      </a:defRPr>
    </a:lvl4pPr>
    <a:lvl5pPr marL="712788" indent="-176213" algn="l" defTabSz="457200" rtl="0" eaLnBrk="1" latinLnBrk="0" hangingPunct="1">
      <a:lnSpc>
        <a:spcPct val="100000"/>
      </a:lnSpc>
      <a:buFont typeface="Arial"/>
      <a:buChar char="•"/>
      <a:defRPr sz="1000" kern="1200">
        <a:solidFill>
          <a:schemeClr val="tx1"/>
        </a:solidFill>
        <a:latin typeface="Corbel"/>
        <a:ea typeface="+mn-ea"/>
        <a:cs typeface="Corbel"/>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sz="900">
              <a:latin typeface="Myriad for Rabobank" panose="020B0604020202020204" charset="0"/>
            </a:endParaRPr>
          </a:p>
        </p:txBody>
      </p:sp>
      <p:sp>
        <p:nvSpPr>
          <p:cNvPr id="4" name="Slide Number Placeholder 3"/>
          <p:cNvSpPr>
            <a:spLocks noGrp="1"/>
          </p:cNvSpPr>
          <p:nvPr>
            <p:ph type="sldNum" sz="quarter" idx="5"/>
          </p:nvPr>
        </p:nvSpPr>
        <p:spPr/>
        <p:txBody>
          <a:bodyPr/>
          <a:lstStyle/>
          <a:p>
            <a:fld id="{005444ED-21FE-41E2-990D-ED635B34E95A}" type="slidenum">
              <a:rPr lang="en-GB" smtClean="0"/>
              <a:pPr/>
              <a:t>1</a:t>
            </a:fld>
            <a:endParaRPr lang="en-GB"/>
          </a:p>
        </p:txBody>
      </p:sp>
    </p:spTree>
    <p:extLst>
      <p:ext uri="{BB962C8B-B14F-4D97-AF65-F5344CB8AC3E}">
        <p14:creationId xmlns:p14="http://schemas.microsoft.com/office/powerpoint/2010/main" val="2700836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32500" lnSpcReduction="20000"/>
          </a:bodyPr>
          <a:lstStyle/>
          <a:p>
            <a:r>
              <a:rPr lang="en-GB" altLang="en-US" sz="2500"/>
              <a:t>To avoid an excess of (technical) details in this PSA:</a:t>
            </a:r>
          </a:p>
          <a:p>
            <a:pPr marL="342900" indent="-342900">
              <a:buAutoNum type="arabicPeriod"/>
            </a:pPr>
            <a:r>
              <a:rPr lang="en-GB" altLang="en-US" sz="2500"/>
              <a:t>Include only the changes that are relevant from an architecture perspective;</a:t>
            </a:r>
          </a:p>
          <a:p>
            <a:pPr marL="342900" indent="-342900">
              <a:buAutoNum type="arabicPeriod"/>
            </a:pPr>
            <a:r>
              <a:rPr lang="en-GB" altLang="en-US" sz="2500"/>
              <a:t>The PSA is not meant as base line documentation;</a:t>
            </a:r>
            <a:endParaRPr lang="en-US" sz="2500"/>
          </a:p>
          <a:p>
            <a:pPr marL="171450" indent="-171450">
              <a:buFont typeface="Arial" panose="020B0604020202020204" pitchFamily="34" charset="0"/>
              <a:buChar char="•"/>
            </a:pPr>
            <a:endParaRPr lang="en-US" sz="2500"/>
          </a:p>
          <a:p>
            <a:pPr marL="171450" indent="-171450">
              <a:buFont typeface="Arial" panose="020B0604020202020204" pitchFamily="34" charset="0"/>
              <a:buChar char="•"/>
            </a:pPr>
            <a:r>
              <a:rPr lang="en-US" sz="2500"/>
              <a:t>PSA can include open points to be solved in a later iteration</a:t>
            </a:r>
          </a:p>
          <a:p>
            <a:pPr marL="171450" indent="-171450">
              <a:buFont typeface="Arial" panose="020B0604020202020204" pitchFamily="34" charset="0"/>
              <a:buChar char="•"/>
            </a:pPr>
            <a:r>
              <a:rPr lang="en-US" sz="2500"/>
              <a:t>Major changes require updated versions of PSA:</a:t>
            </a:r>
          </a:p>
          <a:p>
            <a:pPr marL="989013" lvl="3" indent="-531813">
              <a:spcBef>
                <a:spcPts val="0"/>
              </a:spcBef>
              <a:buFont typeface="Arial" panose="020B0604020202020204" pitchFamily="34" charset="0"/>
              <a:buChar char="•"/>
            </a:pPr>
            <a:r>
              <a:rPr lang="en-US" sz="2500"/>
              <a:t>A new or updated application service with respect to functionality</a:t>
            </a:r>
          </a:p>
          <a:p>
            <a:pPr marL="989013" lvl="3" indent="-531813">
              <a:spcBef>
                <a:spcPts val="0"/>
              </a:spcBef>
              <a:buFont typeface="Arial" panose="020B0604020202020204" pitchFamily="34" charset="0"/>
              <a:buChar char="•"/>
            </a:pPr>
            <a:r>
              <a:rPr lang="en-US" sz="2500"/>
              <a:t>Change to business, process, application architecture and/or infrastructure (e.g. new component)</a:t>
            </a:r>
          </a:p>
          <a:p>
            <a:pPr marL="989013" lvl="3" indent="-531813">
              <a:spcBef>
                <a:spcPts val="0"/>
              </a:spcBef>
              <a:buFont typeface="Arial" panose="020B0604020202020204" pitchFamily="34" charset="0"/>
              <a:buChar char="•"/>
            </a:pPr>
            <a:r>
              <a:rPr lang="en-US" sz="2500"/>
              <a:t>Significant functional / technical change</a:t>
            </a:r>
          </a:p>
          <a:p>
            <a:pPr marL="989013" lvl="3" indent="-531813">
              <a:spcBef>
                <a:spcPts val="0"/>
              </a:spcBef>
              <a:buFont typeface="Arial" panose="020B0604020202020204" pitchFamily="34" charset="0"/>
              <a:buChar char="•"/>
            </a:pPr>
            <a:r>
              <a:rPr lang="en-US" sz="2500"/>
              <a:t>Change in the AIC rating </a:t>
            </a:r>
          </a:p>
          <a:p>
            <a:pPr marL="989013" lvl="3" indent="-531813">
              <a:spcBef>
                <a:spcPts val="0"/>
              </a:spcBef>
              <a:buFont typeface="Arial" panose="020B0604020202020204" pitchFamily="34" charset="0"/>
              <a:buChar char="•"/>
            </a:pPr>
            <a:r>
              <a:rPr lang="en-US" sz="2500"/>
              <a:t>Rabobank specific packaged software modifications (“</a:t>
            </a:r>
            <a:r>
              <a:rPr lang="en-US" sz="2500" err="1"/>
              <a:t>Rabo</a:t>
            </a:r>
            <a:r>
              <a:rPr lang="en-US" sz="2500"/>
              <a:t>-special”)</a:t>
            </a:r>
          </a:p>
          <a:p>
            <a:pPr marL="989013" lvl="3" indent="-531813">
              <a:spcBef>
                <a:spcPts val="0"/>
              </a:spcBef>
              <a:buFont typeface="Arial" panose="020B0604020202020204" pitchFamily="34" charset="0"/>
              <a:buChar char="•"/>
            </a:pPr>
            <a:r>
              <a:rPr lang="en-US" sz="2500"/>
              <a:t>Consolidation of applications, databases</a:t>
            </a:r>
          </a:p>
          <a:p>
            <a:pPr marL="989013" lvl="3" indent="-531813">
              <a:spcBef>
                <a:spcPts val="0"/>
              </a:spcBef>
              <a:buFont typeface="Arial" panose="020B0604020202020204" pitchFamily="34" charset="0"/>
              <a:buChar char="•"/>
            </a:pPr>
            <a:r>
              <a:rPr lang="en-US" sz="2500"/>
              <a:t>Organizational changes (new users or locations) </a:t>
            </a:r>
          </a:p>
          <a:p>
            <a:pPr marL="989013" lvl="3" indent="-531813">
              <a:spcBef>
                <a:spcPts val="0"/>
              </a:spcBef>
              <a:buFont typeface="Arial" panose="020B0604020202020204" pitchFamily="34" charset="0"/>
              <a:buChar char="•"/>
            </a:pPr>
            <a:r>
              <a:rPr lang="en-US" sz="2500"/>
              <a:t>Support/maintenance window changes </a:t>
            </a:r>
          </a:p>
          <a:p>
            <a:pPr marL="989013" lvl="3" indent="-531813">
              <a:spcBef>
                <a:spcPts val="0"/>
              </a:spcBef>
              <a:buFont typeface="Arial" panose="020B0604020202020204" pitchFamily="34" charset="0"/>
              <a:buChar char="•"/>
            </a:pPr>
            <a:r>
              <a:rPr lang="en-US" sz="2500"/>
              <a:t>A solution that does not comply to the standards or the applicable Reference Architecture</a:t>
            </a:r>
          </a:p>
          <a:p>
            <a:pPr marL="989013" lvl="3" indent="-531813">
              <a:spcBef>
                <a:spcPts val="0"/>
              </a:spcBef>
              <a:buFont typeface="Arial" panose="020B0604020202020204" pitchFamily="34" charset="0"/>
              <a:buChar char="•"/>
            </a:pPr>
            <a:r>
              <a:rPr lang="en-US" sz="2500"/>
              <a:t>It is not obvious in which application to solve a new requirement</a:t>
            </a:r>
          </a:p>
          <a:p>
            <a:pPr marL="171450" indent="-171450">
              <a:buFont typeface="Arial" panose="020B0604020202020204" pitchFamily="34" charset="0"/>
              <a:buChar char="•"/>
            </a:pPr>
            <a:r>
              <a:rPr lang="en-US" sz="2500"/>
              <a:t>“Definition of Ready” requires confirmation by the team that all architectural issues are addressed. </a:t>
            </a:r>
          </a:p>
          <a:p>
            <a:pPr lvl="1"/>
            <a:endParaRPr lang="en-GB" sz="2500"/>
          </a:p>
          <a:p>
            <a:pPr lvl="0"/>
            <a:r>
              <a:rPr lang="en-GB" sz="2500"/>
              <a:t>Keep in mind that beside the main topic of this PSA there are other secondary topics that may require attention. For example:</a:t>
            </a:r>
          </a:p>
          <a:p>
            <a:pPr marL="285750" indent="-285750" fontAlgn="base">
              <a:buFont typeface="Arial" panose="020B0604020202020204" pitchFamily="34" charset="0"/>
              <a:buChar char="•"/>
            </a:pPr>
            <a:r>
              <a:rPr lang="en-US" sz="2500"/>
              <a:t>Enterprise content management:</a:t>
            </a:r>
          </a:p>
          <a:p>
            <a:pPr marL="461963" lvl="1" indent="-285750" fontAlgn="base">
              <a:buFont typeface="Arial" panose="020B0604020202020204" pitchFamily="34" charset="0"/>
              <a:buChar char="•"/>
            </a:pPr>
            <a:r>
              <a:rPr lang="en-US" sz="2500"/>
              <a:t>Document management: capture, retention (due to policies and including archiving),</a:t>
            </a:r>
            <a:r>
              <a:rPr lang="en-US" sz="2500" baseline="0"/>
              <a:t> disposal</a:t>
            </a:r>
          </a:p>
          <a:p>
            <a:pPr marL="461963" lvl="1" indent="-285750" fontAlgn="base">
              <a:buFont typeface="Arial" panose="020B0604020202020204" pitchFamily="34" charset="0"/>
              <a:buChar char="•"/>
            </a:pPr>
            <a:r>
              <a:rPr lang="en-US" sz="2500" baseline="0"/>
              <a:t>Data life cycle</a:t>
            </a:r>
          </a:p>
          <a:p>
            <a:pPr marL="285750" indent="-285750" fontAlgn="base">
              <a:buFont typeface="Arial" panose="020B0604020202020204" pitchFamily="34" charset="0"/>
              <a:buChar char="•"/>
            </a:pPr>
            <a:r>
              <a:rPr lang="en-US" sz="2500"/>
              <a:t>Data feeds to DWH’s (Management Information).</a:t>
            </a:r>
          </a:p>
          <a:p>
            <a:pPr marL="285750" indent="-285750" fontAlgn="base">
              <a:buFont typeface="Arial" panose="020B0604020202020204" pitchFamily="34" charset="0"/>
              <a:buChar char="•"/>
            </a:pPr>
            <a:r>
              <a:rPr lang="en-US" sz="2500"/>
              <a:t>Data feeds to Compliance monitoring: </a:t>
            </a:r>
            <a:r>
              <a:rPr lang="nl-NL" sz="2500"/>
              <a:t>interfaces </a:t>
            </a:r>
            <a:r>
              <a:rPr lang="en-US" sz="2500"/>
              <a:t>with fraud, sanction, CDD scanning, anti money laundering,  market abuse and conflicts of interest.</a:t>
            </a:r>
          </a:p>
          <a:p>
            <a:pPr marL="285750" indent="-285750" fontAlgn="base">
              <a:buFont typeface="Arial" panose="020B0604020202020204" pitchFamily="34" charset="0"/>
              <a:buChar char="•"/>
            </a:pPr>
            <a:r>
              <a:rPr lang="en-GB" sz="2500"/>
              <a:t>Compliance impact (</a:t>
            </a:r>
            <a:r>
              <a:rPr lang="en-GB" sz="2500" err="1"/>
              <a:t>Sox</a:t>
            </a:r>
            <a:r>
              <a:rPr lang="en-GB" sz="2500"/>
              <a:t>, BCBS, DFA, EMIR, MiFID etc.)</a:t>
            </a:r>
          </a:p>
          <a:p>
            <a:pPr marL="285750" indent="-285750" fontAlgn="base">
              <a:buFont typeface="Arial" panose="020B0604020202020204" pitchFamily="34" charset="0"/>
              <a:buChar char="•"/>
            </a:pPr>
            <a:r>
              <a:rPr lang="en-US" sz="2500"/>
              <a:t>Batch service to other data domains / data logistics: feeds to/from your domain </a:t>
            </a:r>
            <a:r>
              <a:rPr lang="en-US" sz="2500" err="1"/>
              <a:t>datahub</a:t>
            </a:r>
            <a:r>
              <a:rPr lang="en-US" sz="2500"/>
              <a:t> (data</a:t>
            </a:r>
            <a:r>
              <a:rPr lang="en-US" sz="2500" baseline="0"/>
              <a:t> exchange to/</a:t>
            </a:r>
            <a:r>
              <a:rPr lang="en-US" sz="2500"/>
              <a:t>from the central </a:t>
            </a:r>
            <a:r>
              <a:rPr lang="en-US" sz="2500" err="1"/>
              <a:t>datarouter</a:t>
            </a:r>
            <a:r>
              <a:rPr lang="en-US" sz="2500"/>
              <a:t>).</a:t>
            </a:r>
          </a:p>
          <a:p>
            <a:pPr marL="285750" indent="-285750" fontAlgn="base">
              <a:buFont typeface="Arial" panose="020B0604020202020204" pitchFamily="34" charset="0"/>
              <a:buChar char="•"/>
            </a:pPr>
            <a:r>
              <a:rPr lang="en-US" sz="2500"/>
              <a:t>Business Activity Monitoring: </a:t>
            </a:r>
            <a:r>
              <a:rPr lang="nl-NL" sz="2500"/>
              <a:t>interfaces </a:t>
            </a:r>
            <a:r>
              <a:rPr lang="en-US" sz="2500"/>
              <a:t>with the business activity monitoring process.</a:t>
            </a:r>
            <a:endParaRPr lang="en-GB" sz="2500"/>
          </a:p>
          <a:p>
            <a:pPr marL="285750" indent="-285750" fontAlgn="base">
              <a:buFont typeface="Arial" panose="020B0604020202020204" pitchFamily="34" charset="0"/>
              <a:buChar char="•"/>
            </a:pPr>
            <a:r>
              <a:rPr lang="en-US" sz="2500"/>
              <a:t>Billing information: </a:t>
            </a:r>
            <a:r>
              <a:rPr lang="nl-NL" sz="2500"/>
              <a:t>interfaces </a:t>
            </a:r>
            <a:r>
              <a:rPr lang="en-US" sz="2500"/>
              <a:t>with </a:t>
            </a:r>
            <a:r>
              <a:rPr lang="en-US" sz="2500" err="1"/>
              <a:t>clientbilling</a:t>
            </a:r>
            <a:r>
              <a:rPr lang="en-US" sz="2500"/>
              <a:t>.</a:t>
            </a:r>
            <a:endParaRPr lang="en-GB" sz="2500"/>
          </a:p>
          <a:p>
            <a:pPr marL="285750" marR="0" lvl="0" indent="-2857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nl-NL" sz="2500"/>
              <a:t>Claims: interfaces </a:t>
            </a:r>
            <a:r>
              <a:rPr lang="en-US" sz="2500"/>
              <a:t>with complaints handling.</a:t>
            </a:r>
          </a:p>
          <a:p>
            <a:pPr marL="285750" marR="0" lvl="0" indent="-2857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nl-NL" sz="2800"/>
              <a:t>Financial </a:t>
            </a:r>
            <a:r>
              <a:rPr lang="en-GB" sz="2800"/>
              <a:t>administration: </a:t>
            </a:r>
            <a:r>
              <a:rPr lang="nl-NL" sz="2800"/>
              <a:t>interfaces </a:t>
            </a:r>
            <a:r>
              <a:rPr lang="en-US" sz="2500"/>
              <a:t>with </a:t>
            </a:r>
            <a:r>
              <a:rPr lang="nl-NL" sz="2500"/>
              <a:t>the </a:t>
            </a:r>
            <a:r>
              <a:rPr lang="nl-NL" sz="2500" err="1"/>
              <a:t>ledger</a:t>
            </a:r>
            <a:r>
              <a:rPr lang="nl-NL" sz="2500"/>
              <a:t>.</a:t>
            </a: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2</a:t>
            </a:fld>
            <a:endParaRPr lang="en-US"/>
          </a:p>
        </p:txBody>
      </p:sp>
    </p:spTree>
    <p:extLst>
      <p:ext uri="{BB962C8B-B14F-4D97-AF65-F5344CB8AC3E}">
        <p14:creationId xmlns:p14="http://schemas.microsoft.com/office/powerpoint/2010/main" val="3285397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lvl="3">
              <a:lnSpc>
                <a:spcPct val="80000"/>
              </a:lnSpc>
              <a:spcAft>
                <a:spcPts val="600"/>
              </a:spcAft>
            </a:pPr>
            <a:r>
              <a:rPr lang="en-GB" sz="1100"/>
              <a:t>Elevator pitch PSA; the essentials of why we are doing this.</a:t>
            </a:r>
            <a:br>
              <a:rPr lang="en-GB" sz="1100"/>
            </a:br>
            <a:r>
              <a:rPr lang="en-GB" sz="1100"/>
              <a:t>Give a short introduction by addressing:</a:t>
            </a:r>
          </a:p>
          <a:p>
            <a:pPr marL="357188" lvl="3" indent="-357188">
              <a:lnSpc>
                <a:spcPct val="80000"/>
              </a:lnSpc>
              <a:spcAft>
                <a:spcPts val="600"/>
              </a:spcAft>
              <a:buFont typeface="Arial" pitchFamily="34" charset="0"/>
              <a:buChar char="•"/>
            </a:pPr>
            <a:r>
              <a:rPr lang="en-GB" sz="1100"/>
              <a:t>Region, Entity, Business Line</a:t>
            </a:r>
          </a:p>
          <a:p>
            <a:pPr marL="357188" lvl="3" indent="-357188">
              <a:lnSpc>
                <a:spcPct val="80000"/>
              </a:lnSpc>
              <a:spcAft>
                <a:spcPts val="600"/>
              </a:spcAft>
              <a:buFont typeface="Arial" pitchFamily="34" charset="0"/>
              <a:buChar char="•"/>
            </a:pPr>
            <a:r>
              <a:rPr lang="en-GB" sz="1100"/>
              <a:t>Timelines</a:t>
            </a:r>
          </a:p>
          <a:p>
            <a:pPr marL="357188" lvl="3" indent="-357188">
              <a:lnSpc>
                <a:spcPct val="80000"/>
              </a:lnSpc>
              <a:spcAft>
                <a:spcPts val="600"/>
              </a:spcAft>
              <a:buFont typeface="Arial" pitchFamily="34" charset="0"/>
              <a:buChar char="•"/>
            </a:pPr>
            <a:r>
              <a:rPr lang="en-GB" sz="1100"/>
              <a:t>Impact</a:t>
            </a:r>
          </a:p>
          <a:p>
            <a:pPr marL="357188" lvl="3" indent="-357188">
              <a:lnSpc>
                <a:spcPct val="80000"/>
              </a:lnSpc>
              <a:spcAft>
                <a:spcPts val="600"/>
              </a:spcAft>
              <a:buFont typeface="Arial" pitchFamily="34" charset="0"/>
              <a:buChar char="•"/>
            </a:pPr>
            <a:r>
              <a:rPr lang="en-GB" sz="1100"/>
              <a:t>Dependencies</a:t>
            </a:r>
          </a:p>
          <a:p>
            <a:pPr marL="357188" lvl="3" indent="-357188">
              <a:lnSpc>
                <a:spcPct val="80000"/>
              </a:lnSpc>
              <a:spcAft>
                <a:spcPts val="600"/>
              </a:spcAft>
              <a:buFont typeface="Arial" pitchFamily="34" charset="0"/>
              <a:buChar char="•"/>
            </a:pPr>
            <a:r>
              <a:rPr lang="en-GB" sz="1100"/>
              <a:t>Domain architecture</a:t>
            </a:r>
          </a:p>
          <a:p>
            <a:pPr marL="357188" lvl="3" indent="-357188">
              <a:lnSpc>
                <a:spcPct val="80000"/>
              </a:lnSpc>
              <a:spcAft>
                <a:spcPts val="600"/>
              </a:spcAft>
              <a:buFont typeface="Arial" pitchFamily="34" charset="0"/>
              <a:buChar char="•"/>
            </a:pPr>
            <a:r>
              <a:rPr lang="en-GB" sz="1100"/>
              <a:t>Roadmap</a:t>
            </a:r>
          </a:p>
          <a:p>
            <a:pPr marL="182563" lvl="3" indent="-177800">
              <a:buFont typeface="Arial" pitchFamily="34" charset="0"/>
              <a:buChar char="•"/>
            </a:pPr>
            <a:endParaRPr lang="en-GB" sz="1100" i="0" kern="1200"/>
          </a:p>
          <a:p>
            <a:pPr marL="0" marR="0" lvl="3" indent="-177800" defTabSz="914400" latinLnBrk="0">
              <a:lnSpc>
                <a:spcPct val="80000"/>
              </a:lnSpc>
              <a:spcAft>
                <a:spcPts val="600"/>
              </a:spcAft>
              <a:buClrTx/>
              <a:buSzTx/>
              <a:buFont typeface="Arial" pitchFamily="34" charset="0"/>
              <a:buNone/>
              <a:tabLst/>
              <a:defRPr/>
            </a:pPr>
            <a:r>
              <a:rPr lang="en-US" sz="1100"/>
              <a:t>Provide a short description of the: </a:t>
            </a:r>
          </a:p>
          <a:p>
            <a:pPr marL="0" marR="0" lvl="3" indent="-177800" defTabSz="914400" latinLnBrk="0">
              <a:lnSpc>
                <a:spcPct val="80000"/>
              </a:lnSpc>
              <a:spcAft>
                <a:spcPts val="600"/>
              </a:spcAft>
              <a:buClrTx/>
              <a:buSzTx/>
              <a:buFont typeface="Arial" pitchFamily="34" charset="0"/>
              <a:buChar char="•"/>
              <a:tabLst/>
              <a:defRPr/>
            </a:pPr>
            <a:r>
              <a:rPr lang="en-US" sz="1100"/>
              <a:t>Objectives, </a:t>
            </a:r>
          </a:p>
          <a:p>
            <a:pPr marL="0" marR="0" lvl="3" indent="-177800" defTabSz="914400" latinLnBrk="0">
              <a:lnSpc>
                <a:spcPct val="80000"/>
              </a:lnSpc>
              <a:spcAft>
                <a:spcPts val="600"/>
              </a:spcAft>
              <a:buClrTx/>
              <a:buSzTx/>
              <a:buFont typeface="Arial" pitchFamily="34" charset="0"/>
              <a:buChar char="•"/>
              <a:tabLst/>
              <a:defRPr/>
            </a:pPr>
            <a:r>
              <a:rPr lang="en-US" sz="1100"/>
              <a:t>Business functions,</a:t>
            </a:r>
          </a:p>
          <a:p>
            <a:pPr marL="0" marR="0" lvl="3" indent="-177800" defTabSz="914400" latinLnBrk="0">
              <a:lnSpc>
                <a:spcPct val="80000"/>
              </a:lnSpc>
              <a:spcAft>
                <a:spcPts val="600"/>
              </a:spcAft>
              <a:buClrTx/>
              <a:buSzTx/>
              <a:buFont typeface="Arial" pitchFamily="34" charset="0"/>
              <a:buChar char="•"/>
              <a:tabLst/>
              <a:defRPr/>
            </a:pPr>
            <a:r>
              <a:rPr lang="en-US" sz="1100"/>
              <a:t>Business drivers, </a:t>
            </a:r>
          </a:p>
          <a:p>
            <a:pPr marL="0" marR="0" lvl="3" indent="-177800" defTabSz="914400" latinLnBrk="0">
              <a:lnSpc>
                <a:spcPct val="80000"/>
              </a:lnSpc>
              <a:spcAft>
                <a:spcPts val="600"/>
              </a:spcAft>
              <a:buClrTx/>
              <a:buSzTx/>
              <a:buFont typeface="Arial" pitchFamily="34" charset="0"/>
              <a:buChar char="•"/>
              <a:tabLst/>
              <a:defRPr/>
            </a:pPr>
            <a:r>
              <a:rPr lang="en-US" sz="1100"/>
              <a:t>Reasons and/or problem description</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167575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Use this section to</a:t>
            </a:r>
            <a:r>
              <a:rPr lang="en-GB" baseline="0"/>
              <a:t> give some background of the project for the reader by means of:</a:t>
            </a:r>
          </a:p>
          <a:p>
            <a:pPr>
              <a:buFontTx/>
              <a:buChar char="-"/>
            </a:pPr>
            <a:r>
              <a:rPr lang="en-GB" baseline="0"/>
              <a:t>Setting the scene</a:t>
            </a:r>
          </a:p>
          <a:p>
            <a:pPr>
              <a:buFontTx/>
              <a:buChar char="-"/>
            </a:pPr>
            <a:r>
              <a:rPr lang="en-GB" baseline="0"/>
              <a:t>Outlining the strategy</a:t>
            </a:r>
          </a:p>
          <a:p>
            <a:pPr>
              <a:buFontTx/>
              <a:buChar char="-"/>
            </a:pPr>
            <a:r>
              <a:rPr lang="en-GB" baseline="0"/>
              <a:t>Describe the IT impact</a:t>
            </a:r>
            <a:endParaRPr lang="en-GB"/>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995024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lvl="3">
              <a:lnSpc>
                <a:spcPct val="80000"/>
              </a:lnSpc>
              <a:spcAft>
                <a:spcPts val="600"/>
              </a:spcAft>
            </a:pPr>
            <a:r>
              <a:rPr lang="en-GB" sz="1100"/>
              <a:t>Elevator pitch PSA; the essentials of why we are doing this.</a:t>
            </a:r>
            <a:br>
              <a:rPr lang="en-GB" sz="1100"/>
            </a:br>
            <a:r>
              <a:rPr lang="en-GB" sz="1100"/>
              <a:t>Give a short introduction by addressing:</a:t>
            </a:r>
          </a:p>
          <a:p>
            <a:pPr marL="357188" lvl="3" indent="-357188">
              <a:lnSpc>
                <a:spcPct val="80000"/>
              </a:lnSpc>
              <a:spcAft>
                <a:spcPts val="600"/>
              </a:spcAft>
              <a:buFont typeface="Arial" pitchFamily="34" charset="0"/>
              <a:buChar char="•"/>
            </a:pPr>
            <a:r>
              <a:rPr lang="en-GB" sz="1100"/>
              <a:t>Region, Entity, Business Line</a:t>
            </a:r>
          </a:p>
          <a:p>
            <a:pPr marL="357188" lvl="3" indent="-357188">
              <a:lnSpc>
                <a:spcPct val="80000"/>
              </a:lnSpc>
              <a:spcAft>
                <a:spcPts val="600"/>
              </a:spcAft>
              <a:buFont typeface="Arial" pitchFamily="34" charset="0"/>
              <a:buChar char="•"/>
            </a:pPr>
            <a:r>
              <a:rPr lang="en-GB" sz="1100"/>
              <a:t>Timelines</a:t>
            </a:r>
          </a:p>
          <a:p>
            <a:pPr marL="357188" lvl="3" indent="-357188">
              <a:lnSpc>
                <a:spcPct val="80000"/>
              </a:lnSpc>
              <a:spcAft>
                <a:spcPts val="600"/>
              </a:spcAft>
              <a:buFont typeface="Arial" pitchFamily="34" charset="0"/>
              <a:buChar char="•"/>
            </a:pPr>
            <a:r>
              <a:rPr lang="en-GB" sz="1100"/>
              <a:t>Impact</a:t>
            </a:r>
          </a:p>
          <a:p>
            <a:pPr marL="357188" lvl="3" indent="-357188">
              <a:lnSpc>
                <a:spcPct val="80000"/>
              </a:lnSpc>
              <a:spcAft>
                <a:spcPts val="600"/>
              </a:spcAft>
              <a:buFont typeface="Arial" pitchFamily="34" charset="0"/>
              <a:buChar char="•"/>
            </a:pPr>
            <a:r>
              <a:rPr lang="en-GB" sz="1100"/>
              <a:t>Dependencies</a:t>
            </a:r>
          </a:p>
          <a:p>
            <a:pPr marL="357188" lvl="3" indent="-357188">
              <a:lnSpc>
                <a:spcPct val="80000"/>
              </a:lnSpc>
              <a:spcAft>
                <a:spcPts val="600"/>
              </a:spcAft>
              <a:buFont typeface="Arial" pitchFamily="34" charset="0"/>
              <a:buChar char="•"/>
            </a:pPr>
            <a:r>
              <a:rPr lang="en-GB" sz="1100"/>
              <a:t>Domain architecture</a:t>
            </a:r>
          </a:p>
          <a:p>
            <a:pPr marL="357188" lvl="3" indent="-357188">
              <a:lnSpc>
                <a:spcPct val="80000"/>
              </a:lnSpc>
              <a:spcAft>
                <a:spcPts val="600"/>
              </a:spcAft>
              <a:buFont typeface="Arial" pitchFamily="34" charset="0"/>
              <a:buChar char="•"/>
            </a:pPr>
            <a:r>
              <a:rPr lang="en-GB" sz="1100"/>
              <a:t>Roadmap</a:t>
            </a:r>
          </a:p>
          <a:p>
            <a:pPr marL="182563" lvl="3" indent="-177800">
              <a:buFont typeface="Arial" pitchFamily="34" charset="0"/>
              <a:buChar char="•"/>
            </a:pPr>
            <a:endParaRPr lang="en-GB" sz="1100" i="0" kern="1200"/>
          </a:p>
          <a:p>
            <a:pPr marL="0" marR="0" lvl="3" indent="-177800" defTabSz="914400" latinLnBrk="0">
              <a:lnSpc>
                <a:spcPct val="80000"/>
              </a:lnSpc>
              <a:spcAft>
                <a:spcPts val="600"/>
              </a:spcAft>
              <a:buClrTx/>
              <a:buSzTx/>
              <a:buFont typeface="Arial" pitchFamily="34" charset="0"/>
              <a:buNone/>
              <a:tabLst/>
              <a:defRPr/>
            </a:pPr>
            <a:r>
              <a:rPr lang="en-US" sz="1100"/>
              <a:t>Provide a short description of the: </a:t>
            </a:r>
          </a:p>
          <a:p>
            <a:pPr marL="0" marR="0" lvl="3" indent="-177800" defTabSz="914400" latinLnBrk="0">
              <a:lnSpc>
                <a:spcPct val="80000"/>
              </a:lnSpc>
              <a:spcAft>
                <a:spcPts val="600"/>
              </a:spcAft>
              <a:buClrTx/>
              <a:buSzTx/>
              <a:buFont typeface="Arial" pitchFamily="34" charset="0"/>
              <a:buChar char="•"/>
              <a:tabLst/>
              <a:defRPr/>
            </a:pPr>
            <a:r>
              <a:rPr lang="en-US" sz="1100"/>
              <a:t>Objectives, </a:t>
            </a:r>
          </a:p>
          <a:p>
            <a:pPr marL="0" marR="0" lvl="3" indent="-177800" defTabSz="914400" latinLnBrk="0">
              <a:lnSpc>
                <a:spcPct val="80000"/>
              </a:lnSpc>
              <a:spcAft>
                <a:spcPts val="600"/>
              </a:spcAft>
              <a:buClrTx/>
              <a:buSzTx/>
              <a:buFont typeface="Arial" pitchFamily="34" charset="0"/>
              <a:buChar char="•"/>
              <a:tabLst/>
              <a:defRPr/>
            </a:pPr>
            <a:r>
              <a:rPr lang="en-US" sz="1100"/>
              <a:t>Business functions,</a:t>
            </a:r>
          </a:p>
          <a:p>
            <a:pPr marL="0" marR="0" lvl="3" indent="-177800" defTabSz="914400" latinLnBrk="0">
              <a:lnSpc>
                <a:spcPct val="80000"/>
              </a:lnSpc>
              <a:spcAft>
                <a:spcPts val="600"/>
              </a:spcAft>
              <a:buClrTx/>
              <a:buSzTx/>
              <a:buFont typeface="Arial" pitchFamily="34" charset="0"/>
              <a:buChar char="•"/>
              <a:tabLst/>
              <a:defRPr/>
            </a:pPr>
            <a:r>
              <a:rPr lang="en-US" sz="1100"/>
              <a:t>Business drivers, </a:t>
            </a:r>
          </a:p>
          <a:p>
            <a:pPr marL="0" marR="0" lvl="3" indent="-177800" defTabSz="914400" latinLnBrk="0">
              <a:lnSpc>
                <a:spcPct val="80000"/>
              </a:lnSpc>
              <a:spcAft>
                <a:spcPts val="600"/>
              </a:spcAft>
              <a:buClrTx/>
              <a:buSzTx/>
              <a:buFont typeface="Arial" pitchFamily="34" charset="0"/>
              <a:buChar char="•"/>
              <a:tabLst/>
              <a:defRPr/>
            </a:pPr>
            <a:r>
              <a:rPr lang="en-US" sz="1100"/>
              <a:t>Reasons and/or problem description</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651480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You can replace the overview for a list of the most important principles for this change and ad to each one an explanation  </a:t>
            </a:r>
            <a:r>
              <a:rPr lang="en-GB" b="1"/>
              <a:t>OR</a:t>
            </a:r>
            <a:r>
              <a:rPr lang="en-GB"/>
              <a:t>  mention all the important principles in the pages of the ‘Architectural Decisions’ and remove this slide.</a:t>
            </a:r>
          </a:p>
          <a:p>
            <a:endParaRPr lang="en-GB"/>
          </a:p>
          <a:p>
            <a:r>
              <a:rPr lang="en-GB"/>
              <a:t>If you can’t </a:t>
            </a:r>
            <a:r>
              <a:rPr lang="en-GB" err="1"/>
              <a:t>fulfill</a:t>
            </a:r>
            <a:r>
              <a:rPr lang="en-GB"/>
              <a:t> an applicable principle make note of it in the slide ‘Architectural deviations’.</a:t>
            </a:r>
          </a:p>
          <a:p>
            <a:endParaRPr lang="en-GB"/>
          </a:p>
          <a:p>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6</a:t>
            </a:fld>
            <a:endParaRPr lang="en-US"/>
          </a:p>
        </p:txBody>
      </p:sp>
    </p:spTree>
    <p:extLst>
      <p:ext uri="{BB962C8B-B14F-4D97-AF65-F5344CB8AC3E}">
        <p14:creationId xmlns:p14="http://schemas.microsoft.com/office/powerpoint/2010/main" val="2789635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i="0"/>
              <a:t>The scope of a project is essential for the architecture: a too narrow scope will result in a suboptimal solution that will have a difficult fit in the landscape and will not be sustainable over time. A too broad scope will result in project management difficulties and a solution that might not be sufficiently flexible over time.</a:t>
            </a:r>
          </a:p>
          <a:p>
            <a:endParaRPr lang="en-GB" i="0"/>
          </a:p>
          <a:p>
            <a:pPr rtl="0" eaLnBrk="1" fontAlgn="t" latinLnBrk="0" hangingPunct="1"/>
            <a:r>
              <a:rPr lang="en-GB" sz="1200" i="0"/>
              <a:t>Provide a short description of the business scope of the project (focus on related business processes, applications, geographical scope and users/stakeholders).  Provide a short description</a:t>
            </a:r>
            <a:r>
              <a:rPr lang="en-GB" sz="1200" i="0" baseline="0"/>
              <a:t> of impact on </a:t>
            </a:r>
            <a:r>
              <a:rPr lang="en-US" sz="1200" b="1" i="0" u="none" strike="noStrike" kern="1200">
                <a:effectLst/>
                <a:latin typeface="+mn-lt"/>
                <a:ea typeface="+mn-ea"/>
                <a:cs typeface="+mn-cs"/>
              </a:rPr>
              <a:t>Customer segments</a:t>
            </a:r>
            <a:endParaRPr lang="en-GB" sz="1200" b="0" i="0" u="none" strike="noStrike" kern="1200">
              <a:effectLst/>
              <a:latin typeface="+mn-lt"/>
              <a:ea typeface="+mn-ea"/>
              <a:cs typeface="+mn-cs"/>
            </a:endParaRPr>
          </a:p>
          <a:p>
            <a:pPr rtl="0" eaLnBrk="1" fontAlgn="t" latinLnBrk="0" hangingPunct="1"/>
            <a:r>
              <a:rPr lang="en-US" sz="1200" b="0" i="0" u="none" strike="noStrike" kern="1200">
                <a:effectLst/>
                <a:latin typeface="+mn-lt"/>
                <a:ea typeface="+mn-ea"/>
                <a:cs typeface="+mn-cs"/>
              </a:rPr>
              <a:t>Products, Channels, Processes, </a:t>
            </a:r>
            <a:r>
              <a:rPr lang="en-US" sz="1200" b="0" i="0" u="none" strike="noStrike" kern="1200" err="1">
                <a:effectLst/>
                <a:latin typeface="+mn-lt"/>
                <a:ea typeface="+mn-ea"/>
                <a:cs typeface="+mn-cs"/>
              </a:rPr>
              <a:t>Usergroups</a:t>
            </a:r>
            <a:r>
              <a:rPr lang="en-US" sz="1200" b="0" i="0" u="none" strike="noStrike" kern="1200">
                <a:effectLst/>
                <a:latin typeface="+mn-lt"/>
                <a:ea typeface="+mn-ea"/>
                <a:cs typeface="+mn-cs"/>
              </a:rPr>
              <a:t>/Roles</a:t>
            </a:r>
            <a:r>
              <a:rPr lang="en-US" sz="1200" b="0" i="0" u="none" strike="noStrike" kern="1200" baseline="0">
                <a:effectLst/>
                <a:latin typeface="+mn-lt"/>
                <a:ea typeface="+mn-ea"/>
                <a:cs typeface="+mn-cs"/>
              </a:rPr>
              <a:t> and </a:t>
            </a:r>
            <a:r>
              <a:rPr lang="en-US" sz="1200" b="0" i="0" u="none" strike="noStrike" kern="1200">
                <a:effectLst/>
                <a:latin typeface="+mn-lt"/>
                <a:ea typeface="+mn-ea"/>
                <a:cs typeface="+mn-cs"/>
              </a:rPr>
              <a:t>Applications.</a:t>
            </a:r>
            <a:endParaRPr lang="en-GB" sz="1200" b="0" i="0" u="none" strike="noStrike" kern="1200">
              <a:effectLst/>
              <a:latin typeface="+mn-lt"/>
              <a:ea typeface="+mn-ea"/>
              <a:cs typeface="+mn-cs"/>
            </a:endParaRPr>
          </a:p>
          <a:p>
            <a:endParaRPr lang="en-GB" i="0"/>
          </a:p>
          <a:p>
            <a:r>
              <a:rPr lang="en-US" sz="1200" i="0"/>
              <a:t>Describe the IT scope by</a:t>
            </a:r>
            <a:r>
              <a:rPr lang="en-US" sz="1200" i="0" baseline="0"/>
              <a:t> indicating </a:t>
            </a:r>
            <a:r>
              <a:rPr lang="en-US" sz="1200" i="0"/>
              <a:t>impacted applications, interfaces and/or infrastructure. Please give a short summary in this section, it doesn’t have to be a complete detailed list. The complete and detailed list</a:t>
            </a:r>
            <a:r>
              <a:rPr lang="en-US" sz="1200" i="0" baseline="0"/>
              <a:t> can be given in other sections and/or documents.</a:t>
            </a:r>
            <a:endParaRPr lang="en-US" sz="1200" i="0"/>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7</a:t>
            </a:fld>
            <a:endParaRPr lang="en-US"/>
          </a:p>
        </p:txBody>
      </p:sp>
    </p:spTree>
    <p:extLst>
      <p:ext uri="{BB962C8B-B14F-4D97-AF65-F5344CB8AC3E}">
        <p14:creationId xmlns:p14="http://schemas.microsoft.com/office/powerpoint/2010/main" val="725337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baseline="0"/>
              <a:t>Mark the affected/impacted function(s) with boxes</a:t>
            </a:r>
            <a:r>
              <a:rPr lang="en-GB"/>
              <a:t> and/or a line with dots</a:t>
            </a:r>
            <a:r>
              <a:rPr lang="en-GB" baseline="0"/>
              <a:t>. You can use multiple boxes if needed.</a:t>
            </a:r>
          </a:p>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31F53-2645-43F4-A897-D8ADE1BA6DA9}"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352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AE9C376A-6F4C-4DBD-9412-84B6DDF13E46}" type="slidenum">
              <a:rPr lang="en-US" smtClean="0"/>
              <a:t>10</a:t>
            </a:fld>
            <a:endParaRPr lang="en-US"/>
          </a:p>
        </p:txBody>
      </p:sp>
    </p:spTree>
    <p:extLst>
      <p:ext uri="{BB962C8B-B14F-4D97-AF65-F5344CB8AC3E}">
        <p14:creationId xmlns:p14="http://schemas.microsoft.com/office/powerpoint/2010/main" val="364573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On this slide the architecture points are listed</a:t>
            </a:r>
            <a:r>
              <a:rPr lang="en-GB" baseline="0"/>
              <a:t> that require attention in the sequel of this change.</a:t>
            </a: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11</a:t>
            </a:fld>
            <a:endParaRPr lang="en-US"/>
          </a:p>
        </p:txBody>
      </p:sp>
    </p:spTree>
    <p:extLst>
      <p:ext uri="{BB962C8B-B14F-4D97-AF65-F5344CB8AC3E}">
        <p14:creationId xmlns:p14="http://schemas.microsoft.com/office/powerpoint/2010/main" val="3042870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defTabSz="456999" fontAlgn="auto">
              <a:spcBef>
                <a:spcPts val="0"/>
              </a:spcBef>
              <a:spcAft>
                <a:spcPts val="0"/>
              </a:spcAft>
              <a:defRPr/>
            </a:pPr>
            <a:r>
              <a:rPr lang="en-US" sz="1200"/>
              <a:t>Registered Deviations include deviations from:</a:t>
            </a:r>
          </a:p>
          <a:p>
            <a:pPr marL="285750" lvl="0" indent="-285750" defTabSz="456999" fontAlgn="auto">
              <a:spcBef>
                <a:spcPts val="0"/>
              </a:spcBef>
              <a:spcAft>
                <a:spcPts val="0"/>
              </a:spcAft>
              <a:buFont typeface="Arial" panose="020B0604020202020204" pitchFamily="34" charset="0"/>
              <a:buChar char="•"/>
              <a:defRPr/>
            </a:pPr>
            <a:r>
              <a:rPr lang="en-US" sz="1200"/>
              <a:t>EA principles</a:t>
            </a:r>
          </a:p>
          <a:p>
            <a:pPr marL="285750" lvl="0" indent="-285750" defTabSz="456999" fontAlgn="auto">
              <a:spcBef>
                <a:spcPts val="0"/>
              </a:spcBef>
              <a:spcAft>
                <a:spcPts val="0"/>
              </a:spcAft>
              <a:buFont typeface="Arial" panose="020B0604020202020204" pitchFamily="34" charset="0"/>
              <a:buChar char="•"/>
              <a:defRPr/>
            </a:pPr>
            <a:r>
              <a:rPr lang="en-US" sz="1200"/>
              <a:t>EA standards </a:t>
            </a:r>
          </a:p>
          <a:p>
            <a:pPr marL="285750" lvl="0" indent="-285750" defTabSz="456999" fontAlgn="auto">
              <a:spcBef>
                <a:spcPts val="0"/>
              </a:spcBef>
              <a:spcAft>
                <a:spcPts val="0"/>
              </a:spcAft>
              <a:buFont typeface="Arial" panose="020B0604020202020204" pitchFamily="34" charset="0"/>
              <a:buChar char="•"/>
              <a:defRPr/>
            </a:pPr>
            <a:r>
              <a:rPr lang="en-US" sz="1200"/>
              <a:t>Current policies / legislation / regulation</a:t>
            </a:r>
          </a:p>
          <a:p>
            <a:pPr marL="285750" lvl="0" indent="-285750" defTabSz="456999" fontAlgn="auto">
              <a:spcBef>
                <a:spcPts val="0"/>
              </a:spcBef>
              <a:spcAft>
                <a:spcPts val="0"/>
              </a:spcAft>
              <a:buFont typeface="Arial" panose="020B0604020202020204" pitchFamily="34" charset="0"/>
              <a:buChar char="•"/>
              <a:defRPr/>
            </a:pPr>
            <a:r>
              <a:rPr lang="en-US" sz="1200"/>
              <a:t>The financial framework</a:t>
            </a: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12</a:t>
            </a:fld>
            <a:endParaRPr lang="en-US"/>
          </a:p>
        </p:txBody>
      </p:sp>
    </p:spTree>
    <p:extLst>
      <p:ext uri="{BB962C8B-B14F-4D97-AF65-F5344CB8AC3E}">
        <p14:creationId xmlns:p14="http://schemas.microsoft.com/office/powerpoint/2010/main" val="2221156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0" i="0">
                <a:cs typeface="Arial" panose="020B0604020202020204" pitchFamily="34" charset="0"/>
              </a:rPr>
              <a:t>Describe how the change is positioned within the domain reference architecture and how the change attributes to realizing the domain reference architecture.</a:t>
            </a:r>
            <a:endParaRPr lang="en-GB" i="0"/>
          </a:p>
          <a:p>
            <a:endParaRPr lang="en-GB" i="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998968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i="0">
              <a:solidFill>
                <a:schemeClr val="tx2">
                  <a:lumMod val="60000"/>
                  <a:lumOff val="40000"/>
                </a:schemeClr>
              </a:solidFill>
            </a:endParaRPr>
          </a:p>
          <a:p>
            <a:endParaRPr lang="en-GB" i="0"/>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15</a:t>
            </a:fld>
            <a:endParaRPr lang="en-US">
              <a:solidFill>
                <a:prstClr val="black"/>
              </a:solidFill>
            </a:endParaRPr>
          </a:p>
        </p:txBody>
      </p:sp>
    </p:spTree>
    <p:extLst>
      <p:ext uri="{BB962C8B-B14F-4D97-AF65-F5344CB8AC3E}">
        <p14:creationId xmlns:p14="http://schemas.microsoft.com/office/powerpoint/2010/main" val="2405415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CB5D99F-C216-8C4C-B398-F06F7517D80F}" type="slidenum">
              <a:rPr lang="nl-NL" smtClean="0"/>
              <a:pPr/>
              <a:t>16</a:t>
            </a:fld>
            <a:endParaRPr lang="nl-NL"/>
          </a:p>
        </p:txBody>
      </p:sp>
    </p:spTree>
    <p:extLst>
      <p:ext uri="{BB962C8B-B14F-4D97-AF65-F5344CB8AC3E}">
        <p14:creationId xmlns:p14="http://schemas.microsoft.com/office/powerpoint/2010/main" val="1222452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i="0">
              <a:solidFill>
                <a:schemeClr val="tx2">
                  <a:lumMod val="60000"/>
                  <a:lumOff val="40000"/>
                </a:schemeClr>
              </a:solidFill>
            </a:endParaRPr>
          </a:p>
          <a:p>
            <a:endParaRPr lang="en-GB" i="0"/>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17</a:t>
            </a:fld>
            <a:endParaRPr lang="en-US">
              <a:solidFill>
                <a:prstClr val="black"/>
              </a:solidFill>
            </a:endParaRPr>
          </a:p>
        </p:txBody>
      </p:sp>
    </p:spTree>
    <p:extLst>
      <p:ext uri="{BB962C8B-B14F-4D97-AF65-F5344CB8AC3E}">
        <p14:creationId xmlns:p14="http://schemas.microsoft.com/office/powerpoint/2010/main" val="1860597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i="0">
              <a:solidFill>
                <a:schemeClr val="tx2">
                  <a:lumMod val="60000"/>
                  <a:lumOff val="40000"/>
                </a:schemeClr>
              </a:solidFill>
            </a:endParaRPr>
          </a:p>
          <a:p>
            <a:endParaRPr lang="en-GB" i="0"/>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18</a:t>
            </a:fld>
            <a:endParaRPr lang="en-US">
              <a:solidFill>
                <a:prstClr val="black"/>
              </a:solidFill>
            </a:endParaRPr>
          </a:p>
        </p:txBody>
      </p:sp>
    </p:spTree>
    <p:extLst>
      <p:ext uri="{BB962C8B-B14F-4D97-AF65-F5344CB8AC3E}">
        <p14:creationId xmlns:p14="http://schemas.microsoft.com/office/powerpoint/2010/main" val="3351747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i="0">
              <a:solidFill>
                <a:schemeClr val="tx2">
                  <a:lumMod val="60000"/>
                  <a:lumOff val="40000"/>
                </a:schemeClr>
              </a:solidFill>
            </a:endParaRPr>
          </a:p>
          <a:p>
            <a:endParaRPr lang="en-GB" i="0"/>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19</a:t>
            </a:fld>
            <a:endParaRPr lang="en-US">
              <a:solidFill>
                <a:prstClr val="black"/>
              </a:solidFill>
            </a:endParaRPr>
          </a:p>
        </p:txBody>
      </p:sp>
    </p:spTree>
    <p:extLst>
      <p:ext uri="{BB962C8B-B14F-4D97-AF65-F5344CB8AC3E}">
        <p14:creationId xmlns:p14="http://schemas.microsoft.com/office/powerpoint/2010/main" val="1757032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i="0"/>
              <a:t>Provide a high level graphical overview of the process(es) impacted by the project. For this diagram the Business Process Viewpoint of Archimate is used.</a:t>
            </a:r>
          </a:p>
          <a:p>
            <a:r>
              <a:rPr lang="en-GB" sz="1200" i="0"/>
              <a:t>The Business Process Viewpoint </a:t>
            </a:r>
            <a:r>
              <a:rPr lang="en-US"/>
              <a:t>is used to show the high-level structure and composition of one or more business processes. Next to the processes themselves, this viewpoint contains other directly related concepts, such as:</a:t>
            </a:r>
          </a:p>
          <a:p>
            <a:pPr>
              <a:buFont typeface="Arial" pitchFamily="34" charset="0"/>
              <a:buChar char="•"/>
            </a:pPr>
            <a:r>
              <a:rPr lang="en-US"/>
              <a:t>The services that a business process offers to the outside world, showing how a process contributes to the realization of the company’s products</a:t>
            </a:r>
          </a:p>
          <a:p>
            <a:pPr>
              <a:buFont typeface="Arial" pitchFamily="34" charset="0"/>
              <a:buChar char="•"/>
            </a:pPr>
            <a:r>
              <a:rPr lang="en-US"/>
              <a:t>The assignment of business processes to roles, which gives insight into the responsibilities of the associated actors</a:t>
            </a:r>
          </a:p>
          <a:p>
            <a:pPr>
              <a:buFont typeface="Arial" pitchFamily="34" charset="0"/>
              <a:buChar char="•"/>
            </a:pPr>
            <a:r>
              <a:rPr lang="en-US"/>
              <a:t>The information used by the business process</a:t>
            </a:r>
            <a:endParaRPr lang="en-US" sz="1200" i="0"/>
          </a:p>
          <a:p>
            <a:endParaRPr lang="en-GB" i="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6771008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i="0"/>
              <a:t>Provide a high level graphical overview of the process(es) impacted by the project. For this diagram the Business Process Viewpoint of Archimate is used.</a:t>
            </a:r>
          </a:p>
          <a:p>
            <a:r>
              <a:rPr lang="en-GB" sz="1200" i="0"/>
              <a:t>The Business Process Viewpoint </a:t>
            </a:r>
            <a:r>
              <a:rPr lang="en-US"/>
              <a:t>is used to show the high-level structure and composition of one or more business processes. Next to the processes themselves, this viewpoint contains other directly related concepts, such as:</a:t>
            </a:r>
          </a:p>
          <a:p>
            <a:pPr>
              <a:buFont typeface="Arial" pitchFamily="34" charset="0"/>
              <a:buChar char="•"/>
            </a:pPr>
            <a:r>
              <a:rPr lang="en-US"/>
              <a:t>The services that a business process offers to the outside world, showing how a process contributes to the realization of the company’s products</a:t>
            </a:r>
          </a:p>
          <a:p>
            <a:pPr>
              <a:buFont typeface="Arial" pitchFamily="34" charset="0"/>
              <a:buChar char="•"/>
            </a:pPr>
            <a:r>
              <a:rPr lang="en-US"/>
              <a:t>The assignment of business processes to roles, which gives insight into the responsibilities of the associated actors</a:t>
            </a:r>
          </a:p>
          <a:p>
            <a:pPr>
              <a:buFont typeface="Arial" pitchFamily="34" charset="0"/>
              <a:buChar char="•"/>
            </a:pPr>
            <a:r>
              <a:rPr lang="en-US"/>
              <a:t>The information used by the business process</a:t>
            </a:r>
            <a:endParaRPr lang="en-US" sz="1200" i="0"/>
          </a:p>
          <a:p>
            <a:endParaRPr lang="en-GB" i="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404341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i="0"/>
              <a:t>Provide a high level graphical overview of the process(es) impacted by the project. For this diagram the Business Process Viewpoint of Archimate is used.</a:t>
            </a:r>
          </a:p>
          <a:p>
            <a:r>
              <a:rPr lang="en-GB" sz="1200" i="0"/>
              <a:t>The Business Process Viewpoint </a:t>
            </a:r>
            <a:r>
              <a:rPr lang="en-US"/>
              <a:t>is used to show the high-level structure and composition of one or more business processes. Next to the processes themselves, this viewpoint contains other directly related concepts, such as:</a:t>
            </a:r>
          </a:p>
          <a:p>
            <a:pPr>
              <a:buFont typeface="Arial" pitchFamily="34" charset="0"/>
              <a:buChar char="•"/>
            </a:pPr>
            <a:r>
              <a:rPr lang="en-US"/>
              <a:t>The services that a business process offers to the outside world, showing how a process contributes to the realization of the company’s products</a:t>
            </a:r>
          </a:p>
          <a:p>
            <a:pPr>
              <a:buFont typeface="Arial" pitchFamily="34" charset="0"/>
              <a:buChar char="•"/>
            </a:pPr>
            <a:r>
              <a:rPr lang="en-US"/>
              <a:t>The assignment of business processes to roles, which gives insight into the responsibilities of the associated actors</a:t>
            </a:r>
          </a:p>
          <a:p>
            <a:pPr>
              <a:buFont typeface="Arial" pitchFamily="34" charset="0"/>
              <a:buChar char="•"/>
            </a:pPr>
            <a:r>
              <a:rPr lang="en-US"/>
              <a:t>The information used by the business process</a:t>
            </a:r>
            <a:endParaRPr lang="en-US" sz="1200" i="0"/>
          </a:p>
          <a:p>
            <a:endParaRPr lang="en-GB" i="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384511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i="0"/>
              <a:t>Provide a high level graphical overview of the process(es) impacted by the project. For this diagram the Business Process Viewpoint of Archimate is used.</a:t>
            </a:r>
          </a:p>
          <a:p>
            <a:r>
              <a:rPr lang="en-GB" sz="1200" i="0"/>
              <a:t>The Business Process Viewpoint </a:t>
            </a:r>
            <a:r>
              <a:rPr lang="en-US"/>
              <a:t>is used to show the high-level structure and composition of one or more business processes. Next to the processes themselves, this viewpoint contains other directly related concepts, such as:</a:t>
            </a:r>
          </a:p>
          <a:p>
            <a:pPr>
              <a:buFont typeface="Arial" pitchFamily="34" charset="0"/>
              <a:buChar char="•"/>
            </a:pPr>
            <a:r>
              <a:rPr lang="en-US"/>
              <a:t>The services that a business process offers to the outside world, showing how a process contributes to the realization of the company’s products</a:t>
            </a:r>
          </a:p>
          <a:p>
            <a:pPr>
              <a:buFont typeface="Arial" pitchFamily="34" charset="0"/>
              <a:buChar char="•"/>
            </a:pPr>
            <a:r>
              <a:rPr lang="en-US"/>
              <a:t>The assignment of business processes to roles, which gives insight into the responsibilities of the associated actors</a:t>
            </a:r>
          </a:p>
          <a:p>
            <a:pPr>
              <a:buFont typeface="Arial" pitchFamily="34" charset="0"/>
              <a:buChar char="•"/>
            </a:pPr>
            <a:r>
              <a:rPr lang="en-US"/>
              <a:t>The information used by the business process</a:t>
            </a:r>
            <a:endParaRPr lang="en-US" sz="1200" i="0"/>
          </a:p>
          <a:p>
            <a:endParaRPr lang="en-GB" i="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540651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25</a:t>
            </a:fld>
            <a:endParaRPr lang="en-US">
              <a:solidFill>
                <a:prstClr val="black"/>
              </a:solidFill>
            </a:endParaRPr>
          </a:p>
        </p:txBody>
      </p:sp>
      <p:sp>
        <p:nvSpPr>
          <p:cNvPr id="5" name="Tijdelijke aanduiding voor notities 4"/>
          <p:cNvSpPr>
            <a:spLocks noGrp="1"/>
          </p:cNvSpPr>
          <p:nvPr>
            <p:ph type="body" sz="quarter" idx="11"/>
          </p:nvPr>
        </p:nvSpPr>
        <p:spPr/>
        <p:txBody>
          <a:bodyPr/>
          <a:lstStyle/>
          <a:p>
            <a:r>
              <a:rPr lang="en-GB"/>
              <a:t>Keep in mind that beside the main topic of this PSA there are other secondary topics that may require attention. </a:t>
            </a:r>
            <a:r>
              <a:rPr lang="nl-NL" err="1"/>
              <a:t>Think</a:t>
            </a:r>
            <a:r>
              <a:rPr lang="nl-NL"/>
              <a:t> over </a:t>
            </a:r>
            <a:r>
              <a:rPr lang="nl-NL" err="1"/>
              <a:t>all</a:t>
            </a:r>
            <a:r>
              <a:rPr lang="nl-NL"/>
              <a:t> </a:t>
            </a:r>
            <a:r>
              <a:rPr lang="nl-NL" err="1"/>
              <a:t>possible</a:t>
            </a:r>
            <a:r>
              <a:rPr lang="nl-NL"/>
              <a:t> </a:t>
            </a:r>
            <a:r>
              <a:rPr lang="nl-NL" err="1"/>
              <a:t>related</a:t>
            </a:r>
            <a:r>
              <a:rPr lang="nl-NL"/>
              <a:t> </a:t>
            </a:r>
            <a:r>
              <a:rPr lang="nl-NL" err="1"/>
              <a:t>processes</a:t>
            </a:r>
            <a:r>
              <a:rPr lang="nl-NL"/>
              <a:t>.</a:t>
            </a:r>
          </a:p>
          <a:p>
            <a:r>
              <a:rPr lang="nl-NL" err="1"/>
              <a:t>Fill</a:t>
            </a:r>
            <a:r>
              <a:rPr lang="nl-NL"/>
              <a:t> in </a:t>
            </a:r>
            <a:r>
              <a:rPr lang="nl-NL" err="1"/>
              <a:t>the</a:t>
            </a:r>
            <a:r>
              <a:rPr lang="nl-NL"/>
              <a:t> columns </a:t>
            </a:r>
            <a:r>
              <a:rPr lang="nl-NL" err="1"/>
              <a:t>if</a:t>
            </a:r>
            <a:r>
              <a:rPr lang="nl-NL"/>
              <a:t> </a:t>
            </a:r>
            <a:r>
              <a:rPr lang="nl-NL" err="1"/>
              <a:t>applicable</a:t>
            </a:r>
            <a:r>
              <a:rPr lang="nl-NL"/>
              <a:t>. </a:t>
            </a:r>
            <a:r>
              <a:rPr lang="nl-NL" err="1"/>
              <a:t>Fill</a:t>
            </a:r>
            <a:r>
              <a:rPr lang="nl-NL"/>
              <a:t> in </a:t>
            </a:r>
            <a:r>
              <a:rPr lang="nl-NL" err="1"/>
              <a:t>with</a:t>
            </a:r>
            <a:r>
              <a:rPr lang="nl-NL"/>
              <a:t> ‘</a:t>
            </a:r>
            <a:r>
              <a:rPr lang="nl-NL" err="1"/>
              <a:t>not</a:t>
            </a:r>
            <a:r>
              <a:rPr lang="nl-NL"/>
              <a:t> </a:t>
            </a:r>
            <a:r>
              <a:rPr lang="nl-NL" err="1"/>
              <a:t>applicable</a:t>
            </a:r>
            <a:r>
              <a:rPr lang="nl-NL"/>
              <a:t>’ </a:t>
            </a:r>
            <a:r>
              <a:rPr lang="nl-NL" err="1"/>
              <a:t>if</a:t>
            </a:r>
            <a:r>
              <a:rPr lang="nl-NL"/>
              <a:t> </a:t>
            </a:r>
            <a:r>
              <a:rPr lang="nl-NL" err="1"/>
              <a:t>not</a:t>
            </a:r>
            <a:r>
              <a:rPr lang="nl-NL"/>
              <a:t> </a:t>
            </a:r>
            <a:r>
              <a:rPr lang="nl-NL" err="1"/>
              <a:t>applicable</a:t>
            </a:r>
            <a:r>
              <a:rPr lang="nl-NL"/>
              <a:t>.</a:t>
            </a:r>
          </a:p>
          <a:p>
            <a:endParaRPr lang="nl-NL"/>
          </a:p>
          <a:p>
            <a:pPr lvl="0"/>
            <a:r>
              <a:rPr lang="en-GB"/>
              <a:t>Possible subjects:</a:t>
            </a:r>
          </a:p>
          <a:p>
            <a:pPr marL="285750" indent="-285750" fontAlgn="base">
              <a:buFont typeface="Arial" panose="020B0604020202020204" pitchFamily="34" charset="0"/>
              <a:buChar char="•"/>
            </a:pPr>
            <a:r>
              <a:rPr lang="en-US"/>
              <a:t>Enterprise content management:</a:t>
            </a:r>
          </a:p>
          <a:p>
            <a:pPr marL="461963" lvl="1" indent="-285750" fontAlgn="base">
              <a:buFont typeface="Arial" panose="020B0604020202020204" pitchFamily="34" charset="0"/>
              <a:buChar char="•"/>
            </a:pPr>
            <a:r>
              <a:rPr lang="en-US"/>
              <a:t>Document management: capture, retention (due to policies and including archiving), disposal</a:t>
            </a:r>
          </a:p>
          <a:p>
            <a:pPr marL="461963" lvl="1" indent="-285750" fontAlgn="base">
              <a:buFont typeface="Arial" panose="020B0604020202020204" pitchFamily="34" charset="0"/>
              <a:buChar char="•"/>
            </a:pPr>
            <a:r>
              <a:rPr lang="en-US"/>
              <a:t>Data life cycle</a:t>
            </a:r>
          </a:p>
          <a:p>
            <a:pPr marL="285750" indent="-285750" fontAlgn="base">
              <a:buFont typeface="Arial" panose="020B0604020202020204" pitchFamily="34" charset="0"/>
              <a:buChar char="•"/>
            </a:pPr>
            <a:r>
              <a:rPr lang="en-US"/>
              <a:t>Data feeds to DWH’s (Management Information).</a:t>
            </a:r>
          </a:p>
          <a:p>
            <a:pPr marL="285750" indent="-285750" fontAlgn="base">
              <a:buFont typeface="Arial" panose="020B0604020202020204" pitchFamily="34" charset="0"/>
              <a:buChar char="•"/>
            </a:pPr>
            <a:r>
              <a:rPr lang="en-US"/>
              <a:t>Data feeds to Compliance monitoring: </a:t>
            </a:r>
            <a:r>
              <a:rPr lang="nl-NL"/>
              <a:t>interfaces </a:t>
            </a:r>
            <a:r>
              <a:rPr lang="en-US"/>
              <a:t>with fraud, sanction, CDD scanning, anti money laundering,  market abuse and conflicts of interest.</a:t>
            </a:r>
          </a:p>
          <a:p>
            <a:pPr marL="285750" indent="-285750" fontAlgn="base">
              <a:buFont typeface="Arial" panose="020B0604020202020204" pitchFamily="34" charset="0"/>
              <a:buChar char="•"/>
            </a:pPr>
            <a:r>
              <a:rPr lang="en-GB"/>
              <a:t>Compliance impact (Sox, BCBS, DFA, EMIR, MiFID etc.)</a:t>
            </a:r>
          </a:p>
          <a:p>
            <a:pPr marL="285750" indent="-285750" fontAlgn="base">
              <a:buFont typeface="Arial" panose="020B0604020202020204" pitchFamily="34" charset="0"/>
              <a:buChar char="•"/>
            </a:pPr>
            <a:r>
              <a:rPr lang="en-US"/>
              <a:t>Batch service to other data domains / data logistics: feeds to/from your domain datahub (data exchange to/from the central </a:t>
            </a:r>
            <a:r>
              <a:rPr lang="en-US" err="1"/>
              <a:t>datarouter</a:t>
            </a:r>
            <a:r>
              <a:rPr lang="en-US"/>
              <a:t>).</a:t>
            </a:r>
          </a:p>
          <a:p>
            <a:pPr marL="285750" indent="-285750" fontAlgn="base">
              <a:buFont typeface="Arial" panose="020B0604020202020204" pitchFamily="34" charset="0"/>
              <a:buChar char="•"/>
            </a:pPr>
            <a:r>
              <a:rPr lang="en-US"/>
              <a:t>Business Activity Monitoring: </a:t>
            </a:r>
            <a:r>
              <a:rPr lang="nl-NL"/>
              <a:t>interfaces </a:t>
            </a:r>
            <a:r>
              <a:rPr lang="en-US"/>
              <a:t>with the business activity monitoring process.</a:t>
            </a:r>
            <a:endParaRPr lang="en-GB"/>
          </a:p>
          <a:p>
            <a:pPr marL="285750" indent="-285750" fontAlgn="base">
              <a:buFont typeface="Arial" panose="020B0604020202020204" pitchFamily="34" charset="0"/>
              <a:buChar char="•"/>
            </a:pPr>
            <a:r>
              <a:rPr lang="en-US"/>
              <a:t>Billing information: </a:t>
            </a:r>
            <a:r>
              <a:rPr lang="nl-NL"/>
              <a:t>interfaces </a:t>
            </a:r>
            <a:r>
              <a:rPr lang="en-US"/>
              <a:t>with </a:t>
            </a:r>
            <a:r>
              <a:rPr lang="en-US" err="1"/>
              <a:t>clientbilling</a:t>
            </a:r>
            <a:r>
              <a:rPr lang="en-US"/>
              <a:t>.</a:t>
            </a:r>
            <a:endParaRPr lang="en-GB"/>
          </a:p>
          <a:p>
            <a:pPr marL="285750" lvl="0" indent="-285750" defTabSz="914400" eaLnBrk="0" fontAlgn="base" hangingPunct="0">
              <a:spcBef>
                <a:spcPct val="30000"/>
              </a:spcBef>
              <a:spcAft>
                <a:spcPct val="0"/>
              </a:spcAft>
              <a:buFont typeface="Arial" panose="020B0604020202020204" pitchFamily="34" charset="0"/>
              <a:buChar char="•"/>
              <a:defRPr/>
            </a:pPr>
            <a:r>
              <a:rPr lang="nl-NL"/>
              <a:t>Claims/</a:t>
            </a:r>
            <a:r>
              <a:rPr lang="nl-NL" err="1"/>
              <a:t>exception</a:t>
            </a:r>
            <a:r>
              <a:rPr lang="nl-NL"/>
              <a:t> handling: interfaces </a:t>
            </a:r>
            <a:r>
              <a:rPr lang="en-US"/>
              <a:t>with complaints handling.</a:t>
            </a:r>
          </a:p>
          <a:p>
            <a:pPr marL="285750" lvl="0" indent="-285750" defTabSz="914400" eaLnBrk="0" fontAlgn="base" hangingPunct="0">
              <a:spcBef>
                <a:spcPct val="30000"/>
              </a:spcBef>
              <a:spcAft>
                <a:spcPct val="0"/>
              </a:spcAft>
              <a:buFont typeface="Arial" panose="020B0604020202020204" pitchFamily="34" charset="0"/>
              <a:buChar char="•"/>
              <a:defRPr/>
            </a:pPr>
            <a:r>
              <a:rPr lang="nl-NL"/>
              <a:t>Financial </a:t>
            </a:r>
            <a:r>
              <a:rPr lang="en-GB"/>
              <a:t>administration: </a:t>
            </a:r>
            <a:r>
              <a:rPr lang="nl-NL"/>
              <a:t>interfaces </a:t>
            </a:r>
            <a:r>
              <a:rPr lang="en-US"/>
              <a:t>with </a:t>
            </a:r>
            <a:r>
              <a:rPr lang="nl-NL" err="1"/>
              <a:t>the</a:t>
            </a:r>
            <a:r>
              <a:rPr lang="nl-NL"/>
              <a:t> </a:t>
            </a:r>
            <a:r>
              <a:rPr lang="nl-NL" err="1"/>
              <a:t>ledger</a:t>
            </a:r>
            <a:r>
              <a:rPr lang="nl-NL"/>
              <a:t>.</a:t>
            </a:r>
            <a:endParaRPr lang="en-GB"/>
          </a:p>
          <a:p>
            <a:endParaRPr lang="nl-NL"/>
          </a:p>
        </p:txBody>
      </p:sp>
    </p:spTree>
    <p:extLst>
      <p:ext uri="{BB962C8B-B14F-4D97-AF65-F5344CB8AC3E}">
        <p14:creationId xmlns:p14="http://schemas.microsoft.com/office/powerpoint/2010/main" val="2660109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a:t>On this slide describe the main features and decisions with respect to the enterprise data architecture topics. In particular:</a:t>
            </a:r>
            <a:endParaRPr lang="en-GB"/>
          </a:p>
          <a:p>
            <a:r>
              <a:rPr lang="en-US" b="1"/>
              <a:t>Meta data </a:t>
            </a:r>
            <a:endParaRPr lang="en-GB"/>
          </a:p>
          <a:p>
            <a:pPr marL="171450" lvl="0" indent="-171450">
              <a:buFont typeface="Arial" panose="020B0604020202020204" pitchFamily="34" charset="0"/>
              <a:buChar char="•"/>
            </a:pPr>
            <a:r>
              <a:rPr lang="en-US"/>
              <a:t>Check if relevant data models (logical and physical) are available (where </a:t>
            </a:r>
            <a:r>
              <a:rPr lang="en-US" err="1"/>
              <a:t>PowerDesigner</a:t>
            </a:r>
            <a:r>
              <a:rPr lang="en-US"/>
              <a:t> is the Bank’s standard tool) and describe in this paragraph) </a:t>
            </a:r>
            <a:endParaRPr lang="en-GB"/>
          </a:p>
          <a:p>
            <a:pPr marL="171450" lvl="0" indent="-171450">
              <a:buFont typeface="Arial" panose="020B0604020202020204" pitchFamily="34" charset="0"/>
              <a:buChar char="•"/>
            </a:pPr>
            <a:r>
              <a:rPr lang="en-US"/>
              <a:t>Or identify which new data models to create</a:t>
            </a:r>
            <a:endParaRPr lang="en-GB"/>
          </a:p>
          <a:p>
            <a:pPr marL="171450" lvl="0" indent="-171450">
              <a:buFont typeface="Arial" panose="020B0604020202020204" pitchFamily="34" charset="0"/>
              <a:buChar char="•"/>
            </a:pPr>
            <a:r>
              <a:rPr lang="en-US"/>
              <a:t>Provide data definitions in </a:t>
            </a:r>
            <a:r>
              <a:rPr lang="en-US" err="1"/>
              <a:t>Collibra</a:t>
            </a:r>
            <a:endParaRPr lang="en-GB"/>
          </a:p>
          <a:p>
            <a:r>
              <a:rPr lang="en-US" b="1"/>
              <a:t>Data Lineage</a:t>
            </a:r>
            <a:endParaRPr lang="en-GB"/>
          </a:p>
          <a:p>
            <a:pPr marL="171450" lvl="0" indent="-171450">
              <a:buFont typeface="Arial" panose="020B0604020202020204" pitchFamily="34" charset="0"/>
              <a:buChar char="•"/>
            </a:pPr>
            <a:r>
              <a:rPr lang="en-US"/>
              <a:t>Documenting Data lineage should be taken into account in all new systems and system updates</a:t>
            </a:r>
          </a:p>
          <a:p>
            <a:pPr marL="171450" lvl="0" indent="-171450">
              <a:buFont typeface="Arial" panose="020B0604020202020204" pitchFamily="34" charset="0"/>
              <a:buChar char="•"/>
            </a:pPr>
            <a:r>
              <a:rPr lang="en-US"/>
              <a:t>Some system &amp; data technologies allow lineage information to be extracted automatically through the use of </a:t>
            </a:r>
            <a:r>
              <a:rPr lang="en-US" err="1"/>
              <a:t>Informatica</a:t>
            </a:r>
            <a:r>
              <a:rPr lang="en-US"/>
              <a:t> tooling.</a:t>
            </a:r>
          </a:p>
          <a:p>
            <a:r>
              <a:rPr lang="en-US" b="1"/>
              <a:t>Data Quality Issues: </a:t>
            </a:r>
            <a:endParaRPr lang="en-GB"/>
          </a:p>
          <a:p>
            <a:pPr marL="171450" lvl="0" indent="-171450">
              <a:buFont typeface="Arial" panose="020B0604020202020204" pitchFamily="34" charset="0"/>
              <a:buChar char="•"/>
            </a:pPr>
            <a:r>
              <a:rPr lang="en-US"/>
              <a:t>Identify (major) DQ issues that are related to this project.</a:t>
            </a:r>
          </a:p>
          <a:p>
            <a:pPr marL="171450" lvl="0" indent="-171450">
              <a:buFont typeface="Arial" panose="020B0604020202020204" pitchFamily="34" charset="0"/>
              <a:buChar char="•"/>
            </a:pPr>
            <a:r>
              <a:rPr lang="en-US"/>
              <a:t>Identify possible DQ improvements resulting from this project.</a:t>
            </a:r>
            <a:endParaRPr lang="en-GB"/>
          </a:p>
          <a:p>
            <a:r>
              <a:rPr lang="en-US" b="1"/>
              <a:t>Data Quality monitoring</a:t>
            </a:r>
            <a:endParaRPr lang="en-GB"/>
          </a:p>
          <a:p>
            <a:pPr marL="171450" lvl="0" indent="-171450">
              <a:buFont typeface="Arial" panose="020B0604020202020204" pitchFamily="34" charset="0"/>
              <a:buChar char="•"/>
            </a:pPr>
            <a:r>
              <a:rPr lang="en-US"/>
              <a:t>The new system should support measuring and reporting the quality of the data</a:t>
            </a:r>
            <a:endParaRPr lang="en-GB"/>
          </a:p>
          <a:p>
            <a:pPr marL="171450" lvl="0" indent="-171450">
              <a:buFont typeface="Arial" panose="020B0604020202020204" pitchFamily="34" charset="0"/>
              <a:buChar char="•"/>
            </a:pPr>
            <a:r>
              <a:rPr lang="en-US"/>
              <a:t>Implementing input controls to prevent data quality issues</a:t>
            </a:r>
            <a:endParaRPr lang="en-GB"/>
          </a:p>
          <a:p>
            <a:r>
              <a:rPr lang="en-US" b="1"/>
              <a:t>Record Keeping </a:t>
            </a:r>
            <a:endParaRPr lang="en-GB"/>
          </a:p>
          <a:p>
            <a:pPr marL="171450" lvl="0" indent="-171450">
              <a:buFont typeface="Arial" panose="020B0604020202020204" pitchFamily="34" charset="0"/>
              <a:buChar char="•"/>
            </a:pPr>
            <a:r>
              <a:rPr lang="en-US"/>
              <a:t>Validate that data retention terms (minimum and maximum) are defined</a:t>
            </a:r>
            <a:endParaRPr lang="en-GB"/>
          </a:p>
          <a:p>
            <a:pPr marL="171450" lvl="0" indent="-171450">
              <a:buFont typeface="Arial" panose="020B0604020202020204" pitchFamily="34" charset="0"/>
              <a:buChar char="•"/>
            </a:pPr>
            <a:r>
              <a:rPr lang="en-US"/>
              <a:t>Describe how data retention and disposal processes are implemented.</a:t>
            </a:r>
            <a:endParaRPr lang="en-GB"/>
          </a:p>
          <a:p>
            <a:r>
              <a:rPr lang="en-US" b="1"/>
              <a:t>Data Delivery</a:t>
            </a:r>
            <a:endParaRPr lang="en-GB"/>
          </a:p>
          <a:p>
            <a:pPr marL="171450" lvl="0" indent="-171450">
              <a:buFont typeface="Arial" panose="020B0604020202020204" pitchFamily="34" charset="0"/>
              <a:buChar char="•"/>
            </a:pPr>
            <a:r>
              <a:rPr lang="en-US"/>
              <a:t>Describe all consumed and produced data sets in Data Delivery Agreements. If covered elsewhere include a reference to it.</a:t>
            </a:r>
            <a:endParaRPr lang="en-GB"/>
          </a:p>
          <a:p>
            <a:r>
              <a:rPr lang="en-US" b="1"/>
              <a:t>Reference and Customer master data management </a:t>
            </a:r>
            <a:endParaRPr lang="en-GB"/>
          </a:p>
          <a:p>
            <a:pPr marL="171450" lvl="0" indent="-171450">
              <a:buFont typeface="Arial" panose="020B0604020202020204" pitchFamily="34" charset="0"/>
              <a:buChar char="•"/>
            </a:pPr>
            <a:r>
              <a:rPr lang="en-US"/>
              <a:t>Identify which reference and master data is required</a:t>
            </a:r>
            <a:endParaRPr lang="en-GB"/>
          </a:p>
          <a:p>
            <a:pPr marL="171450" indent="-171450">
              <a:buFont typeface="Arial" panose="020B0604020202020204" pitchFamily="34" charset="0"/>
              <a:buChar char="•"/>
            </a:pPr>
            <a:r>
              <a:rPr lang="en-US"/>
              <a:t>Examples of reference data are: Industry codes, currency codes, country codes, product hierarchy but also local reference data like Tax reason code (Brazil)</a:t>
            </a:r>
          </a:p>
          <a:p>
            <a:pPr marL="171450" lvl="0" indent="-171450">
              <a:buFont typeface="Arial" panose="020B0604020202020204" pitchFamily="34" charset="0"/>
              <a:buChar char="•"/>
            </a:pPr>
            <a:r>
              <a:rPr lang="en-US"/>
              <a:t>Where available the reference data should be sourced from the global reference data management system and processes (referencedata.rabobank.com)</a:t>
            </a:r>
            <a:endParaRPr lang="en-GB"/>
          </a:p>
          <a:p>
            <a:pPr marL="171450" lvl="0" indent="-171450">
              <a:buFont typeface="Arial" panose="020B0604020202020204" pitchFamily="34" charset="0"/>
              <a:buChar char="•"/>
            </a:pPr>
            <a:r>
              <a:rPr lang="en-US"/>
              <a:t>Describe how local reference data are managed, preferably also via the global tool (referencedata.rabobank.com)</a:t>
            </a:r>
          </a:p>
          <a:p>
            <a:pPr marL="171450" lvl="0" indent="-171450">
              <a:buFont typeface="Arial" panose="020B0604020202020204" pitchFamily="34" charset="0"/>
              <a:buChar char="•"/>
            </a:pPr>
            <a:r>
              <a:rPr lang="en-GB"/>
              <a:t>Where customer data is processed, follow the </a:t>
            </a:r>
            <a:r>
              <a:rPr lang="en-GB" err="1"/>
              <a:t>Rabobank</a:t>
            </a:r>
            <a:r>
              <a:rPr lang="en-GB"/>
              <a:t> Group vision on Customer Master Data Management</a:t>
            </a:r>
          </a:p>
          <a:p>
            <a:r>
              <a:rPr lang="en-US" b="1"/>
              <a:t>Data warehouse / Lake</a:t>
            </a:r>
            <a:endParaRPr lang="en-GB"/>
          </a:p>
          <a:p>
            <a:pPr marL="171450" lvl="0" indent="-171450">
              <a:buFont typeface="Arial" panose="020B0604020202020204" pitchFamily="34" charset="0"/>
              <a:buChar char="•"/>
            </a:pPr>
            <a:r>
              <a:rPr lang="en-US"/>
              <a:t>The Data Lake / DWH architecture requires data to be delivered, at least in raw format</a:t>
            </a:r>
            <a:endParaRPr lang="en-GB"/>
          </a:p>
          <a:p>
            <a:pPr marL="171450" lvl="0" indent="-171450">
              <a:buFont typeface="Arial" panose="020B0604020202020204" pitchFamily="34" charset="0"/>
              <a:buChar char="•"/>
            </a:pPr>
            <a:r>
              <a:rPr lang="en-US"/>
              <a:t>Which data warehouse will store the data</a:t>
            </a:r>
            <a:endParaRPr lang="en-GB"/>
          </a:p>
          <a:p>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27</a:t>
            </a:fld>
            <a:endParaRPr lang="en-US">
              <a:solidFill>
                <a:prstClr val="black"/>
              </a:solidFill>
            </a:endParaRPr>
          </a:p>
        </p:txBody>
      </p:sp>
    </p:spTree>
    <p:extLst>
      <p:ext uri="{BB962C8B-B14F-4D97-AF65-F5344CB8AC3E}">
        <p14:creationId xmlns:p14="http://schemas.microsoft.com/office/powerpoint/2010/main" val="1449829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a:t>On this slide describe the main features and decisions with respect to the enterprise data architecture topics. In particular:</a:t>
            </a:r>
            <a:endParaRPr lang="en-GB"/>
          </a:p>
          <a:p>
            <a:r>
              <a:rPr lang="en-US" b="1"/>
              <a:t>Meta data </a:t>
            </a:r>
            <a:endParaRPr lang="en-GB"/>
          </a:p>
          <a:p>
            <a:pPr marL="171450" lvl="0" indent="-171450">
              <a:buFont typeface="Arial" panose="020B0604020202020204" pitchFamily="34" charset="0"/>
              <a:buChar char="•"/>
            </a:pPr>
            <a:r>
              <a:rPr lang="en-US"/>
              <a:t>Check if relevant data models (logical and physical) are available (where </a:t>
            </a:r>
            <a:r>
              <a:rPr lang="en-US" err="1"/>
              <a:t>PowerDesigner</a:t>
            </a:r>
            <a:r>
              <a:rPr lang="en-US"/>
              <a:t> is the Bank’s standard tool) and describe in this paragraph) </a:t>
            </a:r>
            <a:endParaRPr lang="en-GB"/>
          </a:p>
          <a:p>
            <a:pPr marL="171450" lvl="0" indent="-171450">
              <a:buFont typeface="Arial" panose="020B0604020202020204" pitchFamily="34" charset="0"/>
              <a:buChar char="•"/>
            </a:pPr>
            <a:r>
              <a:rPr lang="en-US"/>
              <a:t>Or identify which new data models to create</a:t>
            </a:r>
            <a:endParaRPr lang="en-GB"/>
          </a:p>
          <a:p>
            <a:pPr marL="171450" lvl="0" indent="-171450">
              <a:buFont typeface="Arial" panose="020B0604020202020204" pitchFamily="34" charset="0"/>
              <a:buChar char="•"/>
            </a:pPr>
            <a:r>
              <a:rPr lang="en-US"/>
              <a:t>Provide data definitions in Collibra</a:t>
            </a:r>
            <a:endParaRPr lang="en-GB"/>
          </a:p>
          <a:p>
            <a:r>
              <a:rPr lang="en-US" b="1"/>
              <a:t>Data Lineage</a:t>
            </a:r>
            <a:endParaRPr lang="en-GB"/>
          </a:p>
          <a:p>
            <a:pPr marL="171450" lvl="0" indent="-171450">
              <a:buFont typeface="Arial" panose="020B0604020202020204" pitchFamily="34" charset="0"/>
              <a:buChar char="•"/>
            </a:pPr>
            <a:r>
              <a:rPr lang="en-US"/>
              <a:t>Documenting Data lineage should be taken into account in all new systems and system updates</a:t>
            </a:r>
          </a:p>
          <a:p>
            <a:pPr marL="171450" lvl="0" indent="-171450">
              <a:buFont typeface="Arial" panose="020B0604020202020204" pitchFamily="34" charset="0"/>
              <a:buChar char="•"/>
            </a:pPr>
            <a:r>
              <a:rPr lang="en-US"/>
              <a:t>Some system &amp; data technologies allow lineage information to be extracted automatically through the use of Informatica tooling.</a:t>
            </a:r>
          </a:p>
          <a:p>
            <a:r>
              <a:rPr lang="en-US" b="1"/>
              <a:t>Data Quality Issues: </a:t>
            </a:r>
            <a:endParaRPr lang="en-GB"/>
          </a:p>
          <a:p>
            <a:pPr marL="171450" lvl="0" indent="-171450">
              <a:buFont typeface="Arial" panose="020B0604020202020204" pitchFamily="34" charset="0"/>
              <a:buChar char="•"/>
            </a:pPr>
            <a:r>
              <a:rPr lang="en-US"/>
              <a:t>Identify (major) DQ issues that are related to this project.</a:t>
            </a:r>
          </a:p>
          <a:p>
            <a:pPr marL="171450" lvl="0" indent="-171450">
              <a:buFont typeface="Arial" panose="020B0604020202020204" pitchFamily="34" charset="0"/>
              <a:buChar char="•"/>
            </a:pPr>
            <a:r>
              <a:rPr lang="en-US"/>
              <a:t>Identify possible DQ improvements resulting from this project.</a:t>
            </a:r>
            <a:endParaRPr lang="en-GB"/>
          </a:p>
          <a:p>
            <a:r>
              <a:rPr lang="en-US" b="1"/>
              <a:t>Data Quality monitoring</a:t>
            </a:r>
            <a:endParaRPr lang="en-GB"/>
          </a:p>
          <a:p>
            <a:pPr marL="171450" lvl="0" indent="-171450">
              <a:buFont typeface="Arial" panose="020B0604020202020204" pitchFamily="34" charset="0"/>
              <a:buChar char="•"/>
            </a:pPr>
            <a:r>
              <a:rPr lang="en-US"/>
              <a:t>The new system should support measuring and reporting the quality of the data</a:t>
            </a:r>
            <a:endParaRPr lang="en-GB"/>
          </a:p>
          <a:p>
            <a:pPr marL="171450" lvl="0" indent="-171450">
              <a:buFont typeface="Arial" panose="020B0604020202020204" pitchFamily="34" charset="0"/>
              <a:buChar char="•"/>
            </a:pPr>
            <a:r>
              <a:rPr lang="en-US"/>
              <a:t>Implementing input controls to prevent data quality issues</a:t>
            </a:r>
            <a:endParaRPr lang="en-GB"/>
          </a:p>
          <a:p>
            <a:r>
              <a:rPr lang="en-US" b="1"/>
              <a:t>Record Keeping </a:t>
            </a:r>
            <a:endParaRPr lang="en-GB"/>
          </a:p>
          <a:p>
            <a:pPr marL="171450" lvl="0" indent="-171450">
              <a:buFont typeface="Arial" panose="020B0604020202020204" pitchFamily="34" charset="0"/>
              <a:buChar char="•"/>
            </a:pPr>
            <a:r>
              <a:rPr lang="en-US"/>
              <a:t>Validate that data retention terms (minimum and maximum) are defined</a:t>
            </a:r>
            <a:endParaRPr lang="en-GB"/>
          </a:p>
          <a:p>
            <a:pPr marL="171450" lvl="0" indent="-171450">
              <a:buFont typeface="Arial" panose="020B0604020202020204" pitchFamily="34" charset="0"/>
              <a:buChar char="•"/>
            </a:pPr>
            <a:r>
              <a:rPr lang="en-US"/>
              <a:t>Describe how data retention and disposal processes are implemented.</a:t>
            </a:r>
            <a:endParaRPr lang="en-GB"/>
          </a:p>
          <a:p>
            <a:r>
              <a:rPr lang="en-US" b="1"/>
              <a:t>Data Delivery</a:t>
            </a:r>
            <a:endParaRPr lang="en-GB"/>
          </a:p>
          <a:p>
            <a:pPr marL="171450" lvl="0" indent="-171450">
              <a:buFont typeface="Arial" panose="020B0604020202020204" pitchFamily="34" charset="0"/>
              <a:buChar char="•"/>
            </a:pPr>
            <a:r>
              <a:rPr lang="en-US"/>
              <a:t>Describe all consumed and produced data sets in Data Delivery Agreements. If covered elsewhere include a reference to it.</a:t>
            </a:r>
            <a:endParaRPr lang="en-GB"/>
          </a:p>
          <a:p>
            <a:r>
              <a:rPr lang="en-US" b="1"/>
              <a:t>Reference and Customer master data management </a:t>
            </a:r>
            <a:endParaRPr lang="en-GB"/>
          </a:p>
          <a:p>
            <a:pPr marL="171450" lvl="0" indent="-171450">
              <a:buFont typeface="Arial" panose="020B0604020202020204" pitchFamily="34" charset="0"/>
              <a:buChar char="•"/>
            </a:pPr>
            <a:r>
              <a:rPr lang="en-US"/>
              <a:t>Identify which reference and master data is required</a:t>
            </a:r>
            <a:endParaRPr lang="en-GB"/>
          </a:p>
          <a:p>
            <a:pPr marL="171450" indent="-171450">
              <a:buFont typeface="Arial" panose="020B0604020202020204" pitchFamily="34" charset="0"/>
              <a:buChar char="•"/>
            </a:pPr>
            <a:r>
              <a:rPr lang="en-US"/>
              <a:t>Examples of reference data are: Industry codes, currency codes, country codes, product hierarchy but also local reference data like Tax reason code (Brazil)</a:t>
            </a:r>
          </a:p>
          <a:p>
            <a:pPr marL="171450" lvl="0" indent="-171450">
              <a:buFont typeface="Arial" panose="020B0604020202020204" pitchFamily="34" charset="0"/>
              <a:buChar char="•"/>
            </a:pPr>
            <a:r>
              <a:rPr lang="en-US"/>
              <a:t>Where available the reference data should be sourced from the global reference data management system and processes (</a:t>
            </a:r>
            <a:r>
              <a:rPr lang="en-US" err="1"/>
              <a:t>referencedata.rabobank.com</a:t>
            </a:r>
            <a:r>
              <a:rPr lang="en-US"/>
              <a:t>)</a:t>
            </a:r>
            <a:endParaRPr lang="en-GB"/>
          </a:p>
          <a:p>
            <a:pPr marL="171450" lvl="0" indent="-171450">
              <a:buFont typeface="Arial" panose="020B0604020202020204" pitchFamily="34" charset="0"/>
              <a:buChar char="•"/>
            </a:pPr>
            <a:r>
              <a:rPr lang="en-US"/>
              <a:t>Describe how local reference data are managed, preferably also via the global tool (</a:t>
            </a:r>
            <a:r>
              <a:rPr lang="en-US" err="1"/>
              <a:t>referencedata.rabobank.com</a:t>
            </a:r>
            <a:r>
              <a:rPr lang="en-US"/>
              <a:t>)</a:t>
            </a:r>
          </a:p>
          <a:p>
            <a:pPr marL="171450" lvl="0" indent="-171450">
              <a:buFont typeface="Arial" panose="020B0604020202020204" pitchFamily="34" charset="0"/>
              <a:buChar char="•"/>
            </a:pPr>
            <a:r>
              <a:rPr lang="en-GB"/>
              <a:t>Where customer data is processed, follow the Rabobank Group vision on Customer Master Data Management</a:t>
            </a:r>
          </a:p>
          <a:p>
            <a:r>
              <a:rPr lang="en-US" b="1"/>
              <a:t>Data warehouse / Lake</a:t>
            </a:r>
            <a:endParaRPr lang="en-GB"/>
          </a:p>
          <a:p>
            <a:pPr marL="171450" lvl="0" indent="-171450">
              <a:buFont typeface="Arial" panose="020B0604020202020204" pitchFamily="34" charset="0"/>
              <a:buChar char="•"/>
            </a:pPr>
            <a:r>
              <a:rPr lang="en-US"/>
              <a:t>The Data Lake / DWH architecture requires data to be delivered, at least in raw format</a:t>
            </a:r>
            <a:endParaRPr lang="en-GB"/>
          </a:p>
          <a:p>
            <a:pPr marL="171450" lvl="0" indent="-171450">
              <a:buFont typeface="Arial" panose="020B0604020202020204" pitchFamily="34" charset="0"/>
              <a:buChar char="•"/>
            </a:pPr>
            <a:r>
              <a:rPr lang="en-US"/>
              <a:t>Which data warehouse will store the data</a:t>
            </a:r>
            <a:endParaRPr lang="en-GB"/>
          </a:p>
          <a:p>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28</a:t>
            </a:fld>
            <a:endParaRPr lang="en-US">
              <a:solidFill>
                <a:prstClr val="black"/>
              </a:solidFill>
            </a:endParaRPr>
          </a:p>
        </p:txBody>
      </p:sp>
    </p:spTree>
    <p:extLst>
      <p:ext uri="{BB962C8B-B14F-4D97-AF65-F5344CB8AC3E}">
        <p14:creationId xmlns:p14="http://schemas.microsoft.com/office/powerpoint/2010/main" val="2434606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a:t>On this slide describe the main features and decisions with respect to the enterprise data architecture topics. In particular:</a:t>
            </a:r>
            <a:endParaRPr lang="en-GB"/>
          </a:p>
          <a:p>
            <a:r>
              <a:rPr lang="en-US" b="1"/>
              <a:t>Meta data </a:t>
            </a:r>
            <a:endParaRPr lang="en-GB"/>
          </a:p>
          <a:p>
            <a:pPr marL="171450" lvl="0" indent="-171450">
              <a:buFont typeface="Arial" panose="020B0604020202020204" pitchFamily="34" charset="0"/>
              <a:buChar char="•"/>
            </a:pPr>
            <a:r>
              <a:rPr lang="en-US"/>
              <a:t>Check if relevant data models (logical and physical) are available (where </a:t>
            </a:r>
            <a:r>
              <a:rPr lang="en-US" err="1"/>
              <a:t>PowerDesigner</a:t>
            </a:r>
            <a:r>
              <a:rPr lang="en-US"/>
              <a:t> is the Bank’s standard tool) and describe in this paragraph) </a:t>
            </a:r>
            <a:endParaRPr lang="en-GB"/>
          </a:p>
          <a:p>
            <a:pPr marL="171450" lvl="0" indent="-171450">
              <a:buFont typeface="Arial" panose="020B0604020202020204" pitchFamily="34" charset="0"/>
              <a:buChar char="•"/>
            </a:pPr>
            <a:r>
              <a:rPr lang="en-US"/>
              <a:t>Or identify which new data models to create</a:t>
            </a:r>
            <a:endParaRPr lang="en-GB"/>
          </a:p>
          <a:p>
            <a:pPr marL="171450" lvl="0" indent="-171450">
              <a:buFont typeface="Arial" panose="020B0604020202020204" pitchFamily="34" charset="0"/>
              <a:buChar char="•"/>
            </a:pPr>
            <a:r>
              <a:rPr lang="en-US"/>
              <a:t>Provide data definitions in Collibra</a:t>
            </a:r>
            <a:endParaRPr lang="en-GB"/>
          </a:p>
          <a:p>
            <a:r>
              <a:rPr lang="en-US" b="1"/>
              <a:t>Data Lineage</a:t>
            </a:r>
            <a:endParaRPr lang="en-GB"/>
          </a:p>
          <a:p>
            <a:pPr marL="171450" lvl="0" indent="-171450">
              <a:buFont typeface="Arial" panose="020B0604020202020204" pitchFamily="34" charset="0"/>
              <a:buChar char="•"/>
            </a:pPr>
            <a:r>
              <a:rPr lang="en-US"/>
              <a:t>Documenting Data lineage should be taken into account in all new systems and system updates</a:t>
            </a:r>
          </a:p>
          <a:p>
            <a:pPr marL="171450" lvl="0" indent="-171450">
              <a:buFont typeface="Arial" panose="020B0604020202020204" pitchFamily="34" charset="0"/>
              <a:buChar char="•"/>
            </a:pPr>
            <a:r>
              <a:rPr lang="en-US"/>
              <a:t>Some system &amp; data technologies allow lineage information to be extracted automatically through the use of Informatica tooling.</a:t>
            </a:r>
          </a:p>
          <a:p>
            <a:r>
              <a:rPr lang="en-US" b="1"/>
              <a:t>Data Quality Issues: </a:t>
            </a:r>
            <a:endParaRPr lang="en-GB"/>
          </a:p>
          <a:p>
            <a:pPr marL="171450" lvl="0" indent="-171450">
              <a:buFont typeface="Arial" panose="020B0604020202020204" pitchFamily="34" charset="0"/>
              <a:buChar char="•"/>
            </a:pPr>
            <a:r>
              <a:rPr lang="en-US"/>
              <a:t>Identify (major) DQ issues that are related to this project.</a:t>
            </a:r>
          </a:p>
          <a:p>
            <a:pPr marL="171450" lvl="0" indent="-171450">
              <a:buFont typeface="Arial" panose="020B0604020202020204" pitchFamily="34" charset="0"/>
              <a:buChar char="•"/>
            </a:pPr>
            <a:r>
              <a:rPr lang="en-US"/>
              <a:t>Identify possible DQ improvements resulting from this project.</a:t>
            </a:r>
            <a:endParaRPr lang="en-GB"/>
          </a:p>
          <a:p>
            <a:r>
              <a:rPr lang="en-US" b="1"/>
              <a:t>Data Quality monitoring</a:t>
            </a:r>
            <a:endParaRPr lang="en-GB"/>
          </a:p>
          <a:p>
            <a:pPr marL="171450" lvl="0" indent="-171450">
              <a:buFont typeface="Arial" panose="020B0604020202020204" pitchFamily="34" charset="0"/>
              <a:buChar char="•"/>
            </a:pPr>
            <a:r>
              <a:rPr lang="en-US"/>
              <a:t>The new system should support measuring and reporting the quality of the data</a:t>
            </a:r>
            <a:endParaRPr lang="en-GB"/>
          </a:p>
          <a:p>
            <a:pPr marL="171450" lvl="0" indent="-171450">
              <a:buFont typeface="Arial" panose="020B0604020202020204" pitchFamily="34" charset="0"/>
              <a:buChar char="•"/>
            </a:pPr>
            <a:r>
              <a:rPr lang="en-US"/>
              <a:t>Implementing input controls to prevent data quality issues</a:t>
            </a:r>
            <a:endParaRPr lang="en-GB"/>
          </a:p>
          <a:p>
            <a:r>
              <a:rPr lang="en-US" b="1"/>
              <a:t>Record Keeping </a:t>
            </a:r>
            <a:endParaRPr lang="en-GB"/>
          </a:p>
          <a:p>
            <a:pPr marL="171450" lvl="0" indent="-171450">
              <a:buFont typeface="Arial" panose="020B0604020202020204" pitchFamily="34" charset="0"/>
              <a:buChar char="•"/>
            </a:pPr>
            <a:r>
              <a:rPr lang="en-US"/>
              <a:t>Validate that data retention terms (minimum and maximum) are defined</a:t>
            </a:r>
            <a:endParaRPr lang="en-GB"/>
          </a:p>
          <a:p>
            <a:pPr marL="171450" lvl="0" indent="-171450">
              <a:buFont typeface="Arial" panose="020B0604020202020204" pitchFamily="34" charset="0"/>
              <a:buChar char="•"/>
            </a:pPr>
            <a:r>
              <a:rPr lang="en-US"/>
              <a:t>Describe how data retention and disposal processes are implemented.</a:t>
            </a:r>
            <a:endParaRPr lang="en-GB"/>
          </a:p>
          <a:p>
            <a:r>
              <a:rPr lang="en-US" b="1"/>
              <a:t>Data Delivery</a:t>
            </a:r>
            <a:endParaRPr lang="en-GB"/>
          </a:p>
          <a:p>
            <a:pPr marL="171450" lvl="0" indent="-171450">
              <a:buFont typeface="Arial" panose="020B0604020202020204" pitchFamily="34" charset="0"/>
              <a:buChar char="•"/>
            </a:pPr>
            <a:r>
              <a:rPr lang="en-US"/>
              <a:t>Describe all consumed and produced data sets in Data Delivery Agreements. If covered elsewhere include a reference to it.</a:t>
            </a:r>
            <a:endParaRPr lang="en-GB"/>
          </a:p>
          <a:p>
            <a:r>
              <a:rPr lang="en-US" b="1"/>
              <a:t>Reference and Customer master data management </a:t>
            </a:r>
            <a:endParaRPr lang="en-GB"/>
          </a:p>
          <a:p>
            <a:pPr marL="171450" lvl="0" indent="-171450">
              <a:buFont typeface="Arial" panose="020B0604020202020204" pitchFamily="34" charset="0"/>
              <a:buChar char="•"/>
            </a:pPr>
            <a:r>
              <a:rPr lang="en-US"/>
              <a:t>Identify which reference and master data is required</a:t>
            </a:r>
            <a:endParaRPr lang="en-GB"/>
          </a:p>
          <a:p>
            <a:pPr marL="171450" indent="-171450">
              <a:buFont typeface="Arial" panose="020B0604020202020204" pitchFamily="34" charset="0"/>
              <a:buChar char="•"/>
            </a:pPr>
            <a:r>
              <a:rPr lang="en-US"/>
              <a:t>Examples of reference data are: Industry codes, currency codes, country codes, product hierarchy but also local reference data like Tax reason code (Brazil)</a:t>
            </a:r>
          </a:p>
          <a:p>
            <a:pPr marL="171450" lvl="0" indent="-171450">
              <a:buFont typeface="Arial" panose="020B0604020202020204" pitchFamily="34" charset="0"/>
              <a:buChar char="•"/>
            </a:pPr>
            <a:r>
              <a:rPr lang="en-US"/>
              <a:t>Where available the reference data should be sourced from the global reference data management system and processes (</a:t>
            </a:r>
            <a:r>
              <a:rPr lang="en-US" err="1"/>
              <a:t>referencedata.rabobank.com</a:t>
            </a:r>
            <a:r>
              <a:rPr lang="en-US"/>
              <a:t>)</a:t>
            </a:r>
            <a:endParaRPr lang="en-GB"/>
          </a:p>
          <a:p>
            <a:pPr marL="171450" lvl="0" indent="-171450">
              <a:buFont typeface="Arial" panose="020B0604020202020204" pitchFamily="34" charset="0"/>
              <a:buChar char="•"/>
            </a:pPr>
            <a:r>
              <a:rPr lang="en-US"/>
              <a:t>Describe how local reference data are managed, preferably also via the global tool (</a:t>
            </a:r>
            <a:r>
              <a:rPr lang="en-US" err="1"/>
              <a:t>referencedata.rabobank.com</a:t>
            </a:r>
            <a:r>
              <a:rPr lang="en-US"/>
              <a:t>)</a:t>
            </a:r>
          </a:p>
          <a:p>
            <a:pPr marL="171450" lvl="0" indent="-171450">
              <a:buFont typeface="Arial" panose="020B0604020202020204" pitchFamily="34" charset="0"/>
              <a:buChar char="•"/>
            </a:pPr>
            <a:r>
              <a:rPr lang="en-GB"/>
              <a:t>Where customer data is processed, follow the Rabobank Group vision on Customer Master Data Management</a:t>
            </a:r>
          </a:p>
          <a:p>
            <a:r>
              <a:rPr lang="en-US" b="1"/>
              <a:t>Data warehouse / Lake</a:t>
            </a:r>
            <a:endParaRPr lang="en-GB"/>
          </a:p>
          <a:p>
            <a:pPr marL="171450" lvl="0" indent="-171450">
              <a:buFont typeface="Arial" panose="020B0604020202020204" pitchFamily="34" charset="0"/>
              <a:buChar char="•"/>
            </a:pPr>
            <a:r>
              <a:rPr lang="en-US"/>
              <a:t>The Data Lake / DWH architecture requires data to be delivered, at least in raw format</a:t>
            </a:r>
            <a:endParaRPr lang="en-GB"/>
          </a:p>
          <a:p>
            <a:pPr marL="171450" lvl="0" indent="-171450">
              <a:buFont typeface="Arial" panose="020B0604020202020204" pitchFamily="34" charset="0"/>
              <a:buChar char="•"/>
            </a:pPr>
            <a:r>
              <a:rPr lang="en-US"/>
              <a:t>Which data warehouse will store the data</a:t>
            </a:r>
            <a:endParaRPr lang="en-GB"/>
          </a:p>
          <a:p>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29</a:t>
            </a:fld>
            <a:endParaRPr lang="en-US">
              <a:solidFill>
                <a:prstClr val="black"/>
              </a:solidFill>
            </a:endParaRPr>
          </a:p>
        </p:txBody>
      </p:sp>
    </p:spTree>
    <p:extLst>
      <p:ext uri="{BB962C8B-B14F-4D97-AF65-F5344CB8AC3E}">
        <p14:creationId xmlns:p14="http://schemas.microsoft.com/office/powerpoint/2010/main" val="19211084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878371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255239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790736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9359214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76617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5653012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3512971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0672505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85363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7330827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5046807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60429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3495139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8337373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6699058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9232746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7997237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8260947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7566591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35395776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3985327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9558938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List all architectural decisions regarding the overall architecture. Please use the following way of thinking: describe the decision, give the reasoning why, describe the consequences and describe mitigations.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0"/>
              <a:t>It is left to the discretion of the architect whether or not (s)he wants to put 1 decision per slide or more (max 2)</a:t>
            </a:r>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5554382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CB5D99F-C216-8C4C-B398-F06F7517D80F}" type="slidenum">
              <a:rPr lang="nl-NL" smtClean="0"/>
              <a:pPr/>
              <a:t>54</a:t>
            </a:fld>
            <a:endParaRPr lang="nl-NL"/>
          </a:p>
        </p:txBody>
      </p:sp>
    </p:spTree>
    <p:extLst>
      <p:ext uri="{BB962C8B-B14F-4D97-AF65-F5344CB8AC3E}">
        <p14:creationId xmlns:p14="http://schemas.microsoft.com/office/powerpoint/2010/main" val="14894012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753677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4731332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1CB5D99F-C216-8C4C-B398-F06F7517D80F}" type="slidenum">
              <a:rPr kumimoji="0" lang="nl-NL"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57</a:t>
            </a:fld>
            <a:endParaRPr kumimoji="0" lang="nl-NL"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1026755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5954265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013" y="749300"/>
            <a:ext cx="6665912" cy="3749675"/>
          </a:xfrm>
        </p:spPr>
      </p:sp>
      <p:sp>
        <p:nvSpPr>
          <p:cNvPr id="3" name="Notes Placeholder 2"/>
          <p:cNvSpPr>
            <a:spLocks noGrp="1"/>
          </p:cNvSpPr>
          <p:nvPr>
            <p:ph type="body" idx="1"/>
          </p:nvPr>
        </p:nvSpPr>
        <p:spPr/>
        <p:txBody>
          <a:bodyPr>
            <a:normAutofit/>
          </a:bodyPr>
          <a:lstStyle/>
          <a:p>
            <a:pPr defTabSz="963503" eaLnBrk="0" fontAlgn="base" hangingPunct="0">
              <a:spcBef>
                <a:spcPct val="30000"/>
              </a:spcBef>
              <a:spcAft>
                <a:spcPct val="0"/>
              </a:spcAft>
              <a:defRPr/>
            </a:pPr>
            <a:r>
              <a:rPr lang="en-US" sz="1300"/>
              <a:t>The above table:</a:t>
            </a:r>
          </a:p>
          <a:p>
            <a:pPr marL="180657" indent="-180657" defTabSz="963503" eaLnBrk="0" fontAlgn="base" hangingPunct="0">
              <a:spcBef>
                <a:spcPct val="30000"/>
              </a:spcBef>
              <a:spcAft>
                <a:spcPct val="0"/>
              </a:spcAft>
              <a:buFontTx/>
              <a:buChar char="-"/>
              <a:defRPr/>
            </a:pPr>
            <a:r>
              <a:rPr lang="en-US" sz="1300"/>
              <a:t>lists all affected information flows</a:t>
            </a:r>
          </a:p>
          <a:p>
            <a:pPr marL="180657" indent="-180657" defTabSz="963503" eaLnBrk="0" fontAlgn="base" hangingPunct="0">
              <a:spcBef>
                <a:spcPct val="30000"/>
              </a:spcBef>
              <a:spcAft>
                <a:spcPct val="0"/>
              </a:spcAft>
              <a:buFontTx/>
              <a:buChar char="-"/>
              <a:defRPr/>
            </a:pPr>
            <a:r>
              <a:rPr lang="en-GB"/>
              <a:t>should record (potential) deviations from approved interfacing patterns</a:t>
            </a:r>
          </a:p>
          <a:p>
            <a:pPr marL="180657" indent="-180657" defTabSz="963503" eaLnBrk="0" fontAlgn="base" hangingPunct="0">
              <a:spcBef>
                <a:spcPct val="30000"/>
              </a:spcBef>
              <a:spcAft>
                <a:spcPct val="0"/>
              </a:spcAft>
              <a:buFontTx/>
              <a:buChar char="-"/>
              <a:defRPr/>
            </a:pPr>
            <a:r>
              <a:rPr lang="en-GB"/>
              <a:t>should give a high level description of interfacing patterns used (</a:t>
            </a:r>
            <a:r>
              <a:rPr lang="en-GB" err="1"/>
              <a:t>e.g</a:t>
            </a:r>
            <a:r>
              <a:rPr lang="en-GB"/>
              <a:t> batch over MQFT/SFTP, </a:t>
            </a:r>
            <a:r>
              <a:rPr lang="en-GB" err="1"/>
              <a:t>msg</a:t>
            </a:r>
            <a:r>
              <a:rPr lang="en-GB"/>
              <a:t> over WS/MQ, etc)</a:t>
            </a:r>
          </a:p>
          <a:p>
            <a:pPr marL="180657" indent="-180657" defTabSz="963503" eaLnBrk="0" fontAlgn="base" hangingPunct="0">
              <a:spcBef>
                <a:spcPct val="30000"/>
              </a:spcBef>
              <a:spcAft>
                <a:spcPct val="0"/>
              </a:spcAft>
              <a:buFontTx/>
              <a:buChar char="-"/>
              <a:defRPr/>
            </a:pPr>
            <a:r>
              <a:rPr lang="en-GB"/>
              <a:t>should highlight critical or sensitive interfaces</a:t>
            </a:r>
            <a:endParaRPr lang="nl-NL"/>
          </a:p>
          <a:p>
            <a:pPr defTabSz="963503" eaLnBrk="0" fontAlgn="base" hangingPunct="0">
              <a:spcBef>
                <a:spcPct val="30000"/>
              </a:spcBef>
              <a:spcAft>
                <a:spcPct val="0"/>
              </a:spcAft>
              <a:defRPr/>
            </a:pPr>
            <a:endParaRPr lang="en-US" sz="1300"/>
          </a:p>
          <a:p>
            <a:pPr marL="0" lvl="1" indent="0" defTabSz="963503" eaLnBrk="0" fontAlgn="base" hangingPunct="0">
              <a:spcBef>
                <a:spcPct val="30000"/>
              </a:spcBef>
              <a:spcAft>
                <a:spcPct val="0"/>
              </a:spcAft>
              <a:buNone/>
              <a:defRPr/>
            </a:pPr>
            <a:r>
              <a:rPr lang="en-US" sz="1300"/>
              <a:t>Include current state and project end state in this diagram using the change field to highlight new, changed or removed components. </a:t>
            </a:r>
          </a:p>
          <a:p>
            <a:pPr defTabSz="963503" eaLnBrk="0" fontAlgn="base" hangingPunct="0">
              <a:spcBef>
                <a:spcPct val="30000"/>
              </a:spcBef>
              <a:spcAft>
                <a:spcPct val="0"/>
              </a:spcAft>
              <a:defRPr/>
            </a:pPr>
            <a:endParaRPr lang="en-US" sz="1300"/>
          </a:p>
          <a:p>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3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59</a:t>
            </a:fld>
            <a:endParaRPr kumimoji="0" lang="en-US" sz="13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810167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18729269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GB"/>
              <a:t>Describe the main features and decisions with respect to the information architecture. The idea of these slides is  to have a placeholder in this PSA where the view on the relationship between core entities like transaction, client, product, etc. can be explained from in the context of the project.</a:t>
            </a:r>
          </a:p>
          <a:p>
            <a:r>
              <a:rPr lang="en-GB"/>
              <a:t>To visualize the information architecture you can use several views with business objects and explain the diagram in the text, use an alternative representation or use text only.</a:t>
            </a:r>
          </a:p>
          <a:p>
            <a:endParaRPr lang="en-GB"/>
          </a:p>
          <a:p>
            <a:r>
              <a:rPr lang="en-GB"/>
              <a:t>Topics that can be addressed on these sheets are:</a:t>
            </a:r>
          </a:p>
          <a:p>
            <a:pPr>
              <a:buFont typeface="Arial" pitchFamily="34" charset="0"/>
              <a:buChar char="•"/>
            </a:pPr>
            <a:r>
              <a:rPr lang="en-GB"/>
              <a:t> What are the most important information flows affected by the project?</a:t>
            </a:r>
          </a:p>
          <a:p>
            <a:pPr>
              <a:buFont typeface="Arial" pitchFamily="34" charset="0"/>
              <a:buChar char="•"/>
            </a:pPr>
            <a:r>
              <a:rPr lang="en-GB"/>
              <a:t> What are the involved business objects?</a:t>
            </a:r>
          </a:p>
          <a:p>
            <a:pPr>
              <a:buFont typeface="Arial" pitchFamily="34" charset="0"/>
              <a:buChar char="•"/>
            </a:pPr>
            <a:r>
              <a:rPr lang="en-GB"/>
              <a:t> How are structures and relationships between information objects preserved?</a:t>
            </a:r>
          </a:p>
          <a:p>
            <a:pPr>
              <a:buFont typeface="Arial" pitchFamily="34" charset="0"/>
              <a:buChar char="•"/>
            </a:pPr>
            <a:r>
              <a:rPr lang="en-GB"/>
              <a:t> Information can often be sourced from different systems. Why has been decided to source it from system </a:t>
            </a:r>
            <a:r>
              <a:rPr lang="en-GB" i="1"/>
              <a:t>ABC</a:t>
            </a:r>
            <a:r>
              <a:rPr lang="en-GB"/>
              <a:t>?</a:t>
            </a:r>
          </a:p>
          <a:p>
            <a:pPr>
              <a:buFont typeface="Arial" pitchFamily="34" charset="0"/>
              <a:buChar char="•"/>
            </a:pPr>
            <a:r>
              <a:rPr lang="en-GB"/>
              <a:t> Ownership of the objects.</a:t>
            </a:r>
          </a:p>
          <a:p>
            <a:pPr>
              <a:buFont typeface="Arial" pitchFamily="34" charset="0"/>
              <a:buChar char="•"/>
            </a:pPr>
            <a:r>
              <a:rPr lang="en-GB"/>
              <a:t> Also can be chosen to discuss the above aspects per object type (as done in the LICWID PSA).</a:t>
            </a:r>
          </a:p>
          <a:p>
            <a:endParaRPr lang="en-GB" i="0" baseline="0"/>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55EDF0D8-0DBA-422D-AEF5-8FA9DEB7DB0C}" type="slidenum">
              <a:rPr kumimoji="0" lang="en-US" sz="1200" b="0" i="0" u="none" strike="noStrike" kern="1200" cap="none" spc="0" normalizeH="0" baseline="0" noProof="0" smtClean="0">
                <a:ln>
                  <a:noFill/>
                </a:ln>
                <a:solidFill>
                  <a:prstClr val="black"/>
                </a:solidFill>
                <a:effectLst/>
                <a:uLnTx/>
                <a:uFillTx/>
                <a:latin typeface="Corbel"/>
                <a:ea typeface="+mn-ea"/>
              </a:rPr>
              <a:pPr marL="0" marR="0" lvl="0" indent="0" algn="r" defTabSz="456999"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orbel"/>
              <a:ea typeface="+mn-ea"/>
            </a:endParaRPr>
          </a:p>
        </p:txBody>
      </p:sp>
    </p:spTree>
    <p:extLst>
      <p:ext uri="{BB962C8B-B14F-4D97-AF65-F5344CB8AC3E}">
        <p14:creationId xmlns:p14="http://schemas.microsoft.com/office/powerpoint/2010/main" val="27534634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1CB5D99F-C216-8C4C-B398-F06F7517D80F}" type="slidenum">
              <a:rPr lang="nl-NL" smtClean="0"/>
              <a:pPr/>
              <a:t>63</a:t>
            </a:fld>
            <a:endParaRPr lang="nl-NL"/>
          </a:p>
        </p:txBody>
      </p:sp>
    </p:spTree>
    <p:extLst>
      <p:ext uri="{BB962C8B-B14F-4D97-AF65-F5344CB8AC3E}">
        <p14:creationId xmlns:p14="http://schemas.microsoft.com/office/powerpoint/2010/main" val="42560226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t>On this slide list the technology choices that have been made.</a:t>
            </a:r>
          </a:p>
          <a:p>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64</a:t>
            </a:fld>
            <a:endParaRPr lang="en-US"/>
          </a:p>
        </p:txBody>
      </p:sp>
    </p:spTree>
    <p:extLst>
      <p:ext uri="{BB962C8B-B14F-4D97-AF65-F5344CB8AC3E}">
        <p14:creationId xmlns:p14="http://schemas.microsoft.com/office/powerpoint/2010/main" val="4370318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a:t>This section only applies to the project end situation. It explains how certain significant non functional requirements are solved in the application architecture. List the outcome of the Security Risk Classification for the involved applications</a:t>
            </a:r>
            <a:r>
              <a:rPr lang="en-US" baseline="0"/>
              <a:t> and the related architecture points/decisions from a security point of view</a:t>
            </a:r>
          </a:p>
          <a:p>
            <a:r>
              <a:rPr lang="en-US" baseline="0"/>
              <a:t> </a:t>
            </a:r>
          </a:p>
          <a:p>
            <a:r>
              <a:rPr lang="en-US" baseline="0"/>
              <a:t>GENERAL</a:t>
            </a:r>
            <a:endParaRPr lang="en-US"/>
          </a:p>
          <a:p>
            <a:r>
              <a:rPr lang="en-GB"/>
              <a:t>&lt; Security viewpoint &gt;</a:t>
            </a:r>
          </a:p>
          <a:p>
            <a:endParaRPr lang="en-US"/>
          </a:p>
          <a:p>
            <a:r>
              <a:rPr lang="en-US"/>
              <a:t>Solution uses external cloud: &lt;Yes/No&gt;</a:t>
            </a:r>
            <a:br>
              <a:rPr lang="en-US"/>
            </a:br>
            <a:r>
              <a:rPr lang="en-US"/>
              <a:t>(In case cloud is used a cloud notification</a:t>
            </a:r>
            <a:r>
              <a:rPr lang="en-US" baseline="0"/>
              <a:t> must be done </a:t>
            </a:r>
            <a:r>
              <a:rPr lang="en-US"/>
              <a:t> (</a:t>
            </a:r>
            <a:r>
              <a:rPr lang="en-GB" err="1"/>
              <a:t>fm.nl.rrs.cloudregistration</a:t>
            </a:r>
            <a:r>
              <a:rPr lang="en-GB"/>
              <a:t> &lt;cloudregistratie@rabobank.nl&gt;</a:t>
            </a:r>
            <a:r>
              <a:rPr lang="en-US"/>
              <a:t>)</a:t>
            </a:r>
          </a:p>
          <a:p>
            <a:endParaRPr lang="en-GB"/>
          </a:p>
          <a:p>
            <a:r>
              <a:rPr lang="en-GB"/>
              <a:t>Security specifics:</a:t>
            </a:r>
          </a:p>
          <a:p>
            <a:pPr lvl="1"/>
            <a:r>
              <a:rPr lang="en-GB"/>
              <a:t>Append, for example:</a:t>
            </a:r>
          </a:p>
          <a:p>
            <a:pPr lvl="2"/>
            <a:r>
              <a:rPr lang="en-GB"/>
              <a:t>Contains privacy sensitive information.</a:t>
            </a:r>
          </a:p>
          <a:p>
            <a:pPr marL="176213" marR="0" lvl="1" indent="-176213" algn="l" defTabSz="457200" rtl="0" eaLnBrk="1" fontAlgn="auto" latinLnBrk="0" hangingPunct="1">
              <a:lnSpc>
                <a:spcPct val="100000"/>
              </a:lnSpc>
              <a:spcBef>
                <a:spcPts val="0"/>
              </a:spcBef>
              <a:spcAft>
                <a:spcPts val="0"/>
              </a:spcAft>
              <a:buClrTx/>
              <a:buSzTx/>
              <a:buFont typeface="Arial"/>
              <a:buChar char="•"/>
              <a:tabLst/>
              <a:defRPr/>
            </a:pPr>
            <a:r>
              <a:rPr lang="en-GB"/>
              <a:t>Protection</a:t>
            </a:r>
            <a:r>
              <a:rPr lang="en-GB" baseline="0"/>
              <a:t> principles for Data at rest, in transit and in Use (see Excel)</a:t>
            </a:r>
          </a:p>
          <a:p>
            <a:pPr lvl="1"/>
            <a:r>
              <a:rPr lang="en-GB"/>
              <a:t>Usage of standard security infrastructure</a:t>
            </a:r>
          </a:p>
          <a:p>
            <a:pPr lvl="2"/>
            <a:r>
              <a:rPr lang="en-GB"/>
              <a:t>IAM – </a:t>
            </a:r>
          </a:p>
          <a:p>
            <a:pPr lvl="3"/>
            <a:r>
              <a:rPr lang="en-GB"/>
              <a:t>Authentication mechanism</a:t>
            </a:r>
          </a:p>
          <a:p>
            <a:pPr lvl="3"/>
            <a:r>
              <a:rPr lang="en-GB"/>
              <a:t>user provisioning</a:t>
            </a:r>
            <a:r>
              <a:rPr lang="en-GB" baseline="0"/>
              <a:t> and authorizations</a:t>
            </a:r>
          </a:p>
          <a:p>
            <a:pPr marL="536575" marR="0" lvl="3" indent="-174625" algn="l" defTabSz="457200" rtl="0" eaLnBrk="1" fontAlgn="auto" latinLnBrk="0" hangingPunct="1">
              <a:lnSpc>
                <a:spcPct val="100000"/>
              </a:lnSpc>
              <a:spcBef>
                <a:spcPts val="0"/>
              </a:spcBef>
              <a:spcAft>
                <a:spcPts val="0"/>
              </a:spcAft>
              <a:buClrTx/>
              <a:buSzTx/>
              <a:buFont typeface="Arial"/>
              <a:buChar char="•"/>
              <a:tabLst/>
              <a:defRPr/>
            </a:pPr>
            <a:r>
              <a:rPr lang="en-GB"/>
              <a:t>Logging &amp; monitoring &amp; alerting</a:t>
            </a:r>
          </a:p>
          <a:p>
            <a:pPr lvl="3"/>
            <a:r>
              <a:rPr lang="en-GB"/>
              <a:t>Privileged</a:t>
            </a:r>
            <a:r>
              <a:rPr lang="en-GB" baseline="0"/>
              <a:t> account management (</a:t>
            </a:r>
            <a:r>
              <a:rPr lang="en-GB" baseline="0" err="1"/>
              <a:t>e.g</a:t>
            </a:r>
            <a:r>
              <a:rPr lang="en-GB" baseline="0"/>
              <a:t> CyberArk)</a:t>
            </a:r>
          </a:p>
          <a:p>
            <a:pPr lvl="1"/>
            <a:r>
              <a:rPr lang="en-GB" baseline="0" err="1"/>
              <a:t>Autorization</a:t>
            </a:r>
            <a:r>
              <a:rPr lang="en-GB" baseline="0"/>
              <a:t> assumptions</a:t>
            </a:r>
          </a:p>
          <a:p>
            <a:pPr lvl="2"/>
            <a:r>
              <a:rPr lang="en-GB"/>
              <a:t>Definition of privileged access</a:t>
            </a:r>
          </a:p>
          <a:p>
            <a:pPr lvl="2"/>
            <a:r>
              <a:rPr lang="en-GB"/>
              <a:t>Principles for an orderly</a:t>
            </a:r>
            <a:r>
              <a:rPr lang="en-GB" baseline="0"/>
              <a:t> authorization model</a:t>
            </a:r>
          </a:p>
          <a:p>
            <a:pPr lvl="2"/>
            <a:r>
              <a:rPr lang="en-GB" baseline="0"/>
              <a:t>Functional accounts</a:t>
            </a:r>
          </a:p>
          <a:p>
            <a:pPr lvl="1"/>
            <a:r>
              <a:rPr lang="en-GB" baseline="0"/>
              <a:t>Test environments</a:t>
            </a:r>
          </a:p>
          <a:p>
            <a:pPr lvl="2"/>
            <a:r>
              <a:rPr lang="en-GB" baseline="0"/>
              <a:t>Responsible and representative testing</a:t>
            </a:r>
          </a:p>
          <a:p>
            <a:pPr lvl="1"/>
            <a:r>
              <a:rPr lang="en-GB" baseline="0"/>
              <a:t>Security testing</a:t>
            </a:r>
          </a:p>
          <a:p>
            <a:pPr lvl="2"/>
            <a:r>
              <a:rPr lang="en-GB" baseline="0" err="1"/>
              <a:t>Pentests</a:t>
            </a:r>
            <a:r>
              <a:rPr lang="en-GB" baseline="0"/>
              <a:t> necessary?</a:t>
            </a:r>
          </a:p>
          <a:p>
            <a:pPr lvl="2"/>
            <a:r>
              <a:rPr lang="en-GB" baseline="0"/>
              <a:t>Static Code Analysis</a:t>
            </a:r>
            <a:endParaRPr lang="en-GB"/>
          </a:p>
          <a:p>
            <a:endParaRPr lang="en-US"/>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68</a:t>
            </a:fld>
            <a:endParaRPr lang="en-US"/>
          </a:p>
        </p:txBody>
      </p:sp>
    </p:spTree>
    <p:extLst>
      <p:ext uri="{BB962C8B-B14F-4D97-AF65-F5344CB8AC3E}">
        <p14:creationId xmlns:p14="http://schemas.microsoft.com/office/powerpoint/2010/main" val="19427915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a:t>This section only applies to the project end situation. It explains how certain significant non functional requirements are solved in the application architecture. List the outcome of the Security Risk Classification for the involved applications</a:t>
            </a:r>
            <a:r>
              <a:rPr lang="en-US" baseline="0"/>
              <a:t> and the related architecture points/decisions from a security point of view</a:t>
            </a:r>
          </a:p>
          <a:p>
            <a:r>
              <a:rPr lang="en-US" baseline="0"/>
              <a:t> </a:t>
            </a:r>
          </a:p>
          <a:p>
            <a:r>
              <a:rPr lang="en-US" baseline="0"/>
              <a:t>GENERAL</a:t>
            </a:r>
            <a:endParaRPr lang="en-US"/>
          </a:p>
          <a:p>
            <a:r>
              <a:rPr lang="en-GB"/>
              <a:t>&lt; Security viewpoint &gt;</a:t>
            </a:r>
          </a:p>
          <a:p>
            <a:endParaRPr lang="en-US"/>
          </a:p>
          <a:p>
            <a:r>
              <a:rPr lang="en-US"/>
              <a:t>Solution uses external cloud: &lt;Yes/No&gt;</a:t>
            </a:r>
            <a:br>
              <a:rPr lang="en-US"/>
            </a:br>
            <a:r>
              <a:rPr lang="en-US"/>
              <a:t>(In case cloud is used a cloud notification</a:t>
            </a:r>
            <a:r>
              <a:rPr lang="en-US" baseline="0"/>
              <a:t> must be done </a:t>
            </a:r>
            <a:r>
              <a:rPr lang="en-US"/>
              <a:t> (</a:t>
            </a:r>
            <a:r>
              <a:rPr lang="en-GB" err="1"/>
              <a:t>fm.nl.rrs.cloudregistration</a:t>
            </a:r>
            <a:r>
              <a:rPr lang="en-GB"/>
              <a:t> &lt;cloudregistratie@rabobank.nl&gt;</a:t>
            </a:r>
            <a:r>
              <a:rPr lang="en-US"/>
              <a:t>)</a:t>
            </a:r>
          </a:p>
          <a:p>
            <a:endParaRPr lang="en-GB"/>
          </a:p>
          <a:p>
            <a:r>
              <a:rPr lang="en-GB"/>
              <a:t>Security specifics:</a:t>
            </a:r>
          </a:p>
          <a:p>
            <a:pPr lvl="1"/>
            <a:r>
              <a:rPr lang="en-GB"/>
              <a:t>Append, for example:</a:t>
            </a:r>
          </a:p>
          <a:p>
            <a:pPr lvl="2"/>
            <a:r>
              <a:rPr lang="en-GB"/>
              <a:t>Contains privacy sensitive information.</a:t>
            </a:r>
          </a:p>
          <a:p>
            <a:pPr marL="176213" marR="0" lvl="1" indent="-176213" algn="l" defTabSz="457200" rtl="0" eaLnBrk="1" fontAlgn="auto" latinLnBrk="0" hangingPunct="1">
              <a:lnSpc>
                <a:spcPct val="100000"/>
              </a:lnSpc>
              <a:spcBef>
                <a:spcPts val="0"/>
              </a:spcBef>
              <a:spcAft>
                <a:spcPts val="0"/>
              </a:spcAft>
              <a:buClrTx/>
              <a:buSzTx/>
              <a:buFont typeface="Arial"/>
              <a:buChar char="•"/>
              <a:tabLst/>
              <a:defRPr/>
            </a:pPr>
            <a:r>
              <a:rPr lang="en-GB"/>
              <a:t>Protection</a:t>
            </a:r>
            <a:r>
              <a:rPr lang="en-GB" baseline="0"/>
              <a:t> principles for Data at rest, in transit and in Use (see Excel)</a:t>
            </a:r>
          </a:p>
          <a:p>
            <a:pPr lvl="1"/>
            <a:r>
              <a:rPr lang="en-GB"/>
              <a:t>Usage of standard security infrastructure</a:t>
            </a:r>
          </a:p>
          <a:p>
            <a:pPr lvl="2"/>
            <a:r>
              <a:rPr lang="en-GB"/>
              <a:t>IAM – </a:t>
            </a:r>
          </a:p>
          <a:p>
            <a:pPr lvl="3"/>
            <a:r>
              <a:rPr lang="en-GB"/>
              <a:t>Authentication mechanism</a:t>
            </a:r>
          </a:p>
          <a:p>
            <a:pPr lvl="3"/>
            <a:r>
              <a:rPr lang="en-GB"/>
              <a:t>user provisioning</a:t>
            </a:r>
            <a:r>
              <a:rPr lang="en-GB" baseline="0"/>
              <a:t> and authorizations</a:t>
            </a:r>
          </a:p>
          <a:p>
            <a:pPr marL="536575" marR="0" lvl="3" indent="-174625" algn="l" defTabSz="457200" rtl="0" eaLnBrk="1" fontAlgn="auto" latinLnBrk="0" hangingPunct="1">
              <a:lnSpc>
                <a:spcPct val="100000"/>
              </a:lnSpc>
              <a:spcBef>
                <a:spcPts val="0"/>
              </a:spcBef>
              <a:spcAft>
                <a:spcPts val="0"/>
              </a:spcAft>
              <a:buClrTx/>
              <a:buSzTx/>
              <a:buFont typeface="Arial"/>
              <a:buChar char="•"/>
              <a:tabLst/>
              <a:defRPr/>
            </a:pPr>
            <a:r>
              <a:rPr lang="en-GB"/>
              <a:t>Logging &amp; monitoring &amp; alerting</a:t>
            </a:r>
          </a:p>
          <a:p>
            <a:pPr lvl="3"/>
            <a:r>
              <a:rPr lang="en-GB"/>
              <a:t>Privileged</a:t>
            </a:r>
            <a:r>
              <a:rPr lang="en-GB" baseline="0"/>
              <a:t> account management (</a:t>
            </a:r>
            <a:r>
              <a:rPr lang="en-GB" baseline="0" err="1"/>
              <a:t>e.g</a:t>
            </a:r>
            <a:r>
              <a:rPr lang="en-GB" baseline="0"/>
              <a:t> CyberArk)</a:t>
            </a:r>
          </a:p>
          <a:p>
            <a:pPr lvl="1"/>
            <a:r>
              <a:rPr lang="en-GB" baseline="0" err="1"/>
              <a:t>Autorization</a:t>
            </a:r>
            <a:r>
              <a:rPr lang="en-GB" baseline="0"/>
              <a:t> assumptions</a:t>
            </a:r>
          </a:p>
          <a:p>
            <a:pPr lvl="2"/>
            <a:r>
              <a:rPr lang="en-GB"/>
              <a:t>Definition of privileged access</a:t>
            </a:r>
          </a:p>
          <a:p>
            <a:pPr lvl="2"/>
            <a:r>
              <a:rPr lang="en-GB"/>
              <a:t>Principles for an orderly</a:t>
            </a:r>
            <a:r>
              <a:rPr lang="en-GB" baseline="0"/>
              <a:t> authorization model</a:t>
            </a:r>
          </a:p>
          <a:p>
            <a:pPr lvl="2"/>
            <a:r>
              <a:rPr lang="en-GB" baseline="0"/>
              <a:t>Functional accounts</a:t>
            </a:r>
          </a:p>
          <a:p>
            <a:pPr lvl="1"/>
            <a:r>
              <a:rPr lang="en-GB" baseline="0"/>
              <a:t>Test environments</a:t>
            </a:r>
          </a:p>
          <a:p>
            <a:pPr lvl="2"/>
            <a:r>
              <a:rPr lang="en-GB" baseline="0"/>
              <a:t>Responsible and representative testing</a:t>
            </a:r>
          </a:p>
          <a:p>
            <a:pPr lvl="1"/>
            <a:r>
              <a:rPr lang="en-GB" baseline="0"/>
              <a:t>Security testing</a:t>
            </a:r>
          </a:p>
          <a:p>
            <a:pPr lvl="2"/>
            <a:r>
              <a:rPr lang="en-GB" baseline="0" err="1"/>
              <a:t>Pentests</a:t>
            </a:r>
            <a:r>
              <a:rPr lang="en-GB" baseline="0"/>
              <a:t> necessary?</a:t>
            </a:r>
          </a:p>
          <a:p>
            <a:pPr lvl="2"/>
            <a:r>
              <a:rPr lang="en-GB" baseline="0"/>
              <a:t>Static Code Analysis</a:t>
            </a:r>
            <a:endParaRPr lang="en-GB"/>
          </a:p>
          <a:p>
            <a:endParaRPr lang="en-US"/>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69</a:t>
            </a:fld>
            <a:endParaRPr lang="en-US"/>
          </a:p>
        </p:txBody>
      </p:sp>
    </p:spTree>
    <p:extLst>
      <p:ext uri="{BB962C8B-B14F-4D97-AF65-F5344CB8AC3E}">
        <p14:creationId xmlns:p14="http://schemas.microsoft.com/office/powerpoint/2010/main" val="6786652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171450" indent="-171450">
              <a:buFontTx/>
              <a:buChar char="-"/>
            </a:pP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71</a:t>
            </a:fld>
            <a:endParaRPr lang="en-US">
              <a:solidFill>
                <a:prstClr val="black"/>
              </a:solidFill>
            </a:endParaRPr>
          </a:p>
        </p:txBody>
      </p:sp>
    </p:spTree>
    <p:extLst>
      <p:ext uri="{BB962C8B-B14F-4D97-AF65-F5344CB8AC3E}">
        <p14:creationId xmlns:p14="http://schemas.microsoft.com/office/powerpoint/2010/main" val="30111940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171450" indent="-171450">
              <a:buFontTx/>
              <a:buChar char="-"/>
            </a:pP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solidFill>
                  <a:prstClr val="black"/>
                </a:solidFill>
              </a:rPr>
              <a:pPr>
                <a:defRPr/>
              </a:pPr>
              <a:t>72</a:t>
            </a:fld>
            <a:endParaRPr lang="en-US">
              <a:solidFill>
                <a:prstClr val="black"/>
              </a:solidFill>
            </a:endParaRPr>
          </a:p>
        </p:txBody>
      </p:sp>
    </p:spTree>
    <p:extLst>
      <p:ext uri="{BB962C8B-B14F-4D97-AF65-F5344CB8AC3E}">
        <p14:creationId xmlns:p14="http://schemas.microsoft.com/office/powerpoint/2010/main" val="27505069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pPr>
              <a:defRPr/>
            </a:pPr>
            <a:fld id="{55EDF0D8-0DBA-422D-AEF5-8FA9DEB7DB0C}" type="slidenum">
              <a:rPr lang="en-US" smtClean="0"/>
              <a:pPr>
                <a:defRPr/>
              </a:pPr>
              <a:t>74</a:t>
            </a:fld>
            <a:endParaRPr lang="en-US"/>
          </a:p>
        </p:txBody>
      </p:sp>
    </p:spTree>
    <p:extLst>
      <p:ext uri="{BB962C8B-B14F-4D97-AF65-F5344CB8AC3E}">
        <p14:creationId xmlns:p14="http://schemas.microsoft.com/office/powerpoint/2010/main" val="600707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just">
              <a:spcAft>
                <a:spcPts val="0"/>
              </a:spcAft>
            </a:pPr>
            <a:r>
              <a:rPr lang="en-GB" sz="1200" i="0">
                <a:latin typeface="Arial"/>
                <a:ea typeface="Times New Roman"/>
              </a:rPr>
              <a:t>If another domain/region is impacted by the project, the domain/regional architect is considered as a co-author of the document. This architect will be on the approval list to sign off the document.</a:t>
            </a:r>
          </a:p>
          <a:p>
            <a:pPr algn="just">
              <a:spcAft>
                <a:spcPts val="0"/>
              </a:spcAft>
            </a:pPr>
            <a:r>
              <a:rPr lang="en-GB" sz="1200" i="0">
                <a:latin typeface="Arial"/>
                <a:ea typeface="Times New Roman"/>
              </a:rPr>
              <a:t>Obtain your approvals </a:t>
            </a:r>
            <a:r>
              <a:rPr lang="en-GB" sz="1200" b="1" i="0">
                <a:latin typeface="Arial"/>
                <a:ea typeface="Times New Roman"/>
              </a:rPr>
              <a:t>before submitting to the board</a:t>
            </a:r>
            <a:r>
              <a:rPr lang="en-GB" sz="1200" i="0">
                <a:latin typeface="Arial"/>
                <a:ea typeface="Times New Roman"/>
              </a:rPr>
              <a:t> and reflect this by filling in the approval dates.</a:t>
            </a:r>
          </a:p>
          <a:p>
            <a:pPr algn="just">
              <a:spcAft>
                <a:spcPts val="0"/>
              </a:spcAft>
            </a:pPr>
            <a:endParaRPr lang="en-GB" sz="1200" i="0">
              <a:latin typeface="Arial"/>
              <a:ea typeface="Times New Roman"/>
            </a:endParaRPr>
          </a:p>
          <a:p>
            <a:r>
              <a:rPr lang="en-GB"/>
              <a:t>The project code is used for</a:t>
            </a:r>
            <a:r>
              <a:rPr lang="en-GB" baseline="0"/>
              <a:t> the IT Risk management reporting process. Currently only applies to </a:t>
            </a:r>
            <a:r>
              <a:rPr lang="en-GB"/>
              <a:t>UT/LDN projects</a:t>
            </a:r>
            <a:r>
              <a:rPr lang="en-GB" baseline="0"/>
              <a:t>.</a:t>
            </a: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75</a:t>
            </a:fld>
            <a:endParaRPr lang="en-US"/>
          </a:p>
        </p:txBody>
      </p:sp>
    </p:spTree>
    <p:extLst>
      <p:ext uri="{BB962C8B-B14F-4D97-AF65-F5344CB8AC3E}">
        <p14:creationId xmlns:p14="http://schemas.microsoft.com/office/powerpoint/2010/main" val="19006700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just">
              <a:spcAft>
                <a:spcPts val="0"/>
              </a:spcAft>
            </a:pPr>
            <a:r>
              <a:rPr lang="en-GB" sz="1200" i="0">
                <a:latin typeface="Arial"/>
                <a:ea typeface="Times New Roman"/>
              </a:rPr>
              <a:t>If another domain/region is impacted by the project, the domain/regional architect is considered as a co-author of the document. This architect will be on the approval list to sign off the document.</a:t>
            </a:r>
          </a:p>
          <a:p>
            <a:pPr algn="just">
              <a:spcAft>
                <a:spcPts val="0"/>
              </a:spcAft>
            </a:pPr>
            <a:r>
              <a:rPr lang="en-GB" sz="1200" i="0">
                <a:latin typeface="Arial"/>
                <a:ea typeface="Times New Roman"/>
              </a:rPr>
              <a:t>Obtain your approvals </a:t>
            </a:r>
            <a:r>
              <a:rPr lang="en-GB" sz="1200" b="1" i="0">
                <a:latin typeface="Arial"/>
                <a:ea typeface="Times New Roman"/>
              </a:rPr>
              <a:t>before submitting to the board</a:t>
            </a:r>
            <a:r>
              <a:rPr lang="en-GB" sz="1200" i="0">
                <a:latin typeface="Arial"/>
                <a:ea typeface="Times New Roman"/>
              </a:rPr>
              <a:t> and reflect this by filling in the approval dates.</a:t>
            </a:r>
          </a:p>
          <a:p>
            <a:pPr algn="just">
              <a:spcAft>
                <a:spcPts val="0"/>
              </a:spcAft>
            </a:pPr>
            <a:endParaRPr lang="en-GB" sz="1200" i="0">
              <a:latin typeface="Arial"/>
              <a:ea typeface="Times New Roman"/>
            </a:endParaRPr>
          </a:p>
          <a:p>
            <a:r>
              <a:rPr lang="en-GB"/>
              <a:t>The project code is used for</a:t>
            </a:r>
            <a:r>
              <a:rPr lang="en-GB" baseline="0"/>
              <a:t> the IT Risk management reporting process. Currently only applies to </a:t>
            </a:r>
            <a:r>
              <a:rPr lang="en-GB"/>
              <a:t>UT/LDN projects</a:t>
            </a:r>
            <a:r>
              <a:rPr lang="en-GB" baseline="0"/>
              <a:t>.</a:t>
            </a:r>
            <a:endParaRPr lang="en-GB"/>
          </a:p>
        </p:txBody>
      </p:sp>
      <p:sp>
        <p:nvSpPr>
          <p:cNvPr id="4" name="Slide Number Placeholder 3"/>
          <p:cNvSpPr>
            <a:spLocks noGrp="1"/>
          </p:cNvSpPr>
          <p:nvPr>
            <p:ph type="sldNum" sz="quarter" idx="10"/>
          </p:nvPr>
        </p:nvSpPr>
        <p:spPr/>
        <p:txBody>
          <a:bodyPr/>
          <a:lstStyle/>
          <a:p>
            <a:pPr>
              <a:defRPr/>
            </a:pPr>
            <a:fld id="{55EDF0D8-0DBA-422D-AEF5-8FA9DEB7DB0C}" type="slidenum">
              <a:rPr lang="en-US" smtClean="0"/>
              <a:pPr>
                <a:defRPr/>
              </a:pPr>
              <a:t>76</a:t>
            </a:fld>
            <a:endParaRPr lang="en-US"/>
          </a:p>
        </p:txBody>
      </p:sp>
    </p:spTree>
    <p:extLst>
      <p:ext uri="{BB962C8B-B14F-4D97-AF65-F5344CB8AC3E}">
        <p14:creationId xmlns:p14="http://schemas.microsoft.com/office/powerpoint/2010/main" val="16831708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hthoek 1"/>
          <p:cNvSpPr/>
          <p:nvPr/>
        </p:nvSpPr>
        <p:spPr>
          <a:xfrm>
            <a:off x="6638050" y="21439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3" name="Subtitel 2"/>
          <p:cNvSpPr>
            <a:spLocks noGrp="1"/>
          </p:cNvSpPr>
          <p:nvPr>
            <p:ph type="subTitle" idx="1" hasCustomPrompt="1"/>
          </p:nvPr>
        </p:nvSpPr>
        <p:spPr>
          <a:xfrm>
            <a:off x="1920875" y="3428327"/>
            <a:ext cx="4166260" cy="474109"/>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456999" rtl="0" eaLnBrk="1" latinLnBrk="0" hangingPunct="1">
              <a:lnSpc>
                <a:spcPct val="100000"/>
              </a:lnSpc>
              <a:spcBef>
                <a:spcPct val="0"/>
              </a:spcBef>
              <a:buNone/>
              <a:defRPr lang="nl-NL" sz="2000" b="1" i="1" kern="1200" dirty="0">
                <a:solidFill>
                  <a:schemeClr val="bg1"/>
                </a:solidFill>
                <a:latin typeface="+mj-lt"/>
                <a:ea typeface="+mn-ea"/>
                <a:cs typeface="+mn-cs"/>
              </a:defRPr>
            </a:lvl1pPr>
            <a:lvl2pPr marL="456999" indent="0" algn="ctr">
              <a:buNone/>
              <a:defRPr>
                <a:solidFill>
                  <a:schemeClr val="tx1">
                    <a:tint val="75000"/>
                  </a:schemeClr>
                </a:solidFill>
              </a:defRPr>
            </a:lvl2pPr>
            <a:lvl3pPr marL="913999" indent="0" algn="ctr">
              <a:buNone/>
              <a:defRPr>
                <a:solidFill>
                  <a:schemeClr val="tx1">
                    <a:tint val="75000"/>
                  </a:schemeClr>
                </a:solidFill>
              </a:defRPr>
            </a:lvl3pPr>
            <a:lvl4pPr marL="1370998" indent="0" algn="ctr">
              <a:buNone/>
              <a:defRPr>
                <a:solidFill>
                  <a:schemeClr val="tx1">
                    <a:tint val="75000"/>
                  </a:schemeClr>
                </a:solidFill>
              </a:defRPr>
            </a:lvl4pPr>
            <a:lvl5pPr marL="1827997" indent="0" algn="ctr">
              <a:buNone/>
              <a:defRPr>
                <a:solidFill>
                  <a:schemeClr val="tx1">
                    <a:tint val="75000"/>
                  </a:schemeClr>
                </a:solidFill>
              </a:defRPr>
            </a:lvl5pPr>
            <a:lvl6pPr marL="2284997" indent="0" algn="ctr">
              <a:buNone/>
              <a:defRPr>
                <a:solidFill>
                  <a:schemeClr val="tx1">
                    <a:tint val="75000"/>
                  </a:schemeClr>
                </a:solidFill>
              </a:defRPr>
            </a:lvl6pPr>
            <a:lvl7pPr marL="2741997" indent="0" algn="ctr">
              <a:buNone/>
              <a:defRPr>
                <a:solidFill>
                  <a:schemeClr val="tx1">
                    <a:tint val="75000"/>
                  </a:schemeClr>
                </a:solidFill>
              </a:defRPr>
            </a:lvl7pPr>
            <a:lvl8pPr marL="3198995" indent="0" algn="ctr">
              <a:buNone/>
              <a:defRPr>
                <a:solidFill>
                  <a:schemeClr val="tx1">
                    <a:tint val="75000"/>
                  </a:schemeClr>
                </a:solidFill>
              </a:defRPr>
            </a:lvl8pPr>
            <a:lvl9pPr marL="3655995" indent="0" algn="ctr">
              <a:buNone/>
              <a:defRPr>
                <a:solidFill>
                  <a:schemeClr val="tx1">
                    <a:tint val="75000"/>
                  </a:schemeClr>
                </a:solidFill>
              </a:defRPr>
            </a:lvl9pPr>
          </a:lstStyle>
          <a:p>
            <a:pPr defTabSz="455613">
              <a:defRPr/>
            </a:pPr>
            <a:r>
              <a:rPr lang="en-US">
                <a:ea typeface="Myriad Pro Light"/>
                <a:cs typeface="Myriad Pro Light"/>
              </a:rPr>
              <a:t>Project Start Architecture</a:t>
            </a:r>
          </a:p>
        </p:txBody>
      </p:sp>
      <p:sp>
        <p:nvSpPr>
          <p:cNvPr id="8" name="Tijdelijke aanduiding voor tekst 7"/>
          <p:cNvSpPr>
            <a:spLocks noGrp="1"/>
          </p:cNvSpPr>
          <p:nvPr>
            <p:ph type="body" sz="quarter" idx="11" hasCustomPrompt="1"/>
          </p:nvPr>
        </p:nvSpPr>
        <p:spPr>
          <a:xfrm flipH="1">
            <a:off x="1943997" y="3937656"/>
            <a:ext cx="4068003" cy="349702"/>
          </a:xfrm>
          <a:prstGeom prst="rect">
            <a:avLst/>
          </a:prstGeom>
        </p:spPr>
        <p:txBody>
          <a:bodyPr wrap="square" lIns="144000" tIns="36000" rIns="144000" bIns="36000" anchor="b">
            <a:spAutoFit/>
          </a:bodyPr>
          <a:lstStyle>
            <a:lvl1pPr marL="0" indent="0" eaLnBrk="1" hangingPunct="1">
              <a:spcBef>
                <a:spcPts val="0"/>
              </a:spcBef>
              <a:buNone/>
              <a:defRPr sz="1800" b="0" i="0" baseline="0">
                <a:solidFill>
                  <a:srgbClr val="5E6A71"/>
                </a:solidFill>
                <a:latin typeface="+mn-lt"/>
                <a:cs typeface="Myriad Pro" pitchFamily="34" charset="0"/>
              </a:defRPr>
            </a:lvl1pPr>
          </a:lstStyle>
          <a:p>
            <a:pPr marL="0" indent="0" eaLnBrk="1" hangingPunct="1">
              <a:defRPr/>
            </a:pPr>
            <a:r>
              <a:rPr lang="en-US">
                <a:solidFill>
                  <a:srgbClr val="7F7F7F"/>
                </a:solidFill>
                <a:ea typeface="Myriad Pro"/>
                <a:cs typeface="Myriad Pro"/>
              </a:rPr>
              <a:t>&lt;Author&gt;/ &lt;YYYY-MM-DD&gt; / &lt;Version&gt;</a:t>
            </a:r>
          </a:p>
        </p:txBody>
      </p:sp>
      <p:sp>
        <p:nvSpPr>
          <p:cNvPr id="13" name="Rechthoek 12"/>
          <p:cNvSpPr/>
          <p:nvPr/>
        </p:nvSpPr>
        <p:spPr>
          <a:xfrm>
            <a:off x="5892801" y="3302973"/>
            <a:ext cx="194334" cy="409137"/>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41521"/>
            <a:ext cx="6151950" cy="1279066"/>
          </a:xfrm>
          <a:prstGeom prst="round1Rect">
            <a:avLst>
              <a:gd name="adj" fmla="val 11967"/>
            </a:avLst>
          </a:prstGeom>
          <a:solidFill>
            <a:schemeClr val="accent1"/>
          </a:solidFill>
          <a:ln w="19050" cmpd="sng">
            <a:solidFill>
              <a:schemeClr val="bg1"/>
            </a:solidFill>
          </a:ln>
        </p:spPr>
        <p:txBody>
          <a:bodyPr wrap="square" lIns="504000" tIns="126000" rIns="108000" bIns="144000" anchor="b">
            <a:spAutoFit/>
          </a:bodyPr>
          <a:lstStyle>
            <a:lvl1pPr>
              <a:defRPr sz="3600" baseline="0">
                <a:solidFill>
                  <a:srgbClr val="FFFFFF"/>
                </a:solidFill>
              </a:defRPr>
            </a:lvl1pPr>
          </a:lstStyle>
          <a:p>
            <a:br>
              <a:rPr lang="en-GB" noProof="0"/>
            </a:br>
            <a:r>
              <a:rPr lang="en-US">
                <a:ea typeface="Myriad Pro Light" pitchFamily="34" charset="0"/>
                <a:cs typeface="Myriad Pro Light" pitchFamily="34" charset="0"/>
              </a:rPr>
              <a:t>&lt;Name of the change&gt;</a:t>
            </a:r>
            <a:endParaRPr lang="en-GB" noProof="0"/>
          </a:p>
        </p:txBody>
      </p:sp>
      <p:sp>
        <p:nvSpPr>
          <p:cNvPr id="10" name="Rechthoek 9"/>
          <p:cNvSpPr/>
          <p:nvPr userDrawn="1"/>
        </p:nvSpPr>
        <p:spPr>
          <a:xfrm>
            <a:off x="8141018" y="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en-GB" sz="1800" b="0" i="0" u="none" strike="noStrike" kern="0" cap="none" spc="0" normalizeH="0" baseline="0" noProof="0">
              <a:ln>
                <a:noFill/>
              </a:ln>
              <a:solidFill>
                <a:srgbClr val="000000"/>
              </a:solidFill>
              <a:effectLst/>
              <a:uLnTx/>
              <a:uFillTx/>
              <a:ea typeface="+mn-ea"/>
              <a:cs typeface="Myriad Pro"/>
            </a:endParaRPr>
          </a:p>
        </p:txBody>
      </p:sp>
      <p:pic>
        <p:nvPicPr>
          <p:cNvPr id="11" name="Afbeelding 9" descr="RB_logo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36821" y="3902436"/>
            <a:ext cx="607927" cy="727535"/>
          </a:xfrm>
          <a:prstGeom prst="rect">
            <a:avLst/>
          </a:prstGeom>
        </p:spPr>
      </p:pic>
    </p:spTree>
    <p:extLst>
      <p:ext uri="{BB962C8B-B14F-4D97-AF65-F5344CB8AC3E}">
        <p14:creationId xmlns:p14="http://schemas.microsoft.com/office/powerpoint/2010/main" val="141481955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noProof="0"/>
              <a:t>Klik om de stijl te bewerken</a:t>
            </a:r>
            <a:endParaRPr lang="en-GB" noProof="0"/>
          </a:p>
        </p:txBody>
      </p:sp>
      <p:sp>
        <p:nvSpPr>
          <p:cNvPr id="3" name="Tijdelijke aanduiding voor dianummer 2"/>
          <p:cNvSpPr>
            <a:spLocks noGrp="1"/>
          </p:cNvSpPr>
          <p:nvPr>
            <p:ph type="sldNum" sz="quarter" idx="10"/>
          </p:nvPr>
        </p:nvSpPr>
        <p:spPr>
          <a:xfrm>
            <a:off x="8452463" y="4561284"/>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2" y="1402915"/>
            <a:ext cx="7804586" cy="3092885"/>
          </a:xfrm>
        </p:spPr>
        <p:txBody>
          <a:bodyPr/>
          <a:lstStyle>
            <a:lvl2pPr>
              <a:lnSpc>
                <a:spcPct val="100000"/>
              </a:lnSpc>
              <a:defRPr/>
            </a:lvl2pPr>
            <a:lvl3pPr>
              <a:lnSpc>
                <a:spcPct val="100000"/>
              </a:lnSpc>
              <a:defRPr/>
            </a:lvl3pPr>
            <a:lvl4pPr marL="933750" indent="-285750">
              <a:lnSpc>
                <a:spcPct val="100000"/>
              </a:lnSpc>
              <a:buFont typeface="Arial" panose="020B0604020202020204" pitchFamily="34" charset="0"/>
              <a:buChar char="•"/>
              <a:defRPr/>
            </a:lvl4pPr>
            <a:lvl5pPr>
              <a:lnSpc>
                <a:spcPct val="100000"/>
              </a:lnSpc>
              <a:defRPr/>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tekst 6"/>
          <p:cNvSpPr>
            <a:spLocks noGrp="1"/>
          </p:cNvSpPr>
          <p:nvPr>
            <p:ph type="body" sz="quarter" idx="12"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kumimoji="0" lang="nl-NL" sz="1200" b="0" i="0" u="none" strike="noStrike" kern="1200" cap="none" spc="0" normalizeH="0" baseline="0" noProof="0" dirty="0">
                <a:ln>
                  <a:noFill/>
                </a:ln>
                <a:solidFill>
                  <a:srgbClr val="5E6A71"/>
                </a:solidFill>
                <a:effectLst/>
                <a:uLnTx/>
                <a:uFillTx/>
                <a:latin typeface="+mn-lt"/>
                <a:ea typeface="+mn-ea"/>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Footnote</a:t>
            </a:r>
            <a:endParaRPr lang="nl-NL"/>
          </a:p>
        </p:txBody>
      </p:sp>
    </p:spTree>
    <p:extLst>
      <p:ext uri="{BB962C8B-B14F-4D97-AF65-F5344CB8AC3E}">
        <p14:creationId xmlns:p14="http://schemas.microsoft.com/office/powerpoint/2010/main" val="214634684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 slide with subtit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nl-NL" smtClean="0"/>
              <a:pPr/>
              <a:t>‹#›</a:t>
            </a:fld>
            <a:endParaRPr lang="nl-NL"/>
          </a:p>
        </p:txBody>
      </p:sp>
      <p:sp>
        <p:nvSpPr>
          <p:cNvPr id="6" name="Tijdelijke aanduiding voor tekst 5"/>
          <p:cNvSpPr>
            <a:spLocks noGrp="1"/>
          </p:cNvSpPr>
          <p:nvPr>
            <p:ph type="body" sz="quarter" idx="12" hasCustomPrompt="1"/>
          </p:nvPr>
        </p:nvSpPr>
        <p:spPr>
          <a:xfrm>
            <a:off x="476250" y="1346200"/>
            <a:ext cx="7804151" cy="330200"/>
          </a:xfrm>
        </p:spPr>
        <p:txBody>
          <a:bodyPr/>
          <a:lstStyle>
            <a:lvl1pPr marL="0" indent="0">
              <a:buNone/>
              <a:defRPr b="1" i="1">
                <a:solidFill>
                  <a:schemeClr val="accent2"/>
                </a:solidFill>
              </a:defRPr>
            </a:lvl1pPr>
          </a:lstStyle>
          <a:p>
            <a:pPr lvl="0"/>
            <a:r>
              <a:rPr lang="en-US"/>
              <a:t>Click to add subtitle</a:t>
            </a:r>
          </a:p>
        </p:txBody>
      </p:sp>
      <p:sp>
        <p:nvSpPr>
          <p:cNvPr id="7" name="Content Placeholder 6"/>
          <p:cNvSpPr>
            <a:spLocks noGrp="1"/>
          </p:cNvSpPr>
          <p:nvPr>
            <p:ph sz="quarter" idx="13"/>
          </p:nvPr>
        </p:nvSpPr>
        <p:spPr>
          <a:xfrm>
            <a:off x="476250" y="1677600"/>
            <a:ext cx="7804800" cy="2812981"/>
          </a:xfrm>
        </p:spPr>
        <p:txBody>
          <a:bodyPr/>
          <a:lstStyle>
            <a:lvl4pPr marL="933750" indent="-285750">
              <a:buFont typeface="Arial" panose="020B0604020202020204" pitchFamily="34" charset="0"/>
              <a:buChar char="•"/>
              <a:defRPr/>
            </a:lvl4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sp>
        <p:nvSpPr>
          <p:cNvPr id="9"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marR="0" indent="0" algn="l" defTabSz="456999" rtl="0" eaLnBrk="1" fontAlgn="auto" latinLnBrk="0" hangingPunct="1">
              <a:lnSpc>
                <a:spcPct val="100000"/>
              </a:lnSpc>
              <a:spcBef>
                <a:spcPct val="20000"/>
              </a:spcBef>
              <a:spcAft>
                <a:spcPts val="0"/>
              </a:spcAft>
              <a:buClr>
                <a:schemeClr val="accent2"/>
              </a:buClr>
              <a:buSzPct val="90000"/>
              <a:buFont typeface="Lucida Grande"/>
              <a:buNone/>
              <a:tabLst/>
              <a:defRPr lang="nl-NL" sz="1200" dirty="0">
                <a:solidFill>
                  <a:srgbClr val="5E6A71"/>
                </a:solidFill>
                <a:cs typeface="+mn-cs"/>
              </a:defRPr>
            </a:lvl1pPr>
          </a:lstStyle>
          <a:p>
            <a:pPr marL="0" marR="0" lvl="0" indent="0" algn="l" defTabSz="456999" rtl="0" eaLnBrk="1" fontAlgn="auto" latinLnBrk="0" hangingPunct="1">
              <a:lnSpc>
                <a:spcPct val="100000"/>
              </a:lnSpc>
              <a:spcBef>
                <a:spcPct val="20000"/>
              </a:spcBef>
              <a:spcAft>
                <a:spcPts val="0"/>
              </a:spcAft>
              <a:buClr>
                <a:schemeClr val="accent2"/>
              </a:buClr>
              <a:buSzPct val="90000"/>
              <a:buFont typeface="Lucida Grande"/>
              <a:buNone/>
              <a:tabLst/>
              <a:defRPr/>
            </a:pPr>
            <a:r>
              <a:rPr lang="nl-NL" err="1"/>
              <a:t>Subtitle</a:t>
            </a:r>
            <a:endParaRPr lang="nl-NL"/>
          </a:p>
        </p:txBody>
      </p:sp>
      <p:sp>
        <p:nvSpPr>
          <p:cNvPr id="10" name="Tijdelijke aanduiding voor tekst 8"/>
          <p:cNvSpPr>
            <a:spLocks noGrp="1"/>
          </p:cNvSpPr>
          <p:nvPr>
            <p:ph type="body" sz="quarter" idx="15" hasCustomPrompt="1"/>
          </p:nvPr>
        </p:nvSpPr>
        <p:spPr>
          <a:xfrm>
            <a:off x="476250" y="4561285"/>
            <a:ext cx="7804150" cy="204787"/>
          </a:xfrm>
        </p:spPr>
        <p:txBody>
          <a:bodyPr vert="horz" lIns="0" tIns="45720" rIns="0" bIns="45720" rtlCol="0" anchor="ctr">
            <a:noAutofit/>
          </a:bodyPr>
          <a:lstStyle>
            <a:lvl1pPr>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buNone/>
            </a:pPr>
            <a:r>
              <a:rPr lang="nl-NL" err="1"/>
              <a:t>Footnote</a:t>
            </a:r>
            <a:endParaRPr lang="nl-NL"/>
          </a:p>
        </p:txBody>
      </p:sp>
    </p:spTree>
    <p:extLst>
      <p:ext uri="{BB962C8B-B14F-4D97-AF65-F5344CB8AC3E}">
        <p14:creationId xmlns:p14="http://schemas.microsoft.com/office/powerpoint/2010/main" val="90889078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3782918" cy="3148126"/>
          </a:xfrm>
        </p:spPr>
        <p:txBody>
          <a:bodyPr/>
          <a:lstStyle>
            <a:lvl1pPr>
              <a:defRPr sz="2000"/>
            </a:lvl1pPr>
            <a:lvl2pPr>
              <a:defRPr sz="1800"/>
            </a:lvl2pPr>
            <a:lvl3pPr>
              <a:defRPr sz="1600"/>
            </a:lvl3pPr>
            <a:lvl4pPr marL="933750" indent="-285750">
              <a:buFont typeface="Arial" panose="020B0604020202020204" pitchFamily="34" charset="0"/>
              <a:buChar char="•"/>
              <a:defRPr sz="1600"/>
            </a:lvl4pPr>
            <a:lvl5pPr>
              <a:defRPr sz="1600"/>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sp>
        <p:nvSpPr>
          <p:cNvPr id="7" name="Tijdelijke aanduiding voor inhoud 6"/>
          <p:cNvSpPr>
            <a:spLocks noGrp="1"/>
          </p:cNvSpPr>
          <p:nvPr>
            <p:ph sz="quarter" idx="12"/>
          </p:nvPr>
        </p:nvSpPr>
        <p:spPr>
          <a:xfrm>
            <a:off x="4487334" y="1329929"/>
            <a:ext cx="3793067"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Footnote</a:t>
            </a:r>
            <a:endParaRPr lang="nl-NL"/>
          </a:p>
        </p:txBody>
      </p:sp>
    </p:spTree>
    <p:extLst>
      <p:ext uri="{BB962C8B-B14F-4D97-AF65-F5344CB8AC3E}">
        <p14:creationId xmlns:p14="http://schemas.microsoft.com/office/powerpoint/2010/main" val="79094614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s with captio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52463" y="4565512"/>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663700"/>
            <a:ext cx="3782918" cy="2833144"/>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4487334" y="1663700"/>
            <a:ext cx="3793067" cy="2833144"/>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6" name="Tijdelijke aanduiding voor tekst 5"/>
          <p:cNvSpPr>
            <a:spLocks noGrp="1"/>
          </p:cNvSpPr>
          <p:nvPr>
            <p:ph type="body" sz="quarter" idx="13" hasCustomPrompt="1"/>
          </p:nvPr>
        </p:nvSpPr>
        <p:spPr>
          <a:xfrm>
            <a:off x="475815" y="1346598"/>
            <a:ext cx="3783448" cy="316706"/>
          </a:xfrm>
        </p:spPr>
        <p:txBody>
          <a:bodyPr>
            <a:noAutofit/>
          </a:bodyPr>
          <a:lstStyle>
            <a:lvl1pPr marL="0" indent="0">
              <a:buNone/>
              <a:defRPr sz="1800" b="1" i="1">
                <a:solidFill>
                  <a:srgbClr val="FF6600"/>
                </a:solidFill>
              </a:defRPr>
            </a:lvl1pPr>
          </a:lstStyle>
          <a:p>
            <a:pPr lvl="0"/>
            <a:r>
              <a:rPr lang="en-GB" noProof="0"/>
              <a:t>Click to add column title</a:t>
            </a:r>
          </a:p>
        </p:txBody>
      </p:sp>
      <p:sp>
        <p:nvSpPr>
          <p:cNvPr id="8" name="Tijdelijke aanduiding voor tekst 5"/>
          <p:cNvSpPr>
            <a:spLocks noGrp="1"/>
          </p:cNvSpPr>
          <p:nvPr>
            <p:ph type="body" sz="quarter" idx="14" hasCustomPrompt="1"/>
          </p:nvPr>
        </p:nvSpPr>
        <p:spPr>
          <a:xfrm>
            <a:off x="4487334" y="1346598"/>
            <a:ext cx="3793067" cy="316706"/>
          </a:xfrm>
        </p:spPr>
        <p:txBody>
          <a:bodyPr>
            <a:noAutofit/>
          </a:bodyPr>
          <a:lstStyle>
            <a:lvl1pPr marL="0" indent="0">
              <a:buNone/>
              <a:defRPr sz="1800" b="1" i="1">
                <a:solidFill>
                  <a:srgbClr val="FF6600"/>
                </a:solidFill>
              </a:defRPr>
            </a:lvl1pPr>
          </a:lstStyle>
          <a:p>
            <a:pPr lvl="0"/>
            <a:r>
              <a:rPr lang="en-GB" noProof="0"/>
              <a:t>Click to add column title</a:t>
            </a:r>
          </a:p>
        </p:txBody>
      </p:sp>
      <p:sp>
        <p:nvSpPr>
          <p:cNvPr id="10"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11" name="Tijdelijke aanduiding voor tekst 8"/>
          <p:cNvSpPr>
            <a:spLocks noGrp="1"/>
          </p:cNvSpPr>
          <p:nvPr>
            <p:ph type="body" sz="quarter" idx="16"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Footnote</a:t>
            </a:r>
            <a:endParaRPr lang="nl-NL"/>
          </a:p>
        </p:txBody>
      </p:sp>
    </p:spTree>
    <p:extLst>
      <p:ext uri="{BB962C8B-B14F-4D97-AF65-F5344CB8AC3E}">
        <p14:creationId xmlns:p14="http://schemas.microsoft.com/office/powerpoint/2010/main" val="117569208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s wide/narrow">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5019052"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5731934" y="1329929"/>
            <a:ext cx="2548466"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Footnote</a:t>
            </a:r>
            <a:endParaRPr lang="nl-NL"/>
          </a:p>
        </p:txBody>
      </p:sp>
    </p:spTree>
    <p:extLst>
      <p:ext uri="{BB962C8B-B14F-4D97-AF65-F5344CB8AC3E}">
        <p14:creationId xmlns:p14="http://schemas.microsoft.com/office/powerpoint/2010/main" val="17894187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narrow/w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2538318"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3259668" y="1329929"/>
            <a:ext cx="5020733"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buNone/>
            </a:pPr>
            <a:r>
              <a:rPr lang="nl-NL" err="1"/>
              <a:t>Footnote</a:t>
            </a:r>
            <a:endParaRPr lang="nl-NL"/>
          </a:p>
        </p:txBody>
      </p:sp>
    </p:spTree>
    <p:extLst>
      <p:ext uri="{BB962C8B-B14F-4D97-AF65-F5344CB8AC3E}">
        <p14:creationId xmlns:p14="http://schemas.microsoft.com/office/powerpoint/2010/main" val="97799261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52463" y="4573810"/>
            <a:ext cx="642937" cy="204788"/>
          </a:xfrm>
        </p:spPr>
        <p:txBody>
          <a:bodyPr/>
          <a:lstStyle/>
          <a:p>
            <a:fld id="{4821C4A5-98F2-7545-875B-39B2F4500447}" type="slidenum">
              <a:rPr lang="en-GB" noProof="0" smtClean="0"/>
              <a:pPr/>
              <a:t>‹#›</a:t>
            </a:fld>
            <a:endParaRPr lang="en-GB" noProof="0"/>
          </a:p>
        </p:txBody>
      </p:sp>
      <p:sp>
        <p:nvSpPr>
          <p:cNvPr id="7" name="Tijdelijke aanduiding voor inhoud 6"/>
          <p:cNvSpPr>
            <a:spLocks noGrp="1"/>
          </p:cNvSpPr>
          <p:nvPr>
            <p:ph sz="quarter" idx="12"/>
          </p:nvPr>
        </p:nvSpPr>
        <p:spPr>
          <a:xfrm>
            <a:off x="3150466" y="1329929"/>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6" name="Tijdelijke aanduiding voor inhoud 6"/>
          <p:cNvSpPr>
            <a:spLocks noGrp="1"/>
          </p:cNvSpPr>
          <p:nvPr>
            <p:ph sz="quarter" idx="13"/>
          </p:nvPr>
        </p:nvSpPr>
        <p:spPr>
          <a:xfrm>
            <a:off x="5832400" y="1329929"/>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inhoud 6"/>
          <p:cNvSpPr>
            <a:spLocks noGrp="1"/>
          </p:cNvSpPr>
          <p:nvPr>
            <p:ph sz="quarter" idx="14"/>
          </p:nvPr>
        </p:nvSpPr>
        <p:spPr>
          <a:xfrm>
            <a:off x="475815" y="1329929"/>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10"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11" name="Tijdelijke aanduiding voor tekst 8"/>
          <p:cNvSpPr>
            <a:spLocks noGrp="1"/>
          </p:cNvSpPr>
          <p:nvPr>
            <p:ph type="body" sz="quarter" idx="16"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Footnote</a:t>
            </a:r>
            <a:endParaRPr lang="nl-NL"/>
          </a:p>
        </p:txBody>
      </p:sp>
    </p:spTree>
    <p:extLst>
      <p:ext uri="{BB962C8B-B14F-4D97-AF65-F5344CB8AC3E}">
        <p14:creationId xmlns:p14="http://schemas.microsoft.com/office/powerpoint/2010/main" val="403019427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45392" y="4564310"/>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6"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Footnote</a:t>
            </a:r>
            <a:endParaRPr lang="nl-NL"/>
          </a:p>
        </p:txBody>
      </p:sp>
    </p:spTree>
    <p:extLst>
      <p:ext uri="{BB962C8B-B14F-4D97-AF65-F5344CB8AC3E}">
        <p14:creationId xmlns:p14="http://schemas.microsoft.com/office/powerpoint/2010/main" val="233579759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ansition slide">
    <p:spTree>
      <p:nvGrpSpPr>
        <p:cNvPr id="1" name=""/>
        <p:cNvGrpSpPr/>
        <p:nvPr/>
      </p:nvGrpSpPr>
      <p:grpSpPr>
        <a:xfrm>
          <a:off x="0" y="0"/>
          <a:ext cx="0" cy="0"/>
          <a:chOff x="0" y="0"/>
          <a:chExt cx="0" cy="0"/>
        </a:xfrm>
      </p:grpSpPr>
      <p:sp>
        <p:nvSpPr>
          <p:cNvPr id="2" name="Rechthoek 1"/>
          <p:cNvSpPr/>
          <p:nvPr/>
        </p:nvSpPr>
        <p:spPr>
          <a:xfrm>
            <a:off x="7703818" y="4158802"/>
            <a:ext cx="1153160" cy="394596"/>
          </a:xfrm>
          <a:prstGeom prst="rect">
            <a:avLst/>
          </a:prstGeom>
          <a:solidFill>
            <a:schemeClr val="bg1"/>
          </a:solidFill>
          <a:ln w="6350" cap="flat" cmpd="sng" algn="ctr">
            <a:noFill/>
            <a:prstDash val="solid"/>
          </a:ln>
          <a:effectLst/>
        </p:spPr>
        <p:txBody>
          <a:bodyPr rot="0" spcFirstLastPara="0" vertOverflow="overflow" horzOverflow="overflow" vert="horz" wrap="square" lIns="0" tIns="46800" rIns="0" bIns="468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5" name="Tijdelijke aanduiding voor dianummer 4"/>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9" name="Titel 1"/>
          <p:cNvSpPr>
            <a:spLocks noGrp="1"/>
          </p:cNvSpPr>
          <p:nvPr>
            <p:ph type="title"/>
          </p:nvPr>
        </p:nvSpPr>
        <p:spPr>
          <a:xfrm>
            <a:off x="475814" y="1777271"/>
            <a:ext cx="7804586" cy="564257"/>
          </a:xfrm>
          <a:effectLst/>
        </p:spPr>
        <p:txBody>
          <a:bodyPr anchor="b">
            <a:spAutoFit/>
          </a:bodyPr>
          <a:lstStyle>
            <a:lvl1pPr>
              <a:defRPr sz="4000" b="0" i="0">
                <a:solidFill>
                  <a:schemeClr val="accent2"/>
                </a:solidFill>
              </a:defRPr>
            </a:lvl1pPr>
          </a:lstStyle>
          <a:p>
            <a:r>
              <a:rPr lang="nl-NL" noProof="0"/>
              <a:t>Klik om de stijl te bewerken</a:t>
            </a:r>
            <a:endParaRPr lang="en-GB" noProof="0"/>
          </a:p>
        </p:txBody>
      </p:sp>
      <p:sp>
        <p:nvSpPr>
          <p:cNvPr id="6" name="Tijdelijke aanduiding voor tekst 5"/>
          <p:cNvSpPr>
            <a:spLocks noGrp="1"/>
          </p:cNvSpPr>
          <p:nvPr>
            <p:ph type="body" sz="quarter" idx="11" hasCustomPrompt="1"/>
          </p:nvPr>
        </p:nvSpPr>
        <p:spPr>
          <a:xfrm>
            <a:off x="501650" y="2430031"/>
            <a:ext cx="7778749" cy="461665"/>
          </a:xfrm>
        </p:spPr>
        <p:txBody>
          <a:bodyPr wrap="square">
            <a:spAutoFit/>
          </a:bodyPr>
          <a:lstStyle>
            <a:lvl1pPr marL="0" indent="0">
              <a:lnSpc>
                <a:spcPct val="100000"/>
              </a:lnSpc>
              <a:spcBef>
                <a:spcPts val="0"/>
              </a:spcBef>
              <a:buNone/>
              <a:defRPr sz="2400" b="1" i="1" baseline="0">
                <a:solidFill>
                  <a:schemeClr val="tx2"/>
                </a:solidFill>
              </a:defRPr>
            </a:lvl1pPr>
          </a:lstStyle>
          <a:p>
            <a:pPr lvl="0"/>
            <a:r>
              <a:rPr lang="en-GB" noProof="0"/>
              <a:t>Click to add subtitle</a:t>
            </a:r>
          </a:p>
        </p:txBody>
      </p:sp>
      <p:sp>
        <p:nvSpPr>
          <p:cNvPr id="8" name="Rechthoek 7"/>
          <p:cNvSpPr/>
          <p:nvPr userDrawn="1"/>
        </p:nvSpPr>
        <p:spPr>
          <a:xfrm>
            <a:off x="7703818" y="4158802"/>
            <a:ext cx="1153160" cy="394596"/>
          </a:xfrm>
          <a:prstGeom prst="rect">
            <a:avLst/>
          </a:prstGeom>
          <a:solidFill>
            <a:schemeClr val="bg1"/>
          </a:solidFill>
          <a:ln w="6350" cap="flat" cmpd="sng" algn="ctr">
            <a:noFill/>
            <a:prstDash val="solid"/>
          </a:ln>
          <a:effectLst/>
        </p:spPr>
        <p:txBody>
          <a:bodyPr rot="0" spcFirstLastPara="0" vertOverflow="overflow" horzOverflow="overflow" vert="horz" wrap="square" lIns="0" tIns="46800" rIns="0" bIns="468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Tree>
    <p:extLst>
      <p:ext uri="{BB962C8B-B14F-4D97-AF65-F5344CB8AC3E}">
        <p14:creationId xmlns:p14="http://schemas.microsoft.com/office/powerpoint/2010/main" val="20281848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a:t>Click to edit Master title style</a:t>
            </a:r>
            <a:endParaRPr lang="nl-NL"/>
          </a:p>
        </p:txBody>
      </p:sp>
      <p:sp>
        <p:nvSpPr>
          <p:cNvPr id="3" name="Tijdelijke aanduiding voor dianummer 2"/>
          <p:cNvSpPr>
            <a:spLocks noGrp="1"/>
          </p:cNvSpPr>
          <p:nvPr>
            <p:ph type="sldNum" sz="quarter" idx="10"/>
          </p:nvPr>
        </p:nvSpPr>
        <p:spPr>
          <a:xfrm>
            <a:off x="7637465" y="4862518"/>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4" name="Tijdelijke aanduiding voor voettekst 3"/>
          <p:cNvSpPr>
            <a:spLocks noGrp="1"/>
          </p:cNvSpPr>
          <p:nvPr>
            <p:ph type="ftr" sz="quarter" idx="3"/>
          </p:nvPr>
        </p:nvSpPr>
        <p:spPr>
          <a:xfrm>
            <a:off x="475812" y="4862518"/>
            <a:ext cx="7042588" cy="204788"/>
          </a:xfrm>
          <a:prstGeom prst="rect">
            <a:avLst/>
          </a:prstGeom>
        </p:spPr>
        <p:txBody>
          <a:bodyPr vert="horz" lIns="0" tIns="45720" rIns="0" bIns="45720" rtlCol="0" anchor="ctr"/>
          <a:lstStyle>
            <a:lvl1pPr algn="l">
              <a:defRPr sz="1200">
                <a:solidFill>
                  <a:srgbClr val="5E6A71"/>
                </a:solidFill>
              </a:defRPr>
            </a:lvl1pPr>
          </a:lstStyle>
          <a:p>
            <a:endParaRPr lang="en-GB" noProof="0"/>
          </a:p>
        </p:txBody>
      </p:sp>
    </p:spTree>
    <p:extLst>
      <p:ext uri="{BB962C8B-B14F-4D97-AF65-F5344CB8AC3E}">
        <p14:creationId xmlns:p14="http://schemas.microsoft.com/office/powerpoint/2010/main" val="176221882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Basic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noProof="0"/>
              <a:t>Click to edit Master title style</a:t>
            </a:r>
            <a:endParaRPr lang="en-GB" noProof="0"/>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4" y="1336196"/>
            <a:ext cx="7804586" cy="3429000"/>
          </a:xfrm>
        </p:spPr>
        <p:txBody>
          <a:bodyPr/>
          <a:lstStyle>
            <a:lvl2pPr>
              <a:lnSpc>
                <a:spcPct val="100000"/>
              </a:lnSpc>
              <a:defRPr/>
            </a:lvl2pPr>
            <a:lvl3pPr>
              <a:lnSpc>
                <a:spcPct val="100000"/>
              </a:lnSpc>
              <a:defRPr/>
            </a:lvl3pPr>
            <a:lvl4pPr marL="933750" indent="-285750">
              <a:lnSpc>
                <a:spcPct val="100000"/>
              </a:lnSpc>
              <a:buFont typeface="Arial" panose="020B0604020202020204" pitchFamily="34" charset="0"/>
              <a:buChar char="•"/>
              <a:defRPr/>
            </a:lvl4pPr>
            <a:lvl5pPr>
              <a:lnSpc>
                <a:spcPct val="100000"/>
              </a:lnSpc>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5E6A71"/>
                </a:solidFill>
              </a:defRPr>
            </a:lvl1pPr>
          </a:lstStyle>
          <a:p>
            <a:endParaRPr lang="en-GB" noProof="0"/>
          </a:p>
        </p:txBody>
      </p:sp>
    </p:spTree>
    <p:extLst>
      <p:ext uri="{BB962C8B-B14F-4D97-AF65-F5344CB8AC3E}">
        <p14:creationId xmlns:p14="http://schemas.microsoft.com/office/powerpoint/2010/main" val="6633632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Title, Subtitle and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0" i="0">
                <a:latin typeface="Myriad for Rabobank Bd It" panose="020B0703030403090204" pitchFamily="34" charset="0"/>
              </a:defRPr>
            </a:lvl1pPr>
          </a:lstStyle>
          <a:p>
            <a:endParaRPr lang="nl-NL"/>
          </a:p>
        </p:txBody>
      </p:sp>
      <p:sp>
        <p:nvSpPr>
          <p:cNvPr id="6" name="Tijdelijke aanduiding voor tekst 5"/>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7" name="Content Placeholder 6"/>
          <p:cNvSpPr>
            <a:spLocks noGrp="1"/>
          </p:cNvSpPr>
          <p:nvPr>
            <p:ph sz="quarter" idx="13"/>
          </p:nvPr>
        </p:nvSpPr>
        <p:spPr>
          <a:xfrm>
            <a:off x="476250" y="1288800"/>
            <a:ext cx="819255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1" name="Rechthoek 10" hidden="1">
            <a:extLst>
              <a:ext uri="{FF2B5EF4-FFF2-40B4-BE49-F238E27FC236}">
                <a16:creationId xmlns:a16="http://schemas.microsoft.com/office/drawing/2014/main" id="{8774F88B-DD7B-4C41-8301-5321F2953376}"/>
              </a:ext>
            </a:extLst>
          </p:cNvPr>
          <p:cNvSpPr/>
          <p:nvPr userDrawn="1"/>
        </p:nvSpPr>
        <p:spPr>
          <a:xfrm>
            <a:off x="471600" y="908898"/>
            <a:ext cx="8197200" cy="13680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3" name="Slide Number Placeholder 2">
            <a:extLst>
              <a:ext uri="{FF2B5EF4-FFF2-40B4-BE49-F238E27FC236}">
                <a16:creationId xmlns:a16="http://schemas.microsoft.com/office/drawing/2014/main" id="{FC72ECF0-E70F-40BD-8216-0339343489D6}"/>
              </a:ext>
            </a:extLst>
          </p:cNvPr>
          <p:cNvSpPr>
            <a:spLocks noGrp="1"/>
          </p:cNvSpPr>
          <p:nvPr>
            <p:ph type="sldNum" sz="quarter" idx="14"/>
          </p:nvPr>
        </p:nvSpPr>
        <p:spPr/>
        <p:txBody>
          <a:bodyPr/>
          <a:lstStyle/>
          <a:p>
            <a:fld id="{14A8E892-9D3D-449A-93AD-1E7955DBB18F}" type="slidenum">
              <a:rPr lang="en-GB" smtClean="0"/>
              <a:pPr/>
              <a:t>‹#›</a:t>
            </a:fld>
            <a:endParaRPr lang="en-GB"/>
          </a:p>
        </p:txBody>
      </p:sp>
      <p:pic>
        <p:nvPicPr>
          <p:cNvPr id="1820327462" name="image" descr="{&quot;templafy&quot;:{&quot;id&quot;:&quot;a4227cf0-0711-42b8-a203-017d123b656a&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389993612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hthoek 1"/>
          <p:cNvSpPr/>
          <p:nvPr userDrawn="1"/>
        </p:nvSpPr>
        <p:spPr>
          <a:xfrm>
            <a:off x="7735331"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5" name="Picture Placeholder 4"/>
          <p:cNvSpPr>
            <a:spLocks noGrp="1"/>
          </p:cNvSpPr>
          <p:nvPr>
            <p:ph type="pic" sz="quarter" idx="13" hasCustomPrompt="1"/>
          </p:nvPr>
        </p:nvSpPr>
        <p:spPr>
          <a:xfrm>
            <a:off x="0" y="1"/>
            <a:ext cx="9149638" cy="3411061"/>
          </a:xfrm>
          <a:solidFill>
            <a:srgbClr val="EAEAEA"/>
          </a:solidFill>
        </p:spPr>
        <p:txBody>
          <a:bodyPr/>
          <a:lstStyle>
            <a:lvl1pPr marL="0" indent="0" algn="ctr">
              <a:buNone/>
              <a:defRPr sz="1200">
                <a:solidFill>
                  <a:schemeClr val="bg1">
                    <a:lumMod val="50000"/>
                  </a:schemeClr>
                </a:solidFill>
                <a:latin typeface="+mj-lt"/>
              </a:defRPr>
            </a:lvl1pPr>
          </a:lstStyle>
          <a:p>
            <a:r>
              <a:rPr lang="en-US"/>
              <a:t>Click the icon to add an image.</a:t>
            </a:r>
            <a:br>
              <a:rPr lang="nl-NL"/>
            </a:br>
            <a:r>
              <a:rPr lang="nl-NL"/>
              <a:t>(</a:t>
            </a:r>
            <a:r>
              <a:rPr lang="en-US"/>
              <a:t>The image will be automatically placed inside this grey box)</a:t>
            </a:r>
          </a:p>
        </p:txBody>
      </p:sp>
      <p:sp>
        <p:nvSpPr>
          <p:cNvPr id="3" name="Subtitel 2"/>
          <p:cNvSpPr>
            <a:spLocks noGrp="1"/>
          </p:cNvSpPr>
          <p:nvPr>
            <p:ph type="subTitle" idx="1" hasCustomPrompt="1"/>
          </p:nvPr>
        </p:nvSpPr>
        <p:spPr>
          <a:xfrm>
            <a:off x="1920876" y="3428328"/>
            <a:ext cx="4166260" cy="474109"/>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456988" rtl="0" eaLnBrk="1" latinLnBrk="0" hangingPunct="1">
              <a:lnSpc>
                <a:spcPct val="100000"/>
              </a:lnSpc>
              <a:spcBef>
                <a:spcPct val="0"/>
              </a:spcBef>
              <a:buNone/>
              <a:defRPr lang="nl-NL" sz="2100" b="1" i="1" kern="1200" dirty="0">
                <a:solidFill>
                  <a:schemeClr val="bg1"/>
                </a:solidFill>
                <a:latin typeface="Corbel" panose="020B0503020204020204" pitchFamily="34" charset="0"/>
                <a:ea typeface="+mn-ea"/>
                <a:cs typeface="+mn-cs"/>
              </a:defRPr>
            </a:lvl1pPr>
            <a:lvl2pPr marL="456988" indent="0" algn="ctr">
              <a:buNone/>
              <a:defRPr>
                <a:solidFill>
                  <a:schemeClr val="tx1">
                    <a:tint val="75000"/>
                  </a:schemeClr>
                </a:solidFill>
              </a:defRPr>
            </a:lvl2pPr>
            <a:lvl3pPr marL="913976" indent="0" algn="ctr">
              <a:buNone/>
              <a:defRPr>
                <a:solidFill>
                  <a:schemeClr val="tx1">
                    <a:tint val="75000"/>
                  </a:schemeClr>
                </a:solidFill>
              </a:defRPr>
            </a:lvl3pPr>
            <a:lvl4pPr marL="1370964" indent="0" algn="ctr">
              <a:buNone/>
              <a:defRPr>
                <a:solidFill>
                  <a:schemeClr val="tx1">
                    <a:tint val="75000"/>
                  </a:schemeClr>
                </a:solidFill>
              </a:defRPr>
            </a:lvl4pPr>
            <a:lvl5pPr marL="1827951" indent="0" algn="ctr">
              <a:buNone/>
              <a:defRPr>
                <a:solidFill>
                  <a:schemeClr val="tx1">
                    <a:tint val="75000"/>
                  </a:schemeClr>
                </a:solidFill>
              </a:defRPr>
            </a:lvl5pPr>
            <a:lvl6pPr marL="2284940" indent="0" algn="ctr">
              <a:buNone/>
              <a:defRPr>
                <a:solidFill>
                  <a:schemeClr val="tx1">
                    <a:tint val="75000"/>
                  </a:schemeClr>
                </a:solidFill>
              </a:defRPr>
            </a:lvl6pPr>
            <a:lvl7pPr marL="2741929" indent="0" algn="ctr">
              <a:buNone/>
              <a:defRPr>
                <a:solidFill>
                  <a:schemeClr val="tx1">
                    <a:tint val="75000"/>
                  </a:schemeClr>
                </a:solidFill>
              </a:defRPr>
            </a:lvl7pPr>
            <a:lvl8pPr marL="3198915" indent="0" algn="ctr">
              <a:buNone/>
              <a:defRPr>
                <a:solidFill>
                  <a:schemeClr val="tx1">
                    <a:tint val="75000"/>
                  </a:schemeClr>
                </a:solidFill>
              </a:defRPr>
            </a:lvl8pPr>
            <a:lvl9pPr marL="3655904" indent="0" algn="ctr">
              <a:buNone/>
              <a:defRPr>
                <a:solidFill>
                  <a:schemeClr val="tx1">
                    <a:tint val="75000"/>
                  </a:schemeClr>
                </a:solidFill>
              </a:defRPr>
            </a:lvl9pPr>
          </a:lstStyle>
          <a:p>
            <a:r>
              <a:rPr lang="en-US"/>
              <a:t>Click to enter subtitle</a:t>
            </a:r>
            <a:endParaRPr lang="nl-NL"/>
          </a:p>
        </p:txBody>
      </p:sp>
      <p:sp>
        <p:nvSpPr>
          <p:cNvPr id="8" name="Tijdelijke aanduiding voor tekst 7"/>
          <p:cNvSpPr>
            <a:spLocks noGrp="1"/>
          </p:cNvSpPr>
          <p:nvPr>
            <p:ph type="body" sz="quarter" idx="11" hasCustomPrompt="1"/>
          </p:nvPr>
        </p:nvSpPr>
        <p:spPr>
          <a:xfrm flipH="1">
            <a:off x="2026798" y="4456463"/>
            <a:ext cx="4068003" cy="349702"/>
          </a:xfrm>
          <a:prstGeom prst="rect">
            <a:avLst/>
          </a:prstGeom>
        </p:spPr>
        <p:txBody>
          <a:bodyPr wrap="square" lIns="144000" tIns="36000" rIns="144000" bIns="36000" anchor="b">
            <a:spAutoFit/>
          </a:bodyPr>
          <a:lstStyle>
            <a:lvl1pPr marL="0" indent="0">
              <a:spcBef>
                <a:spcPts val="0"/>
              </a:spcBef>
              <a:buNone/>
              <a:defRPr sz="1800" b="0" i="0" baseline="0">
                <a:solidFill>
                  <a:schemeClr val="tx1">
                    <a:lumMod val="50000"/>
                    <a:lumOff val="50000"/>
                  </a:schemeClr>
                </a:solidFill>
                <a:latin typeface="Corbel" panose="020B0503020204020204" pitchFamily="34" charset="0"/>
                <a:cs typeface="Corbel" panose="020B0503020204020204" pitchFamily="34" charset="0"/>
              </a:defRPr>
            </a:lvl1pPr>
          </a:lstStyle>
          <a:p>
            <a:pPr lvl="0"/>
            <a:r>
              <a:rPr lang="en-US"/>
              <a:t>Name speaker  –  Date</a:t>
            </a:r>
          </a:p>
        </p:txBody>
      </p:sp>
      <p:sp>
        <p:nvSpPr>
          <p:cNvPr id="13" name="Rechthoek 12"/>
          <p:cNvSpPr/>
          <p:nvPr userDrawn="1"/>
        </p:nvSpPr>
        <p:spPr>
          <a:xfrm>
            <a:off x="5892801" y="3300666"/>
            <a:ext cx="194334" cy="413753"/>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50754"/>
            <a:ext cx="6151950" cy="1269833"/>
          </a:xfrm>
          <a:prstGeom prst="round1Rect">
            <a:avLst>
              <a:gd name="adj" fmla="val 11967"/>
            </a:avLst>
          </a:prstGeom>
          <a:solidFill>
            <a:srgbClr val="001996"/>
          </a:solidFill>
          <a:ln w="19050" cmpd="sng">
            <a:solidFill>
              <a:schemeClr val="bg1"/>
            </a:solidFill>
          </a:ln>
        </p:spPr>
        <p:txBody>
          <a:bodyPr wrap="square" lIns="504000" tIns="126000" rIns="108000" bIns="144000" anchor="b">
            <a:spAutoFit/>
          </a:bodyPr>
          <a:lstStyle>
            <a:lvl1pPr>
              <a:defRPr sz="3600">
                <a:solidFill>
                  <a:srgbClr val="FFFFFF"/>
                </a:solidFill>
                <a:latin typeface="Corbel" panose="020B0503020204020204" pitchFamily="34" charset="0"/>
              </a:defRPr>
            </a:lvl1pPr>
          </a:lstStyle>
          <a:p>
            <a:br>
              <a:rPr lang="en-US"/>
            </a:br>
            <a:r>
              <a:rPr lang="en-US"/>
              <a:t>Click to enter title</a:t>
            </a:r>
            <a:endParaRPr lang="nl-NL"/>
          </a:p>
        </p:txBody>
      </p:sp>
      <p:pic>
        <p:nvPicPr>
          <p:cNvPr id="10" name="Afbeelding 9" descr="RB_logo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36821" y="3902436"/>
            <a:ext cx="607927" cy="727535"/>
          </a:xfrm>
          <a:prstGeom prst="rect">
            <a:avLst/>
          </a:prstGeom>
        </p:spPr>
      </p:pic>
    </p:spTree>
    <p:extLst>
      <p:ext uri="{BB962C8B-B14F-4D97-AF65-F5344CB8AC3E}">
        <p14:creationId xmlns:p14="http://schemas.microsoft.com/office/powerpoint/2010/main" val="1633529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Rechthoek 1"/>
          <p:cNvSpPr/>
          <p:nvPr/>
        </p:nvSpPr>
        <p:spPr>
          <a:xfrm>
            <a:off x="7735331"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3" name="Subtitel 2"/>
          <p:cNvSpPr>
            <a:spLocks noGrp="1"/>
          </p:cNvSpPr>
          <p:nvPr>
            <p:ph type="subTitle" idx="1" hasCustomPrompt="1"/>
          </p:nvPr>
        </p:nvSpPr>
        <p:spPr>
          <a:xfrm>
            <a:off x="1920876" y="3428327"/>
            <a:ext cx="4166260" cy="456488"/>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341710" rtl="0" eaLnBrk="1" latinLnBrk="0" hangingPunct="1">
              <a:lnSpc>
                <a:spcPct val="100000"/>
              </a:lnSpc>
              <a:spcBef>
                <a:spcPct val="0"/>
              </a:spcBef>
              <a:buNone/>
              <a:defRPr lang="nl-NL" sz="2000" b="1" i="1" kern="1200">
                <a:solidFill>
                  <a:schemeClr val="bg1"/>
                </a:solidFill>
                <a:latin typeface="+mj-lt"/>
                <a:ea typeface="+mn-ea"/>
                <a:cs typeface="+mn-cs"/>
              </a:defRPr>
            </a:lvl1pPr>
            <a:lvl2pPr marL="456988" indent="0" algn="ctr">
              <a:buNone/>
              <a:defRPr>
                <a:solidFill>
                  <a:schemeClr val="tx1">
                    <a:tint val="75000"/>
                  </a:schemeClr>
                </a:solidFill>
              </a:defRPr>
            </a:lvl2pPr>
            <a:lvl3pPr marL="913976" indent="0" algn="ctr">
              <a:buNone/>
              <a:defRPr>
                <a:solidFill>
                  <a:schemeClr val="tx1">
                    <a:tint val="75000"/>
                  </a:schemeClr>
                </a:solidFill>
              </a:defRPr>
            </a:lvl3pPr>
            <a:lvl4pPr marL="1370964" indent="0" algn="ctr">
              <a:buNone/>
              <a:defRPr>
                <a:solidFill>
                  <a:schemeClr val="tx1">
                    <a:tint val="75000"/>
                  </a:schemeClr>
                </a:solidFill>
              </a:defRPr>
            </a:lvl4pPr>
            <a:lvl5pPr marL="1827951" indent="0" algn="ctr">
              <a:buNone/>
              <a:defRPr>
                <a:solidFill>
                  <a:schemeClr val="tx1">
                    <a:tint val="75000"/>
                  </a:schemeClr>
                </a:solidFill>
              </a:defRPr>
            </a:lvl5pPr>
            <a:lvl6pPr marL="2284940" indent="0" algn="ctr">
              <a:buNone/>
              <a:defRPr>
                <a:solidFill>
                  <a:schemeClr val="tx1">
                    <a:tint val="75000"/>
                  </a:schemeClr>
                </a:solidFill>
              </a:defRPr>
            </a:lvl6pPr>
            <a:lvl7pPr marL="2741929" indent="0" algn="ctr">
              <a:buNone/>
              <a:defRPr>
                <a:solidFill>
                  <a:schemeClr val="tx1">
                    <a:tint val="75000"/>
                  </a:schemeClr>
                </a:solidFill>
              </a:defRPr>
            </a:lvl7pPr>
            <a:lvl8pPr marL="3198915" indent="0" algn="ctr">
              <a:buNone/>
              <a:defRPr>
                <a:solidFill>
                  <a:schemeClr val="tx1">
                    <a:tint val="75000"/>
                  </a:schemeClr>
                </a:solidFill>
              </a:defRPr>
            </a:lvl8pPr>
            <a:lvl9pPr marL="3655904" indent="0" algn="ctr">
              <a:buNone/>
              <a:defRPr>
                <a:solidFill>
                  <a:schemeClr val="tx1">
                    <a:tint val="75000"/>
                  </a:schemeClr>
                </a:solidFill>
              </a:defRPr>
            </a:lvl9pPr>
          </a:lstStyle>
          <a:p>
            <a:pPr defTabSz="455613">
              <a:defRPr/>
            </a:pPr>
            <a:r>
              <a:rPr lang="en-US">
                <a:ea typeface="Myriad Pro Light"/>
                <a:cs typeface="Myriad Pro Light"/>
              </a:rPr>
              <a:t>Project Start Architecture</a:t>
            </a:r>
          </a:p>
        </p:txBody>
      </p:sp>
      <p:sp>
        <p:nvSpPr>
          <p:cNvPr id="8" name="Tijdelijke aanduiding voor tekst 7"/>
          <p:cNvSpPr>
            <a:spLocks noGrp="1"/>
          </p:cNvSpPr>
          <p:nvPr>
            <p:ph type="body" sz="quarter" idx="11" hasCustomPrompt="1"/>
          </p:nvPr>
        </p:nvSpPr>
        <p:spPr>
          <a:xfrm flipH="1">
            <a:off x="1943998" y="3937657"/>
            <a:ext cx="4068003" cy="349702"/>
          </a:xfrm>
          <a:prstGeom prst="rect">
            <a:avLst/>
          </a:prstGeom>
        </p:spPr>
        <p:txBody>
          <a:bodyPr wrap="square" lIns="144000" tIns="36000" rIns="144000" bIns="36000" anchor="b">
            <a:spAutoFit/>
          </a:bodyPr>
          <a:lstStyle>
            <a:lvl1pPr marL="0" indent="0" eaLnBrk="1" hangingPunct="1">
              <a:spcBef>
                <a:spcPts val="0"/>
              </a:spcBef>
              <a:buNone/>
              <a:defRPr sz="1800" b="0" i="0" baseline="0">
                <a:solidFill>
                  <a:srgbClr val="5E6A71"/>
                </a:solidFill>
                <a:latin typeface="+mn-lt"/>
                <a:cs typeface="Myriad Pro" pitchFamily="34" charset="0"/>
              </a:defRPr>
            </a:lvl1pPr>
          </a:lstStyle>
          <a:p>
            <a:pPr marL="0" indent="0" eaLnBrk="1" hangingPunct="1">
              <a:defRPr/>
            </a:pPr>
            <a:r>
              <a:rPr lang="en-US">
                <a:solidFill>
                  <a:srgbClr val="7F7F7F"/>
                </a:solidFill>
                <a:ea typeface="Myriad Pro"/>
                <a:cs typeface="Myriad Pro"/>
              </a:rPr>
              <a:t>&lt;Author&gt;/ &lt;YYYY-MM-DD&gt; / &lt;Version&gt;</a:t>
            </a:r>
          </a:p>
        </p:txBody>
      </p:sp>
      <p:sp>
        <p:nvSpPr>
          <p:cNvPr id="13" name="Rechthoek 12"/>
          <p:cNvSpPr/>
          <p:nvPr/>
        </p:nvSpPr>
        <p:spPr>
          <a:xfrm>
            <a:off x="5892801" y="3300666"/>
            <a:ext cx="194334" cy="413753"/>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50754"/>
            <a:ext cx="6151950" cy="1269833"/>
          </a:xfrm>
          <a:prstGeom prst="round1Rect">
            <a:avLst>
              <a:gd name="adj" fmla="val 11967"/>
            </a:avLst>
          </a:prstGeom>
          <a:solidFill>
            <a:schemeClr val="accent1"/>
          </a:solidFill>
          <a:ln w="19050" cmpd="sng">
            <a:solidFill>
              <a:schemeClr val="bg1"/>
            </a:solidFill>
          </a:ln>
        </p:spPr>
        <p:txBody>
          <a:bodyPr wrap="square" lIns="504000" tIns="126000" rIns="108000" bIns="144000" anchor="b">
            <a:spAutoFit/>
          </a:bodyPr>
          <a:lstStyle>
            <a:lvl1pPr>
              <a:defRPr sz="3600" baseline="0">
                <a:solidFill>
                  <a:srgbClr val="FFFFFF"/>
                </a:solidFill>
              </a:defRPr>
            </a:lvl1pPr>
          </a:lstStyle>
          <a:p>
            <a:br>
              <a:rPr lang="en-GB" noProof="0"/>
            </a:br>
            <a:r>
              <a:rPr lang="en-US">
                <a:ea typeface="Myriad Pro Light" pitchFamily="34" charset="0"/>
                <a:cs typeface="Myriad Pro Light" pitchFamily="34" charset="0"/>
              </a:rPr>
              <a:t>&lt;Name of the change&gt;</a:t>
            </a:r>
            <a:endParaRPr lang="en-GB" noProof="0"/>
          </a:p>
        </p:txBody>
      </p:sp>
      <p:sp>
        <p:nvSpPr>
          <p:cNvPr id="10" name="Rechthoek 9"/>
          <p:cNvSpPr/>
          <p:nvPr userDrawn="1"/>
        </p:nvSpPr>
        <p:spPr>
          <a:xfrm>
            <a:off x="8141018" y="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en-GB" sz="1800" b="0" i="0" u="none" strike="noStrike" kern="0" cap="none" spc="0" normalizeH="0" baseline="0" noProof="0">
              <a:ln>
                <a:noFill/>
              </a:ln>
              <a:solidFill>
                <a:srgbClr val="000000"/>
              </a:solidFill>
              <a:effectLst/>
              <a:uLnTx/>
              <a:uFillTx/>
              <a:ea typeface="+mn-ea"/>
              <a:cs typeface="Myriad Pro"/>
            </a:endParaRPr>
          </a:p>
        </p:txBody>
      </p:sp>
      <p:pic>
        <p:nvPicPr>
          <p:cNvPr id="9" name="Afbeelding 9" descr="RB_logo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36821" y="3902436"/>
            <a:ext cx="607927" cy="727535"/>
          </a:xfrm>
          <a:prstGeom prst="rect">
            <a:avLst/>
          </a:prstGeom>
        </p:spPr>
      </p:pic>
    </p:spTree>
    <p:extLst>
      <p:ext uri="{BB962C8B-B14F-4D97-AF65-F5344CB8AC3E}">
        <p14:creationId xmlns:p14="http://schemas.microsoft.com/office/powerpoint/2010/main" val="12863345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Basic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noProof="0"/>
              <a:t>Klik om de stijl te bewerken</a:t>
            </a:r>
            <a:endParaRPr lang="en-GB" noProof="0"/>
          </a:p>
        </p:txBody>
      </p:sp>
      <p:sp>
        <p:nvSpPr>
          <p:cNvPr id="3" name="Tijdelijke aanduiding voor dianummer 2"/>
          <p:cNvSpPr>
            <a:spLocks noGrp="1"/>
          </p:cNvSpPr>
          <p:nvPr>
            <p:ph type="sldNum" sz="quarter" idx="10"/>
          </p:nvPr>
        </p:nvSpPr>
        <p:spPr>
          <a:xfrm>
            <a:off x="8452464" y="4561285"/>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3" y="1402916"/>
            <a:ext cx="7804586" cy="3092885"/>
          </a:xfrm>
        </p:spPr>
        <p:txBody>
          <a:bodyPr/>
          <a:lstStyle>
            <a:lvl2pPr>
              <a:lnSpc>
                <a:spcPct val="100000"/>
              </a:lnSpc>
              <a:defRPr/>
            </a:lvl2pPr>
            <a:lvl3pPr>
              <a:lnSpc>
                <a:spcPct val="100000"/>
              </a:lnSpc>
              <a:defRPr/>
            </a:lvl3pPr>
            <a:lvl4pPr marL="933727" indent="-285743">
              <a:lnSpc>
                <a:spcPct val="100000"/>
              </a:lnSpc>
              <a:buFont typeface="Arial" panose="020B0604020202020204" pitchFamily="34" charset="0"/>
              <a:buChar char="•"/>
              <a:defRPr/>
            </a:lvl4pPr>
            <a:lvl5pPr>
              <a:lnSpc>
                <a:spcPct val="100000"/>
              </a:lnSpc>
              <a:defRPr/>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tekst 6"/>
          <p:cNvSpPr>
            <a:spLocks noGrp="1"/>
          </p:cNvSpPr>
          <p:nvPr>
            <p:ph type="body" sz="quarter" idx="12" hasCustomPrompt="1"/>
          </p:nvPr>
        </p:nvSpPr>
        <p:spPr>
          <a:xfrm>
            <a:off x="476250" y="1077457"/>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88"/>
            <a:r>
              <a:rPr lang="nl-NL" err="1"/>
              <a:t>Subtitle</a:t>
            </a:r>
            <a:endParaRPr lang="nl-NL"/>
          </a:p>
        </p:txBody>
      </p:sp>
      <p:sp>
        <p:nvSpPr>
          <p:cNvPr id="9" name="Tijdelijke aanduiding voor tekst 8"/>
          <p:cNvSpPr>
            <a:spLocks noGrp="1"/>
          </p:cNvSpPr>
          <p:nvPr>
            <p:ph type="body" sz="quarter" idx="13" hasCustomPrompt="1"/>
          </p:nvPr>
        </p:nvSpPr>
        <p:spPr>
          <a:xfrm>
            <a:off x="476250" y="4561286"/>
            <a:ext cx="7804150" cy="204787"/>
          </a:xfrm>
        </p:spPr>
        <p:txBody>
          <a:bodyPr vert="horz" lIns="0" tIns="45720" rIns="0" bIns="45720" rtlCol="0" anchor="ctr">
            <a:noAutofit/>
          </a:bodyPr>
          <a:lstStyle>
            <a:lvl1pPr marL="215995" indent="-215995">
              <a:buNone/>
              <a:defRPr kumimoji="0" lang="nl-NL" sz="1200" b="0" i="0" u="none" strike="noStrike" kern="1200" cap="none" spc="0" normalizeH="0" baseline="0" noProof="0" dirty="0">
                <a:ln>
                  <a:noFill/>
                </a:ln>
                <a:solidFill>
                  <a:srgbClr val="5E6A71"/>
                </a:solidFill>
                <a:effectLst/>
                <a:uLnTx/>
                <a:uFillTx/>
                <a:latin typeface="+mn-lt"/>
                <a:ea typeface="+mn-ea"/>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Foodnote</a:t>
            </a:r>
            <a:endParaRPr lang="nl-NL"/>
          </a:p>
        </p:txBody>
      </p:sp>
    </p:spTree>
    <p:extLst>
      <p:ext uri="{BB962C8B-B14F-4D97-AF65-F5344CB8AC3E}">
        <p14:creationId xmlns:p14="http://schemas.microsoft.com/office/powerpoint/2010/main" val="298810345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Object slide with subtit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nl-NL" smtClean="0"/>
              <a:pPr/>
              <a:t>‹#›</a:t>
            </a:fld>
            <a:endParaRPr lang="nl-NL"/>
          </a:p>
        </p:txBody>
      </p:sp>
      <p:sp>
        <p:nvSpPr>
          <p:cNvPr id="6" name="Tijdelijke aanduiding voor tekst 5"/>
          <p:cNvSpPr>
            <a:spLocks noGrp="1"/>
          </p:cNvSpPr>
          <p:nvPr>
            <p:ph type="body" sz="quarter" idx="12" hasCustomPrompt="1"/>
          </p:nvPr>
        </p:nvSpPr>
        <p:spPr>
          <a:xfrm>
            <a:off x="476251" y="1346200"/>
            <a:ext cx="7804151" cy="330200"/>
          </a:xfrm>
        </p:spPr>
        <p:txBody>
          <a:bodyPr/>
          <a:lstStyle>
            <a:lvl1pPr marL="0" indent="0">
              <a:buNone/>
              <a:defRPr b="1" i="1">
                <a:solidFill>
                  <a:schemeClr val="accent2"/>
                </a:solidFill>
              </a:defRPr>
            </a:lvl1pPr>
          </a:lstStyle>
          <a:p>
            <a:pPr lvl="0"/>
            <a:r>
              <a:rPr lang="en-US"/>
              <a:t>Click to add subtitle</a:t>
            </a:r>
          </a:p>
        </p:txBody>
      </p:sp>
      <p:sp>
        <p:nvSpPr>
          <p:cNvPr id="7" name="Content Placeholder 6"/>
          <p:cNvSpPr>
            <a:spLocks noGrp="1"/>
          </p:cNvSpPr>
          <p:nvPr>
            <p:ph sz="quarter" idx="13"/>
          </p:nvPr>
        </p:nvSpPr>
        <p:spPr>
          <a:xfrm>
            <a:off x="476250" y="1677601"/>
            <a:ext cx="7804800" cy="2812981"/>
          </a:xfrm>
        </p:spPr>
        <p:txBody>
          <a:bodyPr/>
          <a:lstStyle>
            <a:lvl4pPr marL="933727" indent="-285743">
              <a:buFont typeface="Arial" panose="020B0604020202020204" pitchFamily="34" charset="0"/>
              <a:buChar char="•"/>
              <a:defRPr/>
            </a:lvl4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sp>
        <p:nvSpPr>
          <p:cNvPr id="9" name="Tijdelijke aanduiding voor tekst 6"/>
          <p:cNvSpPr>
            <a:spLocks noGrp="1"/>
          </p:cNvSpPr>
          <p:nvPr>
            <p:ph type="body" sz="quarter" idx="14" hasCustomPrompt="1"/>
          </p:nvPr>
        </p:nvSpPr>
        <p:spPr>
          <a:xfrm>
            <a:off x="476250" y="1077457"/>
            <a:ext cx="7804150" cy="212725"/>
          </a:xfrm>
        </p:spPr>
        <p:txBody>
          <a:bodyPr vert="horz" lIns="0" tIns="45720" rIns="0" bIns="45720" rtlCol="0" anchor="ctr"/>
          <a:lstStyle>
            <a:lvl1pPr marL="0" marR="0" indent="0" algn="l" defTabSz="456988" rtl="0" eaLnBrk="1" fontAlgn="auto" latinLnBrk="0" hangingPunct="1">
              <a:lnSpc>
                <a:spcPct val="100000"/>
              </a:lnSpc>
              <a:spcBef>
                <a:spcPct val="20000"/>
              </a:spcBef>
              <a:spcAft>
                <a:spcPts val="0"/>
              </a:spcAft>
              <a:buClr>
                <a:schemeClr val="accent2"/>
              </a:buClr>
              <a:buSzPct val="90000"/>
              <a:buFont typeface="Lucida Grande"/>
              <a:buNone/>
              <a:tabLst/>
              <a:defRPr lang="nl-NL" sz="1200" dirty="0">
                <a:solidFill>
                  <a:srgbClr val="5E6A71"/>
                </a:solidFill>
                <a:cs typeface="+mn-cs"/>
              </a:defRPr>
            </a:lvl1pPr>
          </a:lstStyle>
          <a:p>
            <a:pPr marL="0" marR="0" lvl="0" indent="0" algn="l" defTabSz="456988" rtl="0" eaLnBrk="1" fontAlgn="auto" latinLnBrk="0" hangingPunct="1">
              <a:lnSpc>
                <a:spcPct val="100000"/>
              </a:lnSpc>
              <a:spcBef>
                <a:spcPct val="20000"/>
              </a:spcBef>
              <a:spcAft>
                <a:spcPts val="0"/>
              </a:spcAft>
              <a:buClr>
                <a:schemeClr val="accent2"/>
              </a:buClr>
              <a:buSzPct val="90000"/>
              <a:buFont typeface="Lucida Grande"/>
              <a:buNone/>
              <a:tabLst/>
              <a:defRPr/>
            </a:pPr>
            <a:r>
              <a:rPr lang="nl-NL" err="1"/>
              <a:t>Subtitle</a:t>
            </a:r>
            <a:endParaRPr lang="nl-NL"/>
          </a:p>
        </p:txBody>
      </p:sp>
      <p:sp>
        <p:nvSpPr>
          <p:cNvPr id="10" name="Tijdelijke aanduiding voor tekst 8"/>
          <p:cNvSpPr>
            <a:spLocks noGrp="1"/>
          </p:cNvSpPr>
          <p:nvPr>
            <p:ph type="body" sz="quarter" idx="15" hasCustomPrompt="1"/>
          </p:nvPr>
        </p:nvSpPr>
        <p:spPr>
          <a:xfrm>
            <a:off x="476250" y="4561286"/>
            <a:ext cx="7804150" cy="204787"/>
          </a:xfrm>
        </p:spPr>
        <p:txBody>
          <a:bodyPr vert="horz" lIns="0" tIns="45720" rIns="0" bIns="45720" rtlCol="0" anchor="ctr">
            <a:noAutofit/>
          </a:bodyPr>
          <a:lstStyle>
            <a:lvl1pPr>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buNone/>
            </a:pPr>
            <a:r>
              <a:rPr lang="nl-NL" err="1"/>
              <a:t>Foodnote</a:t>
            </a:r>
            <a:endParaRPr lang="nl-NL"/>
          </a:p>
        </p:txBody>
      </p:sp>
    </p:spTree>
    <p:extLst>
      <p:ext uri="{BB962C8B-B14F-4D97-AF65-F5344CB8AC3E}">
        <p14:creationId xmlns:p14="http://schemas.microsoft.com/office/powerpoint/2010/main" val="1772604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6" y="1329930"/>
            <a:ext cx="3782918" cy="3148126"/>
          </a:xfrm>
        </p:spPr>
        <p:txBody>
          <a:bodyPr/>
          <a:lstStyle>
            <a:lvl1pPr>
              <a:defRPr sz="2000"/>
            </a:lvl1pPr>
            <a:lvl2pPr>
              <a:defRPr sz="1800"/>
            </a:lvl2pPr>
            <a:lvl3pPr>
              <a:defRPr sz="1600"/>
            </a:lvl3pPr>
            <a:lvl4pPr marL="933727" indent="-285743">
              <a:buFont typeface="Arial" panose="020B0604020202020204" pitchFamily="34" charset="0"/>
              <a:buChar char="•"/>
              <a:defRPr sz="1600"/>
            </a:lvl4pPr>
            <a:lvl5pPr>
              <a:defRPr sz="1600"/>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sp>
        <p:nvSpPr>
          <p:cNvPr id="7" name="Tijdelijke aanduiding voor inhoud 6"/>
          <p:cNvSpPr>
            <a:spLocks noGrp="1"/>
          </p:cNvSpPr>
          <p:nvPr>
            <p:ph sz="quarter" idx="12"/>
          </p:nvPr>
        </p:nvSpPr>
        <p:spPr>
          <a:xfrm>
            <a:off x="4487335" y="1329930"/>
            <a:ext cx="3793067"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7"/>
            <a:ext cx="7804150" cy="212725"/>
          </a:xfrm>
        </p:spPr>
        <p:txBody>
          <a:bodyPr vert="horz" lIns="0" tIns="45720" rIns="0" bIns="45720" rtlCol="0" anchor="ctr"/>
          <a:lstStyle>
            <a:lvl1pPr marL="0" indent="0" defTabSz="456988">
              <a:buNone/>
              <a:defRPr lang="nl-NL" sz="1200" dirty="0">
                <a:solidFill>
                  <a:srgbClr val="5E6A71"/>
                </a:solidFill>
                <a:cs typeface="+mn-cs"/>
              </a:defRPr>
            </a:lvl1pPr>
          </a:lstStyle>
          <a:p>
            <a:pPr marL="0" lvl="0" defTabSz="456988"/>
            <a:r>
              <a:rPr lang="nl-NL" err="1"/>
              <a:t>Subtitle</a:t>
            </a:r>
            <a:endParaRPr lang="nl-NL"/>
          </a:p>
        </p:txBody>
      </p:sp>
      <p:sp>
        <p:nvSpPr>
          <p:cNvPr id="9" name="Tijdelijke aanduiding voor tekst 8"/>
          <p:cNvSpPr>
            <a:spLocks noGrp="1"/>
          </p:cNvSpPr>
          <p:nvPr>
            <p:ph type="body" sz="quarter" idx="13" hasCustomPrompt="1"/>
          </p:nvPr>
        </p:nvSpPr>
        <p:spPr>
          <a:xfrm>
            <a:off x="476250" y="4561286"/>
            <a:ext cx="7804150" cy="204787"/>
          </a:xfrm>
        </p:spPr>
        <p:txBody>
          <a:bodyPr vert="horz" lIns="0" tIns="45720" rIns="0" bIns="45720" rtlCol="0" anchor="ctr">
            <a:noAutofit/>
          </a:bodyPr>
          <a:lstStyle>
            <a:lvl1pPr marL="215995" indent="-215995">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Foodnote</a:t>
            </a:r>
            <a:endParaRPr lang="nl-NL"/>
          </a:p>
        </p:txBody>
      </p:sp>
    </p:spTree>
    <p:extLst>
      <p:ext uri="{BB962C8B-B14F-4D97-AF65-F5344CB8AC3E}">
        <p14:creationId xmlns:p14="http://schemas.microsoft.com/office/powerpoint/2010/main" val="364942568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2 columns with captio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52464" y="4565512"/>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6" y="1663701"/>
            <a:ext cx="3782918" cy="2833144"/>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4487335" y="1663701"/>
            <a:ext cx="3793067" cy="2833144"/>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6" name="Tijdelijke aanduiding voor tekst 5"/>
          <p:cNvSpPr>
            <a:spLocks noGrp="1"/>
          </p:cNvSpPr>
          <p:nvPr>
            <p:ph type="body" sz="quarter" idx="13" hasCustomPrompt="1"/>
          </p:nvPr>
        </p:nvSpPr>
        <p:spPr>
          <a:xfrm>
            <a:off x="475815" y="1346599"/>
            <a:ext cx="3783448" cy="316706"/>
          </a:xfrm>
        </p:spPr>
        <p:txBody>
          <a:bodyPr>
            <a:noAutofit/>
          </a:bodyPr>
          <a:lstStyle>
            <a:lvl1pPr marL="0" indent="0">
              <a:buNone/>
              <a:defRPr sz="1800" b="1" i="1">
                <a:solidFill>
                  <a:srgbClr val="FF6600"/>
                </a:solidFill>
              </a:defRPr>
            </a:lvl1pPr>
          </a:lstStyle>
          <a:p>
            <a:pPr lvl="0"/>
            <a:r>
              <a:rPr lang="en-GB" noProof="0"/>
              <a:t>Click to add column title</a:t>
            </a:r>
          </a:p>
        </p:txBody>
      </p:sp>
      <p:sp>
        <p:nvSpPr>
          <p:cNvPr id="8" name="Tijdelijke aanduiding voor tekst 5"/>
          <p:cNvSpPr>
            <a:spLocks noGrp="1"/>
          </p:cNvSpPr>
          <p:nvPr>
            <p:ph type="body" sz="quarter" idx="14" hasCustomPrompt="1"/>
          </p:nvPr>
        </p:nvSpPr>
        <p:spPr>
          <a:xfrm>
            <a:off x="4487335" y="1346599"/>
            <a:ext cx="3793067" cy="316706"/>
          </a:xfrm>
        </p:spPr>
        <p:txBody>
          <a:bodyPr>
            <a:noAutofit/>
          </a:bodyPr>
          <a:lstStyle>
            <a:lvl1pPr marL="0" indent="0">
              <a:buNone/>
              <a:defRPr sz="1800" b="1" i="1">
                <a:solidFill>
                  <a:srgbClr val="FF6600"/>
                </a:solidFill>
              </a:defRPr>
            </a:lvl1pPr>
          </a:lstStyle>
          <a:p>
            <a:pPr lvl="0"/>
            <a:r>
              <a:rPr lang="en-GB" noProof="0"/>
              <a:t>Click to add column title</a:t>
            </a:r>
          </a:p>
        </p:txBody>
      </p:sp>
      <p:sp>
        <p:nvSpPr>
          <p:cNvPr id="10" name="Tijdelijke aanduiding voor tekst 6"/>
          <p:cNvSpPr>
            <a:spLocks noGrp="1"/>
          </p:cNvSpPr>
          <p:nvPr>
            <p:ph type="body" sz="quarter" idx="15" hasCustomPrompt="1"/>
          </p:nvPr>
        </p:nvSpPr>
        <p:spPr>
          <a:xfrm>
            <a:off x="476250" y="1077457"/>
            <a:ext cx="7804150" cy="212725"/>
          </a:xfrm>
        </p:spPr>
        <p:txBody>
          <a:bodyPr vert="horz" lIns="0" tIns="45720" rIns="0" bIns="45720" rtlCol="0" anchor="ctr"/>
          <a:lstStyle>
            <a:lvl1pPr marL="0" indent="0" defTabSz="456988">
              <a:buNone/>
              <a:defRPr lang="nl-NL" sz="1200" dirty="0">
                <a:solidFill>
                  <a:srgbClr val="5E6A71"/>
                </a:solidFill>
                <a:cs typeface="+mn-cs"/>
              </a:defRPr>
            </a:lvl1pPr>
          </a:lstStyle>
          <a:p>
            <a:pPr marL="0" lvl="0" defTabSz="456988"/>
            <a:r>
              <a:rPr lang="nl-NL" err="1"/>
              <a:t>Subtitle</a:t>
            </a:r>
            <a:endParaRPr lang="nl-NL"/>
          </a:p>
        </p:txBody>
      </p:sp>
      <p:sp>
        <p:nvSpPr>
          <p:cNvPr id="11" name="Tijdelijke aanduiding voor tekst 8"/>
          <p:cNvSpPr>
            <a:spLocks noGrp="1"/>
          </p:cNvSpPr>
          <p:nvPr>
            <p:ph type="body" sz="quarter" idx="16" hasCustomPrompt="1"/>
          </p:nvPr>
        </p:nvSpPr>
        <p:spPr>
          <a:xfrm>
            <a:off x="476250" y="4561286"/>
            <a:ext cx="7804150" cy="204787"/>
          </a:xfrm>
        </p:spPr>
        <p:txBody>
          <a:bodyPr vert="horz" lIns="0" tIns="45720" rIns="0" bIns="45720" rtlCol="0" anchor="ctr">
            <a:noAutofit/>
          </a:bodyPr>
          <a:lstStyle>
            <a:lvl1pPr marL="215995" indent="-215995">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Foodnote</a:t>
            </a:r>
            <a:endParaRPr lang="nl-NL"/>
          </a:p>
        </p:txBody>
      </p:sp>
    </p:spTree>
    <p:extLst>
      <p:ext uri="{BB962C8B-B14F-4D97-AF65-F5344CB8AC3E}">
        <p14:creationId xmlns:p14="http://schemas.microsoft.com/office/powerpoint/2010/main" val="29808173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2 columns wide/narrow">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30"/>
            <a:ext cx="5019052"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5731935" y="1329930"/>
            <a:ext cx="2548466"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7"/>
            <a:ext cx="7804150" cy="212725"/>
          </a:xfrm>
        </p:spPr>
        <p:txBody>
          <a:bodyPr vert="horz" lIns="0" tIns="45720" rIns="0" bIns="45720" rtlCol="0" anchor="ctr"/>
          <a:lstStyle>
            <a:lvl1pPr marL="0" indent="0" defTabSz="456988">
              <a:buNone/>
              <a:defRPr lang="nl-NL" sz="1200" dirty="0">
                <a:solidFill>
                  <a:srgbClr val="5E6A71"/>
                </a:solidFill>
                <a:cs typeface="+mn-cs"/>
              </a:defRPr>
            </a:lvl1pPr>
          </a:lstStyle>
          <a:p>
            <a:pPr marL="0" lvl="0" defTabSz="456988"/>
            <a:r>
              <a:rPr lang="nl-NL" err="1"/>
              <a:t>Subtitle</a:t>
            </a:r>
            <a:endParaRPr lang="nl-NL"/>
          </a:p>
        </p:txBody>
      </p:sp>
      <p:sp>
        <p:nvSpPr>
          <p:cNvPr id="9" name="Tijdelijke aanduiding voor tekst 8"/>
          <p:cNvSpPr>
            <a:spLocks noGrp="1"/>
          </p:cNvSpPr>
          <p:nvPr>
            <p:ph type="body" sz="quarter" idx="13" hasCustomPrompt="1"/>
          </p:nvPr>
        </p:nvSpPr>
        <p:spPr>
          <a:xfrm>
            <a:off x="476250" y="4561286"/>
            <a:ext cx="7804150" cy="204787"/>
          </a:xfrm>
        </p:spPr>
        <p:txBody>
          <a:bodyPr vert="horz" lIns="0" tIns="45720" rIns="0" bIns="45720" rtlCol="0" anchor="ctr">
            <a:noAutofit/>
          </a:bodyPr>
          <a:lstStyle>
            <a:lvl1pPr marL="215995" indent="-215995">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Foodnote</a:t>
            </a:r>
            <a:endParaRPr lang="nl-NL"/>
          </a:p>
        </p:txBody>
      </p:sp>
    </p:spTree>
    <p:extLst>
      <p:ext uri="{BB962C8B-B14F-4D97-AF65-F5344CB8AC3E}">
        <p14:creationId xmlns:p14="http://schemas.microsoft.com/office/powerpoint/2010/main" val="173511758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2 columns narrow/w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30"/>
            <a:ext cx="2538318"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3259668" y="1329930"/>
            <a:ext cx="5020733"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7"/>
            <a:ext cx="7804150" cy="212725"/>
          </a:xfrm>
        </p:spPr>
        <p:txBody>
          <a:bodyPr vert="horz" lIns="0" tIns="45720" rIns="0" bIns="45720" rtlCol="0" anchor="ctr"/>
          <a:lstStyle>
            <a:lvl1pPr marL="0" indent="0" defTabSz="456988">
              <a:buNone/>
              <a:defRPr lang="nl-NL" sz="1200" dirty="0">
                <a:solidFill>
                  <a:srgbClr val="5E6A71"/>
                </a:solidFill>
                <a:cs typeface="+mn-cs"/>
              </a:defRPr>
            </a:lvl1pPr>
          </a:lstStyle>
          <a:p>
            <a:pPr marL="0" lvl="0" defTabSz="456988"/>
            <a:r>
              <a:rPr lang="nl-NL" err="1"/>
              <a:t>Subtitle</a:t>
            </a:r>
            <a:endParaRPr lang="nl-NL"/>
          </a:p>
        </p:txBody>
      </p:sp>
      <p:sp>
        <p:nvSpPr>
          <p:cNvPr id="9" name="Tijdelijke aanduiding voor tekst 8"/>
          <p:cNvSpPr>
            <a:spLocks noGrp="1"/>
          </p:cNvSpPr>
          <p:nvPr>
            <p:ph type="body" sz="quarter" idx="13" hasCustomPrompt="1"/>
          </p:nvPr>
        </p:nvSpPr>
        <p:spPr>
          <a:xfrm>
            <a:off x="476250" y="4561286"/>
            <a:ext cx="7804150" cy="204787"/>
          </a:xfrm>
        </p:spPr>
        <p:txBody>
          <a:bodyPr vert="horz" lIns="0" tIns="45720" rIns="0" bIns="45720" rtlCol="0" anchor="ctr">
            <a:noAutofit/>
          </a:bodyPr>
          <a:lstStyle>
            <a:lvl1pPr>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buNone/>
            </a:pPr>
            <a:r>
              <a:rPr lang="nl-NL" err="1"/>
              <a:t>Foodnote</a:t>
            </a:r>
            <a:endParaRPr lang="nl-NL"/>
          </a:p>
        </p:txBody>
      </p:sp>
    </p:spTree>
    <p:extLst>
      <p:ext uri="{BB962C8B-B14F-4D97-AF65-F5344CB8AC3E}">
        <p14:creationId xmlns:p14="http://schemas.microsoft.com/office/powerpoint/2010/main" val="204581423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52464" y="4573810"/>
            <a:ext cx="642937" cy="204788"/>
          </a:xfrm>
        </p:spPr>
        <p:txBody>
          <a:bodyPr/>
          <a:lstStyle/>
          <a:p>
            <a:fld id="{4821C4A5-98F2-7545-875B-39B2F4500447}" type="slidenum">
              <a:rPr lang="en-GB" noProof="0" smtClean="0"/>
              <a:pPr/>
              <a:t>‹#›</a:t>
            </a:fld>
            <a:endParaRPr lang="en-GB" noProof="0"/>
          </a:p>
        </p:txBody>
      </p:sp>
      <p:sp>
        <p:nvSpPr>
          <p:cNvPr id="7" name="Tijdelijke aanduiding voor inhoud 6"/>
          <p:cNvSpPr>
            <a:spLocks noGrp="1"/>
          </p:cNvSpPr>
          <p:nvPr>
            <p:ph sz="quarter" idx="12"/>
          </p:nvPr>
        </p:nvSpPr>
        <p:spPr>
          <a:xfrm>
            <a:off x="3150466" y="1329930"/>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6" name="Tijdelijke aanduiding voor inhoud 6"/>
          <p:cNvSpPr>
            <a:spLocks noGrp="1"/>
          </p:cNvSpPr>
          <p:nvPr>
            <p:ph sz="quarter" idx="13"/>
          </p:nvPr>
        </p:nvSpPr>
        <p:spPr>
          <a:xfrm>
            <a:off x="5832400" y="1329930"/>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inhoud 6"/>
          <p:cNvSpPr>
            <a:spLocks noGrp="1"/>
          </p:cNvSpPr>
          <p:nvPr>
            <p:ph sz="quarter" idx="14"/>
          </p:nvPr>
        </p:nvSpPr>
        <p:spPr>
          <a:xfrm>
            <a:off x="475815" y="1329930"/>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10" name="Tijdelijke aanduiding voor tekst 6"/>
          <p:cNvSpPr>
            <a:spLocks noGrp="1"/>
          </p:cNvSpPr>
          <p:nvPr>
            <p:ph type="body" sz="quarter" idx="15" hasCustomPrompt="1"/>
          </p:nvPr>
        </p:nvSpPr>
        <p:spPr>
          <a:xfrm>
            <a:off x="476250" y="1077457"/>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88"/>
            <a:r>
              <a:rPr lang="nl-NL" err="1"/>
              <a:t>Subtitle</a:t>
            </a:r>
            <a:endParaRPr lang="nl-NL"/>
          </a:p>
        </p:txBody>
      </p:sp>
      <p:sp>
        <p:nvSpPr>
          <p:cNvPr id="11" name="Tijdelijke aanduiding voor tekst 8"/>
          <p:cNvSpPr>
            <a:spLocks noGrp="1"/>
          </p:cNvSpPr>
          <p:nvPr>
            <p:ph type="body" sz="quarter" idx="16" hasCustomPrompt="1"/>
          </p:nvPr>
        </p:nvSpPr>
        <p:spPr>
          <a:xfrm>
            <a:off x="476250" y="4561286"/>
            <a:ext cx="7804150" cy="204787"/>
          </a:xfrm>
        </p:spPr>
        <p:txBody>
          <a:bodyPr vert="horz" lIns="0" tIns="45720" rIns="0" bIns="45720" rtlCol="0" anchor="ctr">
            <a:noAutofit/>
          </a:bodyPr>
          <a:lstStyle>
            <a:lvl1pPr marL="215995" indent="-215995">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Foodnote</a:t>
            </a:r>
            <a:endParaRPr lang="nl-NL"/>
          </a:p>
        </p:txBody>
      </p:sp>
    </p:spTree>
    <p:extLst>
      <p:ext uri="{BB962C8B-B14F-4D97-AF65-F5344CB8AC3E}">
        <p14:creationId xmlns:p14="http://schemas.microsoft.com/office/powerpoint/2010/main" val="11045245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45393" y="4564311"/>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tekst 6"/>
          <p:cNvSpPr>
            <a:spLocks noGrp="1"/>
          </p:cNvSpPr>
          <p:nvPr>
            <p:ph type="body" sz="quarter" idx="15" hasCustomPrompt="1"/>
          </p:nvPr>
        </p:nvSpPr>
        <p:spPr>
          <a:xfrm>
            <a:off x="476250" y="1077457"/>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88"/>
            <a:r>
              <a:rPr lang="nl-NL" err="1"/>
              <a:t>Subtitle</a:t>
            </a:r>
            <a:endParaRPr lang="nl-NL"/>
          </a:p>
        </p:txBody>
      </p:sp>
    </p:spTree>
    <p:extLst>
      <p:ext uri="{BB962C8B-B14F-4D97-AF65-F5344CB8AC3E}">
        <p14:creationId xmlns:p14="http://schemas.microsoft.com/office/powerpoint/2010/main" val="85226528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Basic slide">
    <p:spTree>
      <p:nvGrpSpPr>
        <p:cNvPr id="1" name=""/>
        <p:cNvGrpSpPr/>
        <p:nvPr/>
      </p:nvGrpSpPr>
      <p:grpSpPr>
        <a:xfrm>
          <a:off x="0" y="0"/>
          <a:ext cx="0" cy="0"/>
          <a:chOff x="0" y="0"/>
          <a:chExt cx="0" cy="0"/>
        </a:xfrm>
      </p:grpSpPr>
      <p:sp>
        <p:nvSpPr>
          <p:cNvPr id="2" name="Titel 1"/>
          <p:cNvSpPr>
            <a:spLocks noGrp="1"/>
          </p:cNvSpPr>
          <p:nvPr>
            <p:ph type="title"/>
          </p:nvPr>
        </p:nvSpPr>
        <p:spPr>
          <a:xfrm>
            <a:off x="162410" y="-1"/>
            <a:ext cx="8886340" cy="534355"/>
          </a:xfrm>
        </p:spPr>
        <p:txBody>
          <a:bodyPr/>
          <a:lstStyle>
            <a:lvl1pPr>
              <a:defRPr>
                <a:latin typeface="+mj-lt"/>
              </a:defRPr>
            </a:lvl1pPr>
          </a:lstStyle>
          <a:p>
            <a:r>
              <a:rPr lang="en-GB" noProof="0" err="1"/>
              <a:t>Klik</a:t>
            </a:r>
            <a:r>
              <a:rPr lang="en-GB" noProof="0"/>
              <a:t> om de </a:t>
            </a:r>
            <a:r>
              <a:rPr lang="en-GB" noProof="0" err="1"/>
              <a:t>stijl</a:t>
            </a:r>
            <a:r>
              <a:rPr lang="en-GB" noProof="0"/>
              <a:t> te </a:t>
            </a:r>
            <a:r>
              <a:rPr lang="en-GB" noProof="0" err="1"/>
              <a:t>bewerken</a:t>
            </a:r>
            <a:endParaRPr lang="en-GB" noProof="0"/>
          </a:p>
        </p:txBody>
      </p:sp>
      <p:sp>
        <p:nvSpPr>
          <p:cNvPr id="5" name="Tijdelijke aanduiding voor inhoud 4"/>
          <p:cNvSpPr>
            <a:spLocks noGrp="1"/>
          </p:cNvSpPr>
          <p:nvPr>
            <p:ph sz="quarter" idx="11"/>
          </p:nvPr>
        </p:nvSpPr>
        <p:spPr>
          <a:xfrm>
            <a:off x="162409" y="913833"/>
            <a:ext cx="8886341" cy="3551488"/>
          </a:xfrm>
        </p:spPr>
        <p:txBody>
          <a:bodyPr/>
          <a:lstStyle>
            <a:lvl1pPr>
              <a:defRPr sz="1400">
                <a:latin typeface="+mj-lt"/>
              </a:defRPr>
            </a:lvl1pPr>
            <a:lvl2pPr>
              <a:lnSpc>
                <a:spcPct val="100000"/>
              </a:lnSpc>
              <a:defRPr sz="1200">
                <a:latin typeface="+mj-lt"/>
              </a:defRPr>
            </a:lvl2pPr>
            <a:lvl3pPr>
              <a:lnSpc>
                <a:spcPct val="100000"/>
              </a:lnSpc>
              <a:defRPr sz="1100">
                <a:latin typeface="+mj-lt"/>
              </a:defRPr>
            </a:lvl3pPr>
            <a:lvl4pPr marL="933727" indent="-285743">
              <a:lnSpc>
                <a:spcPct val="100000"/>
              </a:lnSpc>
              <a:buFont typeface="Arial" panose="020B0604020202020204" pitchFamily="34" charset="0"/>
              <a:buChar char="•"/>
              <a:defRPr sz="1100">
                <a:latin typeface="+mj-lt"/>
              </a:defRPr>
            </a:lvl4pPr>
            <a:lvl5pPr>
              <a:lnSpc>
                <a:spcPct val="100000"/>
              </a:lnSpc>
              <a:defRPr sz="1200">
                <a:latin typeface="+mj-lt"/>
              </a:defRPr>
            </a:lvl5pPr>
          </a:lstStyle>
          <a:p>
            <a:pPr lvl="0"/>
            <a:r>
              <a:rPr lang="en-GB" noProof="0" err="1"/>
              <a:t>Klik</a:t>
            </a:r>
            <a:r>
              <a:rPr lang="en-GB" noProof="0"/>
              <a:t> om de </a:t>
            </a:r>
            <a:r>
              <a:rPr lang="en-GB" noProof="0" err="1"/>
              <a:t>modelstijlen</a:t>
            </a:r>
            <a:r>
              <a:rPr lang="en-GB" noProof="0"/>
              <a:t> te </a:t>
            </a:r>
            <a:r>
              <a:rPr lang="en-GB" noProof="0" err="1"/>
              <a:t>bewerken</a:t>
            </a:r>
            <a:endParaRPr lang="en-GB" noProof="0"/>
          </a:p>
          <a:p>
            <a:pPr lvl="1"/>
            <a:r>
              <a:rPr lang="en-GB" noProof="0" err="1"/>
              <a:t>Tweede</a:t>
            </a:r>
            <a:r>
              <a:rPr lang="en-GB" noProof="0"/>
              <a:t> </a:t>
            </a:r>
            <a:r>
              <a:rPr lang="en-GB" noProof="0" err="1"/>
              <a:t>niveau</a:t>
            </a:r>
            <a:endParaRPr lang="en-GB" noProof="0"/>
          </a:p>
          <a:p>
            <a:pPr lvl="2"/>
            <a:r>
              <a:rPr lang="en-GB" noProof="0" err="1"/>
              <a:t>Derde</a:t>
            </a:r>
            <a:r>
              <a:rPr lang="en-GB" noProof="0"/>
              <a:t> </a:t>
            </a:r>
            <a:r>
              <a:rPr lang="en-GB" noProof="0" err="1"/>
              <a:t>niveau</a:t>
            </a:r>
            <a:endParaRPr lang="en-GB" noProof="0"/>
          </a:p>
          <a:p>
            <a:pPr lvl="3"/>
            <a:r>
              <a:rPr lang="en-GB" noProof="0" err="1"/>
              <a:t>Vierde</a:t>
            </a:r>
            <a:r>
              <a:rPr lang="en-GB" noProof="0"/>
              <a:t> </a:t>
            </a:r>
            <a:r>
              <a:rPr lang="en-GB" noProof="0" err="1"/>
              <a:t>niveau</a:t>
            </a:r>
            <a:endParaRPr lang="en-GB" noProof="0"/>
          </a:p>
          <a:p>
            <a:pPr lvl="4"/>
            <a:r>
              <a:rPr lang="en-GB" noProof="0" err="1"/>
              <a:t>Vijfde</a:t>
            </a:r>
            <a:r>
              <a:rPr lang="en-GB" noProof="0"/>
              <a:t> </a:t>
            </a:r>
            <a:r>
              <a:rPr lang="en-GB" noProof="0" err="1"/>
              <a:t>niveau</a:t>
            </a:r>
            <a:endParaRPr lang="en-GB" noProof="0"/>
          </a:p>
        </p:txBody>
      </p:sp>
      <p:sp>
        <p:nvSpPr>
          <p:cNvPr id="7" name="Tijdelijke aanduiding voor tekst 6"/>
          <p:cNvSpPr>
            <a:spLocks noGrp="1"/>
          </p:cNvSpPr>
          <p:nvPr>
            <p:ph type="body" sz="quarter" idx="12" hasCustomPrompt="1"/>
          </p:nvPr>
        </p:nvSpPr>
        <p:spPr>
          <a:xfrm>
            <a:off x="162411" y="617731"/>
            <a:ext cx="7668088" cy="212725"/>
          </a:xfrm>
        </p:spPr>
        <p:txBody>
          <a:bodyPr vert="horz" lIns="0" tIns="45720" rIns="0" bIns="45720" rtlCol="0" anchor="ctr"/>
          <a:lstStyle>
            <a:lvl1pPr marL="0" indent="0">
              <a:buNone/>
              <a:defRPr lang="nl-NL" sz="1200" i="1" dirty="0">
                <a:solidFill>
                  <a:srgbClr val="000099"/>
                </a:solidFill>
                <a:latin typeface="+mj-lt"/>
                <a:cs typeface="Calibri" panose="020F0502020204030204" pitchFamily="34" charset="0"/>
              </a:defRPr>
            </a:lvl1pPr>
          </a:lstStyle>
          <a:p>
            <a:pPr marL="0" lvl="0" defTabSz="456988"/>
            <a:r>
              <a:rPr lang="en-GB" noProof="0"/>
              <a:t>Subtitle</a:t>
            </a:r>
          </a:p>
        </p:txBody>
      </p:sp>
      <p:sp>
        <p:nvSpPr>
          <p:cNvPr id="6" name="Tijdelijke aanduiding voor dianummer 6"/>
          <p:cNvSpPr txBox="1">
            <a:spLocks/>
          </p:cNvSpPr>
          <p:nvPr userDrawn="1"/>
        </p:nvSpPr>
        <p:spPr>
          <a:xfrm>
            <a:off x="8345784" y="4651296"/>
            <a:ext cx="642937" cy="143590"/>
          </a:xfrm>
          <a:prstGeom prst="rect">
            <a:avLst/>
          </a:prstGeom>
        </p:spPr>
        <p:txBody>
          <a:bodyPr vert="horz" lIns="91440" tIns="45720" rIns="0" bIns="45720" rtlCol="0" anchor="ctr"/>
          <a:lstStyle>
            <a:defPPr>
              <a:defRPr lang="nl-NL"/>
            </a:defPPr>
            <a:lvl1pPr marL="0" algn="r" defTabSz="456999" rtl="0" eaLnBrk="1" latinLnBrk="0" hangingPunct="1">
              <a:defRPr sz="800" kern="1200">
                <a:solidFill>
                  <a:srgbClr val="5E6A71"/>
                </a:solidFill>
                <a:latin typeface="Calibri" panose="020F0502020204030204" pitchFamily="34" charset="0"/>
                <a:ea typeface="+mn-ea"/>
                <a:cs typeface="Calibri" panose="020F0502020204030204" pitchFamily="34" charset="0"/>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en-GB" sz="800" smtClean="0"/>
              <a:pPr/>
              <a:t>‹#›</a:t>
            </a:fld>
            <a:endParaRPr lang="en-GB" sz="800"/>
          </a:p>
        </p:txBody>
      </p:sp>
    </p:spTree>
    <p:extLst>
      <p:ext uri="{BB962C8B-B14F-4D97-AF65-F5344CB8AC3E}">
        <p14:creationId xmlns:p14="http://schemas.microsoft.com/office/powerpoint/2010/main" val="3645133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45393" y="4564311"/>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tekst 6"/>
          <p:cNvSpPr>
            <a:spLocks noGrp="1"/>
          </p:cNvSpPr>
          <p:nvPr>
            <p:ph type="body" sz="quarter" idx="15" hasCustomPrompt="1"/>
          </p:nvPr>
        </p:nvSpPr>
        <p:spPr>
          <a:xfrm>
            <a:off x="476250" y="1077457"/>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88"/>
            <a:r>
              <a:rPr lang="nl-NL" err="1"/>
              <a:t>Subtitle</a:t>
            </a:r>
            <a:endParaRPr lang="nl-NL"/>
          </a:p>
        </p:txBody>
      </p:sp>
      <p:sp>
        <p:nvSpPr>
          <p:cNvPr id="6" name="Tijdelijke aanduiding voor tekst 8"/>
          <p:cNvSpPr>
            <a:spLocks noGrp="1"/>
          </p:cNvSpPr>
          <p:nvPr>
            <p:ph type="body" sz="quarter" idx="13" hasCustomPrompt="1"/>
          </p:nvPr>
        </p:nvSpPr>
        <p:spPr>
          <a:xfrm>
            <a:off x="476250" y="4561286"/>
            <a:ext cx="7804150" cy="204787"/>
          </a:xfrm>
        </p:spPr>
        <p:txBody>
          <a:bodyPr vert="horz" lIns="0" tIns="45720" rIns="0" bIns="45720" rtlCol="0" anchor="ctr">
            <a:noAutofit/>
          </a:bodyPr>
          <a:lstStyle>
            <a:lvl1pPr marL="215995" indent="-215995">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Foodnote</a:t>
            </a:r>
            <a:endParaRPr lang="nl-NL"/>
          </a:p>
        </p:txBody>
      </p:sp>
    </p:spTree>
    <p:extLst>
      <p:ext uri="{BB962C8B-B14F-4D97-AF65-F5344CB8AC3E}">
        <p14:creationId xmlns:p14="http://schemas.microsoft.com/office/powerpoint/2010/main" val="53619429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6" name="Text Placeholder 5"/>
          <p:cNvSpPr>
            <a:spLocks noGrp="1"/>
          </p:cNvSpPr>
          <p:nvPr>
            <p:ph type="body" sz="quarter" idx="31"/>
          </p:nvPr>
        </p:nvSpPr>
        <p:spPr>
          <a:xfrm>
            <a:off x="451346" y="1006078"/>
            <a:ext cx="8241323" cy="3671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a:p>
        </p:txBody>
      </p:sp>
      <p:sp>
        <p:nvSpPr>
          <p:cNvPr id="8" name="Text Placeholder 7"/>
          <p:cNvSpPr>
            <a:spLocks noGrp="1"/>
          </p:cNvSpPr>
          <p:nvPr>
            <p:ph type="body" sz="quarter" idx="32"/>
          </p:nvPr>
        </p:nvSpPr>
        <p:spPr>
          <a:xfrm>
            <a:off x="451340" y="4677968"/>
            <a:ext cx="7576038" cy="270272"/>
          </a:xfrm>
        </p:spPr>
        <p:txBody>
          <a:bodyPr anchor="b"/>
          <a:lstStyle>
            <a:lvl1pPr>
              <a:spcBef>
                <a:spcPts val="0"/>
              </a:spcBef>
              <a:defRPr sz="450">
                <a:solidFill>
                  <a:schemeClr val="bg1">
                    <a:lumMod val="50000"/>
                  </a:schemeClr>
                </a:solidFill>
              </a:defRPr>
            </a:lvl1pPr>
            <a:lvl2pPr>
              <a:spcBef>
                <a:spcPts val="0"/>
              </a:spcBef>
              <a:defRPr sz="450"/>
            </a:lvl2pPr>
            <a:lvl3pPr>
              <a:spcBef>
                <a:spcPts val="0"/>
              </a:spcBef>
              <a:defRPr sz="450"/>
            </a:lvl3pPr>
            <a:lvl4pPr>
              <a:spcBef>
                <a:spcPts val="0"/>
              </a:spcBef>
              <a:defRPr sz="450"/>
            </a:lvl4pPr>
            <a:lvl5pPr>
              <a:spcBef>
                <a:spcPts val="0"/>
              </a:spcBef>
              <a:defRPr sz="450"/>
            </a:lvl5pPr>
          </a:lstStyle>
          <a:p>
            <a:pPr lvl="0"/>
            <a:r>
              <a:rPr lang="en-US"/>
              <a:t>Click to edit Master text styles</a:t>
            </a:r>
          </a:p>
        </p:txBody>
      </p:sp>
    </p:spTree>
    <p:extLst>
      <p:ext uri="{BB962C8B-B14F-4D97-AF65-F5344CB8AC3E}">
        <p14:creationId xmlns:p14="http://schemas.microsoft.com/office/powerpoint/2010/main" val="42546580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2 column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5" name="Tijdelijke aanduiding voor inhoud 4"/>
          <p:cNvSpPr>
            <a:spLocks noGrp="1"/>
          </p:cNvSpPr>
          <p:nvPr>
            <p:ph sz="quarter" idx="11" hasCustomPrompt="1"/>
          </p:nvPr>
        </p:nvSpPr>
        <p:spPr>
          <a:xfrm>
            <a:off x="475815" y="1329929"/>
            <a:ext cx="3782918"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7" name="Tijdelijke aanduiding voor inhoud 6"/>
          <p:cNvSpPr>
            <a:spLocks noGrp="1"/>
          </p:cNvSpPr>
          <p:nvPr>
            <p:ph sz="quarter" idx="12" hasCustomPrompt="1"/>
          </p:nvPr>
        </p:nvSpPr>
        <p:spPr>
          <a:xfrm>
            <a:off x="4487334" y="1329929"/>
            <a:ext cx="3793067"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303804755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hthoek 1"/>
          <p:cNvSpPr/>
          <p:nvPr userDrawn="1"/>
        </p:nvSpPr>
        <p:spPr>
          <a:xfrm>
            <a:off x="7735330"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5" name="Picture Placeholder 4"/>
          <p:cNvSpPr>
            <a:spLocks noGrp="1"/>
          </p:cNvSpPr>
          <p:nvPr>
            <p:ph type="pic" sz="quarter" idx="13" hasCustomPrompt="1"/>
          </p:nvPr>
        </p:nvSpPr>
        <p:spPr>
          <a:xfrm>
            <a:off x="0" y="0"/>
            <a:ext cx="9149638" cy="3411061"/>
          </a:xfrm>
          <a:solidFill>
            <a:srgbClr val="EAEAEA"/>
          </a:solidFill>
        </p:spPr>
        <p:txBody>
          <a:bodyPr/>
          <a:lstStyle>
            <a:lvl1pPr marL="0" indent="0" algn="ctr">
              <a:buNone/>
              <a:defRPr sz="1200">
                <a:solidFill>
                  <a:schemeClr val="bg1">
                    <a:lumMod val="50000"/>
                  </a:schemeClr>
                </a:solidFill>
                <a:latin typeface="+mj-lt"/>
              </a:defRPr>
            </a:lvl1pPr>
          </a:lstStyle>
          <a:p>
            <a:r>
              <a:rPr lang="en-US"/>
              <a:t>Click the icon to add an image.</a:t>
            </a:r>
            <a:br>
              <a:rPr lang="nl-NL"/>
            </a:br>
            <a:r>
              <a:rPr lang="nl-NL"/>
              <a:t>(</a:t>
            </a:r>
            <a:r>
              <a:rPr lang="en-US"/>
              <a:t>The image will be automatically placed inside this grey box)</a:t>
            </a:r>
          </a:p>
        </p:txBody>
      </p:sp>
      <p:sp>
        <p:nvSpPr>
          <p:cNvPr id="3" name="Subtitel 2"/>
          <p:cNvSpPr>
            <a:spLocks noGrp="1"/>
          </p:cNvSpPr>
          <p:nvPr>
            <p:ph type="subTitle" idx="1" hasCustomPrompt="1"/>
          </p:nvPr>
        </p:nvSpPr>
        <p:spPr>
          <a:xfrm>
            <a:off x="1920875" y="3428327"/>
            <a:ext cx="4166260" cy="474109"/>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456999" rtl="0" eaLnBrk="1" latinLnBrk="0" hangingPunct="1">
              <a:lnSpc>
                <a:spcPct val="100000"/>
              </a:lnSpc>
              <a:spcBef>
                <a:spcPct val="0"/>
              </a:spcBef>
              <a:buNone/>
              <a:defRPr lang="nl-NL" sz="2000" b="1" i="1" kern="1200" dirty="0">
                <a:solidFill>
                  <a:schemeClr val="bg1"/>
                </a:solidFill>
                <a:latin typeface="+mj-lt"/>
                <a:ea typeface="+mn-ea"/>
                <a:cs typeface="+mn-cs"/>
              </a:defRPr>
            </a:lvl1pPr>
            <a:lvl2pPr marL="456999" indent="0" algn="ctr">
              <a:buNone/>
              <a:defRPr>
                <a:solidFill>
                  <a:schemeClr val="tx1">
                    <a:tint val="75000"/>
                  </a:schemeClr>
                </a:solidFill>
              </a:defRPr>
            </a:lvl2pPr>
            <a:lvl3pPr marL="913999" indent="0" algn="ctr">
              <a:buNone/>
              <a:defRPr>
                <a:solidFill>
                  <a:schemeClr val="tx1">
                    <a:tint val="75000"/>
                  </a:schemeClr>
                </a:solidFill>
              </a:defRPr>
            </a:lvl3pPr>
            <a:lvl4pPr marL="1370998" indent="0" algn="ctr">
              <a:buNone/>
              <a:defRPr>
                <a:solidFill>
                  <a:schemeClr val="tx1">
                    <a:tint val="75000"/>
                  </a:schemeClr>
                </a:solidFill>
              </a:defRPr>
            </a:lvl4pPr>
            <a:lvl5pPr marL="1827997" indent="0" algn="ctr">
              <a:buNone/>
              <a:defRPr>
                <a:solidFill>
                  <a:schemeClr val="tx1">
                    <a:tint val="75000"/>
                  </a:schemeClr>
                </a:solidFill>
              </a:defRPr>
            </a:lvl5pPr>
            <a:lvl6pPr marL="2284997" indent="0" algn="ctr">
              <a:buNone/>
              <a:defRPr>
                <a:solidFill>
                  <a:schemeClr val="tx1">
                    <a:tint val="75000"/>
                  </a:schemeClr>
                </a:solidFill>
              </a:defRPr>
            </a:lvl6pPr>
            <a:lvl7pPr marL="2741997" indent="0" algn="ctr">
              <a:buNone/>
              <a:defRPr>
                <a:solidFill>
                  <a:schemeClr val="tx1">
                    <a:tint val="75000"/>
                  </a:schemeClr>
                </a:solidFill>
              </a:defRPr>
            </a:lvl7pPr>
            <a:lvl8pPr marL="3198995" indent="0" algn="ctr">
              <a:buNone/>
              <a:defRPr>
                <a:solidFill>
                  <a:schemeClr val="tx1">
                    <a:tint val="75000"/>
                  </a:schemeClr>
                </a:solidFill>
              </a:defRPr>
            </a:lvl8pPr>
            <a:lvl9pPr marL="3655995" indent="0" algn="ctr">
              <a:buNone/>
              <a:defRPr>
                <a:solidFill>
                  <a:schemeClr val="tx1">
                    <a:tint val="75000"/>
                  </a:schemeClr>
                </a:solidFill>
              </a:defRPr>
            </a:lvl9pPr>
          </a:lstStyle>
          <a:p>
            <a:r>
              <a:rPr lang="en-US"/>
              <a:t>Click to enter subtitle</a:t>
            </a:r>
            <a:endParaRPr lang="nl-NL"/>
          </a:p>
        </p:txBody>
      </p:sp>
      <p:sp>
        <p:nvSpPr>
          <p:cNvPr id="8" name="Tijdelijke aanduiding voor tekst 7"/>
          <p:cNvSpPr>
            <a:spLocks noGrp="1"/>
          </p:cNvSpPr>
          <p:nvPr>
            <p:ph type="body" sz="quarter" idx="11" hasCustomPrompt="1"/>
          </p:nvPr>
        </p:nvSpPr>
        <p:spPr>
          <a:xfrm flipH="1">
            <a:off x="1920875" y="4332738"/>
            <a:ext cx="4068003" cy="349702"/>
          </a:xfrm>
          <a:prstGeom prst="rect">
            <a:avLst/>
          </a:prstGeom>
        </p:spPr>
        <p:txBody>
          <a:bodyPr wrap="square" lIns="144000" tIns="36000" rIns="144000" bIns="36000" anchor="b">
            <a:spAutoFit/>
          </a:bodyPr>
          <a:lstStyle>
            <a:lvl1pPr marL="0" indent="0">
              <a:spcBef>
                <a:spcPts val="0"/>
              </a:spcBef>
              <a:buNone/>
              <a:defRPr sz="1800" b="0" i="0" baseline="0">
                <a:solidFill>
                  <a:schemeClr val="tx1">
                    <a:lumMod val="50000"/>
                    <a:lumOff val="50000"/>
                  </a:schemeClr>
                </a:solidFill>
                <a:latin typeface="+mn-lt"/>
                <a:cs typeface="Myriad Pro" pitchFamily="34" charset="0"/>
              </a:defRPr>
            </a:lvl1pPr>
          </a:lstStyle>
          <a:p>
            <a:pPr lvl="0"/>
            <a:r>
              <a:rPr lang="en-US"/>
              <a:t>Name speaker  –  Date</a:t>
            </a:r>
          </a:p>
        </p:txBody>
      </p:sp>
      <p:sp>
        <p:nvSpPr>
          <p:cNvPr id="13" name="Rechthoek 12"/>
          <p:cNvSpPr/>
          <p:nvPr userDrawn="1"/>
        </p:nvSpPr>
        <p:spPr>
          <a:xfrm>
            <a:off x="5892801" y="3302973"/>
            <a:ext cx="194334" cy="409137"/>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41521"/>
            <a:ext cx="6151950" cy="1279066"/>
          </a:xfrm>
          <a:prstGeom prst="round1Rect">
            <a:avLst>
              <a:gd name="adj" fmla="val 11967"/>
            </a:avLst>
          </a:prstGeom>
          <a:solidFill>
            <a:schemeClr val="accent1"/>
          </a:solidFill>
          <a:ln w="19050" cmpd="sng">
            <a:solidFill>
              <a:schemeClr val="bg1"/>
            </a:solidFill>
          </a:ln>
        </p:spPr>
        <p:txBody>
          <a:bodyPr wrap="square" lIns="504000" tIns="126000" rIns="108000" bIns="144000" anchor="b">
            <a:spAutoFit/>
          </a:bodyPr>
          <a:lstStyle>
            <a:lvl1pPr>
              <a:defRPr sz="3600">
                <a:solidFill>
                  <a:srgbClr val="FFFFFF"/>
                </a:solidFill>
              </a:defRPr>
            </a:lvl1pPr>
          </a:lstStyle>
          <a:p>
            <a:br>
              <a:rPr lang="en-US"/>
            </a:br>
            <a:r>
              <a:rPr lang="en-US"/>
              <a:t>Click to enter title</a:t>
            </a:r>
            <a:endParaRPr lang="nl-NL"/>
          </a:p>
        </p:txBody>
      </p:sp>
      <p:pic>
        <p:nvPicPr>
          <p:cNvPr id="9" name="Afbeelding 9" descr="RB_logo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153400" y="3902436"/>
            <a:ext cx="584912" cy="699991"/>
          </a:xfrm>
          <a:prstGeom prst="rect">
            <a:avLst/>
          </a:prstGeom>
        </p:spPr>
      </p:pic>
    </p:spTree>
    <p:extLst>
      <p:ext uri="{BB962C8B-B14F-4D97-AF65-F5344CB8AC3E}">
        <p14:creationId xmlns:p14="http://schemas.microsoft.com/office/powerpoint/2010/main" val="324998649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5" name="Tijdelijke aanduiding voor inhoud 4"/>
          <p:cNvSpPr>
            <a:spLocks noGrp="1"/>
          </p:cNvSpPr>
          <p:nvPr>
            <p:ph sz="quarter" idx="11" hasCustomPrompt="1"/>
          </p:nvPr>
        </p:nvSpPr>
        <p:spPr>
          <a:xfrm>
            <a:off x="475814" y="1336196"/>
            <a:ext cx="7804586" cy="3429000"/>
          </a:xfrm>
        </p:spPr>
        <p:txBody>
          <a:bodyPr/>
          <a:lstStyle>
            <a:lvl2pPr>
              <a:lnSpc>
                <a:spcPct val="100000"/>
              </a:lnSpc>
              <a:defRPr/>
            </a:lvl2pPr>
            <a:lvl3pPr>
              <a:lnSpc>
                <a:spcPct val="100000"/>
              </a:lnSpc>
              <a:defRPr/>
            </a:lvl3pPr>
            <a:lvl4pPr>
              <a:lnSpc>
                <a:spcPct val="100000"/>
              </a:lnSpc>
              <a:defRPr/>
            </a:lvl4pPr>
            <a:lvl5pPr>
              <a:lnSpc>
                <a:spcPct val="100000"/>
              </a:lnSpc>
              <a:defRPr/>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295789174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Object slide with sub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6" name="Tijdelijke aanduiding voor tekst 5"/>
          <p:cNvSpPr>
            <a:spLocks noGrp="1"/>
          </p:cNvSpPr>
          <p:nvPr>
            <p:ph type="body" sz="quarter" idx="12" hasCustomPrompt="1"/>
          </p:nvPr>
        </p:nvSpPr>
        <p:spPr>
          <a:xfrm>
            <a:off x="476250" y="1346200"/>
            <a:ext cx="7804151" cy="330200"/>
          </a:xfrm>
        </p:spPr>
        <p:txBody>
          <a:bodyPr/>
          <a:lstStyle>
            <a:lvl1pPr marL="0" indent="0">
              <a:buNone/>
              <a:defRPr b="1" i="1">
                <a:solidFill>
                  <a:schemeClr val="accent2"/>
                </a:solidFill>
              </a:defRPr>
            </a:lvl1pPr>
          </a:lstStyle>
          <a:p>
            <a:pPr lvl="0"/>
            <a:r>
              <a:rPr lang="en-US"/>
              <a:t>Click to enter subtitle</a:t>
            </a:r>
          </a:p>
        </p:txBody>
      </p:sp>
      <p:sp>
        <p:nvSpPr>
          <p:cNvPr id="7" name="Content Placeholder 6"/>
          <p:cNvSpPr>
            <a:spLocks noGrp="1"/>
          </p:cNvSpPr>
          <p:nvPr>
            <p:ph sz="quarter" idx="13" hasCustomPrompt="1"/>
          </p:nvPr>
        </p:nvSpPr>
        <p:spPr>
          <a:xfrm>
            <a:off x="476250" y="1677600"/>
            <a:ext cx="7804800" cy="3078000"/>
          </a:xfrm>
        </p:spPr>
        <p:txBody>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nl-NL"/>
          </a:p>
        </p:txBody>
      </p:sp>
      <p:sp>
        <p:nvSpPr>
          <p:cNvPr id="8"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237727311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s with column header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5" name="Tijdelijke aanduiding voor inhoud 4"/>
          <p:cNvSpPr>
            <a:spLocks noGrp="1"/>
          </p:cNvSpPr>
          <p:nvPr>
            <p:ph sz="quarter" idx="11" hasCustomPrompt="1"/>
          </p:nvPr>
        </p:nvSpPr>
        <p:spPr>
          <a:xfrm>
            <a:off x="475815" y="1663700"/>
            <a:ext cx="3782918" cy="3102372"/>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7" name="Tijdelijke aanduiding voor inhoud 6"/>
          <p:cNvSpPr>
            <a:spLocks noGrp="1"/>
          </p:cNvSpPr>
          <p:nvPr>
            <p:ph sz="quarter" idx="12" hasCustomPrompt="1"/>
          </p:nvPr>
        </p:nvSpPr>
        <p:spPr>
          <a:xfrm>
            <a:off x="4487334" y="1663700"/>
            <a:ext cx="3793067" cy="3102372"/>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tekst 5"/>
          <p:cNvSpPr>
            <a:spLocks noGrp="1"/>
          </p:cNvSpPr>
          <p:nvPr>
            <p:ph type="body" sz="quarter" idx="13" hasCustomPrompt="1"/>
          </p:nvPr>
        </p:nvSpPr>
        <p:spPr>
          <a:xfrm>
            <a:off x="475815" y="1346598"/>
            <a:ext cx="3783448" cy="316706"/>
          </a:xfrm>
        </p:spPr>
        <p:txBody>
          <a:bodyPr>
            <a:noAutofit/>
          </a:bodyPr>
          <a:lstStyle>
            <a:lvl1pPr marL="0" indent="0">
              <a:buNone/>
              <a:defRPr sz="1800" b="1" i="1">
                <a:solidFill>
                  <a:srgbClr val="FF6600"/>
                </a:solidFill>
              </a:defRPr>
            </a:lvl1pPr>
          </a:lstStyle>
          <a:p>
            <a:pPr lvl="0"/>
            <a:r>
              <a:rPr lang="nl-NL"/>
              <a:t>Klik om een </a:t>
            </a:r>
            <a:r>
              <a:rPr lang="nl-NL" err="1"/>
              <a:t>kolomkop</a:t>
            </a:r>
            <a:r>
              <a:rPr lang="nl-NL"/>
              <a:t> te maken</a:t>
            </a:r>
          </a:p>
        </p:txBody>
      </p:sp>
      <p:sp>
        <p:nvSpPr>
          <p:cNvPr id="8" name="Tijdelijke aanduiding voor tekst 5"/>
          <p:cNvSpPr>
            <a:spLocks noGrp="1"/>
          </p:cNvSpPr>
          <p:nvPr>
            <p:ph type="body" sz="quarter" idx="14" hasCustomPrompt="1"/>
          </p:nvPr>
        </p:nvSpPr>
        <p:spPr>
          <a:xfrm>
            <a:off x="4487334" y="1346598"/>
            <a:ext cx="3793067" cy="316706"/>
          </a:xfrm>
        </p:spPr>
        <p:txBody>
          <a:bodyPr>
            <a:noAutofit/>
          </a:bodyPr>
          <a:lstStyle>
            <a:lvl1pPr marL="0" indent="0">
              <a:buNone/>
              <a:defRPr sz="1800" b="1" i="1">
                <a:solidFill>
                  <a:srgbClr val="FF6600"/>
                </a:solidFill>
              </a:defRPr>
            </a:lvl1pPr>
          </a:lstStyle>
          <a:p>
            <a:pPr lvl="0"/>
            <a:r>
              <a:rPr lang="nl-NL"/>
              <a:t>Klik om een kolomkop te maken</a:t>
            </a:r>
          </a:p>
        </p:txBody>
      </p:sp>
      <p:sp>
        <p:nvSpPr>
          <p:cNvPr id="9"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417250127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s with wide / narrow">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5" name="Tijdelijke aanduiding voor inhoud 4"/>
          <p:cNvSpPr>
            <a:spLocks noGrp="1"/>
          </p:cNvSpPr>
          <p:nvPr>
            <p:ph sz="quarter" idx="11" hasCustomPrompt="1"/>
          </p:nvPr>
        </p:nvSpPr>
        <p:spPr>
          <a:xfrm>
            <a:off x="475815" y="1329929"/>
            <a:ext cx="5019052"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7" name="Tijdelijke aanduiding voor inhoud 6"/>
          <p:cNvSpPr>
            <a:spLocks noGrp="1"/>
          </p:cNvSpPr>
          <p:nvPr>
            <p:ph sz="quarter" idx="12" hasCustomPrompt="1"/>
          </p:nvPr>
        </p:nvSpPr>
        <p:spPr>
          <a:xfrm>
            <a:off x="5731934" y="1329929"/>
            <a:ext cx="2548466"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379465845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olumns with narrow / w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5" name="Tijdelijke aanduiding voor inhoud 4"/>
          <p:cNvSpPr>
            <a:spLocks noGrp="1"/>
          </p:cNvSpPr>
          <p:nvPr>
            <p:ph sz="quarter" idx="11" hasCustomPrompt="1"/>
          </p:nvPr>
        </p:nvSpPr>
        <p:spPr>
          <a:xfrm>
            <a:off x="475815" y="1329929"/>
            <a:ext cx="2538318"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7" name="Tijdelijke aanduiding voor inhoud 6"/>
          <p:cNvSpPr>
            <a:spLocks noGrp="1"/>
          </p:cNvSpPr>
          <p:nvPr>
            <p:ph sz="quarter" idx="12" hasCustomPrompt="1"/>
          </p:nvPr>
        </p:nvSpPr>
        <p:spPr>
          <a:xfrm>
            <a:off x="3259668" y="1329929"/>
            <a:ext cx="5020733"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173966735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3 column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7" name="Tijdelijke aanduiding voor inhoud 6"/>
          <p:cNvSpPr>
            <a:spLocks noGrp="1"/>
          </p:cNvSpPr>
          <p:nvPr>
            <p:ph sz="quarter" idx="12" hasCustomPrompt="1"/>
          </p:nvPr>
        </p:nvSpPr>
        <p:spPr>
          <a:xfrm>
            <a:off x="3150466" y="1329929"/>
            <a:ext cx="2448000"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inhoud 6"/>
          <p:cNvSpPr>
            <a:spLocks noGrp="1"/>
          </p:cNvSpPr>
          <p:nvPr>
            <p:ph sz="quarter" idx="13" hasCustomPrompt="1"/>
          </p:nvPr>
        </p:nvSpPr>
        <p:spPr>
          <a:xfrm>
            <a:off x="5832400" y="1329929"/>
            <a:ext cx="2448000"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8" name="Tijdelijke aanduiding voor inhoud 6"/>
          <p:cNvSpPr>
            <a:spLocks noGrp="1"/>
          </p:cNvSpPr>
          <p:nvPr>
            <p:ph sz="quarter" idx="14" hasCustomPrompt="1"/>
          </p:nvPr>
        </p:nvSpPr>
        <p:spPr>
          <a:xfrm>
            <a:off x="475815" y="1329929"/>
            <a:ext cx="2448000" cy="3436144"/>
          </a:xfrm>
        </p:spPr>
        <p:txBody>
          <a:bodyPr/>
          <a:lstStyle>
            <a:lvl1pPr>
              <a:defRPr sz="1800"/>
            </a:lvl1pPr>
            <a:lvl2pPr>
              <a:defRPr sz="1600"/>
            </a:lvl2pPr>
            <a:lvl3pPr>
              <a:defRPr sz="1400"/>
            </a:lvl3pPr>
            <a:lvl4pPr>
              <a:defRPr sz="1800"/>
            </a:lvl4pPr>
            <a:lvl5pPr>
              <a:defRPr sz="1600"/>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9"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4230529140"/>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a:xfrm>
            <a:off x="7637464" y="4862517"/>
            <a:ext cx="642937" cy="204788"/>
          </a:xfrm>
        </p:spPr>
        <p:txBody>
          <a:bodyPr/>
          <a:lstStyle/>
          <a:p>
            <a:fld id="{4821C4A5-98F2-7545-875B-39B2F4500447}" type="slidenum">
              <a:rPr/>
              <a:pPr/>
              <a:t>‹#›</a:t>
            </a:fld>
            <a:endParaRPr lang="nl-NL"/>
          </a:p>
        </p:txBody>
      </p:sp>
      <p:sp>
        <p:nvSpPr>
          <p:cNvPr id="4"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371996244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2" name="Rechthoek 1"/>
          <p:cNvSpPr/>
          <p:nvPr userDrawn="1"/>
        </p:nvSpPr>
        <p:spPr>
          <a:xfrm>
            <a:off x="7703818" y="4158802"/>
            <a:ext cx="1153160" cy="394596"/>
          </a:xfrm>
          <a:prstGeom prst="rect">
            <a:avLst/>
          </a:prstGeom>
          <a:solidFill>
            <a:schemeClr val="bg1"/>
          </a:solidFill>
          <a:ln w="6350" cap="flat" cmpd="sng" algn="ctr">
            <a:noFill/>
            <a:prstDash val="solid"/>
          </a:ln>
          <a:effectLst/>
        </p:spPr>
        <p:txBody>
          <a:bodyPr rot="0" spcFirstLastPara="0" vertOverflow="overflow" horzOverflow="overflow" vert="horz" wrap="square" lIns="0" tIns="46800" rIns="0" bIns="468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5" name="Tijdelijke aanduiding voor dianummer 4"/>
          <p:cNvSpPr>
            <a:spLocks noGrp="1"/>
          </p:cNvSpPr>
          <p:nvPr>
            <p:ph type="sldNum" sz="quarter" idx="10"/>
          </p:nvPr>
        </p:nvSpPr>
        <p:spPr/>
        <p:txBody>
          <a:bodyPr/>
          <a:lstStyle/>
          <a:p>
            <a:fld id="{4821C4A5-98F2-7545-875B-39B2F4500447}" type="slidenum">
              <a:rPr lang="nl-NL"/>
              <a:pPr/>
              <a:t>‹#›</a:t>
            </a:fld>
            <a:endParaRPr lang="nl-NL"/>
          </a:p>
        </p:txBody>
      </p:sp>
      <p:sp>
        <p:nvSpPr>
          <p:cNvPr id="9" name="Titel 1"/>
          <p:cNvSpPr>
            <a:spLocks noGrp="1"/>
          </p:cNvSpPr>
          <p:nvPr>
            <p:ph type="title" hasCustomPrompt="1"/>
          </p:nvPr>
        </p:nvSpPr>
        <p:spPr>
          <a:xfrm>
            <a:off x="475814" y="1777271"/>
            <a:ext cx="7804586" cy="564257"/>
          </a:xfrm>
          <a:effectLst/>
        </p:spPr>
        <p:txBody>
          <a:bodyPr anchor="b">
            <a:spAutoFit/>
          </a:bodyPr>
          <a:lstStyle>
            <a:lvl1pPr>
              <a:defRPr sz="4000" b="0" i="0">
                <a:solidFill>
                  <a:schemeClr val="accent2"/>
                </a:solidFill>
              </a:defRPr>
            </a:lvl1pPr>
          </a:lstStyle>
          <a:p>
            <a:r>
              <a:rPr lang="en-US"/>
              <a:t>Click to enter title</a:t>
            </a:r>
            <a:endParaRPr lang="nl-NL"/>
          </a:p>
        </p:txBody>
      </p:sp>
      <p:sp>
        <p:nvSpPr>
          <p:cNvPr id="6" name="Tijdelijke aanduiding voor tekst 5"/>
          <p:cNvSpPr>
            <a:spLocks noGrp="1"/>
          </p:cNvSpPr>
          <p:nvPr>
            <p:ph type="body" sz="quarter" idx="11" hasCustomPrompt="1"/>
          </p:nvPr>
        </p:nvSpPr>
        <p:spPr>
          <a:xfrm>
            <a:off x="501650" y="2430031"/>
            <a:ext cx="7778749" cy="461665"/>
          </a:xfrm>
        </p:spPr>
        <p:txBody>
          <a:bodyPr wrap="square">
            <a:spAutoFit/>
          </a:bodyPr>
          <a:lstStyle>
            <a:lvl1pPr marL="0" indent="0">
              <a:lnSpc>
                <a:spcPct val="100000"/>
              </a:lnSpc>
              <a:spcBef>
                <a:spcPts val="0"/>
              </a:spcBef>
              <a:buNone/>
              <a:defRPr sz="2400" b="1" i="1" baseline="0">
                <a:solidFill>
                  <a:schemeClr val="tx2"/>
                </a:solidFill>
              </a:defRPr>
            </a:lvl1pPr>
          </a:lstStyle>
          <a:p>
            <a:pPr lvl="0"/>
            <a:r>
              <a:rPr lang="nl-NL"/>
              <a:t>Click </a:t>
            </a:r>
            <a:r>
              <a:rPr lang="nl-NL" err="1"/>
              <a:t>to</a:t>
            </a:r>
            <a:r>
              <a:rPr lang="nl-NL"/>
              <a:t> enter </a:t>
            </a:r>
            <a:r>
              <a:rPr lang="nl-NL" err="1"/>
              <a:t>subtitle</a:t>
            </a:r>
            <a:endParaRPr lang="nl-NL"/>
          </a:p>
        </p:txBody>
      </p:sp>
      <p:sp>
        <p:nvSpPr>
          <p:cNvPr id="7"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198460267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pter slide with large image">
    <p:spTree>
      <p:nvGrpSpPr>
        <p:cNvPr id="1" name=""/>
        <p:cNvGrpSpPr/>
        <p:nvPr/>
      </p:nvGrpSpPr>
      <p:grpSpPr>
        <a:xfrm>
          <a:off x="0" y="0"/>
          <a:ext cx="0" cy="0"/>
          <a:chOff x="0" y="0"/>
          <a:chExt cx="0" cy="0"/>
        </a:xfrm>
      </p:grpSpPr>
      <p:sp>
        <p:nvSpPr>
          <p:cNvPr id="12" name="Picture Placeholder 4"/>
          <p:cNvSpPr>
            <a:spLocks noGrp="1"/>
          </p:cNvSpPr>
          <p:nvPr>
            <p:ph type="pic" sz="quarter" idx="13" hasCustomPrompt="1"/>
          </p:nvPr>
        </p:nvSpPr>
        <p:spPr>
          <a:xfrm>
            <a:off x="0" y="0"/>
            <a:ext cx="9149638" cy="5143500"/>
          </a:xfrm>
          <a:noFill/>
        </p:spPr>
        <p:txBody>
          <a:bodyPr/>
          <a:lstStyle>
            <a:lvl1pPr marL="0" indent="0" algn="ctr">
              <a:buFont typeface="Arial"/>
              <a:buNone/>
              <a:defRPr sz="1200" baseline="0">
                <a:solidFill>
                  <a:schemeClr val="bg1">
                    <a:lumMod val="50000"/>
                  </a:schemeClr>
                </a:solidFill>
                <a:latin typeface="+mj-lt"/>
              </a:defRPr>
            </a:lvl1pPr>
          </a:lstStyle>
          <a:p>
            <a:r>
              <a:rPr lang="en-US"/>
              <a:t>Click the icon to add an image.</a:t>
            </a:r>
            <a:br>
              <a:rPr lang="nl-NL"/>
            </a:br>
            <a:r>
              <a:rPr lang="nl-NL"/>
              <a:t>(</a:t>
            </a:r>
            <a:r>
              <a:rPr lang="en-US"/>
              <a:t>The image will be automatically placed inside this grey box)</a:t>
            </a:r>
            <a:endParaRPr lang="nl-NL"/>
          </a:p>
        </p:txBody>
      </p:sp>
      <p:sp>
        <p:nvSpPr>
          <p:cNvPr id="2" name="Titel 1"/>
          <p:cNvSpPr>
            <a:spLocks noGrp="1"/>
          </p:cNvSpPr>
          <p:nvPr>
            <p:ph type="title" hasCustomPrompt="1"/>
          </p:nvPr>
        </p:nvSpPr>
        <p:spPr>
          <a:xfrm>
            <a:off x="475814" y="1436845"/>
            <a:ext cx="7804586" cy="564257"/>
          </a:xfrm>
          <a:effectLst>
            <a:outerShdw blurRad="63500" dist="25400" dir="5400000" algn="tl" rotWithShape="0">
              <a:schemeClr val="tx1">
                <a:lumMod val="50000"/>
                <a:lumOff val="50000"/>
                <a:alpha val="60000"/>
              </a:schemeClr>
            </a:outerShdw>
          </a:effectLst>
        </p:spPr>
        <p:txBody>
          <a:bodyPr anchor="b">
            <a:spAutoFit/>
          </a:bodyPr>
          <a:lstStyle>
            <a:lvl1pPr>
              <a:defRPr sz="4000">
                <a:solidFill>
                  <a:schemeClr val="bg1"/>
                </a:solidFill>
              </a:defRPr>
            </a:lvl1pPr>
          </a:lstStyle>
          <a:p>
            <a:r>
              <a:rPr lang="en-US"/>
              <a:t>Click to enter title</a:t>
            </a:r>
            <a:endParaRPr lang="nl-NL"/>
          </a:p>
        </p:txBody>
      </p:sp>
      <p:sp>
        <p:nvSpPr>
          <p:cNvPr id="5" name="Tijdelijke aanduiding voor tekst 5"/>
          <p:cNvSpPr>
            <a:spLocks noGrp="1"/>
          </p:cNvSpPr>
          <p:nvPr>
            <p:ph type="body" sz="quarter" idx="11" hasCustomPrompt="1"/>
          </p:nvPr>
        </p:nvSpPr>
        <p:spPr>
          <a:xfrm>
            <a:off x="501651" y="2095645"/>
            <a:ext cx="7778749" cy="461665"/>
          </a:xfrm>
          <a:effectLst>
            <a:outerShdw blurRad="63500" dist="25400" dir="5400000" algn="tl" rotWithShape="0">
              <a:schemeClr val="tx1">
                <a:lumMod val="50000"/>
                <a:lumOff val="50000"/>
                <a:alpha val="60000"/>
              </a:schemeClr>
            </a:outerShdw>
          </a:effectLst>
        </p:spPr>
        <p:txBody>
          <a:bodyPr wrap="square">
            <a:spAutoFit/>
          </a:bodyPr>
          <a:lstStyle>
            <a:lvl1pPr marL="0" indent="0">
              <a:lnSpc>
                <a:spcPct val="100000"/>
              </a:lnSpc>
              <a:spcBef>
                <a:spcPts val="0"/>
              </a:spcBef>
              <a:buNone/>
              <a:defRPr sz="2400" b="1" i="1" baseline="0">
                <a:solidFill>
                  <a:schemeClr val="bg1"/>
                </a:solidFill>
              </a:defRPr>
            </a:lvl1pPr>
          </a:lstStyle>
          <a:p>
            <a:pPr lvl="0"/>
            <a:r>
              <a:rPr lang="nl-NL"/>
              <a:t>Click </a:t>
            </a:r>
            <a:r>
              <a:rPr lang="nl-NL" err="1"/>
              <a:t>to</a:t>
            </a:r>
            <a:r>
              <a:rPr lang="nl-NL"/>
              <a:t> enter </a:t>
            </a:r>
            <a:r>
              <a:rPr lang="nl-NL" err="1"/>
              <a:t>subtitle</a:t>
            </a:r>
            <a:endParaRPr lang="nl-NL"/>
          </a:p>
        </p:txBody>
      </p:sp>
      <p:sp>
        <p:nvSpPr>
          <p:cNvPr id="3" name="Tijdelijke aanduiding voor dianummer 2"/>
          <p:cNvSpPr>
            <a:spLocks noGrp="1"/>
          </p:cNvSpPr>
          <p:nvPr>
            <p:ph type="sldNum" sz="quarter" idx="14"/>
          </p:nvPr>
        </p:nvSpPr>
        <p:spPr/>
        <p:txBody>
          <a:bodyPr/>
          <a:lstStyle/>
          <a:p>
            <a:fld id="{4821C4A5-98F2-7545-875B-39B2F4500447}" type="slidenum">
              <a:rPr lang="nl-NL" smtClean="0"/>
              <a:pPr/>
              <a:t>‹#›</a:t>
            </a:fld>
            <a:endParaRPr lang="nl-NL"/>
          </a:p>
        </p:txBody>
      </p:sp>
      <p:sp>
        <p:nvSpPr>
          <p:cNvPr id="6" name="Tijdelijke aanduiding voor voettekst 3"/>
          <p:cNvSpPr>
            <a:spLocks noGrp="1"/>
          </p:cNvSpPr>
          <p:nvPr>
            <p:ph type="ftr" sz="quarter" idx="3"/>
          </p:nvPr>
        </p:nvSpPr>
        <p:spPr>
          <a:xfrm>
            <a:off x="475812" y="4862517"/>
            <a:ext cx="7042588" cy="204788"/>
          </a:xfrm>
          <a:prstGeom prst="rect">
            <a:avLst/>
          </a:prstGeom>
        </p:spPr>
        <p:txBody>
          <a:bodyPr vert="horz" lIns="0" tIns="45720" rIns="0" bIns="45720"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410416270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ure slide">
    <p:spTree>
      <p:nvGrpSpPr>
        <p:cNvPr id="1" name=""/>
        <p:cNvGrpSpPr/>
        <p:nvPr/>
      </p:nvGrpSpPr>
      <p:grpSpPr>
        <a:xfrm>
          <a:off x="0" y="0"/>
          <a:ext cx="0" cy="0"/>
          <a:chOff x="0" y="0"/>
          <a:chExt cx="0" cy="0"/>
        </a:xfrm>
      </p:grpSpPr>
      <p:sp>
        <p:nvSpPr>
          <p:cNvPr id="8" name="Rechthoek 7"/>
          <p:cNvSpPr/>
          <p:nvPr userDrawn="1"/>
        </p:nvSpPr>
        <p:spPr>
          <a:xfrm>
            <a:off x="7735330"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23" name="Picture Placeholder 4"/>
          <p:cNvSpPr>
            <a:spLocks noGrp="1"/>
          </p:cNvSpPr>
          <p:nvPr>
            <p:ph type="pic" sz="quarter" idx="13" hasCustomPrompt="1"/>
          </p:nvPr>
        </p:nvSpPr>
        <p:spPr>
          <a:xfrm>
            <a:off x="0" y="0"/>
            <a:ext cx="9144000" cy="3582557"/>
          </a:xfrm>
          <a:solidFill>
            <a:srgbClr val="EAEAEA"/>
          </a:solidFill>
        </p:spPr>
        <p:txBody>
          <a:bodyPr/>
          <a:lstStyle>
            <a:lvl1pPr marL="0" indent="0" algn="ctr">
              <a:buNone/>
              <a:defRPr sz="1200">
                <a:solidFill>
                  <a:schemeClr val="bg1">
                    <a:lumMod val="50000"/>
                  </a:schemeClr>
                </a:solidFill>
                <a:latin typeface="+mj-lt"/>
              </a:defRPr>
            </a:lvl1pPr>
          </a:lstStyle>
          <a:p>
            <a:r>
              <a:rPr lang="en-US"/>
              <a:t>Click the icon to add an image.</a:t>
            </a:r>
            <a:br>
              <a:rPr lang="nl-NL"/>
            </a:br>
            <a:r>
              <a:rPr lang="nl-NL"/>
              <a:t>(</a:t>
            </a:r>
            <a:r>
              <a:rPr lang="en-US"/>
              <a:t>The image will be automatically placed inside this grey box)</a:t>
            </a:r>
          </a:p>
        </p:txBody>
      </p:sp>
      <p:sp>
        <p:nvSpPr>
          <p:cNvPr id="21" name="Titel 14"/>
          <p:cNvSpPr>
            <a:spLocks noGrp="1"/>
          </p:cNvSpPr>
          <p:nvPr>
            <p:ph type="title" hasCustomPrompt="1"/>
          </p:nvPr>
        </p:nvSpPr>
        <p:spPr>
          <a:xfrm>
            <a:off x="1" y="2042914"/>
            <a:ext cx="6096069" cy="1279066"/>
          </a:xfrm>
          <a:custGeom>
            <a:avLst/>
            <a:gdLst>
              <a:gd name="connsiteX0" fmla="*/ 0 w 6151950"/>
              <a:gd name="connsiteY0" fmla="*/ 0 h 1269833"/>
              <a:gd name="connsiteX1" fmla="*/ 5999989 w 6151950"/>
              <a:gd name="connsiteY1" fmla="*/ 0 h 1269833"/>
              <a:gd name="connsiteX2" fmla="*/ 6151950 w 6151950"/>
              <a:gd name="connsiteY2" fmla="*/ 151961 h 1269833"/>
              <a:gd name="connsiteX3" fmla="*/ 6151950 w 6151950"/>
              <a:gd name="connsiteY3" fmla="*/ 1269833 h 1269833"/>
              <a:gd name="connsiteX4" fmla="*/ 0 w 6151950"/>
              <a:gd name="connsiteY4" fmla="*/ 1269833 h 1269833"/>
              <a:gd name="connsiteX5" fmla="*/ 0 w 6151950"/>
              <a:gd name="connsiteY5" fmla="*/ 0 h 1269833"/>
              <a:gd name="connsiteX0" fmla="*/ 0 w 6151950"/>
              <a:gd name="connsiteY0" fmla="*/ 0 h 1278300"/>
              <a:gd name="connsiteX1" fmla="*/ 5999989 w 6151950"/>
              <a:gd name="connsiteY1" fmla="*/ 0 h 1278300"/>
              <a:gd name="connsiteX2" fmla="*/ 6151950 w 6151950"/>
              <a:gd name="connsiteY2" fmla="*/ 151961 h 1278300"/>
              <a:gd name="connsiteX3" fmla="*/ 5999550 w 6151950"/>
              <a:gd name="connsiteY3" fmla="*/ 1278300 h 1278300"/>
              <a:gd name="connsiteX4" fmla="*/ 0 w 6151950"/>
              <a:gd name="connsiteY4" fmla="*/ 1269833 h 1278300"/>
              <a:gd name="connsiteX5" fmla="*/ 0 w 6151950"/>
              <a:gd name="connsiteY5" fmla="*/ 0 h 1278300"/>
              <a:gd name="connsiteX0" fmla="*/ 0 w 6151950"/>
              <a:gd name="connsiteY0" fmla="*/ 0 h 1278300"/>
              <a:gd name="connsiteX1" fmla="*/ 5999989 w 6151950"/>
              <a:gd name="connsiteY1" fmla="*/ 0 h 1278300"/>
              <a:gd name="connsiteX2" fmla="*/ 6151950 w 6151950"/>
              <a:gd name="connsiteY2" fmla="*/ 151961 h 1278300"/>
              <a:gd name="connsiteX3" fmla="*/ 6026149 w 6151950"/>
              <a:gd name="connsiteY3" fmla="*/ 1052450 h 1278300"/>
              <a:gd name="connsiteX4" fmla="*/ 5999550 w 6151950"/>
              <a:gd name="connsiteY4" fmla="*/ 1278300 h 1278300"/>
              <a:gd name="connsiteX5" fmla="*/ 0 w 6151950"/>
              <a:gd name="connsiteY5" fmla="*/ 1269833 h 1278300"/>
              <a:gd name="connsiteX6" fmla="*/ 0 w 6151950"/>
              <a:gd name="connsiteY6" fmla="*/ 0 h 1278300"/>
              <a:gd name="connsiteX0" fmla="*/ 0 w 6153149"/>
              <a:gd name="connsiteY0" fmla="*/ 0 h 1278300"/>
              <a:gd name="connsiteX1" fmla="*/ 5999989 w 6153149"/>
              <a:gd name="connsiteY1" fmla="*/ 0 h 1278300"/>
              <a:gd name="connsiteX2" fmla="*/ 6151950 w 6153149"/>
              <a:gd name="connsiteY2" fmla="*/ 151961 h 1278300"/>
              <a:gd name="connsiteX3" fmla="*/ 6153149 w 6153149"/>
              <a:gd name="connsiteY3" fmla="*/ 1103250 h 1278300"/>
              <a:gd name="connsiteX4" fmla="*/ 5999550 w 6153149"/>
              <a:gd name="connsiteY4" fmla="*/ 1278300 h 1278300"/>
              <a:gd name="connsiteX5" fmla="*/ 0 w 6153149"/>
              <a:gd name="connsiteY5" fmla="*/ 1269833 h 1278300"/>
              <a:gd name="connsiteX6" fmla="*/ 0 w 6153149"/>
              <a:gd name="connsiteY6" fmla="*/ 0 h 1278300"/>
              <a:gd name="connsiteX0" fmla="*/ 0 w 6153149"/>
              <a:gd name="connsiteY0" fmla="*/ 0 h 1278300"/>
              <a:gd name="connsiteX1" fmla="*/ 5999989 w 6153149"/>
              <a:gd name="connsiteY1" fmla="*/ 0 h 1278300"/>
              <a:gd name="connsiteX2" fmla="*/ 6151950 w 6153149"/>
              <a:gd name="connsiteY2" fmla="*/ 151961 h 1278300"/>
              <a:gd name="connsiteX3" fmla="*/ 6153149 w 6153149"/>
              <a:gd name="connsiteY3" fmla="*/ 1103250 h 1278300"/>
              <a:gd name="connsiteX4" fmla="*/ 5999550 w 6153149"/>
              <a:gd name="connsiteY4" fmla="*/ 1278300 h 1278300"/>
              <a:gd name="connsiteX5" fmla="*/ 0 w 6153149"/>
              <a:gd name="connsiteY5" fmla="*/ 1269833 h 1278300"/>
              <a:gd name="connsiteX6" fmla="*/ 0 w 6153149"/>
              <a:gd name="connsiteY6" fmla="*/ 0 h 1278300"/>
              <a:gd name="connsiteX0" fmla="*/ 0 w 6153149"/>
              <a:gd name="connsiteY0" fmla="*/ 0 h 1278300"/>
              <a:gd name="connsiteX1" fmla="*/ 5999989 w 6153149"/>
              <a:gd name="connsiteY1" fmla="*/ 0 h 1278300"/>
              <a:gd name="connsiteX2" fmla="*/ 6151950 w 6153149"/>
              <a:gd name="connsiteY2" fmla="*/ 151961 h 1278300"/>
              <a:gd name="connsiteX3" fmla="*/ 6153149 w 6153149"/>
              <a:gd name="connsiteY3" fmla="*/ 1103250 h 1278300"/>
              <a:gd name="connsiteX4" fmla="*/ 5999550 w 6153149"/>
              <a:gd name="connsiteY4" fmla="*/ 1278300 h 1278300"/>
              <a:gd name="connsiteX5" fmla="*/ 0 w 6153149"/>
              <a:gd name="connsiteY5" fmla="*/ 1269833 h 1278300"/>
              <a:gd name="connsiteX6" fmla="*/ 0 w 6153149"/>
              <a:gd name="connsiteY6" fmla="*/ 0 h 1278300"/>
              <a:gd name="connsiteX0" fmla="*/ 0 w 6153229"/>
              <a:gd name="connsiteY0" fmla="*/ 0 h 1278300"/>
              <a:gd name="connsiteX1" fmla="*/ 5999989 w 6153229"/>
              <a:gd name="connsiteY1" fmla="*/ 0 h 1278300"/>
              <a:gd name="connsiteX2" fmla="*/ 6151950 w 6153229"/>
              <a:gd name="connsiteY2" fmla="*/ 151961 h 1278300"/>
              <a:gd name="connsiteX3" fmla="*/ 6153149 w 6153229"/>
              <a:gd name="connsiteY3" fmla="*/ 1103250 h 1278300"/>
              <a:gd name="connsiteX4" fmla="*/ 5999550 w 6153229"/>
              <a:gd name="connsiteY4" fmla="*/ 1278300 h 1278300"/>
              <a:gd name="connsiteX5" fmla="*/ 0 w 6153229"/>
              <a:gd name="connsiteY5" fmla="*/ 1269833 h 1278300"/>
              <a:gd name="connsiteX6" fmla="*/ 0 w 6153229"/>
              <a:gd name="connsiteY6" fmla="*/ 0 h 1278300"/>
              <a:gd name="connsiteX0" fmla="*/ 0 w 6153219"/>
              <a:gd name="connsiteY0" fmla="*/ 0 h 1278300"/>
              <a:gd name="connsiteX1" fmla="*/ 5999989 w 6153219"/>
              <a:gd name="connsiteY1" fmla="*/ 0 h 1278300"/>
              <a:gd name="connsiteX2" fmla="*/ 6151950 w 6153219"/>
              <a:gd name="connsiteY2" fmla="*/ 151961 h 1278300"/>
              <a:gd name="connsiteX3" fmla="*/ 6153149 w 6153219"/>
              <a:gd name="connsiteY3" fmla="*/ 1103250 h 1278300"/>
              <a:gd name="connsiteX4" fmla="*/ 5999550 w 6153219"/>
              <a:gd name="connsiteY4" fmla="*/ 1278300 h 1278300"/>
              <a:gd name="connsiteX5" fmla="*/ 0 w 6153219"/>
              <a:gd name="connsiteY5" fmla="*/ 1269833 h 1278300"/>
              <a:gd name="connsiteX6" fmla="*/ 0 w 6153219"/>
              <a:gd name="connsiteY6" fmla="*/ 0 h 1278300"/>
              <a:gd name="connsiteX0" fmla="*/ 4233 w 6157452"/>
              <a:gd name="connsiteY0" fmla="*/ 0 h 1282533"/>
              <a:gd name="connsiteX1" fmla="*/ 6004222 w 6157452"/>
              <a:gd name="connsiteY1" fmla="*/ 0 h 1282533"/>
              <a:gd name="connsiteX2" fmla="*/ 6156183 w 6157452"/>
              <a:gd name="connsiteY2" fmla="*/ 151961 h 1282533"/>
              <a:gd name="connsiteX3" fmla="*/ 6157382 w 6157452"/>
              <a:gd name="connsiteY3" fmla="*/ 1103250 h 1282533"/>
              <a:gd name="connsiteX4" fmla="*/ 6003783 w 6157452"/>
              <a:gd name="connsiteY4" fmla="*/ 1278300 h 1282533"/>
              <a:gd name="connsiteX5" fmla="*/ 0 w 6157452"/>
              <a:gd name="connsiteY5" fmla="*/ 1282533 h 1282533"/>
              <a:gd name="connsiteX6" fmla="*/ 4233 w 6157452"/>
              <a:gd name="connsiteY6" fmla="*/ 0 h 1282533"/>
              <a:gd name="connsiteX0" fmla="*/ 0 w 6153219"/>
              <a:gd name="connsiteY0" fmla="*/ 0 h 1291000"/>
              <a:gd name="connsiteX1" fmla="*/ 5999989 w 6153219"/>
              <a:gd name="connsiteY1" fmla="*/ 0 h 1291000"/>
              <a:gd name="connsiteX2" fmla="*/ 6151950 w 6153219"/>
              <a:gd name="connsiteY2" fmla="*/ 151961 h 1291000"/>
              <a:gd name="connsiteX3" fmla="*/ 6153149 w 6153219"/>
              <a:gd name="connsiteY3" fmla="*/ 1103250 h 1291000"/>
              <a:gd name="connsiteX4" fmla="*/ 5999550 w 6153219"/>
              <a:gd name="connsiteY4" fmla="*/ 1278300 h 1291000"/>
              <a:gd name="connsiteX5" fmla="*/ 8467 w 6153219"/>
              <a:gd name="connsiteY5" fmla="*/ 1291000 h 1291000"/>
              <a:gd name="connsiteX6" fmla="*/ 0 w 6153219"/>
              <a:gd name="connsiteY6" fmla="*/ 0 h 1291000"/>
              <a:gd name="connsiteX0" fmla="*/ 0 w 6156424"/>
              <a:gd name="connsiteY0" fmla="*/ 0 h 1291000"/>
              <a:gd name="connsiteX1" fmla="*/ 6003194 w 6156424"/>
              <a:gd name="connsiteY1" fmla="*/ 0 h 1291000"/>
              <a:gd name="connsiteX2" fmla="*/ 6155155 w 6156424"/>
              <a:gd name="connsiteY2" fmla="*/ 151961 h 1291000"/>
              <a:gd name="connsiteX3" fmla="*/ 6156354 w 6156424"/>
              <a:gd name="connsiteY3" fmla="*/ 1103250 h 1291000"/>
              <a:gd name="connsiteX4" fmla="*/ 6002755 w 6156424"/>
              <a:gd name="connsiteY4" fmla="*/ 1278300 h 1291000"/>
              <a:gd name="connsiteX5" fmla="*/ 11672 w 6156424"/>
              <a:gd name="connsiteY5" fmla="*/ 1291000 h 1291000"/>
              <a:gd name="connsiteX6" fmla="*/ 0 w 6156424"/>
              <a:gd name="connsiteY6" fmla="*/ 0 h 1291000"/>
              <a:gd name="connsiteX0" fmla="*/ 0 w 6156424"/>
              <a:gd name="connsiteY0" fmla="*/ 0 h 1291000"/>
              <a:gd name="connsiteX1" fmla="*/ 6003194 w 6156424"/>
              <a:gd name="connsiteY1" fmla="*/ 0 h 1291000"/>
              <a:gd name="connsiteX2" fmla="*/ 6155155 w 6156424"/>
              <a:gd name="connsiteY2" fmla="*/ 151961 h 1291000"/>
              <a:gd name="connsiteX3" fmla="*/ 6156354 w 6156424"/>
              <a:gd name="connsiteY3" fmla="*/ 1103250 h 1291000"/>
              <a:gd name="connsiteX4" fmla="*/ 6002755 w 6156424"/>
              <a:gd name="connsiteY4" fmla="*/ 1278300 h 1291000"/>
              <a:gd name="connsiteX5" fmla="*/ 2058 w 6156424"/>
              <a:gd name="connsiteY5" fmla="*/ 1291000 h 1291000"/>
              <a:gd name="connsiteX6" fmla="*/ 0 w 6156424"/>
              <a:gd name="connsiteY6" fmla="*/ 0 h 12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6424" h="1291000">
                <a:moveTo>
                  <a:pt x="0" y="0"/>
                </a:moveTo>
                <a:lnTo>
                  <a:pt x="6003194" y="0"/>
                </a:lnTo>
                <a:cubicBezTo>
                  <a:pt x="6087120" y="0"/>
                  <a:pt x="6155155" y="68035"/>
                  <a:pt x="6155155" y="151961"/>
                </a:cubicBezTo>
                <a:cubicBezTo>
                  <a:pt x="6155555" y="469057"/>
                  <a:pt x="6152521" y="930600"/>
                  <a:pt x="6156354" y="1103250"/>
                </a:cubicBezTo>
                <a:cubicBezTo>
                  <a:pt x="6160187" y="1275900"/>
                  <a:pt x="6007388" y="1270750"/>
                  <a:pt x="6002755" y="1278300"/>
                </a:cubicBezTo>
                <a:lnTo>
                  <a:pt x="2058" y="1291000"/>
                </a:lnTo>
                <a:cubicBezTo>
                  <a:pt x="-764" y="860667"/>
                  <a:pt x="2822" y="430333"/>
                  <a:pt x="0" y="0"/>
                </a:cubicBezTo>
                <a:close/>
              </a:path>
            </a:pathLst>
          </a:custGeom>
          <a:solidFill>
            <a:schemeClr val="bg1">
              <a:alpha val="87000"/>
            </a:schemeClr>
          </a:solidFill>
          <a:ln w="19050" cmpd="sng">
            <a:noFill/>
          </a:ln>
        </p:spPr>
        <p:txBody>
          <a:bodyPr wrap="square" lIns="504000" tIns="126000" rIns="108000" bIns="144000" anchor="b">
            <a:spAutoFit/>
          </a:bodyPr>
          <a:lstStyle>
            <a:lvl1pPr>
              <a:defRPr sz="3600">
                <a:solidFill>
                  <a:schemeClr val="tx2"/>
                </a:solidFill>
              </a:defRPr>
            </a:lvl1pPr>
          </a:lstStyle>
          <a:p>
            <a:br>
              <a:rPr lang="en-US"/>
            </a:br>
            <a:r>
              <a:rPr lang="en-US"/>
              <a:t>Click to enter title</a:t>
            </a:r>
            <a:endParaRPr lang="nl-NL"/>
          </a:p>
        </p:txBody>
      </p:sp>
      <p:sp>
        <p:nvSpPr>
          <p:cNvPr id="26" name="Tijdelijke aanduiding voor dianummer 4"/>
          <p:cNvSpPr txBox="1">
            <a:spLocks/>
          </p:cNvSpPr>
          <p:nvPr userDrawn="1"/>
        </p:nvSpPr>
        <p:spPr>
          <a:xfrm>
            <a:off x="7637464" y="4862517"/>
            <a:ext cx="642937" cy="204788"/>
          </a:xfrm>
          <a:prstGeom prst="rect">
            <a:avLst/>
          </a:prstGeom>
        </p:spPr>
        <p:txBody>
          <a:bodyPr vert="horz" lIns="91440" tIns="45720" rIns="0" bIns="45720" rtlCol="0" anchor="ctr"/>
          <a:lstStyle>
            <a:defPPr>
              <a:defRPr lang="nl-NL"/>
            </a:defPPr>
            <a:lvl1pPr marL="0" algn="r" defTabSz="456999" rtl="0" eaLnBrk="1" latinLnBrk="0" hangingPunct="1">
              <a:defRPr sz="1200" kern="1200">
                <a:solidFill>
                  <a:schemeClr val="tx1">
                    <a:lumMod val="50000"/>
                    <a:lumOff val="50000"/>
                  </a:schemeClr>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nl-NL">
                <a:solidFill>
                  <a:schemeClr val="bg1"/>
                </a:solidFill>
              </a:rPr>
              <a:pPr/>
              <a:t>‹#›</a:t>
            </a:fld>
            <a:endParaRPr lang="nl-NL">
              <a:solidFill>
                <a:schemeClr val="bg1"/>
              </a:solidFill>
            </a:endParaRPr>
          </a:p>
        </p:txBody>
      </p:sp>
      <p:pic>
        <p:nvPicPr>
          <p:cNvPr id="7" name="Afbeelding 9" descr="RB_logo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130540" y="3867848"/>
            <a:ext cx="722072" cy="864137"/>
          </a:xfrm>
          <a:prstGeom prst="rect">
            <a:avLst/>
          </a:prstGeom>
        </p:spPr>
      </p:pic>
      <p:sp>
        <p:nvSpPr>
          <p:cNvPr id="9" name="Tijdelijke aanduiding voor dianummer 4"/>
          <p:cNvSpPr>
            <a:spLocks noGrp="1"/>
          </p:cNvSpPr>
          <p:nvPr>
            <p:ph type="sldNum" sz="quarter" idx="10"/>
          </p:nvPr>
        </p:nvSpPr>
        <p:spPr>
          <a:xfrm>
            <a:off x="6994527" y="4592463"/>
            <a:ext cx="642937" cy="204788"/>
          </a:xfrm>
        </p:spPr>
        <p:txBody>
          <a:bodyPr/>
          <a:lstStyle>
            <a:lvl1pPr>
              <a:defRPr>
                <a:solidFill>
                  <a:schemeClr val="bg1"/>
                </a:solidFill>
              </a:defRPr>
            </a:lvl1pPr>
          </a:lstStyle>
          <a:p>
            <a:fld id="{4821C4A5-98F2-7545-875B-39B2F4500447}" type="slidenum">
              <a:rPr lang="nl-NL"/>
              <a:pPr/>
              <a:t>‹#›</a:t>
            </a:fld>
            <a:endParaRPr lang="nl-NL"/>
          </a:p>
        </p:txBody>
      </p:sp>
    </p:spTree>
    <p:extLst>
      <p:ext uri="{BB962C8B-B14F-4D97-AF65-F5344CB8AC3E}">
        <p14:creationId xmlns:p14="http://schemas.microsoft.com/office/powerpoint/2010/main" val="1147007286"/>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2 columns wide/narrow">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5019052"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5731934" y="1329929"/>
            <a:ext cx="2548466"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
        <p:nvSpPr>
          <p:cNvPr id="10" name="Rounded Rectangle 10">
            <a:hlinkClick r:id="" action="ppaction://noaction"/>
          </p:cNvPr>
          <p:cNvSpPr/>
          <p:nvPr userDrawn="1"/>
        </p:nvSpPr>
        <p:spPr>
          <a:xfrm>
            <a:off x="4601287"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1" name="Rounded Rectangle 11">
            <a:hlinkClick r:id="" action="ppaction://noaction"/>
          </p:cNvPr>
          <p:cNvSpPr/>
          <p:nvPr userDrawn="1"/>
        </p:nvSpPr>
        <p:spPr>
          <a:xfrm>
            <a:off x="8262081" y="4875491"/>
            <a:ext cx="870044"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accent1"/>
                </a:solidFill>
                <a:effectLst/>
                <a:uLnTx/>
                <a:uFillTx/>
                <a:latin typeface="Myriad Pro"/>
                <a:ea typeface="+mn-ea"/>
                <a:cs typeface="Myriad Pro"/>
              </a:rPr>
            </a:br>
            <a:r>
              <a:rPr kumimoji="0" lang="en-GB" sz="800" b="1" i="0" u="none" strike="noStrike" kern="0" cap="none" spc="0" normalizeH="0" baseline="0" noProof="0">
                <a:ln>
                  <a:noFill/>
                </a:ln>
                <a:solidFill>
                  <a:schemeClr val="accent1"/>
                </a:solidFill>
                <a:effectLst/>
                <a:uLnTx/>
                <a:uFillTx/>
                <a:latin typeface="Myriad Pro"/>
                <a:ea typeface="+mn-ea"/>
                <a:cs typeface="Myriad Pro"/>
              </a:rPr>
              <a:t>Control</a:t>
            </a:r>
          </a:p>
        </p:txBody>
      </p:sp>
      <p:sp>
        <p:nvSpPr>
          <p:cNvPr id="12" name="Rounded Rectangle 11">
            <a:hlinkClick r:id="" action="ppaction://noaction"/>
          </p:cNvPr>
          <p:cNvSpPr/>
          <p:nvPr userDrawn="1"/>
        </p:nvSpPr>
        <p:spPr>
          <a:xfrm>
            <a:off x="5516486"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7. Migration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3" name="Rounded Rectangle 10">
            <a:hlinkClick r:id="" action="ppaction://noaction"/>
          </p:cNvPr>
          <p:cNvSpPr/>
          <p:nvPr userDrawn="1"/>
        </p:nvSpPr>
        <p:spPr>
          <a:xfrm>
            <a:off x="6431685"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8. Security</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4" name="Rounded Rectangle 10">
            <a:hlinkClick r:id="" action="ppaction://noaction"/>
          </p:cNvPr>
          <p:cNvSpPr/>
          <p:nvPr userDrawn="1"/>
        </p:nvSpPr>
        <p:spPr>
          <a:xfrm>
            <a:off x="7346884"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9. Impact on Operations</a:t>
            </a:r>
          </a:p>
        </p:txBody>
      </p:sp>
      <p:sp>
        <p:nvSpPr>
          <p:cNvPr id="15" name="Rounded Rectangle 10">
            <a:hlinkClick r:id="" action="ppaction://noaction"/>
          </p:cNvPr>
          <p:cNvSpPr/>
          <p:nvPr userDrawn="1"/>
        </p:nvSpPr>
        <p:spPr>
          <a:xfrm>
            <a:off x="3686088"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6" name="Rounded Rectangle 10">
            <a:hlinkClick r:id="" action="ppaction://noaction"/>
          </p:cNvPr>
          <p:cNvSpPr/>
          <p:nvPr userDrawn="1"/>
        </p:nvSpPr>
        <p:spPr>
          <a:xfrm>
            <a:off x="2770889"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7" name="Rounded Rectangle 10">
            <a:hlinkClick r:id="" action="ppaction://noaction"/>
          </p:cNvPr>
          <p:cNvSpPr/>
          <p:nvPr userDrawn="1"/>
        </p:nvSpPr>
        <p:spPr>
          <a:xfrm>
            <a:off x="1855690"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3. Process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8" name="Rounded Rectangle 10">
            <a:hlinkClick r:id="" action="ppaction://noaction"/>
          </p:cNvPr>
          <p:cNvSpPr/>
          <p:nvPr userDrawn="1"/>
        </p:nvSpPr>
        <p:spPr>
          <a:xfrm>
            <a:off x="940491"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9" name="Rounded Rectangle 10">
            <a:hlinkClick r:id="" action="ppaction://noaction"/>
          </p:cNvPr>
          <p:cNvSpPr/>
          <p:nvPr userDrawn="1"/>
        </p:nvSpPr>
        <p:spPr>
          <a:xfrm>
            <a:off x="25292"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Tree>
    <p:extLst>
      <p:ext uri="{BB962C8B-B14F-4D97-AF65-F5344CB8AC3E}">
        <p14:creationId xmlns:p14="http://schemas.microsoft.com/office/powerpoint/2010/main" val="171641373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Basisdia">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3" name="Tijdelijke aanduiding voor dianummer 2"/>
          <p:cNvSpPr>
            <a:spLocks noGrp="1"/>
          </p:cNvSpPr>
          <p:nvPr>
            <p:ph type="sldNum" sz="quarter" idx="10"/>
          </p:nvPr>
        </p:nvSpPr>
        <p:spPr/>
        <p:txBody>
          <a:bodyPr/>
          <a:lstStyle/>
          <a:p>
            <a:fld id="{4821C4A5-98F2-7545-875B-39B2F4500447}" type="slidenum">
              <a:rPr/>
              <a:pPr/>
              <a:t>‹#›</a:t>
            </a:fld>
            <a:endParaRPr lang="nl-NL"/>
          </a:p>
        </p:txBody>
      </p:sp>
      <p:sp>
        <p:nvSpPr>
          <p:cNvPr id="5" name="Tijdelijke aanduiding voor inhoud 4"/>
          <p:cNvSpPr>
            <a:spLocks noGrp="1"/>
          </p:cNvSpPr>
          <p:nvPr>
            <p:ph sz="quarter" idx="11" hasCustomPrompt="1"/>
          </p:nvPr>
        </p:nvSpPr>
        <p:spPr>
          <a:xfrm>
            <a:off x="475815" y="1336196"/>
            <a:ext cx="7804586" cy="3429000"/>
          </a:xfrm>
        </p:spPr>
        <p:txBody>
          <a:bodyPr/>
          <a:lstStyle>
            <a:lvl2pPr>
              <a:lnSpc>
                <a:spcPct val="100000"/>
              </a:lnSpc>
              <a:defRPr/>
            </a:lvl2pPr>
            <a:lvl3pPr>
              <a:lnSpc>
                <a:spcPct val="100000"/>
              </a:lnSpc>
              <a:defRPr/>
            </a:lvl3pPr>
            <a:lvl4pPr>
              <a:lnSpc>
                <a:spcPct val="100000"/>
              </a:lnSpc>
              <a:defRPr/>
            </a:lvl4pPr>
            <a:lvl5pPr>
              <a:lnSpc>
                <a:spcPct val="100000"/>
              </a:lnSpc>
              <a:defRPr/>
            </a:lvl5pPr>
          </a:lstStyle>
          <a:p>
            <a:pPr lvl="0"/>
            <a:r>
              <a:rPr lang="nl-NL"/>
              <a:t>Click </a:t>
            </a:r>
            <a:r>
              <a:rPr lang="nl-NL" err="1"/>
              <a:t>to</a:t>
            </a:r>
            <a:r>
              <a:rPr lang="nl-NL"/>
              <a:t> </a:t>
            </a:r>
            <a:r>
              <a:rPr lang="nl-NL" err="1"/>
              <a:t>add</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Tijdelijke aanduiding voor voettekst 3"/>
          <p:cNvSpPr>
            <a:spLocks noGrp="1"/>
          </p:cNvSpPr>
          <p:nvPr>
            <p:ph type="ftr" sz="quarter" idx="3"/>
          </p:nvPr>
        </p:nvSpPr>
        <p:spPr>
          <a:xfrm>
            <a:off x="475812" y="4862518"/>
            <a:ext cx="7042588" cy="204788"/>
          </a:xfrm>
          <a:prstGeom prst="rect">
            <a:avLst/>
          </a:prstGeom>
        </p:spPr>
        <p:txBody>
          <a:bodyPr vert="horz" lIns="0" tIns="45715" rIns="0" bIns="45715" rtlCol="0" anchor="ctr"/>
          <a:lstStyle>
            <a:lvl1pPr algn="l">
              <a:defRPr sz="1200">
                <a:solidFill>
                  <a:srgbClr val="7F7F7F"/>
                </a:solidFill>
              </a:defRPr>
            </a:lvl1pPr>
          </a:lstStyle>
          <a:p>
            <a:endParaRPr lang="nl-NL"/>
          </a:p>
        </p:txBody>
      </p:sp>
    </p:spTree>
    <p:extLst>
      <p:ext uri="{BB962C8B-B14F-4D97-AF65-F5344CB8AC3E}">
        <p14:creationId xmlns:p14="http://schemas.microsoft.com/office/powerpoint/2010/main" val="2314925761"/>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45392" y="4564310"/>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6"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
        <p:nvSpPr>
          <p:cNvPr id="7" name="Rounded Rectangle 10">
            <a:hlinkClick r:id="" action="ppaction://noaction"/>
          </p:cNvPr>
          <p:cNvSpPr/>
          <p:nvPr userDrawn="1"/>
        </p:nvSpPr>
        <p:spPr>
          <a:xfrm>
            <a:off x="4601287"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8" name="Rounded Rectangle 11">
            <a:hlinkClick r:id="" action="ppaction://noaction"/>
          </p:cNvPr>
          <p:cNvSpPr/>
          <p:nvPr userDrawn="1"/>
        </p:nvSpPr>
        <p:spPr>
          <a:xfrm>
            <a:off x="8262081" y="4875491"/>
            <a:ext cx="870044"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accent1"/>
                </a:solidFill>
                <a:effectLst/>
                <a:uLnTx/>
                <a:uFillTx/>
                <a:latin typeface="Myriad Pro"/>
                <a:ea typeface="+mn-ea"/>
                <a:cs typeface="Myriad Pro"/>
              </a:rPr>
            </a:br>
            <a:r>
              <a:rPr kumimoji="0" lang="en-GB" sz="800" b="1" i="0" u="none" strike="noStrike" kern="0" cap="none" spc="0" normalizeH="0" baseline="0" noProof="0">
                <a:ln>
                  <a:noFill/>
                </a:ln>
                <a:solidFill>
                  <a:schemeClr val="accent1"/>
                </a:solidFill>
                <a:effectLst/>
                <a:uLnTx/>
                <a:uFillTx/>
                <a:latin typeface="Myriad Pro"/>
                <a:ea typeface="+mn-ea"/>
                <a:cs typeface="Myriad Pro"/>
              </a:rPr>
              <a:t>Control</a:t>
            </a:r>
          </a:p>
        </p:txBody>
      </p:sp>
      <p:sp>
        <p:nvSpPr>
          <p:cNvPr id="9" name="Rounded Rectangle 8">
            <a:hlinkClick r:id="" action="ppaction://noaction"/>
          </p:cNvPr>
          <p:cNvSpPr/>
          <p:nvPr userDrawn="1"/>
        </p:nvSpPr>
        <p:spPr>
          <a:xfrm>
            <a:off x="5516486"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7. Migration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0" name="Rounded Rectangle 10">
            <a:hlinkClick r:id="" action="ppaction://noaction"/>
          </p:cNvPr>
          <p:cNvSpPr/>
          <p:nvPr userDrawn="1"/>
        </p:nvSpPr>
        <p:spPr>
          <a:xfrm>
            <a:off x="6431685"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8. Security</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1" name="Rounded Rectangle 10">
            <a:hlinkClick r:id="" action="ppaction://noaction"/>
          </p:cNvPr>
          <p:cNvSpPr/>
          <p:nvPr userDrawn="1"/>
        </p:nvSpPr>
        <p:spPr>
          <a:xfrm>
            <a:off x="7346884"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9. Impact on Operations</a:t>
            </a:r>
          </a:p>
        </p:txBody>
      </p:sp>
      <p:sp>
        <p:nvSpPr>
          <p:cNvPr id="12" name="Rounded Rectangle 10">
            <a:hlinkClick r:id="" action="ppaction://noaction"/>
          </p:cNvPr>
          <p:cNvSpPr/>
          <p:nvPr userDrawn="1"/>
        </p:nvSpPr>
        <p:spPr>
          <a:xfrm>
            <a:off x="3686088"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3" name="Rounded Rectangle 10">
            <a:hlinkClick r:id="" action="ppaction://noaction"/>
          </p:cNvPr>
          <p:cNvSpPr/>
          <p:nvPr userDrawn="1"/>
        </p:nvSpPr>
        <p:spPr>
          <a:xfrm>
            <a:off x="2770889"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4" name="Rounded Rectangle 10">
            <a:hlinkClick r:id="" action="ppaction://noaction"/>
          </p:cNvPr>
          <p:cNvSpPr/>
          <p:nvPr userDrawn="1"/>
        </p:nvSpPr>
        <p:spPr>
          <a:xfrm>
            <a:off x="1855690"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3. Process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5" name="Rounded Rectangle 10">
            <a:hlinkClick r:id="" action="ppaction://noaction"/>
          </p:cNvPr>
          <p:cNvSpPr/>
          <p:nvPr userDrawn="1"/>
        </p:nvSpPr>
        <p:spPr>
          <a:xfrm>
            <a:off x="940491"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6" name="Rounded Rectangle 10">
            <a:hlinkClick r:id="" action="ppaction://noaction"/>
          </p:cNvPr>
          <p:cNvSpPr/>
          <p:nvPr userDrawn="1"/>
        </p:nvSpPr>
        <p:spPr>
          <a:xfrm>
            <a:off x="25292"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Tree>
    <p:extLst>
      <p:ext uri="{BB962C8B-B14F-4D97-AF65-F5344CB8AC3E}">
        <p14:creationId xmlns:p14="http://schemas.microsoft.com/office/powerpoint/2010/main" val="327436349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hthoek 1"/>
          <p:cNvSpPr/>
          <p:nvPr/>
        </p:nvSpPr>
        <p:spPr>
          <a:xfrm>
            <a:off x="7735330"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3" name="Subtitel 2"/>
          <p:cNvSpPr>
            <a:spLocks noGrp="1"/>
          </p:cNvSpPr>
          <p:nvPr>
            <p:ph type="subTitle" idx="1" hasCustomPrompt="1"/>
          </p:nvPr>
        </p:nvSpPr>
        <p:spPr>
          <a:xfrm>
            <a:off x="1920875" y="3428327"/>
            <a:ext cx="4166260" cy="474109"/>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456999" rtl="0" eaLnBrk="1" latinLnBrk="0" hangingPunct="1">
              <a:lnSpc>
                <a:spcPct val="100000"/>
              </a:lnSpc>
              <a:spcBef>
                <a:spcPct val="0"/>
              </a:spcBef>
              <a:buNone/>
              <a:defRPr lang="nl-NL" sz="2000" b="1" i="1" kern="1200" dirty="0">
                <a:solidFill>
                  <a:schemeClr val="bg1"/>
                </a:solidFill>
                <a:latin typeface="+mj-lt"/>
                <a:ea typeface="+mn-ea"/>
                <a:cs typeface="+mn-cs"/>
              </a:defRPr>
            </a:lvl1pPr>
            <a:lvl2pPr marL="456999" indent="0" algn="ctr">
              <a:buNone/>
              <a:defRPr>
                <a:solidFill>
                  <a:schemeClr val="tx1">
                    <a:tint val="75000"/>
                  </a:schemeClr>
                </a:solidFill>
              </a:defRPr>
            </a:lvl2pPr>
            <a:lvl3pPr marL="913999" indent="0" algn="ctr">
              <a:buNone/>
              <a:defRPr>
                <a:solidFill>
                  <a:schemeClr val="tx1">
                    <a:tint val="75000"/>
                  </a:schemeClr>
                </a:solidFill>
              </a:defRPr>
            </a:lvl3pPr>
            <a:lvl4pPr marL="1370998" indent="0" algn="ctr">
              <a:buNone/>
              <a:defRPr>
                <a:solidFill>
                  <a:schemeClr val="tx1">
                    <a:tint val="75000"/>
                  </a:schemeClr>
                </a:solidFill>
              </a:defRPr>
            </a:lvl4pPr>
            <a:lvl5pPr marL="1827997" indent="0" algn="ctr">
              <a:buNone/>
              <a:defRPr>
                <a:solidFill>
                  <a:schemeClr val="tx1">
                    <a:tint val="75000"/>
                  </a:schemeClr>
                </a:solidFill>
              </a:defRPr>
            </a:lvl5pPr>
            <a:lvl6pPr marL="2284997" indent="0" algn="ctr">
              <a:buNone/>
              <a:defRPr>
                <a:solidFill>
                  <a:schemeClr val="tx1">
                    <a:tint val="75000"/>
                  </a:schemeClr>
                </a:solidFill>
              </a:defRPr>
            </a:lvl6pPr>
            <a:lvl7pPr marL="2741997" indent="0" algn="ctr">
              <a:buNone/>
              <a:defRPr>
                <a:solidFill>
                  <a:schemeClr val="tx1">
                    <a:tint val="75000"/>
                  </a:schemeClr>
                </a:solidFill>
              </a:defRPr>
            </a:lvl7pPr>
            <a:lvl8pPr marL="3198995" indent="0" algn="ctr">
              <a:buNone/>
              <a:defRPr>
                <a:solidFill>
                  <a:schemeClr val="tx1">
                    <a:tint val="75000"/>
                  </a:schemeClr>
                </a:solidFill>
              </a:defRPr>
            </a:lvl8pPr>
            <a:lvl9pPr marL="3655995" indent="0" algn="ctr">
              <a:buNone/>
              <a:defRPr>
                <a:solidFill>
                  <a:schemeClr val="tx1">
                    <a:tint val="75000"/>
                  </a:schemeClr>
                </a:solidFill>
              </a:defRPr>
            </a:lvl9pPr>
          </a:lstStyle>
          <a:p>
            <a:pPr defTabSz="455613">
              <a:defRPr/>
            </a:pPr>
            <a:r>
              <a:rPr lang="en-US">
                <a:ea typeface="Myriad Pro Light"/>
                <a:cs typeface="Myriad Pro Light"/>
              </a:rPr>
              <a:t>Project Start Architecture</a:t>
            </a:r>
          </a:p>
        </p:txBody>
      </p:sp>
      <p:sp>
        <p:nvSpPr>
          <p:cNvPr id="8" name="Tijdelijke aanduiding voor tekst 7"/>
          <p:cNvSpPr>
            <a:spLocks noGrp="1"/>
          </p:cNvSpPr>
          <p:nvPr>
            <p:ph type="body" sz="quarter" idx="11" hasCustomPrompt="1"/>
          </p:nvPr>
        </p:nvSpPr>
        <p:spPr>
          <a:xfrm flipH="1">
            <a:off x="1943997" y="3937656"/>
            <a:ext cx="4068003" cy="349702"/>
          </a:xfrm>
          <a:prstGeom prst="rect">
            <a:avLst/>
          </a:prstGeom>
        </p:spPr>
        <p:txBody>
          <a:bodyPr wrap="square" lIns="144000" tIns="36000" rIns="144000" bIns="36000" anchor="b">
            <a:spAutoFit/>
          </a:bodyPr>
          <a:lstStyle>
            <a:lvl1pPr marL="0" indent="0" eaLnBrk="1" hangingPunct="1">
              <a:spcBef>
                <a:spcPts val="0"/>
              </a:spcBef>
              <a:buNone/>
              <a:defRPr sz="1800" b="0" i="0" baseline="0">
                <a:solidFill>
                  <a:srgbClr val="5E6A71"/>
                </a:solidFill>
                <a:latin typeface="+mn-lt"/>
                <a:cs typeface="Myriad Pro" pitchFamily="34" charset="0"/>
              </a:defRPr>
            </a:lvl1pPr>
          </a:lstStyle>
          <a:p>
            <a:pPr marL="0" indent="0" eaLnBrk="1" hangingPunct="1">
              <a:defRPr/>
            </a:pPr>
            <a:r>
              <a:rPr lang="en-US">
                <a:solidFill>
                  <a:srgbClr val="7F7F7F"/>
                </a:solidFill>
                <a:ea typeface="Myriad Pro"/>
                <a:cs typeface="Myriad Pro"/>
              </a:rPr>
              <a:t>&lt;Author&gt;/ &lt;YYYY-MM-DD&gt; / &lt;Version&gt;</a:t>
            </a:r>
          </a:p>
        </p:txBody>
      </p:sp>
      <p:sp>
        <p:nvSpPr>
          <p:cNvPr id="13" name="Rechthoek 12"/>
          <p:cNvSpPr/>
          <p:nvPr/>
        </p:nvSpPr>
        <p:spPr>
          <a:xfrm>
            <a:off x="5892801" y="3302973"/>
            <a:ext cx="194334" cy="409137"/>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41521"/>
            <a:ext cx="6151950" cy="1279066"/>
          </a:xfrm>
          <a:prstGeom prst="round1Rect">
            <a:avLst>
              <a:gd name="adj" fmla="val 11967"/>
            </a:avLst>
          </a:prstGeom>
          <a:solidFill>
            <a:schemeClr val="accent1"/>
          </a:solidFill>
          <a:ln w="19050" cmpd="sng">
            <a:solidFill>
              <a:schemeClr val="bg1"/>
            </a:solidFill>
          </a:ln>
        </p:spPr>
        <p:txBody>
          <a:bodyPr wrap="square" lIns="504000" tIns="126000" rIns="108000" bIns="144000" anchor="b">
            <a:spAutoFit/>
          </a:bodyPr>
          <a:lstStyle>
            <a:lvl1pPr>
              <a:defRPr sz="3600" baseline="0">
                <a:solidFill>
                  <a:srgbClr val="FFFFFF"/>
                </a:solidFill>
              </a:defRPr>
            </a:lvl1pPr>
          </a:lstStyle>
          <a:p>
            <a:br>
              <a:rPr lang="en-GB" noProof="0"/>
            </a:br>
            <a:r>
              <a:rPr lang="en-US">
                <a:ea typeface="Myriad Pro Light" pitchFamily="34" charset="0"/>
                <a:cs typeface="Myriad Pro Light" pitchFamily="34" charset="0"/>
              </a:rPr>
              <a:t>&lt;Name of the change&gt;</a:t>
            </a:r>
            <a:endParaRPr lang="en-GB" noProof="0"/>
          </a:p>
        </p:txBody>
      </p:sp>
      <p:pic>
        <p:nvPicPr>
          <p:cNvPr id="9" name="Afbeelding 9" descr="RB_logo_rgb.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236821" y="3902436"/>
            <a:ext cx="607927" cy="727535"/>
          </a:xfrm>
          <a:prstGeom prst="rect">
            <a:avLst/>
          </a:prstGeom>
        </p:spPr>
      </p:pic>
      <p:sp>
        <p:nvSpPr>
          <p:cNvPr id="10" name="Rechthoek 9"/>
          <p:cNvSpPr/>
          <p:nvPr userDrawn="1"/>
        </p:nvSpPr>
        <p:spPr>
          <a:xfrm>
            <a:off x="8141018" y="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en-GB" sz="1800" b="0" i="0" u="none" strike="noStrike" kern="0" cap="none" spc="0" normalizeH="0" baseline="0" noProof="0">
              <a:ln>
                <a:noFill/>
              </a:ln>
              <a:solidFill>
                <a:srgbClr val="000000"/>
              </a:solidFill>
              <a:effectLst/>
              <a:uLnTx/>
              <a:uFillTx/>
              <a:ea typeface="+mn-ea"/>
              <a:cs typeface="Myriad Pro"/>
            </a:endParaRPr>
          </a:p>
        </p:txBody>
      </p:sp>
    </p:spTree>
    <p:extLst>
      <p:ext uri="{BB962C8B-B14F-4D97-AF65-F5344CB8AC3E}">
        <p14:creationId xmlns:p14="http://schemas.microsoft.com/office/powerpoint/2010/main" val="69931970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Rechthoek 1"/>
          <p:cNvSpPr/>
          <p:nvPr/>
        </p:nvSpPr>
        <p:spPr>
          <a:xfrm>
            <a:off x="7735330"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3" name="Subtitel 2"/>
          <p:cNvSpPr>
            <a:spLocks noGrp="1"/>
          </p:cNvSpPr>
          <p:nvPr>
            <p:ph type="subTitle" idx="1" hasCustomPrompt="1"/>
          </p:nvPr>
        </p:nvSpPr>
        <p:spPr>
          <a:xfrm>
            <a:off x="1920875" y="3428327"/>
            <a:ext cx="4166260" cy="474109"/>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456999" rtl="0" eaLnBrk="1" latinLnBrk="0" hangingPunct="1">
              <a:lnSpc>
                <a:spcPct val="100000"/>
              </a:lnSpc>
              <a:spcBef>
                <a:spcPct val="0"/>
              </a:spcBef>
              <a:buNone/>
              <a:defRPr lang="nl-NL" sz="2000" b="1" i="1" kern="1200" dirty="0">
                <a:solidFill>
                  <a:schemeClr val="bg1"/>
                </a:solidFill>
                <a:latin typeface="+mj-lt"/>
                <a:ea typeface="+mn-ea"/>
                <a:cs typeface="+mn-cs"/>
              </a:defRPr>
            </a:lvl1pPr>
            <a:lvl2pPr marL="456999" indent="0" algn="ctr">
              <a:buNone/>
              <a:defRPr>
                <a:solidFill>
                  <a:schemeClr val="tx1">
                    <a:tint val="75000"/>
                  </a:schemeClr>
                </a:solidFill>
              </a:defRPr>
            </a:lvl2pPr>
            <a:lvl3pPr marL="913999" indent="0" algn="ctr">
              <a:buNone/>
              <a:defRPr>
                <a:solidFill>
                  <a:schemeClr val="tx1">
                    <a:tint val="75000"/>
                  </a:schemeClr>
                </a:solidFill>
              </a:defRPr>
            </a:lvl3pPr>
            <a:lvl4pPr marL="1370998" indent="0" algn="ctr">
              <a:buNone/>
              <a:defRPr>
                <a:solidFill>
                  <a:schemeClr val="tx1">
                    <a:tint val="75000"/>
                  </a:schemeClr>
                </a:solidFill>
              </a:defRPr>
            </a:lvl4pPr>
            <a:lvl5pPr marL="1827997" indent="0" algn="ctr">
              <a:buNone/>
              <a:defRPr>
                <a:solidFill>
                  <a:schemeClr val="tx1">
                    <a:tint val="75000"/>
                  </a:schemeClr>
                </a:solidFill>
              </a:defRPr>
            </a:lvl5pPr>
            <a:lvl6pPr marL="2284997" indent="0" algn="ctr">
              <a:buNone/>
              <a:defRPr>
                <a:solidFill>
                  <a:schemeClr val="tx1">
                    <a:tint val="75000"/>
                  </a:schemeClr>
                </a:solidFill>
              </a:defRPr>
            </a:lvl6pPr>
            <a:lvl7pPr marL="2741997" indent="0" algn="ctr">
              <a:buNone/>
              <a:defRPr>
                <a:solidFill>
                  <a:schemeClr val="tx1">
                    <a:tint val="75000"/>
                  </a:schemeClr>
                </a:solidFill>
              </a:defRPr>
            </a:lvl7pPr>
            <a:lvl8pPr marL="3198995" indent="0" algn="ctr">
              <a:buNone/>
              <a:defRPr>
                <a:solidFill>
                  <a:schemeClr val="tx1">
                    <a:tint val="75000"/>
                  </a:schemeClr>
                </a:solidFill>
              </a:defRPr>
            </a:lvl8pPr>
            <a:lvl9pPr marL="3655995" indent="0" algn="ctr">
              <a:buNone/>
              <a:defRPr>
                <a:solidFill>
                  <a:schemeClr val="tx1">
                    <a:tint val="75000"/>
                  </a:schemeClr>
                </a:solidFill>
              </a:defRPr>
            </a:lvl9pPr>
          </a:lstStyle>
          <a:p>
            <a:pPr defTabSz="455613">
              <a:defRPr/>
            </a:pPr>
            <a:r>
              <a:rPr lang="en-US">
                <a:ea typeface="Myriad Pro Light"/>
                <a:cs typeface="Myriad Pro Light"/>
              </a:rPr>
              <a:t>Project Start Architecture</a:t>
            </a:r>
          </a:p>
        </p:txBody>
      </p:sp>
      <p:sp>
        <p:nvSpPr>
          <p:cNvPr id="8" name="Tijdelijke aanduiding voor tekst 7"/>
          <p:cNvSpPr>
            <a:spLocks noGrp="1"/>
          </p:cNvSpPr>
          <p:nvPr>
            <p:ph type="body" sz="quarter" idx="11" hasCustomPrompt="1"/>
          </p:nvPr>
        </p:nvSpPr>
        <p:spPr>
          <a:xfrm flipH="1">
            <a:off x="1943997" y="3937656"/>
            <a:ext cx="4068003" cy="349702"/>
          </a:xfrm>
          <a:prstGeom prst="rect">
            <a:avLst/>
          </a:prstGeom>
        </p:spPr>
        <p:txBody>
          <a:bodyPr wrap="square" lIns="144000" tIns="36000" rIns="144000" bIns="36000" anchor="b">
            <a:spAutoFit/>
          </a:bodyPr>
          <a:lstStyle>
            <a:lvl1pPr marL="0" indent="0" eaLnBrk="1" hangingPunct="1">
              <a:spcBef>
                <a:spcPts val="0"/>
              </a:spcBef>
              <a:buNone/>
              <a:defRPr sz="1800" b="0" i="0" baseline="0">
                <a:solidFill>
                  <a:srgbClr val="5E6A71"/>
                </a:solidFill>
                <a:latin typeface="+mn-lt"/>
                <a:cs typeface="Myriad Pro" pitchFamily="34" charset="0"/>
              </a:defRPr>
            </a:lvl1pPr>
          </a:lstStyle>
          <a:p>
            <a:pPr marL="0" indent="0" eaLnBrk="1" hangingPunct="1">
              <a:defRPr/>
            </a:pPr>
            <a:r>
              <a:rPr lang="en-US">
                <a:solidFill>
                  <a:srgbClr val="7F7F7F"/>
                </a:solidFill>
                <a:ea typeface="Myriad Pro"/>
                <a:cs typeface="Myriad Pro"/>
              </a:rPr>
              <a:t>&lt;Author&gt;/ &lt;YYYY-MM-DD&gt; / &lt;Version&gt;</a:t>
            </a:r>
          </a:p>
        </p:txBody>
      </p:sp>
      <p:sp>
        <p:nvSpPr>
          <p:cNvPr id="13" name="Rechthoek 12"/>
          <p:cNvSpPr/>
          <p:nvPr/>
        </p:nvSpPr>
        <p:spPr>
          <a:xfrm>
            <a:off x="5892801" y="3302973"/>
            <a:ext cx="194334" cy="409137"/>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41521"/>
            <a:ext cx="6151950" cy="1279066"/>
          </a:xfrm>
          <a:prstGeom prst="round1Rect">
            <a:avLst>
              <a:gd name="adj" fmla="val 11967"/>
            </a:avLst>
          </a:prstGeom>
          <a:solidFill>
            <a:schemeClr val="accent1"/>
          </a:solidFill>
          <a:ln w="19050" cmpd="sng">
            <a:solidFill>
              <a:schemeClr val="bg1"/>
            </a:solidFill>
          </a:ln>
        </p:spPr>
        <p:txBody>
          <a:bodyPr wrap="square" lIns="504000" tIns="126000" rIns="108000" bIns="144000" anchor="b">
            <a:spAutoFit/>
          </a:bodyPr>
          <a:lstStyle>
            <a:lvl1pPr>
              <a:defRPr sz="3600" baseline="0">
                <a:solidFill>
                  <a:srgbClr val="FFFFFF"/>
                </a:solidFill>
              </a:defRPr>
            </a:lvl1pPr>
          </a:lstStyle>
          <a:p>
            <a:br>
              <a:rPr lang="en-GB" noProof="0"/>
            </a:br>
            <a:r>
              <a:rPr lang="en-US">
                <a:ea typeface="Myriad Pro Light" pitchFamily="34" charset="0"/>
                <a:cs typeface="Myriad Pro Light" pitchFamily="34" charset="0"/>
              </a:rPr>
              <a:t>&lt;Name of the change&gt;</a:t>
            </a:r>
            <a:endParaRPr lang="en-GB" noProof="0"/>
          </a:p>
        </p:txBody>
      </p:sp>
      <p:sp>
        <p:nvSpPr>
          <p:cNvPr id="10" name="Rechthoek 9"/>
          <p:cNvSpPr/>
          <p:nvPr userDrawn="1"/>
        </p:nvSpPr>
        <p:spPr>
          <a:xfrm>
            <a:off x="8141018" y="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en-GB" sz="1800" b="0" i="0" u="none" strike="noStrike" kern="0" cap="none" spc="0" normalizeH="0" baseline="0" noProof="0">
              <a:ln>
                <a:noFill/>
              </a:ln>
              <a:solidFill>
                <a:srgbClr val="000000"/>
              </a:solidFill>
              <a:effectLst/>
              <a:uLnTx/>
              <a:uFillTx/>
              <a:ea typeface="+mn-ea"/>
              <a:cs typeface="Myriad Pro"/>
            </a:endParaRPr>
          </a:p>
        </p:txBody>
      </p:sp>
      <p:pic>
        <p:nvPicPr>
          <p:cNvPr id="11" name="Afbeelding 9" descr="RB_logo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36821" y="3902436"/>
            <a:ext cx="607927" cy="727535"/>
          </a:xfrm>
          <a:prstGeom prst="rect">
            <a:avLst/>
          </a:prstGeom>
        </p:spPr>
      </p:pic>
    </p:spTree>
    <p:extLst>
      <p:ext uri="{BB962C8B-B14F-4D97-AF65-F5344CB8AC3E}">
        <p14:creationId xmlns:p14="http://schemas.microsoft.com/office/powerpoint/2010/main" val="270405834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_Standard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nl-NL"/>
              <a:t>Click </a:t>
            </a:r>
            <a:r>
              <a:rPr lang="nl-NL" err="1"/>
              <a:t>to</a:t>
            </a:r>
            <a:r>
              <a:rPr lang="nl-NL"/>
              <a:t> enter </a:t>
            </a:r>
            <a:r>
              <a:rPr lang="nl-NL" err="1"/>
              <a:t>title</a:t>
            </a:r>
            <a:endParaRPr lang="nl-NL"/>
          </a:p>
        </p:txBody>
      </p:sp>
      <p:sp>
        <p:nvSpPr>
          <p:cNvPr id="5" name="Tijdelijke aanduiding voor inhoud 4"/>
          <p:cNvSpPr>
            <a:spLocks noGrp="1"/>
          </p:cNvSpPr>
          <p:nvPr>
            <p:ph sz="quarter" idx="11" hasCustomPrompt="1"/>
          </p:nvPr>
        </p:nvSpPr>
        <p:spPr>
          <a:xfrm>
            <a:off x="290579" y="1057276"/>
            <a:ext cx="8645754" cy="3707921"/>
          </a:xfrm>
        </p:spPr>
        <p:txBody>
          <a:bodyPr/>
          <a:lstStyle>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Rounded Rectangle 10">
            <a:hlinkClick r:id="" action="ppaction://noaction"/>
          </p:cNvPr>
          <p:cNvSpPr/>
          <p:nvPr userDrawn="1"/>
        </p:nvSpPr>
        <p:spPr>
          <a:xfrm>
            <a:off x="4601287"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8" name="Rounded Rectangle 11">
            <a:hlinkClick r:id="" action="ppaction://noaction"/>
          </p:cNvPr>
          <p:cNvSpPr/>
          <p:nvPr userDrawn="1"/>
        </p:nvSpPr>
        <p:spPr>
          <a:xfrm>
            <a:off x="8262081" y="4875491"/>
            <a:ext cx="870044"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accent1"/>
                </a:solidFill>
                <a:effectLst/>
                <a:uLnTx/>
                <a:uFillTx/>
                <a:latin typeface="Myriad Pro"/>
                <a:ea typeface="+mn-ea"/>
                <a:cs typeface="Myriad Pro"/>
              </a:rPr>
            </a:br>
            <a:r>
              <a:rPr kumimoji="0" lang="en-GB" sz="800" b="1" i="0" u="none" strike="noStrike" kern="0" cap="none" spc="0" normalizeH="0" baseline="0" noProof="0">
                <a:ln>
                  <a:noFill/>
                </a:ln>
                <a:solidFill>
                  <a:schemeClr val="accent1"/>
                </a:solidFill>
                <a:effectLst/>
                <a:uLnTx/>
                <a:uFillTx/>
                <a:latin typeface="Myriad Pro"/>
                <a:ea typeface="+mn-ea"/>
                <a:cs typeface="Myriad Pro"/>
              </a:rPr>
              <a:t>Control</a:t>
            </a:r>
          </a:p>
        </p:txBody>
      </p:sp>
      <p:sp>
        <p:nvSpPr>
          <p:cNvPr id="9" name="Rounded Rectangle 8">
            <a:hlinkClick r:id="" action="ppaction://noaction"/>
          </p:cNvPr>
          <p:cNvSpPr/>
          <p:nvPr userDrawn="1"/>
        </p:nvSpPr>
        <p:spPr>
          <a:xfrm>
            <a:off x="5516486"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7. Migration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0" name="Rounded Rectangle 10">
            <a:hlinkClick r:id="" action="ppaction://noaction"/>
          </p:cNvPr>
          <p:cNvSpPr/>
          <p:nvPr userDrawn="1"/>
        </p:nvSpPr>
        <p:spPr>
          <a:xfrm>
            <a:off x="6431685"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8. Security</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1" name="Rounded Rectangle 10">
            <a:hlinkClick r:id="" action="ppaction://noaction"/>
          </p:cNvPr>
          <p:cNvSpPr/>
          <p:nvPr userDrawn="1"/>
        </p:nvSpPr>
        <p:spPr>
          <a:xfrm>
            <a:off x="7346884"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9. Impact on Operations</a:t>
            </a:r>
          </a:p>
        </p:txBody>
      </p:sp>
      <p:sp>
        <p:nvSpPr>
          <p:cNvPr id="12" name="Rounded Rectangle 10">
            <a:hlinkClick r:id="" action="ppaction://noaction"/>
          </p:cNvPr>
          <p:cNvSpPr/>
          <p:nvPr userDrawn="1"/>
        </p:nvSpPr>
        <p:spPr>
          <a:xfrm>
            <a:off x="3686088"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3" name="Rounded Rectangle 10">
            <a:hlinkClick r:id="" action="ppaction://noaction"/>
          </p:cNvPr>
          <p:cNvSpPr/>
          <p:nvPr userDrawn="1"/>
        </p:nvSpPr>
        <p:spPr>
          <a:xfrm>
            <a:off x="2770889"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4" name="Rounded Rectangle 10">
            <a:hlinkClick r:id="" action="ppaction://noaction"/>
          </p:cNvPr>
          <p:cNvSpPr/>
          <p:nvPr userDrawn="1"/>
        </p:nvSpPr>
        <p:spPr>
          <a:xfrm>
            <a:off x="1855690"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3. Process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5" name="Rounded Rectangle 10">
            <a:hlinkClick r:id="" action="ppaction://noaction"/>
          </p:cNvPr>
          <p:cNvSpPr/>
          <p:nvPr userDrawn="1"/>
        </p:nvSpPr>
        <p:spPr>
          <a:xfrm>
            <a:off x="940491"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6" name="Rounded Rectangle 10">
            <a:hlinkClick r:id="rId2" action="ppaction://hlinksldjump"/>
          </p:cNvPr>
          <p:cNvSpPr/>
          <p:nvPr userDrawn="1"/>
        </p:nvSpPr>
        <p:spPr>
          <a:xfrm>
            <a:off x="25292"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7" name="Tijdelijke aanduiding voor dianummer 2"/>
          <p:cNvSpPr>
            <a:spLocks noGrp="1"/>
          </p:cNvSpPr>
          <p:nvPr>
            <p:ph type="sldNum" sz="quarter" idx="10"/>
          </p:nvPr>
        </p:nvSpPr>
        <p:spPr>
          <a:xfrm>
            <a:off x="8445392" y="4564310"/>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Tree>
    <p:extLst>
      <p:ext uri="{BB962C8B-B14F-4D97-AF65-F5344CB8AC3E}">
        <p14:creationId xmlns:p14="http://schemas.microsoft.com/office/powerpoint/2010/main" val="136193056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Rechthoek 1"/>
          <p:cNvSpPr/>
          <p:nvPr/>
        </p:nvSpPr>
        <p:spPr>
          <a:xfrm>
            <a:off x="7735330"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ea typeface="+mn-ea"/>
              <a:cs typeface="Myriad Pro"/>
            </a:endParaRPr>
          </a:p>
        </p:txBody>
      </p:sp>
      <p:sp>
        <p:nvSpPr>
          <p:cNvPr id="3" name="Subtitel 2"/>
          <p:cNvSpPr>
            <a:spLocks noGrp="1"/>
          </p:cNvSpPr>
          <p:nvPr>
            <p:ph type="subTitle" idx="1" hasCustomPrompt="1"/>
          </p:nvPr>
        </p:nvSpPr>
        <p:spPr>
          <a:xfrm>
            <a:off x="1920875" y="3428327"/>
            <a:ext cx="4166260" cy="474109"/>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4000" tIns="36000" rIns="108000" bIns="54000" numCol="1" spcCol="0" rtlCol="0" fromWordArt="0" anchor="t" anchorCtr="0" forceAA="0" compatLnSpc="1">
            <a:prstTxWarp prst="textNoShape">
              <a:avLst/>
            </a:prstTxWarp>
            <a:spAutoFit/>
          </a:bodyPr>
          <a:lstStyle>
            <a:lvl1pPr marL="0" indent="0" algn="l" defTabSz="456999" rtl="0" eaLnBrk="1" latinLnBrk="0" hangingPunct="1">
              <a:lnSpc>
                <a:spcPct val="100000"/>
              </a:lnSpc>
              <a:spcBef>
                <a:spcPct val="0"/>
              </a:spcBef>
              <a:buNone/>
              <a:defRPr lang="nl-NL" sz="2000" b="1" i="1" kern="1200" dirty="0">
                <a:solidFill>
                  <a:schemeClr val="bg1"/>
                </a:solidFill>
                <a:latin typeface="+mj-lt"/>
                <a:ea typeface="+mn-ea"/>
                <a:cs typeface="+mn-cs"/>
              </a:defRPr>
            </a:lvl1pPr>
            <a:lvl2pPr marL="456999" indent="0" algn="ctr">
              <a:buNone/>
              <a:defRPr>
                <a:solidFill>
                  <a:schemeClr val="tx1">
                    <a:tint val="75000"/>
                  </a:schemeClr>
                </a:solidFill>
              </a:defRPr>
            </a:lvl2pPr>
            <a:lvl3pPr marL="913999" indent="0" algn="ctr">
              <a:buNone/>
              <a:defRPr>
                <a:solidFill>
                  <a:schemeClr val="tx1">
                    <a:tint val="75000"/>
                  </a:schemeClr>
                </a:solidFill>
              </a:defRPr>
            </a:lvl3pPr>
            <a:lvl4pPr marL="1370998" indent="0" algn="ctr">
              <a:buNone/>
              <a:defRPr>
                <a:solidFill>
                  <a:schemeClr val="tx1">
                    <a:tint val="75000"/>
                  </a:schemeClr>
                </a:solidFill>
              </a:defRPr>
            </a:lvl4pPr>
            <a:lvl5pPr marL="1827997" indent="0" algn="ctr">
              <a:buNone/>
              <a:defRPr>
                <a:solidFill>
                  <a:schemeClr val="tx1">
                    <a:tint val="75000"/>
                  </a:schemeClr>
                </a:solidFill>
              </a:defRPr>
            </a:lvl5pPr>
            <a:lvl6pPr marL="2284997" indent="0" algn="ctr">
              <a:buNone/>
              <a:defRPr>
                <a:solidFill>
                  <a:schemeClr val="tx1">
                    <a:tint val="75000"/>
                  </a:schemeClr>
                </a:solidFill>
              </a:defRPr>
            </a:lvl6pPr>
            <a:lvl7pPr marL="2741997" indent="0" algn="ctr">
              <a:buNone/>
              <a:defRPr>
                <a:solidFill>
                  <a:schemeClr val="tx1">
                    <a:tint val="75000"/>
                  </a:schemeClr>
                </a:solidFill>
              </a:defRPr>
            </a:lvl7pPr>
            <a:lvl8pPr marL="3198995" indent="0" algn="ctr">
              <a:buNone/>
              <a:defRPr>
                <a:solidFill>
                  <a:schemeClr val="tx1">
                    <a:tint val="75000"/>
                  </a:schemeClr>
                </a:solidFill>
              </a:defRPr>
            </a:lvl8pPr>
            <a:lvl9pPr marL="3655995" indent="0" algn="ctr">
              <a:buNone/>
              <a:defRPr>
                <a:solidFill>
                  <a:schemeClr val="tx1">
                    <a:tint val="75000"/>
                  </a:schemeClr>
                </a:solidFill>
              </a:defRPr>
            </a:lvl9pPr>
          </a:lstStyle>
          <a:p>
            <a:pPr defTabSz="455613">
              <a:defRPr/>
            </a:pPr>
            <a:r>
              <a:rPr lang="en-US">
                <a:ea typeface="Myriad Pro Light"/>
                <a:cs typeface="Myriad Pro Light"/>
              </a:rPr>
              <a:t>Project Start Architecture</a:t>
            </a:r>
          </a:p>
        </p:txBody>
      </p:sp>
      <p:sp>
        <p:nvSpPr>
          <p:cNvPr id="8" name="Tijdelijke aanduiding voor tekst 7"/>
          <p:cNvSpPr>
            <a:spLocks noGrp="1"/>
          </p:cNvSpPr>
          <p:nvPr>
            <p:ph type="body" sz="quarter" idx="11" hasCustomPrompt="1"/>
          </p:nvPr>
        </p:nvSpPr>
        <p:spPr>
          <a:xfrm flipH="1">
            <a:off x="1943997" y="3937656"/>
            <a:ext cx="4068003" cy="349702"/>
          </a:xfrm>
          <a:prstGeom prst="rect">
            <a:avLst/>
          </a:prstGeom>
        </p:spPr>
        <p:txBody>
          <a:bodyPr wrap="square" lIns="144000" tIns="36000" rIns="144000" bIns="36000" anchor="b">
            <a:spAutoFit/>
          </a:bodyPr>
          <a:lstStyle>
            <a:lvl1pPr marL="0" indent="0" eaLnBrk="1" hangingPunct="1">
              <a:spcBef>
                <a:spcPts val="0"/>
              </a:spcBef>
              <a:buNone/>
              <a:defRPr sz="1800" b="0" i="0" baseline="0">
                <a:solidFill>
                  <a:srgbClr val="5E6A71"/>
                </a:solidFill>
                <a:latin typeface="+mn-lt"/>
                <a:cs typeface="Myriad Pro" pitchFamily="34" charset="0"/>
              </a:defRPr>
            </a:lvl1pPr>
          </a:lstStyle>
          <a:p>
            <a:pPr marL="0" indent="0" eaLnBrk="1" hangingPunct="1">
              <a:defRPr/>
            </a:pPr>
            <a:r>
              <a:rPr lang="en-US">
                <a:solidFill>
                  <a:srgbClr val="7F7F7F"/>
                </a:solidFill>
                <a:ea typeface="Myriad Pro"/>
                <a:cs typeface="Myriad Pro"/>
              </a:rPr>
              <a:t>&lt;Author&gt;/ &lt;YYYY-MM-DD&gt; / &lt;Version&gt;</a:t>
            </a:r>
          </a:p>
        </p:txBody>
      </p:sp>
      <p:sp>
        <p:nvSpPr>
          <p:cNvPr id="13" name="Rechthoek 12"/>
          <p:cNvSpPr/>
          <p:nvPr/>
        </p:nvSpPr>
        <p:spPr>
          <a:xfrm>
            <a:off x="5892801" y="3302973"/>
            <a:ext cx="194334" cy="409137"/>
          </a:xfrm>
          <a:prstGeom prst="rect">
            <a:avLst/>
          </a:prstGeom>
          <a:solidFill>
            <a:srgbClr val="FF4D00"/>
          </a:solidFill>
          <a:ln w="19050" cap="flat" cmpd="sng" algn="ctr">
            <a:no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5" name="Titel 14"/>
          <p:cNvSpPr>
            <a:spLocks noGrp="1"/>
          </p:cNvSpPr>
          <p:nvPr>
            <p:ph type="title" hasCustomPrompt="1"/>
          </p:nvPr>
        </p:nvSpPr>
        <p:spPr>
          <a:xfrm>
            <a:off x="-57149" y="2141521"/>
            <a:ext cx="6151950" cy="1279066"/>
          </a:xfrm>
          <a:prstGeom prst="round1Rect">
            <a:avLst>
              <a:gd name="adj" fmla="val 11967"/>
            </a:avLst>
          </a:prstGeom>
          <a:solidFill>
            <a:schemeClr val="accent1"/>
          </a:solidFill>
          <a:ln w="19050" cmpd="sng">
            <a:solidFill>
              <a:schemeClr val="bg1"/>
            </a:solidFill>
          </a:ln>
        </p:spPr>
        <p:txBody>
          <a:bodyPr wrap="square" lIns="504000" tIns="126000" rIns="108000" bIns="144000" anchor="b">
            <a:spAutoFit/>
          </a:bodyPr>
          <a:lstStyle>
            <a:lvl1pPr>
              <a:defRPr sz="3600" baseline="0">
                <a:solidFill>
                  <a:srgbClr val="FFFFFF"/>
                </a:solidFill>
              </a:defRPr>
            </a:lvl1pPr>
          </a:lstStyle>
          <a:p>
            <a:br>
              <a:rPr lang="en-GB" noProof="0"/>
            </a:br>
            <a:r>
              <a:rPr lang="en-US">
                <a:ea typeface="Myriad Pro Light" pitchFamily="34" charset="0"/>
                <a:cs typeface="Myriad Pro Light" pitchFamily="34" charset="0"/>
              </a:rPr>
              <a:t>&lt;Name of the change&gt;</a:t>
            </a:r>
            <a:endParaRPr lang="en-GB" noProof="0"/>
          </a:p>
        </p:txBody>
      </p:sp>
      <p:sp>
        <p:nvSpPr>
          <p:cNvPr id="10" name="Rechthoek 9"/>
          <p:cNvSpPr/>
          <p:nvPr userDrawn="1"/>
        </p:nvSpPr>
        <p:spPr>
          <a:xfrm>
            <a:off x="7735330" y="115330"/>
            <a:ext cx="1002982" cy="1186248"/>
          </a:xfrm>
          <a:prstGeom prst="rect">
            <a:avLst/>
          </a:prstGeom>
          <a:solidFill>
            <a:schemeClr val="bg1"/>
          </a:solidFill>
          <a:ln w="6350" cap="flat" cmpd="sng" algn="ctr">
            <a:noFill/>
            <a:prstDash val="solid"/>
          </a:ln>
          <a:effectLst/>
        </p:spPr>
        <p:txBody>
          <a:bodyPr rot="0" spcFirstLastPara="0" vertOverflow="overflow" horzOverflow="overflow" vert="horz" wrap="square" lIns="72000" tIns="90000" rIns="72000" bIns="90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en-GB" sz="1800" b="0" i="0" u="none" strike="noStrike" kern="0" cap="none" spc="0" normalizeH="0" baseline="0" noProof="0">
              <a:ln>
                <a:noFill/>
              </a:ln>
              <a:solidFill>
                <a:srgbClr val="000000"/>
              </a:solidFill>
              <a:effectLst/>
              <a:uLnTx/>
              <a:uFillTx/>
              <a:ea typeface="+mn-ea"/>
              <a:cs typeface="Myriad Pro"/>
            </a:endParaRPr>
          </a:p>
        </p:txBody>
      </p:sp>
      <p:pic>
        <p:nvPicPr>
          <p:cNvPr id="11" name="Afbeelding 10" descr="RB_logo_rgb.png"/>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7930821" y="3734507"/>
            <a:ext cx="612000" cy="755999"/>
          </a:xfrm>
          <a:prstGeom prst="rect">
            <a:avLst/>
          </a:prstGeom>
        </p:spPr>
      </p:pic>
    </p:spTree>
    <p:extLst>
      <p:ext uri="{BB962C8B-B14F-4D97-AF65-F5344CB8AC3E}">
        <p14:creationId xmlns:p14="http://schemas.microsoft.com/office/powerpoint/2010/main" val="2474079315"/>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Basic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noProof="0"/>
              <a:t>Klik om de stijl te bewerken</a:t>
            </a:r>
            <a:endParaRPr lang="en-GB" noProof="0"/>
          </a:p>
        </p:txBody>
      </p:sp>
      <p:sp>
        <p:nvSpPr>
          <p:cNvPr id="3" name="Tijdelijke aanduiding voor dianummer 2"/>
          <p:cNvSpPr>
            <a:spLocks noGrp="1"/>
          </p:cNvSpPr>
          <p:nvPr>
            <p:ph type="sldNum" sz="quarter" idx="10"/>
          </p:nvPr>
        </p:nvSpPr>
        <p:spPr>
          <a:xfrm>
            <a:off x="8452463" y="4561284"/>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2" y="1402915"/>
            <a:ext cx="7804586" cy="3092885"/>
          </a:xfrm>
        </p:spPr>
        <p:txBody>
          <a:bodyPr/>
          <a:lstStyle>
            <a:lvl2pPr>
              <a:lnSpc>
                <a:spcPct val="100000"/>
              </a:lnSpc>
              <a:defRPr/>
            </a:lvl2pPr>
            <a:lvl3pPr>
              <a:lnSpc>
                <a:spcPct val="100000"/>
              </a:lnSpc>
              <a:defRPr/>
            </a:lvl3pPr>
            <a:lvl4pPr marL="933750" indent="-285750">
              <a:lnSpc>
                <a:spcPct val="100000"/>
              </a:lnSpc>
              <a:buFont typeface="Arial" panose="020B0604020202020204" pitchFamily="34" charset="0"/>
              <a:buChar char="•"/>
              <a:defRPr/>
            </a:lvl4pPr>
            <a:lvl5pPr>
              <a:lnSpc>
                <a:spcPct val="100000"/>
              </a:lnSpc>
              <a:defRPr/>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tekst 6"/>
          <p:cNvSpPr>
            <a:spLocks noGrp="1"/>
          </p:cNvSpPr>
          <p:nvPr>
            <p:ph type="body" sz="quarter" idx="12"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kumimoji="0" lang="nl-NL" sz="1200" b="0" i="0" u="none" strike="noStrike" kern="1200" cap="none" spc="0" normalizeH="0" baseline="0" noProof="0" dirty="0">
                <a:ln>
                  <a:noFill/>
                </a:ln>
                <a:solidFill>
                  <a:srgbClr val="5E6A71"/>
                </a:solidFill>
                <a:effectLst/>
                <a:uLnTx/>
                <a:uFillTx/>
                <a:latin typeface="+mn-lt"/>
                <a:ea typeface="+mn-ea"/>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Tree>
    <p:extLst>
      <p:ext uri="{BB962C8B-B14F-4D97-AF65-F5344CB8AC3E}">
        <p14:creationId xmlns:p14="http://schemas.microsoft.com/office/powerpoint/2010/main" val="157764585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_Object slide with subtit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nl-NL" smtClean="0"/>
              <a:pPr/>
              <a:t>‹#›</a:t>
            </a:fld>
            <a:endParaRPr lang="nl-NL"/>
          </a:p>
        </p:txBody>
      </p:sp>
      <p:sp>
        <p:nvSpPr>
          <p:cNvPr id="6" name="Tijdelijke aanduiding voor tekst 5"/>
          <p:cNvSpPr>
            <a:spLocks noGrp="1"/>
          </p:cNvSpPr>
          <p:nvPr>
            <p:ph type="body" sz="quarter" idx="12" hasCustomPrompt="1"/>
          </p:nvPr>
        </p:nvSpPr>
        <p:spPr>
          <a:xfrm>
            <a:off x="476250" y="1346200"/>
            <a:ext cx="7804151" cy="330200"/>
          </a:xfrm>
        </p:spPr>
        <p:txBody>
          <a:bodyPr/>
          <a:lstStyle>
            <a:lvl1pPr marL="0" indent="0">
              <a:buNone/>
              <a:defRPr b="1" i="1">
                <a:solidFill>
                  <a:schemeClr val="accent2"/>
                </a:solidFill>
              </a:defRPr>
            </a:lvl1pPr>
          </a:lstStyle>
          <a:p>
            <a:pPr lvl="0"/>
            <a:r>
              <a:rPr lang="en-US"/>
              <a:t>Click to add subtitle</a:t>
            </a:r>
          </a:p>
        </p:txBody>
      </p:sp>
      <p:sp>
        <p:nvSpPr>
          <p:cNvPr id="7" name="Content Placeholder 6"/>
          <p:cNvSpPr>
            <a:spLocks noGrp="1"/>
          </p:cNvSpPr>
          <p:nvPr>
            <p:ph sz="quarter" idx="13"/>
          </p:nvPr>
        </p:nvSpPr>
        <p:spPr>
          <a:xfrm>
            <a:off x="476250" y="1677600"/>
            <a:ext cx="7804800" cy="2812981"/>
          </a:xfrm>
        </p:spPr>
        <p:txBody>
          <a:bodyPr/>
          <a:lstStyle>
            <a:lvl4pPr marL="933750" indent="-285750">
              <a:buFont typeface="Arial" panose="020B0604020202020204" pitchFamily="34" charset="0"/>
              <a:buChar char="•"/>
              <a:defRPr/>
            </a:lvl4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sp>
        <p:nvSpPr>
          <p:cNvPr id="9"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marR="0" indent="0" algn="l" defTabSz="456999" rtl="0" eaLnBrk="1" fontAlgn="auto" latinLnBrk="0" hangingPunct="1">
              <a:lnSpc>
                <a:spcPct val="100000"/>
              </a:lnSpc>
              <a:spcBef>
                <a:spcPct val="20000"/>
              </a:spcBef>
              <a:spcAft>
                <a:spcPts val="0"/>
              </a:spcAft>
              <a:buClr>
                <a:schemeClr val="accent2"/>
              </a:buClr>
              <a:buSzPct val="90000"/>
              <a:buFont typeface="Lucida Grande"/>
              <a:buNone/>
              <a:tabLst/>
              <a:defRPr lang="nl-NL" sz="1200" dirty="0">
                <a:solidFill>
                  <a:srgbClr val="5E6A71"/>
                </a:solidFill>
                <a:cs typeface="+mn-cs"/>
              </a:defRPr>
            </a:lvl1pPr>
          </a:lstStyle>
          <a:p>
            <a:pPr marL="0" marR="0" lvl="0" indent="0" algn="l" defTabSz="456999" rtl="0" eaLnBrk="1" fontAlgn="auto" latinLnBrk="0" hangingPunct="1">
              <a:lnSpc>
                <a:spcPct val="100000"/>
              </a:lnSpc>
              <a:spcBef>
                <a:spcPct val="20000"/>
              </a:spcBef>
              <a:spcAft>
                <a:spcPts val="0"/>
              </a:spcAft>
              <a:buClr>
                <a:schemeClr val="accent2"/>
              </a:buClr>
              <a:buSzPct val="90000"/>
              <a:buFont typeface="Lucida Grande"/>
              <a:buNone/>
              <a:tabLst/>
              <a:defRPr/>
            </a:pPr>
            <a:r>
              <a:rPr lang="nl-NL" err="1"/>
              <a:t>Subtitle</a:t>
            </a:r>
            <a:endParaRPr lang="nl-NL"/>
          </a:p>
        </p:txBody>
      </p:sp>
      <p:sp>
        <p:nvSpPr>
          <p:cNvPr id="10" name="Tijdelijke aanduiding voor tekst 8"/>
          <p:cNvSpPr>
            <a:spLocks noGrp="1"/>
          </p:cNvSpPr>
          <p:nvPr>
            <p:ph type="body" sz="quarter" idx="15" hasCustomPrompt="1"/>
          </p:nvPr>
        </p:nvSpPr>
        <p:spPr>
          <a:xfrm>
            <a:off x="476250" y="4561285"/>
            <a:ext cx="7804150" cy="204787"/>
          </a:xfrm>
        </p:spPr>
        <p:txBody>
          <a:bodyPr vert="horz" lIns="0" tIns="45720" rIns="0" bIns="45720" rtlCol="0" anchor="ctr">
            <a:noAutofit/>
          </a:bodyPr>
          <a:lstStyle>
            <a:lvl1pPr>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buNone/>
            </a:pPr>
            <a:r>
              <a:rPr lang="nl-NL" err="1"/>
              <a:t>Foodnote</a:t>
            </a:r>
            <a:endParaRPr lang="nl-NL"/>
          </a:p>
        </p:txBody>
      </p:sp>
    </p:spTree>
    <p:extLst>
      <p:ext uri="{BB962C8B-B14F-4D97-AF65-F5344CB8AC3E}">
        <p14:creationId xmlns:p14="http://schemas.microsoft.com/office/powerpoint/2010/main" val="819514304"/>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3782918" cy="3148126"/>
          </a:xfrm>
        </p:spPr>
        <p:txBody>
          <a:bodyPr/>
          <a:lstStyle>
            <a:lvl1pPr>
              <a:defRPr sz="2000"/>
            </a:lvl1pPr>
            <a:lvl2pPr>
              <a:defRPr sz="1800"/>
            </a:lvl2pPr>
            <a:lvl3pPr>
              <a:defRPr sz="1600"/>
            </a:lvl3pPr>
            <a:lvl4pPr marL="933750" indent="-285750">
              <a:buFont typeface="Arial" panose="020B0604020202020204" pitchFamily="34" charset="0"/>
              <a:buChar char="•"/>
              <a:defRPr sz="1600"/>
            </a:lvl4pPr>
            <a:lvl5pPr>
              <a:defRPr sz="1600"/>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sp>
        <p:nvSpPr>
          <p:cNvPr id="7" name="Tijdelijke aanduiding voor inhoud 6"/>
          <p:cNvSpPr>
            <a:spLocks noGrp="1"/>
          </p:cNvSpPr>
          <p:nvPr>
            <p:ph sz="quarter" idx="12"/>
          </p:nvPr>
        </p:nvSpPr>
        <p:spPr>
          <a:xfrm>
            <a:off x="4487334" y="1329929"/>
            <a:ext cx="3793067"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Tree>
    <p:extLst>
      <p:ext uri="{BB962C8B-B14F-4D97-AF65-F5344CB8AC3E}">
        <p14:creationId xmlns:p14="http://schemas.microsoft.com/office/powerpoint/2010/main" val="174857607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2 columns with captio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52463" y="4565512"/>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663700"/>
            <a:ext cx="3782918" cy="2833144"/>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4487334" y="1663700"/>
            <a:ext cx="3793067" cy="2833144"/>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6" name="Tijdelijke aanduiding voor tekst 5"/>
          <p:cNvSpPr>
            <a:spLocks noGrp="1"/>
          </p:cNvSpPr>
          <p:nvPr>
            <p:ph type="body" sz="quarter" idx="13" hasCustomPrompt="1"/>
          </p:nvPr>
        </p:nvSpPr>
        <p:spPr>
          <a:xfrm>
            <a:off x="475815" y="1346598"/>
            <a:ext cx="3783448" cy="316706"/>
          </a:xfrm>
        </p:spPr>
        <p:txBody>
          <a:bodyPr>
            <a:noAutofit/>
          </a:bodyPr>
          <a:lstStyle>
            <a:lvl1pPr marL="0" indent="0">
              <a:buNone/>
              <a:defRPr sz="1800" b="1" i="1">
                <a:solidFill>
                  <a:srgbClr val="FF6600"/>
                </a:solidFill>
              </a:defRPr>
            </a:lvl1pPr>
          </a:lstStyle>
          <a:p>
            <a:pPr lvl="0"/>
            <a:r>
              <a:rPr lang="en-GB" noProof="0"/>
              <a:t>Click to add column title</a:t>
            </a:r>
          </a:p>
        </p:txBody>
      </p:sp>
      <p:sp>
        <p:nvSpPr>
          <p:cNvPr id="8" name="Tijdelijke aanduiding voor tekst 5"/>
          <p:cNvSpPr>
            <a:spLocks noGrp="1"/>
          </p:cNvSpPr>
          <p:nvPr>
            <p:ph type="body" sz="quarter" idx="14" hasCustomPrompt="1"/>
          </p:nvPr>
        </p:nvSpPr>
        <p:spPr>
          <a:xfrm>
            <a:off x="4487334" y="1346598"/>
            <a:ext cx="3793067" cy="316706"/>
          </a:xfrm>
        </p:spPr>
        <p:txBody>
          <a:bodyPr>
            <a:noAutofit/>
          </a:bodyPr>
          <a:lstStyle>
            <a:lvl1pPr marL="0" indent="0">
              <a:buNone/>
              <a:defRPr sz="1800" b="1" i="1">
                <a:solidFill>
                  <a:srgbClr val="FF6600"/>
                </a:solidFill>
              </a:defRPr>
            </a:lvl1pPr>
          </a:lstStyle>
          <a:p>
            <a:pPr lvl="0"/>
            <a:r>
              <a:rPr lang="en-GB" noProof="0"/>
              <a:t>Click to add column title</a:t>
            </a:r>
          </a:p>
        </p:txBody>
      </p:sp>
      <p:sp>
        <p:nvSpPr>
          <p:cNvPr id="10"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11" name="Tijdelijke aanduiding voor tekst 8"/>
          <p:cNvSpPr>
            <a:spLocks noGrp="1"/>
          </p:cNvSpPr>
          <p:nvPr>
            <p:ph type="body" sz="quarter" idx="16"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Tree>
    <p:extLst>
      <p:ext uri="{BB962C8B-B14F-4D97-AF65-F5344CB8AC3E}">
        <p14:creationId xmlns:p14="http://schemas.microsoft.com/office/powerpoint/2010/main" val="77622792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2 columns wide/narrow">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5019052"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5731934" y="1329929"/>
            <a:ext cx="2548466" cy="3166915"/>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Tree>
    <p:extLst>
      <p:ext uri="{BB962C8B-B14F-4D97-AF65-F5344CB8AC3E}">
        <p14:creationId xmlns:p14="http://schemas.microsoft.com/office/powerpoint/2010/main" val="355522954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2 columns narrow/w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inhoud 4"/>
          <p:cNvSpPr>
            <a:spLocks noGrp="1"/>
          </p:cNvSpPr>
          <p:nvPr>
            <p:ph sz="quarter" idx="11"/>
          </p:nvPr>
        </p:nvSpPr>
        <p:spPr>
          <a:xfrm>
            <a:off x="475815" y="1329929"/>
            <a:ext cx="2538318"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7" name="Tijdelijke aanduiding voor inhoud 6"/>
          <p:cNvSpPr>
            <a:spLocks noGrp="1"/>
          </p:cNvSpPr>
          <p:nvPr>
            <p:ph sz="quarter" idx="12"/>
          </p:nvPr>
        </p:nvSpPr>
        <p:spPr>
          <a:xfrm>
            <a:off x="3259668" y="1329929"/>
            <a:ext cx="5020733" cy="3148126"/>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tekst 6"/>
          <p:cNvSpPr>
            <a:spLocks noGrp="1"/>
          </p:cNvSpPr>
          <p:nvPr>
            <p:ph type="body" sz="quarter" idx="14" hasCustomPrompt="1"/>
          </p:nvPr>
        </p:nvSpPr>
        <p:spPr>
          <a:xfrm>
            <a:off x="476250" y="1077456"/>
            <a:ext cx="7804150" cy="212725"/>
          </a:xfrm>
        </p:spPr>
        <p:txBody>
          <a:bodyPr vert="horz" lIns="0" tIns="45720" rIns="0" bIns="45720" rtlCol="0" anchor="ctr"/>
          <a:lstStyle>
            <a:lvl1pPr marL="0" indent="0" defTabSz="456999">
              <a:buNone/>
              <a:defRPr lang="nl-NL" sz="1200" dirty="0">
                <a:solidFill>
                  <a:srgbClr val="5E6A71"/>
                </a:solidFill>
                <a:cs typeface="+mn-cs"/>
              </a:defRPr>
            </a:lvl1pPr>
          </a:lstStyle>
          <a:p>
            <a:pPr marL="0" lvl="0" defTabSz="456999"/>
            <a:r>
              <a:rPr lang="nl-NL" err="1"/>
              <a:t>Subtitle</a:t>
            </a:r>
            <a:endParaRPr lang="nl-NL"/>
          </a:p>
        </p:txBody>
      </p:sp>
      <p:sp>
        <p:nvSpPr>
          <p:cNvPr id="9"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buNone/>
            </a:pPr>
            <a:r>
              <a:rPr lang="nl-NL" err="1"/>
              <a:t>Foodnote</a:t>
            </a:r>
            <a:endParaRPr lang="nl-NL"/>
          </a:p>
        </p:txBody>
      </p:sp>
    </p:spTree>
    <p:extLst>
      <p:ext uri="{BB962C8B-B14F-4D97-AF65-F5344CB8AC3E}">
        <p14:creationId xmlns:p14="http://schemas.microsoft.com/office/powerpoint/2010/main" val="273600677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52463" y="4573810"/>
            <a:ext cx="642937" cy="204788"/>
          </a:xfrm>
        </p:spPr>
        <p:txBody>
          <a:bodyPr/>
          <a:lstStyle/>
          <a:p>
            <a:fld id="{4821C4A5-98F2-7545-875B-39B2F4500447}" type="slidenum">
              <a:rPr lang="en-GB" noProof="0" smtClean="0"/>
              <a:pPr/>
              <a:t>‹#›</a:t>
            </a:fld>
            <a:endParaRPr lang="en-GB" noProof="0"/>
          </a:p>
        </p:txBody>
      </p:sp>
      <p:sp>
        <p:nvSpPr>
          <p:cNvPr id="7" name="Tijdelijke aanduiding voor inhoud 6"/>
          <p:cNvSpPr>
            <a:spLocks noGrp="1"/>
          </p:cNvSpPr>
          <p:nvPr>
            <p:ph sz="quarter" idx="12"/>
          </p:nvPr>
        </p:nvSpPr>
        <p:spPr>
          <a:xfrm>
            <a:off x="3150466" y="1329929"/>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6" name="Tijdelijke aanduiding voor inhoud 6"/>
          <p:cNvSpPr>
            <a:spLocks noGrp="1"/>
          </p:cNvSpPr>
          <p:nvPr>
            <p:ph sz="quarter" idx="13"/>
          </p:nvPr>
        </p:nvSpPr>
        <p:spPr>
          <a:xfrm>
            <a:off x="5832400" y="1329929"/>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8" name="Tijdelijke aanduiding voor inhoud 6"/>
          <p:cNvSpPr>
            <a:spLocks noGrp="1"/>
          </p:cNvSpPr>
          <p:nvPr>
            <p:ph sz="quarter" idx="14"/>
          </p:nvPr>
        </p:nvSpPr>
        <p:spPr>
          <a:xfrm>
            <a:off x="475815" y="1329929"/>
            <a:ext cx="2448000" cy="3160652"/>
          </a:xfrm>
        </p:spPr>
        <p:txBody>
          <a:bodyPr/>
          <a:lstStyle>
            <a:lvl1pPr>
              <a:defRPr sz="2000"/>
            </a:lvl1pPr>
            <a:lvl2pPr>
              <a:defRPr sz="1800"/>
            </a:lvl2pPr>
            <a:lvl3pPr>
              <a:defRPr sz="1600"/>
            </a:lvl3pPr>
            <a:lvl4pPr>
              <a:defRPr sz="1600"/>
            </a:lvl4pPr>
            <a:lvl5pPr>
              <a:defRPr sz="1600"/>
            </a:lvl5pPr>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endParaRPr lang="en-GB" noProof="0"/>
          </a:p>
        </p:txBody>
      </p:sp>
      <p:sp>
        <p:nvSpPr>
          <p:cNvPr id="10"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11" name="Tijdelijke aanduiding voor tekst 8"/>
          <p:cNvSpPr>
            <a:spLocks noGrp="1"/>
          </p:cNvSpPr>
          <p:nvPr>
            <p:ph type="body" sz="quarter" idx="16"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Tree>
    <p:extLst>
      <p:ext uri="{BB962C8B-B14F-4D97-AF65-F5344CB8AC3E}">
        <p14:creationId xmlns:p14="http://schemas.microsoft.com/office/powerpoint/2010/main" val="148103500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_Basic slide">
    <p:spTree>
      <p:nvGrpSpPr>
        <p:cNvPr id="1" name=""/>
        <p:cNvGrpSpPr/>
        <p:nvPr/>
      </p:nvGrpSpPr>
      <p:grpSpPr>
        <a:xfrm>
          <a:off x="0" y="0"/>
          <a:ext cx="0" cy="0"/>
          <a:chOff x="0" y="0"/>
          <a:chExt cx="0" cy="0"/>
        </a:xfrm>
      </p:grpSpPr>
      <p:sp>
        <p:nvSpPr>
          <p:cNvPr id="2" name="Titel 1"/>
          <p:cNvSpPr>
            <a:spLocks noGrp="1"/>
          </p:cNvSpPr>
          <p:nvPr>
            <p:ph type="title"/>
          </p:nvPr>
        </p:nvSpPr>
        <p:spPr>
          <a:xfrm>
            <a:off x="162409" y="-1"/>
            <a:ext cx="8886340" cy="534355"/>
          </a:xfrm>
        </p:spPr>
        <p:txBody>
          <a:bodyPr/>
          <a:lstStyle>
            <a:lvl1pPr>
              <a:defRPr>
                <a:latin typeface="+mj-lt"/>
              </a:defRPr>
            </a:lvl1pPr>
          </a:lstStyle>
          <a:p>
            <a:r>
              <a:rPr lang="en-GB" noProof="0" err="1"/>
              <a:t>Klik</a:t>
            </a:r>
            <a:r>
              <a:rPr lang="en-GB" noProof="0"/>
              <a:t> om de </a:t>
            </a:r>
            <a:r>
              <a:rPr lang="en-GB" noProof="0" err="1"/>
              <a:t>stijl</a:t>
            </a:r>
            <a:r>
              <a:rPr lang="en-GB" noProof="0"/>
              <a:t> te </a:t>
            </a:r>
            <a:r>
              <a:rPr lang="en-GB" noProof="0" err="1"/>
              <a:t>bewerken</a:t>
            </a:r>
            <a:endParaRPr lang="en-GB" noProof="0"/>
          </a:p>
        </p:txBody>
      </p:sp>
      <p:sp>
        <p:nvSpPr>
          <p:cNvPr id="5" name="Tijdelijke aanduiding voor inhoud 4"/>
          <p:cNvSpPr>
            <a:spLocks noGrp="1"/>
          </p:cNvSpPr>
          <p:nvPr>
            <p:ph sz="quarter" idx="11"/>
          </p:nvPr>
        </p:nvSpPr>
        <p:spPr>
          <a:xfrm>
            <a:off x="162408" y="913831"/>
            <a:ext cx="8886341" cy="3891531"/>
          </a:xfrm>
        </p:spPr>
        <p:txBody>
          <a:bodyPr/>
          <a:lstStyle>
            <a:lvl1pPr>
              <a:defRPr sz="1400">
                <a:latin typeface="+mj-lt"/>
              </a:defRPr>
            </a:lvl1pPr>
            <a:lvl2pPr>
              <a:lnSpc>
                <a:spcPct val="100000"/>
              </a:lnSpc>
              <a:defRPr sz="1200">
                <a:latin typeface="+mj-lt"/>
              </a:defRPr>
            </a:lvl2pPr>
            <a:lvl3pPr>
              <a:lnSpc>
                <a:spcPct val="100000"/>
              </a:lnSpc>
              <a:defRPr sz="1100">
                <a:latin typeface="+mj-lt"/>
              </a:defRPr>
            </a:lvl3pPr>
            <a:lvl4pPr marL="933750" indent="-285750">
              <a:lnSpc>
                <a:spcPct val="100000"/>
              </a:lnSpc>
              <a:buFont typeface="Arial" panose="020B0604020202020204" pitchFamily="34" charset="0"/>
              <a:buChar char="•"/>
              <a:defRPr sz="1100">
                <a:latin typeface="+mj-lt"/>
              </a:defRPr>
            </a:lvl4pPr>
            <a:lvl5pPr>
              <a:lnSpc>
                <a:spcPct val="100000"/>
              </a:lnSpc>
              <a:defRPr sz="1200">
                <a:latin typeface="+mj-lt"/>
              </a:defRPr>
            </a:lvl5pPr>
          </a:lstStyle>
          <a:p>
            <a:pPr lvl="0"/>
            <a:r>
              <a:rPr lang="en-GB" noProof="0" err="1"/>
              <a:t>Klik</a:t>
            </a:r>
            <a:r>
              <a:rPr lang="en-GB" noProof="0"/>
              <a:t> om de </a:t>
            </a:r>
            <a:r>
              <a:rPr lang="en-GB" noProof="0" err="1"/>
              <a:t>modelstijlen</a:t>
            </a:r>
            <a:r>
              <a:rPr lang="en-GB" noProof="0"/>
              <a:t> te </a:t>
            </a:r>
            <a:r>
              <a:rPr lang="en-GB" noProof="0" err="1"/>
              <a:t>bewerken</a:t>
            </a:r>
            <a:endParaRPr lang="en-GB" noProof="0"/>
          </a:p>
          <a:p>
            <a:pPr lvl="1"/>
            <a:r>
              <a:rPr lang="en-GB" noProof="0" err="1"/>
              <a:t>Tweede</a:t>
            </a:r>
            <a:r>
              <a:rPr lang="en-GB" noProof="0"/>
              <a:t> </a:t>
            </a:r>
            <a:r>
              <a:rPr lang="en-GB" noProof="0" err="1"/>
              <a:t>niveau</a:t>
            </a:r>
            <a:endParaRPr lang="en-GB" noProof="0"/>
          </a:p>
          <a:p>
            <a:pPr lvl="2"/>
            <a:r>
              <a:rPr lang="en-GB" noProof="0" err="1"/>
              <a:t>Derde</a:t>
            </a:r>
            <a:r>
              <a:rPr lang="en-GB" noProof="0"/>
              <a:t> </a:t>
            </a:r>
            <a:r>
              <a:rPr lang="en-GB" noProof="0" err="1"/>
              <a:t>niveau</a:t>
            </a:r>
            <a:endParaRPr lang="en-GB" noProof="0"/>
          </a:p>
          <a:p>
            <a:pPr lvl="3"/>
            <a:r>
              <a:rPr lang="en-GB" noProof="0" err="1"/>
              <a:t>Vierde</a:t>
            </a:r>
            <a:r>
              <a:rPr lang="en-GB" noProof="0"/>
              <a:t> </a:t>
            </a:r>
            <a:r>
              <a:rPr lang="en-GB" noProof="0" err="1"/>
              <a:t>niveau</a:t>
            </a:r>
            <a:endParaRPr lang="en-GB" noProof="0"/>
          </a:p>
          <a:p>
            <a:pPr lvl="4"/>
            <a:r>
              <a:rPr lang="en-GB" noProof="0" err="1"/>
              <a:t>Vijfde</a:t>
            </a:r>
            <a:r>
              <a:rPr lang="en-GB" noProof="0"/>
              <a:t> </a:t>
            </a:r>
            <a:r>
              <a:rPr lang="en-GB" noProof="0" err="1"/>
              <a:t>niveau</a:t>
            </a:r>
            <a:endParaRPr lang="en-GB" noProof="0"/>
          </a:p>
        </p:txBody>
      </p:sp>
      <p:sp>
        <p:nvSpPr>
          <p:cNvPr id="7" name="Tijdelijke aanduiding voor tekst 6"/>
          <p:cNvSpPr>
            <a:spLocks noGrp="1"/>
          </p:cNvSpPr>
          <p:nvPr>
            <p:ph type="body" sz="quarter" idx="12" hasCustomPrompt="1"/>
          </p:nvPr>
        </p:nvSpPr>
        <p:spPr>
          <a:xfrm>
            <a:off x="162410" y="617730"/>
            <a:ext cx="7668088" cy="212725"/>
          </a:xfrm>
        </p:spPr>
        <p:txBody>
          <a:bodyPr vert="horz" lIns="0" tIns="45720" rIns="0" bIns="45720" rtlCol="0" anchor="ctr"/>
          <a:lstStyle>
            <a:lvl1pPr marL="0" indent="0">
              <a:buNone/>
              <a:defRPr lang="nl-NL" sz="1200" i="1" dirty="0">
                <a:solidFill>
                  <a:srgbClr val="000099"/>
                </a:solidFill>
                <a:latin typeface="+mj-lt"/>
                <a:cs typeface="Calibri" panose="020F0502020204030204" pitchFamily="34" charset="0"/>
              </a:defRPr>
            </a:lvl1pPr>
          </a:lstStyle>
          <a:p>
            <a:pPr marL="0" lvl="0" defTabSz="456999"/>
            <a:r>
              <a:rPr lang="en-GB" noProof="0"/>
              <a:t>Subtitle</a:t>
            </a:r>
          </a:p>
        </p:txBody>
      </p:sp>
      <p:sp>
        <p:nvSpPr>
          <p:cNvPr id="6" name="Tijdelijke aanduiding voor dianummer 6"/>
          <p:cNvSpPr txBox="1">
            <a:spLocks/>
          </p:cNvSpPr>
          <p:nvPr userDrawn="1"/>
        </p:nvSpPr>
        <p:spPr>
          <a:xfrm>
            <a:off x="8452463" y="4805362"/>
            <a:ext cx="642937" cy="143590"/>
          </a:xfrm>
          <a:prstGeom prst="rect">
            <a:avLst/>
          </a:prstGeom>
        </p:spPr>
        <p:txBody>
          <a:bodyPr vert="horz" lIns="91440" tIns="45720" rIns="0" bIns="45720" rtlCol="0" anchor="ctr"/>
          <a:lstStyle>
            <a:defPPr>
              <a:defRPr lang="nl-NL"/>
            </a:defPPr>
            <a:lvl1pPr marL="0" algn="r" defTabSz="456999" rtl="0" eaLnBrk="1" latinLnBrk="0" hangingPunct="1">
              <a:defRPr sz="800" kern="1200">
                <a:solidFill>
                  <a:srgbClr val="5E6A71"/>
                </a:solidFill>
                <a:latin typeface="Calibri" panose="020F0502020204030204" pitchFamily="34" charset="0"/>
                <a:ea typeface="+mn-ea"/>
                <a:cs typeface="Calibri" panose="020F0502020204030204" pitchFamily="34" charset="0"/>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en-GB" smtClean="0"/>
              <a:pPr/>
              <a:t>‹#›</a:t>
            </a:fld>
            <a:endParaRPr lang="en-GB"/>
          </a:p>
        </p:txBody>
      </p:sp>
    </p:spTree>
    <p:extLst>
      <p:ext uri="{BB962C8B-B14F-4D97-AF65-F5344CB8AC3E}">
        <p14:creationId xmlns:p14="http://schemas.microsoft.com/office/powerpoint/2010/main" val="49444902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45392" y="4564310"/>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tekst 6"/>
          <p:cNvSpPr>
            <a:spLocks noGrp="1"/>
          </p:cNvSpPr>
          <p:nvPr>
            <p:ph type="body" sz="quarter" idx="15" hasCustomPrompt="1"/>
          </p:nvPr>
        </p:nvSpPr>
        <p:spPr>
          <a:xfrm>
            <a:off x="476250" y="1077456"/>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99"/>
            <a:r>
              <a:rPr lang="nl-NL" err="1"/>
              <a:t>Subtitle</a:t>
            </a:r>
            <a:endParaRPr lang="nl-NL"/>
          </a:p>
        </p:txBody>
      </p:sp>
      <p:sp>
        <p:nvSpPr>
          <p:cNvPr id="6" name="Tijdelijke aanduiding voor tekst 8"/>
          <p:cNvSpPr>
            <a:spLocks noGrp="1"/>
          </p:cNvSpPr>
          <p:nvPr>
            <p:ph type="body" sz="quarter" idx="13" hasCustomPrompt="1"/>
          </p:nvPr>
        </p:nvSpPr>
        <p:spPr>
          <a:xfrm>
            <a:off x="476250" y="4561285"/>
            <a:ext cx="7804150" cy="204787"/>
          </a:xfrm>
        </p:spPr>
        <p:txBody>
          <a:bodyPr vert="horz" lIns="0" tIns="45720" rIns="0" bIns="45720" rtlCol="0" anchor="ctr">
            <a:noAutofit/>
          </a:bodyPr>
          <a:lstStyle>
            <a:lvl1pPr marL="216000" indent="-216000">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99"/>
            <a:r>
              <a:rPr lang="nl-NL" err="1"/>
              <a:t>Foodnote</a:t>
            </a:r>
            <a:endParaRPr lang="nl-NL"/>
          </a:p>
        </p:txBody>
      </p:sp>
    </p:spTree>
    <p:extLst>
      <p:ext uri="{BB962C8B-B14F-4D97-AF65-F5344CB8AC3E}">
        <p14:creationId xmlns:p14="http://schemas.microsoft.com/office/powerpoint/2010/main" val="3299069643"/>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3" name="Tijdelijke aanduiding voor dianummer 2"/>
          <p:cNvSpPr>
            <a:spLocks noGrp="1"/>
          </p:cNvSpPr>
          <p:nvPr>
            <p:ph type="sldNum" sz="quarter" idx="10"/>
          </p:nvPr>
        </p:nvSpPr>
        <p:spPr>
          <a:xfrm>
            <a:off x="8445393" y="4564311"/>
            <a:ext cx="642937" cy="204788"/>
          </a:xfrm>
        </p:spPr>
        <p:txBody>
          <a:bodyPr/>
          <a:lstStyle>
            <a:lvl1pPr>
              <a:defRPr>
                <a:solidFill>
                  <a:srgbClr val="5E6A71"/>
                </a:solidFill>
              </a:defRPr>
            </a:lvl1pPr>
          </a:lstStyle>
          <a:p>
            <a:fld id="{4821C4A5-98F2-7545-875B-39B2F4500447}" type="slidenum">
              <a:rPr lang="en-GB" noProof="0" smtClean="0"/>
              <a:pPr/>
              <a:t>‹#›</a:t>
            </a:fld>
            <a:endParaRPr lang="en-GB" noProof="0"/>
          </a:p>
        </p:txBody>
      </p:sp>
      <p:sp>
        <p:nvSpPr>
          <p:cNvPr id="5" name="Tijdelijke aanduiding voor tekst 6"/>
          <p:cNvSpPr>
            <a:spLocks noGrp="1"/>
          </p:cNvSpPr>
          <p:nvPr>
            <p:ph type="body" sz="quarter" idx="15" hasCustomPrompt="1"/>
          </p:nvPr>
        </p:nvSpPr>
        <p:spPr>
          <a:xfrm>
            <a:off x="476250" y="1077457"/>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88"/>
            <a:r>
              <a:rPr lang="nl-NL" err="1"/>
              <a:t>Subtitle</a:t>
            </a:r>
            <a:endParaRPr lang="nl-NL"/>
          </a:p>
        </p:txBody>
      </p:sp>
      <p:sp>
        <p:nvSpPr>
          <p:cNvPr id="6" name="Tijdelijke aanduiding voor tekst 8"/>
          <p:cNvSpPr>
            <a:spLocks noGrp="1"/>
          </p:cNvSpPr>
          <p:nvPr>
            <p:ph type="body" sz="quarter" idx="13" hasCustomPrompt="1"/>
          </p:nvPr>
        </p:nvSpPr>
        <p:spPr>
          <a:xfrm>
            <a:off x="476250" y="4561286"/>
            <a:ext cx="7804150" cy="204787"/>
          </a:xfrm>
        </p:spPr>
        <p:txBody>
          <a:bodyPr vert="horz" lIns="0" tIns="45720" rIns="0" bIns="45720" rtlCol="0" anchor="ctr">
            <a:noAutofit/>
          </a:bodyPr>
          <a:lstStyle>
            <a:lvl1pPr marL="215995" indent="-215995">
              <a:buNone/>
              <a:defRPr lang="nl-NL" sz="1200" smtClean="0">
                <a:solidFill>
                  <a:srgbClr val="5E6A71"/>
                </a:solidFill>
                <a:cs typeface="+mn-cs"/>
              </a:defRPr>
            </a:lvl1pPr>
            <a:lvl2pPr>
              <a:defRPr lang="nl-NL" smtClean="0"/>
            </a:lvl2pPr>
            <a:lvl3pPr>
              <a:defRPr lang="nl-NL" smtClean="0"/>
            </a:lvl3pPr>
            <a:lvl4pPr>
              <a:defRPr lang="nl-NL" smtClean="0"/>
            </a:lvl4pPr>
            <a:lvl5pPr>
              <a:defRPr lang="nl-NL"/>
            </a:lvl5pPr>
          </a:lstStyle>
          <a:p>
            <a:pPr marL="0" lvl="0" indent="0" defTabSz="456988"/>
            <a:r>
              <a:rPr lang="nl-NL" err="1"/>
              <a:t>Footnote</a:t>
            </a:r>
            <a:endParaRPr lang="nl-NL"/>
          </a:p>
        </p:txBody>
      </p:sp>
    </p:spTree>
    <p:extLst>
      <p:ext uri="{BB962C8B-B14F-4D97-AF65-F5344CB8AC3E}">
        <p14:creationId xmlns:p14="http://schemas.microsoft.com/office/powerpoint/2010/main" val="214068870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6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747ACC-9F38-4EE9-BBE5-E8CDF2BF505F}"/>
              </a:ext>
            </a:extLst>
          </p:cNvPr>
          <p:cNvSpPr/>
          <p:nvPr userDrawn="1"/>
        </p:nvSpPr>
        <p:spPr>
          <a:xfrm>
            <a:off x="0" y="4358640"/>
            <a:ext cx="9144000" cy="78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nl-NL" sz="1350" noProof="0"/>
          </a:p>
        </p:txBody>
      </p:sp>
      <p:sp>
        <p:nvSpPr>
          <p:cNvPr id="35" name="Picture Placeholder 34">
            <a:extLst>
              <a:ext uri="{FF2B5EF4-FFF2-40B4-BE49-F238E27FC236}">
                <a16:creationId xmlns:a16="http://schemas.microsoft.com/office/drawing/2014/main" id="{F2CB285B-2964-4CCA-9F70-1542304B2A43}"/>
              </a:ext>
            </a:extLst>
          </p:cNvPr>
          <p:cNvSpPr>
            <a:spLocks noGrp="1"/>
          </p:cNvSpPr>
          <p:nvPr>
            <p:ph type="pic" sz="quarter" idx="14" hasCustomPrompt="1"/>
          </p:nvPr>
        </p:nvSpPr>
        <p:spPr>
          <a:xfrm>
            <a:off x="0" y="1"/>
            <a:ext cx="9144000" cy="4358640"/>
          </a:xfrm>
          <a:prstGeom prst="rect">
            <a:avLst/>
          </a:prstGeom>
          <a:solidFill>
            <a:schemeClr val="tx2"/>
          </a:solidFill>
        </p:spPr>
        <p:txBody>
          <a:bodyPr wrap="square" bIns="180000" anchor="b">
            <a:noAutofit/>
          </a:bodyPr>
          <a:lstStyle>
            <a:lvl1pPr algn="ctr">
              <a:spcAft>
                <a:spcPts val="0"/>
              </a:spcAft>
              <a:defRPr>
                <a:solidFill>
                  <a:schemeClr val="bg1"/>
                </a:solidFill>
              </a:defRPr>
            </a:lvl1pPr>
          </a:lstStyle>
          <a:p>
            <a:r>
              <a:rPr lang="nl-NL" noProof="0"/>
              <a:t>Click here and select an image from the Images Library in Templafy.</a:t>
            </a:r>
            <a:br>
              <a:rPr lang="en-US" noProof="0"/>
            </a:br>
            <a:r>
              <a:rPr lang="nl-NL" noProof="0"/>
              <a:t>Next, select a line from the Slide Elements Library.</a:t>
            </a:r>
            <a:endParaRPr lang="nl-NL"/>
          </a:p>
        </p:txBody>
      </p:sp>
      <p:sp>
        <p:nvSpPr>
          <p:cNvPr id="4" name="Date Placeholder 3">
            <a:extLst>
              <a:ext uri="{FF2B5EF4-FFF2-40B4-BE49-F238E27FC236}">
                <a16:creationId xmlns:a16="http://schemas.microsoft.com/office/drawing/2014/main" id="{D6AFD005-2827-46C1-9709-F5526773BF59}"/>
              </a:ext>
            </a:extLst>
          </p:cNvPr>
          <p:cNvSpPr>
            <a:spLocks noGrp="1"/>
          </p:cNvSpPr>
          <p:nvPr>
            <p:ph type="dt" sz="half" idx="10"/>
          </p:nvPr>
        </p:nvSpPr>
        <p:spPr>
          <a:xfrm>
            <a:off x="470058" y="4712540"/>
            <a:ext cx="5670000" cy="273844"/>
          </a:xfrm>
          <a:prstGeom prst="rect">
            <a:avLst/>
          </a:prstGeom>
        </p:spPr>
        <p:txBody>
          <a:bodyPr lIns="0" tIns="0" rIns="0" bIns="0">
            <a:noAutofit/>
          </a:bodyPr>
          <a:lstStyle>
            <a:lvl1pPr>
              <a:defRPr sz="975">
                <a:solidFill>
                  <a:srgbClr val="000FAA"/>
                </a:solidFill>
              </a:defRPr>
            </a:lvl1pPr>
          </a:lstStyle>
          <a:p>
            <a:r>
              <a:rPr lang="nl-NL" noProof="0"/>
              <a:t>7/14/2021  |  Versie  |  Naam </a:t>
            </a:r>
            <a:r>
              <a:rPr lang="nl-NL" noProof="0" err="1"/>
              <a:t>presentator</a:t>
            </a:r>
            <a:endParaRPr lang="nl-NL" noProof="0"/>
          </a:p>
        </p:txBody>
      </p:sp>
      <p:sp>
        <p:nvSpPr>
          <p:cNvPr id="8" name="Subtitle 2">
            <a:extLst>
              <a:ext uri="{FF2B5EF4-FFF2-40B4-BE49-F238E27FC236}">
                <a16:creationId xmlns:a16="http://schemas.microsoft.com/office/drawing/2014/main" id="{8A8E11C7-8AC7-4E57-9FF2-B2290BF164B7}"/>
              </a:ext>
            </a:extLst>
          </p:cNvPr>
          <p:cNvSpPr>
            <a:spLocks noGrp="1"/>
          </p:cNvSpPr>
          <p:nvPr>
            <p:ph type="subTitle" idx="13"/>
          </p:nvPr>
        </p:nvSpPr>
        <p:spPr>
          <a:xfrm>
            <a:off x="457200" y="1022649"/>
            <a:ext cx="8209344" cy="347046"/>
          </a:xfrm>
        </p:spPr>
        <p:txBody>
          <a:bodyPr lIns="0" tIns="0" rIns="0" bIns="0">
            <a:noAutofit/>
          </a:bodyPr>
          <a:lstStyle>
            <a:lvl1pPr>
              <a:defRPr lang="en-GB" sz="1800" dirty="0">
                <a:solidFill>
                  <a:schemeClr val="bg1"/>
                </a:solidFill>
              </a:defRPr>
            </a:lvl1pPr>
          </a:lstStyle>
          <a:p>
            <a:pPr marL="0" lvl="0" indent="0">
              <a:buNone/>
            </a:pPr>
            <a:r>
              <a:rPr lang="en-GB" noProof="0"/>
              <a:t>Click to edit Master subtitle style</a:t>
            </a:r>
            <a:endParaRPr lang="nl-NL" noProof="0"/>
          </a:p>
        </p:txBody>
      </p:sp>
      <p:sp>
        <p:nvSpPr>
          <p:cNvPr id="11" name="Title 1">
            <a:extLst>
              <a:ext uri="{FF2B5EF4-FFF2-40B4-BE49-F238E27FC236}">
                <a16:creationId xmlns:a16="http://schemas.microsoft.com/office/drawing/2014/main" id="{FC5F9583-417F-4FD2-8504-D6CCC8BDEA49}"/>
              </a:ext>
            </a:extLst>
          </p:cNvPr>
          <p:cNvSpPr>
            <a:spLocks noGrp="1"/>
          </p:cNvSpPr>
          <p:nvPr>
            <p:ph type="title"/>
          </p:nvPr>
        </p:nvSpPr>
        <p:spPr>
          <a:xfrm>
            <a:off x="457200" y="416481"/>
            <a:ext cx="8209344" cy="480439"/>
          </a:xfrm>
        </p:spPr>
        <p:txBody>
          <a:bodyPr>
            <a:noAutofit/>
          </a:bodyPr>
          <a:lstStyle>
            <a:lvl1pPr>
              <a:defRPr sz="4350">
                <a:solidFill>
                  <a:schemeClr val="bg1"/>
                </a:solidFill>
              </a:defRPr>
            </a:lvl1pPr>
          </a:lstStyle>
          <a:p>
            <a:r>
              <a:rPr lang="en-GB" noProof="0"/>
              <a:t>Click to edit Master title style</a:t>
            </a:r>
            <a:endParaRPr lang="nl-NL" noProof="0"/>
          </a:p>
        </p:txBody>
      </p:sp>
      <p:sp>
        <p:nvSpPr>
          <p:cNvPr id="38" name="Slide Number Placeholder 5">
            <a:extLst>
              <a:ext uri="{FF2B5EF4-FFF2-40B4-BE49-F238E27FC236}">
                <a16:creationId xmlns:a16="http://schemas.microsoft.com/office/drawing/2014/main" id="{3BF99B16-D53B-4578-85E0-77BFFA779E5A}"/>
              </a:ext>
            </a:extLst>
          </p:cNvPr>
          <p:cNvSpPr>
            <a:spLocks noGrp="1"/>
          </p:cNvSpPr>
          <p:nvPr>
            <p:ph type="sldNum" sz="quarter" idx="4"/>
          </p:nvPr>
        </p:nvSpPr>
        <p:spPr>
          <a:xfrm>
            <a:off x="457200" y="5340282"/>
            <a:ext cx="371475" cy="273844"/>
          </a:xfrm>
          <a:prstGeom prst="rect">
            <a:avLst/>
          </a:prstGeom>
        </p:spPr>
        <p:txBody>
          <a:bodyPr vert="horz" lIns="0" tIns="0" rIns="0" bIns="0" rtlCol="0" anchor="ctr">
            <a:noAutofit/>
          </a:bodyPr>
          <a:lstStyle>
            <a:lvl1pPr algn="l">
              <a:defRPr sz="900">
                <a:solidFill>
                  <a:srgbClr val="D8D9DA"/>
                </a:solidFill>
              </a:defRPr>
            </a:lvl1pPr>
          </a:lstStyle>
          <a:p>
            <a:fld id="{555B1587-59F1-4FB5-A363-0505DAC627C3}" type="slidenum">
              <a:rPr lang="nl-NL" noProof="0" smtClean="0"/>
              <a:pPr/>
              <a:t>‹#›</a:t>
            </a:fld>
            <a:endParaRPr lang="nl-NL" noProof="0"/>
          </a:p>
        </p:txBody>
      </p:sp>
      <p:pic>
        <p:nvPicPr>
          <p:cNvPr id="23" name="Graphic 22">
            <a:extLst>
              <a:ext uri="{FF2B5EF4-FFF2-40B4-BE49-F238E27FC236}">
                <a16:creationId xmlns:a16="http://schemas.microsoft.com/office/drawing/2014/main" id="{D928D51D-9B86-4B1C-82E0-D5417B3B1A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02354" y="4408790"/>
            <a:ext cx="1426208" cy="607500"/>
          </a:xfrm>
          <a:prstGeom prst="rect">
            <a:avLst/>
          </a:prstGeom>
        </p:spPr>
      </p:pic>
    </p:spTree>
    <p:extLst>
      <p:ext uri="{BB962C8B-B14F-4D97-AF65-F5344CB8AC3E}">
        <p14:creationId xmlns:p14="http://schemas.microsoft.com/office/powerpoint/2010/main" val="158631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FD00BA-A7B4-46C4-A52E-873FF53DFDDA}"/>
              </a:ext>
            </a:extLst>
          </p:cNvPr>
          <p:cNvSpPr/>
          <p:nvPr userDrawn="1"/>
        </p:nvSpPr>
        <p:spPr>
          <a:xfrm>
            <a:off x="0" y="0"/>
            <a:ext cx="9144000" cy="5143500"/>
          </a:xfrm>
          <a:prstGeom prst="rect">
            <a:avLst/>
          </a:prstGeom>
          <a:solidFill>
            <a:schemeClr val="bg1"/>
          </a:solidFill>
          <a:ln w="12700" cap="rnd" cmpd="sng" algn="ctr">
            <a:solidFill>
              <a:srgbClr val="EAEAEA"/>
            </a:solidFill>
            <a:prstDash val="solid"/>
          </a:ln>
          <a:effectLst/>
        </p:spPr>
        <p:txBody>
          <a:bodyPr rtlCol="0" anchor="ctr"/>
          <a:lstStyle/>
          <a:p>
            <a:pPr algn="ctr"/>
            <a:endParaRPr lang="nl-NL" sz="1800">
              <a:solidFill>
                <a:srgbClr val="5E6A71"/>
              </a:solidFill>
              <a:latin typeface="Myriad for Rabobank Lt" panose="020B0403030403020204" pitchFamily="34" charset="0"/>
            </a:endParaRPr>
          </a:p>
        </p:txBody>
      </p:sp>
      <p:sp>
        <p:nvSpPr>
          <p:cNvPr id="25" name="Picture Placeholder 24">
            <a:extLst>
              <a:ext uri="{FF2B5EF4-FFF2-40B4-BE49-F238E27FC236}">
                <a16:creationId xmlns:a16="http://schemas.microsoft.com/office/drawing/2014/main" id="{27840A73-0E34-4687-BB0B-C09992703165}"/>
              </a:ext>
            </a:extLst>
          </p:cNvPr>
          <p:cNvSpPr>
            <a:spLocks noGrp="1"/>
          </p:cNvSpPr>
          <p:nvPr>
            <p:ph type="pic" sz="quarter" idx="14"/>
          </p:nvPr>
        </p:nvSpPr>
        <p:spPr>
          <a:xfrm>
            <a:off x="0" y="0"/>
            <a:ext cx="9144000" cy="5143500"/>
          </a:xfrm>
          <a:custGeom>
            <a:avLst/>
            <a:gdLst>
              <a:gd name="connsiteX0" fmla="*/ 7976101 w 9144000"/>
              <a:gd name="connsiteY0" fmla="*/ 3818903 h 5143500"/>
              <a:gd name="connsiteX1" fmla="*/ 7793697 w 9144000"/>
              <a:gd name="connsiteY1" fmla="*/ 4001307 h 5143500"/>
              <a:gd name="connsiteX2" fmla="*/ 7793697 w 9144000"/>
              <a:gd name="connsiteY2" fmla="*/ 4730901 h 5143500"/>
              <a:gd name="connsiteX3" fmla="*/ 7976101 w 9144000"/>
              <a:gd name="connsiteY3" fmla="*/ 4913305 h 5143500"/>
              <a:gd name="connsiteX4" fmla="*/ 8705693 w 9144000"/>
              <a:gd name="connsiteY4" fmla="*/ 4913305 h 5143500"/>
              <a:gd name="connsiteX5" fmla="*/ 8888097 w 9144000"/>
              <a:gd name="connsiteY5" fmla="*/ 4730901 h 5143500"/>
              <a:gd name="connsiteX6" fmla="*/ 8888097 w 9144000"/>
              <a:gd name="connsiteY6" fmla="*/ 4001307 h 5143500"/>
              <a:gd name="connsiteX7" fmla="*/ 8705693 w 9144000"/>
              <a:gd name="connsiteY7" fmla="*/ 3818903 h 5143500"/>
              <a:gd name="connsiteX8" fmla="*/ 0 w 9144000"/>
              <a:gd name="connsiteY8" fmla="*/ 0 h 5143500"/>
              <a:gd name="connsiteX9" fmla="*/ 9144000 w 9144000"/>
              <a:gd name="connsiteY9" fmla="*/ 0 h 5143500"/>
              <a:gd name="connsiteX10" fmla="*/ 9144000 w 9144000"/>
              <a:gd name="connsiteY10" fmla="*/ 5143500 h 5143500"/>
              <a:gd name="connsiteX11" fmla="*/ 0 w 9144000"/>
              <a:gd name="connsiteY11"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44000" h="5143500">
                <a:moveTo>
                  <a:pt x="7976101" y="3818903"/>
                </a:moveTo>
                <a:cubicBezTo>
                  <a:pt x="7875362" y="3818903"/>
                  <a:pt x="7793697" y="3900568"/>
                  <a:pt x="7793697" y="4001307"/>
                </a:cubicBezTo>
                <a:lnTo>
                  <a:pt x="7793697" y="4730901"/>
                </a:lnTo>
                <a:cubicBezTo>
                  <a:pt x="7793697" y="4831640"/>
                  <a:pt x="7875362" y="4913305"/>
                  <a:pt x="7976101" y="4913305"/>
                </a:cubicBezTo>
                <a:lnTo>
                  <a:pt x="8705693" y="4913305"/>
                </a:lnTo>
                <a:cubicBezTo>
                  <a:pt x="8806432" y="4913305"/>
                  <a:pt x="8888097" y="4831640"/>
                  <a:pt x="8888097" y="4730901"/>
                </a:cubicBezTo>
                <a:lnTo>
                  <a:pt x="8888097" y="4001307"/>
                </a:lnTo>
                <a:cubicBezTo>
                  <a:pt x="8888097" y="3900568"/>
                  <a:pt x="8806432" y="3818903"/>
                  <a:pt x="8705693" y="3818903"/>
                </a:cubicBezTo>
                <a:close/>
                <a:moveTo>
                  <a:pt x="0" y="0"/>
                </a:moveTo>
                <a:lnTo>
                  <a:pt x="9144000" y="0"/>
                </a:lnTo>
                <a:lnTo>
                  <a:pt x="9144000" y="5143500"/>
                </a:lnTo>
                <a:lnTo>
                  <a:pt x="0" y="5143500"/>
                </a:lnTo>
                <a:close/>
              </a:path>
            </a:pathLst>
          </a:custGeom>
        </p:spPr>
        <p:txBody>
          <a:bodyPr wrap="square">
            <a:noAutofit/>
          </a:bodyPr>
          <a:lstStyle>
            <a:lvl1pPr marL="0" indent="0" algn="ctr">
              <a:buNone/>
              <a:defRPr sz="1200">
                <a:solidFill>
                  <a:schemeClr val="bg1">
                    <a:lumMod val="65000"/>
                  </a:schemeClr>
                </a:solidFill>
              </a:defRPr>
            </a:lvl1pPr>
          </a:lstStyle>
          <a:p>
            <a:endParaRPr lang="nl-NL"/>
          </a:p>
        </p:txBody>
      </p:sp>
      <p:sp>
        <p:nvSpPr>
          <p:cNvPr id="10" name="Tijdelijke aanduiding voor tekst 5">
            <a:extLst>
              <a:ext uri="{FF2B5EF4-FFF2-40B4-BE49-F238E27FC236}">
                <a16:creationId xmlns:a16="http://schemas.microsoft.com/office/drawing/2014/main" id="{711C1908-5934-4904-9071-C3D094EEC1CF}"/>
              </a:ext>
            </a:extLst>
          </p:cNvPr>
          <p:cNvSpPr>
            <a:spLocks noGrp="1"/>
          </p:cNvSpPr>
          <p:nvPr>
            <p:ph type="body" sz="quarter" idx="12" hasCustomPrompt="1"/>
          </p:nvPr>
        </p:nvSpPr>
        <p:spPr>
          <a:xfrm>
            <a:off x="471600" y="4708105"/>
            <a:ext cx="5868000" cy="205200"/>
          </a:xfrm>
        </p:spPr>
        <p:txBody>
          <a:bodyPr tIns="36000" anchor="t" anchorCtr="0"/>
          <a:lstStyle>
            <a:lvl1pPr marL="0" indent="0">
              <a:lnSpc>
                <a:spcPct val="80000"/>
              </a:lnSpc>
              <a:buNone/>
              <a:defRPr sz="940" b="0" i="0">
                <a:solidFill>
                  <a:schemeClr val="bg1"/>
                </a:solidFill>
                <a:latin typeface="Myriad for Rabobank SBd" panose="020B0603030403020204" pitchFamily="34" charset="0"/>
              </a:defRPr>
            </a:lvl1pPr>
          </a:lstStyle>
          <a:p>
            <a:pPr lvl="0"/>
            <a:r>
              <a:rPr lang="en-US"/>
              <a:t>Datum | Versie / Date | Version</a:t>
            </a:r>
          </a:p>
        </p:txBody>
      </p:sp>
      <p:pic>
        <p:nvPicPr>
          <p:cNvPr id="139421156" name="image" descr="{&quot;templafy&quot;:{&quot;id&quot;:&quot;14d27d81-10f9-49b5-a182-489780ad7085&quot;}}"/>
          <p:cNvPicPr>
            <a:picLocks noChangeAspect="1"/>
          </p:cNvPicPr>
          <p:nvPr/>
        </p:nvPicPr>
        <p:blipFill>
          <a:blip r:embed="rId2"/>
          <a:stretch>
            <a:fillRect/>
          </a:stretch>
        </p:blipFill>
        <p:spPr>
          <a:xfrm>
            <a:off x="7793697" y="3818903"/>
            <a:ext cx="1094400" cy="1094400"/>
          </a:xfrm>
          <a:prstGeom prst="rect">
            <a:avLst/>
          </a:prstGeom>
        </p:spPr>
      </p:pic>
      <p:sp>
        <p:nvSpPr>
          <p:cNvPr id="26" name="text" descr="{&quot;templafy&quot;:{&quot;id&quot;:&quot;1bf62876-2c31-4c6b-884f-61925ca387a4&quot;}}" title="Translations.Rabo_Title_Slides">
            <a:extLst>
              <a:ext uri="{FF2B5EF4-FFF2-40B4-BE49-F238E27FC236}">
                <a16:creationId xmlns:a16="http://schemas.microsoft.com/office/drawing/2014/main" id="{DD55D555-F0BF-43B8-8E13-88649E08E660}"/>
              </a:ext>
            </a:extLst>
          </p:cNvPr>
          <p:cNvSpPr/>
          <p:nvPr userDrawn="1"/>
        </p:nvSpPr>
        <p:spPr>
          <a:xfrm>
            <a:off x="0" y="-54302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Type title and subtitle. Then select appropriate slide layout by selecting 'Start, Layout'. Then roll down list below 'Rabo title slides'.</a:t>
            </a:r>
          </a:p>
        </p:txBody>
      </p:sp>
      <p:sp>
        <p:nvSpPr>
          <p:cNvPr id="27" name="text" descr="{&quot;templafy&quot;:{&quot;id&quot;:&quot;702c8c42-2f03-4eab-b665-f2ac53d2bc1d&quot;}}" title="Translations.Background_Photo">
            <a:extLst>
              <a:ext uri="{FF2B5EF4-FFF2-40B4-BE49-F238E27FC236}">
                <a16:creationId xmlns:a16="http://schemas.microsoft.com/office/drawing/2014/main" id="{002E86A3-086D-4291-B2EC-344286140CC8}"/>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Insert background photo by clicking the icon in the slide centre or by selecting an image from Templafy.</a:t>
            </a:r>
          </a:p>
        </p:txBody>
      </p:sp>
      <p:sp>
        <p:nvSpPr>
          <p:cNvPr id="13" name="Ondertitel">
            <a:extLst>
              <a:ext uri="{FF2B5EF4-FFF2-40B4-BE49-F238E27FC236}">
                <a16:creationId xmlns:a16="http://schemas.microsoft.com/office/drawing/2014/main" id="{79129487-5878-429D-BBCB-575B8DBDBD05}"/>
              </a:ext>
            </a:extLst>
          </p:cNvPr>
          <p:cNvSpPr>
            <a:spLocks noGrp="1"/>
          </p:cNvSpPr>
          <p:nvPr>
            <p:ph type="subTitle" idx="1"/>
          </p:nvPr>
        </p:nvSpPr>
        <p:spPr>
          <a:xfrm>
            <a:off x="2" y="1275348"/>
            <a:ext cx="4201200" cy="536400"/>
          </a:xfrm>
          <a:custGeom>
            <a:avLst/>
            <a:gdLst>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181353 w 4207670"/>
              <a:gd name="connsiteY7" fmla="*/ 172615 h 461138"/>
              <a:gd name="connsiteX8" fmla="*/ 4180985 w 4207670"/>
              <a:gd name="connsiteY8" fmla="*/ 173138 h 461138"/>
              <a:gd name="connsiteX9" fmla="*/ 4207670 w 4207670"/>
              <a:gd name="connsiteY9" fmla="*/ 173138 h 461138"/>
              <a:gd name="connsiteX10" fmla="*/ 3977712 w 4207670"/>
              <a:gd name="connsiteY10" fmla="*/ 455287 h 461138"/>
              <a:gd name="connsiteX11" fmla="*/ 3960295 w 4207670"/>
              <a:gd name="connsiteY11" fmla="*/ 457043 h 461138"/>
              <a:gd name="connsiteX12" fmla="*/ 3958936 w 4207670"/>
              <a:gd name="connsiteY12" fmla="*/ 458756 h 461138"/>
              <a:gd name="connsiteX13" fmla="*/ 3958926 w 4207670"/>
              <a:gd name="connsiteY13" fmla="*/ 458757 h 461138"/>
              <a:gd name="connsiteX14" fmla="*/ 3943289 w 4207670"/>
              <a:gd name="connsiteY14" fmla="*/ 458757 h 461138"/>
              <a:gd name="connsiteX15" fmla="*/ 3919670 w 4207670"/>
              <a:gd name="connsiteY15" fmla="*/ 461138 h 461138"/>
              <a:gd name="connsiteX16" fmla="*/ 3919670 w 4207670"/>
              <a:gd name="connsiteY16" fmla="*/ 458757 h 461138"/>
              <a:gd name="connsiteX17" fmla="*/ 0 w 4207670"/>
              <a:gd name="connsiteY17" fmla="*/ 458756 h 461138"/>
              <a:gd name="connsiteX18" fmla="*/ 0 w 4207670"/>
              <a:gd name="connsiteY18" fmla="*/ 229379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181353 w 4207670"/>
              <a:gd name="connsiteY7" fmla="*/ 172615 h 461138"/>
              <a:gd name="connsiteX8" fmla="*/ 4207670 w 4207670"/>
              <a:gd name="connsiteY8" fmla="*/ 173138 h 461138"/>
              <a:gd name="connsiteX9" fmla="*/ 3977712 w 4207670"/>
              <a:gd name="connsiteY9" fmla="*/ 455287 h 461138"/>
              <a:gd name="connsiteX10" fmla="*/ 3960295 w 4207670"/>
              <a:gd name="connsiteY10" fmla="*/ 457043 h 461138"/>
              <a:gd name="connsiteX11" fmla="*/ 3958936 w 4207670"/>
              <a:gd name="connsiteY11" fmla="*/ 458756 h 461138"/>
              <a:gd name="connsiteX12" fmla="*/ 3958926 w 4207670"/>
              <a:gd name="connsiteY12" fmla="*/ 458757 h 461138"/>
              <a:gd name="connsiteX13" fmla="*/ 3943289 w 4207670"/>
              <a:gd name="connsiteY13" fmla="*/ 458757 h 461138"/>
              <a:gd name="connsiteX14" fmla="*/ 3919670 w 4207670"/>
              <a:gd name="connsiteY14" fmla="*/ 461138 h 461138"/>
              <a:gd name="connsiteX15" fmla="*/ 3919670 w 4207670"/>
              <a:gd name="connsiteY15" fmla="*/ 458757 h 461138"/>
              <a:gd name="connsiteX16" fmla="*/ 0 w 4207670"/>
              <a:gd name="connsiteY16" fmla="*/ 458756 h 461138"/>
              <a:gd name="connsiteX17" fmla="*/ 0 w 4207670"/>
              <a:gd name="connsiteY17" fmla="*/ 229379 h 461138"/>
              <a:gd name="connsiteX18" fmla="*/ 0 w 4207670"/>
              <a:gd name="connsiteY18"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77712 w 4207670"/>
              <a:gd name="connsiteY8" fmla="*/ 455287 h 461138"/>
              <a:gd name="connsiteX9" fmla="*/ 3960295 w 4207670"/>
              <a:gd name="connsiteY9" fmla="*/ 457043 h 461138"/>
              <a:gd name="connsiteX10" fmla="*/ 3958936 w 4207670"/>
              <a:gd name="connsiteY10" fmla="*/ 458756 h 461138"/>
              <a:gd name="connsiteX11" fmla="*/ 3958926 w 4207670"/>
              <a:gd name="connsiteY11" fmla="*/ 458757 h 461138"/>
              <a:gd name="connsiteX12" fmla="*/ 3943289 w 4207670"/>
              <a:gd name="connsiteY12" fmla="*/ 458757 h 461138"/>
              <a:gd name="connsiteX13" fmla="*/ 3919670 w 4207670"/>
              <a:gd name="connsiteY13" fmla="*/ 461138 h 461138"/>
              <a:gd name="connsiteX14" fmla="*/ 3919670 w 4207670"/>
              <a:gd name="connsiteY14" fmla="*/ 458757 h 461138"/>
              <a:gd name="connsiteX15" fmla="*/ 0 w 4207670"/>
              <a:gd name="connsiteY15" fmla="*/ 458756 h 461138"/>
              <a:gd name="connsiteX16" fmla="*/ 0 w 4207670"/>
              <a:gd name="connsiteY16" fmla="*/ 229379 h 461138"/>
              <a:gd name="connsiteX17" fmla="*/ 0 w 4207670"/>
              <a:gd name="connsiteY17"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60295 w 4207670"/>
              <a:gd name="connsiteY8" fmla="*/ 457043 h 461138"/>
              <a:gd name="connsiteX9" fmla="*/ 3958936 w 4207670"/>
              <a:gd name="connsiteY9" fmla="*/ 458756 h 461138"/>
              <a:gd name="connsiteX10" fmla="*/ 3958926 w 4207670"/>
              <a:gd name="connsiteY10" fmla="*/ 458757 h 461138"/>
              <a:gd name="connsiteX11" fmla="*/ 3943289 w 4207670"/>
              <a:gd name="connsiteY11" fmla="*/ 458757 h 461138"/>
              <a:gd name="connsiteX12" fmla="*/ 3919670 w 4207670"/>
              <a:gd name="connsiteY12" fmla="*/ 461138 h 461138"/>
              <a:gd name="connsiteX13" fmla="*/ 3919670 w 4207670"/>
              <a:gd name="connsiteY13" fmla="*/ 458757 h 461138"/>
              <a:gd name="connsiteX14" fmla="*/ 0 w 4207670"/>
              <a:gd name="connsiteY14" fmla="*/ 458756 h 461138"/>
              <a:gd name="connsiteX15" fmla="*/ 0 w 4207670"/>
              <a:gd name="connsiteY15" fmla="*/ 229379 h 461138"/>
              <a:gd name="connsiteX16" fmla="*/ 0 w 4207670"/>
              <a:gd name="connsiteY16"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60295 w 4207670"/>
              <a:gd name="connsiteY8" fmla="*/ 457043 h 461138"/>
              <a:gd name="connsiteX9" fmla="*/ 3958936 w 4207670"/>
              <a:gd name="connsiteY9" fmla="*/ 458756 h 461138"/>
              <a:gd name="connsiteX10" fmla="*/ 3943289 w 4207670"/>
              <a:gd name="connsiteY10" fmla="*/ 458757 h 461138"/>
              <a:gd name="connsiteX11" fmla="*/ 3919670 w 4207670"/>
              <a:gd name="connsiteY11" fmla="*/ 461138 h 461138"/>
              <a:gd name="connsiteX12" fmla="*/ 3919670 w 4207670"/>
              <a:gd name="connsiteY12" fmla="*/ 458757 h 461138"/>
              <a:gd name="connsiteX13" fmla="*/ 0 w 4207670"/>
              <a:gd name="connsiteY13" fmla="*/ 458756 h 461138"/>
              <a:gd name="connsiteX14" fmla="*/ 0 w 4207670"/>
              <a:gd name="connsiteY14" fmla="*/ 229379 h 461138"/>
              <a:gd name="connsiteX15" fmla="*/ 0 w 4207670"/>
              <a:gd name="connsiteY15"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60295 w 4207670"/>
              <a:gd name="connsiteY8" fmla="*/ 457043 h 461138"/>
              <a:gd name="connsiteX9" fmla="*/ 3943289 w 4207670"/>
              <a:gd name="connsiteY9" fmla="*/ 458757 h 461138"/>
              <a:gd name="connsiteX10" fmla="*/ 3919670 w 4207670"/>
              <a:gd name="connsiteY10" fmla="*/ 461138 h 461138"/>
              <a:gd name="connsiteX11" fmla="*/ 3919670 w 4207670"/>
              <a:gd name="connsiteY11" fmla="*/ 458757 h 461138"/>
              <a:gd name="connsiteX12" fmla="*/ 0 w 4207670"/>
              <a:gd name="connsiteY12" fmla="*/ 458756 h 461138"/>
              <a:gd name="connsiteX13" fmla="*/ 0 w 4207670"/>
              <a:gd name="connsiteY13" fmla="*/ 229379 h 461138"/>
              <a:gd name="connsiteX14" fmla="*/ 0 w 4207670"/>
              <a:gd name="connsiteY14"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43289 w 4207670"/>
              <a:gd name="connsiteY8" fmla="*/ 458757 h 461138"/>
              <a:gd name="connsiteX9" fmla="*/ 3919670 w 4207670"/>
              <a:gd name="connsiteY9" fmla="*/ 461138 h 461138"/>
              <a:gd name="connsiteX10" fmla="*/ 3919670 w 4207670"/>
              <a:gd name="connsiteY10" fmla="*/ 458757 h 461138"/>
              <a:gd name="connsiteX11" fmla="*/ 0 w 4207670"/>
              <a:gd name="connsiteY11" fmla="*/ 458756 h 461138"/>
              <a:gd name="connsiteX12" fmla="*/ 0 w 4207670"/>
              <a:gd name="connsiteY12" fmla="*/ 229379 h 461138"/>
              <a:gd name="connsiteX13" fmla="*/ 0 w 4207670"/>
              <a:gd name="connsiteY13"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19670 w 4207670"/>
              <a:gd name="connsiteY8" fmla="*/ 461138 h 461138"/>
              <a:gd name="connsiteX9" fmla="*/ 3919670 w 4207670"/>
              <a:gd name="connsiteY9" fmla="*/ 458757 h 461138"/>
              <a:gd name="connsiteX10" fmla="*/ 0 w 4207670"/>
              <a:gd name="connsiteY10" fmla="*/ 458756 h 461138"/>
              <a:gd name="connsiteX11" fmla="*/ 0 w 4207670"/>
              <a:gd name="connsiteY11" fmla="*/ 229379 h 461138"/>
              <a:gd name="connsiteX12" fmla="*/ 0 w 4207670"/>
              <a:gd name="connsiteY12"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19670 w 4207670"/>
              <a:gd name="connsiteY8" fmla="*/ 461138 h 461138"/>
              <a:gd name="connsiteX9" fmla="*/ 4086357 w 4207670"/>
              <a:gd name="connsiteY9" fmla="*/ 456376 h 461138"/>
              <a:gd name="connsiteX10" fmla="*/ 0 w 4207670"/>
              <a:gd name="connsiteY10" fmla="*/ 458756 h 461138"/>
              <a:gd name="connsiteX11" fmla="*/ 0 w 4207670"/>
              <a:gd name="connsiteY11" fmla="*/ 229379 h 461138"/>
              <a:gd name="connsiteX12" fmla="*/ 0 w 4207670"/>
              <a:gd name="connsiteY12"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19670 w 4207670"/>
              <a:gd name="connsiteY8" fmla="*/ 461138 h 461138"/>
              <a:gd name="connsiteX9" fmla="*/ 4086357 w 4207670"/>
              <a:gd name="connsiteY9" fmla="*/ 456376 h 461138"/>
              <a:gd name="connsiteX10" fmla="*/ 0 w 4207670"/>
              <a:gd name="connsiteY10" fmla="*/ 458756 h 461138"/>
              <a:gd name="connsiteX11" fmla="*/ 0 w 4207670"/>
              <a:gd name="connsiteY11" fmla="*/ 229379 h 461138"/>
              <a:gd name="connsiteX12" fmla="*/ 0 w 4207670"/>
              <a:gd name="connsiteY12" fmla="*/ 0 h 461138"/>
              <a:gd name="connsiteX0" fmla="*/ 0 w 4207670"/>
              <a:gd name="connsiteY0" fmla="*/ 0 h 458756"/>
              <a:gd name="connsiteX1" fmla="*/ 245874 w 4207670"/>
              <a:gd name="connsiteY1" fmla="*/ 0 h 458756"/>
              <a:gd name="connsiteX2" fmla="*/ 3919668 w 4207670"/>
              <a:gd name="connsiteY2" fmla="*/ 0 h 458756"/>
              <a:gd name="connsiteX3" fmla="*/ 4004235 w 4207670"/>
              <a:gd name="connsiteY3" fmla="*/ 0 h 458756"/>
              <a:gd name="connsiteX4" fmla="*/ 4204800 w 4207670"/>
              <a:gd name="connsiteY4" fmla="*/ 0 h 458756"/>
              <a:gd name="connsiteX5" fmla="*/ 4207669 w 4207670"/>
              <a:gd name="connsiteY5" fmla="*/ 0 h 458756"/>
              <a:gd name="connsiteX6" fmla="*/ 4207669 w 4207670"/>
              <a:gd name="connsiteY6" fmla="*/ 172615 h 458756"/>
              <a:gd name="connsiteX7" fmla="*/ 4207670 w 4207670"/>
              <a:gd name="connsiteY7" fmla="*/ 173138 h 458756"/>
              <a:gd name="connsiteX8" fmla="*/ 4086357 w 4207670"/>
              <a:gd name="connsiteY8" fmla="*/ 456376 h 458756"/>
              <a:gd name="connsiteX9" fmla="*/ 0 w 4207670"/>
              <a:gd name="connsiteY9" fmla="*/ 458756 h 458756"/>
              <a:gd name="connsiteX10" fmla="*/ 0 w 4207670"/>
              <a:gd name="connsiteY10" fmla="*/ 229379 h 458756"/>
              <a:gd name="connsiteX11" fmla="*/ 0 w 4207670"/>
              <a:gd name="connsiteY11" fmla="*/ 0 h 458756"/>
              <a:gd name="connsiteX0" fmla="*/ 0 w 4207670"/>
              <a:gd name="connsiteY0" fmla="*/ 0 h 458757"/>
              <a:gd name="connsiteX1" fmla="*/ 245874 w 4207670"/>
              <a:gd name="connsiteY1" fmla="*/ 0 h 458757"/>
              <a:gd name="connsiteX2" fmla="*/ 3919668 w 4207670"/>
              <a:gd name="connsiteY2" fmla="*/ 0 h 458757"/>
              <a:gd name="connsiteX3" fmla="*/ 4004235 w 4207670"/>
              <a:gd name="connsiteY3" fmla="*/ 0 h 458757"/>
              <a:gd name="connsiteX4" fmla="*/ 4204800 w 4207670"/>
              <a:gd name="connsiteY4" fmla="*/ 0 h 458757"/>
              <a:gd name="connsiteX5" fmla="*/ 4207669 w 4207670"/>
              <a:gd name="connsiteY5" fmla="*/ 0 h 458757"/>
              <a:gd name="connsiteX6" fmla="*/ 4207669 w 4207670"/>
              <a:gd name="connsiteY6" fmla="*/ 172615 h 458757"/>
              <a:gd name="connsiteX7" fmla="*/ 4207670 w 4207670"/>
              <a:gd name="connsiteY7" fmla="*/ 173138 h 458757"/>
              <a:gd name="connsiteX8" fmla="*/ 4086357 w 4207670"/>
              <a:gd name="connsiteY8" fmla="*/ 458757 h 458757"/>
              <a:gd name="connsiteX9" fmla="*/ 0 w 4207670"/>
              <a:gd name="connsiteY9" fmla="*/ 458756 h 458757"/>
              <a:gd name="connsiteX10" fmla="*/ 0 w 4207670"/>
              <a:gd name="connsiteY10" fmla="*/ 229379 h 458757"/>
              <a:gd name="connsiteX11" fmla="*/ 0 w 4207670"/>
              <a:gd name="connsiteY11" fmla="*/ 0 h 458757"/>
              <a:gd name="connsiteX0" fmla="*/ 0 w 4207670"/>
              <a:gd name="connsiteY0" fmla="*/ 0 h 458757"/>
              <a:gd name="connsiteX1" fmla="*/ 245874 w 4207670"/>
              <a:gd name="connsiteY1" fmla="*/ 0 h 458757"/>
              <a:gd name="connsiteX2" fmla="*/ 3919668 w 4207670"/>
              <a:gd name="connsiteY2" fmla="*/ 0 h 458757"/>
              <a:gd name="connsiteX3" fmla="*/ 4004235 w 4207670"/>
              <a:gd name="connsiteY3" fmla="*/ 0 h 458757"/>
              <a:gd name="connsiteX4" fmla="*/ 4204800 w 4207670"/>
              <a:gd name="connsiteY4" fmla="*/ 0 h 458757"/>
              <a:gd name="connsiteX5" fmla="*/ 4207669 w 4207670"/>
              <a:gd name="connsiteY5" fmla="*/ 0 h 458757"/>
              <a:gd name="connsiteX6" fmla="*/ 4207669 w 4207670"/>
              <a:gd name="connsiteY6" fmla="*/ 172615 h 458757"/>
              <a:gd name="connsiteX7" fmla="*/ 4207670 w 4207670"/>
              <a:gd name="connsiteY7" fmla="*/ 173138 h 458757"/>
              <a:gd name="connsiteX8" fmla="*/ 4086357 w 4207670"/>
              <a:gd name="connsiteY8" fmla="*/ 458757 h 458757"/>
              <a:gd name="connsiteX9" fmla="*/ 0 w 4207670"/>
              <a:gd name="connsiteY9" fmla="*/ 458756 h 458757"/>
              <a:gd name="connsiteX10" fmla="*/ 0 w 4207670"/>
              <a:gd name="connsiteY10" fmla="*/ 229379 h 458757"/>
              <a:gd name="connsiteX11" fmla="*/ 0 w 4207670"/>
              <a:gd name="connsiteY11" fmla="*/ 0 h 458757"/>
              <a:gd name="connsiteX0" fmla="*/ 0 w 4214354"/>
              <a:gd name="connsiteY0" fmla="*/ 0 h 458757"/>
              <a:gd name="connsiteX1" fmla="*/ 245874 w 4214354"/>
              <a:gd name="connsiteY1" fmla="*/ 0 h 458757"/>
              <a:gd name="connsiteX2" fmla="*/ 3919668 w 4214354"/>
              <a:gd name="connsiteY2" fmla="*/ 0 h 458757"/>
              <a:gd name="connsiteX3" fmla="*/ 4004235 w 4214354"/>
              <a:gd name="connsiteY3" fmla="*/ 0 h 458757"/>
              <a:gd name="connsiteX4" fmla="*/ 4204800 w 4214354"/>
              <a:gd name="connsiteY4" fmla="*/ 0 h 458757"/>
              <a:gd name="connsiteX5" fmla="*/ 4207669 w 4214354"/>
              <a:gd name="connsiteY5" fmla="*/ 0 h 458757"/>
              <a:gd name="connsiteX6" fmla="*/ 4207669 w 4214354"/>
              <a:gd name="connsiteY6" fmla="*/ 172615 h 458757"/>
              <a:gd name="connsiteX7" fmla="*/ 4207670 w 4214354"/>
              <a:gd name="connsiteY7" fmla="*/ 173138 h 458757"/>
              <a:gd name="connsiteX8" fmla="*/ 4086357 w 4214354"/>
              <a:gd name="connsiteY8" fmla="*/ 458757 h 458757"/>
              <a:gd name="connsiteX9" fmla="*/ 0 w 4214354"/>
              <a:gd name="connsiteY9" fmla="*/ 458756 h 458757"/>
              <a:gd name="connsiteX10" fmla="*/ 0 w 4214354"/>
              <a:gd name="connsiteY10" fmla="*/ 229379 h 458757"/>
              <a:gd name="connsiteX11" fmla="*/ 0 w 4214354"/>
              <a:gd name="connsiteY11" fmla="*/ 0 h 458757"/>
              <a:gd name="connsiteX0" fmla="*/ 0 w 4217545"/>
              <a:gd name="connsiteY0" fmla="*/ 0 h 458757"/>
              <a:gd name="connsiteX1" fmla="*/ 245874 w 4217545"/>
              <a:gd name="connsiteY1" fmla="*/ 0 h 458757"/>
              <a:gd name="connsiteX2" fmla="*/ 3919668 w 4217545"/>
              <a:gd name="connsiteY2" fmla="*/ 0 h 458757"/>
              <a:gd name="connsiteX3" fmla="*/ 4004235 w 4217545"/>
              <a:gd name="connsiteY3" fmla="*/ 0 h 458757"/>
              <a:gd name="connsiteX4" fmla="*/ 4204800 w 4217545"/>
              <a:gd name="connsiteY4" fmla="*/ 0 h 458757"/>
              <a:gd name="connsiteX5" fmla="*/ 4207669 w 4217545"/>
              <a:gd name="connsiteY5" fmla="*/ 0 h 458757"/>
              <a:gd name="connsiteX6" fmla="*/ 4207669 w 4217545"/>
              <a:gd name="connsiteY6" fmla="*/ 172615 h 458757"/>
              <a:gd name="connsiteX7" fmla="*/ 4212432 w 4217545"/>
              <a:gd name="connsiteY7" fmla="*/ 292201 h 458757"/>
              <a:gd name="connsiteX8" fmla="*/ 4086357 w 4217545"/>
              <a:gd name="connsiteY8" fmla="*/ 458757 h 458757"/>
              <a:gd name="connsiteX9" fmla="*/ 0 w 4217545"/>
              <a:gd name="connsiteY9" fmla="*/ 458756 h 458757"/>
              <a:gd name="connsiteX10" fmla="*/ 0 w 4217545"/>
              <a:gd name="connsiteY10" fmla="*/ 229379 h 458757"/>
              <a:gd name="connsiteX11" fmla="*/ 0 w 4217545"/>
              <a:gd name="connsiteY11" fmla="*/ 0 h 458757"/>
              <a:gd name="connsiteX0" fmla="*/ 0 w 4216499"/>
              <a:gd name="connsiteY0" fmla="*/ 0 h 458757"/>
              <a:gd name="connsiteX1" fmla="*/ 245874 w 4216499"/>
              <a:gd name="connsiteY1" fmla="*/ 0 h 458757"/>
              <a:gd name="connsiteX2" fmla="*/ 3919668 w 4216499"/>
              <a:gd name="connsiteY2" fmla="*/ 0 h 458757"/>
              <a:gd name="connsiteX3" fmla="*/ 4004235 w 4216499"/>
              <a:gd name="connsiteY3" fmla="*/ 0 h 458757"/>
              <a:gd name="connsiteX4" fmla="*/ 4204800 w 4216499"/>
              <a:gd name="connsiteY4" fmla="*/ 0 h 458757"/>
              <a:gd name="connsiteX5" fmla="*/ 4207669 w 4216499"/>
              <a:gd name="connsiteY5" fmla="*/ 0 h 458757"/>
              <a:gd name="connsiteX6" fmla="*/ 4207669 w 4216499"/>
              <a:gd name="connsiteY6" fmla="*/ 172615 h 458757"/>
              <a:gd name="connsiteX7" fmla="*/ 4212432 w 4216499"/>
              <a:gd name="connsiteY7" fmla="*/ 292201 h 458757"/>
              <a:gd name="connsiteX8" fmla="*/ 4086357 w 4216499"/>
              <a:gd name="connsiteY8" fmla="*/ 458757 h 458757"/>
              <a:gd name="connsiteX9" fmla="*/ 0 w 4216499"/>
              <a:gd name="connsiteY9" fmla="*/ 458756 h 458757"/>
              <a:gd name="connsiteX10" fmla="*/ 0 w 4216499"/>
              <a:gd name="connsiteY10" fmla="*/ 229379 h 458757"/>
              <a:gd name="connsiteX11" fmla="*/ 0 w 4216499"/>
              <a:gd name="connsiteY11" fmla="*/ 0 h 458757"/>
              <a:gd name="connsiteX0" fmla="*/ 0 w 4218593"/>
              <a:gd name="connsiteY0" fmla="*/ 0 h 458757"/>
              <a:gd name="connsiteX1" fmla="*/ 245874 w 4218593"/>
              <a:gd name="connsiteY1" fmla="*/ 0 h 458757"/>
              <a:gd name="connsiteX2" fmla="*/ 3919668 w 4218593"/>
              <a:gd name="connsiteY2" fmla="*/ 0 h 458757"/>
              <a:gd name="connsiteX3" fmla="*/ 4004235 w 4218593"/>
              <a:gd name="connsiteY3" fmla="*/ 0 h 458757"/>
              <a:gd name="connsiteX4" fmla="*/ 4204800 w 4218593"/>
              <a:gd name="connsiteY4" fmla="*/ 0 h 458757"/>
              <a:gd name="connsiteX5" fmla="*/ 4207669 w 4218593"/>
              <a:gd name="connsiteY5" fmla="*/ 0 h 458757"/>
              <a:gd name="connsiteX6" fmla="*/ 4207669 w 4218593"/>
              <a:gd name="connsiteY6" fmla="*/ 172615 h 458757"/>
              <a:gd name="connsiteX7" fmla="*/ 4212432 w 4218593"/>
              <a:gd name="connsiteY7" fmla="*/ 292201 h 458757"/>
              <a:gd name="connsiteX8" fmla="*/ 4086357 w 4218593"/>
              <a:gd name="connsiteY8" fmla="*/ 458757 h 458757"/>
              <a:gd name="connsiteX9" fmla="*/ 0 w 4218593"/>
              <a:gd name="connsiteY9" fmla="*/ 458756 h 458757"/>
              <a:gd name="connsiteX10" fmla="*/ 0 w 4218593"/>
              <a:gd name="connsiteY10" fmla="*/ 229379 h 458757"/>
              <a:gd name="connsiteX11" fmla="*/ 0 w 4218593"/>
              <a:gd name="connsiteY11" fmla="*/ 0 h 458757"/>
              <a:gd name="connsiteX0" fmla="*/ 0 w 4213903"/>
              <a:gd name="connsiteY0" fmla="*/ 0 h 458757"/>
              <a:gd name="connsiteX1" fmla="*/ 245874 w 4213903"/>
              <a:gd name="connsiteY1" fmla="*/ 0 h 458757"/>
              <a:gd name="connsiteX2" fmla="*/ 3919668 w 4213903"/>
              <a:gd name="connsiteY2" fmla="*/ 0 h 458757"/>
              <a:gd name="connsiteX3" fmla="*/ 4004235 w 4213903"/>
              <a:gd name="connsiteY3" fmla="*/ 0 h 458757"/>
              <a:gd name="connsiteX4" fmla="*/ 4204800 w 4213903"/>
              <a:gd name="connsiteY4" fmla="*/ 0 h 458757"/>
              <a:gd name="connsiteX5" fmla="*/ 4207669 w 4213903"/>
              <a:gd name="connsiteY5" fmla="*/ 0 h 458757"/>
              <a:gd name="connsiteX6" fmla="*/ 4207669 w 4213903"/>
              <a:gd name="connsiteY6" fmla="*/ 172615 h 458757"/>
              <a:gd name="connsiteX7" fmla="*/ 4212432 w 4213903"/>
              <a:gd name="connsiteY7" fmla="*/ 292201 h 458757"/>
              <a:gd name="connsiteX8" fmla="*/ 4086357 w 4213903"/>
              <a:gd name="connsiteY8" fmla="*/ 458757 h 458757"/>
              <a:gd name="connsiteX9" fmla="*/ 0 w 4213903"/>
              <a:gd name="connsiteY9" fmla="*/ 458756 h 458757"/>
              <a:gd name="connsiteX10" fmla="*/ 0 w 4213903"/>
              <a:gd name="connsiteY10" fmla="*/ 229379 h 458757"/>
              <a:gd name="connsiteX11" fmla="*/ 0 w 4213903"/>
              <a:gd name="connsiteY11" fmla="*/ 0 h 458757"/>
              <a:gd name="connsiteX0" fmla="*/ 0 w 4213903"/>
              <a:gd name="connsiteY0" fmla="*/ 0 h 462682"/>
              <a:gd name="connsiteX1" fmla="*/ 245874 w 4213903"/>
              <a:gd name="connsiteY1" fmla="*/ 0 h 462682"/>
              <a:gd name="connsiteX2" fmla="*/ 3919668 w 4213903"/>
              <a:gd name="connsiteY2" fmla="*/ 0 h 462682"/>
              <a:gd name="connsiteX3" fmla="*/ 4004235 w 4213903"/>
              <a:gd name="connsiteY3" fmla="*/ 0 h 462682"/>
              <a:gd name="connsiteX4" fmla="*/ 4204800 w 4213903"/>
              <a:gd name="connsiteY4" fmla="*/ 0 h 462682"/>
              <a:gd name="connsiteX5" fmla="*/ 4207669 w 4213903"/>
              <a:gd name="connsiteY5" fmla="*/ 0 h 462682"/>
              <a:gd name="connsiteX6" fmla="*/ 4207669 w 4213903"/>
              <a:gd name="connsiteY6" fmla="*/ 172615 h 462682"/>
              <a:gd name="connsiteX7" fmla="*/ 4212432 w 4213903"/>
              <a:gd name="connsiteY7" fmla="*/ 320776 h 462682"/>
              <a:gd name="connsiteX8" fmla="*/ 4086357 w 4213903"/>
              <a:gd name="connsiteY8" fmla="*/ 458757 h 462682"/>
              <a:gd name="connsiteX9" fmla="*/ 0 w 4213903"/>
              <a:gd name="connsiteY9" fmla="*/ 458756 h 462682"/>
              <a:gd name="connsiteX10" fmla="*/ 0 w 4213903"/>
              <a:gd name="connsiteY10" fmla="*/ 229379 h 462682"/>
              <a:gd name="connsiteX11" fmla="*/ 0 w 4213903"/>
              <a:gd name="connsiteY11" fmla="*/ 0 h 462682"/>
              <a:gd name="connsiteX0" fmla="*/ 0 w 4213903"/>
              <a:gd name="connsiteY0" fmla="*/ 0 h 458757"/>
              <a:gd name="connsiteX1" fmla="*/ 245874 w 4213903"/>
              <a:gd name="connsiteY1" fmla="*/ 0 h 458757"/>
              <a:gd name="connsiteX2" fmla="*/ 3919668 w 4213903"/>
              <a:gd name="connsiteY2" fmla="*/ 0 h 458757"/>
              <a:gd name="connsiteX3" fmla="*/ 4004235 w 4213903"/>
              <a:gd name="connsiteY3" fmla="*/ 0 h 458757"/>
              <a:gd name="connsiteX4" fmla="*/ 4204800 w 4213903"/>
              <a:gd name="connsiteY4" fmla="*/ 0 h 458757"/>
              <a:gd name="connsiteX5" fmla="*/ 4207669 w 4213903"/>
              <a:gd name="connsiteY5" fmla="*/ 0 h 458757"/>
              <a:gd name="connsiteX6" fmla="*/ 4207669 w 4213903"/>
              <a:gd name="connsiteY6" fmla="*/ 172615 h 458757"/>
              <a:gd name="connsiteX7" fmla="*/ 4212432 w 4213903"/>
              <a:gd name="connsiteY7" fmla="*/ 320776 h 458757"/>
              <a:gd name="connsiteX8" fmla="*/ 4086357 w 4213903"/>
              <a:gd name="connsiteY8" fmla="*/ 458757 h 458757"/>
              <a:gd name="connsiteX9" fmla="*/ 0 w 4213903"/>
              <a:gd name="connsiteY9" fmla="*/ 458756 h 458757"/>
              <a:gd name="connsiteX10" fmla="*/ 0 w 4213903"/>
              <a:gd name="connsiteY10" fmla="*/ 229379 h 458757"/>
              <a:gd name="connsiteX11" fmla="*/ 0 w 4213903"/>
              <a:gd name="connsiteY11" fmla="*/ 0 h 458757"/>
              <a:gd name="connsiteX0" fmla="*/ 0 w 4214812"/>
              <a:gd name="connsiteY0" fmla="*/ 0 h 458757"/>
              <a:gd name="connsiteX1" fmla="*/ 245874 w 4214812"/>
              <a:gd name="connsiteY1" fmla="*/ 0 h 458757"/>
              <a:gd name="connsiteX2" fmla="*/ 3919668 w 4214812"/>
              <a:gd name="connsiteY2" fmla="*/ 0 h 458757"/>
              <a:gd name="connsiteX3" fmla="*/ 4004235 w 4214812"/>
              <a:gd name="connsiteY3" fmla="*/ 0 h 458757"/>
              <a:gd name="connsiteX4" fmla="*/ 4204800 w 4214812"/>
              <a:gd name="connsiteY4" fmla="*/ 0 h 458757"/>
              <a:gd name="connsiteX5" fmla="*/ 4207669 w 4214812"/>
              <a:gd name="connsiteY5" fmla="*/ 0 h 458757"/>
              <a:gd name="connsiteX6" fmla="*/ 4214812 w 4214812"/>
              <a:gd name="connsiteY6" fmla="*/ 70221 h 458757"/>
              <a:gd name="connsiteX7" fmla="*/ 4212432 w 4214812"/>
              <a:gd name="connsiteY7" fmla="*/ 320776 h 458757"/>
              <a:gd name="connsiteX8" fmla="*/ 4086357 w 4214812"/>
              <a:gd name="connsiteY8" fmla="*/ 458757 h 458757"/>
              <a:gd name="connsiteX9" fmla="*/ 0 w 4214812"/>
              <a:gd name="connsiteY9" fmla="*/ 458756 h 458757"/>
              <a:gd name="connsiteX10" fmla="*/ 0 w 4214812"/>
              <a:gd name="connsiteY10" fmla="*/ 229379 h 458757"/>
              <a:gd name="connsiteX11" fmla="*/ 0 w 4214812"/>
              <a:gd name="connsiteY11" fmla="*/ 0 h 458757"/>
              <a:gd name="connsiteX0" fmla="*/ 0 w 4255293"/>
              <a:gd name="connsiteY0" fmla="*/ 0 h 458757"/>
              <a:gd name="connsiteX1" fmla="*/ 245874 w 4255293"/>
              <a:gd name="connsiteY1" fmla="*/ 0 h 458757"/>
              <a:gd name="connsiteX2" fmla="*/ 3919668 w 4255293"/>
              <a:gd name="connsiteY2" fmla="*/ 0 h 458757"/>
              <a:gd name="connsiteX3" fmla="*/ 4004235 w 4255293"/>
              <a:gd name="connsiteY3" fmla="*/ 0 h 458757"/>
              <a:gd name="connsiteX4" fmla="*/ 4204800 w 4255293"/>
              <a:gd name="connsiteY4" fmla="*/ 0 h 458757"/>
              <a:gd name="connsiteX5" fmla="*/ 4207669 w 4255293"/>
              <a:gd name="connsiteY5" fmla="*/ 0 h 458757"/>
              <a:gd name="connsiteX6" fmla="*/ 4255293 w 4255293"/>
              <a:gd name="connsiteY6" fmla="*/ 117846 h 458757"/>
              <a:gd name="connsiteX7" fmla="*/ 4212432 w 4255293"/>
              <a:gd name="connsiteY7" fmla="*/ 320776 h 458757"/>
              <a:gd name="connsiteX8" fmla="*/ 4086357 w 4255293"/>
              <a:gd name="connsiteY8" fmla="*/ 458757 h 458757"/>
              <a:gd name="connsiteX9" fmla="*/ 0 w 4255293"/>
              <a:gd name="connsiteY9" fmla="*/ 458756 h 458757"/>
              <a:gd name="connsiteX10" fmla="*/ 0 w 4255293"/>
              <a:gd name="connsiteY10" fmla="*/ 229379 h 458757"/>
              <a:gd name="connsiteX11" fmla="*/ 0 w 4255293"/>
              <a:gd name="connsiteY11" fmla="*/ 0 h 458757"/>
              <a:gd name="connsiteX0" fmla="*/ 0 w 4213903"/>
              <a:gd name="connsiteY0" fmla="*/ 0 h 458757"/>
              <a:gd name="connsiteX1" fmla="*/ 245874 w 4213903"/>
              <a:gd name="connsiteY1" fmla="*/ 0 h 458757"/>
              <a:gd name="connsiteX2" fmla="*/ 3919668 w 4213903"/>
              <a:gd name="connsiteY2" fmla="*/ 0 h 458757"/>
              <a:gd name="connsiteX3" fmla="*/ 4004235 w 4213903"/>
              <a:gd name="connsiteY3" fmla="*/ 0 h 458757"/>
              <a:gd name="connsiteX4" fmla="*/ 4204800 w 4213903"/>
              <a:gd name="connsiteY4" fmla="*/ 0 h 458757"/>
              <a:gd name="connsiteX5" fmla="*/ 4207669 w 4213903"/>
              <a:gd name="connsiteY5" fmla="*/ 0 h 458757"/>
              <a:gd name="connsiteX6" fmla="*/ 4212432 w 4213903"/>
              <a:gd name="connsiteY6" fmla="*/ 320776 h 458757"/>
              <a:gd name="connsiteX7" fmla="*/ 4086357 w 4213903"/>
              <a:gd name="connsiteY7" fmla="*/ 458757 h 458757"/>
              <a:gd name="connsiteX8" fmla="*/ 0 w 4213903"/>
              <a:gd name="connsiteY8" fmla="*/ 458756 h 458757"/>
              <a:gd name="connsiteX9" fmla="*/ 0 w 4213903"/>
              <a:gd name="connsiteY9" fmla="*/ 229379 h 458757"/>
              <a:gd name="connsiteX10" fmla="*/ 0 w 4213903"/>
              <a:gd name="connsiteY10" fmla="*/ 0 h 458757"/>
              <a:gd name="connsiteX0" fmla="*/ 0 w 4212432"/>
              <a:gd name="connsiteY0" fmla="*/ 0 h 458757"/>
              <a:gd name="connsiteX1" fmla="*/ 245874 w 4212432"/>
              <a:gd name="connsiteY1" fmla="*/ 0 h 458757"/>
              <a:gd name="connsiteX2" fmla="*/ 3919668 w 4212432"/>
              <a:gd name="connsiteY2" fmla="*/ 0 h 458757"/>
              <a:gd name="connsiteX3" fmla="*/ 4004235 w 4212432"/>
              <a:gd name="connsiteY3" fmla="*/ 0 h 458757"/>
              <a:gd name="connsiteX4" fmla="*/ 4204800 w 4212432"/>
              <a:gd name="connsiteY4" fmla="*/ 0 h 458757"/>
              <a:gd name="connsiteX5" fmla="*/ 4207669 w 4212432"/>
              <a:gd name="connsiteY5" fmla="*/ 0 h 458757"/>
              <a:gd name="connsiteX6" fmla="*/ 4212432 w 4212432"/>
              <a:gd name="connsiteY6" fmla="*/ 320776 h 458757"/>
              <a:gd name="connsiteX7" fmla="*/ 3972057 w 4212432"/>
              <a:gd name="connsiteY7" fmla="*/ 458757 h 458757"/>
              <a:gd name="connsiteX8" fmla="*/ 0 w 4212432"/>
              <a:gd name="connsiteY8" fmla="*/ 458756 h 458757"/>
              <a:gd name="connsiteX9" fmla="*/ 0 w 4212432"/>
              <a:gd name="connsiteY9" fmla="*/ 229379 h 458757"/>
              <a:gd name="connsiteX10" fmla="*/ 0 w 4212432"/>
              <a:gd name="connsiteY10" fmla="*/ 0 h 458757"/>
              <a:gd name="connsiteX0" fmla="*/ 0 w 4212432"/>
              <a:gd name="connsiteY0" fmla="*/ 0 h 458757"/>
              <a:gd name="connsiteX1" fmla="*/ 245874 w 4212432"/>
              <a:gd name="connsiteY1" fmla="*/ 0 h 458757"/>
              <a:gd name="connsiteX2" fmla="*/ 3919668 w 4212432"/>
              <a:gd name="connsiteY2" fmla="*/ 0 h 458757"/>
              <a:gd name="connsiteX3" fmla="*/ 4004235 w 4212432"/>
              <a:gd name="connsiteY3" fmla="*/ 0 h 458757"/>
              <a:gd name="connsiteX4" fmla="*/ 4204800 w 4212432"/>
              <a:gd name="connsiteY4" fmla="*/ 0 h 458757"/>
              <a:gd name="connsiteX5" fmla="*/ 4207669 w 4212432"/>
              <a:gd name="connsiteY5" fmla="*/ 0 h 458757"/>
              <a:gd name="connsiteX6" fmla="*/ 4212432 w 4212432"/>
              <a:gd name="connsiteY6" fmla="*/ 320776 h 458757"/>
              <a:gd name="connsiteX7" fmla="*/ 3914907 w 4212432"/>
              <a:gd name="connsiteY7" fmla="*/ 458757 h 458757"/>
              <a:gd name="connsiteX8" fmla="*/ 0 w 4212432"/>
              <a:gd name="connsiteY8" fmla="*/ 458756 h 458757"/>
              <a:gd name="connsiteX9" fmla="*/ 0 w 4212432"/>
              <a:gd name="connsiteY9" fmla="*/ 229379 h 458757"/>
              <a:gd name="connsiteX10" fmla="*/ 0 w 4212432"/>
              <a:gd name="connsiteY10" fmla="*/ 0 h 458757"/>
              <a:gd name="connsiteX0" fmla="*/ 0 w 4212432"/>
              <a:gd name="connsiteY0" fmla="*/ 0 h 458896"/>
              <a:gd name="connsiteX1" fmla="*/ 245874 w 4212432"/>
              <a:gd name="connsiteY1" fmla="*/ 0 h 458896"/>
              <a:gd name="connsiteX2" fmla="*/ 3919668 w 4212432"/>
              <a:gd name="connsiteY2" fmla="*/ 0 h 458896"/>
              <a:gd name="connsiteX3" fmla="*/ 4004235 w 4212432"/>
              <a:gd name="connsiteY3" fmla="*/ 0 h 458896"/>
              <a:gd name="connsiteX4" fmla="*/ 4204800 w 4212432"/>
              <a:gd name="connsiteY4" fmla="*/ 0 h 458896"/>
              <a:gd name="connsiteX5" fmla="*/ 4207669 w 4212432"/>
              <a:gd name="connsiteY5" fmla="*/ 0 h 458896"/>
              <a:gd name="connsiteX6" fmla="*/ 4212432 w 4212432"/>
              <a:gd name="connsiteY6" fmla="*/ 320776 h 458896"/>
              <a:gd name="connsiteX7" fmla="*/ 3914907 w 4212432"/>
              <a:gd name="connsiteY7" fmla="*/ 458757 h 458896"/>
              <a:gd name="connsiteX8" fmla="*/ 0 w 4212432"/>
              <a:gd name="connsiteY8" fmla="*/ 458756 h 458896"/>
              <a:gd name="connsiteX9" fmla="*/ 0 w 4212432"/>
              <a:gd name="connsiteY9" fmla="*/ 229379 h 458896"/>
              <a:gd name="connsiteX10" fmla="*/ 0 w 4212432"/>
              <a:gd name="connsiteY10" fmla="*/ 0 h 458896"/>
              <a:gd name="connsiteX0" fmla="*/ 0 w 4212432"/>
              <a:gd name="connsiteY0" fmla="*/ 0 h 458896"/>
              <a:gd name="connsiteX1" fmla="*/ 245874 w 4212432"/>
              <a:gd name="connsiteY1" fmla="*/ 0 h 458896"/>
              <a:gd name="connsiteX2" fmla="*/ 3919668 w 4212432"/>
              <a:gd name="connsiteY2" fmla="*/ 0 h 458896"/>
              <a:gd name="connsiteX3" fmla="*/ 4004235 w 4212432"/>
              <a:gd name="connsiteY3" fmla="*/ 0 h 458896"/>
              <a:gd name="connsiteX4" fmla="*/ 4204800 w 4212432"/>
              <a:gd name="connsiteY4" fmla="*/ 0 h 458896"/>
              <a:gd name="connsiteX5" fmla="*/ 4207669 w 4212432"/>
              <a:gd name="connsiteY5" fmla="*/ 0 h 458896"/>
              <a:gd name="connsiteX6" fmla="*/ 4212432 w 4212432"/>
              <a:gd name="connsiteY6" fmla="*/ 320776 h 458896"/>
              <a:gd name="connsiteX7" fmla="*/ 3938720 w 4212432"/>
              <a:gd name="connsiteY7" fmla="*/ 458757 h 458896"/>
              <a:gd name="connsiteX8" fmla="*/ 0 w 4212432"/>
              <a:gd name="connsiteY8" fmla="*/ 458756 h 458896"/>
              <a:gd name="connsiteX9" fmla="*/ 0 w 4212432"/>
              <a:gd name="connsiteY9" fmla="*/ 229379 h 458896"/>
              <a:gd name="connsiteX10" fmla="*/ 0 w 4212432"/>
              <a:gd name="connsiteY10" fmla="*/ 0 h 458896"/>
              <a:gd name="connsiteX0" fmla="*/ 0 w 4212432"/>
              <a:gd name="connsiteY0" fmla="*/ 0 h 458896"/>
              <a:gd name="connsiteX1" fmla="*/ 245874 w 4212432"/>
              <a:gd name="connsiteY1" fmla="*/ 0 h 458896"/>
              <a:gd name="connsiteX2" fmla="*/ 3919668 w 4212432"/>
              <a:gd name="connsiteY2" fmla="*/ 0 h 458896"/>
              <a:gd name="connsiteX3" fmla="*/ 4004235 w 4212432"/>
              <a:gd name="connsiteY3" fmla="*/ 0 h 458896"/>
              <a:gd name="connsiteX4" fmla="*/ 4204800 w 4212432"/>
              <a:gd name="connsiteY4" fmla="*/ 0 h 458896"/>
              <a:gd name="connsiteX5" fmla="*/ 4207669 w 4212432"/>
              <a:gd name="connsiteY5" fmla="*/ 0 h 458896"/>
              <a:gd name="connsiteX6" fmla="*/ 4212432 w 4212432"/>
              <a:gd name="connsiteY6" fmla="*/ 320776 h 458896"/>
              <a:gd name="connsiteX7" fmla="*/ 3912526 w 4212432"/>
              <a:gd name="connsiteY7" fmla="*/ 458757 h 458896"/>
              <a:gd name="connsiteX8" fmla="*/ 0 w 4212432"/>
              <a:gd name="connsiteY8" fmla="*/ 458756 h 458896"/>
              <a:gd name="connsiteX9" fmla="*/ 0 w 4212432"/>
              <a:gd name="connsiteY9" fmla="*/ 229379 h 458896"/>
              <a:gd name="connsiteX10" fmla="*/ 0 w 4212432"/>
              <a:gd name="connsiteY10" fmla="*/ 0 h 458896"/>
              <a:gd name="connsiteX0" fmla="*/ 0 w 4208127"/>
              <a:gd name="connsiteY0" fmla="*/ 0 h 459153"/>
              <a:gd name="connsiteX1" fmla="*/ 245874 w 4208127"/>
              <a:gd name="connsiteY1" fmla="*/ 0 h 459153"/>
              <a:gd name="connsiteX2" fmla="*/ 3919668 w 4208127"/>
              <a:gd name="connsiteY2" fmla="*/ 0 h 459153"/>
              <a:gd name="connsiteX3" fmla="*/ 4004235 w 4208127"/>
              <a:gd name="connsiteY3" fmla="*/ 0 h 459153"/>
              <a:gd name="connsiteX4" fmla="*/ 4204800 w 4208127"/>
              <a:gd name="connsiteY4" fmla="*/ 0 h 459153"/>
              <a:gd name="connsiteX5" fmla="*/ 4207669 w 4208127"/>
              <a:gd name="connsiteY5" fmla="*/ 0 h 459153"/>
              <a:gd name="connsiteX6" fmla="*/ 4207670 w 4208127"/>
              <a:gd name="connsiteY6" fmla="*/ 325539 h 459153"/>
              <a:gd name="connsiteX7" fmla="*/ 3912526 w 4208127"/>
              <a:gd name="connsiteY7" fmla="*/ 458757 h 459153"/>
              <a:gd name="connsiteX8" fmla="*/ 0 w 4208127"/>
              <a:gd name="connsiteY8" fmla="*/ 458756 h 459153"/>
              <a:gd name="connsiteX9" fmla="*/ 0 w 4208127"/>
              <a:gd name="connsiteY9" fmla="*/ 229379 h 459153"/>
              <a:gd name="connsiteX10" fmla="*/ 0 w 4208127"/>
              <a:gd name="connsiteY10" fmla="*/ 0 h 459153"/>
              <a:gd name="connsiteX0" fmla="*/ 0 w 4212432"/>
              <a:gd name="connsiteY0" fmla="*/ 0 h 459346"/>
              <a:gd name="connsiteX1" fmla="*/ 245874 w 4212432"/>
              <a:gd name="connsiteY1" fmla="*/ 0 h 459346"/>
              <a:gd name="connsiteX2" fmla="*/ 3919668 w 4212432"/>
              <a:gd name="connsiteY2" fmla="*/ 0 h 459346"/>
              <a:gd name="connsiteX3" fmla="*/ 4004235 w 4212432"/>
              <a:gd name="connsiteY3" fmla="*/ 0 h 459346"/>
              <a:gd name="connsiteX4" fmla="*/ 4204800 w 4212432"/>
              <a:gd name="connsiteY4" fmla="*/ 0 h 459346"/>
              <a:gd name="connsiteX5" fmla="*/ 4207669 w 4212432"/>
              <a:gd name="connsiteY5" fmla="*/ 0 h 459346"/>
              <a:gd name="connsiteX6" fmla="*/ 4212432 w 4212432"/>
              <a:gd name="connsiteY6" fmla="*/ 327921 h 459346"/>
              <a:gd name="connsiteX7" fmla="*/ 3912526 w 4212432"/>
              <a:gd name="connsiteY7" fmla="*/ 458757 h 459346"/>
              <a:gd name="connsiteX8" fmla="*/ 0 w 4212432"/>
              <a:gd name="connsiteY8" fmla="*/ 458756 h 459346"/>
              <a:gd name="connsiteX9" fmla="*/ 0 w 4212432"/>
              <a:gd name="connsiteY9" fmla="*/ 229379 h 459346"/>
              <a:gd name="connsiteX10" fmla="*/ 0 w 4212432"/>
              <a:gd name="connsiteY10" fmla="*/ 0 h 459346"/>
              <a:gd name="connsiteX0" fmla="*/ 0 w 4212432"/>
              <a:gd name="connsiteY0" fmla="*/ 0 h 459346"/>
              <a:gd name="connsiteX1" fmla="*/ 245874 w 4212432"/>
              <a:gd name="connsiteY1" fmla="*/ 0 h 459346"/>
              <a:gd name="connsiteX2" fmla="*/ 3919668 w 4212432"/>
              <a:gd name="connsiteY2" fmla="*/ 0 h 459346"/>
              <a:gd name="connsiteX3" fmla="*/ 4004235 w 4212432"/>
              <a:gd name="connsiteY3" fmla="*/ 0 h 459346"/>
              <a:gd name="connsiteX4" fmla="*/ 4204800 w 4212432"/>
              <a:gd name="connsiteY4" fmla="*/ 0 h 459346"/>
              <a:gd name="connsiteX5" fmla="*/ 4207669 w 4212432"/>
              <a:gd name="connsiteY5" fmla="*/ 0 h 459346"/>
              <a:gd name="connsiteX6" fmla="*/ 4212432 w 4212432"/>
              <a:gd name="connsiteY6" fmla="*/ 327921 h 459346"/>
              <a:gd name="connsiteX7" fmla="*/ 3912526 w 4212432"/>
              <a:gd name="connsiteY7" fmla="*/ 458757 h 459346"/>
              <a:gd name="connsiteX8" fmla="*/ 0 w 4212432"/>
              <a:gd name="connsiteY8" fmla="*/ 458756 h 459346"/>
              <a:gd name="connsiteX9" fmla="*/ 0 w 4212432"/>
              <a:gd name="connsiteY9" fmla="*/ 229379 h 459346"/>
              <a:gd name="connsiteX10" fmla="*/ 0 w 4212432"/>
              <a:gd name="connsiteY10" fmla="*/ 0 h 459346"/>
              <a:gd name="connsiteX0" fmla="*/ 0 w 4212432"/>
              <a:gd name="connsiteY0" fmla="*/ 0 h 459346"/>
              <a:gd name="connsiteX1" fmla="*/ 245874 w 4212432"/>
              <a:gd name="connsiteY1" fmla="*/ 0 h 459346"/>
              <a:gd name="connsiteX2" fmla="*/ 3919668 w 4212432"/>
              <a:gd name="connsiteY2" fmla="*/ 0 h 459346"/>
              <a:gd name="connsiteX3" fmla="*/ 4204800 w 4212432"/>
              <a:gd name="connsiteY3" fmla="*/ 0 h 459346"/>
              <a:gd name="connsiteX4" fmla="*/ 4207669 w 4212432"/>
              <a:gd name="connsiteY4" fmla="*/ 0 h 459346"/>
              <a:gd name="connsiteX5" fmla="*/ 4212432 w 4212432"/>
              <a:gd name="connsiteY5" fmla="*/ 327921 h 459346"/>
              <a:gd name="connsiteX6" fmla="*/ 3912526 w 4212432"/>
              <a:gd name="connsiteY6" fmla="*/ 458757 h 459346"/>
              <a:gd name="connsiteX7" fmla="*/ 0 w 4212432"/>
              <a:gd name="connsiteY7" fmla="*/ 458756 h 459346"/>
              <a:gd name="connsiteX8" fmla="*/ 0 w 4212432"/>
              <a:gd name="connsiteY8" fmla="*/ 229379 h 459346"/>
              <a:gd name="connsiteX9" fmla="*/ 0 w 4212432"/>
              <a:gd name="connsiteY9" fmla="*/ 0 h 459346"/>
              <a:gd name="connsiteX0" fmla="*/ 0 w 4212432"/>
              <a:gd name="connsiteY0" fmla="*/ 0 h 459346"/>
              <a:gd name="connsiteX1" fmla="*/ 245874 w 4212432"/>
              <a:gd name="connsiteY1" fmla="*/ 0 h 459346"/>
              <a:gd name="connsiteX2" fmla="*/ 4204800 w 4212432"/>
              <a:gd name="connsiteY2" fmla="*/ 0 h 459346"/>
              <a:gd name="connsiteX3" fmla="*/ 4207669 w 4212432"/>
              <a:gd name="connsiteY3" fmla="*/ 0 h 459346"/>
              <a:gd name="connsiteX4" fmla="*/ 4212432 w 4212432"/>
              <a:gd name="connsiteY4" fmla="*/ 327921 h 459346"/>
              <a:gd name="connsiteX5" fmla="*/ 3912526 w 4212432"/>
              <a:gd name="connsiteY5" fmla="*/ 458757 h 459346"/>
              <a:gd name="connsiteX6" fmla="*/ 0 w 4212432"/>
              <a:gd name="connsiteY6" fmla="*/ 458756 h 459346"/>
              <a:gd name="connsiteX7" fmla="*/ 0 w 4212432"/>
              <a:gd name="connsiteY7" fmla="*/ 229379 h 459346"/>
              <a:gd name="connsiteX8" fmla="*/ 0 w 4212432"/>
              <a:gd name="connsiteY8" fmla="*/ 0 h 459346"/>
              <a:gd name="connsiteX0" fmla="*/ 0 w 4212432"/>
              <a:gd name="connsiteY0" fmla="*/ 0 h 459346"/>
              <a:gd name="connsiteX1" fmla="*/ 245874 w 4212432"/>
              <a:gd name="connsiteY1" fmla="*/ 0 h 459346"/>
              <a:gd name="connsiteX2" fmla="*/ 4204800 w 4212432"/>
              <a:gd name="connsiteY2" fmla="*/ 0 h 459346"/>
              <a:gd name="connsiteX3" fmla="*/ 4212432 w 4212432"/>
              <a:gd name="connsiteY3" fmla="*/ 327921 h 459346"/>
              <a:gd name="connsiteX4" fmla="*/ 3912526 w 4212432"/>
              <a:gd name="connsiteY4" fmla="*/ 458757 h 459346"/>
              <a:gd name="connsiteX5" fmla="*/ 0 w 4212432"/>
              <a:gd name="connsiteY5" fmla="*/ 458756 h 459346"/>
              <a:gd name="connsiteX6" fmla="*/ 0 w 4212432"/>
              <a:gd name="connsiteY6" fmla="*/ 229379 h 459346"/>
              <a:gd name="connsiteX7" fmla="*/ 0 w 4212432"/>
              <a:gd name="connsiteY7" fmla="*/ 0 h 459346"/>
              <a:gd name="connsiteX0" fmla="*/ 0 w 4212432"/>
              <a:gd name="connsiteY0" fmla="*/ 0 h 459346"/>
              <a:gd name="connsiteX1" fmla="*/ 245874 w 4212432"/>
              <a:gd name="connsiteY1" fmla="*/ 0 h 459346"/>
              <a:gd name="connsiteX2" fmla="*/ 4209575 w 4212432"/>
              <a:gd name="connsiteY2" fmla="*/ 2381 h 459346"/>
              <a:gd name="connsiteX3" fmla="*/ 4212432 w 4212432"/>
              <a:gd name="connsiteY3" fmla="*/ 327921 h 459346"/>
              <a:gd name="connsiteX4" fmla="*/ 3912526 w 4212432"/>
              <a:gd name="connsiteY4" fmla="*/ 458757 h 459346"/>
              <a:gd name="connsiteX5" fmla="*/ 0 w 4212432"/>
              <a:gd name="connsiteY5" fmla="*/ 458756 h 459346"/>
              <a:gd name="connsiteX6" fmla="*/ 0 w 4212432"/>
              <a:gd name="connsiteY6" fmla="*/ 229379 h 459346"/>
              <a:gd name="connsiteX7" fmla="*/ 0 w 4212432"/>
              <a:gd name="connsiteY7" fmla="*/ 0 h 459346"/>
              <a:gd name="connsiteX0" fmla="*/ 0 w 4228712"/>
              <a:gd name="connsiteY0" fmla="*/ 0 h 459346"/>
              <a:gd name="connsiteX1" fmla="*/ 245874 w 4228712"/>
              <a:gd name="connsiteY1" fmla="*/ 0 h 459346"/>
              <a:gd name="connsiteX2" fmla="*/ 4228676 w 4228712"/>
              <a:gd name="connsiteY2" fmla="*/ 2381 h 459346"/>
              <a:gd name="connsiteX3" fmla="*/ 4212432 w 4228712"/>
              <a:gd name="connsiteY3" fmla="*/ 327921 h 459346"/>
              <a:gd name="connsiteX4" fmla="*/ 3912526 w 4228712"/>
              <a:gd name="connsiteY4" fmla="*/ 458757 h 459346"/>
              <a:gd name="connsiteX5" fmla="*/ 0 w 4228712"/>
              <a:gd name="connsiteY5" fmla="*/ 458756 h 459346"/>
              <a:gd name="connsiteX6" fmla="*/ 0 w 4228712"/>
              <a:gd name="connsiteY6" fmla="*/ 229379 h 459346"/>
              <a:gd name="connsiteX7" fmla="*/ 0 w 4228712"/>
              <a:gd name="connsiteY7" fmla="*/ 0 h 459346"/>
              <a:gd name="connsiteX0" fmla="*/ 0 w 4212432"/>
              <a:gd name="connsiteY0" fmla="*/ 0 h 459346"/>
              <a:gd name="connsiteX1" fmla="*/ 245874 w 4212432"/>
              <a:gd name="connsiteY1" fmla="*/ 0 h 459346"/>
              <a:gd name="connsiteX2" fmla="*/ 4211962 w 4212432"/>
              <a:gd name="connsiteY2" fmla="*/ 0 h 459346"/>
              <a:gd name="connsiteX3" fmla="*/ 4212432 w 4212432"/>
              <a:gd name="connsiteY3" fmla="*/ 327921 h 459346"/>
              <a:gd name="connsiteX4" fmla="*/ 3912526 w 4212432"/>
              <a:gd name="connsiteY4" fmla="*/ 458757 h 459346"/>
              <a:gd name="connsiteX5" fmla="*/ 0 w 4212432"/>
              <a:gd name="connsiteY5" fmla="*/ 458756 h 459346"/>
              <a:gd name="connsiteX6" fmla="*/ 0 w 4212432"/>
              <a:gd name="connsiteY6" fmla="*/ 229379 h 459346"/>
              <a:gd name="connsiteX7" fmla="*/ 0 w 4212432"/>
              <a:gd name="connsiteY7" fmla="*/ 0 h 459346"/>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308871 h 458757"/>
              <a:gd name="connsiteX4" fmla="*/ 3912526 w 4212432"/>
              <a:gd name="connsiteY4" fmla="*/ 458757 h 458757"/>
              <a:gd name="connsiteX5" fmla="*/ 0 w 4212432"/>
              <a:gd name="connsiteY5" fmla="*/ 458756 h 458757"/>
              <a:gd name="connsiteX6" fmla="*/ 0 w 4212432"/>
              <a:gd name="connsiteY6" fmla="*/ 229379 h 458757"/>
              <a:gd name="connsiteX7" fmla="*/ 0 w 4212432"/>
              <a:gd name="connsiteY7" fmla="*/ 0 h 458757"/>
              <a:gd name="connsiteX0" fmla="*/ 0 w 4212432"/>
              <a:gd name="connsiteY0" fmla="*/ 0 h 458879"/>
              <a:gd name="connsiteX1" fmla="*/ 245874 w 4212432"/>
              <a:gd name="connsiteY1" fmla="*/ 0 h 458879"/>
              <a:gd name="connsiteX2" fmla="*/ 4211962 w 4212432"/>
              <a:gd name="connsiteY2" fmla="*/ 0 h 458879"/>
              <a:gd name="connsiteX3" fmla="*/ 4212432 w 4212432"/>
              <a:gd name="connsiteY3" fmla="*/ 308871 h 458879"/>
              <a:gd name="connsiteX4" fmla="*/ 3912526 w 4212432"/>
              <a:gd name="connsiteY4" fmla="*/ 458757 h 458879"/>
              <a:gd name="connsiteX5" fmla="*/ 0 w 4212432"/>
              <a:gd name="connsiteY5" fmla="*/ 458756 h 458879"/>
              <a:gd name="connsiteX6" fmla="*/ 0 w 4212432"/>
              <a:gd name="connsiteY6" fmla="*/ 229379 h 458879"/>
              <a:gd name="connsiteX7" fmla="*/ 0 w 4212432"/>
              <a:gd name="connsiteY7" fmla="*/ 0 h 458879"/>
              <a:gd name="connsiteX0" fmla="*/ 0 w 4212432"/>
              <a:gd name="connsiteY0" fmla="*/ 0 h 458756"/>
              <a:gd name="connsiteX1" fmla="*/ 245874 w 4212432"/>
              <a:gd name="connsiteY1" fmla="*/ 0 h 458756"/>
              <a:gd name="connsiteX2" fmla="*/ 4211962 w 4212432"/>
              <a:gd name="connsiteY2" fmla="*/ 0 h 458756"/>
              <a:gd name="connsiteX3" fmla="*/ 4212432 w 4212432"/>
              <a:gd name="connsiteY3" fmla="*/ 308871 h 458756"/>
              <a:gd name="connsiteX4" fmla="*/ 3926852 w 4212432"/>
              <a:gd name="connsiteY4" fmla="*/ 456376 h 458756"/>
              <a:gd name="connsiteX5" fmla="*/ 0 w 4212432"/>
              <a:gd name="connsiteY5" fmla="*/ 458756 h 458756"/>
              <a:gd name="connsiteX6" fmla="*/ 0 w 4212432"/>
              <a:gd name="connsiteY6" fmla="*/ 229379 h 458756"/>
              <a:gd name="connsiteX7" fmla="*/ 0 w 4212432"/>
              <a:gd name="connsiteY7" fmla="*/ 0 h 458756"/>
              <a:gd name="connsiteX0" fmla="*/ 0 w 4212432"/>
              <a:gd name="connsiteY0" fmla="*/ 0 h 458756"/>
              <a:gd name="connsiteX1" fmla="*/ 245874 w 4212432"/>
              <a:gd name="connsiteY1" fmla="*/ 0 h 458756"/>
              <a:gd name="connsiteX2" fmla="*/ 4211962 w 4212432"/>
              <a:gd name="connsiteY2" fmla="*/ 0 h 458756"/>
              <a:gd name="connsiteX3" fmla="*/ 4212432 w 4212432"/>
              <a:gd name="connsiteY3" fmla="*/ 287440 h 458756"/>
              <a:gd name="connsiteX4" fmla="*/ 3926852 w 4212432"/>
              <a:gd name="connsiteY4" fmla="*/ 456376 h 458756"/>
              <a:gd name="connsiteX5" fmla="*/ 0 w 4212432"/>
              <a:gd name="connsiteY5" fmla="*/ 458756 h 458756"/>
              <a:gd name="connsiteX6" fmla="*/ 0 w 4212432"/>
              <a:gd name="connsiteY6" fmla="*/ 229379 h 458756"/>
              <a:gd name="connsiteX7" fmla="*/ 0 w 4212432"/>
              <a:gd name="connsiteY7" fmla="*/ 0 h 458756"/>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287440 h 458757"/>
              <a:gd name="connsiteX4" fmla="*/ 3969829 w 4212432"/>
              <a:gd name="connsiteY4" fmla="*/ 458757 h 458757"/>
              <a:gd name="connsiteX5" fmla="*/ 0 w 4212432"/>
              <a:gd name="connsiteY5" fmla="*/ 458756 h 458757"/>
              <a:gd name="connsiteX6" fmla="*/ 0 w 4212432"/>
              <a:gd name="connsiteY6" fmla="*/ 229379 h 458757"/>
              <a:gd name="connsiteX7" fmla="*/ 0 w 4212432"/>
              <a:gd name="connsiteY7" fmla="*/ 0 h 458757"/>
              <a:gd name="connsiteX0" fmla="*/ 0 w 4212432"/>
              <a:gd name="connsiteY0" fmla="*/ 65017 h 523774"/>
              <a:gd name="connsiteX1" fmla="*/ 245874 w 4212432"/>
              <a:gd name="connsiteY1" fmla="*/ 65017 h 523774"/>
              <a:gd name="connsiteX2" fmla="*/ 4211962 w 4212432"/>
              <a:gd name="connsiteY2" fmla="*/ 65017 h 523774"/>
              <a:gd name="connsiteX3" fmla="*/ 4212432 w 4212432"/>
              <a:gd name="connsiteY3" fmla="*/ 352457 h 523774"/>
              <a:gd name="connsiteX4" fmla="*/ 3969829 w 4212432"/>
              <a:gd name="connsiteY4" fmla="*/ 523774 h 523774"/>
              <a:gd name="connsiteX5" fmla="*/ 0 w 4212432"/>
              <a:gd name="connsiteY5" fmla="*/ 523773 h 523774"/>
              <a:gd name="connsiteX6" fmla="*/ 0 w 4212432"/>
              <a:gd name="connsiteY6" fmla="*/ 294396 h 523774"/>
              <a:gd name="connsiteX7" fmla="*/ 0 w 4212432"/>
              <a:gd name="connsiteY7" fmla="*/ 65017 h 523774"/>
              <a:gd name="connsiteX0" fmla="*/ 0 w 4212432"/>
              <a:gd name="connsiteY0" fmla="*/ 65017 h 526156"/>
              <a:gd name="connsiteX1" fmla="*/ 245874 w 4212432"/>
              <a:gd name="connsiteY1" fmla="*/ 65017 h 526156"/>
              <a:gd name="connsiteX2" fmla="*/ 4211962 w 4212432"/>
              <a:gd name="connsiteY2" fmla="*/ 65017 h 526156"/>
              <a:gd name="connsiteX3" fmla="*/ 4212432 w 4212432"/>
              <a:gd name="connsiteY3" fmla="*/ 352457 h 526156"/>
              <a:gd name="connsiteX4" fmla="*/ 3969829 w 4212432"/>
              <a:gd name="connsiteY4" fmla="*/ 523774 h 526156"/>
              <a:gd name="connsiteX5" fmla="*/ 0 w 4212432"/>
              <a:gd name="connsiteY5" fmla="*/ 523773 h 526156"/>
              <a:gd name="connsiteX6" fmla="*/ 0 w 4212432"/>
              <a:gd name="connsiteY6" fmla="*/ 294396 h 526156"/>
              <a:gd name="connsiteX7" fmla="*/ 0 w 4212432"/>
              <a:gd name="connsiteY7" fmla="*/ 65017 h 526156"/>
              <a:gd name="connsiteX0" fmla="*/ 0 w 4212432"/>
              <a:gd name="connsiteY0" fmla="*/ 65017 h 526156"/>
              <a:gd name="connsiteX1" fmla="*/ 245874 w 4212432"/>
              <a:gd name="connsiteY1" fmla="*/ 65017 h 526156"/>
              <a:gd name="connsiteX2" fmla="*/ 4211962 w 4212432"/>
              <a:gd name="connsiteY2" fmla="*/ 65017 h 526156"/>
              <a:gd name="connsiteX3" fmla="*/ 4212432 w 4212432"/>
              <a:gd name="connsiteY3" fmla="*/ 352457 h 526156"/>
              <a:gd name="connsiteX4" fmla="*/ 3969829 w 4212432"/>
              <a:gd name="connsiteY4" fmla="*/ 523774 h 526156"/>
              <a:gd name="connsiteX5" fmla="*/ 0 w 4212432"/>
              <a:gd name="connsiteY5" fmla="*/ 523773 h 526156"/>
              <a:gd name="connsiteX6" fmla="*/ 0 w 4212432"/>
              <a:gd name="connsiteY6" fmla="*/ 294396 h 526156"/>
              <a:gd name="connsiteX7" fmla="*/ 0 w 4212432"/>
              <a:gd name="connsiteY7" fmla="*/ 65017 h 526156"/>
              <a:gd name="connsiteX0" fmla="*/ 0 w 4212783"/>
              <a:gd name="connsiteY0" fmla="*/ 65017 h 526518"/>
              <a:gd name="connsiteX1" fmla="*/ 245874 w 4212783"/>
              <a:gd name="connsiteY1" fmla="*/ 65017 h 526518"/>
              <a:gd name="connsiteX2" fmla="*/ 4211962 w 4212783"/>
              <a:gd name="connsiteY2" fmla="*/ 65017 h 526518"/>
              <a:gd name="connsiteX3" fmla="*/ 4212432 w 4212783"/>
              <a:gd name="connsiteY3" fmla="*/ 352457 h 526518"/>
              <a:gd name="connsiteX4" fmla="*/ 3969829 w 4212783"/>
              <a:gd name="connsiteY4" fmla="*/ 523774 h 526518"/>
              <a:gd name="connsiteX5" fmla="*/ 0 w 4212783"/>
              <a:gd name="connsiteY5" fmla="*/ 523773 h 526518"/>
              <a:gd name="connsiteX6" fmla="*/ 0 w 4212783"/>
              <a:gd name="connsiteY6" fmla="*/ 294396 h 526518"/>
              <a:gd name="connsiteX7" fmla="*/ 0 w 4212783"/>
              <a:gd name="connsiteY7" fmla="*/ 65017 h 526518"/>
              <a:gd name="connsiteX0" fmla="*/ 0 w 4212806"/>
              <a:gd name="connsiteY0" fmla="*/ 65017 h 526518"/>
              <a:gd name="connsiteX1" fmla="*/ 245874 w 4212806"/>
              <a:gd name="connsiteY1" fmla="*/ 65017 h 526518"/>
              <a:gd name="connsiteX2" fmla="*/ 4211962 w 4212806"/>
              <a:gd name="connsiteY2" fmla="*/ 65017 h 526518"/>
              <a:gd name="connsiteX3" fmla="*/ 4212432 w 4212806"/>
              <a:gd name="connsiteY3" fmla="*/ 352457 h 526518"/>
              <a:gd name="connsiteX4" fmla="*/ 3976992 w 4212806"/>
              <a:gd name="connsiteY4" fmla="*/ 523774 h 526518"/>
              <a:gd name="connsiteX5" fmla="*/ 0 w 4212806"/>
              <a:gd name="connsiteY5" fmla="*/ 523773 h 526518"/>
              <a:gd name="connsiteX6" fmla="*/ 0 w 4212806"/>
              <a:gd name="connsiteY6" fmla="*/ 294396 h 526518"/>
              <a:gd name="connsiteX7" fmla="*/ 0 w 4212806"/>
              <a:gd name="connsiteY7" fmla="*/ 65017 h 526518"/>
              <a:gd name="connsiteX0" fmla="*/ 0 w 4212707"/>
              <a:gd name="connsiteY0" fmla="*/ 65017 h 526518"/>
              <a:gd name="connsiteX1" fmla="*/ 245874 w 4212707"/>
              <a:gd name="connsiteY1" fmla="*/ 65017 h 526518"/>
              <a:gd name="connsiteX2" fmla="*/ 4211962 w 4212707"/>
              <a:gd name="connsiteY2" fmla="*/ 65017 h 526518"/>
              <a:gd name="connsiteX3" fmla="*/ 4212432 w 4212707"/>
              <a:gd name="connsiteY3" fmla="*/ 352457 h 526518"/>
              <a:gd name="connsiteX4" fmla="*/ 3976992 w 4212707"/>
              <a:gd name="connsiteY4" fmla="*/ 523774 h 526518"/>
              <a:gd name="connsiteX5" fmla="*/ 0 w 4212707"/>
              <a:gd name="connsiteY5" fmla="*/ 523773 h 526518"/>
              <a:gd name="connsiteX6" fmla="*/ 0 w 4212707"/>
              <a:gd name="connsiteY6" fmla="*/ 294396 h 526518"/>
              <a:gd name="connsiteX7" fmla="*/ 0 w 4212707"/>
              <a:gd name="connsiteY7" fmla="*/ 65017 h 526518"/>
              <a:gd name="connsiteX0" fmla="*/ 0 w 4212432"/>
              <a:gd name="connsiteY0" fmla="*/ 65017 h 527310"/>
              <a:gd name="connsiteX1" fmla="*/ 245874 w 4212432"/>
              <a:gd name="connsiteY1" fmla="*/ 65017 h 527310"/>
              <a:gd name="connsiteX2" fmla="*/ 4211962 w 4212432"/>
              <a:gd name="connsiteY2" fmla="*/ 65017 h 527310"/>
              <a:gd name="connsiteX3" fmla="*/ 4212432 w 4212432"/>
              <a:gd name="connsiteY3" fmla="*/ 352457 h 527310"/>
              <a:gd name="connsiteX4" fmla="*/ 3976992 w 4212432"/>
              <a:gd name="connsiteY4" fmla="*/ 523774 h 527310"/>
              <a:gd name="connsiteX5" fmla="*/ 0 w 4212432"/>
              <a:gd name="connsiteY5" fmla="*/ 523773 h 527310"/>
              <a:gd name="connsiteX6" fmla="*/ 0 w 4212432"/>
              <a:gd name="connsiteY6" fmla="*/ 294396 h 527310"/>
              <a:gd name="connsiteX7" fmla="*/ 0 w 4212432"/>
              <a:gd name="connsiteY7" fmla="*/ 65017 h 527310"/>
              <a:gd name="connsiteX0" fmla="*/ 0 w 4212432"/>
              <a:gd name="connsiteY0" fmla="*/ 254931 h 717224"/>
              <a:gd name="connsiteX1" fmla="*/ 245874 w 4212432"/>
              <a:gd name="connsiteY1" fmla="*/ 254931 h 717224"/>
              <a:gd name="connsiteX2" fmla="*/ 4211962 w 4212432"/>
              <a:gd name="connsiteY2" fmla="*/ 254931 h 717224"/>
              <a:gd name="connsiteX3" fmla="*/ 4212432 w 4212432"/>
              <a:gd name="connsiteY3" fmla="*/ 542371 h 717224"/>
              <a:gd name="connsiteX4" fmla="*/ 3976992 w 4212432"/>
              <a:gd name="connsiteY4" fmla="*/ 713688 h 717224"/>
              <a:gd name="connsiteX5" fmla="*/ 0 w 4212432"/>
              <a:gd name="connsiteY5" fmla="*/ 713687 h 717224"/>
              <a:gd name="connsiteX6" fmla="*/ 0 w 4212432"/>
              <a:gd name="connsiteY6" fmla="*/ 484310 h 717224"/>
              <a:gd name="connsiteX7" fmla="*/ 0 w 4212432"/>
              <a:gd name="connsiteY7" fmla="*/ 254931 h 717224"/>
              <a:gd name="connsiteX0" fmla="*/ 0 w 4212432"/>
              <a:gd name="connsiteY0" fmla="*/ 254931 h 714629"/>
              <a:gd name="connsiteX1" fmla="*/ 245874 w 4212432"/>
              <a:gd name="connsiteY1" fmla="*/ 254931 h 714629"/>
              <a:gd name="connsiteX2" fmla="*/ 4211962 w 4212432"/>
              <a:gd name="connsiteY2" fmla="*/ 254931 h 714629"/>
              <a:gd name="connsiteX3" fmla="*/ 4212432 w 4212432"/>
              <a:gd name="connsiteY3" fmla="*/ 542371 h 714629"/>
              <a:gd name="connsiteX4" fmla="*/ 3976992 w 4212432"/>
              <a:gd name="connsiteY4" fmla="*/ 713688 h 714629"/>
              <a:gd name="connsiteX5" fmla="*/ 0 w 4212432"/>
              <a:gd name="connsiteY5" fmla="*/ 713687 h 714629"/>
              <a:gd name="connsiteX6" fmla="*/ 0 w 4212432"/>
              <a:gd name="connsiteY6" fmla="*/ 484310 h 714629"/>
              <a:gd name="connsiteX7" fmla="*/ 0 w 4212432"/>
              <a:gd name="connsiteY7" fmla="*/ 254931 h 714629"/>
              <a:gd name="connsiteX0" fmla="*/ 0 w 4212432"/>
              <a:gd name="connsiteY0" fmla="*/ 242199 h 704985"/>
              <a:gd name="connsiteX1" fmla="*/ 245874 w 4212432"/>
              <a:gd name="connsiteY1" fmla="*/ 242199 h 704985"/>
              <a:gd name="connsiteX2" fmla="*/ 4211962 w 4212432"/>
              <a:gd name="connsiteY2" fmla="*/ 242199 h 704985"/>
              <a:gd name="connsiteX3" fmla="*/ 4212432 w 4212432"/>
              <a:gd name="connsiteY3" fmla="*/ 548689 h 704985"/>
              <a:gd name="connsiteX4" fmla="*/ 3976992 w 4212432"/>
              <a:gd name="connsiteY4" fmla="*/ 700956 h 704985"/>
              <a:gd name="connsiteX5" fmla="*/ 0 w 4212432"/>
              <a:gd name="connsiteY5" fmla="*/ 700955 h 704985"/>
              <a:gd name="connsiteX6" fmla="*/ 0 w 4212432"/>
              <a:gd name="connsiteY6" fmla="*/ 471578 h 704985"/>
              <a:gd name="connsiteX7" fmla="*/ 0 w 4212432"/>
              <a:gd name="connsiteY7" fmla="*/ 242199 h 704985"/>
              <a:gd name="connsiteX0" fmla="*/ 0 w 4212432"/>
              <a:gd name="connsiteY0" fmla="*/ 242199 h 703933"/>
              <a:gd name="connsiteX1" fmla="*/ 245874 w 4212432"/>
              <a:gd name="connsiteY1" fmla="*/ 242199 h 703933"/>
              <a:gd name="connsiteX2" fmla="*/ 4211962 w 4212432"/>
              <a:gd name="connsiteY2" fmla="*/ 242199 h 703933"/>
              <a:gd name="connsiteX3" fmla="*/ 4212432 w 4212432"/>
              <a:gd name="connsiteY3" fmla="*/ 548689 h 703933"/>
              <a:gd name="connsiteX4" fmla="*/ 3976992 w 4212432"/>
              <a:gd name="connsiteY4" fmla="*/ 700956 h 703933"/>
              <a:gd name="connsiteX5" fmla="*/ 0 w 4212432"/>
              <a:gd name="connsiteY5" fmla="*/ 700955 h 703933"/>
              <a:gd name="connsiteX6" fmla="*/ 0 w 4212432"/>
              <a:gd name="connsiteY6" fmla="*/ 471578 h 703933"/>
              <a:gd name="connsiteX7" fmla="*/ 0 w 4212432"/>
              <a:gd name="connsiteY7" fmla="*/ 242199 h 703933"/>
              <a:gd name="connsiteX0" fmla="*/ 0 w 4212432"/>
              <a:gd name="connsiteY0" fmla="*/ 242199 h 701374"/>
              <a:gd name="connsiteX1" fmla="*/ 245874 w 4212432"/>
              <a:gd name="connsiteY1" fmla="*/ 242199 h 701374"/>
              <a:gd name="connsiteX2" fmla="*/ 4211962 w 4212432"/>
              <a:gd name="connsiteY2" fmla="*/ 242199 h 701374"/>
              <a:gd name="connsiteX3" fmla="*/ 4212432 w 4212432"/>
              <a:gd name="connsiteY3" fmla="*/ 548689 h 701374"/>
              <a:gd name="connsiteX4" fmla="*/ 3976992 w 4212432"/>
              <a:gd name="connsiteY4" fmla="*/ 700956 h 701374"/>
              <a:gd name="connsiteX5" fmla="*/ 0 w 4212432"/>
              <a:gd name="connsiteY5" fmla="*/ 700955 h 701374"/>
              <a:gd name="connsiteX6" fmla="*/ 0 w 4212432"/>
              <a:gd name="connsiteY6" fmla="*/ 471578 h 701374"/>
              <a:gd name="connsiteX7" fmla="*/ 0 w 4212432"/>
              <a:gd name="connsiteY7" fmla="*/ 242199 h 701374"/>
              <a:gd name="connsiteX0" fmla="*/ 0 w 4214819"/>
              <a:gd name="connsiteY0" fmla="*/ 231179 h 693429"/>
              <a:gd name="connsiteX1" fmla="*/ 245874 w 4214819"/>
              <a:gd name="connsiteY1" fmla="*/ 231179 h 693429"/>
              <a:gd name="connsiteX2" fmla="*/ 4211962 w 4214819"/>
              <a:gd name="connsiteY2" fmla="*/ 231179 h 693429"/>
              <a:gd name="connsiteX3" fmla="*/ 4214819 w 4214819"/>
              <a:gd name="connsiteY3" fmla="*/ 554338 h 693429"/>
              <a:gd name="connsiteX4" fmla="*/ 3976992 w 4214819"/>
              <a:gd name="connsiteY4" fmla="*/ 689936 h 693429"/>
              <a:gd name="connsiteX5" fmla="*/ 0 w 4214819"/>
              <a:gd name="connsiteY5" fmla="*/ 689935 h 693429"/>
              <a:gd name="connsiteX6" fmla="*/ 0 w 4214819"/>
              <a:gd name="connsiteY6" fmla="*/ 460558 h 693429"/>
              <a:gd name="connsiteX7" fmla="*/ 0 w 4214819"/>
              <a:gd name="connsiteY7" fmla="*/ 231179 h 693429"/>
              <a:gd name="connsiteX0" fmla="*/ 0 w 4214819"/>
              <a:gd name="connsiteY0" fmla="*/ 231179 h 690020"/>
              <a:gd name="connsiteX1" fmla="*/ 245874 w 4214819"/>
              <a:gd name="connsiteY1" fmla="*/ 231179 h 690020"/>
              <a:gd name="connsiteX2" fmla="*/ 4211962 w 4214819"/>
              <a:gd name="connsiteY2" fmla="*/ 231179 h 690020"/>
              <a:gd name="connsiteX3" fmla="*/ 4214819 w 4214819"/>
              <a:gd name="connsiteY3" fmla="*/ 554338 h 690020"/>
              <a:gd name="connsiteX4" fmla="*/ 3976992 w 4214819"/>
              <a:gd name="connsiteY4" fmla="*/ 689936 h 690020"/>
              <a:gd name="connsiteX5" fmla="*/ 0 w 4214819"/>
              <a:gd name="connsiteY5" fmla="*/ 689935 h 690020"/>
              <a:gd name="connsiteX6" fmla="*/ 0 w 4214819"/>
              <a:gd name="connsiteY6" fmla="*/ 460558 h 690020"/>
              <a:gd name="connsiteX7" fmla="*/ 0 w 4214819"/>
              <a:gd name="connsiteY7" fmla="*/ 231179 h 690020"/>
              <a:gd name="connsiteX0" fmla="*/ 0 w 4215172"/>
              <a:gd name="connsiteY0" fmla="*/ 78388 h 537229"/>
              <a:gd name="connsiteX1" fmla="*/ 245874 w 4215172"/>
              <a:gd name="connsiteY1" fmla="*/ 78388 h 537229"/>
              <a:gd name="connsiteX2" fmla="*/ 4211962 w 4215172"/>
              <a:gd name="connsiteY2" fmla="*/ 78388 h 537229"/>
              <a:gd name="connsiteX3" fmla="*/ 4214819 w 4215172"/>
              <a:gd name="connsiteY3" fmla="*/ 401547 h 537229"/>
              <a:gd name="connsiteX4" fmla="*/ 3976992 w 4215172"/>
              <a:gd name="connsiteY4" fmla="*/ 537145 h 537229"/>
              <a:gd name="connsiteX5" fmla="*/ 0 w 4215172"/>
              <a:gd name="connsiteY5" fmla="*/ 537144 h 537229"/>
              <a:gd name="connsiteX6" fmla="*/ 0 w 4215172"/>
              <a:gd name="connsiteY6" fmla="*/ 307767 h 537229"/>
              <a:gd name="connsiteX7" fmla="*/ 0 w 4215172"/>
              <a:gd name="connsiteY7" fmla="*/ 78388 h 537229"/>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76992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76992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76992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67441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308872 h 458757"/>
              <a:gd name="connsiteX4" fmla="*/ 3967441 w 4212432"/>
              <a:gd name="connsiteY4" fmla="*/ 458757 h 458757"/>
              <a:gd name="connsiteX5" fmla="*/ 0 w 4212432"/>
              <a:gd name="connsiteY5" fmla="*/ 458756 h 458757"/>
              <a:gd name="connsiteX6" fmla="*/ 0 w 4212432"/>
              <a:gd name="connsiteY6" fmla="*/ 229379 h 458757"/>
              <a:gd name="connsiteX7" fmla="*/ 0 w 4212432"/>
              <a:gd name="connsiteY7" fmla="*/ 0 h 458757"/>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308872 h 458757"/>
              <a:gd name="connsiteX4" fmla="*/ 3967441 w 4212432"/>
              <a:gd name="connsiteY4" fmla="*/ 458757 h 458757"/>
              <a:gd name="connsiteX5" fmla="*/ 0 w 4212432"/>
              <a:gd name="connsiteY5" fmla="*/ 458756 h 458757"/>
              <a:gd name="connsiteX6" fmla="*/ 0 w 4212432"/>
              <a:gd name="connsiteY6" fmla="*/ 229379 h 458757"/>
              <a:gd name="connsiteX7" fmla="*/ 0 w 4212432"/>
              <a:gd name="connsiteY7" fmla="*/ 0 h 458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2432" h="458757">
                <a:moveTo>
                  <a:pt x="0" y="0"/>
                </a:moveTo>
                <a:lnTo>
                  <a:pt x="245874" y="0"/>
                </a:lnTo>
                <a:lnTo>
                  <a:pt x="4211962" y="0"/>
                </a:lnTo>
                <a:cubicBezTo>
                  <a:pt x="4212914" y="108513"/>
                  <a:pt x="4209095" y="335"/>
                  <a:pt x="4212432" y="308872"/>
                </a:cubicBezTo>
                <a:cubicBezTo>
                  <a:pt x="4212481" y="465992"/>
                  <a:pt x="4074394" y="456418"/>
                  <a:pt x="3967441" y="458757"/>
                </a:cubicBezTo>
                <a:lnTo>
                  <a:pt x="0" y="458756"/>
                </a:lnTo>
                <a:lnTo>
                  <a:pt x="0" y="229379"/>
                </a:lnTo>
                <a:lnTo>
                  <a:pt x="0" y="0"/>
                </a:lnTo>
                <a:close/>
              </a:path>
            </a:pathLst>
          </a:custGeom>
          <a:solidFill>
            <a:schemeClr val="accent2">
              <a:alpha val="90000"/>
            </a:schemeClr>
          </a:soli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88000" tIns="90000" rIns="90000" bIns="108000" numCol="1" spcCol="0" rtlCol="0" fromWordArt="0" anchor="t" anchorCtr="0" forceAA="0" compatLnSpc="1">
            <a:prstTxWarp prst="textNoShape">
              <a:avLst/>
            </a:prstTxWarp>
            <a:noAutofit/>
          </a:bodyPr>
          <a:lstStyle>
            <a:lvl1pPr marL="0" indent="0" algn="l" defTabSz="456977" rtl="0" eaLnBrk="1" latinLnBrk="0" hangingPunct="1">
              <a:lnSpc>
                <a:spcPct val="100000"/>
              </a:lnSpc>
              <a:spcBef>
                <a:spcPct val="0"/>
              </a:spcBef>
              <a:buNone/>
              <a:defRPr lang="nl-NL" sz="1880" b="0" i="0" kern="1200" dirty="0">
                <a:solidFill>
                  <a:schemeClr val="bg1"/>
                </a:solidFill>
                <a:latin typeface="Myriad for Rabobank It" panose="020B0503030403090204" pitchFamily="34" charset="0"/>
                <a:ea typeface="+mn-ea"/>
                <a:cs typeface="+mn-cs"/>
              </a:defRPr>
            </a:lvl1pPr>
            <a:lvl2pPr marL="456977" indent="0" algn="ctr">
              <a:buNone/>
              <a:defRPr>
                <a:solidFill>
                  <a:schemeClr val="tx1">
                    <a:tint val="75000"/>
                  </a:schemeClr>
                </a:solidFill>
              </a:defRPr>
            </a:lvl2pPr>
            <a:lvl3pPr marL="913953" indent="0" algn="ctr">
              <a:buNone/>
              <a:defRPr>
                <a:solidFill>
                  <a:schemeClr val="tx1">
                    <a:tint val="75000"/>
                  </a:schemeClr>
                </a:solidFill>
              </a:defRPr>
            </a:lvl3pPr>
            <a:lvl4pPr marL="1370930" indent="0" algn="ctr">
              <a:buNone/>
              <a:defRPr>
                <a:solidFill>
                  <a:schemeClr val="tx1">
                    <a:tint val="75000"/>
                  </a:schemeClr>
                </a:solidFill>
              </a:defRPr>
            </a:lvl4pPr>
            <a:lvl5pPr marL="1827905" indent="0" algn="ctr">
              <a:buNone/>
              <a:defRPr>
                <a:solidFill>
                  <a:schemeClr val="tx1">
                    <a:tint val="75000"/>
                  </a:schemeClr>
                </a:solidFill>
              </a:defRPr>
            </a:lvl5pPr>
            <a:lvl6pPr marL="2284883" indent="0" algn="ctr">
              <a:buNone/>
              <a:defRPr>
                <a:solidFill>
                  <a:schemeClr val="tx1">
                    <a:tint val="75000"/>
                  </a:schemeClr>
                </a:solidFill>
              </a:defRPr>
            </a:lvl6pPr>
            <a:lvl7pPr marL="2741861" indent="0" algn="ctr">
              <a:buNone/>
              <a:defRPr>
                <a:solidFill>
                  <a:schemeClr val="tx1">
                    <a:tint val="75000"/>
                  </a:schemeClr>
                </a:solidFill>
              </a:defRPr>
            </a:lvl7pPr>
            <a:lvl8pPr marL="3198835" indent="0" algn="ctr">
              <a:buNone/>
              <a:defRPr>
                <a:solidFill>
                  <a:schemeClr val="tx1">
                    <a:tint val="75000"/>
                  </a:schemeClr>
                </a:solidFill>
              </a:defRPr>
            </a:lvl8pPr>
            <a:lvl9pPr marL="3655813" indent="0" algn="ctr">
              <a:buNone/>
              <a:defRPr>
                <a:solidFill>
                  <a:schemeClr val="tx1">
                    <a:tint val="75000"/>
                  </a:schemeClr>
                </a:solidFill>
              </a:defRPr>
            </a:lvl9pPr>
          </a:lstStyle>
          <a:p>
            <a:endParaRPr lang="nl-NL"/>
          </a:p>
        </p:txBody>
      </p:sp>
      <p:sp>
        <p:nvSpPr>
          <p:cNvPr id="14" name="Titel 14">
            <a:extLst>
              <a:ext uri="{FF2B5EF4-FFF2-40B4-BE49-F238E27FC236}">
                <a16:creationId xmlns:a16="http://schemas.microsoft.com/office/drawing/2014/main" id="{B94A8C84-AD23-4F50-80B8-4518CEB905D8}"/>
              </a:ext>
            </a:extLst>
          </p:cNvPr>
          <p:cNvSpPr>
            <a:spLocks noGrp="1"/>
          </p:cNvSpPr>
          <p:nvPr>
            <p:ph type="title"/>
          </p:nvPr>
        </p:nvSpPr>
        <p:spPr>
          <a:xfrm>
            <a:off x="0" y="270000"/>
            <a:ext cx="4201200" cy="1008000"/>
          </a:xfrm>
          <a:prstGeom prst="round1Rect">
            <a:avLst>
              <a:gd name="adj" fmla="val 12786"/>
            </a:avLst>
          </a:prstGeom>
          <a:solidFill>
            <a:schemeClr val="accent1">
              <a:alpha val="90000"/>
            </a:schemeClr>
          </a:solidFill>
          <a:ln w="19050" cmpd="sng">
            <a:noFill/>
          </a:ln>
        </p:spPr>
        <p:txBody>
          <a:bodyPr wrap="square" lIns="288000" tIns="108000" rIns="108000" bIns="72000" anchor="t" anchorCtr="0">
            <a:noAutofit/>
          </a:bodyPr>
          <a:lstStyle>
            <a:lvl1pPr>
              <a:lnSpc>
                <a:spcPts val="3000"/>
              </a:lnSpc>
              <a:defRPr sz="2800" b="0" i="0">
                <a:solidFill>
                  <a:srgbClr val="FFFFFF"/>
                </a:solidFill>
                <a:latin typeface="Myriad for Rabobank Bd It" panose="020B0703030403090204" pitchFamily="34" charset="0"/>
              </a:defRPr>
            </a:lvl1pPr>
          </a:lstStyle>
          <a:p>
            <a:endParaRPr lang="nl-NL" noProof="0"/>
          </a:p>
        </p:txBody>
      </p:sp>
    </p:spTree>
    <p:extLst>
      <p:ext uri="{BB962C8B-B14F-4D97-AF65-F5344CB8AC3E}">
        <p14:creationId xmlns:p14="http://schemas.microsoft.com/office/powerpoint/2010/main" val="10929168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with Miss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0C3397-10F4-4537-8CF7-55DB5E825A40}"/>
              </a:ext>
            </a:extLst>
          </p:cNvPr>
          <p:cNvSpPr/>
          <p:nvPr userDrawn="1"/>
        </p:nvSpPr>
        <p:spPr>
          <a:xfrm>
            <a:off x="2" y="0"/>
            <a:ext cx="9144000" cy="5143500"/>
          </a:xfrm>
          <a:prstGeom prst="rect">
            <a:avLst/>
          </a:prstGeom>
          <a:solidFill>
            <a:schemeClr val="bg1"/>
          </a:solidFill>
          <a:ln w="12700" cap="rnd" cmpd="sng" algn="ctr">
            <a:solidFill>
              <a:srgbClr val="EAEAEA"/>
            </a:solidFill>
            <a:prstDash val="solid"/>
          </a:ln>
          <a:effectLst/>
        </p:spPr>
        <p:txBody>
          <a:bodyPr rtlCol="0" anchor="ctr"/>
          <a:lstStyle/>
          <a:p>
            <a:pPr algn="ctr"/>
            <a:endParaRPr lang="nl-NL" sz="1800">
              <a:solidFill>
                <a:srgbClr val="5E6A71"/>
              </a:solidFill>
              <a:latin typeface="Myriad for Rabobank Lt" panose="020B0403030403020204" pitchFamily="34" charset="0"/>
            </a:endParaRPr>
          </a:p>
        </p:txBody>
      </p:sp>
      <p:sp>
        <p:nvSpPr>
          <p:cNvPr id="10" name="Tijdelijke aanduiding voor tekst 5">
            <a:extLst>
              <a:ext uri="{FF2B5EF4-FFF2-40B4-BE49-F238E27FC236}">
                <a16:creationId xmlns:a16="http://schemas.microsoft.com/office/drawing/2014/main" id="{09FC33EF-F510-4828-9C46-686A6A5FEE4F}"/>
              </a:ext>
            </a:extLst>
          </p:cNvPr>
          <p:cNvSpPr>
            <a:spLocks noGrp="1"/>
          </p:cNvSpPr>
          <p:nvPr>
            <p:ph type="body" sz="quarter" idx="12" hasCustomPrompt="1"/>
          </p:nvPr>
        </p:nvSpPr>
        <p:spPr>
          <a:xfrm>
            <a:off x="471600" y="4708105"/>
            <a:ext cx="5868000" cy="205200"/>
          </a:xfrm>
        </p:spPr>
        <p:txBody>
          <a:bodyPr tIns="36000" anchor="t" anchorCtr="0"/>
          <a:lstStyle>
            <a:lvl1pPr marL="0" indent="0">
              <a:lnSpc>
                <a:spcPct val="80000"/>
              </a:lnSpc>
              <a:buNone/>
              <a:defRPr sz="940" b="0" i="0">
                <a:solidFill>
                  <a:schemeClr val="bg1"/>
                </a:solidFill>
                <a:latin typeface="Myriad for Rabobank SBd" panose="020B0603030403020204" pitchFamily="34" charset="0"/>
              </a:defRPr>
            </a:lvl1pPr>
          </a:lstStyle>
          <a:p>
            <a:pPr lvl="0"/>
            <a:r>
              <a:rPr lang="en-US"/>
              <a:t>Datum | Versie / Date | Version</a:t>
            </a:r>
          </a:p>
        </p:txBody>
      </p:sp>
      <p:sp>
        <p:nvSpPr>
          <p:cNvPr id="31" name="Picture Placeholder 30">
            <a:extLst>
              <a:ext uri="{FF2B5EF4-FFF2-40B4-BE49-F238E27FC236}">
                <a16:creationId xmlns:a16="http://schemas.microsoft.com/office/drawing/2014/main" id="{940AEACB-8FC6-4430-84B3-54C7FD39CC9E}"/>
              </a:ext>
            </a:extLst>
          </p:cNvPr>
          <p:cNvSpPr>
            <a:spLocks noGrp="1"/>
          </p:cNvSpPr>
          <p:nvPr>
            <p:ph type="pic" sz="quarter" idx="14"/>
          </p:nvPr>
        </p:nvSpPr>
        <p:spPr>
          <a:xfrm>
            <a:off x="0" y="0"/>
            <a:ext cx="9144000" cy="5143500"/>
          </a:xfrm>
          <a:custGeom>
            <a:avLst/>
            <a:gdLst>
              <a:gd name="connsiteX0" fmla="*/ 6881994 w 9144000"/>
              <a:gd name="connsiteY0" fmla="*/ 3818903 h 5143500"/>
              <a:gd name="connsiteX1" fmla="*/ 6699590 w 9144000"/>
              <a:gd name="connsiteY1" fmla="*/ 4001307 h 5143500"/>
              <a:gd name="connsiteX2" fmla="*/ 6699590 w 9144000"/>
              <a:gd name="connsiteY2" fmla="*/ 4730900 h 5143500"/>
              <a:gd name="connsiteX3" fmla="*/ 6881994 w 9144000"/>
              <a:gd name="connsiteY3" fmla="*/ 4913304 h 5143500"/>
              <a:gd name="connsiteX4" fmla="*/ 7976091 w 9144000"/>
              <a:gd name="connsiteY4" fmla="*/ 4913304 h 5143500"/>
              <a:gd name="connsiteX5" fmla="*/ 7976101 w 9144000"/>
              <a:gd name="connsiteY5" fmla="*/ 4913305 h 5143500"/>
              <a:gd name="connsiteX6" fmla="*/ 8705693 w 9144000"/>
              <a:gd name="connsiteY6" fmla="*/ 4913305 h 5143500"/>
              <a:gd name="connsiteX7" fmla="*/ 8888097 w 9144000"/>
              <a:gd name="connsiteY7" fmla="*/ 4730901 h 5143500"/>
              <a:gd name="connsiteX8" fmla="*/ 8888097 w 9144000"/>
              <a:gd name="connsiteY8" fmla="*/ 4730900 h 5143500"/>
              <a:gd name="connsiteX9" fmla="*/ 8888097 w 9144000"/>
              <a:gd name="connsiteY9" fmla="*/ 4001307 h 5143500"/>
              <a:gd name="connsiteX10" fmla="*/ 8705693 w 9144000"/>
              <a:gd name="connsiteY10" fmla="*/ 3818903 h 5143500"/>
              <a:gd name="connsiteX11" fmla="*/ 7976101 w 9144000"/>
              <a:gd name="connsiteY11" fmla="*/ 3818903 h 5143500"/>
              <a:gd name="connsiteX12" fmla="*/ 0 w 9144000"/>
              <a:gd name="connsiteY12" fmla="*/ 0 h 5143500"/>
              <a:gd name="connsiteX13" fmla="*/ 9144000 w 9144000"/>
              <a:gd name="connsiteY13" fmla="*/ 0 h 5143500"/>
              <a:gd name="connsiteX14" fmla="*/ 9144000 w 9144000"/>
              <a:gd name="connsiteY14" fmla="*/ 5143500 h 5143500"/>
              <a:gd name="connsiteX15" fmla="*/ 0 w 9144000"/>
              <a:gd name="connsiteY1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4000" h="5143500">
                <a:moveTo>
                  <a:pt x="6881994" y="3818903"/>
                </a:moveTo>
                <a:cubicBezTo>
                  <a:pt x="6781255" y="3818903"/>
                  <a:pt x="6699590" y="3900568"/>
                  <a:pt x="6699590" y="4001307"/>
                </a:cubicBezTo>
                <a:lnTo>
                  <a:pt x="6699590" y="4730900"/>
                </a:lnTo>
                <a:cubicBezTo>
                  <a:pt x="6699590" y="4831639"/>
                  <a:pt x="6781255" y="4913304"/>
                  <a:pt x="6881994" y="4913304"/>
                </a:cubicBezTo>
                <a:lnTo>
                  <a:pt x="7976091" y="4913304"/>
                </a:lnTo>
                <a:lnTo>
                  <a:pt x="7976101" y="4913305"/>
                </a:lnTo>
                <a:lnTo>
                  <a:pt x="8705693" y="4913305"/>
                </a:lnTo>
                <a:cubicBezTo>
                  <a:pt x="8806432" y="4913305"/>
                  <a:pt x="8888097" y="4831640"/>
                  <a:pt x="8888097" y="4730901"/>
                </a:cubicBezTo>
                <a:lnTo>
                  <a:pt x="8888097" y="4730900"/>
                </a:lnTo>
                <a:lnTo>
                  <a:pt x="8888097" y="4001307"/>
                </a:lnTo>
                <a:cubicBezTo>
                  <a:pt x="8888097" y="3900568"/>
                  <a:pt x="8806432" y="3818903"/>
                  <a:pt x="8705693" y="3818903"/>
                </a:cubicBezTo>
                <a:lnTo>
                  <a:pt x="7976101" y="3818903"/>
                </a:lnTo>
                <a:close/>
                <a:moveTo>
                  <a:pt x="0" y="0"/>
                </a:moveTo>
                <a:lnTo>
                  <a:pt x="9144000" y="0"/>
                </a:lnTo>
                <a:lnTo>
                  <a:pt x="9144000" y="5143500"/>
                </a:lnTo>
                <a:lnTo>
                  <a:pt x="0" y="5143500"/>
                </a:lnTo>
                <a:close/>
              </a:path>
            </a:pathLst>
          </a:custGeom>
        </p:spPr>
        <p:txBody>
          <a:bodyPr wrap="square">
            <a:noAutofit/>
          </a:bodyPr>
          <a:lstStyle>
            <a:lvl1pPr marL="0" indent="0" algn="ctr">
              <a:buNone/>
              <a:defRPr sz="1200">
                <a:solidFill>
                  <a:schemeClr val="bg1">
                    <a:lumMod val="65000"/>
                  </a:schemeClr>
                </a:solidFill>
              </a:defRPr>
            </a:lvl1pPr>
          </a:lstStyle>
          <a:p>
            <a:endParaRPr lang="nl-NL"/>
          </a:p>
        </p:txBody>
      </p:sp>
      <p:pic>
        <p:nvPicPr>
          <p:cNvPr id="1635925039" name="image" descr="{&quot;templafy&quot;:{&quot;id&quot;:&quot;dee8696a-656f-45d6-9e19-3d0069fa1f9c&quot;}}"/>
          <p:cNvPicPr>
            <a:picLocks noChangeAspect="1"/>
          </p:cNvPicPr>
          <p:nvPr/>
        </p:nvPicPr>
        <p:blipFill>
          <a:blip r:embed="rId2"/>
          <a:stretch>
            <a:fillRect/>
          </a:stretch>
        </p:blipFill>
        <p:spPr>
          <a:xfrm>
            <a:off x="6699590" y="3818904"/>
            <a:ext cx="2246400" cy="1123200"/>
          </a:xfrm>
          <a:prstGeom prst="rect">
            <a:avLst/>
          </a:prstGeom>
        </p:spPr>
      </p:pic>
      <p:sp>
        <p:nvSpPr>
          <p:cNvPr id="41" name="text" descr="{&quot;templafy&quot;:{&quot;id&quot;:&quot;c84a9e77-4481-473b-b16b-80f6f514027c&quot;}}" title="Translations.Rabo_Title_Slides_Mission">
            <a:extLst>
              <a:ext uri="{FF2B5EF4-FFF2-40B4-BE49-F238E27FC236}">
                <a16:creationId xmlns:a16="http://schemas.microsoft.com/office/drawing/2014/main" id="{99A3286D-95B3-492B-87C6-DE92D630469A}"/>
              </a:ext>
            </a:extLst>
          </p:cNvPr>
          <p:cNvSpPr/>
          <p:nvPr userDrawn="1"/>
        </p:nvSpPr>
        <p:spPr>
          <a:xfrm>
            <a:off x="0" y="-727695"/>
            <a:ext cx="9144000" cy="461665"/>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Type title and subtitle. Then select appropriate slide layout by selecting 'Start, Layout'. Then roll down list below 'Rabo title slides with Mission'.</a:t>
            </a:r>
          </a:p>
        </p:txBody>
      </p:sp>
      <p:sp>
        <p:nvSpPr>
          <p:cNvPr id="43" name="text" descr="{&quot;templafy&quot;:{&quot;id&quot;:&quot;0f9945f9-265b-401d-a4dc-cac33e4e17a7&quot;}}" title="Translations.Background_Photo">
            <a:extLst>
              <a:ext uri="{FF2B5EF4-FFF2-40B4-BE49-F238E27FC236}">
                <a16:creationId xmlns:a16="http://schemas.microsoft.com/office/drawing/2014/main" id="{1A180383-78F5-48A8-A343-2440F36B126F}"/>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Insert background photo by clicking the icon in the slide centre or by selecting an image from Templafy.</a:t>
            </a:r>
          </a:p>
        </p:txBody>
      </p:sp>
      <p:sp>
        <p:nvSpPr>
          <p:cNvPr id="11" name="Ondertitel">
            <a:extLst>
              <a:ext uri="{FF2B5EF4-FFF2-40B4-BE49-F238E27FC236}">
                <a16:creationId xmlns:a16="http://schemas.microsoft.com/office/drawing/2014/main" id="{A99F5AFF-E021-435D-87DA-4B020BE8F208}"/>
              </a:ext>
            </a:extLst>
          </p:cNvPr>
          <p:cNvSpPr>
            <a:spLocks noGrp="1"/>
          </p:cNvSpPr>
          <p:nvPr>
            <p:ph type="subTitle" idx="1"/>
          </p:nvPr>
        </p:nvSpPr>
        <p:spPr>
          <a:xfrm>
            <a:off x="2" y="1275348"/>
            <a:ext cx="4201200" cy="536400"/>
          </a:xfrm>
          <a:custGeom>
            <a:avLst/>
            <a:gdLst>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181353 w 4207670"/>
              <a:gd name="connsiteY7" fmla="*/ 172615 h 461138"/>
              <a:gd name="connsiteX8" fmla="*/ 4180985 w 4207670"/>
              <a:gd name="connsiteY8" fmla="*/ 173138 h 461138"/>
              <a:gd name="connsiteX9" fmla="*/ 4207670 w 4207670"/>
              <a:gd name="connsiteY9" fmla="*/ 173138 h 461138"/>
              <a:gd name="connsiteX10" fmla="*/ 3977712 w 4207670"/>
              <a:gd name="connsiteY10" fmla="*/ 455287 h 461138"/>
              <a:gd name="connsiteX11" fmla="*/ 3960295 w 4207670"/>
              <a:gd name="connsiteY11" fmla="*/ 457043 h 461138"/>
              <a:gd name="connsiteX12" fmla="*/ 3958936 w 4207670"/>
              <a:gd name="connsiteY12" fmla="*/ 458756 h 461138"/>
              <a:gd name="connsiteX13" fmla="*/ 3958926 w 4207670"/>
              <a:gd name="connsiteY13" fmla="*/ 458757 h 461138"/>
              <a:gd name="connsiteX14" fmla="*/ 3943289 w 4207670"/>
              <a:gd name="connsiteY14" fmla="*/ 458757 h 461138"/>
              <a:gd name="connsiteX15" fmla="*/ 3919670 w 4207670"/>
              <a:gd name="connsiteY15" fmla="*/ 461138 h 461138"/>
              <a:gd name="connsiteX16" fmla="*/ 3919670 w 4207670"/>
              <a:gd name="connsiteY16" fmla="*/ 458757 h 461138"/>
              <a:gd name="connsiteX17" fmla="*/ 0 w 4207670"/>
              <a:gd name="connsiteY17" fmla="*/ 458756 h 461138"/>
              <a:gd name="connsiteX18" fmla="*/ 0 w 4207670"/>
              <a:gd name="connsiteY18" fmla="*/ 229379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181353 w 4207670"/>
              <a:gd name="connsiteY7" fmla="*/ 172615 h 461138"/>
              <a:gd name="connsiteX8" fmla="*/ 4207670 w 4207670"/>
              <a:gd name="connsiteY8" fmla="*/ 173138 h 461138"/>
              <a:gd name="connsiteX9" fmla="*/ 3977712 w 4207670"/>
              <a:gd name="connsiteY9" fmla="*/ 455287 h 461138"/>
              <a:gd name="connsiteX10" fmla="*/ 3960295 w 4207670"/>
              <a:gd name="connsiteY10" fmla="*/ 457043 h 461138"/>
              <a:gd name="connsiteX11" fmla="*/ 3958936 w 4207670"/>
              <a:gd name="connsiteY11" fmla="*/ 458756 h 461138"/>
              <a:gd name="connsiteX12" fmla="*/ 3958926 w 4207670"/>
              <a:gd name="connsiteY12" fmla="*/ 458757 h 461138"/>
              <a:gd name="connsiteX13" fmla="*/ 3943289 w 4207670"/>
              <a:gd name="connsiteY13" fmla="*/ 458757 h 461138"/>
              <a:gd name="connsiteX14" fmla="*/ 3919670 w 4207670"/>
              <a:gd name="connsiteY14" fmla="*/ 461138 h 461138"/>
              <a:gd name="connsiteX15" fmla="*/ 3919670 w 4207670"/>
              <a:gd name="connsiteY15" fmla="*/ 458757 h 461138"/>
              <a:gd name="connsiteX16" fmla="*/ 0 w 4207670"/>
              <a:gd name="connsiteY16" fmla="*/ 458756 h 461138"/>
              <a:gd name="connsiteX17" fmla="*/ 0 w 4207670"/>
              <a:gd name="connsiteY17" fmla="*/ 229379 h 461138"/>
              <a:gd name="connsiteX18" fmla="*/ 0 w 4207670"/>
              <a:gd name="connsiteY18"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77712 w 4207670"/>
              <a:gd name="connsiteY8" fmla="*/ 455287 h 461138"/>
              <a:gd name="connsiteX9" fmla="*/ 3960295 w 4207670"/>
              <a:gd name="connsiteY9" fmla="*/ 457043 h 461138"/>
              <a:gd name="connsiteX10" fmla="*/ 3958936 w 4207670"/>
              <a:gd name="connsiteY10" fmla="*/ 458756 h 461138"/>
              <a:gd name="connsiteX11" fmla="*/ 3958926 w 4207670"/>
              <a:gd name="connsiteY11" fmla="*/ 458757 h 461138"/>
              <a:gd name="connsiteX12" fmla="*/ 3943289 w 4207670"/>
              <a:gd name="connsiteY12" fmla="*/ 458757 h 461138"/>
              <a:gd name="connsiteX13" fmla="*/ 3919670 w 4207670"/>
              <a:gd name="connsiteY13" fmla="*/ 461138 h 461138"/>
              <a:gd name="connsiteX14" fmla="*/ 3919670 w 4207670"/>
              <a:gd name="connsiteY14" fmla="*/ 458757 h 461138"/>
              <a:gd name="connsiteX15" fmla="*/ 0 w 4207670"/>
              <a:gd name="connsiteY15" fmla="*/ 458756 h 461138"/>
              <a:gd name="connsiteX16" fmla="*/ 0 w 4207670"/>
              <a:gd name="connsiteY16" fmla="*/ 229379 h 461138"/>
              <a:gd name="connsiteX17" fmla="*/ 0 w 4207670"/>
              <a:gd name="connsiteY17"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60295 w 4207670"/>
              <a:gd name="connsiteY8" fmla="*/ 457043 h 461138"/>
              <a:gd name="connsiteX9" fmla="*/ 3958936 w 4207670"/>
              <a:gd name="connsiteY9" fmla="*/ 458756 h 461138"/>
              <a:gd name="connsiteX10" fmla="*/ 3958926 w 4207670"/>
              <a:gd name="connsiteY10" fmla="*/ 458757 h 461138"/>
              <a:gd name="connsiteX11" fmla="*/ 3943289 w 4207670"/>
              <a:gd name="connsiteY11" fmla="*/ 458757 h 461138"/>
              <a:gd name="connsiteX12" fmla="*/ 3919670 w 4207670"/>
              <a:gd name="connsiteY12" fmla="*/ 461138 h 461138"/>
              <a:gd name="connsiteX13" fmla="*/ 3919670 w 4207670"/>
              <a:gd name="connsiteY13" fmla="*/ 458757 h 461138"/>
              <a:gd name="connsiteX14" fmla="*/ 0 w 4207670"/>
              <a:gd name="connsiteY14" fmla="*/ 458756 h 461138"/>
              <a:gd name="connsiteX15" fmla="*/ 0 w 4207670"/>
              <a:gd name="connsiteY15" fmla="*/ 229379 h 461138"/>
              <a:gd name="connsiteX16" fmla="*/ 0 w 4207670"/>
              <a:gd name="connsiteY16"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60295 w 4207670"/>
              <a:gd name="connsiteY8" fmla="*/ 457043 h 461138"/>
              <a:gd name="connsiteX9" fmla="*/ 3958936 w 4207670"/>
              <a:gd name="connsiteY9" fmla="*/ 458756 h 461138"/>
              <a:gd name="connsiteX10" fmla="*/ 3943289 w 4207670"/>
              <a:gd name="connsiteY10" fmla="*/ 458757 h 461138"/>
              <a:gd name="connsiteX11" fmla="*/ 3919670 w 4207670"/>
              <a:gd name="connsiteY11" fmla="*/ 461138 h 461138"/>
              <a:gd name="connsiteX12" fmla="*/ 3919670 w 4207670"/>
              <a:gd name="connsiteY12" fmla="*/ 458757 h 461138"/>
              <a:gd name="connsiteX13" fmla="*/ 0 w 4207670"/>
              <a:gd name="connsiteY13" fmla="*/ 458756 h 461138"/>
              <a:gd name="connsiteX14" fmla="*/ 0 w 4207670"/>
              <a:gd name="connsiteY14" fmla="*/ 229379 h 461138"/>
              <a:gd name="connsiteX15" fmla="*/ 0 w 4207670"/>
              <a:gd name="connsiteY15"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60295 w 4207670"/>
              <a:gd name="connsiteY8" fmla="*/ 457043 h 461138"/>
              <a:gd name="connsiteX9" fmla="*/ 3943289 w 4207670"/>
              <a:gd name="connsiteY9" fmla="*/ 458757 h 461138"/>
              <a:gd name="connsiteX10" fmla="*/ 3919670 w 4207670"/>
              <a:gd name="connsiteY10" fmla="*/ 461138 h 461138"/>
              <a:gd name="connsiteX11" fmla="*/ 3919670 w 4207670"/>
              <a:gd name="connsiteY11" fmla="*/ 458757 h 461138"/>
              <a:gd name="connsiteX12" fmla="*/ 0 w 4207670"/>
              <a:gd name="connsiteY12" fmla="*/ 458756 h 461138"/>
              <a:gd name="connsiteX13" fmla="*/ 0 w 4207670"/>
              <a:gd name="connsiteY13" fmla="*/ 229379 h 461138"/>
              <a:gd name="connsiteX14" fmla="*/ 0 w 4207670"/>
              <a:gd name="connsiteY14"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43289 w 4207670"/>
              <a:gd name="connsiteY8" fmla="*/ 458757 h 461138"/>
              <a:gd name="connsiteX9" fmla="*/ 3919670 w 4207670"/>
              <a:gd name="connsiteY9" fmla="*/ 461138 h 461138"/>
              <a:gd name="connsiteX10" fmla="*/ 3919670 w 4207670"/>
              <a:gd name="connsiteY10" fmla="*/ 458757 h 461138"/>
              <a:gd name="connsiteX11" fmla="*/ 0 w 4207670"/>
              <a:gd name="connsiteY11" fmla="*/ 458756 h 461138"/>
              <a:gd name="connsiteX12" fmla="*/ 0 w 4207670"/>
              <a:gd name="connsiteY12" fmla="*/ 229379 h 461138"/>
              <a:gd name="connsiteX13" fmla="*/ 0 w 4207670"/>
              <a:gd name="connsiteY13"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19670 w 4207670"/>
              <a:gd name="connsiteY8" fmla="*/ 461138 h 461138"/>
              <a:gd name="connsiteX9" fmla="*/ 3919670 w 4207670"/>
              <a:gd name="connsiteY9" fmla="*/ 458757 h 461138"/>
              <a:gd name="connsiteX10" fmla="*/ 0 w 4207670"/>
              <a:gd name="connsiteY10" fmla="*/ 458756 h 461138"/>
              <a:gd name="connsiteX11" fmla="*/ 0 w 4207670"/>
              <a:gd name="connsiteY11" fmla="*/ 229379 h 461138"/>
              <a:gd name="connsiteX12" fmla="*/ 0 w 4207670"/>
              <a:gd name="connsiteY12"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19670 w 4207670"/>
              <a:gd name="connsiteY8" fmla="*/ 461138 h 461138"/>
              <a:gd name="connsiteX9" fmla="*/ 4086357 w 4207670"/>
              <a:gd name="connsiteY9" fmla="*/ 456376 h 461138"/>
              <a:gd name="connsiteX10" fmla="*/ 0 w 4207670"/>
              <a:gd name="connsiteY10" fmla="*/ 458756 h 461138"/>
              <a:gd name="connsiteX11" fmla="*/ 0 w 4207670"/>
              <a:gd name="connsiteY11" fmla="*/ 229379 h 461138"/>
              <a:gd name="connsiteX12" fmla="*/ 0 w 4207670"/>
              <a:gd name="connsiteY12" fmla="*/ 0 h 461138"/>
              <a:gd name="connsiteX0" fmla="*/ 0 w 4207670"/>
              <a:gd name="connsiteY0" fmla="*/ 0 h 461138"/>
              <a:gd name="connsiteX1" fmla="*/ 245874 w 4207670"/>
              <a:gd name="connsiteY1" fmla="*/ 0 h 461138"/>
              <a:gd name="connsiteX2" fmla="*/ 3919668 w 4207670"/>
              <a:gd name="connsiteY2" fmla="*/ 0 h 461138"/>
              <a:gd name="connsiteX3" fmla="*/ 4004235 w 4207670"/>
              <a:gd name="connsiteY3" fmla="*/ 0 h 461138"/>
              <a:gd name="connsiteX4" fmla="*/ 4204800 w 4207670"/>
              <a:gd name="connsiteY4" fmla="*/ 0 h 461138"/>
              <a:gd name="connsiteX5" fmla="*/ 4207669 w 4207670"/>
              <a:gd name="connsiteY5" fmla="*/ 0 h 461138"/>
              <a:gd name="connsiteX6" fmla="*/ 4207669 w 4207670"/>
              <a:gd name="connsiteY6" fmla="*/ 172615 h 461138"/>
              <a:gd name="connsiteX7" fmla="*/ 4207670 w 4207670"/>
              <a:gd name="connsiteY7" fmla="*/ 173138 h 461138"/>
              <a:gd name="connsiteX8" fmla="*/ 3919670 w 4207670"/>
              <a:gd name="connsiteY8" fmla="*/ 461138 h 461138"/>
              <a:gd name="connsiteX9" fmla="*/ 4086357 w 4207670"/>
              <a:gd name="connsiteY9" fmla="*/ 456376 h 461138"/>
              <a:gd name="connsiteX10" fmla="*/ 0 w 4207670"/>
              <a:gd name="connsiteY10" fmla="*/ 458756 h 461138"/>
              <a:gd name="connsiteX11" fmla="*/ 0 w 4207670"/>
              <a:gd name="connsiteY11" fmla="*/ 229379 h 461138"/>
              <a:gd name="connsiteX12" fmla="*/ 0 w 4207670"/>
              <a:gd name="connsiteY12" fmla="*/ 0 h 461138"/>
              <a:gd name="connsiteX0" fmla="*/ 0 w 4207670"/>
              <a:gd name="connsiteY0" fmla="*/ 0 h 458756"/>
              <a:gd name="connsiteX1" fmla="*/ 245874 w 4207670"/>
              <a:gd name="connsiteY1" fmla="*/ 0 h 458756"/>
              <a:gd name="connsiteX2" fmla="*/ 3919668 w 4207670"/>
              <a:gd name="connsiteY2" fmla="*/ 0 h 458756"/>
              <a:gd name="connsiteX3" fmla="*/ 4004235 w 4207670"/>
              <a:gd name="connsiteY3" fmla="*/ 0 h 458756"/>
              <a:gd name="connsiteX4" fmla="*/ 4204800 w 4207670"/>
              <a:gd name="connsiteY4" fmla="*/ 0 h 458756"/>
              <a:gd name="connsiteX5" fmla="*/ 4207669 w 4207670"/>
              <a:gd name="connsiteY5" fmla="*/ 0 h 458756"/>
              <a:gd name="connsiteX6" fmla="*/ 4207669 w 4207670"/>
              <a:gd name="connsiteY6" fmla="*/ 172615 h 458756"/>
              <a:gd name="connsiteX7" fmla="*/ 4207670 w 4207670"/>
              <a:gd name="connsiteY7" fmla="*/ 173138 h 458756"/>
              <a:gd name="connsiteX8" fmla="*/ 4086357 w 4207670"/>
              <a:gd name="connsiteY8" fmla="*/ 456376 h 458756"/>
              <a:gd name="connsiteX9" fmla="*/ 0 w 4207670"/>
              <a:gd name="connsiteY9" fmla="*/ 458756 h 458756"/>
              <a:gd name="connsiteX10" fmla="*/ 0 w 4207670"/>
              <a:gd name="connsiteY10" fmla="*/ 229379 h 458756"/>
              <a:gd name="connsiteX11" fmla="*/ 0 w 4207670"/>
              <a:gd name="connsiteY11" fmla="*/ 0 h 458756"/>
              <a:gd name="connsiteX0" fmla="*/ 0 w 4207670"/>
              <a:gd name="connsiteY0" fmla="*/ 0 h 458757"/>
              <a:gd name="connsiteX1" fmla="*/ 245874 w 4207670"/>
              <a:gd name="connsiteY1" fmla="*/ 0 h 458757"/>
              <a:gd name="connsiteX2" fmla="*/ 3919668 w 4207670"/>
              <a:gd name="connsiteY2" fmla="*/ 0 h 458757"/>
              <a:gd name="connsiteX3" fmla="*/ 4004235 w 4207670"/>
              <a:gd name="connsiteY3" fmla="*/ 0 h 458757"/>
              <a:gd name="connsiteX4" fmla="*/ 4204800 w 4207670"/>
              <a:gd name="connsiteY4" fmla="*/ 0 h 458757"/>
              <a:gd name="connsiteX5" fmla="*/ 4207669 w 4207670"/>
              <a:gd name="connsiteY5" fmla="*/ 0 h 458757"/>
              <a:gd name="connsiteX6" fmla="*/ 4207669 w 4207670"/>
              <a:gd name="connsiteY6" fmla="*/ 172615 h 458757"/>
              <a:gd name="connsiteX7" fmla="*/ 4207670 w 4207670"/>
              <a:gd name="connsiteY7" fmla="*/ 173138 h 458757"/>
              <a:gd name="connsiteX8" fmla="*/ 4086357 w 4207670"/>
              <a:gd name="connsiteY8" fmla="*/ 458757 h 458757"/>
              <a:gd name="connsiteX9" fmla="*/ 0 w 4207670"/>
              <a:gd name="connsiteY9" fmla="*/ 458756 h 458757"/>
              <a:gd name="connsiteX10" fmla="*/ 0 w 4207670"/>
              <a:gd name="connsiteY10" fmla="*/ 229379 h 458757"/>
              <a:gd name="connsiteX11" fmla="*/ 0 w 4207670"/>
              <a:gd name="connsiteY11" fmla="*/ 0 h 458757"/>
              <a:gd name="connsiteX0" fmla="*/ 0 w 4207670"/>
              <a:gd name="connsiteY0" fmla="*/ 0 h 458757"/>
              <a:gd name="connsiteX1" fmla="*/ 245874 w 4207670"/>
              <a:gd name="connsiteY1" fmla="*/ 0 h 458757"/>
              <a:gd name="connsiteX2" fmla="*/ 3919668 w 4207670"/>
              <a:gd name="connsiteY2" fmla="*/ 0 h 458757"/>
              <a:gd name="connsiteX3" fmla="*/ 4004235 w 4207670"/>
              <a:gd name="connsiteY3" fmla="*/ 0 h 458757"/>
              <a:gd name="connsiteX4" fmla="*/ 4204800 w 4207670"/>
              <a:gd name="connsiteY4" fmla="*/ 0 h 458757"/>
              <a:gd name="connsiteX5" fmla="*/ 4207669 w 4207670"/>
              <a:gd name="connsiteY5" fmla="*/ 0 h 458757"/>
              <a:gd name="connsiteX6" fmla="*/ 4207669 w 4207670"/>
              <a:gd name="connsiteY6" fmla="*/ 172615 h 458757"/>
              <a:gd name="connsiteX7" fmla="*/ 4207670 w 4207670"/>
              <a:gd name="connsiteY7" fmla="*/ 173138 h 458757"/>
              <a:gd name="connsiteX8" fmla="*/ 4086357 w 4207670"/>
              <a:gd name="connsiteY8" fmla="*/ 458757 h 458757"/>
              <a:gd name="connsiteX9" fmla="*/ 0 w 4207670"/>
              <a:gd name="connsiteY9" fmla="*/ 458756 h 458757"/>
              <a:gd name="connsiteX10" fmla="*/ 0 w 4207670"/>
              <a:gd name="connsiteY10" fmla="*/ 229379 h 458757"/>
              <a:gd name="connsiteX11" fmla="*/ 0 w 4207670"/>
              <a:gd name="connsiteY11" fmla="*/ 0 h 458757"/>
              <a:gd name="connsiteX0" fmla="*/ 0 w 4214354"/>
              <a:gd name="connsiteY0" fmla="*/ 0 h 458757"/>
              <a:gd name="connsiteX1" fmla="*/ 245874 w 4214354"/>
              <a:gd name="connsiteY1" fmla="*/ 0 h 458757"/>
              <a:gd name="connsiteX2" fmla="*/ 3919668 w 4214354"/>
              <a:gd name="connsiteY2" fmla="*/ 0 h 458757"/>
              <a:gd name="connsiteX3" fmla="*/ 4004235 w 4214354"/>
              <a:gd name="connsiteY3" fmla="*/ 0 h 458757"/>
              <a:gd name="connsiteX4" fmla="*/ 4204800 w 4214354"/>
              <a:gd name="connsiteY4" fmla="*/ 0 h 458757"/>
              <a:gd name="connsiteX5" fmla="*/ 4207669 w 4214354"/>
              <a:gd name="connsiteY5" fmla="*/ 0 h 458757"/>
              <a:gd name="connsiteX6" fmla="*/ 4207669 w 4214354"/>
              <a:gd name="connsiteY6" fmla="*/ 172615 h 458757"/>
              <a:gd name="connsiteX7" fmla="*/ 4207670 w 4214354"/>
              <a:gd name="connsiteY7" fmla="*/ 173138 h 458757"/>
              <a:gd name="connsiteX8" fmla="*/ 4086357 w 4214354"/>
              <a:gd name="connsiteY8" fmla="*/ 458757 h 458757"/>
              <a:gd name="connsiteX9" fmla="*/ 0 w 4214354"/>
              <a:gd name="connsiteY9" fmla="*/ 458756 h 458757"/>
              <a:gd name="connsiteX10" fmla="*/ 0 w 4214354"/>
              <a:gd name="connsiteY10" fmla="*/ 229379 h 458757"/>
              <a:gd name="connsiteX11" fmla="*/ 0 w 4214354"/>
              <a:gd name="connsiteY11" fmla="*/ 0 h 458757"/>
              <a:gd name="connsiteX0" fmla="*/ 0 w 4217545"/>
              <a:gd name="connsiteY0" fmla="*/ 0 h 458757"/>
              <a:gd name="connsiteX1" fmla="*/ 245874 w 4217545"/>
              <a:gd name="connsiteY1" fmla="*/ 0 h 458757"/>
              <a:gd name="connsiteX2" fmla="*/ 3919668 w 4217545"/>
              <a:gd name="connsiteY2" fmla="*/ 0 h 458757"/>
              <a:gd name="connsiteX3" fmla="*/ 4004235 w 4217545"/>
              <a:gd name="connsiteY3" fmla="*/ 0 h 458757"/>
              <a:gd name="connsiteX4" fmla="*/ 4204800 w 4217545"/>
              <a:gd name="connsiteY4" fmla="*/ 0 h 458757"/>
              <a:gd name="connsiteX5" fmla="*/ 4207669 w 4217545"/>
              <a:gd name="connsiteY5" fmla="*/ 0 h 458757"/>
              <a:gd name="connsiteX6" fmla="*/ 4207669 w 4217545"/>
              <a:gd name="connsiteY6" fmla="*/ 172615 h 458757"/>
              <a:gd name="connsiteX7" fmla="*/ 4212432 w 4217545"/>
              <a:gd name="connsiteY7" fmla="*/ 292201 h 458757"/>
              <a:gd name="connsiteX8" fmla="*/ 4086357 w 4217545"/>
              <a:gd name="connsiteY8" fmla="*/ 458757 h 458757"/>
              <a:gd name="connsiteX9" fmla="*/ 0 w 4217545"/>
              <a:gd name="connsiteY9" fmla="*/ 458756 h 458757"/>
              <a:gd name="connsiteX10" fmla="*/ 0 w 4217545"/>
              <a:gd name="connsiteY10" fmla="*/ 229379 h 458757"/>
              <a:gd name="connsiteX11" fmla="*/ 0 w 4217545"/>
              <a:gd name="connsiteY11" fmla="*/ 0 h 458757"/>
              <a:gd name="connsiteX0" fmla="*/ 0 w 4216499"/>
              <a:gd name="connsiteY0" fmla="*/ 0 h 458757"/>
              <a:gd name="connsiteX1" fmla="*/ 245874 w 4216499"/>
              <a:gd name="connsiteY1" fmla="*/ 0 h 458757"/>
              <a:gd name="connsiteX2" fmla="*/ 3919668 w 4216499"/>
              <a:gd name="connsiteY2" fmla="*/ 0 h 458757"/>
              <a:gd name="connsiteX3" fmla="*/ 4004235 w 4216499"/>
              <a:gd name="connsiteY3" fmla="*/ 0 h 458757"/>
              <a:gd name="connsiteX4" fmla="*/ 4204800 w 4216499"/>
              <a:gd name="connsiteY4" fmla="*/ 0 h 458757"/>
              <a:gd name="connsiteX5" fmla="*/ 4207669 w 4216499"/>
              <a:gd name="connsiteY5" fmla="*/ 0 h 458757"/>
              <a:gd name="connsiteX6" fmla="*/ 4207669 w 4216499"/>
              <a:gd name="connsiteY6" fmla="*/ 172615 h 458757"/>
              <a:gd name="connsiteX7" fmla="*/ 4212432 w 4216499"/>
              <a:gd name="connsiteY7" fmla="*/ 292201 h 458757"/>
              <a:gd name="connsiteX8" fmla="*/ 4086357 w 4216499"/>
              <a:gd name="connsiteY8" fmla="*/ 458757 h 458757"/>
              <a:gd name="connsiteX9" fmla="*/ 0 w 4216499"/>
              <a:gd name="connsiteY9" fmla="*/ 458756 h 458757"/>
              <a:gd name="connsiteX10" fmla="*/ 0 w 4216499"/>
              <a:gd name="connsiteY10" fmla="*/ 229379 h 458757"/>
              <a:gd name="connsiteX11" fmla="*/ 0 w 4216499"/>
              <a:gd name="connsiteY11" fmla="*/ 0 h 458757"/>
              <a:gd name="connsiteX0" fmla="*/ 0 w 4218593"/>
              <a:gd name="connsiteY0" fmla="*/ 0 h 458757"/>
              <a:gd name="connsiteX1" fmla="*/ 245874 w 4218593"/>
              <a:gd name="connsiteY1" fmla="*/ 0 h 458757"/>
              <a:gd name="connsiteX2" fmla="*/ 3919668 w 4218593"/>
              <a:gd name="connsiteY2" fmla="*/ 0 h 458757"/>
              <a:gd name="connsiteX3" fmla="*/ 4004235 w 4218593"/>
              <a:gd name="connsiteY3" fmla="*/ 0 h 458757"/>
              <a:gd name="connsiteX4" fmla="*/ 4204800 w 4218593"/>
              <a:gd name="connsiteY4" fmla="*/ 0 h 458757"/>
              <a:gd name="connsiteX5" fmla="*/ 4207669 w 4218593"/>
              <a:gd name="connsiteY5" fmla="*/ 0 h 458757"/>
              <a:gd name="connsiteX6" fmla="*/ 4207669 w 4218593"/>
              <a:gd name="connsiteY6" fmla="*/ 172615 h 458757"/>
              <a:gd name="connsiteX7" fmla="*/ 4212432 w 4218593"/>
              <a:gd name="connsiteY7" fmla="*/ 292201 h 458757"/>
              <a:gd name="connsiteX8" fmla="*/ 4086357 w 4218593"/>
              <a:gd name="connsiteY8" fmla="*/ 458757 h 458757"/>
              <a:gd name="connsiteX9" fmla="*/ 0 w 4218593"/>
              <a:gd name="connsiteY9" fmla="*/ 458756 h 458757"/>
              <a:gd name="connsiteX10" fmla="*/ 0 w 4218593"/>
              <a:gd name="connsiteY10" fmla="*/ 229379 h 458757"/>
              <a:gd name="connsiteX11" fmla="*/ 0 w 4218593"/>
              <a:gd name="connsiteY11" fmla="*/ 0 h 458757"/>
              <a:gd name="connsiteX0" fmla="*/ 0 w 4213903"/>
              <a:gd name="connsiteY0" fmla="*/ 0 h 458757"/>
              <a:gd name="connsiteX1" fmla="*/ 245874 w 4213903"/>
              <a:gd name="connsiteY1" fmla="*/ 0 h 458757"/>
              <a:gd name="connsiteX2" fmla="*/ 3919668 w 4213903"/>
              <a:gd name="connsiteY2" fmla="*/ 0 h 458757"/>
              <a:gd name="connsiteX3" fmla="*/ 4004235 w 4213903"/>
              <a:gd name="connsiteY3" fmla="*/ 0 h 458757"/>
              <a:gd name="connsiteX4" fmla="*/ 4204800 w 4213903"/>
              <a:gd name="connsiteY4" fmla="*/ 0 h 458757"/>
              <a:gd name="connsiteX5" fmla="*/ 4207669 w 4213903"/>
              <a:gd name="connsiteY5" fmla="*/ 0 h 458757"/>
              <a:gd name="connsiteX6" fmla="*/ 4207669 w 4213903"/>
              <a:gd name="connsiteY6" fmla="*/ 172615 h 458757"/>
              <a:gd name="connsiteX7" fmla="*/ 4212432 w 4213903"/>
              <a:gd name="connsiteY7" fmla="*/ 292201 h 458757"/>
              <a:gd name="connsiteX8" fmla="*/ 4086357 w 4213903"/>
              <a:gd name="connsiteY8" fmla="*/ 458757 h 458757"/>
              <a:gd name="connsiteX9" fmla="*/ 0 w 4213903"/>
              <a:gd name="connsiteY9" fmla="*/ 458756 h 458757"/>
              <a:gd name="connsiteX10" fmla="*/ 0 w 4213903"/>
              <a:gd name="connsiteY10" fmla="*/ 229379 h 458757"/>
              <a:gd name="connsiteX11" fmla="*/ 0 w 4213903"/>
              <a:gd name="connsiteY11" fmla="*/ 0 h 458757"/>
              <a:gd name="connsiteX0" fmla="*/ 0 w 4213903"/>
              <a:gd name="connsiteY0" fmla="*/ 0 h 462682"/>
              <a:gd name="connsiteX1" fmla="*/ 245874 w 4213903"/>
              <a:gd name="connsiteY1" fmla="*/ 0 h 462682"/>
              <a:gd name="connsiteX2" fmla="*/ 3919668 w 4213903"/>
              <a:gd name="connsiteY2" fmla="*/ 0 h 462682"/>
              <a:gd name="connsiteX3" fmla="*/ 4004235 w 4213903"/>
              <a:gd name="connsiteY3" fmla="*/ 0 h 462682"/>
              <a:gd name="connsiteX4" fmla="*/ 4204800 w 4213903"/>
              <a:gd name="connsiteY4" fmla="*/ 0 h 462682"/>
              <a:gd name="connsiteX5" fmla="*/ 4207669 w 4213903"/>
              <a:gd name="connsiteY5" fmla="*/ 0 h 462682"/>
              <a:gd name="connsiteX6" fmla="*/ 4207669 w 4213903"/>
              <a:gd name="connsiteY6" fmla="*/ 172615 h 462682"/>
              <a:gd name="connsiteX7" fmla="*/ 4212432 w 4213903"/>
              <a:gd name="connsiteY7" fmla="*/ 320776 h 462682"/>
              <a:gd name="connsiteX8" fmla="*/ 4086357 w 4213903"/>
              <a:gd name="connsiteY8" fmla="*/ 458757 h 462682"/>
              <a:gd name="connsiteX9" fmla="*/ 0 w 4213903"/>
              <a:gd name="connsiteY9" fmla="*/ 458756 h 462682"/>
              <a:gd name="connsiteX10" fmla="*/ 0 w 4213903"/>
              <a:gd name="connsiteY10" fmla="*/ 229379 h 462682"/>
              <a:gd name="connsiteX11" fmla="*/ 0 w 4213903"/>
              <a:gd name="connsiteY11" fmla="*/ 0 h 462682"/>
              <a:gd name="connsiteX0" fmla="*/ 0 w 4213903"/>
              <a:gd name="connsiteY0" fmla="*/ 0 h 458757"/>
              <a:gd name="connsiteX1" fmla="*/ 245874 w 4213903"/>
              <a:gd name="connsiteY1" fmla="*/ 0 h 458757"/>
              <a:gd name="connsiteX2" fmla="*/ 3919668 w 4213903"/>
              <a:gd name="connsiteY2" fmla="*/ 0 h 458757"/>
              <a:gd name="connsiteX3" fmla="*/ 4004235 w 4213903"/>
              <a:gd name="connsiteY3" fmla="*/ 0 h 458757"/>
              <a:gd name="connsiteX4" fmla="*/ 4204800 w 4213903"/>
              <a:gd name="connsiteY4" fmla="*/ 0 h 458757"/>
              <a:gd name="connsiteX5" fmla="*/ 4207669 w 4213903"/>
              <a:gd name="connsiteY5" fmla="*/ 0 h 458757"/>
              <a:gd name="connsiteX6" fmla="*/ 4207669 w 4213903"/>
              <a:gd name="connsiteY6" fmla="*/ 172615 h 458757"/>
              <a:gd name="connsiteX7" fmla="*/ 4212432 w 4213903"/>
              <a:gd name="connsiteY7" fmla="*/ 320776 h 458757"/>
              <a:gd name="connsiteX8" fmla="*/ 4086357 w 4213903"/>
              <a:gd name="connsiteY8" fmla="*/ 458757 h 458757"/>
              <a:gd name="connsiteX9" fmla="*/ 0 w 4213903"/>
              <a:gd name="connsiteY9" fmla="*/ 458756 h 458757"/>
              <a:gd name="connsiteX10" fmla="*/ 0 w 4213903"/>
              <a:gd name="connsiteY10" fmla="*/ 229379 h 458757"/>
              <a:gd name="connsiteX11" fmla="*/ 0 w 4213903"/>
              <a:gd name="connsiteY11" fmla="*/ 0 h 458757"/>
              <a:gd name="connsiteX0" fmla="*/ 0 w 4214812"/>
              <a:gd name="connsiteY0" fmla="*/ 0 h 458757"/>
              <a:gd name="connsiteX1" fmla="*/ 245874 w 4214812"/>
              <a:gd name="connsiteY1" fmla="*/ 0 h 458757"/>
              <a:gd name="connsiteX2" fmla="*/ 3919668 w 4214812"/>
              <a:gd name="connsiteY2" fmla="*/ 0 h 458757"/>
              <a:gd name="connsiteX3" fmla="*/ 4004235 w 4214812"/>
              <a:gd name="connsiteY3" fmla="*/ 0 h 458757"/>
              <a:gd name="connsiteX4" fmla="*/ 4204800 w 4214812"/>
              <a:gd name="connsiteY4" fmla="*/ 0 h 458757"/>
              <a:gd name="connsiteX5" fmla="*/ 4207669 w 4214812"/>
              <a:gd name="connsiteY5" fmla="*/ 0 h 458757"/>
              <a:gd name="connsiteX6" fmla="*/ 4214812 w 4214812"/>
              <a:gd name="connsiteY6" fmla="*/ 70221 h 458757"/>
              <a:gd name="connsiteX7" fmla="*/ 4212432 w 4214812"/>
              <a:gd name="connsiteY7" fmla="*/ 320776 h 458757"/>
              <a:gd name="connsiteX8" fmla="*/ 4086357 w 4214812"/>
              <a:gd name="connsiteY8" fmla="*/ 458757 h 458757"/>
              <a:gd name="connsiteX9" fmla="*/ 0 w 4214812"/>
              <a:gd name="connsiteY9" fmla="*/ 458756 h 458757"/>
              <a:gd name="connsiteX10" fmla="*/ 0 w 4214812"/>
              <a:gd name="connsiteY10" fmla="*/ 229379 h 458757"/>
              <a:gd name="connsiteX11" fmla="*/ 0 w 4214812"/>
              <a:gd name="connsiteY11" fmla="*/ 0 h 458757"/>
              <a:gd name="connsiteX0" fmla="*/ 0 w 4255293"/>
              <a:gd name="connsiteY0" fmla="*/ 0 h 458757"/>
              <a:gd name="connsiteX1" fmla="*/ 245874 w 4255293"/>
              <a:gd name="connsiteY1" fmla="*/ 0 h 458757"/>
              <a:gd name="connsiteX2" fmla="*/ 3919668 w 4255293"/>
              <a:gd name="connsiteY2" fmla="*/ 0 h 458757"/>
              <a:gd name="connsiteX3" fmla="*/ 4004235 w 4255293"/>
              <a:gd name="connsiteY3" fmla="*/ 0 h 458757"/>
              <a:gd name="connsiteX4" fmla="*/ 4204800 w 4255293"/>
              <a:gd name="connsiteY4" fmla="*/ 0 h 458757"/>
              <a:gd name="connsiteX5" fmla="*/ 4207669 w 4255293"/>
              <a:gd name="connsiteY5" fmla="*/ 0 h 458757"/>
              <a:gd name="connsiteX6" fmla="*/ 4255293 w 4255293"/>
              <a:gd name="connsiteY6" fmla="*/ 117846 h 458757"/>
              <a:gd name="connsiteX7" fmla="*/ 4212432 w 4255293"/>
              <a:gd name="connsiteY7" fmla="*/ 320776 h 458757"/>
              <a:gd name="connsiteX8" fmla="*/ 4086357 w 4255293"/>
              <a:gd name="connsiteY8" fmla="*/ 458757 h 458757"/>
              <a:gd name="connsiteX9" fmla="*/ 0 w 4255293"/>
              <a:gd name="connsiteY9" fmla="*/ 458756 h 458757"/>
              <a:gd name="connsiteX10" fmla="*/ 0 w 4255293"/>
              <a:gd name="connsiteY10" fmla="*/ 229379 h 458757"/>
              <a:gd name="connsiteX11" fmla="*/ 0 w 4255293"/>
              <a:gd name="connsiteY11" fmla="*/ 0 h 458757"/>
              <a:gd name="connsiteX0" fmla="*/ 0 w 4213903"/>
              <a:gd name="connsiteY0" fmla="*/ 0 h 458757"/>
              <a:gd name="connsiteX1" fmla="*/ 245874 w 4213903"/>
              <a:gd name="connsiteY1" fmla="*/ 0 h 458757"/>
              <a:gd name="connsiteX2" fmla="*/ 3919668 w 4213903"/>
              <a:gd name="connsiteY2" fmla="*/ 0 h 458757"/>
              <a:gd name="connsiteX3" fmla="*/ 4004235 w 4213903"/>
              <a:gd name="connsiteY3" fmla="*/ 0 h 458757"/>
              <a:gd name="connsiteX4" fmla="*/ 4204800 w 4213903"/>
              <a:gd name="connsiteY4" fmla="*/ 0 h 458757"/>
              <a:gd name="connsiteX5" fmla="*/ 4207669 w 4213903"/>
              <a:gd name="connsiteY5" fmla="*/ 0 h 458757"/>
              <a:gd name="connsiteX6" fmla="*/ 4212432 w 4213903"/>
              <a:gd name="connsiteY6" fmla="*/ 320776 h 458757"/>
              <a:gd name="connsiteX7" fmla="*/ 4086357 w 4213903"/>
              <a:gd name="connsiteY7" fmla="*/ 458757 h 458757"/>
              <a:gd name="connsiteX8" fmla="*/ 0 w 4213903"/>
              <a:gd name="connsiteY8" fmla="*/ 458756 h 458757"/>
              <a:gd name="connsiteX9" fmla="*/ 0 w 4213903"/>
              <a:gd name="connsiteY9" fmla="*/ 229379 h 458757"/>
              <a:gd name="connsiteX10" fmla="*/ 0 w 4213903"/>
              <a:gd name="connsiteY10" fmla="*/ 0 h 458757"/>
              <a:gd name="connsiteX0" fmla="*/ 0 w 4212432"/>
              <a:gd name="connsiteY0" fmla="*/ 0 h 458757"/>
              <a:gd name="connsiteX1" fmla="*/ 245874 w 4212432"/>
              <a:gd name="connsiteY1" fmla="*/ 0 h 458757"/>
              <a:gd name="connsiteX2" fmla="*/ 3919668 w 4212432"/>
              <a:gd name="connsiteY2" fmla="*/ 0 h 458757"/>
              <a:gd name="connsiteX3" fmla="*/ 4004235 w 4212432"/>
              <a:gd name="connsiteY3" fmla="*/ 0 h 458757"/>
              <a:gd name="connsiteX4" fmla="*/ 4204800 w 4212432"/>
              <a:gd name="connsiteY4" fmla="*/ 0 h 458757"/>
              <a:gd name="connsiteX5" fmla="*/ 4207669 w 4212432"/>
              <a:gd name="connsiteY5" fmla="*/ 0 h 458757"/>
              <a:gd name="connsiteX6" fmla="*/ 4212432 w 4212432"/>
              <a:gd name="connsiteY6" fmla="*/ 320776 h 458757"/>
              <a:gd name="connsiteX7" fmla="*/ 3972057 w 4212432"/>
              <a:gd name="connsiteY7" fmla="*/ 458757 h 458757"/>
              <a:gd name="connsiteX8" fmla="*/ 0 w 4212432"/>
              <a:gd name="connsiteY8" fmla="*/ 458756 h 458757"/>
              <a:gd name="connsiteX9" fmla="*/ 0 w 4212432"/>
              <a:gd name="connsiteY9" fmla="*/ 229379 h 458757"/>
              <a:gd name="connsiteX10" fmla="*/ 0 w 4212432"/>
              <a:gd name="connsiteY10" fmla="*/ 0 h 458757"/>
              <a:gd name="connsiteX0" fmla="*/ 0 w 4212432"/>
              <a:gd name="connsiteY0" fmla="*/ 0 h 458757"/>
              <a:gd name="connsiteX1" fmla="*/ 245874 w 4212432"/>
              <a:gd name="connsiteY1" fmla="*/ 0 h 458757"/>
              <a:gd name="connsiteX2" fmla="*/ 3919668 w 4212432"/>
              <a:gd name="connsiteY2" fmla="*/ 0 h 458757"/>
              <a:gd name="connsiteX3" fmla="*/ 4004235 w 4212432"/>
              <a:gd name="connsiteY3" fmla="*/ 0 h 458757"/>
              <a:gd name="connsiteX4" fmla="*/ 4204800 w 4212432"/>
              <a:gd name="connsiteY4" fmla="*/ 0 h 458757"/>
              <a:gd name="connsiteX5" fmla="*/ 4207669 w 4212432"/>
              <a:gd name="connsiteY5" fmla="*/ 0 h 458757"/>
              <a:gd name="connsiteX6" fmla="*/ 4212432 w 4212432"/>
              <a:gd name="connsiteY6" fmla="*/ 320776 h 458757"/>
              <a:gd name="connsiteX7" fmla="*/ 3914907 w 4212432"/>
              <a:gd name="connsiteY7" fmla="*/ 458757 h 458757"/>
              <a:gd name="connsiteX8" fmla="*/ 0 w 4212432"/>
              <a:gd name="connsiteY8" fmla="*/ 458756 h 458757"/>
              <a:gd name="connsiteX9" fmla="*/ 0 w 4212432"/>
              <a:gd name="connsiteY9" fmla="*/ 229379 h 458757"/>
              <a:gd name="connsiteX10" fmla="*/ 0 w 4212432"/>
              <a:gd name="connsiteY10" fmla="*/ 0 h 458757"/>
              <a:gd name="connsiteX0" fmla="*/ 0 w 4212432"/>
              <a:gd name="connsiteY0" fmla="*/ 0 h 458896"/>
              <a:gd name="connsiteX1" fmla="*/ 245874 w 4212432"/>
              <a:gd name="connsiteY1" fmla="*/ 0 h 458896"/>
              <a:gd name="connsiteX2" fmla="*/ 3919668 w 4212432"/>
              <a:gd name="connsiteY2" fmla="*/ 0 h 458896"/>
              <a:gd name="connsiteX3" fmla="*/ 4004235 w 4212432"/>
              <a:gd name="connsiteY3" fmla="*/ 0 h 458896"/>
              <a:gd name="connsiteX4" fmla="*/ 4204800 w 4212432"/>
              <a:gd name="connsiteY4" fmla="*/ 0 h 458896"/>
              <a:gd name="connsiteX5" fmla="*/ 4207669 w 4212432"/>
              <a:gd name="connsiteY5" fmla="*/ 0 h 458896"/>
              <a:gd name="connsiteX6" fmla="*/ 4212432 w 4212432"/>
              <a:gd name="connsiteY6" fmla="*/ 320776 h 458896"/>
              <a:gd name="connsiteX7" fmla="*/ 3914907 w 4212432"/>
              <a:gd name="connsiteY7" fmla="*/ 458757 h 458896"/>
              <a:gd name="connsiteX8" fmla="*/ 0 w 4212432"/>
              <a:gd name="connsiteY8" fmla="*/ 458756 h 458896"/>
              <a:gd name="connsiteX9" fmla="*/ 0 w 4212432"/>
              <a:gd name="connsiteY9" fmla="*/ 229379 h 458896"/>
              <a:gd name="connsiteX10" fmla="*/ 0 w 4212432"/>
              <a:gd name="connsiteY10" fmla="*/ 0 h 458896"/>
              <a:gd name="connsiteX0" fmla="*/ 0 w 4212432"/>
              <a:gd name="connsiteY0" fmla="*/ 0 h 458896"/>
              <a:gd name="connsiteX1" fmla="*/ 245874 w 4212432"/>
              <a:gd name="connsiteY1" fmla="*/ 0 h 458896"/>
              <a:gd name="connsiteX2" fmla="*/ 3919668 w 4212432"/>
              <a:gd name="connsiteY2" fmla="*/ 0 h 458896"/>
              <a:gd name="connsiteX3" fmla="*/ 4004235 w 4212432"/>
              <a:gd name="connsiteY3" fmla="*/ 0 h 458896"/>
              <a:gd name="connsiteX4" fmla="*/ 4204800 w 4212432"/>
              <a:gd name="connsiteY4" fmla="*/ 0 h 458896"/>
              <a:gd name="connsiteX5" fmla="*/ 4207669 w 4212432"/>
              <a:gd name="connsiteY5" fmla="*/ 0 h 458896"/>
              <a:gd name="connsiteX6" fmla="*/ 4212432 w 4212432"/>
              <a:gd name="connsiteY6" fmla="*/ 320776 h 458896"/>
              <a:gd name="connsiteX7" fmla="*/ 3938720 w 4212432"/>
              <a:gd name="connsiteY7" fmla="*/ 458757 h 458896"/>
              <a:gd name="connsiteX8" fmla="*/ 0 w 4212432"/>
              <a:gd name="connsiteY8" fmla="*/ 458756 h 458896"/>
              <a:gd name="connsiteX9" fmla="*/ 0 w 4212432"/>
              <a:gd name="connsiteY9" fmla="*/ 229379 h 458896"/>
              <a:gd name="connsiteX10" fmla="*/ 0 w 4212432"/>
              <a:gd name="connsiteY10" fmla="*/ 0 h 458896"/>
              <a:gd name="connsiteX0" fmla="*/ 0 w 4212432"/>
              <a:gd name="connsiteY0" fmla="*/ 0 h 458896"/>
              <a:gd name="connsiteX1" fmla="*/ 245874 w 4212432"/>
              <a:gd name="connsiteY1" fmla="*/ 0 h 458896"/>
              <a:gd name="connsiteX2" fmla="*/ 3919668 w 4212432"/>
              <a:gd name="connsiteY2" fmla="*/ 0 h 458896"/>
              <a:gd name="connsiteX3" fmla="*/ 4004235 w 4212432"/>
              <a:gd name="connsiteY3" fmla="*/ 0 h 458896"/>
              <a:gd name="connsiteX4" fmla="*/ 4204800 w 4212432"/>
              <a:gd name="connsiteY4" fmla="*/ 0 h 458896"/>
              <a:gd name="connsiteX5" fmla="*/ 4207669 w 4212432"/>
              <a:gd name="connsiteY5" fmla="*/ 0 h 458896"/>
              <a:gd name="connsiteX6" fmla="*/ 4212432 w 4212432"/>
              <a:gd name="connsiteY6" fmla="*/ 320776 h 458896"/>
              <a:gd name="connsiteX7" fmla="*/ 3912526 w 4212432"/>
              <a:gd name="connsiteY7" fmla="*/ 458757 h 458896"/>
              <a:gd name="connsiteX8" fmla="*/ 0 w 4212432"/>
              <a:gd name="connsiteY8" fmla="*/ 458756 h 458896"/>
              <a:gd name="connsiteX9" fmla="*/ 0 w 4212432"/>
              <a:gd name="connsiteY9" fmla="*/ 229379 h 458896"/>
              <a:gd name="connsiteX10" fmla="*/ 0 w 4212432"/>
              <a:gd name="connsiteY10" fmla="*/ 0 h 458896"/>
              <a:gd name="connsiteX0" fmla="*/ 0 w 4208127"/>
              <a:gd name="connsiteY0" fmla="*/ 0 h 459153"/>
              <a:gd name="connsiteX1" fmla="*/ 245874 w 4208127"/>
              <a:gd name="connsiteY1" fmla="*/ 0 h 459153"/>
              <a:gd name="connsiteX2" fmla="*/ 3919668 w 4208127"/>
              <a:gd name="connsiteY2" fmla="*/ 0 h 459153"/>
              <a:gd name="connsiteX3" fmla="*/ 4004235 w 4208127"/>
              <a:gd name="connsiteY3" fmla="*/ 0 h 459153"/>
              <a:gd name="connsiteX4" fmla="*/ 4204800 w 4208127"/>
              <a:gd name="connsiteY4" fmla="*/ 0 h 459153"/>
              <a:gd name="connsiteX5" fmla="*/ 4207669 w 4208127"/>
              <a:gd name="connsiteY5" fmla="*/ 0 h 459153"/>
              <a:gd name="connsiteX6" fmla="*/ 4207670 w 4208127"/>
              <a:gd name="connsiteY6" fmla="*/ 325539 h 459153"/>
              <a:gd name="connsiteX7" fmla="*/ 3912526 w 4208127"/>
              <a:gd name="connsiteY7" fmla="*/ 458757 h 459153"/>
              <a:gd name="connsiteX8" fmla="*/ 0 w 4208127"/>
              <a:gd name="connsiteY8" fmla="*/ 458756 h 459153"/>
              <a:gd name="connsiteX9" fmla="*/ 0 w 4208127"/>
              <a:gd name="connsiteY9" fmla="*/ 229379 h 459153"/>
              <a:gd name="connsiteX10" fmla="*/ 0 w 4208127"/>
              <a:gd name="connsiteY10" fmla="*/ 0 h 459153"/>
              <a:gd name="connsiteX0" fmla="*/ 0 w 4212432"/>
              <a:gd name="connsiteY0" fmla="*/ 0 h 459346"/>
              <a:gd name="connsiteX1" fmla="*/ 245874 w 4212432"/>
              <a:gd name="connsiteY1" fmla="*/ 0 h 459346"/>
              <a:gd name="connsiteX2" fmla="*/ 3919668 w 4212432"/>
              <a:gd name="connsiteY2" fmla="*/ 0 h 459346"/>
              <a:gd name="connsiteX3" fmla="*/ 4004235 w 4212432"/>
              <a:gd name="connsiteY3" fmla="*/ 0 h 459346"/>
              <a:gd name="connsiteX4" fmla="*/ 4204800 w 4212432"/>
              <a:gd name="connsiteY4" fmla="*/ 0 h 459346"/>
              <a:gd name="connsiteX5" fmla="*/ 4207669 w 4212432"/>
              <a:gd name="connsiteY5" fmla="*/ 0 h 459346"/>
              <a:gd name="connsiteX6" fmla="*/ 4212432 w 4212432"/>
              <a:gd name="connsiteY6" fmla="*/ 327921 h 459346"/>
              <a:gd name="connsiteX7" fmla="*/ 3912526 w 4212432"/>
              <a:gd name="connsiteY7" fmla="*/ 458757 h 459346"/>
              <a:gd name="connsiteX8" fmla="*/ 0 w 4212432"/>
              <a:gd name="connsiteY8" fmla="*/ 458756 h 459346"/>
              <a:gd name="connsiteX9" fmla="*/ 0 w 4212432"/>
              <a:gd name="connsiteY9" fmla="*/ 229379 h 459346"/>
              <a:gd name="connsiteX10" fmla="*/ 0 w 4212432"/>
              <a:gd name="connsiteY10" fmla="*/ 0 h 459346"/>
              <a:gd name="connsiteX0" fmla="*/ 0 w 4212432"/>
              <a:gd name="connsiteY0" fmla="*/ 0 h 459346"/>
              <a:gd name="connsiteX1" fmla="*/ 245874 w 4212432"/>
              <a:gd name="connsiteY1" fmla="*/ 0 h 459346"/>
              <a:gd name="connsiteX2" fmla="*/ 3919668 w 4212432"/>
              <a:gd name="connsiteY2" fmla="*/ 0 h 459346"/>
              <a:gd name="connsiteX3" fmla="*/ 4004235 w 4212432"/>
              <a:gd name="connsiteY3" fmla="*/ 0 h 459346"/>
              <a:gd name="connsiteX4" fmla="*/ 4204800 w 4212432"/>
              <a:gd name="connsiteY4" fmla="*/ 0 h 459346"/>
              <a:gd name="connsiteX5" fmla="*/ 4207669 w 4212432"/>
              <a:gd name="connsiteY5" fmla="*/ 0 h 459346"/>
              <a:gd name="connsiteX6" fmla="*/ 4212432 w 4212432"/>
              <a:gd name="connsiteY6" fmla="*/ 327921 h 459346"/>
              <a:gd name="connsiteX7" fmla="*/ 3912526 w 4212432"/>
              <a:gd name="connsiteY7" fmla="*/ 458757 h 459346"/>
              <a:gd name="connsiteX8" fmla="*/ 0 w 4212432"/>
              <a:gd name="connsiteY8" fmla="*/ 458756 h 459346"/>
              <a:gd name="connsiteX9" fmla="*/ 0 w 4212432"/>
              <a:gd name="connsiteY9" fmla="*/ 229379 h 459346"/>
              <a:gd name="connsiteX10" fmla="*/ 0 w 4212432"/>
              <a:gd name="connsiteY10" fmla="*/ 0 h 459346"/>
              <a:gd name="connsiteX0" fmla="*/ 0 w 4212432"/>
              <a:gd name="connsiteY0" fmla="*/ 0 h 459346"/>
              <a:gd name="connsiteX1" fmla="*/ 245874 w 4212432"/>
              <a:gd name="connsiteY1" fmla="*/ 0 h 459346"/>
              <a:gd name="connsiteX2" fmla="*/ 3919668 w 4212432"/>
              <a:gd name="connsiteY2" fmla="*/ 0 h 459346"/>
              <a:gd name="connsiteX3" fmla="*/ 4204800 w 4212432"/>
              <a:gd name="connsiteY3" fmla="*/ 0 h 459346"/>
              <a:gd name="connsiteX4" fmla="*/ 4207669 w 4212432"/>
              <a:gd name="connsiteY4" fmla="*/ 0 h 459346"/>
              <a:gd name="connsiteX5" fmla="*/ 4212432 w 4212432"/>
              <a:gd name="connsiteY5" fmla="*/ 327921 h 459346"/>
              <a:gd name="connsiteX6" fmla="*/ 3912526 w 4212432"/>
              <a:gd name="connsiteY6" fmla="*/ 458757 h 459346"/>
              <a:gd name="connsiteX7" fmla="*/ 0 w 4212432"/>
              <a:gd name="connsiteY7" fmla="*/ 458756 h 459346"/>
              <a:gd name="connsiteX8" fmla="*/ 0 w 4212432"/>
              <a:gd name="connsiteY8" fmla="*/ 229379 h 459346"/>
              <a:gd name="connsiteX9" fmla="*/ 0 w 4212432"/>
              <a:gd name="connsiteY9" fmla="*/ 0 h 459346"/>
              <a:gd name="connsiteX0" fmla="*/ 0 w 4212432"/>
              <a:gd name="connsiteY0" fmla="*/ 0 h 459346"/>
              <a:gd name="connsiteX1" fmla="*/ 245874 w 4212432"/>
              <a:gd name="connsiteY1" fmla="*/ 0 h 459346"/>
              <a:gd name="connsiteX2" fmla="*/ 4204800 w 4212432"/>
              <a:gd name="connsiteY2" fmla="*/ 0 h 459346"/>
              <a:gd name="connsiteX3" fmla="*/ 4207669 w 4212432"/>
              <a:gd name="connsiteY3" fmla="*/ 0 h 459346"/>
              <a:gd name="connsiteX4" fmla="*/ 4212432 w 4212432"/>
              <a:gd name="connsiteY4" fmla="*/ 327921 h 459346"/>
              <a:gd name="connsiteX5" fmla="*/ 3912526 w 4212432"/>
              <a:gd name="connsiteY5" fmla="*/ 458757 h 459346"/>
              <a:gd name="connsiteX6" fmla="*/ 0 w 4212432"/>
              <a:gd name="connsiteY6" fmla="*/ 458756 h 459346"/>
              <a:gd name="connsiteX7" fmla="*/ 0 w 4212432"/>
              <a:gd name="connsiteY7" fmla="*/ 229379 h 459346"/>
              <a:gd name="connsiteX8" fmla="*/ 0 w 4212432"/>
              <a:gd name="connsiteY8" fmla="*/ 0 h 459346"/>
              <a:gd name="connsiteX0" fmla="*/ 0 w 4212432"/>
              <a:gd name="connsiteY0" fmla="*/ 0 h 459346"/>
              <a:gd name="connsiteX1" fmla="*/ 245874 w 4212432"/>
              <a:gd name="connsiteY1" fmla="*/ 0 h 459346"/>
              <a:gd name="connsiteX2" fmla="*/ 4204800 w 4212432"/>
              <a:gd name="connsiteY2" fmla="*/ 0 h 459346"/>
              <a:gd name="connsiteX3" fmla="*/ 4212432 w 4212432"/>
              <a:gd name="connsiteY3" fmla="*/ 327921 h 459346"/>
              <a:gd name="connsiteX4" fmla="*/ 3912526 w 4212432"/>
              <a:gd name="connsiteY4" fmla="*/ 458757 h 459346"/>
              <a:gd name="connsiteX5" fmla="*/ 0 w 4212432"/>
              <a:gd name="connsiteY5" fmla="*/ 458756 h 459346"/>
              <a:gd name="connsiteX6" fmla="*/ 0 w 4212432"/>
              <a:gd name="connsiteY6" fmla="*/ 229379 h 459346"/>
              <a:gd name="connsiteX7" fmla="*/ 0 w 4212432"/>
              <a:gd name="connsiteY7" fmla="*/ 0 h 459346"/>
              <a:gd name="connsiteX0" fmla="*/ 0 w 4212432"/>
              <a:gd name="connsiteY0" fmla="*/ 0 h 459346"/>
              <a:gd name="connsiteX1" fmla="*/ 245874 w 4212432"/>
              <a:gd name="connsiteY1" fmla="*/ 0 h 459346"/>
              <a:gd name="connsiteX2" fmla="*/ 4209575 w 4212432"/>
              <a:gd name="connsiteY2" fmla="*/ 2381 h 459346"/>
              <a:gd name="connsiteX3" fmla="*/ 4212432 w 4212432"/>
              <a:gd name="connsiteY3" fmla="*/ 327921 h 459346"/>
              <a:gd name="connsiteX4" fmla="*/ 3912526 w 4212432"/>
              <a:gd name="connsiteY4" fmla="*/ 458757 h 459346"/>
              <a:gd name="connsiteX5" fmla="*/ 0 w 4212432"/>
              <a:gd name="connsiteY5" fmla="*/ 458756 h 459346"/>
              <a:gd name="connsiteX6" fmla="*/ 0 w 4212432"/>
              <a:gd name="connsiteY6" fmla="*/ 229379 h 459346"/>
              <a:gd name="connsiteX7" fmla="*/ 0 w 4212432"/>
              <a:gd name="connsiteY7" fmla="*/ 0 h 459346"/>
              <a:gd name="connsiteX0" fmla="*/ 0 w 4228712"/>
              <a:gd name="connsiteY0" fmla="*/ 0 h 459346"/>
              <a:gd name="connsiteX1" fmla="*/ 245874 w 4228712"/>
              <a:gd name="connsiteY1" fmla="*/ 0 h 459346"/>
              <a:gd name="connsiteX2" fmla="*/ 4228676 w 4228712"/>
              <a:gd name="connsiteY2" fmla="*/ 2381 h 459346"/>
              <a:gd name="connsiteX3" fmla="*/ 4212432 w 4228712"/>
              <a:gd name="connsiteY3" fmla="*/ 327921 h 459346"/>
              <a:gd name="connsiteX4" fmla="*/ 3912526 w 4228712"/>
              <a:gd name="connsiteY4" fmla="*/ 458757 h 459346"/>
              <a:gd name="connsiteX5" fmla="*/ 0 w 4228712"/>
              <a:gd name="connsiteY5" fmla="*/ 458756 h 459346"/>
              <a:gd name="connsiteX6" fmla="*/ 0 w 4228712"/>
              <a:gd name="connsiteY6" fmla="*/ 229379 h 459346"/>
              <a:gd name="connsiteX7" fmla="*/ 0 w 4228712"/>
              <a:gd name="connsiteY7" fmla="*/ 0 h 459346"/>
              <a:gd name="connsiteX0" fmla="*/ 0 w 4212432"/>
              <a:gd name="connsiteY0" fmla="*/ 0 h 459346"/>
              <a:gd name="connsiteX1" fmla="*/ 245874 w 4212432"/>
              <a:gd name="connsiteY1" fmla="*/ 0 h 459346"/>
              <a:gd name="connsiteX2" fmla="*/ 4211962 w 4212432"/>
              <a:gd name="connsiteY2" fmla="*/ 0 h 459346"/>
              <a:gd name="connsiteX3" fmla="*/ 4212432 w 4212432"/>
              <a:gd name="connsiteY3" fmla="*/ 327921 h 459346"/>
              <a:gd name="connsiteX4" fmla="*/ 3912526 w 4212432"/>
              <a:gd name="connsiteY4" fmla="*/ 458757 h 459346"/>
              <a:gd name="connsiteX5" fmla="*/ 0 w 4212432"/>
              <a:gd name="connsiteY5" fmla="*/ 458756 h 459346"/>
              <a:gd name="connsiteX6" fmla="*/ 0 w 4212432"/>
              <a:gd name="connsiteY6" fmla="*/ 229379 h 459346"/>
              <a:gd name="connsiteX7" fmla="*/ 0 w 4212432"/>
              <a:gd name="connsiteY7" fmla="*/ 0 h 459346"/>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308871 h 458757"/>
              <a:gd name="connsiteX4" fmla="*/ 3912526 w 4212432"/>
              <a:gd name="connsiteY4" fmla="*/ 458757 h 458757"/>
              <a:gd name="connsiteX5" fmla="*/ 0 w 4212432"/>
              <a:gd name="connsiteY5" fmla="*/ 458756 h 458757"/>
              <a:gd name="connsiteX6" fmla="*/ 0 w 4212432"/>
              <a:gd name="connsiteY6" fmla="*/ 229379 h 458757"/>
              <a:gd name="connsiteX7" fmla="*/ 0 w 4212432"/>
              <a:gd name="connsiteY7" fmla="*/ 0 h 458757"/>
              <a:gd name="connsiteX0" fmla="*/ 0 w 4212432"/>
              <a:gd name="connsiteY0" fmla="*/ 0 h 458879"/>
              <a:gd name="connsiteX1" fmla="*/ 245874 w 4212432"/>
              <a:gd name="connsiteY1" fmla="*/ 0 h 458879"/>
              <a:gd name="connsiteX2" fmla="*/ 4211962 w 4212432"/>
              <a:gd name="connsiteY2" fmla="*/ 0 h 458879"/>
              <a:gd name="connsiteX3" fmla="*/ 4212432 w 4212432"/>
              <a:gd name="connsiteY3" fmla="*/ 308871 h 458879"/>
              <a:gd name="connsiteX4" fmla="*/ 3912526 w 4212432"/>
              <a:gd name="connsiteY4" fmla="*/ 458757 h 458879"/>
              <a:gd name="connsiteX5" fmla="*/ 0 w 4212432"/>
              <a:gd name="connsiteY5" fmla="*/ 458756 h 458879"/>
              <a:gd name="connsiteX6" fmla="*/ 0 w 4212432"/>
              <a:gd name="connsiteY6" fmla="*/ 229379 h 458879"/>
              <a:gd name="connsiteX7" fmla="*/ 0 w 4212432"/>
              <a:gd name="connsiteY7" fmla="*/ 0 h 458879"/>
              <a:gd name="connsiteX0" fmla="*/ 0 w 4212432"/>
              <a:gd name="connsiteY0" fmla="*/ 0 h 458756"/>
              <a:gd name="connsiteX1" fmla="*/ 245874 w 4212432"/>
              <a:gd name="connsiteY1" fmla="*/ 0 h 458756"/>
              <a:gd name="connsiteX2" fmla="*/ 4211962 w 4212432"/>
              <a:gd name="connsiteY2" fmla="*/ 0 h 458756"/>
              <a:gd name="connsiteX3" fmla="*/ 4212432 w 4212432"/>
              <a:gd name="connsiteY3" fmla="*/ 308871 h 458756"/>
              <a:gd name="connsiteX4" fmla="*/ 3926852 w 4212432"/>
              <a:gd name="connsiteY4" fmla="*/ 456376 h 458756"/>
              <a:gd name="connsiteX5" fmla="*/ 0 w 4212432"/>
              <a:gd name="connsiteY5" fmla="*/ 458756 h 458756"/>
              <a:gd name="connsiteX6" fmla="*/ 0 w 4212432"/>
              <a:gd name="connsiteY6" fmla="*/ 229379 h 458756"/>
              <a:gd name="connsiteX7" fmla="*/ 0 w 4212432"/>
              <a:gd name="connsiteY7" fmla="*/ 0 h 458756"/>
              <a:gd name="connsiteX0" fmla="*/ 0 w 4212432"/>
              <a:gd name="connsiteY0" fmla="*/ 0 h 458756"/>
              <a:gd name="connsiteX1" fmla="*/ 245874 w 4212432"/>
              <a:gd name="connsiteY1" fmla="*/ 0 h 458756"/>
              <a:gd name="connsiteX2" fmla="*/ 4211962 w 4212432"/>
              <a:gd name="connsiteY2" fmla="*/ 0 h 458756"/>
              <a:gd name="connsiteX3" fmla="*/ 4212432 w 4212432"/>
              <a:gd name="connsiteY3" fmla="*/ 287440 h 458756"/>
              <a:gd name="connsiteX4" fmla="*/ 3926852 w 4212432"/>
              <a:gd name="connsiteY4" fmla="*/ 456376 h 458756"/>
              <a:gd name="connsiteX5" fmla="*/ 0 w 4212432"/>
              <a:gd name="connsiteY5" fmla="*/ 458756 h 458756"/>
              <a:gd name="connsiteX6" fmla="*/ 0 w 4212432"/>
              <a:gd name="connsiteY6" fmla="*/ 229379 h 458756"/>
              <a:gd name="connsiteX7" fmla="*/ 0 w 4212432"/>
              <a:gd name="connsiteY7" fmla="*/ 0 h 458756"/>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287440 h 458757"/>
              <a:gd name="connsiteX4" fmla="*/ 3969829 w 4212432"/>
              <a:gd name="connsiteY4" fmla="*/ 458757 h 458757"/>
              <a:gd name="connsiteX5" fmla="*/ 0 w 4212432"/>
              <a:gd name="connsiteY5" fmla="*/ 458756 h 458757"/>
              <a:gd name="connsiteX6" fmla="*/ 0 w 4212432"/>
              <a:gd name="connsiteY6" fmla="*/ 229379 h 458757"/>
              <a:gd name="connsiteX7" fmla="*/ 0 w 4212432"/>
              <a:gd name="connsiteY7" fmla="*/ 0 h 458757"/>
              <a:gd name="connsiteX0" fmla="*/ 0 w 4212432"/>
              <a:gd name="connsiteY0" fmla="*/ 65017 h 523774"/>
              <a:gd name="connsiteX1" fmla="*/ 245874 w 4212432"/>
              <a:gd name="connsiteY1" fmla="*/ 65017 h 523774"/>
              <a:gd name="connsiteX2" fmla="*/ 4211962 w 4212432"/>
              <a:gd name="connsiteY2" fmla="*/ 65017 h 523774"/>
              <a:gd name="connsiteX3" fmla="*/ 4212432 w 4212432"/>
              <a:gd name="connsiteY3" fmla="*/ 352457 h 523774"/>
              <a:gd name="connsiteX4" fmla="*/ 3969829 w 4212432"/>
              <a:gd name="connsiteY4" fmla="*/ 523774 h 523774"/>
              <a:gd name="connsiteX5" fmla="*/ 0 w 4212432"/>
              <a:gd name="connsiteY5" fmla="*/ 523773 h 523774"/>
              <a:gd name="connsiteX6" fmla="*/ 0 w 4212432"/>
              <a:gd name="connsiteY6" fmla="*/ 294396 h 523774"/>
              <a:gd name="connsiteX7" fmla="*/ 0 w 4212432"/>
              <a:gd name="connsiteY7" fmla="*/ 65017 h 523774"/>
              <a:gd name="connsiteX0" fmla="*/ 0 w 4212432"/>
              <a:gd name="connsiteY0" fmla="*/ 65017 h 526156"/>
              <a:gd name="connsiteX1" fmla="*/ 245874 w 4212432"/>
              <a:gd name="connsiteY1" fmla="*/ 65017 h 526156"/>
              <a:gd name="connsiteX2" fmla="*/ 4211962 w 4212432"/>
              <a:gd name="connsiteY2" fmla="*/ 65017 h 526156"/>
              <a:gd name="connsiteX3" fmla="*/ 4212432 w 4212432"/>
              <a:gd name="connsiteY3" fmla="*/ 352457 h 526156"/>
              <a:gd name="connsiteX4" fmla="*/ 3969829 w 4212432"/>
              <a:gd name="connsiteY4" fmla="*/ 523774 h 526156"/>
              <a:gd name="connsiteX5" fmla="*/ 0 w 4212432"/>
              <a:gd name="connsiteY5" fmla="*/ 523773 h 526156"/>
              <a:gd name="connsiteX6" fmla="*/ 0 w 4212432"/>
              <a:gd name="connsiteY6" fmla="*/ 294396 h 526156"/>
              <a:gd name="connsiteX7" fmla="*/ 0 w 4212432"/>
              <a:gd name="connsiteY7" fmla="*/ 65017 h 526156"/>
              <a:gd name="connsiteX0" fmla="*/ 0 w 4212432"/>
              <a:gd name="connsiteY0" fmla="*/ 65017 h 526156"/>
              <a:gd name="connsiteX1" fmla="*/ 245874 w 4212432"/>
              <a:gd name="connsiteY1" fmla="*/ 65017 h 526156"/>
              <a:gd name="connsiteX2" fmla="*/ 4211962 w 4212432"/>
              <a:gd name="connsiteY2" fmla="*/ 65017 h 526156"/>
              <a:gd name="connsiteX3" fmla="*/ 4212432 w 4212432"/>
              <a:gd name="connsiteY3" fmla="*/ 352457 h 526156"/>
              <a:gd name="connsiteX4" fmla="*/ 3969829 w 4212432"/>
              <a:gd name="connsiteY4" fmla="*/ 523774 h 526156"/>
              <a:gd name="connsiteX5" fmla="*/ 0 w 4212432"/>
              <a:gd name="connsiteY5" fmla="*/ 523773 h 526156"/>
              <a:gd name="connsiteX6" fmla="*/ 0 w 4212432"/>
              <a:gd name="connsiteY6" fmla="*/ 294396 h 526156"/>
              <a:gd name="connsiteX7" fmla="*/ 0 w 4212432"/>
              <a:gd name="connsiteY7" fmla="*/ 65017 h 526156"/>
              <a:gd name="connsiteX0" fmla="*/ 0 w 4212783"/>
              <a:gd name="connsiteY0" fmla="*/ 65017 h 526518"/>
              <a:gd name="connsiteX1" fmla="*/ 245874 w 4212783"/>
              <a:gd name="connsiteY1" fmla="*/ 65017 h 526518"/>
              <a:gd name="connsiteX2" fmla="*/ 4211962 w 4212783"/>
              <a:gd name="connsiteY2" fmla="*/ 65017 h 526518"/>
              <a:gd name="connsiteX3" fmla="*/ 4212432 w 4212783"/>
              <a:gd name="connsiteY3" fmla="*/ 352457 h 526518"/>
              <a:gd name="connsiteX4" fmla="*/ 3969829 w 4212783"/>
              <a:gd name="connsiteY4" fmla="*/ 523774 h 526518"/>
              <a:gd name="connsiteX5" fmla="*/ 0 w 4212783"/>
              <a:gd name="connsiteY5" fmla="*/ 523773 h 526518"/>
              <a:gd name="connsiteX6" fmla="*/ 0 w 4212783"/>
              <a:gd name="connsiteY6" fmla="*/ 294396 h 526518"/>
              <a:gd name="connsiteX7" fmla="*/ 0 w 4212783"/>
              <a:gd name="connsiteY7" fmla="*/ 65017 h 526518"/>
              <a:gd name="connsiteX0" fmla="*/ 0 w 4212806"/>
              <a:gd name="connsiteY0" fmla="*/ 65017 h 526518"/>
              <a:gd name="connsiteX1" fmla="*/ 245874 w 4212806"/>
              <a:gd name="connsiteY1" fmla="*/ 65017 h 526518"/>
              <a:gd name="connsiteX2" fmla="*/ 4211962 w 4212806"/>
              <a:gd name="connsiteY2" fmla="*/ 65017 h 526518"/>
              <a:gd name="connsiteX3" fmla="*/ 4212432 w 4212806"/>
              <a:gd name="connsiteY3" fmla="*/ 352457 h 526518"/>
              <a:gd name="connsiteX4" fmla="*/ 3976992 w 4212806"/>
              <a:gd name="connsiteY4" fmla="*/ 523774 h 526518"/>
              <a:gd name="connsiteX5" fmla="*/ 0 w 4212806"/>
              <a:gd name="connsiteY5" fmla="*/ 523773 h 526518"/>
              <a:gd name="connsiteX6" fmla="*/ 0 w 4212806"/>
              <a:gd name="connsiteY6" fmla="*/ 294396 h 526518"/>
              <a:gd name="connsiteX7" fmla="*/ 0 w 4212806"/>
              <a:gd name="connsiteY7" fmla="*/ 65017 h 526518"/>
              <a:gd name="connsiteX0" fmla="*/ 0 w 4212707"/>
              <a:gd name="connsiteY0" fmla="*/ 65017 h 526518"/>
              <a:gd name="connsiteX1" fmla="*/ 245874 w 4212707"/>
              <a:gd name="connsiteY1" fmla="*/ 65017 h 526518"/>
              <a:gd name="connsiteX2" fmla="*/ 4211962 w 4212707"/>
              <a:gd name="connsiteY2" fmla="*/ 65017 h 526518"/>
              <a:gd name="connsiteX3" fmla="*/ 4212432 w 4212707"/>
              <a:gd name="connsiteY3" fmla="*/ 352457 h 526518"/>
              <a:gd name="connsiteX4" fmla="*/ 3976992 w 4212707"/>
              <a:gd name="connsiteY4" fmla="*/ 523774 h 526518"/>
              <a:gd name="connsiteX5" fmla="*/ 0 w 4212707"/>
              <a:gd name="connsiteY5" fmla="*/ 523773 h 526518"/>
              <a:gd name="connsiteX6" fmla="*/ 0 w 4212707"/>
              <a:gd name="connsiteY6" fmla="*/ 294396 h 526518"/>
              <a:gd name="connsiteX7" fmla="*/ 0 w 4212707"/>
              <a:gd name="connsiteY7" fmla="*/ 65017 h 526518"/>
              <a:gd name="connsiteX0" fmla="*/ 0 w 4212432"/>
              <a:gd name="connsiteY0" fmla="*/ 65017 h 527310"/>
              <a:gd name="connsiteX1" fmla="*/ 245874 w 4212432"/>
              <a:gd name="connsiteY1" fmla="*/ 65017 h 527310"/>
              <a:gd name="connsiteX2" fmla="*/ 4211962 w 4212432"/>
              <a:gd name="connsiteY2" fmla="*/ 65017 h 527310"/>
              <a:gd name="connsiteX3" fmla="*/ 4212432 w 4212432"/>
              <a:gd name="connsiteY3" fmla="*/ 352457 h 527310"/>
              <a:gd name="connsiteX4" fmla="*/ 3976992 w 4212432"/>
              <a:gd name="connsiteY4" fmla="*/ 523774 h 527310"/>
              <a:gd name="connsiteX5" fmla="*/ 0 w 4212432"/>
              <a:gd name="connsiteY5" fmla="*/ 523773 h 527310"/>
              <a:gd name="connsiteX6" fmla="*/ 0 w 4212432"/>
              <a:gd name="connsiteY6" fmla="*/ 294396 h 527310"/>
              <a:gd name="connsiteX7" fmla="*/ 0 w 4212432"/>
              <a:gd name="connsiteY7" fmla="*/ 65017 h 527310"/>
              <a:gd name="connsiteX0" fmla="*/ 0 w 4212432"/>
              <a:gd name="connsiteY0" fmla="*/ 254931 h 717224"/>
              <a:gd name="connsiteX1" fmla="*/ 245874 w 4212432"/>
              <a:gd name="connsiteY1" fmla="*/ 254931 h 717224"/>
              <a:gd name="connsiteX2" fmla="*/ 4211962 w 4212432"/>
              <a:gd name="connsiteY2" fmla="*/ 254931 h 717224"/>
              <a:gd name="connsiteX3" fmla="*/ 4212432 w 4212432"/>
              <a:gd name="connsiteY3" fmla="*/ 542371 h 717224"/>
              <a:gd name="connsiteX4" fmla="*/ 3976992 w 4212432"/>
              <a:gd name="connsiteY4" fmla="*/ 713688 h 717224"/>
              <a:gd name="connsiteX5" fmla="*/ 0 w 4212432"/>
              <a:gd name="connsiteY5" fmla="*/ 713687 h 717224"/>
              <a:gd name="connsiteX6" fmla="*/ 0 w 4212432"/>
              <a:gd name="connsiteY6" fmla="*/ 484310 h 717224"/>
              <a:gd name="connsiteX7" fmla="*/ 0 w 4212432"/>
              <a:gd name="connsiteY7" fmla="*/ 254931 h 717224"/>
              <a:gd name="connsiteX0" fmla="*/ 0 w 4212432"/>
              <a:gd name="connsiteY0" fmla="*/ 254931 h 714629"/>
              <a:gd name="connsiteX1" fmla="*/ 245874 w 4212432"/>
              <a:gd name="connsiteY1" fmla="*/ 254931 h 714629"/>
              <a:gd name="connsiteX2" fmla="*/ 4211962 w 4212432"/>
              <a:gd name="connsiteY2" fmla="*/ 254931 h 714629"/>
              <a:gd name="connsiteX3" fmla="*/ 4212432 w 4212432"/>
              <a:gd name="connsiteY3" fmla="*/ 542371 h 714629"/>
              <a:gd name="connsiteX4" fmla="*/ 3976992 w 4212432"/>
              <a:gd name="connsiteY4" fmla="*/ 713688 h 714629"/>
              <a:gd name="connsiteX5" fmla="*/ 0 w 4212432"/>
              <a:gd name="connsiteY5" fmla="*/ 713687 h 714629"/>
              <a:gd name="connsiteX6" fmla="*/ 0 w 4212432"/>
              <a:gd name="connsiteY6" fmla="*/ 484310 h 714629"/>
              <a:gd name="connsiteX7" fmla="*/ 0 w 4212432"/>
              <a:gd name="connsiteY7" fmla="*/ 254931 h 714629"/>
              <a:gd name="connsiteX0" fmla="*/ 0 w 4212432"/>
              <a:gd name="connsiteY0" fmla="*/ 242199 h 704985"/>
              <a:gd name="connsiteX1" fmla="*/ 245874 w 4212432"/>
              <a:gd name="connsiteY1" fmla="*/ 242199 h 704985"/>
              <a:gd name="connsiteX2" fmla="*/ 4211962 w 4212432"/>
              <a:gd name="connsiteY2" fmla="*/ 242199 h 704985"/>
              <a:gd name="connsiteX3" fmla="*/ 4212432 w 4212432"/>
              <a:gd name="connsiteY3" fmla="*/ 548689 h 704985"/>
              <a:gd name="connsiteX4" fmla="*/ 3976992 w 4212432"/>
              <a:gd name="connsiteY4" fmla="*/ 700956 h 704985"/>
              <a:gd name="connsiteX5" fmla="*/ 0 w 4212432"/>
              <a:gd name="connsiteY5" fmla="*/ 700955 h 704985"/>
              <a:gd name="connsiteX6" fmla="*/ 0 w 4212432"/>
              <a:gd name="connsiteY6" fmla="*/ 471578 h 704985"/>
              <a:gd name="connsiteX7" fmla="*/ 0 w 4212432"/>
              <a:gd name="connsiteY7" fmla="*/ 242199 h 704985"/>
              <a:gd name="connsiteX0" fmla="*/ 0 w 4212432"/>
              <a:gd name="connsiteY0" fmla="*/ 242199 h 703933"/>
              <a:gd name="connsiteX1" fmla="*/ 245874 w 4212432"/>
              <a:gd name="connsiteY1" fmla="*/ 242199 h 703933"/>
              <a:gd name="connsiteX2" fmla="*/ 4211962 w 4212432"/>
              <a:gd name="connsiteY2" fmla="*/ 242199 h 703933"/>
              <a:gd name="connsiteX3" fmla="*/ 4212432 w 4212432"/>
              <a:gd name="connsiteY3" fmla="*/ 548689 h 703933"/>
              <a:gd name="connsiteX4" fmla="*/ 3976992 w 4212432"/>
              <a:gd name="connsiteY4" fmla="*/ 700956 h 703933"/>
              <a:gd name="connsiteX5" fmla="*/ 0 w 4212432"/>
              <a:gd name="connsiteY5" fmla="*/ 700955 h 703933"/>
              <a:gd name="connsiteX6" fmla="*/ 0 w 4212432"/>
              <a:gd name="connsiteY6" fmla="*/ 471578 h 703933"/>
              <a:gd name="connsiteX7" fmla="*/ 0 w 4212432"/>
              <a:gd name="connsiteY7" fmla="*/ 242199 h 703933"/>
              <a:gd name="connsiteX0" fmla="*/ 0 w 4212432"/>
              <a:gd name="connsiteY0" fmla="*/ 242199 h 701374"/>
              <a:gd name="connsiteX1" fmla="*/ 245874 w 4212432"/>
              <a:gd name="connsiteY1" fmla="*/ 242199 h 701374"/>
              <a:gd name="connsiteX2" fmla="*/ 4211962 w 4212432"/>
              <a:gd name="connsiteY2" fmla="*/ 242199 h 701374"/>
              <a:gd name="connsiteX3" fmla="*/ 4212432 w 4212432"/>
              <a:gd name="connsiteY3" fmla="*/ 548689 h 701374"/>
              <a:gd name="connsiteX4" fmla="*/ 3976992 w 4212432"/>
              <a:gd name="connsiteY4" fmla="*/ 700956 h 701374"/>
              <a:gd name="connsiteX5" fmla="*/ 0 w 4212432"/>
              <a:gd name="connsiteY5" fmla="*/ 700955 h 701374"/>
              <a:gd name="connsiteX6" fmla="*/ 0 w 4212432"/>
              <a:gd name="connsiteY6" fmla="*/ 471578 h 701374"/>
              <a:gd name="connsiteX7" fmla="*/ 0 w 4212432"/>
              <a:gd name="connsiteY7" fmla="*/ 242199 h 701374"/>
              <a:gd name="connsiteX0" fmla="*/ 0 w 4214819"/>
              <a:gd name="connsiteY0" fmla="*/ 231179 h 693429"/>
              <a:gd name="connsiteX1" fmla="*/ 245874 w 4214819"/>
              <a:gd name="connsiteY1" fmla="*/ 231179 h 693429"/>
              <a:gd name="connsiteX2" fmla="*/ 4211962 w 4214819"/>
              <a:gd name="connsiteY2" fmla="*/ 231179 h 693429"/>
              <a:gd name="connsiteX3" fmla="*/ 4214819 w 4214819"/>
              <a:gd name="connsiteY3" fmla="*/ 554338 h 693429"/>
              <a:gd name="connsiteX4" fmla="*/ 3976992 w 4214819"/>
              <a:gd name="connsiteY4" fmla="*/ 689936 h 693429"/>
              <a:gd name="connsiteX5" fmla="*/ 0 w 4214819"/>
              <a:gd name="connsiteY5" fmla="*/ 689935 h 693429"/>
              <a:gd name="connsiteX6" fmla="*/ 0 w 4214819"/>
              <a:gd name="connsiteY6" fmla="*/ 460558 h 693429"/>
              <a:gd name="connsiteX7" fmla="*/ 0 w 4214819"/>
              <a:gd name="connsiteY7" fmla="*/ 231179 h 693429"/>
              <a:gd name="connsiteX0" fmla="*/ 0 w 4214819"/>
              <a:gd name="connsiteY0" fmla="*/ 231179 h 690020"/>
              <a:gd name="connsiteX1" fmla="*/ 245874 w 4214819"/>
              <a:gd name="connsiteY1" fmla="*/ 231179 h 690020"/>
              <a:gd name="connsiteX2" fmla="*/ 4211962 w 4214819"/>
              <a:gd name="connsiteY2" fmla="*/ 231179 h 690020"/>
              <a:gd name="connsiteX3" fmla="*/ 4214819 w 4214819"/>
              <a:gd name="connsiteY3" fmla="*/ 554338 h 690020"/>
              <a:gd name="connsiteX4" fmla="*/ 3976992 w 4214819"/>
              <a:gd name="connsiteY4" fmla="*/ 689936 h 690020"/>
              <a:gd name="connsiteX5" fmla="*/ 0 w 4214819"/>
              <a:gd name="connsiteY5" fmla="*/ 689935 h 690020"/>
              <a:gd name="connsiteX6" fmla="*/ 0 w 4214819"/>
              <a:gd name="connsiteY6" fmla="*/ 460558 h 690020"/>
              <a:gd name="connsiteX7" fmla="*/ 0 w 4214819"/>
              <a:gd name="connsiteY7" fmla="*/ 231179 h 690020"/>
              <a:gd name="connsiteX0" fmla="*/ 0 w 4215172"/>
              <a:gd name="connsiteY0" fmla="*/ 78388 h 537229"/>
              <a:gd name="connsiteX1" fmla="*/ 245874 w 4215172"/>
              <a:gd name="connsiteY1" fmla="*/ 78388 h 537229"/>
              <a:gd name="connsiteX2" fmla="*/ 4211962 w 4215172"/>
              <a:gd name="connsiteY2" fmla="*/ 78388 h 537229"/>
              <a:gd name="connsiteX3" fmla="*/ 4214819 w 4215172"/>
              <a:gd name="connsiteY3" fmla="*/ 401547 h 537229"/>
              <a:gd name="connsiteX4" fmla="*/ 3976992 w 4215172"/>
              <a:gd name="connsiteY4" fmla="*/ 537145 h 537229"/>
              <a:gd name="connsiteX5" fmla="*/ 0 w 4215172"/>
              <a:gd name="connsiteY5" fmla="*/ 537144 h 537229"/>
              <a:gd name="connsiteX6" fmla="*/ 0 w 4215172"/>
              <a:gd name="connsiteY6" fmla="*/ 307767 h 537229"/>
              <a:gd name="connsiteX7" fmla="*/ 0 w 4215172"/>
              <a:gd name="connsiteY7" fmla="*/ 78388 h 537229"/>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76992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76992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76992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4819"/>
              <a:gd name="connsiteY0" fmla="*/ 0 h 458841"/>
              <a:gd name="connsiteX1" fmla="*/ 245874 w 4214819"/>
              <a:gd name="connsiteY1" fmla="*/ 0 h 458841"/>
              <a:gd name="connsiteX2" fmla="*/ 4211962 w 4214819"/>
              <a:gd name="connsiteY2" fmla="*/ 0 h 458841"/>
              <a:gd name="connsiteX3" fmla="*/ 4214819 w 4214819"/>
              <a:gd name="connsiteY3" fmla="*/ 323159 h 458841"/>
              <a:gd name="connsiteX4" fmla="*/ 3967441 w 4214819"/>
              <a:gd name="connsiteY4" fmla="*/ 458757 h 458841"/>
              <a:gd name="connsiteX5" fmla="*/ 0 w 4214819"/>
              <a:gd name="connsiteY5" fmla="*/ 458756 h 458841"/>
              <a:gd name="connsiteX6" fmla="*/ 0 w 4214819"/>
              <a:gd name="connsiteY6" fmla="*/ 229379 h 458841"/>
              <a:gd name="connsiteX7" fmla="*/ 0 w 4214819"/>
              <a:gd name="connsiteY7" fmla="*/ 0 h 458841"/>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308872 h 458757"/>
              <a:gd name="connsiteX4" fmla="*/ 3967441 w 4212432"/>
              <a:gd name="connsiteY4" fmla="*/ 458757 h 458757"/>
              <a:gd name="connsiteX5" fmla="*/ 0 w 4212432"/>
              <a:gd name="connsiteY5" fmla="*/ 458756 h 458757"/>
              <a:gd name="connsiteX6" fmla="*/ 0 w 4212432"/>
              <a:gd name="connsiteY6" fmla="*/ 229379 h 458757"/>
              <a:gd name="connsiteX7" fmla="*/ 0 w 4212432"/>
              <a:gd name="connsiteY7" fmla="*/ 0 h 458757"/>
              <a:gd name="connsiteX0" fmla="*/ 0 w 4212432"/>
              <a:gd name="connsiteY0" fmla="*/ 0 h 458757"/>
              <a:gd name="connsiteX1" fmla="*/ 245874 w 4212432"/>
              <a:gd name="connsiteY1" fmla="*/ 0 h 458757"/>
              <a:gd name="connsiteX2" fmla="*/ 4211962 w 4212432"/>
              <a:gd name="connsiteY2" fmla="*/ 0 h 458757"/>
              <a:gd name="connsiteX3" fmla="*/ 4212432 w 4212432"/>
              <a:gd name="connsiteY3" fmla="*/ 308872 h 458757"/>
              <a:gd name="connsiteX4" fmla="*/ 3967441 w 4212432"/>
              <a:gd name="connsiteY4" fmla="*/ 458757 h 458757"/>
              <a:gd name="connsiteX5" fmla="*/ 0 w 4212432"/>
              <a:gd name="connsiteY5" fmla="*/ 458756 h 458757"/>
              <a:gd name="connsiteX6" fmla="*/ 0 w 4212432"/>
              <a:gd name="connsiteY6" fmla="*/ 229379 h 458757"/>
              <a:gd name="connsiteX7" fmla="*/ 0 w 4212432"/>
              <a:gd name="connsiteY7" fmla="*/ 0 h 458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2432" h="458757">
                <a:moveTo>
                  <a:pt x="0" y="0"/>
                </a:moveTo>
                <a:lnTo>
                  <a:pt x="245874" y="0"/>
                </a:lnTo>
                <a:lnTo>
                  <a:pt x="4211962" y="0"/>
                </a:lnTo>
                <a:cubicBezTo>
                  <a:pt x="4212914" y="108513"/>
                  <a:pt x="4209095" y="335"/>
                  <a:pt x="4212432" y="308872"/>
                </a:cubicBezTo>
                <a:cubicBezTo>
                  <a:pt x="4212481" y="465992"/>
                  <a:pt x="4074394" y="456418"/>
                  <a:pt x="3967441" y="458757"/>
                </a:cubicBezTo>
                <a:lnTo>
                  <a:pt x="0" y="458756"/>
                </a:lnTo>
                <a:lnTo>
                  <a:pt x="0" y="229379"/>
                </a:lnTo>
                <a:lnTo>
                  <a:pt x="0" y="0"/>
                </a:lnTo>
                <a:close/>
              </a:path>
            </a:pathLst>
          </a:custGeom>
          <a:solidFill>
            <a:schemeClr val="accent2">
              <a:alpha val="90000"/>
            </a:schemeClr>
          </a:solidFill>
          <a:ln w="1905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88000" tIns="90000" rIns="90000" bIns="108000" numCol="1" spcCol="0" rtlCol="0" fromWordArt="0" anchor="t" anchorCtr="0" forceAA="0" compatLnSpc="1">
            <a:prstTxWarp prst="textNoShape">
              <a:avLst/>
            </a:prstTxWarp>
            <a:noAutofit/>
          </a:bodyPr>
          <a:lstStyle>
            <a:lvl1pPr marL="0" indent="0" algn="l" defTabSz="456977" rtl="0" eaLnBrk="1" latinLnBrk="0" hangingPunct="1">
              <a:lnSpc>
                <a:spcPct val="100000"/>
              </a:lnSpc>
              <a:spcBef>
                <a:spcPct val="0"/>
              </a:spcBef>
              <a:buNone/>
              <a:defRPr lang="nl-NL" sz="1880" b="0" i="0" kern="1200" dirty="0">
                <a:solidFill>
                  <a:schemeClr val="bg1"/>
                </a:solidFill>
                <a:latin typeface="Myriad for Rabobank It" panose="020B0503030403090204" pitchFamily="34" charset="0"/>
                <a:ea typeface="+mn-ea"/>
                <a:cs typeface="+mn-cs"/>
              </a:defRPr>
            </a:lvl1pPr>
            <a:lvl2pPr marL="456977" indent="0" algn="ctr">
              <a:buNone/>
              <a:defRPr>
                <a:solidFill>
                  <a:schemeClr val="tx1">
                    <a:tint val="75000"/>
                  </a:schemeClr>
                </a:solidFill>
              </a:defRPr>
            </a:lvl2pPr>
            <a:lvl3pPr marL="913953" indent="0" algn="ctr">
              <a:buNone/>
              <a:defRPr>
                <a:solidFill>
                  <a:schemeClr val="tx1">
                    <a:tint val="75000"/>
                  </a:schemeClr>
                </a:solidFill>
              </a:defRPr>
            </a:lvl3pPr>
            <a:lvl4pPr marL="1370930" indent="0" algn="ctr">
              <a:buNone/>
              <a:defRPr>
                <a:solidFill>
                  <a:schemeClr val="tx1">
                    <a:tint val="75000"/>
                  </a:schemeClr>
                </a:solidFill>
              </a:defRPr>
            </a:lvl4pPr>
            <a:lvl5pPr marL="1827905" indent="0" algn="ctr">
              <a:buNone/>
              <a:defRPr>
                <a:solidFill>
                  <a:schemeClr val="tx1">
                    <a:tint val="75000"/>
                  </a:schemeClr>
                </a:solidFill>
              </a:defRPr>
            </a:lvl5pPr>
            <a:lvl6pPr marL="2284883" indent="0" algn="ctr">
              <a:buNone/>
              <a:defRPr>
                <a:solidFill>
                  <a:schemeClr val="tx1">
                    <a:tint val="75000"/>
                  </a:schemeClr>
                </a:solidFill>
              </a:defRPr>
            </a:lvl6pPr>
            <a:lvl7pPr marL="2741861" indent="0" algn="ctr">
              <a:buNone/>
              <a:defRPr>
                <a:solidFill>
                  <a:schemeClr val="tx1">
                    <a:tint val="75000"/>
                  </a:schemeClr>
                </a:solidFill>
              </a:defRPr>
            </a:lvl7pPr>
            <a:lvl8pPr marL="3198835" indent="0" algn="ctr">
              <a:buNone/>
              <a:defRPr>
                <a:solidFill>
                  <a:schemeClr val="tx1">
                    <a:tint val="75000"/>
                  </a:schemeClr>
                </a:solidFill>
              </a:defRPr>
            </a:lvl8pPr>
            <a:lvl9pPr marL="3655813" indent="0" algn="ctr">
              <a:buNone/>
              <a:defRPr>
                <a:solidFill>
                  <a:schemeClr val="tx1">
                    <a:tint val="75000"/>
                  </a:schemeClr>
                </a:solidFill>
              </a:defRPr>
            </a:lvl9pPr>
          </a:lstStyle>
          <a:p>
            <a:endParaRPr lang="nl-NL"/>
          </a:p>
        </p:txBody>
      </p:sp>
      <p:sp>
        <p:nvSpPr>
          <p:cNvPr id="12" name="Titel 14">
            <a:extLst>
              <a:ext uri="{FF2B5EF4-FFF2-40B4-BE49-F238E27FC236}">
                <a16:creationId xmlns:a16="http://schemas.microsoft.com/office/drawing/2014/main" id="{DFFEC9F0-E6BE-40A9-883F-8B5288F144FA}"/>
              </a:ext>
            </a:extLst>
          </p:cNvPr>
          <p:cNvSpPr>
            <a:spLocks noGrp="1"/>
          </p:cNvSpPr>
          <p:nvPr>
            <p:ph type="title"/>
          </p:nvPr>
        </p:nvSpPr>
        <p:spPr>
          <a:xfrm>
            <a:off x="0" y="270000"/>
            <a:ext cx="4201200" cy="1008000"/>
          </a:xfrm>
          <a:prstGeom prst="round1Rect">
            <a:avLst>
              <a:gd name="adj" fmla="val 12786"/>
            </a:avLst>
          </a:prstGeom>
          <a:solidFill>
            <a:schemeClr val="accent1">
              <a:alpha val="90000"/>
            </a:schemeClr>
          </a:solidFill>
          <a:ln w="19050" cmpd="sng">
            <a:noFill/>
          </a:ln>
        </p:spPr>
        <p:txBody>
          <a:bodyPr wrap="square" lIns="288000" tIns="108000" rIns="108000" bIns="72000" anchor="t" anchorCtr="0">
            <a:noAutofit/>
          </a:bodyPr>
          <a:lstStyle>
            <a:lvl1pPr>
              <a:lnSpc>
                <a:spcPts val="3000"/>
              </a:lnSpc>
              <a:defRPr sz="2800" b="0" i="0">
                <a:solidFill>
                  <a:srgbClr val="FFFFFF"/>
                </a:solidFill>
                <a:latin typeface="Myriad for Rabobank Bd It" panose="020B0703030403090204" pitchFamily="34" charset="0"/>
              </a:defRPr>
            </a:lvl1pPr>
          </a:lstStyle>
          <a:p>
            <a:endParaRPr lang="nl-NL" noProof="0"/>
          </a:p>
        </p:txBody>
      </p:sp>
    </p:spTree>
    <p:extLst>
      <p:ext uri="{BB962C8B-B14F-4D97-AF65-F5344CB8AC3E}">
        <p14:creationId xmlns:p14="http://schemas.microsoft.com/office/powerpoint/2010/main" val="413343002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0" i="0">
                <a:latin typeface="Myriad for Rabobank Bd It" panose="020B0703030403090204" pitchFamily="34" charset="0"/>
              </a:defRPr>
            </a:lvl1pPr>
          </a:lstStyle>
          <a:p>
            <a:endParaRPr lang="nl-NL"/>
          </a:p>
        </p:txBody>
      </p:sp>
      <p:sp>
        <p:nvSpPr>
          <p:cNvPr id="6" name="Tijdelijke aanduiding voor tekst 5"/>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7" name="Content Placeholder 6"/>
          <p:cNvSpPr>
            <a:spLocks noGrp="1"/>
          </p:cNvSpPr>
          <p:nvPr>
            <p:ph sz="quarter" idx="13"/>
          </p:nvPr>
        </p:nvSpPr>
        <p:spPr>
          <a:xfrm>
            <a:off x="476250" y="1288800"/>
            <a:ext cx="819255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1" name="Rechthoek 10" hidden="1">
            <a:extLst>
              <a:ext uri="{FF2B5EF4-FFF2-40B4-BE49-F238E27FC236}">
                <a16:creationId xmlns:a16="http://schemas.microsoft.com/office/drawing/2014/main" id="{8774F88B-DD7B-4C41-8301-5321F2953376}"/>
              </a:ext>
            </a:extLst>
          </p:cNvPr>
          <p:cNvSpPr/>
          <p:nvPr userDrawn="1"/>
        </p:nvSpPr>
        <p:spPr>
          <a:xfrm>
            <a:off x="471600" y="908898"/>
            <a:ext cx="8197200" cy="13680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3" name="Slide Number Placeholder 2">
            <a:extLst>
              <a:ext uri="{FF2B5EF4-FFF2-40B4-BE49-F238E27FC236}">
                <a16:creationId xmlns:a16="http://schemas.microsoft.com/office/drawing/2014/main" id="{FC72ECF0-E70F-40BD-8216-0339343489D6}"/>
              </a:ext>
            </a:extLst>
          </p:cNvPr>
          <p:cNvSpPr>
            <a:spLocks noGrp="1"/>
          </p:cNvSpPr>
          <p:nvPr>
            <p:ph type="sldNum" sz="quarter" idx="14"/>
          </p:nvPr>
        </p:nvSpPr>
        <p:spPr/>
        <p:txBody>
          <a:bodyPr/>
          <a:lstStyle/>
          <a:p>
            <a:fld id="{14A8E892-9D3D-449A-93AD-1E7955DBB18F}" type="slidenum">
              <a:rPr lang="en-GB" smtClean="0"/>
              <a:pPr/>
              <a:t>‹#›</a:t>
            </a:fld>
            <a:endParaRPr lang="en-GB"/>
          </a:p>
        </p:txBody>
      </p:sp>
      <p:pic>
        <p:nvPicPr>
          <p:cNvPr id="1383636980" name="image" descr="{&quot;templafy&quot;:{&quot;id&quot;:&quot;2166ee36-eecd-454f-bdaf-a8217a0a7433&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179117956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9" name="Content Placeholder 6">
            <a:extLst>
              <a:ext uri="{FF2B5EF4-FFF2-40B4-BE49-F238E27FC236}">
                <a16:creationId xmlns:a16="http://schemas.microsoft.com/office/drawing/2014/main" id="{E79D8AC9-C7B2-4C23-B80E-B627F282B805}"/>
              </a:ext>
            </a:extLst>
          </p:cNvPr>
          <p:cNvSpPr>
            <a:spLocks noGrp="1"/>
          </p:cNvSpPr>
          <p:nvPr>
            <p:ph sz="quarter" idx="13"/>
          </p:nvPr>
        </p:nvSpPr>
        <p:spPr>
          <a:xfrm>
            <a:off x="476250" y="1288800"/>
            <a:ext cx="3963736" cy="3240000"/>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5" name="Content Placeholder 6">
            <a:extLst>
              <a:ext uri="{FF2B5EF4-FFF2-40B4-BE49-F238E27FC236}">
                <a16:creationId xmlns:a16="http://schemas.microsoft.com/office/drawing/2014/main" id="{ED8ED449-96B4-4FFF-9363-35637D717F18}"/>
              </a:ext>
            </a:extLst>
          </p:cNvPr>
          <p:cNvSpPr>
            <a:spLocks noGrp="1"/>
          </p:cNvSpPr>
          <p:nvPr>
            <p:ph sz="quarter" idx="15"/>
          </p:nvPr>
        </p:nvSpPr>
        <p:spPr>
          <a:xfrm>
            <a:off x="4704015" y="1288800"/>
            <a:ext cx="3963736" cy="3240000"/>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3" name="Titel 1">
            <a:extLst>
              <a:ext uri="{FF2B5EF4-FFF2-40B4-BE49-F238E27FC236}">
                <a16:creationId xmlns:a16="http://schemas.microsoft.com/office/drawing/2014/main" id="{D3B8CEC4-793A-447F-8864-56236A6C7B0F}"/>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4" name="Tijdelijke aanduiding voor tekst 5">
            <a:extLst>
              <a:ext uri="{FF2B5EF4-FFF2-40B4-BE49-F238E27FC236}">
                <a16:creationId xmlns:a16="http://schemas.microsoft.com/office/drawing/2014/main" id="{49662DE6-4537-4BC9-91D0-827572A657C0}"/>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312D8281-2794-457E-8B00-7FDEF1948D87}"/>
              </a:ext>
            </a:extLst>
          </p:cNvPr>
          <p:cNvSpPr>
            <a:spLocks noGrp="1"/>
          </p:cNvSpPr>
          <p:nvPr>
            <p:ph type="sldNum" sz="quarter" idx="16"/>
          </p:nvPr>
        </p:nvSpPr>
        <p:spPr/>
        <p:txBody>
          <a:bodyPr/>
          <a:lstStyle/>
          <a:p>
            <a:fld id="{14A8E892-9D3D-449A-93AD-1E7955DBB18F}" type="slidenum">
              <a:rPr lang="en-GB" smtClean="0"/>
              <a:pPr/>
              <a:t>‹#›</a:t>
            </a:fld>
            <a:endParaRPr lang="en-GB"/>
          </a:p>
        </p:txBody>
      </p:sp>
      <p:pic>
        <p:nvPicPr>
          <p:cNvPr id="2077814996" name="image" descr="{&quot;templafy&quot;:{&quot;id&quot;:&quot;6684d952-23e4-4605-a5b5-8e3ddfb8e595&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404251150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 Columns with caption">
    <p:spTree>
      <p:nvGrpSpPr>
        <p:cNvPr id="1" name=""/>
        <p:cNvGrpSpPr/>
        <p:nvPr/>
      </p:nvGrpSpPr>
      <p:grpSpPr>
        <a:xfrm>
          <a:off x="0" y="0"/>
          <a:ext cx="0" cy="0"/>
          <a:chOff x="0" y="0"/>
          <a:chExt cx="0" cy="0"/>
        </a:xfrm>
      </p:grpSpPr>
      <p:sp>
        <p:nvSpPr>
          <p:cNvPr id="19" name="Content Placeholder 6">
            <a:extLst>
              <a:ext uri="{FF2B5EF4-FFF2-40B4-BE49-F238E27FC236}">
                <a16:creationId xmlns:a16="http://schemas.microsoft.com/office/drawing/2014/main" id="{085E948C-34C3-40F6-B760-766DBC9E1F35}"/>
              </a:ext>
            </a:extLst>
          </p:cNvPr>
          <p:cNvSpPr>
            <a:spLocks noGrp="1"/>
          </p:cNvSpPr>
          <p:nvPr>
            <p:ph sz="quarter" idx="17"/>
          </p:nvPr>
        </p:nvSpPr>
        <p:spPr>
          <a:xfrm>
            <a:off x="4708665" y="1288801"/>
            <a:ext cx="3963736" cy="303464"/>
          </a:xfrm>
        </p:spPr>
        <p:txBody>
          <a:bodyPr numCol="1" spcCol="450000"/>
          <a:lstStyle>
            <a:lvl1pPr marL="0" indent="0">
              <a:lnSpc>
                <a:spcPct val="100000"/>
              </a:lnSpc>
              <a:buNone/>
              <a:defRPr b="0" i="0">
                <a:solidFill>
                  <a:schemeClr val="tx2"/>
                </a:solidFill>
                <a:latin typeface="Myriad for Rabobank Bd It" panose="020B0703030403090204" pitchFamily="34" charset="0"/>
              </a:defRPr>
            </a:lvl1pPr>
            <a:lvl2pPr marL="215990" indent="0">
              <a:lnSpc>
                <a:spcPct val="100000"/>
              </a:lnSpc>
              <a:buNone/>
              <a:defRPr>
                <a:solidFill>
                  <a:schemeClr val="tx2"/>
                </a:solidFill>
                <a:latin typeface="+mj-lt"/>
              </a:defRPr>
            </a:lvl2pPr>
            <a:lvl3pPr marL="431978" indent="0">
              <a:lnSpc>
                <a:spcPct val="100000"/>
              </a:lnSpc>
              <a:buNone/>
              <a:defRPr>
                <a:solidFill>
                  <a:schemeClr val="tx2"/>
                </a:solidFill>
                <a:latin typeface="+mj-lt"/>
              </a:defRPr>
            </a:lvl3pPr>
            <a:lvl4pPr marL="647967" indent="0">
              <a:lnSpc>
                <a:spcPct val="100000"/>
              </a:lnSpc>
              <a:buNone/>
              <a:defRPr>
                <a:solidFill>
                  <a:schemeClr val="tx2"/>
                </a:solidFill>
                <a:latin typeface="+mj-lt"/>
              </a:defRPr>
            </a:lvl4pPr>
            <a:lvl5pPr marL="1588" indent="0">
              <a:lnSpc>
                <a:spcPct val="100000"/>
              </a:lnSpc>
              <a:buFont typeface="Myriad for Rabobank" panose="020B0604020202020204" pitchFamily="34" charset="0"/>
              <a:buNone/>
              <a:defRPr>
                <a:solidFill>
                  <a:schemeClr val="tx2"/>
                </a:solidFill>
                <a:latin typeface="+mj-lt"/>
              </a:defRPr>
            </a:lvl5pPr>
          </a:lstStyle>
          <a:p>
            <a:pPr lvl="0"/>
            <a:endParaRPr lang="en-US"/>
          </a:p>
        </p:txBody>
      </p:sp>
      <p:sp>
        <p:nvSpPr>
          <p:cNvPr id="11" name="Content Placeholder 6">
            <a:extLst>
              <a:ext uri="{FF2B5EF4-FFF2-40B4-BE49-F238E27FC236}">
                <a16:creationId xmlns:a16="http://schemas.microsoft.com/office/drawing/2014/main" id="{67E088D2-CA2C-42EA-A2C6-3A99302FC7B3}"/>
              </a:ext>
            </a:extLst>
          </p:cNvPr>
          <p:cNvSpPr>
            <a:spLocks noGrp="1"/>
          </p:cNvSpPr>
          <p:nvPr>
            <p:ph sz="quarter" idx="18"/>
          </p:nvPr>
        </p:nvSpPr>
        <p:spPr>
          <a:xfrm>
            <a:off x="4704014" y="1592265"/>
            <a:ext cx="3968386" cy="2936536"/>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20" name="Content Placeholder 6">
            <a:extLst>
              <a:ext uri="{FF2B5EF4-FFF2-40B4-BE49-F238E27FC236}">
                <a16:creationId xmlns:a16="http://schemas.microsoft.com/office/drawing/2014/main" id="{CFB0DB72-8DD2-42B6-8EBF-77B9272310A4}"/>
              </a:ext>
            </a:extLst>
          </p:cNvPr>
          <p:cNvSpPr>
            <a:spLocks noGrp="1"/>
          </p:cNvSpPr>
          <p:nvPr>
            <p:ph sz="quarter" idx="19"/>
          </p:nvPr>
        </p:nvSpPr>
        <p:spPr>
          <a:xfrm>
            <a:off x="483450" y="1288801"/>
            <a:ext cx="3963736" cy="303464"/>
          </a:xfrm>
        </p:spPr>
        <p:txBody>
          <a:bodyPr numCol="1" spcCol="450000"/>
          <a:lstStyle>
            <a:lvl1pPr marL="0" indent="0">
              <a:lnSpc>
                <a:spcPct val="100000"/>
              </a:lnSpc>
              <a:buNone/>
              <a:defRPr b="0" i="0">
                <a:solidFill>
                  <a:schemeClr val="tx2"/>
                </a:solidFill>
                <a:latin typeface="Myriad for Rabobank Bd It" panose="020B0703030403090204" pitchFamily="34" charset="0"/>
              </a:defRPr>
            </a:lvl1pPr>
            <a:lvl2pPr marL="215990" indent="0">
              <a:lnSpc>
                <a:spcPct val="100000"/>
              </a:lnSpc>
              <a:buNone/>
              <a:defRPr>
                <a:solidFill>
                  <a:schemeClr val="tx2"/>
                </a:solidFill>
                <a:latin typeface="+mj-lt"/>
              </a:defRPr>
            </a:lvl2pPr>
            <a:lvl3pPr marL="431978" indent="0">
              <a:lnSpc>
                <a:spcPct val="100000"/>
              </a:lnSpc>
              <a:buNone/>
              <a:defRPr>
                <a:solidFill>
                  <a:schemeClr val="tx2"/>
                </a:solidFill>
                <a:latin typeface="+mj-lt"/>
              </a:defRPr>
            </a:lvl3pPr>
            <a:lvl4pPr marL="647967" indent="0">
              <a:lnSpc>
                <a:spcPct val="100000"/>
              </a:lnSpc>
              <a:buNone/>
              <a:defRPr>
                <a:solidFill>
                  <a:schemeClr val="tx2"/>
                </a:solidFill>
                <a:latin typeface="+mj-lt"/>
              </a:defRPr>
            </a:lvl4pPr>
            <a:lvl5pPr marL="1588" indent="0">
              <a:lnSpc>
                <a:spcPct val="100000"/>
              </a:lnSpc>
              <a:buFont typeface="Myriad for Rabobank" panose="020B0604020202020204" pitchFamily="34" charset="0"/>
              <a:buNone/>
              <a:defRPr>
                <a:solidFill>
                  <a:schemeClr val="tx2"/>
                </a:solidFill>
                <a:latin typeface="+mj-lt"/>
              </a:defRPr>
            </a:lvl5pPr>
          </a:lstStyle>
          <a:p>
            <a:pPr lvl="0"/>
            <a:endParaRPr lang="en-US"/>
          </a:p>
        </p:txBody>
      </p:sp>
      <p:sp>
        <p:nvSpPr>
          <p:cNvPr id="21" name="Content Placeholder 6">
            <a:extLst>
              <a:ext uri="{FF2B5EF4-FFF2-40B4-BE49-F238E27FC236}">
                <a16:creationId xmlns:a16="http://schemas.microsoft.com/office/drawing/2014/main" id="{A02CEDD7-C7C4-4491-9AC0-CD69EE316196}"/>
              </a:ext>
            </a:extLst>
          </p:cNvPr>
          <p:cNvSpPr>
            <a:spLocks noGrp="1"/>
          </p:cNvSpPr>
          <p:nvPr>
            <p:ph sz="quarter" idx="20"/>
          </p:nvPr>
        </p:nvSpPr>
        <p:spPr>
          <a:xfrm>
            <a:off x="478800" y="1592265"/>
            <a:ext cx="3963736" cy="2936536"/>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6" name="Titel 1">
            <a:extLst>
              <a:ext uri="{FF2B5EF4-FFF2-40B4-BE49-F238E27FC236}">
                <a16:creationId xmlns:a16="http://schemas.microsoft.com/office/drawing/2014/main" id="{050F85AB-E3BD-44C1-B466-D2571EF2147B}"/>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7" name="Tijdelijke aanduiding voor tekst 5">
            <a:extLst>
              <a:ext uri="{FF2B5EF4-FFF2-40B4-BE49-F238E27FC236}">
                <a16:creationId xmlns:a16="http://schemas.microsoft.com/office/drawing/2014/main" id="{ED2C8317-E068-4EEE-820E-D78736AC41E3}"/>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5E4A845E-8EC6-41F5-92FC-ECB508FDFCE6}"/>
              </a:ext>
            </a:extLst>
          </p:cNvPr>
          <p:cNvSpPr>
            <a:spLocks noGrp="1"/>
          </p:cNvSpPr>
          <p:nvPr>
            <p:ph type="sldNum" sz="quarter" idx="21"/>
          </p:nvPr>
        </p:nvSpPr>
        <p:spPr/>
        <p:txBody>
          <a:bodyPr/>
          <a:lstStyle/>
          <a:p>
            <a:fld id="{14A8E892-9D3D-449A-93AD-1E7955DBB18F}" type="slidenum">
              <a:rPr lang="en-GB" smtClean="0"/>
              <a:pPr/>
              <a:t>‹#›</a:t>
            </a:fld>
            <a:endParaRPr lang="en-GB"/>
          </a:p>
        </p:txBody>
      </p:sp>
      <p:pic>
        <p:nvPicPr>
          <p:cNvPr id="226914028" name="image" descr="{&quot;templafy&quot;:{&quot;id&quot;:&quot;d971f2f3-2618-4a47-a001-966cbab62d81&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2341663447"/>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6" name="Content Placeholder 6">
            <a:extLst>
              <a:ext uri="{FF2B5EF4-FFF2-40B4-BE49-F238E27FC236}">
                <a16:creationId xmlns:a16="http://schemas.microsoft.com/office/drawing/2014/main" id="{998800DA-3A0D-4DDB-9DDA-9B3926760097}"/>
              </a:ext>
            </a:extLst>
          </p:cNvPr>
          <p:cNvSpPr>
            <a:spLocks noGrp="1"/>
          </p:cNvSpPr>
          <p:nvPr>
            <p:ph sz="quarter" idx="20"/>
          </p:nvPr>
        </p:nvSpPr>
        <p:spPr>
          <a:xfrm>
            <a:off x="476250" y="1288800"/>
            <a:ext cx="2558550" cy="3240000"/>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8" name="Content Placeholder 6">
            <a:extLst>
              <a:ext uri="{FF2B5EF4-FFF2-40B4-BE49-F238E27FC236}">
                <a16:creationId xmlns:a16="http://schemas.microsoft.com/office/drawing/2014/main" id="{8CB0BD01-7C5D-490C-83A9-E66BD88D45F4}"/>
              </a:ext>
            </a:extLst>
          </p:cNvPr>
          <p:cNvSpPr>
            <a:spLocks noGrp="1"/>
          </p:cNvSpPr>
          <p:nvPr>
            <p:ph sz="quarter" idx="21"/>
          </p:nvPr>
        </p:nvSpPr>
        <p:spPr>
          <a:xfrm>
            <a:off x="3295050" y="1288800"/>
            <a:ext cx="2558550" cy="3240000"/>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9" name="Content Placeholder 6">
            <a:extLst>
              <a:ext uri="{FF2B5EF4-FFF2-40B4-BE49-F238E27FC236}">
                <a16:creationId xmlns:a16="http://schemas.microsoft.com/office/drawing/2014/main" id="{18184ED1-D7ED-480A-8A12-AAD2CF989EB7}"/>
              </a:ext>
            </a:extLst>
          </p:cNvPr>
          <p:cNvSpPr>
            <a:spLocks noGrp="1"/>
          </p:cNvSpPr>
          <p:nvPr>
            <p:ph sz="quarter" idx="22"/>
          </p:nvPr>
        </p:nvSpPr>
        <p:spPr>
          <a:xfrm>
            <a:off x="6113850" y="1288800"/>
            <a:ext cx="2558550" cy="3240000"/>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9" name="Titel 1">
            <a:extLst>
              <a:ext uri="{FF2B5EF4-FFF2-40B4-BE49-F238E27FC236}">
                <a16:creationId xmlns:a16="http://schemas.microsoft.com/office/drawing/2014/main" id="{C9F495F9-9C94-4D6A-9BDF-4E787DDB184F}"/>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3" name="Tijdelijke aanduiding voor tekst 5">
            <a:extLst>
              <a:ext uri="{FF2B5EF4-FFF2-40B4-BE49-F238E27FC236}">
                <a16:creationId xmlns:a16="http://schemas.microsoft.com/office/drawing/2014/main" id="{0C11E0B5-1840-4B54-9875-FB2F317C2876}"/>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2A07D2CE-B85B-4F81-9C81-1E11CF98E574}"/>
              </a:ext>
            </a:extLst>
          </p:cNvPr>
          <p:cNvSpPr>
            <a:spLocks noGrp="1"/>
          </p:cNvSpPr>
          <p:nvPr>
            <p:ph type="sldNum" sz="quarter" idx="23"/>
          </p:nvPr>
        </p:nvSpPr>
        <p:spPr/>
        <p:txBody>
          <a:bodyPr/>
          <a:lstStyle/>
          <a:p>
            <a:fld id="{14A8E892-9D3D-449A-93AD-1E7955DBB18F}" type="slidenum">
              <a:rPr lang="en-GB" smtClean="0"/>
              <a:pPr/>
              <a:t>‹#›</a:t>
            </a:fld>
            <a:endParaRPr lang="en-GB"/>
          </a:p>
        </p:txBody>
      </p:sp>
      <p:pic>
        <p:nvPicPr>
          <p:cNvPr id="1433876707" name="image" descr="{&quot;templafy&quot;:{&quot;id&quot;:&quot;8ded1caf-36a8-4639-aaa1-52720cdb0fc2&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281142828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Columns with caption">
    <p:spTree>
      <p:nvGrpSpPr>
        <p:cNvPr id="1" name=""/>
        <p:cNvGrpSpPr/>
        <p:nvPr/>
      </p:nvGrpSpPr>
      <p:grpSpPr>
        <a:xfrm>
          <a:off x="0" y="0"/>
          <a:ext cx="0" cy="0"/>
          <a:chOff x="0" y="0"/>
          <a:chExt cx="0" cy="0"/>
        </a:xfrm>
      </p:grpSpPr>
      <p:sp>
        <p:nvSpPr>
          <p:cNvPr id="26" name="Content Placeholder 6">
            <a:extLst>
              <a:ext uri="{FF2B5EF4-FFF2-40B4-BE49-F238E27FC236}">
                <a16:creationId xmlns:a16="http://schemas.microsoft.com/office/drawing/2014/main" id="{66304912-E375-4C46-8968-C6637671BD5B}"/>
              </a:ext>
            </a:extLst>
          </p:cNvPr>
          <p:cNvSpPr>
            <a:spLocks noGrp="1"/>
          </p:cNvSpPr>
          <p:nvPr>
            <p:ph sz="quarter" idx="20"/>
          </p:nvPr>
        </p:nvSpPr>
        <p:spPr>
          <a:xfrm>
            <a:off x="471600" y="1592265"/>
            <a:ext cx="2563200" cy="2936536"/>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29" name="Content Placeholder 6">
            <a:extLst>
              <a:ext uri="{FF2B5EF4-FFF2-40B4-BE49-F238E27FC236}">
                <a16:creationId xmlns:a16="http://schemas.microsoft.com/office/drawing/2014/main" id="{B89E2BE3-8880-457D-9257-5200CC3EFC44}"/>
              </a:ext>
            </a:extLst>
          </p:cNvPr>
          <p:cNvSpPr>
            <a:spLocks noGrp="1"/>
          </p:cNvSpPr>
          <p:nvPr>
            <p:ph sz="quarter" idx="19"/>
          </p:nvPr>
        </p:nvSpPr>
        <p:spPr>
          <a:xfrm>
            <a:off x="483450" y="1288801"/>
            <a:ext cx="2558550" cy="303464"/>
          </a:xfrm>
        </p:spPr>
        <p:txBody>
          <a:bodyPr numCol="1" spcCol="450000"/>
          <a:lstStyle>
            <a:lvl1pPr marL="0" indent="0">
              <a:lnSpc>
                <a:spcPct val="100000"/>
              </a:lnSpc>
              <a:buNone/>
              <a:defRPr b="0" i="0">
                <a:solidFill>
                  <a:schemeClr val="tx2"/>
                </a:solidFill>
                <a:latin typeface="Myriad for Rabobank Bd It" panose="020B0703030403090204" pitchFamily="34" charset="0"/>
              </a:defRPr>
            </a:lvl1pPr>
            <a:lvl2pPr marL="215990" indent="0">
              <a:lnSpc>
                <a:spcPct val="100000"/>
              </a:lnSpc>
              <a:buNone/>
              <a:defRPr>
                <a:solidFill>
                  <a:schemeClr val="tx2"/>
                </a:solidFill>
                <a:latin typeface="+mj-lt"/>
              </a:defRPr>
            </a:lvl2pPr>
            <a:lvl3pPr marL="431978" indent="0">
              <a:lnSpc>
                <a:spcPct val="100000"/>
              </a:lnSpc>
              <a:buNone/>
              <a:defRPr>
                <a:solidFill>
                  <a:schemeClr val="tx2"/>
                </a:solidFill>
                <a:latin typeface="+mj-lt"/>
              </a:defRPr>
            </a:lvl3pPr>
            <a:lvl4pPr marL="647967" indent="0">
              <a:lnSpc>
                <a:spcPct val="100000"/>
              </a:lnSpc>
              <a:buNone/>
              <a:defRPr>
                <a:solidFill>
                  <a:schemeClr val="tx2"/>
                </a:solidFill>
                <a:latin typeface="+mj-lt"/>
              </a:defRPr>
            </a:lvl4pPr>
            <a:lvl5pPr marL="1588" indent="0">
              <a:lnSpc>
                <a:spcPct val="100000"/>
              </a:lnSpc>
              <a:buFont typeface="Myriad for Rabobank" panose="020B0604020202020204" pitchFamily="34" charset="0"/>
              <a:buNone/>
              <a:defRPr>
                <a:solidFill>
                  <a:schemeClr val="tx2"/>
                </a:solidFill>
                <a:latin typeface="+mj-lt"/>
              </a:defRPr>
            </a:lvl5pPr>
          </a:lstStyle>
          <a:p>
            <a:pPr lvl="0"/>
            <a:endParaRPr lang="en-US"/>
          </a:p>
        </p:txBody>
      </p:sp>
      <p:sp>
        <p:nvSpPr>
          <p:cNvPr id="32" name="Content Placeholder 6">
            <a:extLst>
              <a:ext uri="{FF2B5EF4-FFF2-40B4-BE49-F238E27FC236}">
                <a16:creationId xmlns:a16="http://schemas.microsoft.com/office/drawing/2014/main" id="{48CE14EE-BDC2-4E60-9F83-88D4F613A195}"/>
              </a:ext>
            </a:extLst>
          </p:cNvPr>
          <p:cNvSpPr>
            <a:spLocks noGrp="1"/>
          </p:cNvSpPr>
          <p:nvPr>
            <p:ph sz="quarter" idx="25"/>
          </p:nvPr>
        </p:nvSpPr>
        <p:spPr>
          <a:xfrm>
            <a:off x="3299925" y="1592265"/>
            <a:ext cx="2563200" cy="2936536"/>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33" name="Content Placeholder 6">
            <a:extLst>
              <a:ext uri="{FF2B5EF4-FFF2-40B4-BE49-F238E27FC236}">
                <a16:creationId xmlns:a16="http://schemas.microsoft.com/office/drawing/2014/main" id="{F677BCA7-F93F-4D30-8210-1CAAB717F40D}"/>
              </a:ext>
            </a:extLst>
          </p:cNvPr>
          <p:cNvSpPr>
            <a:spLocks noGrp="1"/>
          </p:cNvSpPr>
          <p:nvPr>
            <p:ph sz="quarter" idx="26"/>
          </p:nvPr>
        </p:nvSpPr>
        <p:spPr>
          <a:xfrm>
            <a:off x="6121050" y="1592265"/>
            <a:ext cx="2563200" cy="2936536"/>
          </a:xfrm>
        </p:spPr>
        <p:txBody>
          <a:bodyPr numCol="1" spcCol="450000"/>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34" name="Content Placeholder 6">
            <a:extLst>
              <a:ext uri="{FF2B5EF4-FFF2-40B4-BE49-F238E27FC236}">
                <a16:creationId xmlns:a16="http://schemas.microsoft.com/office/drawing/2014/main" id="{AD70EC30-3527-4998-A1B8-54B2316C5E15}"/>
              </a:ext>
            </a:extLst>
          </p:cNvPr>
          <p:cNvSpPr>
            <a:spLocks noGrp="1"/>
          </p:cNvSpPr>
          <p:nvPr>
            <p:ph sz="quarter" idx="27"/>
          </p:nvPr>
        </p:nvSpPr>
        <p:spPr>
          <a:xfrm>
            <a:off x="3302250" y="1288801"/>
            <a:ext cx="2558550" cy="303464"/>
          </a:xfrm>
        </p:spPr>
        <p:txBody>
          <a:bodyPr numCol="1" spcCol="450000"/>
          <a:lstStyle>
            <a:lvl1pPr marL="0" indent="0">
              <a:lnSpc>
                <a:spcPct val="100000"/>
              </a:lnSpc>
              <a:buNone/>
              <a:defRPr b="0" i="0">
                <a:solidFill>
                  <a:schemeClr val="tx2"/>
                </a:solidFill>
                <a:latin typeface="Myriad for Rabobank Bd It" panose="020B0703030403090204" pitchFamily="34" charset="0"/>
              </a:defRPr>
            </a:lvl1pPr>
            <a:lvl2pPr marL="215990" indent="0">
              <a:lnSpc>
                <a:spcPct val="100000"/>
              </a:lnSpc>
              <a:buNone/>
              <a:defRPr>
                <a:solidFill>
                  <a:schemeClr val="tx2"/>
                </a:solidFill>
                <a:latin typeface="+mj-lt"/>
              </a:defRPr>
            </a:lvl2pPr>
            <a:lvl3pPr marL="431978" indent="0">
              <a:lnSpc>
                <a:spcPct val="100000"/>
              </a:lnSpc>
              <a:buNone/>
              <a:defRPr>
                <a:solidFill>
                  <a:schemeClr val="tx2"/>
                </a:solidFill>
                <a:latin typeface="+mj-lt"/>
              </a:defRPr>
            </a:lvl3pPr>
            <a:lvl4pPr marL="647967" indent="0">
              <a:lnSpc>
                <a:spcPct val="100000"/>
              </a:lnSpc>
              <a:buNone/>
              <a:defRPr>
                <a:solidFill>
                  <a:schemeClr val="tx2"/>
                </a:solidFill>
                <a:latin typeface="+mj-lt"/>
              </a:defRPr>
            </a:lvl4pPr>
            <a:lvl5pPr marL="1588" indent="0">
              <a:lnSpc>
                <a:spcPct val="100000"/>
              </a:lnSpc>
              <a:buFont typeface="Myriad for Rabobank" panose="020B0604020202020204" pitchFamily="34" charset="0"/>
              <a:buNone/>
              <a:defRPr>
                <a:solidFill>
                  <a:schemeClr val="tx2"/>
                </a:solidFill>
                <a:latin typeface="+mj-lt"/>
              </a:defRPr>
            </a:lvl5pPr>
          </a:lstStyle>
          <a:p>
            <a:pPr lvl="0"/>
            <a:endParaRPr lang="en-US"/>
          </a:p>
        </p:txBody>
      </p:sp>
      <p:sp>
        <p:nvSpPr>
          <p:cNvPr id="35" name="Content Placeholder 6">
            <a:extLst>
              <a:ext uri="{FF2B5EF4-FFF2-40B4-BE49-F238E27FC236}">
                <a16:creationId xmlns:a16="http://schemas.microsoft.com/office/drawing/2014/main" id="{27466155-974B-4B58-96D4-26984444E083}"/>
              </a:ext>
            </a:extLst>
          </p:cNvPr>
          <p:cNvSpPr>
            <a:spLocks noGrp="1"/>
          </p:cNvSpPr>
          <p:nvPr>
            <p:ph sz="quarter" idx="28"/>
          </p:nvPr>
        </p:nvSpPr>
        <p:spPr>
          <a:xfrm>
            <a:off x="6128250" y="1288801"/>
            <a:ext cx="2558550" cy="303464"/>
          </a:xfrm>
        </p:spPr>
        <p:txBody>
          <a:bodyPr numCol="1" spcCol="450000"/>
          <a:lstStyle>
            <a:lvl1pPr marL="0" indent="0">
              <a:lnSpc>
                <a:spcPct val="100000"/>
              </a:lnSpc>
              <a:buNone/>
              <a:defRPr b="0" i="0">
                <a:solidFill>
                  <a:schemeClr val="tx2"/>
                </a:solidFill>
                <a:latin typeface="Myriad for Rabobank Bd It" panose="020B0703030403090204" pitchFamily="34" charset="0"/>
              </a:defRPr>
            </a:lvl1pPr>
            <a:lvl2pPr marL="215990" indent="0">
              <a:lnSpc>
                <a:spcPct val="100000"/>
              </a:lnSpc>
              <a:buNone/>
              <a:defRPr>
                <a:solidFill>
                  <a:schemeClr val="tx2"/>
                </a:solidFill>
                <a:latin typeface="+mj-lt"/>
              </a:defRPr>
            </a:lvl2pPr>
            <a:lvl3pPr marL="431978" indent="0">
              <a:lnSpc>
                <a:spcPct val="100000"/>
              </a:lnSpc>
              <a:buNone/>
              <a:defRPr>
                <a:solidFill>
                  <a:schemeClr val="tx2"/>
                </a:solidFill>
                <a:latin typeface="+mj-lt"/>
              </a:defRPr>
            </a:lvl3pPr>
            <a:lvl4pPr marL="647967" indent="0">
              <a:lnSpc>
                <a:spcPct val="100000"/>
              </a:lnSpc>
              <a:buNone/>
              <a:defRPr>
                <a:solidFill>
                  <a:schemeClr val="tx2"/>
                </a:solidFill>
                <a:latin typeface="+mj-lt"/>
              </a:defRPr>
            </a:lvl4pPr>
            <a:lvl5pPr marL="1588" indent="0">
              <a:lnSpc>
                <a:spcPct val="100000"/>
              </a:lnSpc>
              <a:buFont typeface="Myriad for Rabobank" panose="020B0604020202020204" pitchFamily="34" charset="0"/>
              <a:buNone/>
              <a:defRPr>
                <a:solidFill>
                  <a:schemeClr val="tx2"/>
                </a:solidFill>
                <a:latin typeface="+mj-lt"/>
              </a:defRPr>
            </a:lvl5pPr>
          </a:lstStyle>
          <a:p>
            <a:pPr lvl="0"/>
            <a:endParaRPr lang="en-US"/>
          </a:p>
        </p:txBody>
      </p:sp>
      <p:sp>
        <p:nvSpPr>
          <p:cNvPr id="15" name="Titel 1">
            <a:extLst>
              <a:ext uri="{FF2B5EF4-FFF2-40B4-BE49-F238E27FC236}">
                <a16:creationId xmlns:a16="http://schemas.microsoft.com/office/drawing/2014/main" id="{B8FB2F96-B7A8-4983-929F-EEC233D09971}"/>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6" name="Tijdelijke aanduiding voor tekst 5">
            <a:extLst>
              <a:ext uri="{FF2B5EF4-FFF2-40B4-BE49-F238E27FC236}">
                <a16:creationId xmlns:a16="http://schemas.microsoft.com/office/drawing/2014/main" id="{3DD5C5C0-F6F6-407A-8AF5-492115D46AC0}"/>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1A023C33-C815-4A61-9C47-6F64964CFC41}"/>
              </a:ext>
            </a:extLst>
          </p:cNvPr>
          <p:cNvSpPr>
            <a:spLocks noGrp="1"/>
          </p:cNvSpPr>
          <p:nvPr>
            <p:ph type="sldNum" sz="quarter" idx="29"/>
          </p:nvPr>
        </p:nvSpPr>
        <p:spPr/>
        <p:txBody>
          <a:bodyPr/>
          <a:lstStyle/>
          <a:p>
            <a:fld id="{14A8E892-9D3D-449A-93AD-1E7955DBB18F}" type="slidenum">
              <a:rPr lang="en-GB" smtClean="0"/>
              <a:pPr/>
              <a:t>‹#›</a:t>
            </a:fld>
            <a:endParaRPr lang="en-GB"/>
          </a:p>
        </p:txBody>
      </p:sp>
      <p:pic>
        <p:nvPicPr>
          <p:cNvPr id="1913734057" name="image" descr="{&quot;templafy&quot;:{&quot;id&quot;:&quot;acbc5d2f-aa7c-4af5-aca5-6f04484bfb6d&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205823878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EFC2E4C2-DF53-4AC2-9458-7473B5247322}"/>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1" name="Tijdelijke aanduiding voor tekst 5">
            <a:extLst>
              <a:ext uri="{FF2B5EF4-FFF2-40B4-BE49-F238E27FC236}">
                <a16:creationId xmlns:a16="http://schemas.microsoft.com/office/drawing/2014/main" id="{0C031A23-D366-4E3B-BAA7-8ACFE174A411}"/>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C7B92116-EF22-467B-8BC4-D8F7D37CD10A}"/>
              </a:ext>
            </a:extLst>
          </p:cNvPr>
          <p:cNvSpPr>
            <a:spLocks noGrp="1"/>
          </p:cNvSpPr>
          <p:nvPr>
            <p:ph type="sldNum" sz="quarter" idx="13"/>
          </p:nvPr>
        </p:nvSpPr>
        <p:spPr/>
        <p:txBody>
          <a:bodyPr/>
          <a:lstStyle/>
          <a:p>
            <a:fld id="{14A8E892-9D3D-449A-93AD-1E7955DBB18F}" type="slidenum">
              <a:rPr lang="en-GB" smtClean="0"/>
              <a:pPr/>
              <a:t>‹#›</a:t>
            </a:fld>
            <a:endParaRPr lang="en-GB"/>
          </a:p>
        </p:txBody>
      </p:sp>
      <p:pic>
        <p:nvPicPr>
          <p:cNvPr id="1963038280" name="image" descr="{&quot;templafy&quot;:{&quot;id&quot;:&quot;6c06ec9f-712d-43b3-a0bd-db1a22679744&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667323728"/>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3" name="Rechte verbindingslijn 2">
            <a:extLst>
              <a:ext uri="{FF2B5EF4-FFF2-40B4-BE49-F238E27FC236}">
                <a16:creationId xmlns:a16="http://schemas.microsoft.com/office/drawing/2014/main" id="{6E44189F-9030-43F2-9858-F8DC272A13D8}"/>
              </a:ext>
            </a:extLst>
          </p:cNvPr>
          <p:cNvCxnSpPr>
            <a:cxnSpLocks/>
          </p:cNvCxnSpPr>
          <p:nvPr userDrawn="1"/>
        </p:nvCxnSpPr>
        <p:spPr>
          <a:xfrm>
            <a:off x="4568093" y="1290080"/>
            <a:ext cx="0" cy="3240000"/>
          </a:xfrm>
          <a:prstGeom prst="line">
            <a:avLst/>
          </a:prstGeom>
          <a:ln w="12700" cap="rnd">
            <a:solidFill>
              <a:srgbClr val="CCCCCC"/>
            </a:solidFill>
            <a:tailEnd type="none"/>
          </a:ln>
          <a:effectLst/>
        </p:spPr>
        <p:style>
          <a:lnRef idx="2">
            <a:schemeClr val="accent1"/>
          </a:lnRef>
          <a:fillRef idx="0">
            <a:schemeClr val="accent1"/>
          </a:fillRef>
          <a:effectRef idx="1">
            <a:schemeClr val="accent1"/>
          </a:effectRef>
          <a:fontRef idx="minor">
            <a:schemeClr val="tx1"/>
          </a:fontRef>
        </p:style>
      </p:cxnSp>
      <p:sp>
        <p:nvSpPr>
          <p:cNvPr id="7" name="Tijdelijke aanduiding voor tekst 6">
            <a:extLst>
              <a:ext uri="{FF2B5EF4-FFF2-40B4-BE49-F238E27FC236}">
                <a16:creationId xmlns:a16="http://schemas.microsoft.com/office/drawing/2014/main" id="{08CF08F0-9B5A-4561-959F-5F921C3A7481}"/>
              </a:ext>
            </a:extLst>
          </p:cNvPr>
          <p:cNvSpPr>
            <a:spLocks noGrp="1"/>
          </p:cNvSpPr>
          <p:nvPr>
            <p:ph type="body" sz="quarter" idx="13"/>
          </p:nvPr>
        </p:nvSpPr>
        <p:spPr>
          <a:xfrm>
            <a:off x="471488" y="1288801"/>
            <a:ext cx="8191500" cy="3240087"/>
          </a:xfrm>
        </p:spPr>
        <p:txBody>
          <a:bodyPr numCol="2" spcCol="450000"/>
          <a:lstStyle>
            <a:lvl1pPr marL="0" indent="0">
              <a:buClr>
                <a:schemeClr val="tx2"/>
              </a:buClr>
              <a:buFont typeface="+mj-lt"/>
              <a:buNone/>
              <a:defRPr b="0" i="0">
                <a:solidFill>
                  <a:schemeClr val="tx2"/>
                </a:solidFill>
                <a:latin typeface="Myriad for Rabobank Bd It" panose="020B0703030403090204" pitchFamily="34" charset="0"/>
              </a:defRPr>
            </a:lvl1pPr>
            <a:lvl2pPr marL="215995" indent="-215995">
              <a:buClr>
                <a:schemeClr val="accent2"/>
              </a:buClr>
              <a:buSzPct val="90000"/>
              <a:defRPr b="0" i="0">
                <a:latin typeface="Myriad for Rabobank Lt" panose="020B0403030403020204" pitchFamily="34" charset="0"/>
              </a:defRPr>
            </a:lvl2pPr>
            <a:lvl3pPr marL="431990" indent="-215995">
              <a:buClr>
                <a:schemeClr val="tx2"/>
              </a:buClr>
              <a:defRPr b="0" i="0">
                <a:latin typeface="Myriad for Rabobank Lt" panose="020B0403030403020204" pitchFamily="34" charset="0"/>
              </a:defRPr>
            </a:lvl3pPr>
            <a:lvl4pPr marL="647984" indent="-215995">
              <a:buClr>
                <a:schemeClr val="accent2"/>
              </a:buClr>
              <a:buFont typeface="Myriad for Rabobank" panose="02000000000000000000" pitchFamily="2" charset="0"/>
              <a:buChar char="•"/>
              <a:defRPr b="0" i="0">
                <a:latin typeface="Myriad for Rabobank Lt" panose="020B0403030403020204" pitchFamily="34" charset="0"/>
              </a:defRPr>
            </a:lvl4pPr>
            <a:lvl5pPr marL="863978" indent="-215995">
              <a:buClr>
                <a:srgbClr val="333333"/>
              </a:buClr>
              <a:buSzPct val="90000"/>
              <a:buFont typeface="Myriad for Rabobank" panose="020B0604020202020204" pitchFamily="34" charset="0"/>
              <a:buChar char="•"/>
              <a:defRPr b="0" i="0">
                <a:solidFill>
                  <a:srgbClr val="333333"/>
                </a:solidFill>
                <a:latin typeface="Myriad for Rabobank Lt" panose="020B0403030403020204" pitchFamily="34" charset="0"/>
              </a:defRPr>
            </a:lvl5pPr>
          </a:lstStyle>
          <a:p>
            <a:pPr lvl="0"/>
            <a:endParaRPr lang="en-US"/>
          </a:p>
          <a:p>
            <a:pPr lvl="1"/>
            <a:endParaRPr lang="nl-NL"/>
          </a:p>
          <a:p>
            <a:pPr lvl="2"/>
            <a:endParaRPr lang="nl-NL"/>
          </a:p>
          <a:p>
            <a:pPr lvl="3"/>
            <a:endParaRPr lang="nl-NL"/>
          </a:p>
          <a:p>
            <a:pPr lvl="4"/>
            <a:endParaRPr lang="nl-NL"/>
          </a:p>
        </p:txBody>
      </p:sp>
      <p:sp>
        <p:nvSpPr>
          <p:cNvPr id="14" name="Titel 1">
            <a:extLst>
              <a:ext uri="{FF2B5EF4-FFF2-40B4-BE49-F238E27FC236}">
                <a16:creationId xmlns:a16="http://schemas.microsoft.com/office/drawing/2014/main" id="{24C30E8E-D074-47B7-B4C8-10690C43767A}"/>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5" name="Tijdelijke aanduiding voor tekst 5">
            <a:extLst>
              <a:ext uri="{FF2B5EF4-FFF2-40B4-BE49-F238E27FC236}">
                <a16:creationId xmlns:a16="http://schemas.microsoft.com/office/drawing/2014/main" id="{203B2BFC-4203-4540-A7F4-D090978B5DB3}"/>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text" descr="{&quot;templafy&quot;:{&quot;id&quot;:&quot;f44a8c16-3ffb-46d6-a2ca-f076997174ed&quot;}}" title="Translations.TOC_3">
            <a:extLst>
              <a:ext uri="{FF2B5EF4-FFF2-40B4-BE49-F238E27FC236}">
                <a16:creationId xmlns:a16="http://schemas.microsoft.com/office/drawing/2014/main" id="{E51FF513-310A-4945-97A8-BD70A0394EF0}"/>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431990" marR="0" lvl="0" indent="-215995"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sub-sections: text level 2; automatically with orange bullets</a:t>
            </a:r>
          </a:p>
        </p:txBody>
      </p:sp>
      <p:sp>
        <p:nvSpPr>
          <p:cNvPr id="4" name="text" descr="{&quot;templafy&quot;:{&quot;id&quot;:&quot;d36a12f8-aef7-4ec0-8a97-ddb36ad17d7f&quot;}}" title="Translations.TOC_4">
            <a:extLst>
              <a:ext uri="{FF2B5EF4-FFF2-40B4-BE49-F238E27FC236}">
                <a16:creationId xmlns:a16="http://schemas.microsoft.com/office/drawing/2014/main" id="{2131D9C1-41D4-4318-BA36-7965F7D8A34E}"/>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Text will stream automatically into the second column</a:t>
            </a:r>
          </a:p>
        </p:txBody>
      </p:sp>
      <p:sp>
        <p:nvSpPr>
          <p:cNvPr id="18" name="text" descr="{&quot;templafy&quot;:{&quot;id&quot;:&quot;80c866ff-c99c-4725-bed6-4a71059b300d&quot;}}" title="Translations.TOC_2">
            <a:extLst>
              <a:ext uri="{FF2B5EF4-FFF2-40B4-BE49-F238E27FC236}">
                <a16:creationId xmlns:a16="http://schemas.microsoft.com/office/drawing/2014/main" id="{BFA432A6-4B8B-4A49-B360-264C81CEEB15}"/>
              </a:ext>
            </a:extLst>
          </p:cNvPr>
          <p:cNvSpPr/>
          <p:nvPr userDrawn="1"/>
        </p:nvSpPr>
        <p:spPr>
          <a:xfrm>
            <a:off x="0" y="-733156"/>
            <a:ext cx="9144000" cy="276999"/>
          </a:xfrm>
          <a:prstGeom prst="rect">
            <a:avLst/>
          </a:prstGeom>
          <a:noFill/>
          <a:ln w="12700">
            <a:noFill/>
          </a:ln>
        </p:spPr>
        <p:txBody>
          <a:bodyPr wrap="square" lIns="0" rIns="0" rtlCol="0" anchor="b" anchorCtr="0">
            <a:spAutoFit/>
          </a:bodyPr>
          <a:lstStyle/>
          <a:p>
            <a:pPr marL="431990" marR="0" lvl="0" indent="-215995"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chapter titles: text level 1; insert numbers manually</a:t>
            </a:r>
          </a:p>
        </p:txBody>
      </p:sp>
      <p:sp>
        <p:nvSpPr>
          <p:cNvPr id="19" name="text" descr="{&quot;templafy&quot;:{&quot;id&quot;:&quot;359a6ffd-fb55-4771-bbff-ecaeafb84f0d&quot;}}" title="Translations.TOC_1">
            <a:extLst>
              <a:ext uri="{FF2B5EF4-FFF2-40B4-BE49-F238E27FC236}">
                <a16:creationId xmlns:a16="http://schemas.microsoft.com/office/drawing/2014/main" id="{DC583440-44C3-4951-B94B-B009BD930269}"/>
              </a:ext>
            </a:extLst>
          </p:cNvPr>
          <p:cNvSpPr/>
          <p:nvPr userDrawn="1"/>
        </p:nvSpPr>
        <p:spPr>
          <a:xfrm>
            <a:off x="0" y="-908272"/>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Type title ("Content") and subtitle. Then create the TOC: </a:t>
            </a:r>
          </a:p>
        </p:txBody>
      </p:sp>
      <p:sp>
        <p:nvSpPr>
          <p:cNvPr id="5" name="Slide Number Placeholder 4">
            <a:extLst>
              <a:ext uri="{FF2B5EF4-FFF2-40B4-BE49-F238E27FC236}">
                <a16:creationId xmlns:a16="http://schemas.microsoft.com/office/drawing/2014/main" id="{2F39BA58-C168-499F-9829-DB7CADB2EA88}"/>
              </a:ext>
            </a:extLst>
          </p:cNvPr>
          <p:cNvSpPr>
            <a:spLocks noGrp="1"/>
          </p:cNvSpPr>
          <p:nvPr>
            <p:ph type="sldNum" sz="quarter" idx="14"/>
          </p:nvPr>
        </p:nvSpPr>
        <p:spPr/>
        <p:txBody>
          <a:bodyPr/>
          <a:lstStyle/>
          <a:p>
            <a:fld id="{14A8E892-9D3D-449A-93AD-1E7955DBB18F}" type="slidenum">
              <a:rPr lang="en-GB" smtClean="0"/>
              <a:pPr/>
              <a:t>‹#›</a:t>
            </a:fld>
            <a:endParaRPr lang="en-GB"/>
          </a:p>
        </p:txBody>
      </p:sp>
      <p:pic>
        <p:nvPicPr>
          <p:cNvPr id="762416068" name="image" descr="{&quot;templafy&quot;:{&quot;id&quot;:&quot;f0d09cf0-648a-4fbd-bbe6-b68b36d62446&quot;}}"/>
          <p:cNvPicPr>
            <a:picLocks noChangeAspect="1"/>
          </p:cNvPicPr>
          <p:nvPr/>
        </p:nvPicPr>
        <p:blipFill>
          <a:blip r:embed="rId2"/>
          <a:stretch>
            <a:fillRect/>
          </a:stretch>
        </p:blipFill>
        <p:spPr>
          <a:xfrm>
            <a:off x="8017200" y="4784401"/>
            <a:ext cx="655200" cy="120205"/>
          </a:xfrm>
          <a:prstGeom prst="rect">
            <a:avLst/>
          </a:prstGeom>
        </p:spPr>
      </p:pic>
      <p:grpSp>
        <p:nvGrpSpPr>
          <p:cNvPr id="12" name="Group 11">
            <a:extLst>
              <a:ext uri="{FF2B5EF4-FFF2-40B4-BE49-F238E27FC236}">
                <a16:creationId xmlns:a16="http://schemas.microsoft.com/office/drawing/2014/main" id="{855FBE49-4CCE-409A-B4BF-7BDA1BEAED8B}"/>
              </a:ext>
            </a:extLst>
          </p:cNvPr>
          <p:cNvGrpSpPr/>
          <p:nvPr userDrawn="1"/>
        </p:nvGrpSpPr>
        <p:grpSpPr>
          <a:xfrm>
            <a:off x="-664530" y="-506634"/>
            <a:ext cx="496890" cy="235331"/>
            <a:chOff x="-524670" y="-540569"/>
            <a:chExt cx="496890" cy="235331"/>
          </a:xfrm>
        </p:grpSpPr>
        <p:pic>
          <p:nvPicPr>
            <p:cNvPr id="13" name="Picture 12">
              <a:extLst>
                <a:ext uri="{FF2B5EF4-FFF2-40B4-BE49-F238E27FC236}">
                  <a16:creationId xmlns:a16="http://schemas.microsoft.com/office/drawing/2014/main" id="{BACDB090-4A57-4FD1-8161-C3D9B52EDDEA}"/>
                </a:ext>
              </a:extLst>
            </p:cNvPr>
            <p:cNvPicPr>
              <a:picLocks noChangeAspect="1"/>
            </p:cNvPicPr>
            <p:nvPr userDrawn="1"/>
          </p:nvPicPr>
          <p:blipFill>
            <a:blip r:embed="rId3"/>
            <a:stretch>
              <a:fillRect/>
            </a:stretch>
          </p:blipFill>
          <p:spPr>
            <a:xfrm>
              <a:off x="-524670" y="-527982"/>
              <a:ext cx="496890" cy="222744"/>
            </a:xfrm>
            <a:prstGeom prst="rect">
              <a:avLst/>
            </a:prstGeom>
          </p:spPr>
        </p:pic>
        <p:sp>
          <p:nvSpPr>
            <p:cNvPr id="16" name="Rectangle 15">
              <a:extLst>
                <a:ext uri="{FF2B5EF4-FFF2-40B4-BE49-F238E27FC236}">
                  <a16:creationId xmlns:a16="http://schemas.microsoft.com/office/drawing/2014/main" id="{9D89087B-32E5-4241-886C-6A95223831B2}"/>
                </a:ext>
              </a:extLst>
            </p:cNvPr>
            <p:cNvSpPr/>
            <p:nvPr userDrawn="1"/>
          </p:nvSpPr>
          <p:spPr>
            <a:xfrm>
              <a:off x="-276225" y="-540569"/>
              <a:ext cx="248445" cy="235331"/>
            </a:xfrm>
            <a:prstGeom prst="rect">
              <a:avLst/>
            </a:prstGeom>
            <a:noFill/>
            <a:ln w="12700" cap="rnd" cmpd="sng" algn="ctr">
              <a:solidFill>
                <a:schemeClr val="accent2"/>
              </a:solidFill>
              <a:prstDash val="solid"/>
            </a:ln>
            <a:effectLst/>
          </p:spPr>
          <p:txBody>
            <a:bodyPr rtlCol="0" anchor="ctr"/>
            <a:lstStyle/>
            <a:p>
              <a:pPr algn="ctr"/>
              <a:endParaRPr lang="nl-NL" sz="1800">
                <a:solidFill>
                  <a:srgbClr val="5E6A71"/>
                </a:solidFill>
              </a:endParaRPr>
            </a:p>
          </p:txBody>
        </p:sp>
      </p:grpSp>
      <p:cxnSp>
        <p:nvCxnSpPr>
          <p:cNvPr id="17" name="Straight Arrow Connector 16">
            <a:extLst>
              <a:ext uri="{FF2B5EF4-FFF2-40B4-BE49-F238E27FC236}">
                <a16:creationId xmlns:a16="http://schemas.microsoft.com/office/drawing/2014/main" id="{7C344EAB-B909-4E1D-9FD2-F1AC9CACA30C}"/>
              </a:ext>
            </a:extLst>
          </p:cNvPr>
          <p:cNvCxnSpPr>
            <a:cxnSpLocks/>
          </p:cNvCxnSpPr>
          <p:nvPr userDrawn="1"/>
        </p:nvCxnSpPr>
        <p:spPr>
          <a:xfrm flipH="1">
            <a:off x="-114300" y="-387861"/>
            <a:ext cx="24384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7929780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s with Separator Line">
    <p:spTree>
      <p:nvGrpSpPr>
        <p:cNvPr id="1" name=""/>
        <p:cNvGrpSpPr/>
        <p:nvPr/>
      </p:nvGrpSpPr>
      <p:grpSpPr>
        <a:xfrm>
          <a:off x="0" y="0"/>
          <a:ext cx="0" cy="0"/>
          <a:chOff x="0" y="0"/>
          <a:chExt cx="0" cy="0"/>
        </a:xfrm>
      </p:grpSpPr>
      <p:cxnSp>
        <p:nvCxnSpPr>
          <p:cNvPr id="3" name="Rechte verbindingslijn 2">
            <a:extLst>
              <a:ext uri="{FF2B5EF4-FFF2-40B4-BE49-F238E27FC236}">
                <a16:creationId xmlns:a16="http://schemas.microsoft.com/office/drawing/2014/main" id="{6E44189F-9030-43F2-9858-F8DC272A13D8}"/>
              </a:ext>
            </a:extLst>
          </p:cNvPr>
          <p:cNvCxnSpPr>
            <a:cxnSpLocks/>
          </p:cNvCxnSpPr>
          <p:nvPr userDrawn="1"/>
        </p:nvCxnSpPr>
        <p:spPr>
          <a:xfrm>
            <a:off x="4568093" y="1288800"/>
            <a:ext cx="0" cy="3240000"/>
          </a:xfrm>
          <a:prstGeom prst="line">
            <a:avLst/>
          </a:prstGeom>
          <a:ln w="12700" cap="rnd">
            <a:solidFill>
              <a:srgbClr val="CCCCCC"/>
            </a:solidFill>
            <a:tailEnd type="none"/>
          </a:ln>
          <a:effectLst/>
        </p:spPr>
        <p:style>
          <a:lnRef idx="2">
            <a:schemeClr val="accent1"/>
          </a:lnRef>
          <a:fillRef idx="0">
            <a:schemeClr val="accent1"/>
          </a:fillRef>
          <a:effectRef idx="1">
            <a:schemeClr val="accent1"/>
          </a:effectRef>
          <a:fontRef idx="minor">
            <a:schemeClr val="tx1"/>
          </a:fontRef>
        </p:style>
      </p:cxnSp>
      <p:sp>
        <p:nvSpPr>
          <p:cNvPr id="7" name="Tijdelijke aanduiding voor tekst 6">
            <a:extLst>
              <a:ext uri="{FF2B5EF4-FFF2-40B4-BE49-F238E27FC236}">
                <a16:creationId xmlns:a16="http://schemas.microsoft.com/office/drawing/2014/main" id="{08CF08F0-9B5A-4561-959F-5F921C3A7481}"/>
              </a:ext>
            </a:extLst>
          </p:cNvPr>
          <p:cNvSpPr>
            <a:spLocks noGrp="1"/>
          </p:cNvSpPr>
          <p:nvPr>
            <p:ph type="body" sz="quarter" idx="13"/>
          </p:nvPr>
        </p:nvSpPr>
        <p:spPr>
          <a:xfrm>
            <a:off x="471488" y="1288801"/>
            <a:ext cx="3968496" cy="3240087"/>
          </a:xfrm>
        </p:spPr>
        <p:txBody>
          <a:bodyPr wrap="square" numCol="1" spcCol="450000"/>
          <a:lstStyle>
            <a:lvl1pPr marL="215995" indent="-215995">
              <a:buClr>
                <a:schemeClr val="accent2"/>
              </a:buClr>
              <a:buFont typeface="Myriad for Rabobank SBd" panose="02000000000000000000" pitchFamily="2" charset="0"/>
              <a:buChar char="•"/>
              <a:defRPr b="0" i="0">
                <a:solidFill>
                  <a:schemeClr val="tx2"/>
                </a:solidFill>
                <a:latin typeface="Myriad for Rabobank Bd It" panose="020B0703030403090204" pitchFamily="34" charset="0"/>
              </a:defRPr>
            </a:lvl1pPr>
            <a:lvl2pPr marL="215995" indent="0">
              <a:buClr>
                <a:schemeClr val="accent2"/>
              </a:buClr>
              <a:buSzPct val="90000"/>
              <a:buNone/>
              <a:defRPr b="0" i="0"/>
            </a:lvl2pPr>
            <a:lvl3pPr marL="431990" indent="-215995">
              <a:buClr>
                <a:schemeClr val="tx2"/>
              </a:buClr>
              <a:buSzPct val="100000"/>
              <a:buFont typeface="Arial" panose="02000406040000020004" pitchFamily="2" charset="0"/>
              <a:buChar char="•"/>
              <a:defRPr/>
            </a:lvl3pPr>
            <a:lvl4pPr marL="647984" indent="-215995">
              <a:buClr>
                <a:schemeClr val="accent2"/>
              </a:buClr>
              <a:defRPr/>
            </a:lvl4pPr>
            <a:lvl5pPr marL="863978" indent="-215995">
              <a:buClr>
                <a:srgbClr val="333333"/>
              </a:buClr>
              <a:buSzPct val="90000"/>
              <a:buFont typeface="Myriad for Rabobank" panose="020B0604020202020204" pitchFamily="34" charset="0"/>
              <a:buChar char="•"/>
              <a:defRPr b="0" i="0">
                <a:solidFill>
                  <a:srgbClr val="333333"/>
                </a:solidFill>
                <a:latin typeface="Myriad for Rabobank Lt" panose="020B0403030403020204" pitchFamily="34" charset="0"/>
              </a:defRPr>
            </a:lvl5pPr>
          </a:lstStyle>
          <a:p>
            <a:pPr lvl="0"/>
            <a:endParaRPr lang="en-GB" noProof="0"/>
          </a:p>
          <a:p>
            <a:pPr lvl="1"/>
            <a:endParaRPr lang="nl-NL"/>
          </a:p>
          <a:p>
            <a:pPr lvl="2"/>
            <a:endParaRPr lang="nl-NL"/>
          </a:p>
          <a:p>
            <a:pPr lvl="3"/>
            <a:endParaRPr lang="nl-NL"/>
          </a:p>
          <a:p>
            <a:pPr lvl="4"/>
            <a:endParaRPr lang="nl-NL"/>
          </a:p>
        </p:txBody>
      </p:sp>
      <p:sp>
        <p:nvSpPr>
          <p:cNvPr id="11" name="Tijdelijke aanduiding voor tekst 6">
            <a:extLst>
              <a:ext uri="{FF2B5EF4-FFF2-40B4-BE49-F238E27FC236}">
                <a16:creationId xmlns:a16="http://schemas.microsoft.com/office/drawing/2014/main" id="{60F9E681-D930-4496-BA01-994BC3AE0BD5}"/>
              </a:ext>
            </a:extLst>
          </p:cNvPr>
          <p:cNvSpPr>
            <a:spLocks noGrp="1"/>
          </p:cNvSpPr>
          <p:nvPr>
            <p:ph type="body" sz="quarter" idx="16"/>
          </p:nvPr>
        </p:nvSpPr>
        <p:spPr>
          <a:xfrm>
            <a:off x="4696203" y="1288801"/>
            <a:ext cx="3968496" cy="3240087"/>
          </a:xfrm>
        </p:spPr>
        <p:txBody>
          <a:bodyPr wrap="square" numCol="1" spcCol="450000"/>
          <a:lstStyle>
            <a:lvl1pPr marL="215995" indent="-215995">
              <a:buClr>
                <a:schemeClr val="accent2"/>
              </a:buClr>
              <a:buFont typeface="Myriad for Rabobank SBd" panose="02000000000000000000" pitchFamily="2" charset="0"/>
              <a:buChar char="•"/>
              <a:defRPr b="0" i="0">
                <a:solidFill>
                  <a:schemeClr val="tx2"/>
                </a:solidFill>
                <a:latin typeface="Myriad for Rabobank Bd It" panose="020B0703030403090204" pitchFamily="34" charset="0"/>
              </a:defRPr>
            </a:lvl1pPr>
            <a:lvl2pPr marL="215995" indent="0">
              <a:buClr>
                <a:schemeClr val="accent2"/>
              </a:buClr>
              <a:buSzPct val="90000"/>
              <a:buNone/>
              <a:defRPr b="0" i="0"/>
            </a:lvl2pPr>
            <a:lvl3pPr marL="431990" indent="-215995">
              <a:buClr>
                <a:schemeClr val="tx2"/>
              </a:buClr>
              <a:buSzPct val="100000"/>
              <a:buFont typeface="Arial" panose="02000406040000020004" pitchFamily="2" charset="0"/>
              <a:buChar char="•"/>
              <a:defRPr/>
            </a:lvl3pPr>
            <a:lvl4pPr marL="647984" indent="-215995">
              <a:buClr>
                <a:schemeClr val="accent2"/>
              </a:buClr>
              <a:defRPr/>
            </a:lvl4pPr>
            <a:lvl5pPr marL="863978" indent="-215995">
              <a:buClr>
                <a:srgbClr val="333333"/>
              </a:buClr>
              <a:buSzPct val="90000"/>
              <a:buFont typeface="Myriad for Rabobank" panose="020B0604020202020204" pitchFamily="34" charset="0"/>
              <a:buChar char="•"/>
              <a:defRPr b="0" i="0">
                <a:solidFill>
                  <a:srgbClr val="333333"/>
                </a:solidFill>
                <a:latin typeface="Myriad for Rabobank Lt" panose="020B0403030403020204" pitchFamily="34" charset="0"/>
              </a:defRPr>
            </a:lvl5pPr>
          </a:lstStyle>
          <a:p>
            <a:pPr lvl="0"/>
            <a:endParaRPr lang="en-GB" noProof="0"/>
          </a:p>
          <a:p>
            <a:pPr lvl="1"/>
            <a:endParaRPr lang="nl-NL"/>
          </a:p>
          <a:p>
            <a:pPr lvl="2"/>
            <a:endParaRPr lang="nl-NL"/>
          </a:p>
          <a:p>
            <a:pPr lvl="3"/>
            <a:endParaRPr lang="nl-NL"/>
          </a:p>
          <a:p>
            <a:pPr lvl="4"/>
            <a:endParaRPr lang="nl-NL"/>
          </a:p>
        </p:txBody>
      </p:sp>
      <p:sp>
        <p:nvSpPr>
          <p:cNvPr id="14" name="Titel 1">
            <a:extLst>
              <a:ext uri="{FF2B5EF4-FFF2-40B4-BE49-F238E27FC236}">
                <a16:creationId xmlns:a16="http://schemas.microsoft.com/office/drawing/2014/main" id="{460D0AEC-D011-42B2-97F6-A95406C33721}"/>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5" name="Tijdelijke aanduiding voor tekst 5">
            <a:extLst>
              <a:ext uri="{FF2B5EF4-FFF2-40B4-BE49-F238E27FC236}">
                <a16:creationId xmlns:a16="http://schemas.microsoft.com/office/drawing/2014/main" id="{A9381AA1-FE43-4D45-A9CB-ED16270F109E}"/>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6C40A9F6-B3C6-4CB2-B5A3-2AD1E126E3C5}"/>
              </a:ext>
            </a:extLst>
          </p:cNvPr>
          <p:cNvSpPr>
            <a:spLocks noGrp="1"/>
          </p:cNvSpPr>
          <p:nvPr>
            <p:ph type="sldNum" sz="quarter" idx="17"/>
          </p:nvPr>
        </p:nvSpPr>
        <p:spPr/>
        <p:txBody>
          <a:bodyPr/>
          <a:lstStyle/>
          <a:p>
            <a:fld id="{14A8E892-9D3D-449A-93AD-1E7955DBB18F}" type="slidenum">
              <a:rPr lang="en-GB" smtClean="0"/>
              <a:pPr/>
              <a:t>‹#›</a:t>
            </a:fld>
            <a:endParaRPr lang="en-GB"/>
          </a:p>
        </p:txBody>
      </p:sp>
      <p:pic>
        <p:nvPicPr>
          <p:cNvPr id="1884992" name="image" descr="{&quot;templafy&quot;:{&quot;id&quot;:&quot;58d2bfd6-ed4b-4e69-907b-41bf1d6ce151&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50890363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and Box">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471600" y="1288800"/>
            <a:ext cx="38628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9" name="Tijdelijke aanduiding voor tekst 6">
            <a:extLst>
              <a:ext uri="{FF2B5EF4-FFF2-40B4-BE49-F238E27FC236}">
                <a16:creationId xmlns:a16="http://schemas.microsoft.com/office/drawing/2014/main" id="{802C4F1E-134D-42AB-B18B-CB39E7C61314}"/>
              </a:ext>
            </a:extLst>
          </p:cNvPr>
          <p:cNvSpPr>
            <a:spLocks noGrp="1"/>
          </p:cNvSpPr>
          <p:nvPr>
            <p:ph type="body" sz="quarter" idx="14"/>
          </p:nvPr>
        </p:nvSpPr>
        <p:spPr>
          <a:xfrm>
            <a:off x="4809599" y="1288801"/>
            <a:ext cx="4330800" cy="3240087"/>
          </a:xfrm>
          <a:custGeom>
            <a:avLst/>
            <a:gdLst>
              <a:gd name="connsiteX0" fmla="*/ 0 w 4582173"/>
              <a:gd name="connsiteY0" fmla="*/ 245048 h 3240087"/>
              <a:gd name="connsiteX1" fmla="*/ 245048 w 4582173"/>
              <a:gd name="connsiteY1" fmla="*/ 0 h 3240087"/>
              <a:gd name="connsiteX2" fmla="*/ 4337125 w 4582173"/>
              <a:gd name="connsiteY2" fmla="*/ 0 h 3240087"/>
              <a:gd name="connsiteX3" fmla="*/ 4582173 w 4582173"/>
              <a:gd name="connsiteY3" fmla="*/ 245048 h 3240087"/>
              <a:gd name="connsiteX4" fmla="*/ 4582173 w 4582173"/>
              <a:gd name="connsiteY4" fmla="*/ 2995039 h 3240087"/>
              <a:gd name="connsiteX5" fmla="*/ 4337125 w 4582173"/>
              <a:gd name="connsiteY5" fmla="*/ 3240087 h 3240087"/>
              <a:gd name="connsiteX6" fmla="*/ 245048 w 4582173"/>
              <a:gd name="connsiteY6" fmla="*/ 3240087 h 3240087"/>
              <a:gd name="connsiteX7" fmla="*/ 0 w 4582173"/>
              <a:gd name="connsiteY7" fmla="*/ 2995039 h 3240087"/>
              <a:gd name="connsiteX8" fmla="*/ 0 w 4582173"/>
              <a:gd name="connsiteY8" fmla="*/ 245048 h 3240087"/>
              <a:gd name="connsiteX0" fmla="*/ 0 w 4737050"/>
              <a:gd name="connsiteY0" fmla="*/ 245048 h 3240087"/>
              <a:gd name="connsiteX1" fmla="*/ 245048 w 4737050"/>
              <a:gd name="connsiteY1" fmla="*/ 0 h 3240087"/>
              <a:gd name="connsiteX2" fmla="*/ 4337125 w 4737050"/>
              <a:gd name="connsiteY2" fmla="*/ 0 h 3240087"/>
              <a:gd name="connsiteX3" fmla="*/ 4582173 w 4737050"/>
              <a:gd name="connsiteY3" fmla="*/ 2995039 h 3240087"/>
              <a:gd name="connsiteX4" fmla="*/ 4337125 w 4737050"/>
              <a:gd name="connsiteY4" fmla="*/ 3240087 h 3240087"/>
              <a:gd name="connsiteX5" fmla="*/ 245048 w 4737050"/>
              <a:gd name="connsiteY5" fmla="*/ 3240087 h 3240087"/>
              <a:gd name="connsiteX6" fmla="*/ 0 w 4737050"/>
              <a:gd name="connsiteY6" fmla="*/ 2995039 h 3240087"/>
              <a:gd name="connsiteX7" fmla="*/ 0 w 4737050"/>
              <a:gd name="connsiteY7" fmla="*/ 245048 h 3240087"/>
              <a:gd name="connsiteX0" fmla="*/ 0 w 4848634"/>
              <a:gd name="connsiteY0" fmla="*/ 245048 h 3240087"/>
              <a:gd name="connsiteX1" fmla="*/ 245048 w 4848634"/>
              <a:gd name="connsiteY1" fmla="*/ 0 h 3240087"/>
              <a:gd name="connsiteX2" fmla="*/ 4337125 w 4848634"/>
              <a:gd name="connsiteY2" fmla="*/ 0 h 3240087"/>
              <a:gd name="connsiteX3" fmla="*/ 4337125 w 4848634"/>
              <a:gd name="connsiteY3" fmla="*/ 3240087 h 3240087"/>
              <a:gd name="connsiteX4" fmla="*/ 245048 w 4848634"/>
              <a:gd name="connsiteY4" fmla="*/ 3240087 h 3240087"/>
              <a:gd name="connsiteX5" fmla="*/ 0 w 4848634"/>
              <a:gd name="connsiteY5" fmla="*/ 2995039 h 3240087"/>
              <a:gd name="connsiteX6" fmla="*/ 0 w 4848634"/>
              <a:gd name="connsiteY6" fmla="*/ 245048 h 3240087"/>
              <a:gd name="connsiteX0" fmla="*/ 0 w 4639402"/>
              <a:gd name="connsiteY0" fmla="*/ 245048 h 3240087"/>
              <a:gd name="connsiteX1" fmla="*/ 245048 w 4639402"/>
              <a:gd name="connsiteY1" fmla="*/ 0 h 3240087"/>
              <a:gd name="connsiteX2" fmla="*/ 4337125 w 4639402"/>
              <a:gd name="connsiteY2" fmla="*/ 0 h 3240087"/>
              <a:gd name="connsiteX3" fmla="*/ 4337125 w 4639402"/>
              <a:gd name="connsiteY3" fmla="*/ 3240087 h 3240087"/>
              <a:gd name="connsiteX4" fmla="*/ 245048 w 4639402"/>
              <a:gd name="connsiteY4" fmla="*/ 3240087 h 3240087"/>
              <a:gd name="connsiteX5" fmla="*/ 0 w 4639402"/>
              <a:gd name="connsiteY5" fmla="*/ 2995039 h 3240087"/>
              <a:gd name="connsiteX6" fmla="*/ 0 w 4639402"/>
              <a:gd name="connsiteY6" fmla="*/ 245048 h 3240087"/>
              <a:gd name="connsiteX0" fmla="*/ 0 w 4337125"/>
              <a:gd name="connsiteY0" fmla="*/ 245048 h 3240087"/>
              <a:gd name="connsiteX1" fmla="*/ 245048 w 4337125"/>
              <a:gd name="connsiteY1" fmla="*/ 0 h 3240087"/>
              <a:gd name="connsiteX2" fmla="*/ 4337125 w 4337125"/>
              <a:gd name="connsiteY2" fmla="*/ 0 h 3240087"/>
              <a:gd name="connsiteX3" fmla="*/ 4337125 w 4337125"/>
              <a:gd name="connsiteY3" fmla="*/ 3240087 h 3240087"/>
              <a:gd name="connsiteX4" fmla="*/ 245048 w 4337125"/>
              <a:gd name="connsiteY4" fmla="*/ 3240087 h 3240087"/>
              <a:gd name="connsiteX5" fmla="*/ 0 w 4337125"/>
              <a:gd name="connsiteY5" fmla="*/ 2995039 h 3240087"/>
              <a:gd name="connsiteX6" fmla="*/ 0 w 4337125"/>
              <a:gd name="connsiteY6" fmla="*/ 245048 h 324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37125" h="3240087">
                <a:moveTo>
                  <a:pt x="0" y="245048"/>
                </a:moveTo>
                <a:cubicBezTo>
                  <a:pt x="0" y="109712"/>
                  <a:pt x="109712" y="0"/>
                  <a:pt x="245048" y="0"/>
                </a:cubicBezTo>
                <a:lnTo>
                  <a:pt x="4337125" y="0"/>
                </a:lnTo>
                <a:cubicBezTo>
                  <a:pt x="4333338" y="3721365"/>
                  <a:pt x="4333338" y="-751787"/>
                  <a:pt x="4337125" y="3240087"/>
                </a:cubicBezTo>
                <a:lnTo>
                  <a:pt x="245048" y="3240087"/>
                </a:lnTo>
                <a:cubicBezTo>
                  <a:pt x="109712" y="3240087"/>
                  <a:pt x="0" y="3130375"/>
                  <a:pt x="0" y="2995039"/>
                </a:cubicBezTo>
                <a:lnTo>
                  <a:pt x="0" y="245048"/>
                </a:lnTo>
                <a:close/>
              </a:path>
            </a:pathLst>
          </a:custGeom>
          <a:solidFill>
            <a:srgbClr val="EEEEEE"/>
          </a:solidFill>
        </p:spPr>
        <p:txBody>
          <a:bodyPr lIns="270000" tIns="216000" rIns="576000" bIns="108000"/>
          <a:lstStyle>
            <a:lvl1pPr marL="0" indent="0">
              <a:buNone/>
              <a:defRPr sz="1240" b="0" i="0">
                <a:solidFill>
                  <a:srgbClr val="333333"/>
                </a:solidFill>
                <a:latin typeface="Myriad for Rabobank" panose="02000000000000000000" pitchFamily="2" charset="0"/>
              </a:defRPr>
            </a:lvl1pPr>
            <a:lvl2pPr marL="215990">
              <a:buClr>
                <a:schemeClr val="tx1"/>
              </a:buClr>
              <a:buSzPct val="90000"/>
              <a:defRPr sz="1240" b="0" i="0">
                <a:latin typeface="Myriad for Rabobank" panose="02000000000000000000" pitchFamily="2" charset="0"/>
              </a:defRPr>
            </a:lvl2pPr>
            <a:lvl3pPr marL="431979">
              <a:buClr>
                <a:schemeClr val="tx1"/>
              </a:buClr>
              <a:defRPr sz="1240">
                <a:latin typeface="Myriad for Rabobank" panose="02000000000000000000" pitchFamily="2" charset="0"/>
              </a:defRPr>
            </a:lvl3pPr>
            <a:lvl4pPr marL="647968">
              <a:buClr>
                <a:schemeClr val="tx1"/>
              </a:buClr>
              <a:defRPr sz="1240">
                <a:latin typeface="Myriad for Rabobank" panose="02000000000000000000" pitchFamily="2" charset="0"/>
              </a:defRPr>
            </a:lvl4pPr>
            <a:lvl5pPr marL="863957" indent="-215990">
              <a:buClr>
                <a:schemeClr val="tx1"/>
              </a:buClr>
              <a:buSzPct val="90000"/>
              <a:buFont typeface="Myriad for Rabobank" panose="020B0604020202020204" pitchFamily="34" charset="0"/>
              <a:buChar char="•"/>
              <a:defRPr sz="1240" b="0" i="0">
                <a:solidFill>
                  <a:srgbClr val="333333"/>
                </a:solidFill>
                <a:latin typeface="Myriad for Rabobank" panose="02000000000000000000" pitchFamily="2" charset="0"/>
              </a:defRPr>
            </a:lvl5pPr>
          </a:lstStyle>
          <a:p>
            <a:pPr lvl="0"/>
            <a:endParaRPr lang="en-GB" noProof="0"/>
          </a:p>
          <a:p>
            <a:pPr lvl="1"/>
            <a:endParaRPr lang="nl-NL"/>
          </a:p>
          <a:p>
            <a:pPr lvl="2"/>
            <a:endParaRPr lang="nl-NL"/>
          </a:p>
          <a:p>
            <a:pPr lvl="3"/>
            <a:endParaRPr lang="nl-NL"/>
          </a:p>
          <a:p>
            <a:pPr lvl="4"/>
            <a:endParaRPr lang="nl-NL"/>
          </a:p>
        </p:txBody>
      </p:sp>
      <p:sp>
        <p:nvSpPr>
          <p:cNvPr id="11" name="Titel 1">
            <a:extLst>
              <a:ext uri="{FF2B5EF4-FFF2-40B4-BE49-F238E27FC236}">
                <a16:creationId xmlns:a16="http://schemas.microsoft.com/office/drawing/2014/main" id="{BCA6D07E-27FD-498F-BD57-05C8065EDF66}"/>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4" name="Tijdelijke aanduiding voor tekst 5">
            <a:extLst>
              <a:ext uri="{FF2B5EF4-FFF2-40B4-BE49-F238E27FC236}">
                <a16:creationId xmlns:a16="http://schemas.microsoft.com/office/drawing/2014/main" id="{88732C3D-FAE5-4A3F-8B01-F9D8DCF524FD}"/>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C59B2B80-5095-4557-950C-0B177803100E}"/>
              </a:ext>
            </a:extLst>
          </p:cNvPr>
          <p:cNvSpPr>
            <a:spLocks noGrp="1"/>
          </p:cNvSpPr>
          <p:nvPr>
            <p:ph type="sldNum" sz="quarter" idx="15"/>
          </p:nvPr>
        </p:nvSpPr>
        <p:spPr/>
        <p:txBody>
          <a:bodyPr/>
          <a:lstStyle/>
          <a:p>
            <a:fld id="{14A8E892-9D3D-449A-93AD-1E7955DBB18F}" type="slidenum">
              <a:rPr lang="en-GB" smtClean="0"/>
              <a:pPr/>
              <a:t>‹#›</a:t>
            </a:fld>
            <a:endParaRPr lang="en-GB"/>
          </a:p>
        </p:txBody>
      </p:sp>
      <p:pic>
        <p:nvPicPr>
          <p:cNvPr id="1640265840" name="image" descr="{&quot;templafy&quot;:{&quot;id&quot;:&quot;4e6f85eb-2ec7-4db4-8f1e-e70c8b73799d&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442892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and Narrow Box">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471600" y="1288800"/>
            <a:ext cx="53064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9" name="Tijdelijke aanduiding voor tekst 6">
            <a:extLst>
              <a:ext uri="{FF2B5EF4-FFF2-40B4-BE49-F238E27FC236}">
                <a16:creationId xmlns:a16="http://schemas.microsoft.com/office/drawing/2014/main" id="{802C4F1E-134D-42AB-B18B-CB39E7C61314}"/>
              </a:ext>
            </a:extLst>
          </p:cNvPr>
          <p:cNvSpPr>
            <a:spLocks noGrp="1"/>
          </p:cNvSpPr>
          <p:nvPr>
            <p:ph type="body" sz="quarter" idx="14"/>
          </p:nvPr>
        </p:nvSpPr>
        <p:spPr>
          <a:xfrm>
            <a:off x="6256802" y="1288801"/>
            <a:ext cx="2890543" cy="3243897"/>
          </a:xfrm>
          <a:custGeom>
            <a:avLst/>
            <a:gdLst>
              <a:gd name="connsiteX0" fmla="*/ 0 w 3085362"/>
              <a:gd name="connsiteY0" fmla="*/ 262842 h 3240087"/>
              <a:gd name="connsiteX1" fmla="*/ 262842 w 3085362"/>
              <a:gd name="connsiteY1" fmla="*/ 0 h 3240087"/>
              <a:gd name="connsiteX2" fmla="*/ 2822520 w 3085362"/>
              <a:gd name="connsiteY2" fmla="*/ 0 h 3240087"/>
              <a:gd name="connsiteX3" fmla="*/ 3085362 w 3085362"/>
              <a:gd name="connsiteY3" fmla="*/ 262842 h 3240087"/>
              <a:gd name="connsiteX4" fmla="*/ 3085362 w 3085362"/>
              <a:gd name="connsiteY4" fmla="*/ 2977245 h 3240087"/>
              <a:gd name="connsiteX5" fmla="*/ 2822520 w 3085362"/>
              <a:gd name="connsiteY5" fmla="*/ 3240087 h 3240087"/>
              <a:gd name="connsiteX6" fmla="*/ 262842 w 3085362"/>
              <a:gd name="connsiteY6" fmla="*/ 3240087 h 3240087"/>
              <a:gd name="connsiteX7" fmla="*/ 0 w 3085362"/>
              <a:gd name="connsiteY7" fmla="*/ 2977245 h 3240087"/>
              <a:gd name="connsiteX8" fmla="*/ 0 w 3085362"/>
              <a:gd name="connsiteY8" fmla="*/ 262842 h 3240087"/>
              <a:gd name="connsiteX0" fmla="*/ 0 w 3085362"/>
              <a:gd name="connsiteY0" fmla="*/ 262842 h 3240087"/>
              <a:gd name="connsiteX1" fmla="*/ 262842 w 3085362"/>
              <a:gd name="connsiteY1" fmla="*/ 0 h 3240087"/>
              <a:gd name="connsiteX2" fmla="*/ 2887290 w 3085362"/>
              <a:gd name="connsiteY2" fmla="*/ 0 h 3240087"/>
              <a:gd name="connsiteX3" fmla="*/ 3085362 w 3085362"/>
              <a:gd name="connsiteY3" fmla="*/ 262842 h 3240087"/>
              <a:gd name="connsiteX4" fmla="*/ 3085362 w 3085362"/>
              <a:gd name="connsiteY4" fmla="*/ 2977245 h 3240087"/>
              <a:gd name="connsiteX5" fmla="*/ 2822520 w 3085362"/>
              <a:gd name="connsiteY5" fmla="*/ 3240087 h 3240087"/>
              <a:gd name="connsiteX6" fmla="*/ 262842 w 3085362"/>
              <a:gd name="connsiteY6" fmla="*/ 3240087 h 3240087"/>
              <a:gd name="connsiteX7" fmla="*/ 0 w 3085362"/>
              <a:gd name="connsiteY7" fmla="*/ 2977245 h 3240087"/>
              <a:gd name="connsiteX8" fmla="*/ 0 w 3085362"/>
              <a:gd name="connsiteY8" fmla="*/ 262842 h 3240087"/>
              <a:gd name="connsiteX0" fmla="*/ 0 w 3085362"/>
              <a:gd name="connsiteY0" fmla="*/ 262842 h 3243897"/>
              <a:gd name="connsiteX1" fmla="*/ 262842 w 3085362"/>
              <a:gd name="connsiteY1" fmla="*/ 0 h 3243897"/>
              <a:gd name="connsiteX2" fmla="*/ 2887290 w 3085362"/>
              <a:gd name="connsiteY2" fmla="*/ 0 h 3243897"/>
              <a:gd name="connsiteX3" fmla="*/ 3085362 w 3085362"/>
              <a:gd name="connsiteY3" fmla="*/ 262842 h 3243897"/>
              <a:gd name="connsiteX4" fmla="*/ 3085362 w 3085362"/>
              <a:gd name="connsiteY4" fmla="*/ 2977245 h 3243897"/>
              <a:gd name="connsiteX5" fmla="*/ 2887290 w 3085362"/>
              <a:gd name="connsiteY5" fmla="*/ 3243897 h 3243897"/>
              <a:gd name="connsiteX6" fmla="*/ 262842 w 3085362"/>
              <a:gd name="connsiteY6" fmla="*/ 3240087 h 3243897"/>
              <a:gd name="connsiteX7" fmla="*/ 0 w 3085362"/>
              <a:gd name="connsiteY7" fmla="*/ 2977245 h 3243897"/>
              <a:gd name="connsiteX8" fmla="*/ 0 w 3085362"/>
              <a:gd name="connsiteY8" fmla="*/ 262842 h 3243897"/>
              <a:gd name="connsiteX0" fmla="*/ 0 w 3163777"/>
              <a:gd name="connsiteY0" fmla="*/ 262842 h 3243897"/>
              <a:gd name="connsiteX1" fmla="*/ 262842 w 3163777"/>
              <a:gd name="connsiteY1" fmla="*/ 0 h 3243897"/>
              <a:gd name="connsiteX2" fmla="*/ 2887290 w 3163777"/>
              <a:gd name="connsiteY2" fmla="*/ 0 h 3243897"/>
              <a:gd name="connsiteX3" fmla="*/ 3085362 w 3163777"/>
              <a:gd name="connsiteY3" fmla="*/ 2977245 h 3243897"/>
              <a:gd name="connsiteX4" fmla="*/ 2887290 w 3163777"/>
              <a:gd name="connsiteY4" fmla="*/ 3243897 h 3243897"/>
              <a:gd name="connsiteX5" fmla="*/ 262842 w 3163777"/>
              <a:gd name="connsiteY5" fmla="*/ 3240087 h 3243897"/>
              <a:gd name="connsiteX6" fmla="*/ 0 w 3163777"/>
              <a:gd name="connsiteY6" fmla="*/ 2977245 h 3243897"/>
              <a:gd name="connsiteX7" fmla="*/ 0 w 3163777"/>
              <a:gd name="connsiteY7" fmla="*/ 262842 h 3243897"/>
              <a:gd name="connsiteX0" fmla="*/ 0 w 3215346"/>
              <a:gd name="connsiteY0" fmla="*/ 262842 h 3243897"/>
              <a:gd name="connsiteX1" fmla="*/ 262842 w 3215346"/>
              <a:gd name="connsiteY1" fmla="*/ 0 h 3243897"/>
              <a:gd name="connsiteX2" fmla="*/ 2887290 w 3215346"/>
              <a:gd name="connsiteY2" fmla="*/ 0 h 3243897"/>
              <a:gd name="connsiteX3" fmla="*/ 2887290 w 3215346"/>
              <a:gd name="connsiteY3" fmla="*/ 3243897 h 3243897"/>
              <a:gd name="connsiteX4" fmla="*/ 262842 w 3215346"/>
              <a:gd name="connsiteY4" fmla="*/ 3240087 h 3243897"/>
              <a:gd name="connsiteX5" fmla="*/ 0 w 3215346"/>
              <a:gd name="connsiteY5" fmla="*/ 2977245 h 3243897"/>
              <a:gd name="connsiteX6" fmla="*/ 0 w 3215346"/>
              <a:gd name="connsiteY6" fmla="*/ 262842 h 3243897"/>
              <a:gd name="connsiteX0" fmla="*/ 0 w 3084090"/>
              <a:gd name="connsiteY0" fmla="*/ 262842 h 3243897"/>
              <a:gd name="connsiteX1" fmla="*/ 262842 w 3084090"/>
              <a:gd name="connsiteY1" fmla="*/ 0 h 3243897"/>
              <a:gd name="connsiteX2" fmla="*/ 2887290 w 3084090"/>
              <a:gd name="connsiteY2" fmla="*/ 0 h 3243897"/>
              <a:gd name="connsiteX3" fmla="*/ 2887290 w 3084090"/>
              <a:gd name="connsiteY3" fmla="*/ 3243897 h 3243897"/>
              <a:gd name="connsiteX4" fmla="*/ 262842 w 3084090"/>
              <a:gd name="connsiteY4" fmla="*/ 3240087 h 3243897"/>
              <a:gd name="connsiteX5" fmla="*/ 0 w 3084090"/>
              <a:gd name="connsiteY5" fmla="*/ 2977245 h 3243897"/>
              <a:gd name="connsiteX6" fmla="*/ 0 w 3084090"/>
              <a:gd name="connsiteY6" fmla="*/ 262842 h 3243897"/>
              <a:gd name="connsiteX0" fmla="*/ 0 w 2891879"/>
              <a:gd name="connsiteY0" fmla="*/ 262842 h 3243897"/>
              <a:gd name="connsiteX1" fmla="*/ 262842 w 2891879"/>
              <a:gd name="connsiteY1" fmla="*/ 0 h 3243897"/>
              <a:gd name="connsiteX2" fmla="*/ 2887290 w 2891879"/>
              <a:gd name="connsiteY2" fmla="*/ 0 h 3243897"/>
              <a:gd name="connsiteX3" fmla="*/ 2887290 w 2891879"/>
              <a:gd name="connsiteY3" fmla="*/ 3243897 h 3243897"/>
              <a:gd name="connsiteX4" fmla="*/ 262842 w 2891879"/>
              <a:gd name="connsiteY4" fmla="*/ 3240087 h 3243897"/>
              <a:gd name="connsiteX5" fmla="*/ 0 w 2891879"/>
              <a:gd name="connsiteY5" fmla="*/ 2977245 h 3243897"/>
              <a:gd name="connsiteX6" fmla="*/ 0 w 2891879"/>
              <a:gd name="connsiteY6" fmla="*/ 262842 h 3243897"/>
              <a:gd name="connsiteX0" fmla="*/ 0 w 2890188"/>
              <a:gd name="connsiteY0" fmla="*/ 262842 h 3243897"/>
              <a:gd name="connsiteX1" fmla="*/ 262842 w 2890188"/>
              <a:gd name="connsiteY1" fmla="*/ 0 h 3243897"/>
              <a:gd name="connsiteX2" fmla="*/ 2887290 w 2890188"/>
              <a:gd name="connsiteY2" fmla="*/ 0 h 3243897"/>
              <a:gd name="connsiteX3" fmla="*/ 2887290 w 2890188"/>
              <a:gd name="connsiteY3" fmla="*/ 3243897 h 3243897"/>
              <a:gd name="connsiteX4" fmla="*/ 262842 w 2890188"/>
              <a:gd name="connsiteY4" fmla="*/ 3240087 h 3243897"/>
              <a:gd name="connsiteX5" fmla="*/ 0 w 2890188"/>
              <a:gd name="connsiteY5" fmla="*/ 2977245 h 3243897"/>
              <a:gd name="connsiteX6" fmla="*/ 0 w 2890188"/>
              <a:gd name="connsiteY6" fmla="*/ 262842 h 3243897"/>
              <a:gd name="connsiteX0" fmla="*/ 0 w 2887290"/>
              <a:gd name="connsiteY0" fmla="*/ 262842 h 3243897"/>
              <a:gd name="connsiteX1" fmla="*/ 262842 w 2887290"/>
              <a:gd name="connsiteY1" fmla="*/ 0 h 3243897"/>
              <a:gd name="connsiteX2" fmla="*/ 2887290 w 2887290"/>
              <a:gd name="connsiteY2" fmla="*/ 0 h 3243897"/>
              <a:gd name="connsiteX3" fmla="*/ 2887290 w 2887290"/>
              <a:gd name="connsiteY3" fmla="*/ 3243897 h 3243897"/>
              <a:gd name="connsiteX4" fmla="*/ 262842 w 2887290"/>
              <a:gd name="connsiteY4" fmla="*/ 3240087 h 3243897"/>
              <a:gd name="connsiteX5" fmla="*/ 0 w 2887290"/>
              <a:gd name="connsiteY5" fmla="*/ 2977245 h 3243897"/>
              <a:gd name="connsiteX6" fmla="*/ 0 w 2887290"/>
              <a:gd name="connsiteY6" fmla="*/ 262842 h 3243897"/>
              <a:gd name="connsiteX0" fmla="*/ 0 w 2887290"/>
              <a:gd name="connsiteY0" fmla="*/ 262842 h 3243897"/>
              <a:gd name="connsiteX1" fmla="*/ 262842 w 2887290"/>
              <a:gd name="connsiteY1" fmla="*/ 0 h 3243897"/>
              <a:gd name="connsiteX2" fmla="*/ 2887290 w 2887290"/>
              <a:gd name="connsiteY2" fmla="*/ 0 h 3243897"/>
              <a:gd name="connsiteX3" fmla="*/ 2879670 w 2887290"/>
              <a:gd name="connsiteY3" fmla="*/ 3243897 h 3243897"/>
              <a:gd name="connsiteX4" fmla="*/ 262842 w 2887290"/>
              <a:gd name="connsiteY4" fmla="*/ 3240087 h 3243897"/>
              <a:gd name="connsiteX5" fmla="*/ 0 w 2887290"/>
              <a:gd name="connsiteY5" fmla="*/ 2977245 h 3243897"/>
              <a:gd name="connsiteX6" fmla="*/ 0 w 2887290"/>
              <a:gd name="connsiteY6" fmla="*/ 262842 h 3243897"/>
              <a:gd name="connsiteX0" fmla="*/ 0 w 2887290"/>
              <a:gd name="connsiteY0" fmla="*/ 262842 h 3251517"/>
              <a:gd name="connsiteX1" fmla="*/ 262842 w 2887290"/>
              <a:gd name="connsiteY1" fmla="*/ 0 h 3251517"/>
              <a:gd name="connsiteX2" fmla="*/ 2887290 w 2887290"/>
              <a:gd name="connsiteY2" fmla="*/ 0 h 3251517"/>
              <a:gd name="connsiteX3" fmla="*/ 2883480 w 2887290"/>
              <a:gd name="connsiteY3" fmla="*/ 3251517 h 3251517"/>
              <a:gd name="connsiteX4" fmla="*/ 262842 w 2887290"/>
              <a:gd name="connsiteY4" fmla="*/ 3240087 h 3251517"/>
              <a:gd name="connsiteX5" fmla="*/ 0 w 2887290"/>
              <a:gd name="connsiteY5" fmla="*/ 2977245 h 3251517"/>
              <a:gd name="connsiteX6" fmla="*/ 0 w 2887290"/>
              <a:gd name="connsiteY6" fmla="*/ 262842 h 3251517"/>
              <a:gd name="connsiteX0" fmla="*/ 0 w 2888021"/>
              <a:gd name="connsiteY0" fmla="*/ 262842 h 3251517"/>
              <a:gd name="connsiteX1" fmla="*/ 262842 w 2888021"/>
              <a:gd name="connsiteY1" fmla="*/ 0 h 3251517"/>
              <a:gd name="connsiteX2" fmla="*/ 2887290 w 2888021"/>
              <a:gd name="connsiteY2" fmla="*/ 0 h 3251517"/>
              <a:gd name="connsiteX3" fmla="*/ 2883480 w 2888021"/>
              <a:gd name="connsiteY3" fmla="*/ 3251517 h 3251517"/>
              <a:gd name="connsiteX4" fmla="*/ 262842 w 2888021"/>
              <a:gd name="connsiteY4" fmla="*/ 3240087 h 3251517"/>
              <a:gd name="connsiteX5" fmla="*/ 0 w 2888021"/>
              <a:gd name="connsiteY5" fmla="*/ 2977245 h 3251517"/>
              <a:gd name="connsiteX6" fmla="*/ 0 w 2888021"/>
              <a:gd name="connsiteY6" fmla="*/ 262842 h 3251517"/>
              <a:gd name="connsiteX0" fmla="*/ 0 w 2890543"/>
              <a:gd name="connsiteY0" fmla="*/ 262842 h 3251517"/>
              <a:gd name="connsiteX1" fmla="*/ 262842 w 2890543"/>
              <a:gd name="connsiteY1" fmla="*/ 0 h 3251517"/>
              <a:gd name="connsiteX2" fmla="*/ 2887290 w 2890543"/>
              <a:gd name="connsiteY2" fmla="*/ 0 h 3251517"/>
              <a:gd name="connsiteX3" fmla="*/ 2883480 w 2890543"/>
              <a:gd name="connsiteY3" fmla="*/ 3251517 h 3251517"/>
              <a:gd name="connsiteX4" fmla="*/ 262842 w 2890543"/>
              <a:gd name="connsiteY4" fmla="*/ 3240087 h 3251517"/>
              <a:gd name="connsiteX5" fmla="*/ 0 w 2890543"/>
              <a:gd name="connsiteY5" fmla="*/ 2977245 h 3251517"/>
              <a:gd name="connsiteX6" fmla="*/ 0 w 2890543"/>
              <a:gd name="connsiteY6" fmla="*/ 262842 h 3251517"/>
              <a:gd name="connsiteX0" fmla="*/ 0 w 2890543"/>
              <a:gd name="connsiteY0" fmla="*/ 262842 h 3243897"/>
              <a:gd name="connsiteX1" fmla="*/ 262842 w 2890543"/>
              <a:gd name="connsiteY1" fmla="*/ 0 h 3243897"/>
              <a:gd name="connsiteX2" fmla="*/ 2887290 w 2890543"/>
              <a:gd name="connsiteY2" fmla="*/ 0 h 3243897"/>
              <a:gd name="connsiteX3" fmla="*/ 2883480 w 2890543"/>
              <a:gd name="connsiteY3" fmla="*/ 3243897 h 3243897"/>
              <a:gd name="connsiteX4" fmla="*/ 262842 w 2890543"/>
              <a:gd name="connsiteY4" fmla="*/ 3240087 h 3243897"/>
              <a:gd name="connsiteX5" fmla="*/ 0 w 2890543"/>
              <a:gd name="connsiteY5" fmla="*/ 2977245 h 3243897"/>
              <a:gd name="connsiteX6" fmla="*/ 0 w 2890543"/>
              <a:gd name="connsiteY6" fmla="*/ 262842 h 3243897"/>
              <a:gd name="connsiteX0" fmla="*/ 0 w 2890543"/>
              <a:gd name="connsiteY0" fmla="*/ 262842 h 3243897"/>
              <a:gd name="connsiteX1" fmla="*/ 262842 w 2890543"/>
              <a:gd name="connsiteY1" fmla="*/ 0 h 3243897"/>
              <a:gd name="connsiteX2" fmla="*/ 2887290 w 2890543"/>
              <a:gd name="connsiteY2" fmla="*/ 0 h 3243897"/>
              <a:gd name="connsiteX3" fmla="*/ 2883480 w 2890543"/>
              <a:gd name="connsiteY3" fmla="*/ 3243897 h 3243897"/>
              <a:gd name="connsiteX4" fmla="*/ 262842 w 2890543"/>
              <a:gd name="connsiteY4" fmla="*/ 3240087 h 3243897"/>
              <a:gd name="connsiteX5" fmla="*/ 0 w 2890543"/>
              <a:gd name="connsiteY5" fmla="*/ 2977245 h 3243897"/>
              <a:gd name="connsiteX6" fmla="*/ 0 w 2890543"/>
              <a:gd name="connsiteY6" fmla="*/ 262842 h 324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90543" h="3243897">
                <a:moveTo>
                  <a:pt x="0" y="262842"/>
                </a:moveTo>
                <a:cubicBezTo>
                  <a:pt x="0" y="117678"/>
                  <a:pt x="117678" y="0"/>
                  <a:pt x="262842" y="0"/>
                </a:cubicBezTo>
                <a:lnTo>
                  <a:pt x="2887290" y="0"/>
                </a:lnTo>
                <a:cubicBezTo>
                  <a:pt x="2890358" y="3638180"/>
                  <a:pt x="2894168" y="-660347"/>
                  <a:pt x="2883480" y="3243897"/>
                </a:cubicBezTo>
                <a:lnTo>
                  <a:pt x="262842" y="3240087"/>
                </a:lnTo>
                <a:cubicBezTo>
                  <a:pt x="117678" y="3240087"/>
                  <a:pt x="0" y="3122409"/>
                  <a:pt x="0" y="2977245"/>
                </a:cubicBezTo>
                <a:lnTo>
                  <a:pt x="0" y="262842"/>
                </a:lnTo>
                <a:close/>
              </a:path>
            </a:pathLst>
          </a:custGeom>
          <a:solidFill>
            <a:srgbClr val="EEEEEE"/>
          </a:solidFill>
        </p:spPr>
        <p:txBody>
          <a:bodyPr lIns="270000" tIns="216000" rIns="576000" bIns="108000"/>
          <a:lstStyle>
            <a:lvl1pPr marL="0" indent="0">
              <a:buNone/>
              <a:defRPr sz="1240" b="0" i="0">
                <a:solidFill>
                  <a:srgbClr val="333333"/>
                </a:solidFill>
                <a:latin typeface="Myriad for Rabobank" panose="02000000000000000000" pitchFamily="2" charset="0"/>
              </a:defRPr>
            </a:lvl1pPr>
            <a:lvl2pPr marL="215990">
              <a:buClr>
                <a:schemeClr val="tx1"/>
              </a:buClr>
              <a:buSzPct val="90000"/>
              <a:defRPr sz="1240" b="0" i="0">
                <a:latin typeface="Myriad for Rabobank" panose="02000000000000000000" pitchFamily="2" charset="0"/>
              </a:defRPr>
            </a:lvl2pPr>
            <a:lvl3pPr marL="431979">
              <a:buClr>
                <a:schemeClr val="tx1"/>
              </a:buClr>
              <a:defRPr sz="1240">
                <a:latin typeface="Myriad for Rabobank" panose="02000000000000000000" pitchFamily="2" charset="0"/>
              </a:defRPr>
            </a:lvl3pPr>
            <a:lvl4pPr marL="647968">
              <a:buClr>
                <a:schemeClr val="tx1"/>
              </a:buClr>
              <a:defRPr sz="1240">
                <a:latin typeface="Myriad for Rabobank" panose="02000000000000000000" pitchFamily="2" charset="0"/>
              </a:defRPr>
            </a:lvl4pPr>
            <a:lvl5pPr marL="863957" indent="-215990">
              <a:buClr>
                <a:schemeClr val="tx1"/>
              </a:buClr>
              <a:buSzPct val="90000"/>
              <a:buFont typeface="Myriad for Rabobank" panose="020B0604020202020204" pitchFamily="34" charset="0"/>
              <a:buChar char="•"/>
              <a:defRPr sz="1240" b="0" i="0">
                <a:solidFill>
                  <a:srgbClr val="333333"/>
                </a:solidFill>
                <a:latin typeface="Myriad for Rabobank" panose="02000000000000000000" pitchFamily="2" charset="0"/>
              </a:defRPr>
            </a:lvl5pPr>
          </a:lstStyle>
          <a:p>
            <a:pPr lvl="0"/>
            <a:endParaRPr lang="en-GB" noProof="0"/>
          </a:p>
          <a:p>
            <a:pPr lvl="1"/>
            <a:endParaRPr lang="nl-NL"/>
          </a:p>
          <a:p>
            <a:pPr lvl="2"/>
            <a:endParaRPr lang="nl-NL"/>
          </a:p>
          <a:p>
            <a:pPr lvl="3"/>
            <a:endParaRPr lang="nl-NL"/>
          </a:p>
          <a:p>
            <a:pPr lvl="4"/>
            <a:endParaRPr lang="nl-NL"/>
          </a:p>
        </p:txBody>
      </p:sp>
      <p:sp>
        <p:nvSpPr>
          <p:cNvPr id="10" name="Titel 1">
            <a:extLst>
              <a:ext uri="{FF2B5EF4-FFF2-40B4-BE49-F238E27FC236}">
                <a16:creationId xmlns:a16="http://schemas.microsoft.com/office/drawing/2014/main" id="{6EA582BE-2A65-48BB-B7C2-6BF56EB22676}"/>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3" name="Tijdelijke aanduiding voor tekst 5">
            <a:extLst>
              <a:ext uri="{FF2B5EF4-FFF2-40B4-BE49-F238E27FC236}">
                <a16:creationId xmlns:a16="http://schemas.microsoft.com/office/drawing/2014/main" id="{C2F1D288-BFF1-4169-A425-2687AE73B290}"/>
              </a:ext>
            </a:extLst>
          </p:cNvPr>
          <p:cNvSpPr>
            <a:spLocks noGrp="1"/>
          </p:cNvSpPr>
          <p:nvPr>
            <p:ph type="body" sz="quarter" idx="12"/>
          </p:nvPr>
        </p:nvSpPr>
        <p:spPr>
          <a:xfrm>
            <a:off x="478801" y="867600"/>
            <a:ext cx="8189999"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49485EA0-E56A-49C5-AE69-636687B44E29}"/>
              </a:ext>
            </a:extLst>
          </p:cNvPr>
          <p:cNvSpPr>
            <a:spLocks noGrp="1"/>
          </p:cNvSpPr>
          <p:nvPr>
            <p:ph type="sldNum" sz="quarter" idx="15"/>
          </p:nvPr>
        </p:nvSpPr>
        <p:spPr/>
        <p:txBody>
          <a:bodyPr/>
          <a:lstStyle/>
          <a:p>
            <a:fld id="{14A8E892-9D3D-449A-93AD-1E7955DBB18F}" type="slidenum">
              <a:rPr lang="en-GB" smtClean="0"/>
              <a:pPr/>
              <a:t>‹#›</a:t>
            </a:fld>
            <a:endParaRPr lang="en-GB"/>
          </a:p>
        </p:txBody>
      </p:sp>
      <p:pic>
        <p:nvPicPr>
          <p:cNvPr id="1809910755" name="image" descr="{&quot;templafy&quot;:{&quot;id&quot;:&quot;673d3341-53d6-40c4-807e-f66ddcca0c09&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126757269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and High Box">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471600" y="1288800"/>
            <a:ext cx="38628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9" name="Tijdelijke aanduiding voor tekst 6">
            <a:extLst>
              <a:ext uri="{FF2B5EF4-FFF2-40B4-BE49-F238E27FC236}">
                <a16:creationId xmlns:a16="http://schemas.microsoft.com/office/drawing/2014/main" id="{802C4F1E-134D-42AB-B18B-CB39E7C61314}"/>
              </a:ext>
            </a:extLst>
          </p:cNvPr>
          <p:cNvSpPr>
            <a:spLocks noGrp="1"/>
          </p:cNvSpPr>
          <p:nvPr>
            <p:ph type="body" sz="quarter" idx="14"/>
          </p:nvPr>
        </p:nvSpPr>
        <p:spPr>
          <a:xfrm>
            <a:off x="4809601" y="0"/>
            <a:ext cx="4334401" cy="5143500"/>
          </a:xfrm>
          <a:prstGeom prst="rect">
            <a:avLst/>
          </a:prstGeom>
          <a:solidFill>
            <a:srgbClr val="EEEEEE"/>
          </a:solidFill>
        </p:spPr>
        <p:txBody>
          <a:bodyPr lIns="270000" tIns="1288800" rIns="576000" bIns="486000">
            <a:normAutofit/>
          </a:bodyPr>
          <a:lstStyle>
            <a:lvl1pPr marL="0" indent="0">
              <a:buNone/>
              <a:defRPr sz="1240" b="0" i="0">
                <a:solidFill>
                  <a:srgbClr val="333333"/>
                </a:solidFill>
                <a:latin typeface="Myriad for Rabobank" panose="02000000000000000000" pitchFamily="2" charset="0"/>
              </a:defRPr>
            </a:lvl1pPr>
            <a:lvl2pPr marL="215990">
              <a:buClr>
                <a:schemeClr val="tx1"/>
              </a:buClr>
              <a:buSzPct val="90000"/>
              <a:defRPr sz="1240" b="0" i="0">
                <a:latin typeface="Myriad for Rabobank" panose="02000000000000000000" pitchFamily="2" charset="0"/>
              </a:defRPr>
            </a:lvl2pPr>
            <a:lvl3pPr marL="431979">
              <a:buClr>
                <a:schemeClr val="tx1"/>
              </a:buClr>
              <a:defRPr sz="1240">
                <a:latin typeface="Myriad for Rabobank" panose="02000000000000000000" pitchFamily="2" charset="0"/>
              </a:defRPr>
            </a:lvl3pPr>
            <a:lvl4pPr marL="647968">
              <a:buClr>
                <a:schemeClr val="tx1"/>
              </a:buClr>
              <a:defRPr sz="1240">
                <a:latin typeface="Myriad for Rabobank" panose="02000000000000000000" pitchFamily="2" charset="0"/>
              </a:defRPr>
            </a:lvl4pPr>
            <a:lvl5pPr marL="863957" indent="-215990">
              <a:buClr>
                <a:schemeClr val="tx1"/>
              </a:buClr>
              <a:buSzPct val="90000"/>
              <a:buFont typeface="Myriad for Rabobank" panose="020B0604020202020204" pitchFamily="34" charset="0"/>
              <a:buChar char="•"/>
              <a:defRPr sz="1240" b="0" i="0">
                <a:solidFill>
                  <a:srgbClr val="333333"/>
                </a:solidFill>
                <a:latin typeface="Myriad for Rabobank" panose="02000000000000000000" pitchFamily="2" charset="0"/>
              </a:defRPr>
            </a:lvl5pPr>
          </a:lstStyle>
          <a:p>
            <a:pPr lvl="0"/>
            <a:endParaRPr lang="en-GB" noProof="0"/>
          </a:p>
          <a:p>
            <a:pPr lvl="1"/>
            <a:endParaRPr lang="nl-NL"/>
          </a:p>
          <a:p>
            <a:pPr lvl="2"/>
            <a:endParaRPr lang="nl-NL"/>
          </a:p>
          <a:p>
            <a:pPr lvl="3"/>
            <a:endParaRPr lang="nl-NL"/>
          </a:p>
          <a:p>
            <a:pPr lvl="4"/>
            <a:endParaRPr lang="nl-NL"/>
          </a:p>
        </p:txBody>
      </p:sp>
      <p:sp>
        <p:nvSpPr>
          <p:cNvPr id="17" name="Titel 1">
            <a:extLst>
              <a:ext uri="{FF2B5EF4-FFF2-40B4-BE49-F238E27FC236}">
                <a16:creationId xmlns:a16="http://schemas.microsoft.com/office/drawing/2014/main" id="{753B5492-72FE-44D4-B05E-0F99F5202E45}"/>
              </a:ext>
            </a:extLst>
          </p:cNvPr>
          <p:cNvSpPr>
            <a:spLocks noGrp="1"/>
          </p:cNvSpPr>
          <p:nvPr>
            <p:ph type="title"/>
          </p:nvPr>
        </p:nvSpPr>
        <p:spPr>
          <a:xfrm>
            <a:off x="471600" y="353833"/>
            <a:ext cx="3862800" cy="507474"/>
          </a:xfrm>
        </p:spPr>
        <p:txBody>
          <a:bodyPr/>
          <a:lstStyle>
            <a:lvl1pPr>
              <a:defRPr b="0" i="0">
                <a:latin typeface="Myriad for Rabobank Bd It" panose="020B0703030403090204" pitchFamily="34" charset="0"/>
              </a:defRPr>
            </a:lvl1pPr>
          </a:lstStyle>
          <a:p>
            <a:endParaRPr lang="nl-NL"/>
          </a:p>
        </p:txBody>
      </p:sp>
      <p:sp>
        <p:nvSpPr>
          <p:cNvPr id="18" name="Tijdelijke aanduiding voor tekst 5">
            <a:extLst>
              <a:ext uri="{FF2B5EF4-FFF2-40B4-BE49-F238E27FC236}">
                <a16:creationId xmlns:a16="http://schemas.microsoft.com/office/drawing/2014/main" id="{80B64C17-CB81-4A66-87C8-2771542057C1}"/>
              </a:ext>
            </a:extLst>
          </p:cNvPr>
          <p:cNvSpPr>
            <a:spLocks noGrp="1"/>
          </p:cNvSpPr>
          <p:nvPr>
            <p:ph type="body" sz="quarter" idx="12"/>
          </p:nvPr>
        </p:nvSpPr>
        <p:spPr>
          <a:xfrm>
            <a:off x="478801" y="867600"/>
            <a:ext cx="3859407"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Slide Number Placeholder 1">
            <a:extLst>
              <a:ext uri="{FF2B5EF4-FFF2-40B4-BE49-F238E27FC236}">
                <a16:creationId xmlns:a16="http://schemas.microsoft.com/office/drawing/2014/main" id="{66B5AA7A-8966-4583-B536-0DF1FE2B5D9F}"/>
              </a:ext>
            </a:extLst>
          </p:cNvPr>
          <p:cNvSpPr>
            <a:spLocks noGrp="1"/>
          </p:cNvSpPr>
          <p:nvPr>
            <p:ph type="sldNum" sz="quarter" idx="16"/>
          </p:nvPr>
        </p:nvSpPr>
        <p:spPr/>
        <p:txBody>
          <a:bodyPr/>
          <a:lstStyle/>
          <a:p>
            <a:fld id="{14A8E892-9D3D-449A-93AD-1E7955DBB18F}" type="slidenum">
              <a:rPr lang="en-GB" smtClean="0"/>
              <a:pPr/>
              <a:t>‹#›</a:t>
            </a:fld>
            <a:endParaRPr lang="en-GB"/>
          </a:p>
        </p:txBody>
      </p:sp>
      <p:sp>
        <p:nvSpPr>
          <p:cNvPr id="14" name="Tijdelijke aanduiding voor tekst en blauw logo">
            <a:extLst>
              <a:ext uri="{FF2B5EF4-FFF2-40B4-BE49-F238E27FC236}">
                <a16:creationId xmlns:a16="http://schemas.microsoft.com/office/drawing/2014/main" id="{7B665717-89FF-4EB5-862A-DD3AE9962BE2}"/>
              </a:ext>
            </a:extLst>
          </p:cNvPr>
          <p:cNvSpPr>
            <a:spLocks noGrp="1"/>
          </p:cNvSpPr>
          <p:nvPr>
            <p:ph type="body" sz="quarter" idx="20" hasCustomPrompt="1"/>
          </p:nvPr>
        </p:nvSpPr>
        <p:spPr>
          <a:xfrm>
            <a:off x="8017200" y="4784400"/>
            <a:ext cx="655200" cy="122400"/>
          </a:xfrm>
          <a:blipFill>
            <a:blip r:embed="rId2"/>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4226775006"/>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1B9E29D1-D6C4-4703-8177-82691C4C6942}"/>
              </a:ext>
            </a:extLst>
          </p:cNvPr>
          <p:cNvSpPr>
            <a:spLocks noGrp="1"/>
          </p:cNvSpPr>
          <p:nvPr>
            <p:ph type="pic" sz="quarter" idx="14"/>
          </p:nvPr>
        </p:nvSpPr>
        <p:spPr>
          <a:xfrm>
            <a:off x="4807958" y="0"/>
            <a:ext cx="4334400" cy="5143500"/>
          </a:xfrm>
        </p:spPr>
        <p:txBody>
          <a:bodyPr/>
          <a:lstStyle>
            <a:lvl1pPr marL="0" marR="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b="0" i="0">
                <a:ln>
                  <a:solidFill>
                    <a:schemeClr val="bg1">
                      <a:lumMod val="65000"/>
                    </a:schemeClr>
                  </a:solidFill>
                </a:ln>
              </a:defRPr>
            </a:lvl1pPr>
          </a:lstStyle>
          <a:p>
            <a:endParaRPr lang="nl-NL"/>
          </a:p>
        </p:txBody>
      </p:sp>
      <p:sp>
        <p:nvSpPr>
          <p:cNvPr id="10" name="Tijdelijke aanduiding voor tekst 9">
            <a:extLst>
              <a:ext uri="{FF2B5EF4-FFF2-40B4-BE49-F238E27FC236}">
                <a16:creationId xmlns:a16="http://schemas.microsoft.com/office/drawing/2014/main" id="{546EF1BA-7C6D-4FA3-9E2F-242ABAC83AA2}"/>
              </a:ext>
            </a:extLst>
          </p:cNvPr>
          <p:cNvSpPr>
            <a:spLocks noGrp="1"/>
          </p:cNvSpPr>
          <p:nvPr>
            <p:ph type="body" sz="quarter" idx="17" hasCustomPrompt="1"/>
          </p:nvPr>
        </p:nvSpPr>
        <p:spPr>
          <a:xfrm>
            <a:off x="4808359" y="4665600"/>
            <a:ext cx="1418400" cy="237600"/>
          </a:xfrm>
          <a:custGeom>
            <a:avLst/>
            <a:gdLst>
              <a:gd name="connsiteX0" fmla="*/ 0 w 1260000"/>
              <a:gd name="connsiteY0" fmla="*/ 36001 h 216000"/>
              <a:gd name="connsiteX1" fmla="*/ 36001 w 1260000"/>
              <a:gd name="connsiteY1" fmla="*/ 0 h 216000"/>
              <a:gd name="connsiteX2" fmla="*/ 1223999 w 1260000"/>
              <a:gd name="connsiteY2" fmla="*/ 0 h 216000"/>
              <a:gd name="connsiteX3" fmla="*/ 1260000 w 1260000"/>
              <a:gd name="connsiteY3" fmla="*/ 36001 h 216000"/>
              <a:gd name="connsiteX4" fmla="*/ 1260000 w 1260000"/>
              <a:gd name="connsiteY4" fmla="*/ 179999 h 216000"/>
              <a:gd name="connsiteX5" fmla="*/ 1223999 w 1260000"/>
              <a:gd name="connsiteY5" fmla="*/ 216000 h 216000"/>
              <a:gd name="connsiteX6" fmla="*/ 36001 w 1260000"/>
              <a:gd name="connsiteY6" fmla="*/ 216000 h 216000"/>
              <a:gd name="connsiteX7" fmla="*/ 0 w 1260000"/>
              <a:gd name="connsiteY7" fmla="*/ 179999 h 216000"/>
              <a:gd name="connsiteX8" fmla="*/ 0 w 1260000"/>
              <a:gd name="connsiteY8" fmla="*/ 36001 h 216000"/>
              <a:gd name="connsiteX0" fmla="*/ 5320 w 1265320"/>
              <a:gd name="connsiteY0" fmla="*/ 36001 h 216000"/>
              <a:gd name="connsiteX1" fmla="*/ 10365 w 1265320"/>
              <a:gd name="connsiteY1" fmla="*/ 0 h 216000"/>
              <a:gd name="connsiteX2" fmla="*/ 1229319 w 1265320"/>
              <a:gd name="connsiteY2" fmla="*/ 0 h 216000"/>
              <a:gd name="connsiteX3" fmla="*/ 1265320 w 1265320"/>
              <a:gd name="connsiteY3" fmla="*/ 36001 h 216000"/>
              <a:gd name="connsiteX4" fmla="*/ 1265320 w 1265320"/>
              <a:gd name="connsiteY4" fmla="*/ 179999 h 216000"/>
              <a:gd name="connsiteX5" fmla="*/ 1229319 w 1265320"/>
              <a:gd name="connsiteY5" fmla="*/ 216000 h 216000"/>
              <a:gd name="connsiteX6" fmla="*/ 41321 w 1265320"/>
              <a:gd name="connsiteY6" fmla="*/ 216000 h 216000"/>
              <a:gd name="connsiteX7" fmla="*/ 5320 w 1265320"/>
              <a:gd name="connsiteY7" fmla="*/ 179999 h 216000"/>
              <a:gd name="connsiteX8" fmla="*/ 5320 w 1265320"/>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9999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179 w 1260179"/>
              <a:gd name="connsiteY0" fmla="*/ 36001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36001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2560 w 1260179"/>
              <a:gd name="connsiteY0" fmla="*/ 114583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2560 w 1260179"/>
              <a:gd name="connsiteY8" fmla="*/ 114583 h 216000"/>
              <a:gd name="connsiteX0" fmla="*/ 4941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4941 w 1260179"/>
              <a:gd name="connsiteY8" fmla="*/ 97914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0179" h="216000">
                <a:moveTo>
                  <a:pt x="179" y="97914"/>
                </a:moveTo>
                <a:cubicBezTo>
                  <a:pt x="179" y="78031"/>
                  <a:pt x="2010" y="4762"/>
                  <a:pt x="462" y="0"/>
                </a:cubicBezTo>
                <a:lnTo>
                  <a:pt x="1224178" y="0"/>
                </a:lnTo>
                <a:cubicBezTo>
                  <a:pt x="1244061" y="0"/>
                  <a:pt x="1260179" y="16118"/>
                  <a:pt x="1260179" y="36001"/>
                </a:cubicBezTo>
                <a:lnTo>
                  <a:pt x="1260179" y="179999"/>
                </a:lnTo>
                <a:cubicBezTo>
                  <a:pt x="1260179" y="199882"/>
                  <a:pt x="1244061" y="216000"/>
                  <a:pt x="1224178" y="216000"/>
                </a:cubicBezTo>
                <a:lnTo>
                  <a:pt x="461" y="216000"/>
                </a:lnTo>
                <a:cubicBezTo>
                  <a:pt x="-372" y="213618"/>
                  <a:pt x="179" y="195119"/>
                  <a:pt x="179" y="175236"/>
                </a:cubicBezTo>
                <a:cubicBezTo>
                  <a:pt x="4942" y="85961"/>
                  <a:pt x="179" y="144326"/>
                  <a:pt x="179" y="97914"/>
                </a:cubicBezTo>
                <a:close/>
              </a:path>
            </a:pathLst>
          </a:custGeom>
          <a:solidFill>
            <a:schemeClr val="accent1"/>
          </a:solidFill>
        </p:spPr>
        <p:txBody>
          <a:bodyPr lIns="144000" tIns="36000" rIns="144000" bIns="18000" anchor="t" anchorCtr="0"/>
          <a:lstStyle>
            <a:lvl1pPr marL="0" indent="0">
              <a:buNone/>
              <a:defRPr sz="960" b="0" i="0">
                <a:solidFill>
                  <a:schemeClr val="bg1"/>
                </a:solidFill>
                <a:latin typeface="Myriad for Rabobank It" panose="020B0503030403090204" pitchFamily="34" charset="0"/>
              </a:defRPr>
            </a:lvl1pPr>
          </a:lstStyle>
          <a:p>
            <a:pPr lvl="0"/>
            <a:r>
              <a:rPr lang="nl-NL"/>
              <a:t>Naam / Name</a:t>
            </a:r>
          </a:p>
        </p:txBody>
      </p:sp>
      <p:sp>
        <p:nvSpPr>
          <p:cNvPr id="16" name="Rechthoek 15" hidden="1">
            <a:extLst>
              <a:ext uri="{FF2B5EF4-FFF2-40B4-BE49-F238E27FC236}">
                <a16:creationId xmlns:a16="http://schemas.microsoft.com/office/drawing/2014/main" id="{4E5FDE35-64F4-4B1F-BCBC-011B013AA5E7}"/>
              </a:ext>
            </a:extLst>
          </p:cNvPr>
          <p:cNvSpPr/>
          <p:nvPr userDrawn="1"/>
        </p:nvSpPr>
        <p:spPr>
          <a:xfrm>
            <a:off x="4328199" y="1"/>
            <a:ext cx="475200" cy="455040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13" name="Content Placeholder 6">
            <a:extLst>
              <a:ext uri="{FF2B5EF4-FFF2-40B4-BE49-F238E27FC236}">
                <a16:creationId xmlns:a16="http://schemas.microsoft.com/office/drawing/2014/main" id="{CC61E0D8-97D1-4F6F-A8FE-FB630620B5DA}"/>
              </a:ext>
            </a:extLst>
          </p:cNvPr>
          <p:cNvSpPr>
            <a:spLocks noGrp="1"/>
          </p:cNvSpPr>
          <p:nvPr>
            <p:ph sz="quarter" idx="13"/>
          </p:nvPr>
        </p:nvSpPr>
        <p:spPr>
          <a:xfrm>
            <a:off x="471600" y="1288800"/>
            <a:ext cx="38628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7" name="Titel 1">
            <a:extLst>
              <a:ext uri="{FF2B5EF4-FFF2-40B4-BE49-F238E27FC236}">
                <a16:creationId xmlns:a16="http://schemas.microsoft.com/office/drawing/2014/main" id="{4C5C09BA-25BE-44A2-AFC9-271167EFFB59}"/>
              </a:ext>
            </a:extLst>
          </p:cNvPr>
          <p:cNvSpPr>
            <a:spLocks noGrp="1"/>
          </p:cNvSpPr>
          <p:nvPr>
            <p:ph type="title"/>
          </p:nvPr>
        </p:nvSpPr>
        <p:spPr>
          <a:xfrm>
            <a:off x="471600" y="353833"/>
            <a:ext cx="3862800" cy="507474"/>
          </a:xfrm>
        </p:spPr>
        <p:txBody>
          <a:bodyPr/>
          <a:lstStyle>
            <a:lvl1pPr>
              <a:defRPr b="0" i="0">
                <a:latin typeface="Myriad for Rabobank Bd It" panose="020B0703030403090204" pitchFamily="34" charset="0"/>
              </a:defRPr>
            </a:lvl1pPr>
          </a:lstStyle>
          <a:p>
            <a:endParaRPr lang="nl-NL"/>
          </a:p>
        </p:txBody>
      </p:sp>
      <p:sp>
        <p:nvSpPr>
          <p:cNvPr id="18" name="Tijdelijke aanduiding voor tekst 5">
            <a:extLst>
              <a:ext uri="{FF2B5EF4-FFF2-40B4-BE49-F238E27FC236}">
                <a16:creationId xmlns:a16="http://schemas.microsoft.com/office/drawing/2014/main" id="{1D1CF431-B409-4037-BFD0-FB9DF2C52179}"/>
              </a:ext>
            </a:extLst>
          </p:cNvPr>
          <p:cNvSpPr>
            <a:spLocks noGrp="1"/>
          </p:cNvSpPr>
          <p:nvPr>
            <p:ph type="body" sz="quarter" idx="12"/>
          </p:nvPr>
        </p:nvSpPr>
        <p:spPr>
          <a:xfrm>
            <a:off x="478801" y="867600"/>
            <a:ext cx="3859407"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text" descr="{&quot;templafy&quot;:{&quot;id&quot;:&quot;72c1a5db-8827-4f27-8ba6-4b62b12a2285&quot;}}" title="Translations.Caption_Not_Desired">
            <a:extLst>
              <a:ext uri="{FF2B5EF4-FFF2-40B4-BE49-F238E27FC236}">
                <a16:creationId xmlns:a16="http://schemas.microsoft.com/office/drawing/2014/main" id="{009B80F2-5472-4D93-8C5A-8322EDB02F86}"/>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If caption is not desired below picture, delete it</a:t>
            </a:r>
          </a:p>
        </p:txBody>
      </p:sp>
      <p:sp>
        <p:nvSpPr>
          <p:cNvPr id="3" name="text" descr="{&quot;templafy&quot;:{&quot;id&quot;:&quot;c7dc19df-1dd9-4dea-8a1c-20065b7e7261&quot;}}" title="Translations.White_Brand_Name_Behind_Blue">
            <a:extLst>
              <a:ext uri="{FF2B5EF4-FFF2-40B4-BE49-F238E27FC236}">
                <a16:creationId xmlns:a16="http://schemas.microsoft.com/office/drawing/2014/main" id="{24F1F752-B157-44F9-858F-07DF453A3528}"/>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4" name="Slide Number Placeholder 3">
            <a:extLst>
              <a:ext uri="{FF2B5EF4-FFF2-40B4-BE49-F238E27FC236}">
                <a16:creationId xmlns:a16="http://schemas.microsoft.com/office/drawing/2014/main" id="{D4F0FAC4-2F74-4F06-980A-B423128B59B3}"/>
              </a:ext>
            </a:extLst>
          </p:cNvPr>
          <p:cNvSpPr>
            <a:spLocks noGrp="1"/>
          </p:cNvSpPr>
          <p:nvPr>
            <p:ph type="sldNum" sz="quarter" idx="19"/>
          </p:nvPr>
        </p:nvSpPr>
        <p:spPr/>
        <p:txBody>
          <a:bodyPr/>
          <a:lstStyle/>
          <a:p>
            <a:fld id="{14A8E892-9D3D-449A-93AD-1E7955DBB18F}" type="slidenum">
              <a:rPr lang="en-GB" smtClean="0"/>
              <a:pPr/>
              <a:t>‹#›</a:t>
            </a:fld>
            <a:endParaRPr lang="en-GB"/>
          </a:p>
        </p:txBody>
      </p:sp>
      <p:sp>
        <p:nvSpPr>
          <p:cNvPr id="15" name="Tijdelijke aanduiding voor tekst en wit logo">
            <a:extLst>
              <a:ext uri="{FF2B5EF4-FFF2-40B4-BE49-F238E27FC236}">
                <a16:creationId xmlns:a16="http://schemas.microsoft.com/office/drawing/2014/main" id="{026FBB9F-5449-48B6-A61A-8F620C0A39F3}"/>
              </a:ext>
            </a:extLst>
          </p:cNvPr>
          <p:cNvSpPr>
            <a:spLocks noGrp="1"/>
          </p:cNvSpPr>
          <p:nvPr>
            <p:ph type="body" sz="quarter" idx="20"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9" name="Tijdelijke aanduiding voor tekst en blauw logo">
            <a:extLst>
              <a:ext uri="{FF2B5EF4-FFF2-40B4-BE49-F238E27FC236}">
                <a16:creationId xmlns:a16="http://schemas.microsoft.com/office/drawing/2014/main" id="{B6AB16B7-1E33-445F-88C7-A0A062E366B3}"/>
              </a:ext>
            </a:extLst>
          </p:cNvPr>
          <p:cNvSpPr>
            <a:spLocks noGrp="1"/>
          </p:cNvSpPr>
          <p:nvPr>
            <p:ph type="body" sz="quarter" idx="21"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21929069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and Picture (long name)">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1B9E29D1-D6C4-4703-8177-82691C4C6942}"/>
              </a:ext>
            </a:extLst>
          </p:cNvPr>
          <p:cNvSpPr>
            <a:spLocks noGrp="1"/>
          </p:cNvSpPr>
          <p:nvPr>
            <p:ph type="pic" sz="quarter" idx="14"/>
          </p:nvPr>
        </p:nvSpPr>
        <p:spPr>
          <a:xfrm>
            <a:off x="4807958" y="0"/>
            <a:ext cx="4334400" cy="5143500"/>
          </a:xfrm>
        </p:spPr>
        <p:txBody>
          <a:bodyPr/>
          <a:lstStyle>
            <a:lvl1pPr marL="0" marR="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b="0" i="0">
                <a:ln>
                  <a:solidFill>
                    <a:schemeClr val="bg1">
                      <a:lumMod val="65000"/>
                    </a:schemeClr>
                  </a:solidFill>
                </a:ln>
              </a:defRPr>
            </a:lvl1pPr>
          </a:lstStyle>
          <a:p>
            <a:endParaRPr lang="nl-NL"/>
          </a:p>
        </p:txBody>
      </p:sp>
      <p:sp>
        <p:nvSpPr>
          <p:cNvPr id="16" name="Tijdelijke aanduiding voor tekst 9">
            <a:extLst>
              <a:ext uri="{FF2B5EF4-FFF2-40B4-BE49-F238E27FC236}">
                <a16:creationId xmlns:a16="http://schemas.microsoft.com/office/drawing/2014/main" id="{36D8453B-4006-4937-A60A-E4CFF0037345}"/>
              </a:ext>
            </a:extLst>
          </p:cNvPr>
          <p:cNvSpPr>
            <a:spLocks noGrp="1"/>
          </p:cNvSpPr>
          <p:nvPr>
            <p:ph type="body" sz="quarter" idx="18" hasCustomPrompt="1"/>
          </p:nvPr>
        </p:nvSpPr>
        <p:spPr>
          <a:xfrm>
            <a:off x="4807958" y="4524016"/>
            <a:ext cx="1418400" cy="378000"/>
          </a:xfrm>
          <a:custGeom>
            <a:avLst/>
            <a:gdLst>
              <a:gd name="connsiteX0" fmla="*/ 0 w 1260000"/>
              <a:gd name="connsiteY0" fmla="*/ 36001 h 216000"/>
              <a:gd name="connsiteX1" fmla="*/ 36001 w 1260000"/>
              <a:gd name="connsiteY1" fmla="*/ 0 h 216000"/>
              <a:gd name="connsiteX2" fmla="*/ 1223999 w 1260000"/>
              <a:gd name="connsiteY2" fmla="*/ 0 h 216000"/>
              <a:gd name="connsiteX3" fmla="*/ 1260000 w 1260000"/>
              <a:gd name="connsiteY3" fmla="*/ 36001 h 216000"/>
              <a:gd name="connsiteX4" fmla="*/ 1260000 w 1260000"/>
              <a:gd name="connsiteY4" fmla="*/ 179999 h 216000"/>
              <a:gd name="connsiteX5" fmla="*/ 1223999 w 1260000"/>
              <a:gd name="connsiteY5" fmla="*/ 216000 h 216000"/>
              <a:gd name="connsiteX6" fmla="*/ 36001 w 1260000"/>
              <a:gd name="connsiteY6" fmla="*/ 216000 h 216000"/>
              <a:gd name="connsiteX7" fmla="*/ 0 w 1260000"/>
              <a:gd name="connsiteY7" fmla="*/ 179999 h 216000"/>
              <a:gd name="connsiteX8" fmla="*/ 0 w 1260000"/>
              <a:gd name="connsiteY8" fmla="*/ 36001 h 216000"/>
              <a:gd name="connsiteX0" fmla="*/ 5320 w 1265320"/>
              <a:gd name="connsiteY0" fmla="*/ 36001 h 216000"/>
              <a:gd name="connsiteX1" fmla="*/ 10365 w 1265320"/>
              <a:gd name="connsiteY1" fmla="*/ 0 h 216000"/>
              <a:gd name="connsiteX2" fmla="*/ 1229319 w 1265320"/>
              <a:gd name="connsiteY2" fmla="*/ 0 h 216000"/>
              <a:gd name="connsiteX3" fmla="*/ 1265320 w 1265320"/>
              <a:gd name="connsiteY3" fmla="*/ 36001 h 216000"/>
              <a:gd name="connsiteX4" fmla="*/ 1265320 w 1265320"/>
              <a:gd name="connsiteY4" fmla="*/ 179999 h 216000"/>
              <a:gd name="connsiteX5" fmla="*/ 1229319 w 1265320"/>
              <a:gd name="connsiteY5" fmla="*/ 216000 h 216000"/>
              <a:gd name="connsiteX6" fmla="*/ 41321 w 1265320"/>
              <a:gd name="connsiteY6" fmla="*/ 216000 h 216000"/>
              <a:gd name="connsiteX7" fmla="*/ 5320 w 1265320"/>
              <a:gd name="connsiteY7" fmla="*/ 179999 h 216000"/>
              <a:gd name="connsiteX8" fmla="*/ 5320 w 1265320"/>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9999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179 w 1260179"/>
              <a:gd name="connsiteY0" fmla="*/ 36001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36001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2560 w 1260179"/>
              <a:gd name="connsiteY0" fmla="*/ 114583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2560 w 1260179"/>
              <a:gd name="connsiteY8" fmla="*/ 114583 h 216000"/>
              <a:gd name="connsiteX0" fmla="*/ 4941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4941 w 1260179"/>
              <a:gd name="connsiteY8" fmla="*/ 97914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9343 h 217429"/>
              <a:gd name="connsiteX1" fmla="*/ 462 w 1260179"/>
              <a:gd name="connsiteY1" fmla="*/ 1429 h 217429"/>
              <a:gd name="connsiteX2" fmla="*/ 1195603 w 1260179"/>
              <a:gd name="connsiteY2" fmla="*/ 0 h 217429"/>
              <a:gd name="connsiteX3" fmla="*/ 1260179 w 1260179"/>
              <a:gd name="connsiteY3" fmla="*/ 37430 h 217429"/>
              <a:gd name="connsiteX4" fmla="*/ 1260179 w 1260179"/>
              <a:gd name="connsiteY4" fmla="*/ 181428 h 217429"/>
              <a:gd name="connsiteX5" fmla="*/ 1224178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9343 h 218858"/>
              <a:gd name="connsiteX1" fmla="*/ 462 w 1260179"/>
              <a:gd name="connsiteY1" fmla="*/ 1429 h 218858"/>
              <a:gd name="connsiteX2" fmla="*/ 1195603 w 1260179"/>
              <a:gd name="connsiteY2" fmla="*/ 0 h 218858"/>
              <a:gd name="connsiteX3" fmla="*/ 1260179 w 1260179"/>
              <a:gd name="connsiteY3" fmla="*/ 37430 h 218858"/>
              <a:gd name="connsiteX4" fmla="*/ 1260179 w 1260179"/>
              <a:gd name="connsiteY4" fmla="*/ 181428 h 218858"/>
              <a:gd name="connsiteX5" fmla="*/ 1186078 w 1260179"/>
              <a:gd name="connsiteY5" fmla="*/ 218858 h 218858"/>
              <a:gd name="connsiteX6" fmla="*/ 461 w 1260179"/>
              <a:gd name="connsiteY6" fmla="*/ 217429 h 218858"/>
              <a:gd name="connsiteX7" fmla="*/ 179 w 1260179"/>
              <a:gd name="connsiteY7" fmla="*/ 176665 h 218858"/>
              <a:gd name="connsiteX8" fmla="*/ 179 w 1260179"/>
              <a:gd name="connsiteY8" fmla="*/ 99343 h 218858"/>
              <a:gd name="connsiteX0" fmla="*/ 179 w 1260179"/>
              <a:gd name="connsiteY0" fmla="*/ 99343 h 217429"/>
              <a:gd name="connsiteX1" fmla="*/ 462 w 1260179"/>
              <a:gd name="connsiteY1" fmla="*/ 1429 h 217429"/>
              <a:gd name="connsiteX2" fmla="*/ 1195603 w 1260179"/>
              <a:gd name="connsiteY2" fmla="*/ 0 h 217429"/>
              <a:gd name="connsiteX3" fmla="*/ 1260179 w 1260179"/>
              <a:gd name="connsiteY3" fmla="*/ 37430 h 217429"/>
              <a:gd name="connsiteX4" fmla="*/ 1260179 w 1260179"/>
              <a:gd name="connsiteY4" fmla="*/ 181428 h 217429"/>
              <a:gd name="connsiteX5" fmla="*/ 1190840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9343 h 217429"/>
              <a:gd name="connsiteX1" fmla="*/ 462 w 1260179"/>
              <a:gd name="connsiteY1" fmla="*/ 1429 h 217429"/>
              <a:gd name="connsiteX2" fmla="*/ 1205128 w 1260179"/>
              <a:gd name="connsiteY2" fmla="*/ 0 h 217429"/>
              <a:gd name="connsiteX3" fmla="*/ 1260179 w 1260179"/>
              <a:gd name="connsiteY3" fmla="*/ 37430 h 217429"/>
              <a:gd name="connsiteX4" fmla="*/ 1260179 w 1260179"/>
              <a:gd name="connsiteY4" fmla="*/ 181428 h 217429"/>
              <a:gd name="connsiteX5" fmla="*/ 1190840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9343 h 217429"/>
              <a:gd name="connsiteX1" fmla="*/ 462 w 1260179"/>
              <a:gd name="connsiteY1" fmla="*/ 1429 h 217429"/>
              <a:gd name="connsiteX2" fmla="*/ 1205128 w 1260179"/>
              <a:gd name="connsiteY2" fmla="*/ 0 h 217429"/>
              <a:gd name="connsiteX3" fmla="*/ 1260179 w 1260179"/>
              <a:gd name="connsiteY3" fmla="*/ 37430 h 217429"/>
              <a:gd name="connsiteX4" fmla="*/ 1260179 w 1260179"/>
              <a:gd name="connsiteY4" fmla="*/ 181428 h 217429"/>
              <a:gd name="connsiteX5" fmla="*/ 1207509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7914 h 216000"/>
              <a:gd name="connsiteX1" fmla="*/ 462 w 1260179"/>
              <a:gd name="connsiteY1" fmla="*/ 0 h 216000"/>
              <a:gd name="connsiteX2" fmla="*/ 1209890 w 1260179"/>
              <a:gd name="connsiteY2" fmla="*/ 1429 h 216000"/>
              <a:gd name="connsiteX3" fmla="*/ 1260179 w 1260179"/>
              <a:gd name="connsiteY3" fmla="*/ 36001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6000"/>
              <a:gd name="connsiteX1" fmla="*/ 462 w 1260179"/>
              <a:gd name="connsiteY1" fmla="*/ 0 h 216000"/>
              <a:gd name="connsiteX2" fmla="*/ 1217033 w 1260179"/>
              <a:gd name="connsiteY2" fmla="*/ 1429 h 216000"/>
              <a:gd name="connsiteX3" fmla="*/ 1260179 w 1260179"/>
              <a:gd name="connsiteY3" fmla="*/ 36001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6000"/>
              <a:gd name="connsiteX1" fmla="*/ 462 w 1260179"/>
              <a:gd name="connsiteY1" fmla="*/ 0 h 216000"/>
              <a:gd name="connsiteX2" fmla="*/ 1217033 w 1260179"/>
              <a:gd name="connsiteY2" fmla="*/ 1429 h 216000"/>
              <a:gd name="connsiteX3" fmla="*/ 1260179 w 1260179"/>
              <a:gd name="connsiteY3" fmla="*/ 36001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6000"/>
              <a:gd name="connsiteX1" fmla="*/ 462 w 1260179"/>
              <a:gd name="connsiteY1" fmla="*/ 0 h 216000"/>
              <a:gd name="connsiteX2" fmla="*/ 1217033 w 1260179"/>
              <a:gd name="connsiteY2" fmla="*/ 1429 h 216000"/>
              <a:gd name="connsiteX3" fmla="*/ 1260179 w 1260179"/>
              <a:gd name="connsiteY3" fmla="*/ 23143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7429"/>
              <a:gd name="connsiteX1" fmla="*/ 462 w 1260179"/>
              <a:gd name="connsiteY1" fmla="*/ 0 h 217429"/>
              <a:gd name="connsiteX2" fmla="*/ 1217033 w 1260179"/>
              <a:gd name="connsiteY2" fmla="*/ 1429 h 217429"/>
              <a:gd name="connsiteX3" fmla="*/ 1260179 w 1260179"/>
              <a:gd name="connsiteY3" fmla="*/ 23143 h 217429"/>
              <a:gd name="connsiteX4" fmla="*/ 1260179 w 1260179"/>
              <a:gd name="connsiteY4" fmla="*/ 179999 h 217429"/>
              <a:gd name="connsiteX5" fmla="*/ 1219416 w 1260179"/>
              <a:gd name="connsiteY5" fmla="*/ 217429 h 217429"/>
              <a:gd name="connsiteX6" fmla="*/ 461 w 1260179"/>
              <a:gd name="connsiteY6" fmla="*/ 216000 h 217429"/>
              <a:gd name="connsiteX7" fmla="*/ 179 w 1260179"/>
              <a:gd name="connsiteY7" fmla="*/ 175236 h 217429"/>
              <a:gd name="connsiteX8" fmla="*/ 179 w 1260179"/>
              <a:gd name="connsiteY8" fmla="*/ 97914 h 217429"/>
              <a:gd name="connsiteX0" fmla="*/ 179 w 1260179"/>
              <a:gd name="connsiteY0" fmla="*/ 97914 h 217429"/>
              <a:gd name="connsiteX1" fmla="*/ 462 w 1260179"/>
              <a:gd name="connsiteY1" fmla="*/ 0 h 217429"/>
              <a:gd name="connsiteX2" fmla="*/ 1217033 w 1260179"/>
              <a:gd name="connsiteY2" fmla="*/ 1429 h 217429"/>
              <a:gd name="connsiteX3" fmla="*/ 1260179 w 1260179"/>
              <a:gd name="connsiteY3" fmla="*/ 23143 h 217429"/>
              <a:gd name="connsiteX4" fmla="*/ 1260179 w 1260179"/>
              <a:gd name="connsiteY4" fmla="*/ 188571 h 217429"/>
              <a:gd name="connsiteX5" fmla="*/ 1219416 w 1260179"/>
              <a:gd name="connsiteY5" fmla="*/ 217429 h 217429"/>
              <a:gd name="connsiteX6" fmla="*/ 461 w 1260179"/>
              <a:gd name="connsiteY6" fmla="*/ 216000 h 217429"/>
              <a:gd name="connsiteX7" fmla="*/ 179 w 1260179"/>
              <a:gd name="connsiteY7" fmla="*/ 175236 h 217429"/>
              <a:gd name="connsiteX8" fmla="*/ 179 w 1260179"/>
              <a:gd name="connsiteY8" fmla="*/ 97914 h 21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0179" h="217429">
                <a:moveTo>
                  <a:pt x="179" y="97914"/>
                </a:moveTo>
                <a:cubicBezTo>
                  <a:pt x="179" y="78031"/>
                  <a:pt x="2010" y="4762"/>
                  <a:pt x="462" y="0"/>
                </a:cubicBezTo>
                <a:lnTo>
                  <a:pt x="1217033" y="1429"/>
                </a:lnTo>
                <a:cubicBezTo>
                  <a:pt x="1236916" y="1429"/>
                  <a:pt x="1260179" y="3260"/>
                  <a:pt x="1260179" y="23143"/>
                </a:cubicBezTo>
                <a:lnTo>
                  <a:pt x="1260179" y="188571"/>
                </a:lnTo>
                <a:cubicBezTo>
                  <a:pt x="1260179" y="208454"/>
                  <a:pt x="1239299" y="217429"/>
                  <a:pt x="1219416" y="217429"/>
                </a:cubicBezTo>
                <a:lnTo>
                  <a:pt x="461" y="216000"/>
                </a:lnTo>
                <a:cubicBezTo>
                  <a:pt x="-372" y="213618"/>
                  <a:pt x="179" y="195119"/>
                  <a:pt x="179" y="175236"/>
                </a:cubicBezTo>
                <a:cubicBezTo>
                  <a:pt x="4942" y="85961"/>
                  <a:pt x="179" y="144326"/>
                  <a:pt x="179" y="97914"/>
                </a:cubicBezTo>
                <a:close/>
              </a:path>
            </a:pathLst>
          </a:custGeom>
          <a:solidFill>
            <a:schemeClr val="accent1"/>
          </a:solidFill>
        </p:spPr>
        <p:txBody>
          <a:bodyPr lIns="144000" tIns="36000" rIns="144000" bIns="18000" anchor="t" anchorCtr="0"/>
          <a:lstStyle>
            <a:lvl1pPr marL="0" marR="0" indent="0" algn="l" defTabSz="914355" rtl="0" eaLnBrk="1" fontAlgn="auto" latinLnBrk="0" hangingPunct="1">
              <a:lnSpc>
                <a:spcPct val="100000"/>
              </a:lnSpc>
              <a:spcBef>
                <a:spcPts val="0"/>
              </a:spcBef>
              <a:spcAft>
                <a:spcPts val="0"/>
              </a:spcAft>
              <a:buClr>
                <a:schemeClr val="accent2"/>
              </a:buClr>
              <a:buSzPct val="90000"/>
              <a:buFont typeface="Myriad for Rabobank"/>
              <a:buNone/>
              <a:tabLst/>
              <a:defRPr sz="960" b="0" i="0">
                <a:solidFill>
                  <a:schemeClr val="bg1"/>
                </a:solidFill>
                <a:latin typeface="Myriad for Rabobank It" panose="020B0503030403090204" pitchFamily="34" charset="0"/>
              </a:defRPr>
            </a:lvl1pPr>
          </a:lstStyle>
          <a:p>
            <a:pPr lvl="0"/>
            <a:r>
              <a:rPr lang="nl-NL"/>
              <a:t>Lange Naam /</a:t>
            </a:r>
            <a:br>
              <a:rPr lang="nl-NL"/>
            </a:br>
            <a:r>
              <a:rPr lang="nl-NL"/>
              <a:t>Long Name</a:t>
            </a:r>
          </a:p>
        </p:txBody>
      </p:sp>
      <p:sp>
        <p:nvSpPr>
          <p:cNvPr id="13" name="Content Placeholder 6">
            <a:extLst>
              <a:ext uri="{FF2B5EF4-FFF2-40B4-BE49-F238E27FC236}">
                <a16:creationId xmlns:a16="http://schemas.microsoft.com/office/drawing/2014/main" id="{4B7E335A-84CD-4CB9-9F5B-2AF37E7741E7}"/>
              </a:ext>
            </a:extLst>
          </p:cNvPr>
          <p:cNvSpPr>
            <a:spLocks noGrp="1"/>
          </p:cNvSpPr>
          <p:nvPr>
            <p:ph sz="quarter" idx="13"/>
          </p:nvPr>
        </p:nvSpPr>
        <p:spPr>
          <a:xfrm>
            <a:off x="471600" y="1288800"/>
            <a:ext cx="38628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1" name="Titel 1">
            <a:extLst>
              <a:ext uri="{FF2B5EF4-FFF2-40B4-BE49-F238E27FC236}">
                <a16:creationId xmlns:a16="http://schemas.microsoft.com/office/drawing/2014/main" id="{6AB648B4-86BC-4815-9862-DBAF4B22F025}"/>
              </a:ext>
            </a:extLst>
          </p:cNvPr>
          <p:cNvSpPr>
            <a:spLocks noGrp="1"/>
          </p:cNvSpPr>
          <p:nvPr>
            <p:ph type="title"/>
          </p:nvPr>
        </p:nvSpPr>
        <p:spPr>
          <a:xfrm>
            <a:off x="471600" y="353833"/>
            <a:ext cx="3862800" cy="507474"/>
          </a:xfrm>
        </p:spPr>
        <p:txBody>
          <a:bodyPr/>
          <a:lstStyle>
            <a:lvl1pPr>
              <a:defRPr b="0" i="0">
                <a:latin typeface="Myriad for Rabobank Bd It" panose="020B0703030403090204" pitchFamily="34" charset="0"/>
              </a:defRPr>
            </a:lvl1pPr>
          </a:lstStyle>
          <a:p>
            <a:endParaRPr lang="nl-NL"/>
          </a:p>
        </p:txBody>
      </p:sp>
      <p:sp>
        <p:nvSpPr>
          <p:cNvPr id="17" name="Tijdelijke aanduiding voor tekst 5">
            <a:extLst>
              <a:ext uri="{FF2B5EF4-FFF2-40B4-BE49-F238E27FC236}">
                <a16:creationId xmlns:a16="http://schemas.microsoft.com/office/drawing/2014/main" id="{6C07902A-099D-4C7F-833B-CB0326D53B43}"/>
              </a:ext>
            </a:extLst>
          </p:cNvPr>
          <p:cNvSpPr>
            <a:spLocks noGrp="1"/>
          </p:cNvSpPr>
          <p:nvPr>
            <p:ph type="body" sz="quarter" idx="12"/>
          </p:nvPr>
        </p:nvSpPr>
        <p:spPr>
          <a:xfrm>
            <a:off x="478801" y="867600"/>
            <a:ext cx="3859407"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text" descr="{&quot;templafy&quot;:{&quot;id&quot;:&quot;ff2ed024-4e45-4fb8-b5e3-aee51c57c9b5&quot;}}" title="Translations.Caption_Not_Desired">
            <a:extLst>
              <a:ext uri="{FF2B5EF4-FFF2-40B4-BE49-F238E27FC236}">
                <a16:creationId xmlns:a16="http://schemas.microsoft.com/office/drawing/2014/main" id="{DB60C2BB-2DFD-43EB-990B-1C919F774DA4}"/>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If caption is not desired below picture, delete it</a:t>
            </a:r>
          </a:p>
        </p:txBody>
      </p:sp>
      <p:sp>
        <p:nvSpPr>
          <p:cNvPr id="3" name="text" descr="{&quot;templafy&quot;:{&quot;id&quot;:&quot;17fa90c0-27ec-4364-9a00-cb09895e9f75&quot;}}" title="Translations.White_Brand_Name_Behind_Blue">
            <a:extLst>
              <a:ext uri="{FF2B5EF4-FFF2-40B4-BE49-F238E27FC236}">
                <a16:creationId xmlns:a16="http://schemas.microsoft.com/office/drawing/2014/main" id="{72825D20-8E81-48B8-9387-DBC5E4D29DA9}"/>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4" name="Slide Number Placeholder 3">
            <a:extLst>
              <a:ext uri="{FF2B5EF4-FFF2-40B4-BE49-F238E27FC236}">
                <a16:creationId xmlns:a16="http://schemas.microsoft.com/office/drawing/2014/main" id="{C2AC19B4-74DF-458A-8BAD-EA0029A77D06}"/>
              </a:ext>
            </a:extLst>
          </p:cNvPr>
          <p:cNvSpPr>
            <a:spLocks noGrp="1"/>
          </p:cNvSpPr>
          <p:nvPr>
            <p:ph type="sldNum" sz="quarter" idx="20"/>
          </p:nvPr>
        </p:nvSpPr>
        <p:spPr/>
        <p:txBody>
          <a:bodyPr/>
          <a:lstStyle/>
          <a:p>
            <a:fld id="{14A8E892-9D3D-449A-93AD-1E7955DBB18F}" type="slidenum">
              <a:rPr lang="en-GB" smtClean="0"/>
              <a:pPr/>
              <a:t>‹#›</a:t>
            </a:fld>
            <a:endParaRPr lang="en-GB"/>
          </a:p>
        </p:txBody>
      </p:sp>
      <p:sp>
        <p:nvSpPr>
          <p:cNvPr id="12" name="Tijdelijke aanduiding voor tekst en wit logo">
            <a:extLst>
              <a:ext uri="{FF2B5EF4-FFF2-40B4-BE49-F238E27FC236}">
                <a16:creationId xmlns:a16="http://schemas.microsoft.com/office/drawing/2014/main" id="{812B141D-8448-4FD5-B6B6-266301BE73D5}"/>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5" name="Tijdelijke aanduiding voor tekst en blauw logo">
            <a:extLst>
              <a:ext uri="{FF2B5EF4-FFF2-40B4-BE49-F238E27FC236}">
                <a16:creationId xmlns:a16="http://schemas.microsoft.com/office/drawing/2014/main" id="{4FA66AD7-0DF3-4291-A0CD-2F3E1A1076F0}"/>
              </a:ext>
            </a:extLst>
          </p:cNvPr>
          <p:cNvSpPr>
            <a:spLocks noGrp="1"/>
          </p:cNvSpPr>
          <p:nvPr>
            <p:ph type="body" sz="quarter" idx="21"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166892378"/>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Narrow Picture">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1B9E29D1-D6C4-4703-8177-82691C4C6942}"/>
              </a:ext>
            </a:extLst>
          </p:cNvPr>
          <p:cNvSpPr>
            <a:spLocks noGrp="1"/>
          </p:cNvSpPr>
          <p:nvPr>
            <p:ph type="pic" sz="quarter" idx="14"/>
          </p:nvPr>
        </p:nvSpPr>
        <p:spPr>
          <a:xfrm>
            <a:off x="6265089" y="0"/>
            <a:ext cx="2880000" cy="5143500"/>
          </a:xfrm>
        </p:spPr>
        <p:txBody>
          <a:bodyPr/>
          <a:lstStyle>
            <a:lvl1pPr marL="0" marR="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b="0" i="0">
                <a:ln>
                  <a:solidFill>
                    <a:schemeClr val="bg1">
                      <a:lumMod val="65000"/>
                    </a:schemeClr>
                  </a:solidFill>
                </a:ln>
              </a:defRPr>
            </a:lvl1pPr>
          </a:lstStyle>
          <a:p>
            <a:endParaRPr lang="nl-NL"/>
          </a:p>
        </p:txBody>
      </p:sp>
      <p:sp>
        <p:nvSpPr>
          <p:cNvPr id="10" name="Tijdelijke aanduiding voor tekst 9">
            <a:extLst>
              <a:ext uri="{FF2B5EF4-FFF2-40B4-BE49-F238E27FC236}">
                <a16:creationId xmlns:a16="http://schemas.microsoft.com/office/drawing/2014/main" id="{546EF1BA-7C6D-4FA3-9E2F-242ABAC83AA2}"/>
              </a:ext>
            </a:extLst>
          </p:cNvPr>
          <p:cNvSpPr>
            <a:spLocks noGrp="1"/>
          </p:cNvSpPr>
          <p:nvPr>
            <p:ph type="body" sz="quarter" idx="17" hasCustomPrompt="1"/>
          </p:nvPr>
        </p:nvSpPr>
        <p:spPr>
          <a:xfrm>
            <a:off x="6265493" y="4665600"/>
            <a:ext cx="1418400" cy="237600"/>
          </a:xfrm>
          <a:custGeom>
            <a:avLst/>
            <a:gdLst>
              <a:gd name="connsiteX0" fmla="*/ 0 w 1260000"/>
              <a:gd name="connsiteY0" fmla="*/ 36001 h 216000"/>
              <a:gd name="connsiteX1" fmla="*/ 36001 w 1260000"/>
              <a:gd name="connsiteY1" fmla="*/ 0 h 216000"/>
              <a:gd name="connsiteX2" fmla="*/ 1223999 w 1260000"/>
              <a:gd name="connsiteY2" fmla="*/ 0 h 216000"/>
              <a:gd name="connsiteX3" fmla="*/ 1260000 w 1260000"/>
              <a:gd name="connsiteY3" fmla="*/ 36001 h 216000"/>
              <a:gd name="connsiteX4" fmla="*/ 1260000 w 1260000"/>
              <a:gd name="connsiteY4" fmla="*/ 179999 h 216000"/>
              <a:gd name="connsiteX5" fmla="*/ 1223999 w 1260000"/>
              <a:gd name="connsiteY5" fmla="*/ 216000 h 216000"/>
              <a:gd name="connsiteX6" fmla="*/ 36001 w 1260000"/>
              <a:gd name="connsiteY6" fmla="*/ 216000 h 216000"/>
              <a:gd name="connsiteX7" fmla="*/ 0 w 1260000"/>
              <a:gd name="connsiteY7" fmla="*/ 179999 h 216000"/>
              <a:gd name="connsiteX8" fmla="*/ 0 w 1260000"/>
              <a:gd name="connsiteY8" fmla="*/ 36001 h 216000"/>
              <a:gd name="connsiteX0" fmla="*/ 5320 w 1265320"/>
              <a:gd name="connsiteY0" fmla="*/ 36001 h 216000"/>
              <a:gd name="connsiteX1" fmla="*/ 10365 w 1265320"/>
              <a:gd name="connsiteY1" fmla="*/ 0 h 216000"/>
              <a:gd name="connsiteX2" fmla="*/ 1229319 w 1265320"/>
              <a:gd name="connsiteY2" fmla="*/ 0 h 216000"/>
              <a:gd name="connsiteX3" fmla="*/ 1265320 w 1265320"/>
              <a:gd name="connsiteY3" fmla="*/ 36001 h 216000"/>
              <a:gd name="connsiteX4" fmla="*/ 1265320 w 1265320"/>
              <a:gd name="connsiteY4" fmla="*/ 179999 h 216000"/>
              <a:gd name="connsiteX5" fmla="*/ 1229319 w 1265320"/>
              <a:gd name="connsiteY5" fmla="*/ 216000 h 216000"/>
              <a:gd name="connsiteX6" fmla="*/ 41321 w 1265320"/>
              <a:gd name="connsiteY6" fmla="*/ 216000 h 216000"/>
              <a:gd name="connsiteX7" fmla="*/ 5320 w 1265320"/>
              <a:gd name="connsiteY7" fmla="*/ 179999 h 216000"/>
              <a:gd name="connsiteX8" fmla="*/ 5320 w 1265320"/>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9999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179 w 1260179"/>
              <a:gd name="connsiteY0" fmla="*/ 36001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36001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2560 w 1260179"/>
              <a:gd name="connsiteY0" fmla="*/ 114583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2560 w 1260179"/>
              <a:gd name="connsiteY8" fmla="*/ 114583 h 216000"/>
              <a:gd name="connsiteX0" fmla="*/ 4941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4941 w 1260179"/>
              <a:gd name="connsiteY8" fmla="*/ 97914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0179" h="216000">
                <a:moveTo>
                  <a:pt x="179" y="97914"/>
                </a:moveTo>
                <a:cubicBezTo>
                  <a:pt x="179" y="78031"/>
                  <a:pt x="2010" y="4762"/>
                  <a:pt x="462" y="0"/>
                </a:cubicBezTo>
                <a:lnTo>
                  <a:pt x="1224178" y="0"/>
                </a:lnTo>
                <a:cubicBezTo>
                  <a:pt x="1244061" y="0"/>
                  <a:pt x="1260179" y="16118"/>
                  <a:pt x="1260179" y="36001"/>
                </a:cubicBezTo>
                <a:lnTo>
                  <a:pt x="1260179" y="179999"/>
                </a:lnTo>
                <a:cubicBezTo>
                  <a:pt x="1260179" y="199882"/>
                  <a:pt x="1244061" y="216000"/>
                  <a:pt x="1224178" y="216000"/>
                </a:cubicBezTo>
                <a:lnTo>
                  <a:pt x="461" y="216000"/>
                </a:lnTo>
                <a:cubicBezTo>
                  <a:pt x="-372" y="213618"/>
                  <a:pt x="179" y="195119"/>
                  <a:pt x="179" y="175236"/>
                </a:cubicBezTo>
                <a:cubicBezTo>
                  <a:pt x="4942" y="85961"/>
                  <a:pt x="179" y="144326"/>
                  <a:pt x="179" y="97914"/>
                </a:cubicBezTo>
                <a:close/>
              </a:path>
            </a:pathLst>
          </a:custGeom>
          <a:solidFill>
            <a:schemeClr val="accent1"/>
          </a:solidFill>
        </p:spPr>
        <p:txBody>
          <a:bodyPr lIns="144000" tIns="36000" rIns="144000" bIns="18000" anchor="t" anchorCtr="0"/>
          <a:lstStyle>
            <a:lvl1pPr marL="0" indent="0">
              <a:buNone/>
              <a:defRPr sz="960" b="0" i="0">
                <a:solidFill>
                  <a:schemeClr val="bg1"/>
                </a:solidFill>
                <a:latin typeface="Myriad for Rabobank It" panose="020B0503030403090204" pitchFamily="34" charset="0"/>
              </a:defRPr>
            </a:lvl1pPr>
          </a:lstStyle>
          <a:p>
            <a:pPr lvl="0"/>
            <a:r>
              <a:rPr lang="nl-NL"/>
              <a:t>Naam / Name</a:t>
            </a:r>
          </a:p>
        </p:txBody>
      </p:sp>
      <p:sp>
        <p:nvSpPr>
          <p:cNvPr id="9" name="Rechthoek 8" hidden="1">
            <a:extLst>
              <a:ext uri="{FF2B5EF4-FFF2-40B4-BE49-F238E27FC236}">
                <a16:creationId xmlns:a16="http://schemas.microsoft.com/office/drawing/2014/main" id="{63D7DE0D-1131-42BC-B2E0-B6E8942CB597}"/>
              </a:ext>
            </a:extLst>
          </p:cNvPr>
          <p:cNvSpPr/>
          <p:nvPr userDrawn="1"/>
        </p:nvSpPr>
        <p:spPr>
          <a:xfrm>
            <a:off x="5785336" y="1"/>
            <a:ext cx="475200" cy="455040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20" name="Content Placeholder 6">
            <a:extLst>
              <a:ext uri="{FF2B5EF4-FFF2-40B4-BE49-F238E27FC236}">
                <a16:creationId xmlns:a16="http://schemas.microsoft.com/office/drawing/2014/main" id="{379643E4-C2F6-4CE2-AFF2-315560F246AF}"/>
              </a:ext>
            </a:extLst>
          </p:cNvPr>
          <p:cNvSpPr>
            <a:spLocks noGrp="1"/>
          </p:cNvSpPr>
          <p:nvPr>
            <p:ph sz="quarter" idx="19"/>
          </p:nvPr>
        </p:nvSpPr>
        <p:spPr>
          <a:xfrm>
            <a:off x="471600" y="1288800"/>
            <a:ext cx="5315664"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3" name="Titel 1">
            <a:extLst>
              <a:ext uri="{FF2B5EF4-FFF2-40B4-BE49-F238E27FC236}">
                <a16:creationId xmlns:a16="http://schemas.microsoft.com/office/drawing/2014/main" id="{D9D07C93-28A6-49A9-B9A4-186226B6B3AC}"/>
              </a:ext>
            </a:extLst>
          </p:cNvPr>
          <p:cNvSpPr>
            <a:spLocks noGrp="1"/>
          </p:cNvSpPr>
          <p:nvPr>
            <p:ph type="title"/>
          </p:nvPr>
        </p:nvSpPr>
        <p:spPr>
          <a:xfrm>
            <a:off x="471600" y="353833"/>
            <a:ext cx="5315664" cy="507474"/>
          </a:xfrm>
        </p:spPr>
        <p:txBody>
          <a:bodyPr/>
          <a:lstStyle>
            <a:lvl1pPr>
              <a:defRPr b="0" i="0">
                <a:latin typeface="Myriad for Rabobank Bd It" panose="020B0703030403090204" pitchFamily="34" charset="0"/>
              </a:defRPr>
            </a:lvl1pPr>
          </a:lstStyle>
          <a:p>
            <a:endParaRPr lang="nl-NL"/>
          </a:p>
        </p:txBody>
      </p:sp>
      <p:sp>
        <p:nvSpPr>
          <p:cNvPr id="16" name="Tijdelijke aanduiding voor tekst 5">
            <a:extLst>
              <a:ext uri="{FF2B5EF4-FFF2-40B4-BE49-F238E27FC236}">
                <a16:creationId xmlns:a16="http://schemas.microsoft.com/office/drawing/2014/main" id="{DC99CF48-8DC0-4838-833C-E167255B1BE9}"/>
              </a:ext>
            </a:extLst>
          </p:cNvPr>
          <p:cNvSpPr>
            <a:spLocks noGrp="1"/>
          </p:cNvSpPr>
          <p:nvPr>
            <p:ph type="body" sz="quarter" idx="12"/>
          </p:nvPr>
        </p:nvSpPr>
        <p:spPr>
          <a:xfrm>
            <a:off x="478801" y="867600"/>
            <a:ext cx="5310995"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text" descr="{&quot;templafy&quot;:{&quot;id&quot;:&quot;b3525383-9061-41ce-82d1-15912490d81f&quot;}}" title="Translations.Caption_Not_Desired">
            <a:extLst>
              <a:ext uri="{FF2B5EF4-FFF2-40B4-BE49-F238E27FC236}">
                <a16:creationId xmlns:a16="http://schemas.microsoft.com/office/drawing/2014/main" id="{E4764A4A-BE4F-4D33-895F-F3758C5E075F}"/>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If caption is not desired below picture, delete it</a:t>
            </a:r>
          </a:p>
        </p:txBody>
      </p:sp>
      <p:sp>
        <p:nvSpPr>
          <p:cNvPr id="3" name="text" descr="{&quot;templafy&quot;:{&quot;id&quot;:&quot;cb5ce020-a971-47d2-a4b3-36e35ffd7e63&quot;}}" title="Translations.White_Brand_Name_Behind_Blue">
            <a:extLst>
              <a:ext uri="{FF2B5EF4-FFF2-40B4-BE49-F238E27FC236}">
                <a16:creationId xmlns:a16="http://schemas.microsoft.com/office/drawing/2014/main" id="{B3E033D1-D8E2-413D-91F6-5FF66D49E2D9}"/>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4" name="Slide Number Placeholder 3">
            <a:extLst>
              <a:ext uri="{FF2B5EF4-FFF2-40B4-BE49-F238E27FC236}">
                <a16:creationId xmlns:a16="http://schemas.microsoft.com/office/drawing/2014/main" id="{F3214922-B488-4988-AEB5-6D50DCD61631}"/>
              </a:ext>
            </a:extLst>
          </p:cNvPr>
          <p:cNvSpPr>
            <a:spLocks noGrp="1"/>
          </p:cNvSpPr>
          <p:nvPr>
            <p:ph type="sldNum" sz="quarter" idx="20"/>
          </p:nvPr>
        </p:nvSpPr>
        <p:spPr/>
        <p:txBody>
          <a:bodyPr/>
          <a:lstStyle/>
          <a:p>
            <a:fld id="{14A8E892-9D3D-449A-93AD-1E7955DBB18F}" type="slidenum">
              <a:rPr lang="en-GB" smtClean="0"/>
              <a:pPr/>
              <a:t>‹#›</a:t>
            </a:fld>
            <a:endParaRPr lang="en-GB"/>
          </a:p>
        </p:txBody>
      </p:sp>
      <p:sp>
        <p:nvSpPr>
          <p:cNvPr id="15" name="Tijdelijke aanduiding voor tekst en wit logo">
            <a:extLst>
              <a:ext uri="{FF2B5EF4-FFF2-40B4-BE49-F238E27FC236}">
                <a16:creationId xmlns:a16="http://schemas.microsoft.com/office/drawing/2014/main" id="{E0252BFA-8772-4489-86DF-8FEE75AD0862}"/>
              </a:ext>
            </a:extLst>
          </p:cNvPr>
          <p:cNvSpPr>
            <a:spLocks noGrp="1"/>
          </p:cNvSpPr>
          <p:nvPr>
            <p:ph type="body" sz="quarter" idx="21"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7" name="Tijdelijke aanduiding voor tekst en blauw logo">
            <a:extLst>
              <a:ext uri="{FF2B5EF4-FFF2-40B4-BE49-F238E27FC236}">
                <a16:creationId xmlns:a16="http://schemas.microsoft.com/office/drawing/2014/main" id="{515F857A-693B-4152-8F83-890FB0FE9FF1}"/>
              </a:ext>
            </a:extLst>
          </p:cNvPr>
          <p:cNvSpPr>
            <a:spLocks noGrp="1"/>
          </p:cNvSpPr>
          <p:nvPr>
            <p:ph type="body" sz="quarter" idx="22"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34528894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Narrow Picture (long name)">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1B9E29D1-D6C4-4703-8177-82691C4C6942}"/>
              </a:ext>
            </a:extLst>
          </p:cNvPr>
          <p:cNvSpPr>
            <a:spLocks noGrp="1"/>
          </p:cNvSpPr>
          <p:nvPr>
            <p:ph type="pic" sz="quarter" idx="14"/>
          </p:nvPr>
        </p:nvSpPr>
        <p:spPr>
          <a:xfrm>
            <a:off x="6265097" y="0"/>
            <a:ext cx="2880000" cy="5143500"/>
          </a:xfrm>
        </p:spPr>
        <p:txBody>
          <a:bodyPr/>
          <a:lstStyle>
            <a:lvl1pPr marL="0" marR="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b="0" i="0">
                <a:ln>
                  <a:solidFill>
                    <a:schemeClr val="bg1">
                      <a:lumMod val="65000"/>
                    </a:schemeClr>
                  </a:solidFill>
                </a:ln>
              </a:defRPr>
            </a:lvl1pPr>
          </a:lstStyle>
          <a:p>
            <a:endParaRPr lang="nl-NL"/>
          </a:p>
        </p:txBody>
      </p:sp>
      <p:sp>
        <p:nvSpPr>
          <p:cNvPr id="16" name="Tijdelijke aanduiding voor tekst 9">
            <a:extLst>
              <a:ext uri="{FF2B5EF4-FFF2-40B4-BE49-F238E27FC236}">
                <a16:creationId xmlns:a16="http://schemas.microsoft.com/office/drawing/2014/main" id="{36D8453B-4006-4937-A60A-E4CFF0037345}"/>
              </a:ext>
            </a:extLst>
          </p:cNvPr>
          <p:cNvSpPr>
            <a:spLocks noGrp="1"/>
          </p:cNvSpPr>
          <p:nvPr>
            <p:ph type="body" sz="quarter" idx="18" hasCustomPrompt="1"/>
          </p:nvPr>
        </p:nvSpPr>
        <p:spPr>
          <a:xfrm>
            <a:off x="6259193" y="4525200"/>
            <a:ext cx="1418400" cy="378000"/>
          </a:xfrm>
          <a:custGeom>
            <a:avLst/>
            <a:gdLst>
              <a:gd name="connsiteX0" fmla="*/ 0 w 1260000"/>
              <a:gd name="connsiteY0" fmla="*/ 36001 h 216000"/>
              <a:gd name="connsiteX1" fmla="*/ 36001 w 1260000"/>
              <a:gd name="connsiteY1" fmla="*/ 0 h 216000"/>
              <a:gd name="connsiteX2" fmla="*/ 1223999 w 1260000"/>
              <a:gd name="connsiteY2" fmla="*/ 0 h 216000"/>
              <a:gd name="connsiteX3" fmla="*/ 1260000 w 1260000"/>
              <a:gd name="connsiteY3" fmla="*/ 36001 h 216000"/>
              <a:gd name="connsiteX4" fmla="*/ 1260000 w 1260000"/>
              <a:gd name="connsiteY4" fmla="*/ 179999 h 216000"/>
              <a:gd name="connsiteX5" fmla="*/ 1223999 w 1260000"/>
              <a:gd name="connsiteY5" fmla="*/ 216000 h 216000"/>
              <a:gd name="connsiteX6" fmla="*/ 36001 w 1260000"/>
              <a:gd name="connsiteY6" fmla="*/ 216000 h 216000"/>
              <a:gd name="connsiteX7" fmla="*/ 0 w 1260000"/>
              <a:gd name="connsiteY7" fmla="*/ 179999 h 216000"/>
              <a:gd name="connsiteX8" fmla="*/ 0 w 1260000"/>
              <a:gd name="connsiteY8" fmla="*/ 36001 h 216000"/>
              <a:gd name="connsiteX0" fmla="*/ 5320 w 1265320"/>
              <a:gd name="connsiteY0" fmla="*/ 36001 h 216000"/>
              <a:gd name="connsiteX1" fmla="*/ 10365 w 1265320"/>
              <a:gd name="connsiteY1" fmla="*/ 0 h 216000"/>
              <a:gd name="connsiteX2" fmla="*/ 1229319 w 1265320"/>
              <a:gd name="connsiteY2" fmla="*/ 0 h 216000"/>
              <a:gd name="connsiteX3" fmla="*/ 1265320 w 1265320"/>
              <a:gd name="connsiteY3" fmla="*/ 36001 h 216000"/>
              <a:gd name="connsiteX4" fmla="*/ 1265320 w 1265320"/>
              <a:gd name="connsiteY4" fmla="*/ 179999 h 216000"/>
              <a:gd name="connsiteX5" fmla="*/ 1229319 w 1265320"/>
              <a:gd name="connsiteY5" fmla="*/ 216000 h 216000"/>
              <a:gd name="connsiteX6" fmla="*/ 41321 w 1265320"/>
              <a:gd name="connsiteY6" fmla="*/ 216000 h 216000"/>
              <a:gd name="connsiteX7" fmla="*/ 5320 w 1265320"/>
              <a:gd name="connsiteY7" fmla="*/ 179999 h 216000"/>
              <a:gd name="connsiteX8" fmla="*/ 5320 w 1265320"/>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9999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13673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8628 w 1268628"/>
              <a:gd name="connsiteY0" fmla="*/ 36001 h 216000"/>
              <a:gd name="connsiteX1" fmla="*/ 8911 w 1268628"/>
              <a:gd name="connsiteY1" fmla="*/ 0 h 216000"/>
              <a:gd name="connsiteX2" fmla="*/ 1232627 w 1268628"/>
              <a:gd name="connsiteY2" fmla="*/ 0 h 216000"/>
              <a:gd name="connsiteX3" fmla="*/ 1268628 w 1268628"/>
              <a:gd name="connsiteY3" fmla="*/ 36001 h 216000"/>
              <a:gd name="connsiteX4" fmla="*/ 1268628 w 1268628"/>
              <a:gd name="connsiteY4" fmla="*/ 179999 h 216000"/>
              <a:gd name="connsiteX5" fmla="*/ 1232627 w 1268628"/>
              <a:gd name="connsiteY5" fmla="*/ 216000 h 216000"/>
              <a:gd name="connsiteX6" fmla="*/ 8910 w 1268628"/>
              <a:gd name="connsiteY6" fmla="*/ 216000 h 216000"/>
              <a:gd name="connsiteX7" fmla="*/ 8628 w 1268628"/>
              <a:gd name="connsiteY7" fmla="*/ 175236 h 216000"/>
              <a:gd name="connsiteX8" fmla="*/ 8628 w 1268628"/>
              <a:gd name="connsiteY8" fmla="*/ 36001 h 216000"/>
              <a:gd name="connsiteX0" fmla="*/ 179 w 1260179"/>
              <a:gd name="connsiteY0" fmla="*/ 36001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36001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2560 w 1260179"/>
              <a:gd name="connsiteY0" fmla="*/ 114583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2560 w 1260179"/>
              <a:gd name="connsiteY8" fmla="*/ 114583 h 216000"/>
              <a:gd name="connsiteX0" fmla="*/ 4941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4941 w 1260179"/>
              <a:gd name="connsiteY8" fmla="*/ 97914 h 216000"/>
              <a:gd name="connsiteX0" fmla="*/ 179 w 1260179"/>
              <a:gd name="connsiteY0" fmla="*/ 97914 h 216000"/>
              <a:gd name="connsiteX1" fmla="*/ 462 w 1260179"/>
              <a:gd name="connsiteY1" fmla="*/ 0 h 216000"/>
              <a:gd name="connsiteX2" fmla="*/ 1224178 w 1260179"/>
              <a:gd name="connsiteY2" fmla="*/ 0 h 216000"/>
              <a:gd name="connsiteX3" fmla="*/ 1260179 w 1260179"/>
              <a:gd name="connsiteY3" fmla="*/ 36001 h 216000"/>
              <a:gd name="connsiteX4" fmla="*/ 1260179 w 1260179"/>
              <a:gd name="connsiteY4" fmla="*/ 179999 h 216000"/>
              <a:gd name="connsiteX5" fmla="*/ 1224178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9343 h 217429"/>
              <a:gd name="connsiteX1" fmla="*/ 462 w 1260179"/>
              <a:gd name="connsiteY1" fmla="*/ 1429 h 217429"/>
              <a:gd name="connsiteX2" fmla="*/ 1195603 w 1260179"/>
              <a:gd name="connsiteY2" fmla="*/ 0 h 217429"/>
              <a:gd name="connsiteX3" fmla="*/ 1260179 w 1260179"/>
              <a:gd name="connsiteY3" fmla="*/ 37430 h 217429"/>
              <a:gd name="connsiteX4" fmla="*/ 1260179 w 1260179"/>
              <a:gd name="connsiteY4" fmla="*/ 181428 h 217429"/>
              <a:gd name="connsiteX5" fmla="*/ 1224178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9343 h 218858"/>
              <a:gd name="connsiteX1" fmla="*/ 462 w 1260179"/>
              <a:gd name="connsiteY1" fmla="*/ 1429 h 218858"/>
              <a:gd name="connsiteX2" fmla="*/ 1195603 w 1260179"/>
              <a:gd name="connsiteY2" fmla="*/ 0 h 218858"/>
              <a:gd name="connsiteX3" fmla="*/ 1260179 w 1260179"/>
              <a:gd name="connsiteY3" fmla="*/ 37430 h 218858"/>
              <a:gd name="connsiteX4" fmla="*/ 1260179 w 1260179"/>
              <a:gd name="connsiteY4" fmla="*/ 181428 h 218858"/>
              <a:gd name="connsiteX5" fmla="*/ 1186078 w 1260179"/>
              <a:gd name="connsiteY5" fmla="*/ 218858 h 218858"/>
              <a:gd name="connsiteX6" fmla="*/ 461 w 1260179"/>
              <a:gd name="connsiteY6" fmla="*/ 217429 h 218858"/>
              <a:gd name="connsiteX7" fmla="*/ 179 w 1260179"/>
              <a:gd name="connsiteY7" fmla="*/ 176665 h 218858"/>
              <a:gd name="connsiteX8" fmla="*/ 179 w 1260179"/>
              <a:gd name="connsiteY8" fmla="*/ 99343 h 218858"/>
              <a:gd name="connsiteX0" fmla="*/ 179 w 1260179"/>
              <a:gd name="connsiteY0" fmla="*/ 99343 h 217429"/>
              <a:gd name="connsiteX1" fmla="*/ 462 w 1260179"/>
              <a:gd name="connsiteY1" fmla="*/ 1429 h 217429"/>
              <a:gd name="connsiteX2" fmla="*/ 1195603 w 1260179"/>
              <a:gd name="connsiteY2" fmla="*/ 0 h 217429"/>
              <a:gd name="connsiteX3" fmla="*/ 1260179 w 1260179"/>
              <a:gd name="connsiteY3" fmla="*/ 37430 h 217429"/>
              <a:gd name="connsiteX4" fmla="*/ 1260179 w 1260179"/>
              <a:gd name="connsiteY4" fmla="*/ 181428 h 217429"/>
              <a:gd name="connsiteX5" fmla="*/ 1190840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9343 h 217429"/>
              <a:gd name="connsiteX1" fmla="*/ 462 w 1260179"/>
              <a:gd name="connsiteY1" fmla="*/ 1429 h 217429"/>
              <a:gd name="connsiteX2" fmla="*/ 1205128 w 1260179"/>
              <a:gd name="connsiteY2" fmla="*/ 0 h 217429"/>
              <a:gd name="connsiteX3" fmla="*/ 1260179 w 1260179"/>
              <a:gd name="connsiteY3" fmla="*/ 37430 h 217429"/>
              <a:gd name="connsiteX4" fmla="*/ 1260179 w 1260179"/>
              <a:gd name="connsiteY4" fmla="*/ 181428 h 217429"/>
              <a:gd name="connsiteX5" fmla="*/ 1190840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9343 h 217429"/>
              <a:gd name="connsiteX1" fmla="*/ 462 w 1260179"/>
              <a:gd name="connsiteY1" fmla="*/ 1429 h 217429"/>
              <a:gd name="connsiteX2" fmla="*/ 1205128 w 1260179"/>
              <a:gd name="connsiteY2" fmla="*/ 0 h 217429"/>
              <a:gd name="connsiteX3" fmla="*/ 1260179 w 1260179"/>
              <a:gd name="connsiteY3" fmla="*/ 37430 h 217429"/>
              <a:gd name="connsiteX4" fmla="*/ 1260179 w 1260179"/>
              <a:gd name="connsiteY4" fmla="*/ 181428 h 217429"/>
              <a:gd name="connsiteX5" fmla="*/ 1207509 w 1260179"/>
              <a:gd name="connsiteY5" fmla="*/ 217429 h 217429"/>
              <a:gd name="connsiteX6" fmla="*/ 461 w 1260179"/>
              <a:gd name="connsiteY6" fmla="*/ 217429 h 217429"/>
              <a:gd name="connsiteX7" fmla="*/ 179 w 1260179"/>
              <a:gd name="connsiteY7" fmla="*/ 176665 h 217429"/>
              <a:gd name="connsiteX8" fmla="*/ 179 w 1260179"/>
              <a:gd name="connsiteY8" fmla="*/ 99343 h 217429"/>
              <a:gd name="connsiteX0" fmla="*/ 179 w 1260179"/>
              <a:gd name="connsiteY0" fmla="*/ 97914 h 216000"/>
              <a:gd name="connsiteX1" fmla="*/ 462 w 1260179"/>
              <a:gd name="connsiteY1" fmla="*/ 0 h 216000"/>
              <a:gd name="connsiteX2" fmla="*/ 1209890 w 1260179"/>
              <a:gd name="connsiteY2" fmla="*/ 1429 h 216000"/>
              <a:gd name="connsiteX3" fmla="*/ 1260179 w 1260179"/>
              <a:gd name="connsiteY3" fmla="*/ 36001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6000"/>
              <a:gd name="connsiteX1" fmla="*/ 462 w 1260179"/>
              <a:gd name="connsiteY1" fmla="*/ 0 h 216000"/>
              <a:gd name="connsiteX2" fmla="*/ 1217033 w 1260179"/>
              <a:gd name="connsiteY2" fmla="*/ 1429 h 216000"/>
              <a:gd name="connsiteX3" fmla="*/ 1260179 w 1260179"/>
              <a:gd name="connsiteY3" fmla="*/ 36001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6000"/>
              <a:gd name="connsiteX1" fmla="*/ 462 w 1260179"/>
              <a:gd name="connsiteY1" fmla="*/ 0 h 216000"/>
              <a:gd name="connsiteX2" fmla="*/ 1217033 w 1260179"/>
              <a:gd name="connsiteY2" fmla="*/ 1429 h 216000"/>
              <a:gd name="connsiteX3" fmla="*/ 1260179 w 1260179"/>
              <a:gd name="connsiteY3" fmla="*/ 36001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6000"/>
              <a:gd name="connsiteX1" fmla="*/ 462 w 1260179"/>
              <a:gd name="connsiteY1" fmla="*/ 0 h 216000"/>
              <a:gd name="connsiteX2" fmla="*/ 1217033 w 1260179"/>
              <a:gd name="connsiteY2" fmla="*/ 1429 h 216000"/>
              <a:gd name="connsiteX3" fmla="*/ 1260179 w 1260179"/>
              <a:gd name="connsiteY3" fmla="*/ 23143 h 216000"/>
              <a:gd name="connsiteX4" fmla="*/ 1260179 w 1260179"/>
              <a:gd name="connsiteY4" fmla="*/ 179999 h 216000"/>
              <a:gd name="connsiteX5" fmla="*/ 1207509 w 1260179"/>
              <a:gd name="connsiteY5" fmla="*/ 216000 h 216000"/>
              <a:gd name="connsiteX6" fmla="*/ 461 w 1260179"/>
              <a:gd name="connsiteY6" fmla="*/ 216000 h 216000"/>
              <a:gd name="connsiteX7" fmla="*/ 179 w 1260179"/>
              <a:gd name="connsiteY7" fmla="*/ 175236 h 216000"/>
              <a:gd name="connsiteX8" fmla="*/ 179 w 1260179"/>
              <a:gd name="connsiteY8" fmla="*/ 97914 h 216000"/>
              <a:gd name="connsiteX0" fmla="*/ 179 w 1260179"/>
              <a:gd name="connsiteY0" fmla="*/ 97914 h 217429"/>
              <a:gd name="connsiteX1" fmla="*/ 462 w 1260179"/>
              <a:gd name="connsiteY1" fmla="*/ 0 h 217429"/>
              <a:gd name="connsiteX2" fmla="*/ 1217033 w 1260179"/>
              <a:gd name="connsiteY2" fmla="*/ 1429 h 217429"/>
              <a:gd name="connsiteX3" fmla="*/ 1260179 w 1260179"/>
              <a:gd name="connsiteY3" fmla="*/ 23143 h 217429"/>
              <a:gd name="connsiteX4" fmla="*/ 1260179 w 1260179"/>
              <a:gd name="connsiteY4" fmla="*/ 179999 h 217429"/>
              <a:gd name="connsiteX5" fmla="*/ 1219416 w 1260179"/>
              <a:gd name="connsiteY5" fmla="*/ 217429 h 217429"/>
              <a:gd name="connsiteX6" fmla="*/ 461 w 1260179"/>
              <a:gd name="connsiteY6" fmla="*/ 216000 h 217429"/>
              <a:gd name="connsiteX7" fmla="*/ 179 w 1260179"/>
              <a:gd name="connsiteY7" fmla="*/ 175236 h 217429"/>
              <a:gd name="connsiteX8" fmla="*/ 179 w 1260179"/>
              <a:gd name="connsiteY8" fmla="*/ 97914 h 217429"/>
              <a:gd name="connsiteX0" fmla="*/ 179 w 1260179"/>
              <a:gd name="connsiteY0" fmla="*/ 97914 h 217429"/>
              <a:gd name="connsiteX1" fmla="*/ 462 w 1260179"/>
              <a:gd name="connsiteY1" fmla="*/ 0 h 217429"/>
              <a:gd name="connsiteX2" fmla="*/ 1217033 w 1260179"/>
              <a:gd name="connsiteY2" fmla="*/ 1429 h 217429"/>
              <a:gd name="connsiteX3" fmla="*/ 1260179 w 1260179"/>
              <a:gd name="connsiteY3" fmla="*/ 23143 h 217429"/>
              <a:gd name="connsiteX4" fmla="*/ 1260179 w 1260179"/>
              <a:gd name="connsiteY4" fmla="*/ 188571 h 217429"/>
              <a:gd name="connsiteX5" fmla="*/ 1219416 w 1260179"/>
              <a:gd name="connsiteY5" fmla="*/ 217429 h 217429"/>
              <a:gd name="connsiteX6" fmla="*/ 461 w 1260179"/>
              <a:gd name="connsiteY6" fmla="*/ 216000 h 217429"/>
              <a:gd name="connsiteX7" fmla="*/ 179 w 1260179"/>
              <a:gd name="connsiteY7" fmla="*/ 175236 h 217429"/>
              <a:gd name="connsiteX8" fmla="*/ 179 w 1260179"/>
              <a:gd name="connsiteY8" fmla="*/ 97914 h 21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0179" h="217429">
                <a:moveTo>
                  <a:pt x="179" y="97914"/>
                </a:moveTo>
                <a:cubicBezTo>
                  <a:pt x="179" y="78031"/>
                  <a:pt x="2010" y="4762"/>
                  <a:pt x="462" y="0"/>
                </a:cubicBezTo>
                <a:lnTo>
                  <a:pt x="1217033" y="1429"/>
                </a:lnTo>
                <a:cubicBezTo>
                  <a:pt x="1236916" y="1429"/>
                  <a:pt x="1260179" y="3260"/>
                  <a:pt x="1260179" y="23143"/>
                </a:cubicBezTo>
                <a:lnTo>
                  <a:pt x="1260179" y="188571"/>
                </a:lnTo>
                <a:cubicBezTo>
                  <a:pt x="1260179" y="208454"/>
                  <a:pt x="1239299" y="217429"/>
                  <a:pt x="1219416" y="217429"/>
                </a:cubicBezTo>
                <a:lnTo>
                  <a:pt x="461" y="216000"/>
                </a:lnTo>
                <a:cubicBezTo>
                  <a:pt x="-372" y="213618"/>
                  <a:pt x="179" y="195119"/>
                  <a:pt x="179" y="175236"/>
                </a:cubicBezTo>
                <a:cubicBezTo>
                  <a:pt x="4942" y="85961"/>
                  <a:pt x="179" y="144326"/>
                  <a:pt x="179" y="97914"/>
                </a:cubicBezTo>
                <a:close/>
              </a:path>
            </a:pathLst>
          </a:custGeom>
          <a:solidFill>
            <a:schemeClr val="accent1"/>
          </a:solidFill>
        </p:spPr>
        <p:txBody>
          <a:bodyPr lIns="144000" tIns="36000" rIns="144000" bIns="18000" anchor="t" anchorCtr="0"/>
          <a:lstStyle>
            <a:lvl1pPr marL="0" marR="0" indent="0" algn="l" defTabSz="914355" rtl="0" eaLnBrk="1" fontAlgn="auto" latinLnBrk="0" hangingPunct="1">
              <a:lnSpc>
                <a:spcPct val="100000"/>
              </a:lnSpc>
              <a:spcBef>
                <a:spcPts val="0"/>
              </a:spcBef>
              <a:spcAft>
                <a:spcPts val="0"/>
              </a:spcAft>
              <a:buClr>
                <a:schemeClr val="accent2"/>
              </a:buClr>
              <a:buSzPct val="90000"/>
              <a:buFont typeface="Myriad for Rabobank"/>
              <a:buNone/>
              <a:tabLst/>
              <a:defRPr sz="960" b="0" i="0">
                <a:solidFill>
                  <a:schemeClr val="bg1"/>
                </a:solidFill>
                <a:latin typeface="Myriad for Rabobank It" panose="020B0503030403090204" pitchFamily="34" charset="0"/>
              </a:defRPr>
            </a:lvl1pPr>
          </a:lstStyle>
          <a:p>
            <a:pPr lvl="0"/>
            <a:r>
              <a:rPr lang="nl-NL"/>
              <a:t>Lange Naam /</a:t>
            </a:r>
            <a:br>
              <a:rPr lang="nl-NL"/>
            </a:br>
            <a:r>
              <a:rPr lang="nl-NL"/>
              <a:t>Long Name</a:t>
            </a:r>
          </a:p>
        </p:txBody>
      </p:sp>
      <p:sp>
        <p:nvSpPr>
          <p:cNvPr id="13" name="Content Placeholder 6">
            <a:extLst>
              <a:ext uri="{FF2B5EF4-FFF2-40B4-BE49-F238E27FC236}">
                <a16:creationId xmlns:a16="http://schemas.microsoft.com/office/drawing/2014/main" id="{2FFEDE26-40A6-4DE0-9C3B-3A76342B2CB6}"/>
              </a:ext>
            </a:extLst>
          </p:cNvPr>
          <p:cNvSpPr>
            <a:spLocks noGrp="1"/>
          </p:cNvSpPr>
          <p:nvPr>
            <p:ph sz="quarter" idx="21"/>
          </p:nvPr>
        </p:nvSpPr>
        <p:spPr>
          <a:xfrm>
            <a:off x="471600" y="1288800"/>
            <a:ext cx="5315664"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5" name="Titel 1">
            <a:extLst>
              <a:ext uri="{FF2B5EF4-FFF2-40B4-BE49-F238E27FC236}">
                <a16:creationId xmlns:a16="http://schemas.microsoft.com/office/drawing/2014/main" id="{BCDC82A8-73A9-4C53-9EA3-FF86BFAE6C29}"/>
              </a:ext>
            </a:extLst>
          </p:cNvPr>
          <p:cNvSpPr>
            <a:spLocks noGrp="1"/>
          </p:cNvSpPr>
          <p:nvPr>
            <p:ph type="title"/>
          </p:nvPr>
        </p:nvSpPr>
        <p:spPr>
          <a:xfrm>
            <a:off x="471600" y="353833"/>
            <a:ext cx="5315664" cy="507474"/>
          </a:xfrm>
        </p:spPr>
        <p:txBody>
          <a:bodyPr/>
          <a:lstStyle>
            <a:lvl1pPr>
              <a:defRPr b="0" i="0">
                <a:latin typeface="Myriad for Rabobank Bd It" panose="020B0703030403090204" pitchFamily="34" charset="0"/>
              </a:defRPr>
            </a:lvl1pPr>
          </a:lstStyle>
          <a:p>
            <a:endParaRPr lang="nl-NL"/>
          </a:p>
        </p:txBody>
      </p:sp>
      <p:sp>
        <p:nvSpPr>
          <p:cNvPr id="17" name="Tijdelijke aanduiding voor tekst 5">
            <a:extLst>
              <a:ext uri="{FF2B5EF4-FFF2-40B4-BE49-F238E27FC236}">
                <a16:creationId xmlns:a16="http://schemas.microsoft.com/office/drawing/2014/main" id="{FF79D211-01EC-4DFA-8A0D-897E8C568AF1}"/>
              </a:ext>
            </a:extLst>
          </p:cNvPr>
          <p:cNvSpPr>
            <a:spLocks noGrp="1"/>
          </p:cNvSpPr>
          <p:nvPr>
            <p:ph type="body" sz="quarter" idx="12"/>
          </p:nvPr>
        </p:nvSpPr>
        <p:spPr>
          <a:xfrm>
            <a:off x="478801" y="867600"/>
            <a:ext cx="5310995"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text" descr="{&quot;templafy&quot;:{&quot;id&quot;:&quot;6a8a11a7-379e-4bc5-83e0-049088ada6a4&quot;}}" title="Translations.Caption_Not_Desired">
            <a:extLst>
              <a:ext uri="{FF2B5EF4-FFF2-40B4-BE49-F238E27FC236}">
                <a16:creationId xmlns:a16="http://schemas.microsoft.com/office/drawing/2014/main" id="{C54DBB12-204D-4CF0-8ADC-957AB9D05AD5}"/>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If caption is not desired below picture, delete it</a:t>
            </a:r>
          </a:p>
        </p:txBody>
      </p:sp>
      <p:sp>
        <p:nvSpPr>
          <p:cNvPr id="3" name="text" descr="{&quot;templafy&quot;:{&quot;id&quot;:&quot;56f0eb19-9c2d-4e11-9246-036a36c3622d&quot;}}" title="Translations.White_Brand_Name_Behind_Blue">
            <a:extLst>
              <a:ext uri="{FF2B5EF4-FFF2-40B4-BE49-F238E27FC236}">
                <a16:creationId xmlns:a16="http://schemas.microsoft.com/office/drawing/2014/main" id="{AEB8DFB5-244E-472B-9BC3-97DEFF885EC7}"/>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4" name="Slide Number Placeholder 3">
            <a:extLst>
              <a:ext uri="{FF2B5EF4-FFF2-40B4-BE49-F238E27FC236}">
                <a16:creationId xmlns:a16="http://schemas.microsoft.com/office/drawing/2014/main" id="{5E2D070F-B601-4AD8-AD0E-FC323FF469AE}"/>
              </a:ext>
            </a:extLst>
          </p:cNvPr>
          <p:cNvSpPr>
            <a:spLocks noGrp="1"/>
          </p:cNvSpPr>
          <p:nvPr>
            <p:ph type="sldNum" sz="quarter" idx="22"/>
          </p:nvPr>
        </p:nvSpPr>
        <p:spPr/>
        <p:txBody>
          <a:bodyPr/>
          <a:lstStyle/>
          <a:p>
            <a:fld id="{14A8E892-9D3D-449A-93AD-1E7955DBB18F}" type="slidenum">
              <a:rPr lang="en-GB" smtClean="0"/>
              <a:pPr/>
              <a:t>‹#›</a:t>
            </a:fld>
            <a:endParaRPr lang="en-GB"/>
          </a:p>
        </p:txBody>
      </p:sp>
      <p:sp>
        <p:nvSpPr>
          <p:cNvPr id="12" name="Tijdelijke aanduiding voor tekst en wit logo">
            <a:extLst>
              <a:ext uri="{FF2B5EF4-FFF2-40B4-BE49-F238E27FC236}">
                <a16:creationId xmlns:a16="http://schemas.microsoft.com/office/drawing/2014/main" id="{8995F2E2-90C9-420F-8C82-28249923354F}"/>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4" name="Tijdelijke aanduiding voor tekst en blauw logo">
            <a:extLst>
              <a:ext uri="{FF2B5EF4-FFF2-40B4-BE49-F238E27FC236}">
                <a16:creationId xmlns:a16="http://schemas.microsoft.com/office/drawing/2014/main" id="{CCA801CF-5043-4220-B7AF-943B166C8BAD}"/>
              </a:ext>
            </a:extLst>
          </p:cNvPr>
          <p:cNvSpPr>
            <a:spLocks noGrp="1"/>
          </p:cNvSpPr>
          <p:nvPr>
            <p:ph type="body" sz="quarter" idx="20"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424485564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Picture and Box">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1B9E29D1-D6C4-4703-8177-82691C4C6942}"/>
              </a:ext>
            </a:extLst>
          </p:cNvPr>
          <p:cNvSpPr>
            <a:spLocks noGrp="1"/>
          </p:cNvSpPr>
          <p:nvPr>
            <p:ph type="pic" sz="quarter" idx="14"/>
          </p:nvPr>
        </p:nvSpPr>
        <p:spPr>
          <a:xfrm>
            <a:off x="6265089" y="0"/>
            <a:ext cx="2880000" cy="5143500"/>
          </a:xfrm>
        </p:spPr>
        <p:txBody>
          <a:bodyPr/>
          <a:lstStyle>
            <a:lvl1pPr marL="0" marR="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b="0" i="0">
                <a:ln>
                  <a:solidFill>
                    <a:schemeClr val="bg1">
                      <a:lumMod val="65000"/>
                    </a:schemeClr>
                  </a:solidFill>
                </a:ln>
              </a:defRPr>
            </a:lvl1pPr>
          </a:lstStyle>
          <a:p>
            <a:endParaRPr lang="nl-NL"/>
          </a:p>
        </p:txBody>
      </p:sp>
      <p:sp>
        <p:nvSpPr>
          <p:cNvPr id="13" name="Tijdelijke aanduiding voor tekst 12">
            <a:extLst>
              <a:ext uri="{FF2B5EF4-FFF2-40B4-BE49-F238E27FC236}">
                <a16:creationId xmlns:a16="http://schemas.microsoft.com/office/drawing/2014/main" id="{CD324160-652D-4758-A72F-1F1CE417C795}"/>
              </a:ext>
            </a:extLst>
          </p:cNvPr>
          <p:cNvSpPr>
            <a:spLocks noGrp="1"/>
          </p:cNvSpPr>
          <p:nvPr>
            <p:ph type="body" sz="quarter" idx="16"/>
          </p:nvPr>
        </p:nvSpPr>
        <p:spPr>
          <a:xfrm>
            <a:off x="6518276" y="3261591"/>
            <a:ext cx="2630523" cy="1280382"/>
          </a:xfrm>
          <a:custGeom>
            <a:avLst/>
            <a:gdLst>
              <a:gd name="connsiteX0" fmla="*/ 0 w 2628142"/>
              <a:gd name="connsiteY0" fmla="*/ 155852 h 1278000"/>
              <a:gd name="connsiteX1" fmla="*/ 155852 w 2628142"/>
              <a:gd name="connsiteY1" fmla="*/ 0 h 1278000"/>
              <a:gd name="connsiteX2" fmla="*/ 2472290 w 2628142"/>
              <a:gd name="connsiteY2" fmla="*/ 0 h 1278000"/>
              <a:gd name="connsiteX3" fmla="*/ 2628142 w 2628142"/>
              <a:gd name="connsiteY3" fmla="*/ 155852 h 1278000"/>
              <a:gd name="connsiteX4" fmla="*/ 2628142 w 2628142"/>
              <a:gd name="connsiteY4" fmla="*/ 1122148 h 1278000"/>
              <a:gd name="connsiteX5" fmla="*/ 2472290 w 2628142"/>
              <a:gd name="connsiteY5" fmla="*/ 1278000 h 1278000"/>
              <a:gd name="connsiteX6" fmla="*/ 155852 w 2628142"/>
              <a:gd name="connsiteY6" fmla="*/ 1278000 h 1278000"/>
              <a:gd name="connsiteX7" fmla="*/ 0 w 2628142"/>
              <a:gd name="connsiteY7" fmla="*/ 1122148 h 1278000"/>
              <a:gd name="connsiteX8" fmla="*/ 0 w 2628142"/>
              <a:gd name="connsiteY8" fmla="*/ 155852 h 1278000"/>
              <a:gd name="connsiteX0" fmla="*/ 0 w 2662137"/>
              <a:gd name="connsiteY0" fmla="*/ 155852 h 1278000"/>
              <a:gd name="connsiteX1" fmla="*/ 155852 w 2662137"/>
              <a:gd name="connsiteY1" fmla="*/ 0 h 1278000"/>
              <a:gd name="connsiteX2" fmla="*/ 2622309 w 2662137"/>
              <a:gd name="connsiteY2" fmla="*/ 0 h 1278000"/>
              <a:gd name="connsiteX3" fmla="*/ 2628142 w 2662137"/>
              <a:gd name="connsiteY3" fmla="*/ 155852 h 1278000"/>
              <a:gd name="connsiteX4" fmla="*/ 2628142 w 2662137"/>
              <a:gd name="connsiteY4" fmla="*/ 1122148 h 1278000"/>
              <a:gd name="connsiteX5" fmla="*/ 2472290 w 2662137"/>
              <a:gd name="connsiteY5" fmla="*/ 1278000 h 1278000"/>
              <a:gd name="connsiteX6" fmla="*/ 155852 w 2662137"/>
              <a:gd name="connsiteY6" fmla="*/ 1278000 h 1278000"/>
              <a:gd name="connsiteX7" fmla="*/ 0 w 2662137"/>
              <a:gd name="connsiteY7" fmla="*/ 1122148 h 1278000"/>
              <a:gd name="connsiteX8" fmla="*/ 0 w 2662137"/>
              <a:gd name="connsiteY8" fmla="*/ 155852 h 1278000"/>
              <a:gd name="connsiteX0" fmla="*/ 0 w 2628142"/>
              <a:gd name="connsiteY0" fmla="*/ 155852 h 1278000"/>
              <a:gd name="connsiteX1" fmla="*/ 155852 w 2628142"/>
              <a:gd name="connsiteY1" fmla="*/ 0 h 1278000"/>
              <a:gd name="connsiteX2" fmla="*/ 2622309 w 2628142"/>
              <a:gd name="connsiteY2" fmla="*/ 0 h 1278000"/>
              <a:gd name="connsiteX3" fmla="*/ 2628142 w 2628142"/>
              <a:gd name="connsiteY3" fmla="*/ 155852 h 1278000"/>
              <a:gd name="connsiteX4" fmla="*/ 2628142 w 2628142"/>
              <a:gd name="connsiteY4" fmla="*/ 1122148 h 1278000"/>
              <a:gd name="connsiteX5" fmla="*/ 2472290 w 2628142"/>
              <a:gd name="connsiteY5" fmla="*/ 1278000 h 1278000"/>
              <a:gd name="connsiteX6" fmla="*/ 155852 w 2628142"/>
              <a:gd name="connsiteY6" fmla="*/ 1278000 h 1278000"/>
              <a:gd name="connsiteX7" fmla="*/ 0 w 2628142"/>
              <a:gd name="connsiteY7" fmla="*/ 1122148 h 1278000"/>
              <a:gd name="connsiteX8" fmla="*/ 0 w 2628142"/>
              <a:gd name="connsiteY8" fmla="*/ 155852 h 1278000"/>
              <a:gd name="connsiteX0" fmla="*/ 0 w 2628142"/>
              <a:gd name="connsiteY0" fmla="*/ 155852 h 1278000"/>
              <a:gd name="connsiteX1" fmla="*/ 155852 w 2628142"/>
              <a:gd name="connsiteY1" fmla="*/ 0 h 1278000"/>
              <a:gd name="connsiteX2" fmla="*/ 2624690 w 2628142"/>
              <a:gd name="connsiteY2" fmla="*/ 0 h 1278000"/>
              <a:gd name="connsiteX3" fmla="*/ 2628142 w 2628142"/>
              <a:gd name="connsiteY3" fmla="*/ 155852 h 1278000"/>
              <a:gd name="connsiteX4" fmla="*/ 2628142 w 2628142"/>
              <a:gd name="connsiteY4" fmla="*/ 1122148 h 1278000"/>
              <a:gd name="connsiteX5" fmla="*/ 2472290 w 2628142"/>
              <a:gd name="connsiteY5" fmla="*/ 1278000 h 1278000"/>
              <a:gd name="connsiteX6" fmla="*/ 155852 w 2628142"/>
              <a:gd name="connsiteY6" fmla="*/ 1278000 h 1278000"/>
              <a:gd name="connsiteX7" fmla="*/ 0 w 2628142"/>
              <a:gd name="connsiteY7" fmla="*/ 1122148 h 1278000"/>
              <a:gd name="connsiteX8" fmla="*/ 0 w 2628142"/>
              <a:gd name="connsiteY8" fmla="*/ 155852 h 1278000"/>
              <a:gd name="connsiteX0" fmla="*/ 0 w 2630399"/>
              <a:gd name="connsiteY0" fmla="*/ 155852 h 1278000"/>
              <a:gd name="connsiteX1" fmla="*/ 155852 w 2630399"/>
              <a:gd name="connsiteY1" fmla="*/ 0 h 1278000"/>
              <a:gd name="connsiteX2" fmla="*/ 2629452 w 2630399"/>
              <a:gd name="connsiteY2" fmla="*/ 2381 h 1278000"/>
              <a:gd name="connsiteX3" fmla="*/ 2628142 w 2630399"/>
              <a:gd name="connsiteY3" fmla="*/ 155852 h 1278000"/>
              <a:gd name="connsiteX4" fmla="*/ 2628142 w 2630399"/>
              <a:gd name="connsiteY4" fmla="*/ 1122148 h 1278000"/>
              <a:gd name="connsiteX5" fmla="*/ 2472290 w 2630399"/>
              <a:gd name="connsiteY5" fmla="*/ 1278000 h 1278000"/>
              <a:gd name="connsiteX6" fmla="*/ 155852 w 2630399"/>
              <a:gd name="connsiteY6" fmla="*/ 1278000 h 1278000"/>
              <a:gd name="connsiteX7" fmla="*/ 0 w 2630399"/>
              <a:gd name="connsiteY7" fmla="*/ 1122148 h 1278000"/>
              <a:gd name="connsiteX8" fmla="*/ 0 w 2630399"/>
              <a:gd name="connsiteY8" fmla="*/ 155852 h 1278000"/>
              <a:gd name="connsiteX0" fmla="*/ 0 w 2629452"/>
              <a:gd name="connsiteY0" fmla="*/ 155852 h 1278000"/>
              <a:gd name="connsiteX1" fmla="*/ 155852 w 2629452"/>
              <a:gd name="connsiteY1" fmla="*/ 0 h 1278000"/>
              <a:gd name="connsiteX2" fmla="*/ 2629452 w 2629452"/>
              <a:gd name="connsiteY2" fmla="*/ 2381 h 1278000"/>
              <a:gd name="connsiteX3" fmla="*/ 2628142 w 2629452"/>
              <a:gd name="connsiteY3" fmla="*/ 155852 h 1278000"/>
              <a:gd name="connsiteX4" fmla="*/ 2628142 w 2629452"/>
              <a:gd name="connsiteY4" fmla="*/ 1122148 h 1278000"/>
              <a:gd name="connsiteX5" fmla="*/ 2472290 w 2629452"/>
              <a:gd name="connsiteY5" fmla="*/ 1278000 h 1278000"/>
              <a:gd name="connsiteX6" fmla="*/ 155852 w 2629452"/>
              <a:gd name="connsiteY6" fmla="*/ 1278000 h 1278000"/>
              <a:gd name="connsiteX7" fmla="*/ 0 w 2629452"/>
              <a:gd name="connsiteY7" fmla="*/ 1122148 h 1278000"/>
              <a:gd name="connsiteX8" fmla="*/ 0 w 2629452"/>
              <a:gd name="connsiteY8" fmla="*/ 155852 h 1278000"/>
              <a:gd name="connsiteX0" fmla="*/ 0 w 2665606"/>
              <a:gd name="connsiteY0" fmla="*/ 155852 h 1280382"/>
              <a:gd name="connsiteX1" fmla="*/ 155852 w 2665606"/>
              <a:gd name="connsiteY1" fmla="*/ 0 h 1280382"/>
              <a:gd name="connsiteX2" fmla="*/ 2629452 w 2665606"/>
              <a:gd name="connsiteY2" fmla="*/ 2381 h 1280382"/>
              <a:gd name="connsiteX3" fmla="*/ 2628142 w 2665606"/>
              <a:gd name="connsiteY3" fmla="*/ 155852 h 1280382"/>
              <a:gd name="connsiteX4" fmla="*/ 2628142 w 2665606"/>
              <a:gd name="connsiteY4" fmla="*/ 1122148 h 1280382"/>
              <a:gd name="connsiteX5" fmla="*/ 2627071 w 2665606"/>
              <a:gd name="connsiteY5" fmla="*/ 1280382 h 1280382"/>
              <a:gd name="connsiteX6" fmla="*/ 155852 w 2665606"/>
              <a:gd name="connsiteY6" fmla="*/ 1278000 h 1280382"/>
              <a:gd name="connsiteX7" fmla="*/ 0 w 2665606"/>
              <a:gd name="connsiteY7" fmla="*/ 1122148 h 1280382"/>
              <a:gd name="connsiteX8" fmla="*/ 0 w 2665606"/>
              <a:gd name="connsiteY8" fmla="*/ 155852 h 1280382"/>
              <a:gd name="connsiteX0" fmla="*/ 0 w 2629452"/>
              <a:gd name="connsiteY0" fmla="*/ 155852 h 1280382"/>
              <a:gd name="connsiteX1" fmla="*/ 155852 w 2629452"/>
              <a:gd name="connsiteY1" fmla="*/ 0 h 1280382"/>
              <a:gd name="connsiteX2" fmla="*/ 2629452 w 2629452"/>
              <a:gd name="connsiteY2" fmla="*/ 2381 h 1280382"/>
              <a:gd name="connsiteX3" fmla="*/ 2628142 w 2629452"/>
              <a:gd name="connsiteY3" fmla="*/ 155852 h 1280382"/>
              <a:gd name="connsiteX4" fmla="*/ 2628142 w 2629452"/>
              <a:gd name="connsiteY4" fmla="*/ 1122148 h 1280382"/>
              <a:gd name="connsiteX5" fmla="*/ 2627071 w 2629452"/>
              <a:gd name="connsiteY5" fmla="*/ 1280382 h 1280382"/>
              <a:gd name="connsiteX6" fmla="*/ 155852 w 2629452"/>
              <a:gd name="connsiteY6" fmla="*/ 1278000 h 1280382"/>
              <a:gd name="connsiteX7" fmla="*/ 0 w 2629452"/>
              <a:gd name="connsiteY7" fmla="*/ 1122148 h 1280382"/>
              <a:gd name="connsiteX8" fmla="*/ 0 w 2629452"/>
              <a:gd name="connsiteY8" fmla="*/ 155852 h 1280382"/>
              <a:gd name="connsiteX0" fmla="*/ 0 w 2629452"/>
              <a:gd name="connsiteY0" fmla="*/ 155852 h 1280382"/>
              <a:gd name="connsiteX1" fmla="*/ 155852 w 2629452"/>
              <a:gd name="connsiteY1" fmla="*/ 0 h 1280382"/>
              <a:gd name="connsiteX2" fmla="*/ 2629452 w 2629452"/>
              <a:gd name="connsiteY2" fmla="*/ 2381 h 1280382"/>
              <a:gd name="connsiteX3" fmla="*/ 2628142 w 2629452"/>
              <a:gd name="connsiteY3" fmla="*/ 155852 h 1280382"/>
              <a:gd name="connsiteX4" fmla="*/ 2628142 w 2629452"/>
              <a:gd name="connsiteY4" fmla="*/ 1122148 h 1280382"/>
              <a:gd name="connsiteX5" fmla="*/ 2627071 w 2629452"/>
              <a:gd name="connsiteY5" fmla="*/ 1280382 h 1280382"/>
              <a:gd name="connsiteX6" fmla="*/ 155852 w 2629452"/>
              <a:gd name="connsiteY6" fmla="*/ 1278000 h 1280382"/>
              <a:gd name="connsiteX7" fmla="*/ 0 w 2629452"/>
              <a:gd name="connsiteY7" fmla="*/ 1122148 h 1280382"/>
              <a:gd name="connsiteX8" fmla="*/ 0 w 2629452"/>
              <a:gd name="connsiteY8" fmla="*/ 155852 h 1280382"/>
              <a:gd name="connsiteX0" fmla="*/ 0 w 2629452"/>
              <a:gd name="connsiteY0" fmla="*/ 155852 h 1280382"/>
              <a:gd name="connsiteX1" fmla="*/ 155852 w 2629452"/>
              <a:gd name="connsiteY1" fmla="*/ 0 h 1280382"/>
              <a:gd name="connsiteX2" fmla="*/ 2629452 w 2629452"/>
              <a:gd name="connsiteY2" fmla="*/ 2381 h 1280382"/>
              <a:gd name="connsiteX3" fmla="*/ 2628142 w 2629452"/>
              <a:gd name="connsiteY3" fmla="*/ 155852 h 1280382"/>
              <a:gd name="connsiteX4" fmla="*/ 2628142 w 2629452"/>
              <a:gd name="connsiteY4" fmla="*/ 1122148 h 1280382"/>
              <a:gd name="connsiteX5" fmla="*/ 2627071 w 2629452"/>
              <a:gd name="connsiteY5" fmla="*/ 1280382 h 1280382"/>
              <a:gd name="connsiteX6" fmla="*/ 155852 w 2629452"/>
              <a:gd name="connsiteY6" fmla="*/ 1278000 h 1280382"/>
              <a:gd name="connsiteX7" fmla="*/ 0 w 2629452"/>
              <a:gd name="connsiteY7" fmla="*/ 1122148 h 1280382"/>
              <a:gd name="connsiteX8" fmla="*/ 0 w 2629452"/>
              <a:gd name="connsiteY8" fmla="*/ 155852 h 1280382"/>
              <a:gd name="connsiteX0" fmla="*/ 0 w 2629452"/>
              <a:gd name="connsiteY0" fmla="*/ 155852 h 1280382"/>
              <a:gd name="connsiteX1" fmla="*/ 155852 w 2629452"/>
              <a:gd name="connsiteY1" fmla="*/ 0 h 1280382"/>
              <a:gd name="connsiteX2" fmla="*/ 2629452 w 2629452"/>
              <a:gd name="connsiteY2" fmla="*/ 2381 h 1280382"/>
              <a:gd name="connsiteX3" fmla="*/ 2628142 w 2629452"/>
              <a:gd name="connsiteY3" fmla="*/ 155852 h 1280382"/>
              <a:gd name="connsiteX4" fmla="*/ 2628142 w 2629452"/>
              <a:gd name="connsiteY4" fmla="*/ 1122148 h 1280382"/>
              <a:gd name="connsiteX5" fmla="*/ 2627071 w 2629452"/>
              <a:gd name="connsiteY5" fmla="*/ 1280382 h 1280382"/>
              <a:gd name="connsiteX6" fmla="*/ 155852 w 2629452"/>
              <a:gd name="connsiteY6" fmla="*/ 1278000 h 1280382"/>
              <a:gd name="connsiteX7" fmla="*/ 0 w 2629452"/>
              <a:gd name="connsiteY7" fmla="*/ 1122148 h 1280382"/>
              <a:gd name="connsiteX8" fmla="*/ 0 w 2629452"/>
              <a:gd name="connsiteY8" fmla="*/ 155852 h 1280382"/>
              <a:gd name="connsiteX0" fmla="*/ 0 w 2630523"/>
              <a:gd name="connsiteY0" fmla="*/ 155852 h 1280382"/>
              <a:gd name="connsiteX1" fmla="*/ 155852 w 2630523"/>
              <a:gd name="connsiteY1" fmla="*/ 0 h 1280382"/>
              <a:gd name="connsiteX2" fmla="*/ 2629452 w 2630523"/>
              <a:gd name="connsiteY2" fmla="*/ 2381 h 1280382"/>
              <a:gd name="connsiteX3" fmla="*/ 2630523 w 2630523"/>
              <a:gd name="connsiteY3" fmla="*/ 158233 h 1280382"/>
              <a:gd name="connsiteX4" fmla="*/ 2628142 w 2630523"/>
              <a:gd name="connsiteY4" fmla="*/ 1122148 h 1280382"/>
              <a:gd name="connsiteX5" fmla="*/ 2627071 w 2630523"/>
              <a:gd name="connsiteY5" fmla="*/ 1280382 h 1280382"/>
              <a:gd name="connsiteX6" fmla="*/ 155852 w 2630523"/>
              <a:gd name="connsiteY6" fmla="*/ 1278000 h 1280382"/>
              <a:gd name="connsiteX7" fmla="*/ 0 w 2630523"/>
              <a:gd name="connsiteY7" fmla="*/ 1122148 h 1280382"/>
              <a:gd name="connsiteX8" fmla="*/ 0 w 2630523"/>
              <a:gd name="connsiteY8" fmla="*/ 155852 h 1280382"/>
              <a:gd name="connsiteX0" fmla="*/ 0 w 2630523"/>
              <a:gd name="connsiteY0" fmla="*/ 155852 h 1280382"/>
              <a:gd name="connsiteX1" fmla="*/ 155852 w 2630523"/>
              <a:gd name="connsiteY1" fmla="*/ 0 h 1280382"/>
              <a:gd name="connsiteX2" fmla="*/ 2629452 w 2630523"/>
              <a:gd name="connsiteY2" fmla="*/ 2381 h 1280382"/>
              <a:gd name="connsiteX3" fmla="*/ 2630523 w 2630523"/>
              <a:gd name="connsiteY3" fmla="*/ 158233 h 1280382"/>
              <a:gd name="connsiteX4" fmla="*/ 2628142 w 2630523"/>
              <a:gd name="connsiteY4" fmla="*/ 1122148 h 1280382"/>
              <a:gd name="connsiteX5" fmla="*/ 2627071 w 2630523"/>
              <a:gd name="connsiteY5" fmla="*/ 1280382 h 1280382"/>
              <a:gd name="connsiteX6" fmla="*/ 155852 w 2630523"/>
              <a:gd name="connsiteY6" fmla="*/ 1278000 h 1280382"/>
              <a:gd name="connsiteX7" fmla="*/ 0 w 2630523"/>
              <a:gd name="connsiteY7" fmla="*/ 1122148 h 1280382"/>
              <a:gd name="connsiteX8" fmla="*/ 0 w 2630523"/>
              <a:gd name="connsiteY8" fmla="*/ 155852 h 1280382"/>
              <a:gd name="connsiteX0" fmla="*/ 0 w 2630523"/>
              <a:gd name="connsiteY0" fmla="*/ 155852 h 1280382"/>
              <a:gd name="connsiteX1" fmla="*/ 155852 w 2630523"/>
              <a:gd name="connsiteY1" fmla="*/ 0 h 1280382"/>
              <a:gd name="connsiteX2" fmla="*/ 2629452 w 2630523"/>
              <a:gd name="connsiteY2" fmla="*/ 2381 h 1280382"/>
              <a:gd name="connsiteX3" fmla="*/ 2630523 w 2630523"/>
              <a:gd name="connsiteY3" fmla="*/ 158233 h 1280382"/>
              <a:gd name="connsiteX4" fmla="*/ 2628142 w 2630523"/>
              <a:gd name="connsiteY4" fmla="*/ 1122148 h 1280382"/>
              <a:gd name="connsiteX5" fmla="*/ 2627071 w 2630523"/>
              <a:gd name="connsiteY5" fmla="*/ 1280382 h 1280382"/>
              <a:gd name="connsiteX6" fmla="*/ 155852 w 2630523"/>
              <a:gd name="connsiteY6" fmla="*/ 1278000 h 1280382"/>
              <a:gd name="connsiteX7" fmla="*/ 0 w 2630523"/>
              <a:gd name="connsiteY7" fmla="*/ 1122148 h 1280382"/>
              <a:gd name="connsiteX8" fmla="*/ 0 w 2630523"/>
              <a:gd name="connsiteY8" fmla="*/ 155852 h 128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0523" h="1280382">
                <a:moveTo>
                  <a:pt x="0" y="155852"/>
                </a:moveTo>
                <a:cubicBezTo>
                  <a:pt x="0" y="69777"/>
                  <a:pt x="69777" y="0"/>
                  <a:pt x="155852" y="0"/>
                </a:cubicBezTo>
                <a:lnTo>
                  <a:pt x="2629452" y="2381"/>
                </a:lnTo>
                <a:cubicBezTo>
                  <a:pt x="2625040" y="150018"/>
                  <a:pt x="2625761" y="74539"/>
                  <a:pt x="2630523" y="158233"/>
                </a:cubicBezTo>
                <a:cubicBezTo>
                  <a:pt x="2629729" y="479538"/>
                  <a:pt x="2628936" y="800843"/>
                  <a:pt x="2628142" y="1122148"/>
                </a:cubicBezTo>
                <a:cubicBezTo>
                  <a:pt x="2628142" y="1208223"/>
                  <a:pt x="2629802" y="1163701"/>
                  <a:pt x="2627071" y="1280382"/>
                </a:cubicBezTo>
                <a:lnTo>
                  <a:pt x="155852" y="1278000"/>
                </a:lnTo>
                <a:cubicBezTo>
                  <a:pt x="69777" y="1278000"/>
                  <a:pt x="0" y="1208223"/>
                  <a:pt x="0" y="1122148"/>
                </a:cubicBezTo>
                <a:lnTo>
                  <a:pt x="0" y="155852"/>
                </a:lnTo>
                <a:close/>
              </a:path>
            </a:pathLst>
          </a:custGeom>
          <a:solidFill>
            <a:schemeClr val="accent1">
              <a:alpha val="90000"/>
            </a:schemeClr>
          </a:solidFill>
        </p:spPr>
        <p:txBody>
          <a:bodyPr lIns="180000" rIns="180000" anchor="ctr" anchorCtr="0"/>
          <a:lstStyle>
            <a:lvl1pPr marL="0" indent="0">
              <a:buNone/>
              <a:defRPr sz="1240" b="0" i="0">
                <a:solidFill>
                  <a:schemeClr val="bg1"/>
                </a:solidFill>
                <a:latin typeface="Myriad for Rabobank It" panose="020B0503030403090204" pitchFamily="34" charset="0"/>
              </a:defRPr>
            </a:lvl1pPr>
          </a:lstStyle>
          <a:p>
            <a:pPr lvl="0"/>
            <a:endParaRPr lang="en-GB" noProof="0"/>
          </a:p>
        </p:txBody>
      </p:sp>
      <p:sp>
        <p:nvSpPr>
          <p:cNvPr id="9" name="Rechthoek 8" hidden="1">
            <a:extLst>
              <a:ext uri="{FF2B5EF4-FFF2-40B4-BE49-F238E27FC236}">
                <a16:creationId xmlns:a16="http://schemas.microsoft.com/office/drawing/2014/main" id="{63D7DE0D-1131-42BC-B2E0-B6E8942CB597}"/>
              </a:ext>
            </a:extLst>
          </p:cNvPr>
          <p:cNvSpPr/>
          <p:nvPr userDrawn="1"/>
        </p:nvSpPr>
        <p:spPr>
          <a:xfrm>
            <a:off x="5785336" y="1"/>
            <a:ext cx="475200" cy="455040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15" name="Content Placeholder 6">
            <a:extLst>
              <a:ext uri="{FF2B5EF4-FFF2-40B4-BE49-F238E27FC236}">
                <a16:creationId xmlns:a16="http://schemas.microsoft.com/office/drawing/2014/main" id="{EAB1E4B1-54F7-48BC-8F32-8CD7944AA784}"/>
              </a:ext>
            </a:extLst>
          </p:cNvPr>
          <p:cNvSpPr>
            <a:spLocks noGrp="1"/>
          </p:cNvSpPr>
          <p:nvPr>
            <p:ph sz="quarter" idx="21"/>
          </p:nvPr>
        </p:nvSpPr>
        <p:spPr>
          <a:xfrm>
            <a:off x="471600" y="1288800"/>
            <a:ext cx="5315664"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6" name="Titel 1">
            <a:extLst>
              <a:ext uri="{FF2B5EF4-FFF2-40B4-BE49-F238E27FC236}">
                <a16:creationId xmlns:a16="http://schemas.microsoft.com/office/drawing/2014/main" id="{D987DE7E-7F8D-466F-8B18-D7FEE12B41EF}"/>
              </a:ext>
            </a:extLst>
          </p:cNvPr>
          <p:cNvSpPr>
            <a:spLocks noGrp="1"/>
          </p:cNvSpPr>
          <p:nvPr>
            <p:ph type="title"/>
          </p:nvPr>
        </p:nvSpPr>
        <p:spPr>
          <a:xfrm>
            <a:off x="471600" y="353833"/>
            <a:ext cx="5315664" cy="507474"/>
          </a:xfrm>
        </p:spPr>
        <p:txBody>
          <a:bodyPr/>
          <a:lstStyle>
            <a:lvl1pPr>
              <a:defRPr b="0" i="0">
                <a:latin typeface="Myriad for Rabobank Bd It" panose="020B0703030403090204" pitchFamily="34" charset="0"/>
              </a:defRPr>
            </a:lvl1pPr>
          </a:lstStyle>
          <a:p>
            <a:endParaRPr lang="nl-NL"/>
          </a:p>
        </p:txBody>
      </p:sp>
      <p:sp>
        <p:nvSpPr>
          <p:cNvPr id="17" name="Tijdelijke aanduiding voor tekst 5">
            <a:extLst>
              <a:ext uri="{FF2B5EF4-FFF2-40B4-BE49-F238E27FC236}">
                <a16:creationId xmlns:a16="http://schemas.microsoft.com/office/drawing/2014/main" id="{A1F0D028-800C-45B1-A767-8F30C275FD23}"/>
              </a:ext>
            </a:extLst>
          </p:cNvPr>
          <p:cNvSpPr>
            <a:spLocks noGrp="1"/>
          </p:cNvSpPr>
          <p:nvPr>
            <p:ph type="body" sz="quarter" idx="12"/>
          </p:nvPr>
        </p:nvSpPr>
        <p:spPr>
          <a:xfrm>
            <a:off x="478801" y="867600"/>
            <a:ext cx="5310995"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3" name="text" descr="{&quot;templafy&quot;:{&quot;id&quot;:&quot;c82804c1-4093-4cd9-9b4b-4347e991be09&quot;}}" title="Translations.White_Brand_Name_Behind_Blue">
            <a:extLst>
              <a:ext uri="{FF2B5EF4-FFF2-40B4-BE49-F238E27FC236}">
                <a16:creationId xmlns:a16="http://schemas.microsoft.com/office/drawing/2014/main" id="{1971A940-2B1C-4E43-AE57-E9FC94566A28}"/>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2" name="Slide Number Placeholder 1">
            <a:extLst>
              <a:ext uri="{FF2B5EF4-FFF2-40B4-BE49-F238E27FC236}">
                <a16:creationId xmlns:a16="http://schemas.microsoft.com/office/drawing/2014/main" id="{6BDE3C28-0015-477D-9629-E435235ABCA3}"/>
              </a:ext>
            </a:extLst>
          </p:cNvPr>
          <p:cNvSpPr>
            <a:spLocks noGrp="1"/>
          </p:cNvSpPr>
          <p:nvPr>
            <p:ph type="sldNum" sz="quarter" idx="22"/>
          </p:nvPr>
        </p:nvSpPr>
        <p:spPr/>
        <p:txBody>
          <a:bodyPr/>
          <a:lstStyle/>
          <a:p>
            <a:fld id="{14A8E892-9D3D-449A-93AD-1E7955DBB18F}" type="slidenum">
              <a:rPr lang="en-GB" smtClean="0"/>
              <a:pPr/>
              <a:t>‹#›</a:t>
            </a:fld>
            <a:endParaRPr lang="en-GB"/>
          </a:p>
        </p:txBody>
      </p:sp>
      <p:sp>
        <p:nvSpPr>
          <p:cNvPr id="12" name="Tijdelijke aanduiding voor tekst en wit logo">
            <a:extLst>
              <a:ext uri="{FF2B5EF4-FFF2-40B4-BE49-F238E27FC236}">
                <a16:creationId xmlns:a16="http://schemas.microsoft.com/office/drawing/2014/main" id="{8A1FC7DA-2601-45C6-8E92-CDB91D2145DC}"/>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4" name="Tijdelijke aanduiding voor tekst en blauw logo">
            <a:extLst>
              <a:ext uri="{FF2B5EF4-FFF2-40B4-BE49-F238E27FC236}">
                <a16:creationId xmlns:a16="http://schemas.microsoft.com/office/drawing/2014/main" id="{50CB2631-9CD3-4A29-AA3B-0498AAC25E8C}"/>
              </a:ext>
            </a:extLst>
          </p:cNvPr>
          <p:cNvSpPr>
            <a:spLocks noGrp="1"/>
          </p:cNvSpPr>
          <p:nvPr>
            <p:ph type="body" sz="quarter" idx="20"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1099889872"/>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17" name="Content Placeholder 6">
            <a:extLst>
              <a:ext uri="{FF2B5EF4-FFF2-40B4-BE49-F238E27FC236}">
                <a16:creationId xmlns:a16="http://schemas.microsoft.com/office/drawing/2014/main" id="{B67F476D-5A64-48C5-A67B-C434185BB2AB}"/>
              </a:ext>
            </a:extLst>
          </p:cNvPr>
          <p:cNvSpPr>
            <a:spLocks noGrp="1"/>
          </p:cNvSpPr>
          <p:nvPr>
            <p:ph sz="quarter" idx="13"/>
          </p:nvPr>
        </p:nvSpPr>
        <p:spPr>
          <a:xfrm>
            <a:off x="471600" y="1288800"/>
            <a:ext cx="38628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9" name="Content Placeholder 6">
            <a:extLst>
              <a:ext uri="{FF2B5EF4-FFF2-40B4-BE49-F238E27FC236}">
                <a16:creationId xmlns:a16="http://schemas.microsoft.com/office/drawing/2014/main" id="{350D0511-2DC8-49FC-80A3-48D696D2F046}"/>
              </a:ext>
            </a:extLst>
          </p:cNvPr>
          <p:cNvSpPr>
            <a:spLocks noGrp="1"/>
          </p:cNvSpPr>
          <p:nvPr>
            <p:ph sz="quarter" idx="15"/>
          </p:nvPr>
        </p:nvSpPr>
        <p:spPr>
          <a:xfrm>
            <a:off x="4806000" y="1288800"/>
            <a:ext cx="3862800" cy="3240000"/>
          </a:xfrm>
        </p:spPr>
        <p:txBody>
          <a:bodyPr/>
          <a:lstStyle>
            <a:lvl1pPr>
              <a:lnSpc>
                <a:spcPct val="100000"/>
              </a:lnSpc>
              <a:defRPr b="0" i="0"/>
            </a:lvl1pPr>
            <a:lvl2pPr>
              <a:lnSpc>
                <a:spcPct val="100000"/>
              </a:lnSpc>
              <a:defRPr b="0" i="0"/>
            </a:lvl2pPr>
            <a:lvl3pPr>
              <a:lnSpc>
                <a:spcPct val="100000"/>
              </a:lnSpc>
              <a:defRPr/>
            </a:lvl3pPr>
            <a:lvl4pPr>
              <a:lnSpc>
                <a:spcPct val="100000"/>
              </a:lnSpc>
              <a:defRPr/>
            </a:lvl4pPr>
            <a:lvl5pPr>
              <a:lnSpc>
                <a:spcPct val="100000"/>
              </a:lnSpc>
              <a:defRPr b="0" i="0">
                <a:latin typeface="Myriad for Rabobank Bd It" panose="020B0703030403090204" pitchFamily="34" charset="0"/>
              </a:defRPr>
            </a:lvl5pPr>
          </a:lstStyle>
          <a:p>
            <a:pPr lvl="0"/>
            <a:endParaRPr lang="en-GB" noProof="0"/>
          </a:p>
          <a:p>
            <a:pPr lvl="1"/>
            <a:endParaRPr lang="en-US"/>
          </a:p>
          <a:p>
            <a:pPr lvl="2"/>
            <a:endParaRPr lang="en-US"/>
          </a:p>
          <a:p>
            <a:pPr lvl="3"/>
            <a:endParaRPr lang="en-US"/>
          </a:p>
          <a:p>
            <a:pPr lvl="4"/>
            <a:endParaRPr lang="en-US"/>
          </a:p>
        </p:txBody>
      </p:sp>
      <p:sp>
        <p:nvSpPr>
          <p:cNvPr id="10" name="Titel 1">
            <a:extLst>
              <a:ext uri="{FF2B5EF4-FFF2-40B4-BE49-F238E27FC236}">
                <a16:creationId xmlns:a16="http://schemas.microsoft.com/office/drawing/2014/main" id="{E629F8C2-9960-44CE-B18B-2EC833D65CBD}"/>
              </a:ext>
            </a:extLst>
          </p:cNvPr>
          <p:cNvSpPr>
            <a:spLocks noGrp="1"/>
          </p:cNvSpPr>
          <p:nvPr>
            <p:ph type="title"/>
          </p:nvPr>
        </p:nvSpPr>
        <p:spPr>
          <a:xfrm>
            <a:off x="471600" y="353833"/>
            <a:ext cx="8197200" cy="507474"/>
          </a:xfrm>
        </p:spPr>
        <p:txBody>
          <a:bodyPr/>
          <a:lstStyle>
            <a:lvl1pPr>
              <a:defRPr b="0" i="0">
                <a:latin typeface="Myriad for Rabobank Bd It" panose="020B0703030403090204" pitchFamily="34" charset="0"/>
              </a:defRPr>
            </a:lvl1pPr>
          </a:lstStyle>
          <a:p>
            <a:endParaRPr lang="nl-NL"/>
          </a:p>
        </p:txBody>
      </p:sp>
      <p:sp>
        <p:nvSpPr>
          <p:cNvPr id="13" name="Tijdelijke aanduiding voor tekst 5">
            <a:extLst>
              <a:ext uri="{FF2B5EF4-FFF2-40B4-BE49-F238E27FC236}">
                <a16:creationId xmlns:a16="http://schemas.microsoft.com/office/drawing/2014/main" id="{E089C802-0338-4F09-9E42-07EDADE7BA54}"/>
              </a:ext>
            </a:extLst>
          </p:cNvPr>
          <p:cNvSpPr>
            <a:spLocks noGrp="1"/>
          </p:cNvSpPr>
          <p:nvPr>
            <p:ph type="body" sz="quarter" idx="12"/>
          </p:nvPr>
        </p:nvSpPr>
        <p:spPr>
          <a:xfrm>
            <a:off x="478800" y="867600"/>
            <a:ext cx="8190000" cy="248400"/>
          </a:xfrm>
        </p:spPr>
        <p:txBody>
          <a:bodyPr tIns="36000" anchor="t" anchorCtr="0"/>
          <a:lstStyle>
            <a:lvl1pPr marL="0" indent="0">
              <a:lnSpc>
                <a:spcPct val="80000"/>
              </a:lnSpc>
              <a:buNone/>
              <a:defRPr sz="1500" b="0" i="0">
                <a:solidFill>
                  <a:schemeClr val="accent2"/>
                </a:solidFill>
                <a:latin typeface="Myriad for Rabobank" panose="020B0503030403020204" pitchFamily="34" charset="0"/>
              </a:defRPr>
            </a:lvl1pPr>
          </a:lstStyle>
          <a:p>
            <a:pPr lvl="0"/>
            <a:endParaRPr lang="en-US"/>
          </a:p>
        </p:txBody>
      </p:sp>
      <p:sp>
        <p:nvSpPr>
          <p:cNvPr id="2" name="text" descr="{&quot;templafy&quot;:{&quot;id&quot;:&quot;8b2284e5-06ee-4f0a-8b0e-a9e6f2736963&quot;}}" title="Translations.Add_Table_Small">
            <a:extLst>
              <a:ext uri="{FF2B5EF4-FFF2-40B4-BE49-F238E27FC236}">
                <a16:creationId xmlns:a16="http://schemas.microsoft.com/office/drawing/2014/main" id="{E021C143-DB9F-43A9-9CD0-D91D06D6E964}"/>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Copy the narrow example table into the right placeholder.</a:t>
            </a:r>
          </a:p>
        </p:txBody>
      </p:sp>
      <p:sp>
        <p:nvSpPr>
          <p:cNvPr id="3" name="text" descr="{&quot;templafy&quot;:{&quot;id&quot;:&quot;c571b8f1-1d24-4055-8b93-e0a72400dd83&quot;}}" title="Translations.Add_Table_Large">
            <a:extLst>
              <a:ext uri="{FF2B5EF4-FFF2-40B4-BE49-F238E27FC236}">
                <a16:creationId xmlns:a16="http://schemas.microsoft.com/office/drawing/2014/main" id="{4AC4645C-DF4E-4868-AEE6-107FDEF6D9D2}"/>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A wide table should be inserted in slide layout 'Title Only'.</a:t>
            </a:r>
          </a:p>
        </p:txBody>
      </p:sp>
      <p:sp>
        <p:nvSpPr>
          <p:cNvPr id="4" name="Slide Number Placeholder 3">
            <a:extLst>
              <a:ext uri="{FF2B5EF4-FFF2-40B4-BE49-F238E27FC236}">
                <a16:creationId xmlns:a16="http://schemas.microsoft.com/office/drawing/2014/main" id="{EF8E2B4F-2850-4DA3-9B20-68E469B72855}"/>
              </a:ext>
            </a:extLst>
          </p:cNvPr>
          <p:cNvSpPr>
            <a:spLocks noGrp="1"/>
          </p:cNvSpPr>
          <p:nvPr>
            <p:ph type="sldNum" sz="quarter" idx="16"/>
          </p:nvPr>
        </p:nvSpPr>
        <p:spPr/>
        <p:txBody>
          <a:bodyPr/>
          <a:lstStyle/>
          <a:p>
            <a:fld id="{14A8E892-9D3D-449A-93AD-1E7955DBB18F}" type="slidenum">
              <a:rPr lang="en-GB" smtClean="0"/>
              <a:pPr/>
              <a:t>‹#›</a:t>
            </a:fld>
            <a:endParaRPr lang="en-GB"/>
          </a:p>
        </p:txBody>
      </p:sp>
      <p:pic>
        <p:nvPicPr>
          <p:cNvPr id="202326937" name="image" descr="{&quot;templafy&quot;:{&quot;id&quot;:&quot;e6f83e23-047f-4085-8b8a-ba5da51f193f&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4028680734"/>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C8009C"/>
        </a:solidFill>
        <a:effectLst/>
      </p:bgPr>
    </p:bg>
    <p:spTree>
      <p:nvGrpSpPr>
        <p:cNvPr id="1" name=""/>
        <p:cNvGrpSpPr/>
        <p:nvPr/>
      </p:nvGrpSpPr>
      <p:grpSpPr>
        <a:xfrm>
          <a:off x="0" y="0"/>
          <a:ext cx="0" cy="0"/>
          <a:chOff x="0" y="0"/>
          <a:chExt cx="0" cy="0"/>
        </a:xfrm>
      </p:grpSpPr>
      <p:sp>
        <p:nvSpPr>
          <p:cNvPr id="7" name="Tijdelijke aanduiding voor tekst 8">
            <a:extLst>
              <a:ext uri="{FF2B5EF4-FFF2-40B4-BE49-F238E27FC236}">
                <a16:creationId xmlns:a16="http://schemas.microsoft.com/office/drawing/2014/main" id="{C7437EB6-0FC2-43B3-A7E8-6587AB244598}"/>
              </a:ext>
            </a:extLst>
          </p:cNvPr>
          <p:cNvSpPr>
            <a:spLocks noGrp="1"/>
          </p:cNvSpPr>
          <p:nvPr>
            <p:ph type="body" sz="quarter" idx="10"/>
          </p:nvPr>
        </p:nvSpPr>
        <p:spPr>
          <a:xfrm>
            <a:off x="471600" y="471600"/>
            <a:ext cx="8200800" cy="4050000"/>
          </a:xfrm>
        </p:spPr>
        <p:txBody>
          <a:bodyPr anchor="ctr" anchorCtr="0"/>
          <a:lstStyle>
            <a:lvl1pPr marL="0" indent="0" algn="ctr">
              <a:lnSpc>
                <a:spcPts val="4700"/>
              </a:lnSpc>
              <a:buNone/>
              <a:defRPr sz="4690" b="0" i="0">
                <a:solidFill>
                  <a:schemeClr val="bg1"/>
                </a:solidFill>
                <a:latin typeface="Myriad for Rabobank It" panose="020B0503030403090204" pitchFamily="34" charset="0"/>
              </a:defRPr>
            </a:lvl1pPr>
            <a:lvl2pPr marL="0" indent="0" algn="ctr">
              <a:lnSpc>
                <a:spcPts val="4690"/>
              </a:lnSpc>
              <a:buNone/>
              <a:defRPr sz="1880" b="0" i="0">
                <a:solidFill>
                  <a:schemeClr val="bg1"/>
                </a:solidFill>
                <a:latin typeface="Myriad for Rabobank" panose="02000503050000020004" pitchFamily="2" charset="0"/>
              </a:defRPr>
            </a:lvl2pPr>
            <a:lvl3pPr marL="0" indent="0" algn="ctr">
              <a:lnSpc>
                <a:spcPts val="4690"/>
              </a:lnSpc>
              <a:buNone/>
              <a:defRPr sz="1880">
                <a:solidFill>
                  <a:schemeClr val="bg1"/>
                </a:solidFill>
                <a:latin typeface="Myriad for Rabobank" panose="02000503050000020004" pitchFamily="2" charset="0"/>
              </a:defRPr>
            </a:lvl3pPr>
            <a:lvl4pPr marL="0" indent="0" algn="ctr">
              <a:lnSpc>
                <a:spcPts val="4690"/>
              </a:lnSpc>
              <a:buNone/>
              <a:defRPr sz="1880">
                <a:solidFill>
                  <a:schemeClr val="bg1"/>
                </a:solidFill>
                <a:latin typeface="Myriad for Rabobank" panose="02000503050000020004" pitchFamily="2" charset="0"/>
              </a:defRPr>
            </a:lvl4pPr>
            <a:lvl5pPr algn="ctr">
              <a:lnSpc>
                <a:spcPts val="4690"/>
              </a:lnSpc>
              <a:defRPr sz="1880" b="0" i="0">
                <a:solidFill>
                  <a:schemeClr val="bg1"/>
                </a:solidFill>
                <a:latin typeface="Myriad for Rabobank Bd It" panose="020B0703030403090204" pitchFamily="34" charset="0"/>
              </a:defRPr>
            </a:lvl5pPr>
          </a:lstStyle>
          <a:p>
            <a:pPr lvl="0"/>
            <a:endParaRPr lang="en-US"/>
          </a:p>
          <a:p>
            <a:pPr lvl="1"/>
            <a:endParaRPr lang="nl-NL"/>
          </a:p>
          <a:p>
            <a:pPr lvl="2"/>
            <a:endParaRPr lang="nl-NL"/>
          </a:p>
          <a:p>
            <a:pPr lvl="3"/>
            <a:endParaRPr lang="nl-NL"/>
          </a:p>
          <a:p>
            <a:pPr lvl="4"/>
            <a:endParaRPr lang="nl-NL"/>
          </a:p>
        </p:txBody>
      </p:sp>
      <p:sp>
        <p:nvSpPr>
          <p:cNvPr id="2" name="text" descr="{&quot;templafy&quot;:{&quot;id&quot;:&quot;4e798216-a59a-44fd-af75-379b3a59ab5b&quot;}}" title="Translations.Quote_Layout_Name">
            <a:extLst>
              <a:ext uri="{FF2B5EF4-FFF2-40B4-BE49-F238E27FC236}">
                <a16:creationId xmlns:a16="http://schemas.microsoft.com/office/drawing/2014/main" id="{28D2359B-D217-4017-941C-90A984D68D51}"/>
              </a:ext>
            </a:extLst>
          </p:cNvPr>
          <p:cNvSpPr/>
          <p:nvPr userDrawn="1"/>
        </p:nvSpPr>
        <p:spPr>
          <a:xfrm>
            <a:off x="0" y="-540569"/>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Select text level 2 layout for the name below the quote</a:t>
            </a:r>
          </a:p>
        </p:txBody>
      </p:sp>
      <p:sp>
        <p:nvSpPr>
          <p:cNvPr id="3" name="text" descr="{&quot;templafy&quot;:{&quot;id&quot;:&quot;f95e6e9c-013f-49aa-8c44-a354afbbc692&quot;}}" title="Translations.Background_Colour">
            <a:extLst>
              <a:ext uri="{FF2B5EF4-FFF2-40B4-BE49-F238E27FC236}">
                <a16:creationId xmlns:a16="http://schemas.microsoft.com/office/drawing/2014/main" id="{E50BB855-1F2F-4543-A033-E4E9463E7CCF}"/>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change background colour: select 'Design, Format Background, Fill, Solid Fill'. Then choose one of the Accent colours.</a:t>
            </a:r>
          </a:p>
        </p:txBody>
      </p:sp>
      <p:sp>
        <p:nvSpPr>
          <p:cNvPr id="4" name="text" descr="{&quot;templafy&quot;:{&quot;id&quot;:&quot;ab49312b-651a-4baa-aa7d-352047ce230f&quot;}}" title="Translations.Quote_Highlight">
            <a:extLst>
              <a:ext uri="{FF2B5EF4-FFF2-40B4-BE49-F238E27FC236}">
                <a16:creationId xmlns:a16="http://schemas.microsoft.com/office/drawing/2014/main" id="{21D3143A-8163-4158-B08B-B83F2B146245}"/>
              </a:ext>
            </a:extLst>
          </p:cNvPr>
          <p:cNvSpPr/>
          <p:nvPr userDrawn="1"/>
        </p:nvSpPr>
        <p:spPr>
          <a:xfrm>
            <a:off x="0" y="-733156"/>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highlight a word in the quote, select font 'Myriad for Rabobank Bd It'.</a:t>
            </a:r>
          </a:p>
        </p:txBody>
      </p:sp>
      <p:pic>
        <p:nvPicPr>
          <p:cNvPr id="177668581" name="image" descr="{&quot;templafy&quot;:{&quot;id&quot;:&quot;046ab0e8-8684-47a1-8bed-2d0484472c82&quot;}}"/>
          <p:cNvPicPr>
            <a:picLocks noChangeAspect="1"/>
          </p:cNvPicPr>
          <p:nvPr/>
        </p:nvPicPr>
        <p:blipFill>
          <a:blip r:embed="rId2"/>
          <a:stretch>
            <a:fillRect/>
          </a:stretch>
        </p:blipFill>
        <p:spPr>
          <a:xfrm>
            <a:off x="8017200" y="4784401"/>
            <a:ext cx="655200" cy="120205"/>
          </a:xfrm>
          <a:prstGeom prst="rect">
            <a:avLst/>
          </a:prstGeom>
        </p:spPr>
      </p:pic>
      <p:grpSp>
        <p:nvGrpSpPr>
          <p:cNvPr id="8" name="Group 7">
            <a:extLst>
              <a:ext uri="{FF2B5EF4-FFF2-40B4-BE49-F238E27FC236}">
                <a16:creationId xmlns:a16="http://schemas.microsoft.com/office/drawing/2014/main" id="{6169D629-96DC-409E-BB12-D389DD2077C8}"/>
              </a:ext>
            </a:extLst>
          </p:cNvPr>
          <p:cNvGrpSpPr/>
          <p:nvPr userDrawn="1"/>
        </p:nvGrpSpPr>
        <p:grpSpPr>
          <a:xfrm>
            <a:off x="-862650" y="-506634"/>
            <a:ext cx="496890" cy="235331"/>
            <a:chOff x="-524670" y="-540569"/>
            <a:chExt cx="496890" cy="235331"/>
          </a:xfrm>
        </p:grpSpPr>
        <p:pic>
          <p:nvPicPr>
            <p:cNvPr id="9" name="Picture 8">
              <a:extLst>
                <a:ext uri="{FF2B5EF4-FFF2-40B4-BE49-F238E27FC236}">
                  <a16:creationId xmlns:a16="http://schemas.microsoft.com/office/drawing/2014/main" id="{C4738A1D-A651-4E82-9F54-33FC4350E94A}"/>
                </a:ext>
              </a:extLst>
            </p:cNvPr>
            <p:cNvPicPr>
              <a:picLocks noChangeAspect="1"/>
            </p:cNvPicPr>
            <p:nvPr userDrawn="1"/>
          </p:nvPicPr>
          <p:blipFill>
            <a:blip r:embed="rId3"/>
            <a:stretch>
              <a:fillRect/>
            </a:stretch>
          </p:blipFill>
          <p:spPr>
            <a:xfrm>
              <a:off x="-524670" y="-527982"/>
              <a:ext cx="496890" cy="222744"/>
            </a:xfrm>
            <a:prstGeom prst="rect">
              <a:avLst/>
            </a:prstGeom>
          </p:spPr>
        </p:pic>
        <p:sp>
          <p:nvSpPr>
            <p:cNvPr id="10" name="Rectangle 9">
              <a:extLst>
                <a:ext uri="{FF2B5EF4-FFF2-40B4-BE49-F238E27FC236}">
                  <a16:creationId xmlns:a16="http://schemas.microsoft.com/office/drawing/2014/main" id="{F78D7A1B-A325-48A8-9F01-3F01EACC25E4}"/>
                </a:ext>
              </a:extLst>
            </p:cNvPr>
            <p:cNvSpPr/>
            <p:nvPr userDrawn="1"/>
          </p:nvSpPr>
          <p:spPr>
            <a:xfrm>
              <a:off x="-276225" y="-540569"/>
              <a:ext cx="248445" cy="235331"/>
            </a:xfrm>
            <a:prstGeom prst="rect">
              <a:avLst/>
            </a:prstGeom>
            <a:noFill/>
            <a:ln w="12700" cap="rnd" cmpd="sng" algn="ctr">
              <a:solidFill>
                <a:schemeClr val="accent2"/>
              </a:solidFill>
              <a:prstDash val="solid"/>
            </a:ln>
            <a:effectLst/>
          </p:spPr>
          <p:txBody>
            <a:bodyPr rtlCol="0" anchor="ctr"/>
            <a:lstStyle/>
            <a:p>
              <a:pPr algn="ctr"/>
              <a:endParaRPr lang="nl-NL" sz="1800">
                <a:solidFill>
                  <a:srgbClr val="5E6A71"/>
                </a:solidFill>
              </a:endParaRPr>
            </a:p>
          </p:txBody>
        </p:sp>
      </p:grpSp>
      <p:cxnSp>
        <p:nvCxnSpPr>
          <p:cNvPr id="11" name="Straight Arrow Connector 10">
            <a:extLst>
              <a:ext uri="{FF2B5EF4-FFF2-40B4-BE49-F238E27FC236}">
                <a16:creationId xmlns:a16="http://schemas.microsoft.com/office/drawing/2014/main" id="{6800E538-E077-4B04-8D98-F48A5497C4FE}"/>
              </a:ext>
            </a:extLst>
          </p:cNvPr>
          <p:cNvCxnSpPr>
            <a:cxnSpLocks/>
          </p:cNvCxnSpPr>
          <p:nvPr userDrawn="1"/>
        </p:nvCxnSpPr>
        <p:spPr>
          <a:xfrm flipH="1">
            <a:off x="-312420" y="-387861"/>
            <a:ext cx="24384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6069126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and Photo">
    <p:bg>
      <p:bgPr>
        <a:solidFill>
          <a:srgbClr val="C8009C"/>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5F06499D-A6C9-47AD-88C6-B9A87032B319}"/>
              </a:ext>
            </a:extLst>
          </p:cNvPr>
          <p:cNvSpPr>
            <a:spLocks noGrp="1"/>
          </p:cNvSpPr>
          <p:nvPr>
            <p:ph type="pic" sz="quarter" idx="12"/>
          </p:nvPr>
        </p:nvSpPr>
        <p:spPr>
          <a:xfrm>
            <a:off x="4572000" y="0"/>
            <a:ext cx="4572000" cy="5143500"/>
          </a:xfrm>
        </p:spPr>
        <p:txBody>
          <a:bodyPr/>
          <a:lstStyle>
            <a:lvl1pPr marL="0" indent="0" algn="ctr">
              <a:buNone/>
              <a:defRPr b="0" i="0">
                <a:solidFill>
                  <a:schemeClr val="bg1"/>
                </a:solidFill>
              </a:defRPr>
            </a:lvl1pPr>
          </a:lstStyle>
          <a:p>
            <a:endParaRPr lang="nl-NL"/>
          </a:p>
        </p:txBody>
      </p:sp>
      <p:sp>
        <p:nvSpPr>
          <p:cNvPr id="11" name="Tijdelijke aanduiding voor tekst 8">
            <a:extLst>
              <a:ext uri="{FF2B5EF4-FFF2-40B4-BE49-F238E27FC236}">
                <a16:creationId xmlns:a16="http://schemas.microsoft.com/office/drawing/2014/main" id="{4E41395E-39BB-4FB5-A1FD-EFB67F5E60C0}"/>
              </a:ext>
            </a:extLst>
          </p:cNvPr>
          <p:cNvSpPr>
            <a:spLocks noGrp="1"/>
          </p:cNvSpPr>
          <p:nvPr>
            <p:ph type="body" sz="quarter" idx="21"/>
          </p:nvPr>
        </p:nvSpPr>
        <p:spPr>
          <a:xfrm>
            <a:off x="471600" y="471600"/>
            <a:ext cx="3693346" cy="4050000"/>
          </a:xfrm>
        </p:spPr>
        <p:txBody>
          <a:bodyPr anchor="ctr" anchorCtr="0"/>
          <a:lstStyle>
            <a:lvl1pPr marL="0" indent="0" algn="ctr">
              <a:lnSpc>
                <a:spcPts val="4700"/>
              </a:lnSpc>
              <a:buNone/>
              <a:defRPr sz="4690" b="0" i="0">
                <a:solidFill>
                  <a:schemeClr val="bg1"/>
                </a:solidFill>
                <a:latin typeface="Myriad for Rabobank It" panose="020B0503030403090204" pitchFamily="34" charset="0"/>
              </a:defRPr>
            </a:lvl1pPr>
            <a:lvl2pPr marL="0" indent="0" algn="ctr">
              <a:lnSpc>
                <a:spcPts val="4690"/>
              </a:lnSpc>
              <a:buNone/>
              <a:defRPr sz="1880" b="0" i="0">
                <a:solidFill>
                  <a:schemeClr val="bg1"/>
                </a:solidFill>
                <a:latin typeface="Myriad for Rabobank" panose="02000503050000020004" pitchFamily="2" charset="0"/>
              </a:defRPr>
            </a:lvl2pPr>
            <a:lvl3pPr marL="0" indent="0" algn="ctr">
              <a:lnSpc>
                <a:spcPts val="4690"/>
              </a:lnSpc>
              <a:buNone/>
              <a:defRPr sz="1880">
                <a:solidFill>
                  <a:schemeClr val="bg1"/>
                </a:solidFill>
                <a:latin typeface="Myriad for Rabobank" panose="02000503050000020004" pitchFamily="2" charset="0"/>
              </a:defRPr>
            </a:lvl3pPr>
            <a:lvl4pPr marL="0" indent="0" algn="ctr">
              <a:lnSpc>
                <a:spcPts val="4690"/>
              </a:lnSpc>
              <a:buNone/>
              <a:defRPr sz="1880">
                <a:solidFill>
                  <a:schemeClr val="bg1"/>
                </a:solidFill>
                <a:latin typeface="Myriad for Rabobank" panose="02000503050000020004" pitchFamily="2" charset="0"/>
              </a:defRPr>
            </a:lvl4pPr>
            <a:lvl5pPr algn="ctr">
              <a:lnSpc>
                <a:spcPts val="4690"/>
              </a:lnSpc>
              <a:defRPr sz="1880" b="0" i="0">
                <a:solidFill>
                  <a:schemeClr val="bg1"/>
                </a:solidFill>
                <a:latin typeface="Myriad for Rabobank Bd It" panose="020B0703030403090204" pitchFamily="34" charset="0"/>
              </a:defRPr>
            </a:lvl5pPr>
          </a:lstStyle>
          <a:p>
            <a:pPr lvl="0"/>
            <a:endParaRPr lang="en-US"/>
          </a:p>
          <a:p>
            <a:pPr lvl="1"/>
            <a:endParaRPr lang="nl-NL"/>
          </a:p>
          <a:p>
            <a:pPr lvl="2"/>
            <a:endParaRPr lang="nl-NL"/>
          </a:p>
          <a:p>
            <a:pPr lvl="3"/>
            <a:endParaRPr lang="nl-NL"/>
          </a:p>
          <a:p>
            <a:pPr lvl="4"/>
            <a:endParaRPr lang="nl-NL"/>
          </a:p>
        </p:txBody>
      </p:sp>
      <p:sp>
        <p:nvSpPr>
          <p:cNvPr id="18" name="text" descr="{&quot;templafy&quot;:{&quot;id&quot;:&quot;962d084c-520f-4e19-a98b-bfcc108b5c9f&quot;}}" title="Translations.Background_Colour">
            <a:extLst>
              <a:ext uri="{FF2B5EF4-FFF2-40B4-BE49-F238E27FC236}">
                <a16:creationId xmlns:a16="http://schemas.microsoft.com/office/drawing/2014/main" id="{DA0B9B8D-279E-49C3-A4E5-439B21F1C851}"/>
              </a:ext>
            </a:extLst>
          </p:cNvPr>
          <p:cNvSpPr/>
          <p:nvPr userDrawn="1"/>
        </p:nvSpPr>
        <p:spPr>
          <a:xfrm>
            <a:off x="0" y="-540568"/>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change background colour: select 'Design, Format Background, Fill, Solid Fill'. Then choose one of the Accent colours.</a:t>
            </a:r>
          </a:p>
        </p:txBody>
      </p:sp>
      <p:sp>
        <p:nvSpPr>
          <p:cNvPr id="20" name="text" descr="{&quot;templafy&quot;:{&quot;id&quot;:&quot;dfb6727f-a36f-4b9b-b995-7ba0f844a245&quot;}}" title="Translations.White_Brand_Name_Behind_Blue">
            <a:extLst>
              <a:ext uri="{FF2B5EF4-FFF2-40B4-BE49-F238E27FC236}">
                <a16:creationId xmlns:a16="http://schemas.microsoft.com/office/drawing/2014/main" id="{E507221E-757C-4627-B96A-5887D79FDEA3}"/>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22" name="text" descr="{&quot;templafy&quot;:{&quot;id&quot;:&quot;2c15943b-49b8-4071-b775-9639df2c9ae0&quot;}}" title="Translations.Quote_Layout_Name">
            <a:extLst>
              <a:ext uri="{FF2B5EF4-FFF2-40B4-BE49-F238E27FC236}">
                <a16:creationId xmlns:a16="http://schemas.microsoft.com/office/drawing/2014/main" id="{EE442AA4-3F56-41E2-93D8-FE10143F11EA}"/>
              </a:ext>
            </a:extLst>
          </p:cNvPr>
          <p:cNvSpPr/>
          <p:nvPr userDrawn="1"/>
        </p:nvSpPr>
        <p:spPr>
          <a:xfrm>
            <a:off x="0" y="-733156"/>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Select text level 2 layout for the name below the quote</a:t>
            </a:r>
          </a:p>
        </p:txBody>
      </p:sp>
      <p:sp>
        <p:nvSpPr>
          <p:cNvPr id="24" name="text" descr="{&quot;templafy&quot;:{&quot;id&quot;:&quot;f452bc0d-2041-4ee0-992b-8d7ee9790e6d&quot;}}" title="Translations.Quote_Highlight">
            <a:extLst>
              <a:ext uri="{FF2B5EF4-FFF2-40B4-BE49-F238E27FC236}">
                <a16:creationId xmlns:a16="http://schemas.microsoft.com/office/drawing/2014/main" id="{9C58DB67-0017-4DB8-A134-02E6077FD1CB}"/>
              </a:ext>
            </a:extLst>
          </p:cNvPr>
          <p:cNvSpPr/>
          <p:nvPr userDrawn="1"/>
        </p:nvSpPr>
        <p:spPr>
          <a:xfrm>
            <a:off x="0" y="-908272"/>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highlight a word in the quote, select font 'Myriad for Rabobank Bd It'.</a:t>
            </a:r>
          </a:p>
        </p:txBody>
      </p:sp>
      <p:sp>
        <p:nvSpPr>
          <p:cNvPr id="10" name="Tijdelijke aanduiding voor tekst en wit logo">
            <a:extLst>
              <a:ext uri="{FF2B5EF4-FFF2-40B4-BE49-F238E27FC236}">
                <a16:creationId xmlns:a16="http://schemas.microsoft.com/office/drawing/2014/main" id="{645703EB-EAF7-49BF-9CB4-C6785B90FC49}"/>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2" name="Tijdelijke aanduiding voor tekst en blauw logo">
            <a:extLst>
              <a:ext uri="{FF2B5EF4-FFF2-40B4-BE49-F238E27FC236}">
                <a16:creationId xmlns:a16="http://schemas.microsoft.com/office/drawing/2014/main" id="{801F9875-5C64-4F14-AE96-ADB16EDA91F8}"/>
              </a:ext>
            </a:extLst>
          </p:cNvPr>
          <p:cNvSpPr>
            <a:spLocks noGrp="1"/>
          </p:cNvSpPr>
          <p:nvPr>
            <p:ph type="body" sz="quarter" idx="20"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grpSp>
        <p:nvGrpSpPr>
          <p:cNvPr id="13" name="Group 12">
            <a:extLst>
              <a:ext uri="{FF2B5EF4-FFF2-40B4-BE49-F238E27FC236}">
                <a16:creationId xmlns:a16="http://schemas.microsoft.com/office/drawing/2014/main" id="{7ED543C7-8F2E-4449-99C0-F0F67E274207}"/>
              </a:ext>
            </a:extLst>
          </p:cNvPr>
          <p:cNvGrpSpPr/>
          <p:nvPr userDrawn="1"/>
        </p:nvGrpSpPr>
        <p:grpSpPr>
          <a:xfrm>
            <a:off x="-862650" y="-708520"/>
            <a:ext cx="496890" cy="235331"/>
            <a:chOff x="-524670" y="-540569"/>
            <a:chExt cx="496890" cy="235331"/>
          </a:xfrm>
        </p:grpSpPr>
        <p:pic>
          <p:nvPicPr>
            <p:cNvPr id="14" name="Picture 13">
              <a:extLst>
                <a:ext uri="{FF2B5EF4-FFF2-40B4-BE49-F238E27FC236}">
                  <a16:creationId xmlns:a16="http://schemas.microsoft.com/office/drawing/2014/main" id="{55BFC5DA-8F8F-4DCF-893C-A0146DEC0C5B}"/>
                </a:ext>
              </a:extLst>
            </p:cNvPr>
            <p:cNvPicPr>
              <a:picLocks noChangeAspect="1"/>
            </p:cNvPicPr>
            <p:nvPr userDrawn="1"/>
          </p:nvPicPr>
          <p:blipFill>
            <a:blip r:embed="rId4"/>
            <a:stretch>
              <a:fillRect/>
            </a:stretch>
          </p:blipFill>
          <p:spPr>
            <a:xfrm>
              <a:off x="-524670" y="-527982"/>
              <a:ext cx="496890" cy="222744"/>
            </a:xfrm>
            <a:prstGeom prst="rect">
              <a:avLst/>
            </a:prstGeom>
          </p:spPr>
        </p:pic>
        <p:sp>
          <p:nvSpPr>
            <p:cNvPr id="15" name="Rectangle 14">
              <a:extLst>
                <a:ext uri="{FF2B5EF4-FFF2-40B4-BE49-F238E27FC236}">
                  <a16:creationId xmlns:a16="http://schemas.microsoft.com/office/drawing/2014/main" id="{7665A90B-4A55-4E70-B55E-BACEDA2C6CF1}"/>
                </a:ext>
              </a:extLst>
            </p:cNvPr>
            <p:cNvSpPr/>
            <p:nvPr userDrawn="1"/>
          </p:nvSpPr>
          <p:spPr>
            <a:xfrm>
              <a:off x="-276225" y="-540569"/>
              <a:ext cx="248445" cy="235331"/>
            </a:xfrm>
            <a:prstGeom prst="rect">
              <a:avLst/>
            </a:prstGeom>
            <a:noFill/>
            <a:ln w="12700" cap="rnd" cmpd="sng" algn="ctr">
              <a:solidFill>
                <a:schemeClr val="accent2"/>
              </a:solidFill>
              <a:prstDash val="solid"/>
            </a:ln>
            <a:effectLst/>
          </p:spPr>
          <p:txBody>
            <a:bodyPr rtlCol="0" anchor="ctr"/>
            <a:lstStyle/>
            <a:p>
              <a:pPr algn="ctr"/>
              <a:endParaRPr lang="nl-NL" sz="1800">
                <a:solidFill>
                  <a:srgbClr val="5E6A71"/>
                </a:solidFill>
              </a:endParaRPr>
            </a:p>
          </p:txBody>
        </p:sp>
      </p:grpSp>
      <p:cxnSp>
        <p:nvCxnSpPr>
          <p:cNvPr id="16" name="Straight Arrow Connector 15">
            <a:extLst>
              <a:ext uri="{FF2B5EF4-FFF2-40B4-BE49-F238E27FC236}">
                <a16:creationId xmlns:a16="http://schemas.microsoft.com/office/drawing/2014/main" id="{3E362580-BC14-4064-A96E-5FCCC86F208A}"/>
              </a:ext>
            </a:extLst>
          </p:cNvPr>
          <p:cNvCxnSpPr>
            <a:cxnSpLocks/>
          </p:cNvCxnSpPr>
          <p:nvPr userDrawn="1"/>
        </p:nvCxnSpPr>
        <p:spPr>
          <a:xfrm flipH="1">
            <a:off x="-312420" y="-589747"/>
            <a:ext cx="24384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33337429"/>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parating Slide">
    <p:bg>
      <p:bgPr>
        <a:solidFill>
          <a:schemeClr val="accent1"/>
        </a:solid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28F46AEA-7DC5-49CE-8BFE-71954F1B1C32}"/>
              </a:ext>
            </a:extLst>
          </p:cNvPr>
          <p:cNvSpPr>
            <a:spLocks noGrp="1"/>
          </p:cNvSpPr>
          <p:nvPr>
            <p:ph type="title"/>
          </p:nvPr>
        </p:nvSpPr>
        <p:spPr>
          <a:xfrm>
            <a:off x="471600" y="1652400"/>
            <a:ext cx="6858000" cy="1296000"/>
          </a:xfrm>
        </p:spPr>
        <p:txBody>
          <a:bodyPr/>
          <a:lstStyle>
            <a:lvl1pPr>
              <a:lnSpc>
                <a:spcPct val="80000"/>
              </a:lnSpc>
              <a:defRPr sz="4690" b="0" i="0">
                <a:solidFill>
                  <a:schemeClr val="bg1"/>
                </a:solidFill>
                <a:latin typeface="Myriad for Rabobank Bd It" panose="020B0703030403090204" pitchFamily="34" charset="0"/>
              </a:defRPr>
            </a:lvl1pPr>
          </a:lstStyle>
          <a:p>
            <a:endParaRPr lang="nl-NL"/>
          </a:p>
        </p:txBody>
      </p:sp>
      <p:sp>
        <p:nvSpPr>
          <p:cNvPr id="8" name="Tijdelijke aanduiding voor tekst 5">
            <a:extLst>
              <a:ext uri="{FF2B5EF4-FFF2-40B4-BE49-F238E27FC236}">
                <a16:creationId xmlns:a16="http://schemas.microsoft.com/office/drawing/2014/main" id="{EE09DE58-CE57-4730-853B-343A871CF0B0}"/>
              </a:ext>
            </a:extLst>
          </p:cNvPr>
          <p:cNvSpPr>
            <a:spLocks noGrp="1"/>
          </p:cNvSpPr>
          <p:nvPr>
            <p:ph type="body" sz="quarter" idx="12"/>
          </p:nvPr>
        </p:nvSpPr>
        <p:spPr>
          <a:xfrm>
            <a:off x="471600" y="3091256"/>
            <a:ext cx="6858000" cy="626400"/>
          </a:xfrm>
        </p:spPr>
        <p:txBody>
          <a:bodyPr/>
          <a:lstStyle>
            <a:lvl1pPr marL="0" indent="0">
              <a:lnSpc>
                <a:spcPct val="80000"/>
              </a:lnSpc>
              <a:buNone/>
              <a:defRPr sz="1880" b="0" i="0">
                <a:solidFill>
                  <a:schemeClr val="bg1"/>
                </a:solidFill>
                <a:latin typeface="Myriad for Rabobank It" panose="020B0503030403090204" pitchFamily="34" charset="0"/>
              </a:defRPr>
            </a:lvl1pPr>
          </a:lstStyle>
          <a:p>
            <a:pPr lvl="0"/>
            <a:endParaRPr lang="en-US"/>
          </a:p>
        </p:txBody>
      </p:sp>
      <p:sp>
        <p:nvSpPr>
          <p:cNvPr id="16" name="text" descr="{&quot;templafy&quot;:{&quot;id&quot;:&quot;7bb4f02b-3116-4fb2-bade-e5272b872477&quot;}}" title="Translations.Background_Colour">
            <a:extLst>
              <a:ext uri="{FF2B5EF4-FFF2-40B4-BE49-F238E27FC236}">
                <a16:creationId xmlns:a16="http://schemas.microsoft.com/office/drawing/2014/main" id="{137A5C93-B761-4EDB-B022-CB5CA6AB95B5}"/>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change background colour: select 'Design, Format Background, Fill, Solid Fill'. Then choose one of the Accent colours.</a:t>
            </a:r>
          </a:p>
        </p:txBody>
      </p:sp>
      <p:pic>
        <p:nvPicPr>
          <p:cNvPr id="1128685257" name="image" descr="{&quot;templafy&quot;:{&quot;id&quot;:&quot;e1860039-6137-410e-bcae-0ea1e9a2a035&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37820309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parating Slide with Picture">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3">
            <a:extLst>
              <a:ext uri="{FF2B5EF4-FFF2-40B4-BE49-F238E27FC236}">
                <a16:creationId xmlns:a16="http://schemas.microsoft.com/office/drawing/2014/main" id="{81DACC4D-11A3-4101-AA3D-5F43DA5A685F}"/>
              </a:ext>
            </a:extLst>
          </p:cNvPr>
          <p:cNvSpPr>
            <a:spLocks noGrp="1"/>
          </p:cNvSpPr>
          <p:nvPr>
            <p:ph type="pic" sz="quarter" idx="14"/>
          </p:nvPr>
        </p:nvSpPr>
        <p:spPr>
          <a:xfrm>
            <a:off x="4572000" y="0"/>
            <a:ext cx="4572000" cy="5143500"/>
          </a:xfrm>
        </p:spPr>
        <p:txBody>
          <a:bodyPr/>
          <a:lstStyle>
            <a:lvl1pPr marL="0" indent="0" algn="ctr">
              <a:buNone/>
              <a:defRPr b="0" i="0">
                <a:solidFill>
                  <a:schemeClr val="bg1"/>
                </a:solidFill>
              </a:defRPr>
            </a:lvl1pPr>
          </a:lstStyle>
          <a:p>
            <a:endParaRPr lang="nl-NL"/>
          </a:p>
        </p:txBody>
      </p:sp>
      <p:sp>
        <p:nvSpPr>
          <p:cNvPr id="16" name="Tijdelijke aanduiding voor tekst 5">
            <a:extLst>
              <a:ext uri="{FF2B5EF4-FFF2-40B4-BE49-F238E27FC236}">
                <a16:creationId xmlns:a16="http://schemas.microsoft.com/office/drawing/2014/main" id="{EFD88649-D1BB-435B-ADDD-0BAE4B2436BE}"/>
              </a:ext>
            </a:extLst>
          </p:cNvPr>
          <p:cNvSpPr>
            <a:spLocks noGrp="1"/>
          </p:cNvSpPr>
          <p:nvPr>
            <p:ph type="body" sz="quarter" idx="12"/>
          </p:nvPr>
        </p:nvSpPr>
        <p:spPr>
          <a:xfrm>
            <a:off x="471600" y="3091256"/>
            <a:ext cx="3790800" cy="626400"/>
          </a:xfrm>
        </p:spPr>
        <p:txBody>
          <a:bodyPr/>
          <a:lstStyle>
            <a:lvl1pPr marL="0" indent="0">
              <a:lnSpc>
                <a:spcPct val="80000"/>
              </a:lnSpc>
              <a:buNone/>
              <a:defRPr sz="1880" b="0" i="0">
                <a:solidFill>
                  <a:schemeClr val="bg1"/>
                </a:solidFill>
                <a:latin typeface="Myriad for Rabobank It" panose="020B0503030403090204" pitchFamily="34" charset="0"/>
              </a:defRPr>
            </a:lvl1pPr>
          </a:lstStyle>
          <a:p>
            <a:pPr lvl="0"/>
            <a:endParaRPr lang="en-US"/>
          </a:p>
        </p:txBody>
      </p:sp>
      <p:sp>
        <p:nvSpPr>
          <p:cNvPr id="10" name="Titel 1">
            <a:extLst>
              <a:ext uri="{FF2B5EF4-FFF2-40B4-BE49-F238E27FC236}">
                <a16:creationId xmlns:a16="http://schemas.microsoft.com/office/drawing/2014/main" id="{72C8560C-E0FB-477D-8277-534B0A8C6E3A}"/>
              </a:ext>
            </a:extLst>
          </p:cNvPr>
          <p:cNvSpPr>
            <a:spLocks noGrp="1"/>
          </p:cNvSpPr>
          <p:nvPr>
            <p:ph type="title"/>
          </p:nvPr>
        </p:nvSpPr>
        <p:spPr>
          <a:xfrm>
            <a:off x="471600" y="1652400"/>
            <a:ext cx="3790800" cy="1296000"/>
          </a:xfrm>
        </p:spPr>
        <p:txBody>
          <a:bodyPr/>
          <a:lstStyle>
            <a:lvl1pPr>
              <a:lnSpc>
                <a:spcPct val="80000"/>
              </a:lnSpc>
              <a:defRPr sz="4690" b="0" i="0">
                <a:solidFill>
                  <a:schemeClr val="bg1"/>
                </a:solidFill>
                <a:latin typeface="Myriad for Rabobank Bd It" panose="020B0703030403090204" pitchFamily="34" charset="0"/>
              </a:defRPr>
            </a:lvl1pPr>
          </a:lstStyle>
          <a:p>
            <a:endParaRPr lang="nl-NL"/>
          </a:p>
        </p:txBody>
      </p:sp>
      <p:sp>
        <p:nvSpPr>
          <p:cNvPr id="19" name="text" descr="{&quot;templafy&quot;:{&quot;id&quot;:&quot;5de33817-012f-4f70-bdba-f05948184f1b&quot;}}" title="Translations.Background_Colour">
            <a:extLst>
              <a:ext uri="{FF2B5EF4-FFF2-40B4-BE49-F238E27FC236}">
                <a16:creationId xmlns:a16="http://schemas.microsoft.com/office/drawing/2014/main" id="{6F04E392-6CAE-422A-9622-FD1C45336229}"/>
              </a:ext>
            </a:extLst>
          </p:cNvPr>
          <p:cNvSpPr/>
          <p:nvPr userDrawn="1"/>
        </p:nvSpPr>
        <p:spPr>
          <a:xfrm>
            <a:off x="0" y="-540568"/>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change background colour: select 'Design, Format Background, Fill, Solid Fill'. Then choose one of the Accent colours.</a:t>
            </a:r>
          </a:p>
        </p:txBody>
      </p:sp>
      <p:sp>
        <p:nvSpPr>
          <p:cNvPr id="21" name="text" descr="{&quot;templafy&quot;:{&quot;id&quot;:&quot;bed9be91-ffe8-4c35-a14e-b69430863757&quot;}}" title="Translations.White_Brand_Name_Behind_Blue">
            <a:extLst>
              <a:ext uri="{FF2B5EF4-FFF2-40B4-BE49-F238E27FC236}">
                <a16:creationId xmlns:a16="http://schemas.microsoft.com/office/drawing/2014/main" id="{0C20F8BE-48AD-4FDA-8055-EED363E37D9A}"/>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9" name="Tijdelijke aanduiding voor tekst en wit logo">
            <a:extLst>
              <a:ext uri="{FF2B5EF4-FFF2-40B4-BE49-F238E27FC236}">
                <a16:creationId xmlns:a16="http://schemas.microsoft.com/office/drawing/2014/main" id="{31795F30-5E75-4C06-AF09-7446F31F8F1A}"/>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13" name="Tijdelijke aanduiding voor tekst en blauw logo">
            <a:extLst>
              <a:ext uri="{FF2B5EF4-FFF2-40B4-BE49-F238E27FC236}">
                <a16:creationId xmlns:a16="http://schemas.microsoft.com/office/drawing/2014/main" id="{80C18C01-B180-44E3-8DFE-971D52A6E58B}"/>
              </a:ext>
            </a:extLst>
          </p:cNvPr>
          <p:cNvSpPr>
            <a:spLocks noGrp="1"/>
          </p:cNvSpPr>
          <p:nvPr>
            <p:ph type="body" sz="quarter" idx="20"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24493355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eparating Slide with Icon">
    <p:bg>
      <p:bgPr>
        <a:solidFill>
          <a:schemeClr val="accent1"/>
        </a:solidFill>
        <a:effectLst/>
      </p:bgPr>
    </p:bg>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1A0AD309-C385-453F-8CEA-CDE62324000B}"/>
              </a:ext>
            </a:extLst>
          </p:cNvPr>
          <p:cNvSpPr/>
          <p:nvPr userDrawn="1"/>
        </p:nvSpPr>
        <p:spPr>
          <a:xfrm>
            <a:off x="4511040" y="0"/>
            <a:ext cx="4632960" cy="5143500"/>
          </a:xfrm>
          <a:prstGeom prst="rect">
            <a:avLst/>
          </a:prstGeom>
          <a:solidFill>
            <a:schemeClr val="bg1"/>
          </a:solidFill>
          <a:ln w="12700" cap="rnd" cmpd="sng" algn="ctr">
            <a:solidFill>
              <a:srgbClr val="EAEAEA"/>
            </a:solidFill>
            <a:prstDash val="solid"/>
          </a:ln>
          <a:effectLst/>
        </p:spPr>
        <p:txBody>
          <a:bodyPr rtlCol="0" anchor="ctr"/>
          <a:lstStyle/>
          <a:p>
            <a:pPr algn="ctr"/>
            <a:endParaRPr lang="nl-NL" sz="1800" b="0" i="0">
              <a:solidFill>
                <a:srgbClr val="5E6A71"/>
              </a:solidFill>
              <a:latin typeface="Myriad for Rabobank Lt" panose="020B0403030403020204" pitchFamily="34" charset="0"/>
            </a:endParaRPr>
          </a:p>
        </p:txBody>
      </p:sp>
      <p:sp>
        <p:nvSpPr>
          <p:cNvPr id="14" name="Tijdelijke aanduiding voor afbeelding 3">
            <a:extLst>
              <a:ext uri="{FF2B5EF4-FFF2-40B4-BE49-F238E27FC236}">
                <a16:creationId xmlns:a16="http://schemas.microsoft.com/office/drawing/2014/main" id="{6E06A757-C027-4542-B3FA-F11A3D1ED4FF}"/>
              </a:ext>
            </a:extLst>
          </p:cNvPr>
          <p:cNvSpPr>
            <a:spLocks noGrp="1"/>
          </p:cNvSpPr>
          <p:nvPr>
            <p:ph type="pic" sz="quarter" idx="14"/>
          </p:nvPr>
        </p:nvSpPr>
        <p:spPr>
          <a:xfrm>
            <a:off x="5265420" y="780098"/>
            <a:ext cx="3185160" cy="3583306"/>
          </a:xfrm>
          <a:solidFill>
            <a:schemeClr val="bg1"/>
          </a:solidFill>
        </p:spPr>
        <p:txBody>
          <a:bodyPr/>
          <a:lstStyle>
            <a:lvl1pPr marL="0" marR="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sz="1200" b="0" i="0">
                <a:solidFill>
                  <a:schemeClr val="bg1">
                    <a:lumMod val="65000"/>
                  </a:schemeClr>
                </a:solidFill>
              </a:defRPr>
            </a:lvl1pPr>
          </a:lstStyle>
          <a:p>
            <a:pPr marL="0" marR="0" lvl="0" indent="0" algn="ctr" defTabSz="914355" rtl="0" eaLnBrk="1" fontAlgn="auto" latinLnBrk="0" hangingPunct="1">
              <a:lnSpc>
                <a:spcPct val="100000"/>
              </a:lnSpc>
              <a:spcBef>
                <a:spcPts val="0"/>
              </a:spcBef>
              <a:spcAft>
                <a:spcPts val="0"/>
              </a:spcAft>
              <a:buClr>
                <a:schemeClr val="accent2"/>
              </a:buClr>
              <a:buSzPct val="90000"/>
              <a:buFont typeface="Myriad for Rabobank"/>
              <a:buNone/>
              <a:tabLst/>
              <a:defRPr/>
            </a:pPr>
            <a:endParaRPr lang="nl-NL"/>
          </a:p>
        </p:txBody>
      </p:sp>
      <p:sp>
        <p:nvSpPr>
          <p:cNvPr id="15" name="Tijdelijke aanduiding voor tekst 5">
            <a:extLst>
              <a:ext uri="{FF2B5EF4-FFF2-40B4-BE49-F238E27FC236}">
                <a16:creationId xmlns:a16="http://schemas.microsoft.com/office/drawing/2014/main" id="{276E9535-BA45-496B-8E13-6B4AD7A1714F}"/>
              </a:ext>
            </a:extLst>
          </p:cNvPr>
          <p:cNvSpPr>
            <a:spLocks noGrp="1"/>
          </p:cNvSpPr>
          <p:nvPr>
            <p:ph type="body" sz="quarter" idx="12"/>
          </p:nvPr>
        </p:nvSpPr>
        <p:spPr>
          <a:xfrm>
            <a:off x="471600" y="3091256"/>
            <a:ext cx="3790800" cy="626400"/>
          </a:xfrm>
        </p:spPr>
        <p:txBody>
          <a:bodyPr/>
          <a:lstStyle>
            <a:lvl1pPr marL="0" indent="0">
              <a:lnSpc>
                <a:spcPct val="80000"/>
              </a:lnSpc>
              <a:buNone/>
              <a:defRPr sz="1880" b="0" i="0">
                <a:solidFill>
                  <a:schemeClr val="bg1"/>
                </a:solidFill>
                <a:latin typeface="Myriad for Rabobank It" panose="020B0503030403090204" pitchFamily="34" charset="0"/>
              </a:defRPr>
            </a:lvl1pPr>
          </a:lstStyle>
          <a:p>
            <a:pPr lvl="0"/>
            <a:endParaRPr lang="en-US"/>
          </a:p>
        </p:txBody>
      </p:sp>
      <p:sp>
        <p:nvSpPr>
          <p:cNvPr id="11" name="Titel 1">
            <a:extLst>
              <a:ext uri="{FF2B5EF4-FFF2-40B4-BE49-F238E27FC236}">
                <a16:creationId xmlns:a16="http://schemas.microsoft.com/office/drawing/2014/main" id="{86F05098-80F1-487F-9BCB-895636EE9D89}"/>
              </a:ext>
            </a:extLst>
          </p:cNvPr>
          <p:cNvSpPr>
            <a:spLocks noGrp="1"/>
          </p:cNvSpPr>
          <p:nvPr>
            <p:ph type="title"/>
          </p:nvPr>
        </p:nvSpPr>
        <p:spPr>
          <a:xfrm>
            <a:off x="471600" y="1652400"/>
            <a:ext cx="3790800" cy="1296000"/>
          </a:xfrm>
        </p:spPr>
        <p:txBody>
          <a:bodyPr/>
          <a:lstStyle>
            <a:lvl1pPr>
              <a:lnSpc>
                <a:spcPct val="80000"/>
              </a:lnSpc>
              <a:defRPr sz="4690" b="0" i="0">
                <a:solidFill>
                  <a:schemeClr val="bg1"/>
                </a:solidFill>
                <a:latin typeface="Myriad for Rabobank Bd It" panose="020B0703030403090204" pitchFamily="34" charset="0"/>
              </a:defRPr>
            </a:lvl1pPr>
          </a:lstStyle>
          <a:p>
            <a:endParaRPr lang="nl-NL"/>
          </a:p>
        </p:txBody>
      </p:sp>
      <p:sp>
        <p:nvSpPr>
          <p:cNvPr id="4" name="text" descr="{&quot;templafy&quot;:{&quot;id&quot;:&quot;68a0a543-e1f2-46a5-8dec-2703f8c3941a&quot;}}" title="Translations.Background_Colour">
            <a:extLst>
              <a:ext uri="{FF2B5EF4-FFF2-40B4-BE49-F238E27FC236}">
                <a16:creationId xmlns:a16="http://schemas.microsoft.com/office/drawing/2014/main" id="{113123AB-29B9-4BCC-8212-A79F2D547DA7}"/>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To change background colour: select 'Design, Format Background, Fill, Solid Fill'. Then choose one of the Accent colours.</a:t>
            </a:r>
          </a:p>
        </p:txBody>
      </p:sp>
      <p:pic>
        <p:nvPicPr>
          <p:cNvPr id="1305618941" name="image" descr="{&quot;templafy&quot;:{&quot;id&quot;:&quot;8a65333d-26fe-4a59-9805-a6a9b3a300b5&quot;}}"/>
          <p:cNvPicPr>
            <a:picLocks noChangeAspect="1"/>
          </p:cNvPicPr>
          <p:nvPr/>
        </p:nvPicPr>
        <p:blipFill>
          <a:blip r:embed="rId2"/>
          <a:stretch>
            <a:fillRect/>
          </a:stretch>
        </p:blipFill>
        <p:spPr>
          <a:xfrm>
            <a:off x="8017200" y="4784401"/>
            <a:ext cx="655200" cy="120205"/>
          </a:xfrm>
          <a:prstGeom prst="rect">
            <a:avLst/>
          </a:prstGeom>
        </p:spPr>
      </p:pic>
    </p:spTree>
    <p:extLst>
      <p:ext uri="{BB962C8B-B14F-4D97-AF65-F5344CB8AC3E}">
        <p14:creationId xmlns:p14="http://schemas.microsoft.com/office/powerpoint/2010/main" val="1281274001"/>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Picture Full Slide and Narrow Box">
    <p:bg>
      <p:bgPr>
        <a:solidFill>
          <a:schemeClr val="bg1">
            <a:alpha val="90000"/>
          </a:schemeClr>
        </a:solidFill>
        <a:effectLst/>
      </p:bgPr>
    </p:bg>
    <p:spTree>
      <p:nvGrpSpPr>
        <p:cNvPr id="1" name=""/>
        <p:cNvGrpSpPr/>
        <p:nvPr/>
      </p:nvGrpSpPr>
      <p:grpSpPr>
        <a:xfrm>
          <a:off x="0" y="0"/>
          <a:ext cx="0" cy="0"/>
          <a:chOff x="0" y="0"/>
          <a:chExt cx="0" cy="0"/>
        </a:xfrm>
      </p:grpSpPr>
      <p:sp>
        <p:nvSpPr>
          <p:cNvPr id="11" name="Tijdelijke aanduiding voor afbeelding 2">
            <a:extLst>
              <a:ext uri="{FF2B5EF4-FFF2-40B4-BE49-F238E27FC236}">
                <a16:creationId xmlns:a16="http://schemas.microsoft.com/office/drawing/2014/main" id="{E6148E85-38FE-4FC7-9007-7149DDA6CA71}"/>
              </a:ext>
            </a:extLst>
          </p:cNvPr>
          <p:cNvSpPr>
            <a:spLocks noGrp="1"/>
          </p:cNvSpPr>
          <p:nvPr>
            <p:ph type="pic" sz="quarter" idx="10"/>
          </p:nvPr>
        </p:nvSpPr>
        <p:spPr>
          <a:xfrm>
            <a:off x="0" y="0"/>
            <a:ext cx="9144000" cy="5143500"/>
          </a:xfrm>
        </p:spPr>
        <p:txBody>
          <a:bodyPr/>
          <a:lstStyle>
            <a:lvl1pPr marL="0" indent="0" algn="ctr">
              <a:buNone/>
              <a:defRPr sz="1200" b="0" i="0">
                <a:solidFill>
                  <a:schemeClr val="bg1">
                    <a:lumMod val="65000"/>
                  </a:schemeClr>
                </a:solidFill>
              </a:defRPr>
            </a:lvl1pPr>
          </a:lstStyle>
          <a:p>
            <a:endParaRPr lang="nl-NL"/>
          </a:p>
        </p:txBody>
      </p:sp>
      <p:sp>
        <p:nvSpPr>
          <p:cNvPr id="12" name="Tijdelijke aanduiding voor tekst 12">
            <a:extLst>
              <a:ext uri="{FF2B5EF4-FFF2-40B4-BE49-F238E27FC236}">
                <a16:creationId xmlns:a16="http://schemas.microsoft.com/office/drawing/2014/main" id="{CF2F06E8-DE5C-4C60-9FB0-69A617051068}"/>
              </a:ext>
            </a:extLst>
          </p:cNvPr>
          <p:cNvSpPr>
            <a:spLocks noGrp="1"/>
          </p:cNvSpPr>
          <p:nvPr>
            <p:ph type="body" sz="quarter" idx="16"/>
          </p:nvPr>
        </p:nvSpPr>
        <p:spPr>
          <a:xfrm>
            <a:off x="6259217" y="1254919"/>
            <a:ext cx="2886173" cy="3294198"/>
          </a:xfrm>
          <a:custGeom>
            <a:avLst/>
            <a:gdLst>
              <a:gd name="connsiteX0" fmla="*/ 0 w 3120528"/>
              <a:gd name="connsiteY0" fmla="*/ 210542 h 3287054"/>
              <a:gd name="connsiteX1" fmla="*/ 210542 w 3120528"/>
              <a:gd name="connsiteY1" fmla="*/ 0 h 3287054"/>
              <a:gd name="connsiteX2" fmla="*/ 2909986 w 3120528"/>
              <a:gd name="connsiteY2" fmla="*/ 0 h 3287054"/>
              <a:gd name="connsiteX3" fmla="*/ 3120528 w 3120528"/>
              <a:gd name="connsiteY3" fmla="*/ 210542 h 3287054"/>
              <a:gd name="connsiteX4" fmla="*/ 3120528 w 3120528"/>
              <a:gd name="connsiteY4" fmla="*/ 3076512 h 3287054"/>
              <a:gd name="connsiteX5" fmla="*/ 2909986 w 3120528"/>
              <a:gd name="connsiteY5" fmla="*/ 3287054 h 3287054"/>
              <a:gd name="connsiteX6" fmla="*/ 210542 w 3120528"/>
              <a:gd name="connsiteY6" fmla="*/ 3287054 h 3287054"/>
              <a:gd name="connsiteX7" fmla="*/ 0 w 3120528"/>
              <a:gd name="connsiteY7" fmla="*/ 3076512 h 3287054"/>
              <a:gd name="connsiteX8" fmla="*/ 0 w 3120528"/>
              <a:gd name="connsiteY8" fmla="*/ 210542 h 3287054"/>
              <a:gd name="connsiteX0" fmla="*/ 0 w 3120528"/>
              <a:gd name="connsiteY0" fmla="*/ 210542 h 3287054"/>
              <a:gd name="connsiteX1" fmla="*/ 210542 w 3120528"/>
              <a:gd name="connsiteY1" fmla="*/ 0 h 3287054"/>
              <a:gd name="connsiteX2" fmla="*/ 2883792 w 3120528"/>
              <a:gd name="connsiteY2" fmla="*/ 4762 h 3287054"/>
              <a:gd name="connsiteX3" fmla="*/ 3120528 w 3120528"/>
              <a:gd name="connsiteY3" fmla="*/ 210542 h 3287054"/>
              <a:gd name="connsiteX4" fmla="*/ 3120528 w 3120528"/>
              <a:gd name="connsiteY4" fmla="*/ 3076512 h 3287054"/>
              <a:gd name="connsiteX5" fmla="*/ 2909986 w 3120528"/>
              <a:gd name="connsiteY5" fmla="*/ 3287054 h 3287054"/>
              <a:gd name="connsiteX6" fmla="*/ 210542 w 3120528"/>
              <a:gd name="connsiteY6" fmla="*/ 3287054 h 3287054"/>
              <a:gd name="connsiteX7" fmla="*/ 0 w 3120528"/>
              <a:gd name="connsiteY7" fmla="*/ 3076512 h 3287054"/>
              <a:gd name="connsiteX8" fmla="*/ 0 w 3120528"/>
              <a:gd name="connsiteY8" fmla="*/ 210542 h 3287054"/>
              <a:gd name="connsiteX0" fmla="*/ 0 w 3120528"/>
              <a:gd name="connsiteY0" fmla="*/ 210542 h 3287054"/>
              <a:gd name="connsiteX1" fmla="*/ 210542 w 3120528"/>
              <a:gd name="connsiteY1" fmla="*/ 0 h 3287054"/>
              <a:gd name="connsiteX2" fmla="*/ 2883792 w 3120528"/>
              <a:gd name="connsiteY2" fmla="*/ 4762 h 3287054"/>
              <a:gd name="connsiteX3" fmla="*/ 2882403 w 3120528"/>
              <a:gd name="connsiteY3" fmla="*/ 212923 h 3287054"/>
              <a:gd name="connsiteX4" fmla="*/ 3120528 w 3120528"/>
              <a:gd name="connsiteY4" fmla="*/ 3076512 h 3287054"/>
              <a:gd name="connsiteX5" fmla="*/ 2909986 w 3120528"/>
              <a:gd name="connsiteY5" fmla="*/ 3287054 h 3287054"/>
              <a:gd name="connsiteX6" fmla="*/ 210542 w 3120528"/>
              <a:gd name="connsiteY6" fmla="*/ 3287054 h 3287054"/>
              <a:gd name="connsiteX7" fmla="*/ 0 w 3120528"/>
              <a:gd name="connsiteY7" fmla="*/ 3076512 h 3287054"/>
              <a:gd name="connsiteX8" fmla="*/ 0 w 3120528"/>
              <a:gd name="connsiteY8" fmla="*/ 210542 h 3287054"/>
              <a:gd name="connsiteX0" fmla="*/ 0 w 3120528"/>
              <a:gd name="connsiteY0" fmla="*/ 210542 h 3294198"/>
              <a:gd name="connsiteX1" fmla="*/ 210542 w 3120528"/>
              <a:gd name="connsiteY1" fmla="*/ 0 h 3294198"/>
              <a:gd name="connsiteX2" fmla="*/ 2883792 w 3120528"/>
              <a:gd name="connsiteY2" fmla="*/ 4762 h 3294198"/>
              <a:gd name="connsiteX3" fmla="*/ 2882403 w 3120528"/>
              <a:gd name="connsiteY3" fmla="*/ 212923 h 3294198"/>
              <a:gd name="connsiteX4" fmla="*/ 3120528 w 3120528"/>
              <a:gd name="connsiteY4" fmla="*/ 3076512 h 3294198"/>
              <a:gd name="connsiteX5" fmla="*/ 2888554 w 3120528"/>
              <a:gd name="connsiteY5" fmla="*/ 3294198 h 3294198"/>
              <a:gd name="connsiteX6" fmla="*/ 210542 w 3120528"/>
              <a:gd name="connsiteY6" fmla="*/ 3287054 h 3294198"/>
              <a:gd name="connsiteX7" fmla="*/ 0 w 3120528"/>
              <a:gd name="connsiteY7" fmla="*/ 3076512 h 3294198"/>
              <a:gd name="connsiteX8" fmla="*/ 0 w 3120528"/>
              <a:gd name="connsiteY8" fmla="*/ 210542 h 3294198"/>
              <a:gd name="connsiteX0" fmla="*/ 0 w 2939875"/>
              <a:gd name="connsiteY0" fmla="*/ 210542 h 3294198"/>
              <a:gd name="connsiteX1" fmla="*/ 210542 w 2939875"/>
              <a:gd name="connsiteY1" fmla="*/ 0 h 3294198"/>
              <a:gd name="connsiteX2" fmla="*/ 2883792 w 2939875"/>
              <a:gd name="connsiteY2" fmla="*/ 4762 h 3294198"/>
              <a:gd name="connsiteX3" fmla="*/ 2882403 w 2939875"/>
              <a:gd name="connsiteY3" fmla="*/ 212923 h 3294198"/>
              <a:gd name="connsiteX4" fmla="*/ 2887165 w 2939875"/>
              <a:gd name="connsiteY4" fmla="*/ 3109849 h 3294198"/>
              <a:gd name="connsiteX5" fmla="*/ 2888554 w 2939875"/>
              <a:gd name="connsiteY5" fmla="*/ 3294198 h 3294198"/>
              <a:gd name="connsiteX6" fmla="*/ 210542 w 2939875"/>
              <a:gd name="connsiteY6" fmla="*/ 3287054 h 3294198"/>
              <a:gd name="connsiteX7" fmla="*/ 0 w 2939875"/>
              <a:gd name="connsiteY7" fmla="*/ 3076512 h 3294198"/>
              <a:gd name="connsiteX8" fmla="*/ 0 w 2939875"/>
              <a:gd name="connsiteY8" fmla="*/ 210542 h 3294198"/>
              <a:gd name="connsiteX0" fmla="*/ 0 w 2935113"/>
              <a:gd name="connsiteY0" fmla="*/ 210542 h 3294198"/>
              <a:gd name="connsiteX1" fmla="*/ 210542 w 2935113"/>
              <a:gd name="connsiteY1" fmla="*/ 0 h 3294198"/>
              <a:gd name="connsiteX2" fmla="*/ 2883792 w 2935113"/>
              <a:gd name="connsiteY2" fmla="*/ 4762 h 3294198"/>
              <a:gd name="connsiteX3" fmla="*/ 2882403 w 2935113"/>
              <a:gd name="connsiteY3" fmla="*/ 212923 h 3294198"/>
              <a:gd name="connsiteX4" fmla="*/ 2887165 w 2935113"/>
              <a:gd name="connsiteY4" fmla="*/ 3109849 h 3294198"/>
              <a:gd name="connsiteX5" fmla="*/ 2888554 w 2935113"/>
              <a:gd name="connsiteY5" fmla="*/ 3294198 h 3294198"/>
              <a:gd name="connsiteX6" fmla="*/ 210542 w 2935113"/>
              <a:gd name="connsiteY6" fmla="*/ 3287054 h 3294198"/>
              <a:gd name="connsiteX7" fmla="*/ 0 w 2935113"/>
              <a:gd name="connsiteY7" fmla="*/ 3076512 h 3294198"/>
              <a:gd name="connsiteX8" fmla="*/ 0 w 2935113"/>
              <a:gd name="connsiteY8" fmla="*/ 210542 h 3294198"/>
              <a:gd name="connsiteX0" fmla="*/ 0 w 2935113"/>
              <a:gd name="connsiteY0" fmla="*/ 210542 h 3294198"/>
              <a:gd name="connsiteX1" fmla="*/ 210542 w 2935113"/>
              <a:gd name="connsiteY1" fmla="*/ 0 h 3294198"/>
              <a:gd name="connsiteX2" fmla="*/ 2883792 w 2935113"/>
              <a:gd name="connsiteY2" fmla="*/ 4762 h 3294198"/>
              <a:gd name="connsiteX3" fmla="*/ 2882403 w 2935113"/>
              <a:gd name="connsiteY3" fmla="*/ 212923 h 3294198"/>
              <a:gd name="connsiteX4" fmla="*/ 2887165 w 2935113"/>
              <a:gd name="connsiteY4" fmla="*/ 3109849 h 3294198"/>
              <a:gd name="connsiteX5" fmla="*/ 2888554 w 2935113"/>
              <a:gd name="connsiteY5" fmla="*/ 3294198 h 3294198"/>
              <a:gd name="connsiteX6" fmla="*/ 210542 w 2935113"/>
              <a:gd name="connsiteY6" fmla="*/ 3287054 h 3294198"/>
              <a:gd name="connsiteX7" fmla="*/ 0 w 2935113"/>
              <a:gd name="connsiteY7" fmla="*/ 3076512 h 3294198"/>
              <a:gd name="connsiteX8" fmla="*/ 0 w 2935113"/>
              <a:gd name="connsiteY8" fmla="*/ 210542 h 3294198"/>
              <a:gd name="connsiteX0" fmla="*/ 0 w 2889177"/>
              <a:gd name="connsiteY0" fmla="*/ 210542 h 3294198"/>
              <a:gd name="connsiteX1" fmla="*/ 210542 w 2889177"/>
              <a:gd name="connsiteY1" fmla="*/ 0 h 3294198"/>
              <a:gd name="connsiteX2" fmla="*/ 2883792 w 2889177"/>
              <a:gd name="connsiteY2" fmla="*/ 4762 h 3294198"/>
              <a:gd name="connsiteX3" fmla="*/ 2882403 w 2889177"/>
              <a:gd name="connsiteY3" fmla="*/ 212923 h 3294198"/>
              <a:gd name="connsiteX4" fmla="*/ 2887165 w 2889177"/>
              <a:gd name="connsiteY4" fmla="*/ 3109849 h 3294198"/>
              <a:gd name="connsiteX5" fmla="*/ 2888554 w 2889177"/>
              <a:gd name="connsiteY5" fmla="*/ 3294198 h 3294198"/>
              <a:gd name="connsiteX6" fmla="*/ 210542 w 2889177"/>
              <a:gd name="connsiteY6" fmla="*/ 3287054 h 3294198"/>
              <a:gd name="connsiteX7" fmla="*/ 0 w 2889177"/>
              <a:gd name="connsiteY7" fmla="*/ 3076512 h 3294198"/>
              <a:gd name="connsiteX8" fmla="*/ 0 w 2889177"/>
              <a:gd name="connsiteY8" fmla="*/ 210542 h 3294198"/>
              <a:gd name="connsiteX0" fmla="*/ 0 w 2887411"/>
              <a:gd name="connsiteY0" fmla="*/ 210542 h 3294198"/>
              <a:gd name="connsiteX1" fmla="*/ 210542 w 2887411"/>
              <a:gd name="connsiteY1" fmla="*/ 0 h 3294198"/>
              <a:gd name="connsiteX2" fmla="*/ 2883792 w 2887411"/>
              <a:gd name="connsiteY2" fmla="*/ 4762 h 3294198"/>
              <a:gd name="connsiteX3" fmla="*/ 2882403 w 2887411"/>
              <a:gd name="connsiteY3" fmla="*/ 212923 h 3294198"/>
              <a:gd name="connsiteX4" fmla="*/ 2887165 w 2887411"/>
              <a:gd name="connsiteY4" fmla="*/ 3109849 h 3294198"/>
              <a:gd name="connsiteX5" fmla="*/ 2886173 w 2887411"/>
              <a:gd name="connsiteY5" fmla="*/ 3294198 h 3294198"/>
              <a:gd name="connsiteX6" fmla="*/ 210542 w 2887411"/>
              <a:gd name="connsiteY6" fmla="*/ 3287054 h 3294198"/>
              <a:gd name="connsiteX7" fmla="*/ 0 w 2887411"/>
              <a:gd name="connsiteY7" fmla="*/ 3076512 h 3294198"/>
              <a:gd name="connsiteX8" fmla="*/ 0 w 2887411"/>
              <a:gd name="connsiteY8" fmla="*/ 210542 h 3294198"/>
              <a:gd name="connsiteX0" fmla="*/ 0 w 2887165"/>
              <a:gd name="connsiteY0" fmla="*/ 210542 h 3294198"/>
              <a:gd name="connsiteX1" fmla="*/ 210542 w 2887165"/>
              <a:gd name="connsiteY1" fmla="*/ 0 h 3294198"/>
              <a:gd name="connsiteX2" fmla="*/ 2883792 w 2887165"/>
              <a:gd name="connsiteY2" fmla="*/ 4762 h 3294198"/>
              <a:gd name="connsiteX3" fmla="*/ 2882403 w 2887165"/>
              <a:gd name="connsiteY3" fmla="*/ 212923 h 3294198"/>
              <a:gd name="connsiteX4" fmla="*/ 2887165 w 2887165"/>
              <a:gd name="connsiteY4" fmla="*/ 3109849 h 3294198"/>
              <a:gd name="connsiteX5" fmla="*/ 2886173 w 2887165"/>
              <a:gd name="connsiteY5" fmla="*/ 3294198 h 3294198"/>
              <a:gd name="connsiteX6" fmla="*/ 210542 w 2887165"/>
              <a:gd name="connsiteY6" fmla="*/ 3287054 h 3294198"/>
              <a:gd name="connsiteX7" fmla="*/ 0 w 2887165"/>
              <a:gd name="connsiteY7" fmla="*/ 3076512 h 3294198"/>
              <a:gd name="connsiteX8" fmla="*/ 0 w 2887165"/>
              <a:gd name="connsiteY8" fmla="*/ 210542 h 3294198"/>
              <a:gd name="connsiteX0" fmla="*/ 0 w 2886173"/>
              <a:gd name="connsiteY0" fmla="*/ 210542 h 3294198"/>
              <a:gd name="connsiteX1" fmla="*/ 210542 w 2886173"/>
              <a:gd name="connsiteY1" fmla="*/ 0 h 3294198"/>
              <a:gd name="connsiteX2" fmla="*/ 2883792 w 2886173"/>
              <a:gd name="connsiteY2" fmla="*/ 4762 h 3294198"/>
              <a:gd name="connsiteX3" fmla="*/ 2882403 w 2886173"/>
              <a:gd name="connsiteY3" fmla="*/ 212923 h 3294198"/>
              <a:gd name="connsiteX4" fmla="*/ 2884784 w 2886173"/>
              <a:gd name="connsiteY4" fmla="*/ 3112230 h 3294198"/>
              <a:gd name="connsiteX5" fmla="*/ 2886173 w 2886173"/>
              <a:gd name="connsiteY5" fmla="*/ 3294198 h 3294198"/>
              <a:gd name="connsiteX6" fmla="*/ 210542 w 2886173"/>
              <a:gd name="connsiteY6" fmla="*/ 3287054 h 3294198"/>
              <a:gd name="connsiteX7" fmla="*/ 0 w 2886173"/>
              <a:gd name="connsiteY7" fmla="*/ 3076512 h 3294198"/>
              <a:gd name="connsiteX8" fmla="*/ 0 w 2886173"/>
              <a:gd name="connsiteY8" fmla="*/ 210542 h 329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6173" h="3294198">
                <a:moveTo>
                  <a:pt x="0" y="210542"/>
                </a:moveTo>
                <a:cubicBezTo>
                  <a:pt x="0" y="94263"/>
                  <a:pt x="94263" y="0"/>
                  <a:pt x="210542" y="0"/>
                </a:cubicBezTo>
                <a:lnTo>
                  <a:pt x="2883792" y="4762"/>
                </a:lnTo>
                <a:cubicBezTo>
                  <a:pt x="2883389" y="1143000"/>
                  <a:pt x="2882403" y="96644"/>
                  <a:pt x="2882403" y="212923"/>
                </a:cubicBezTo>
                <a:cubicBezTo>
                  <a:pt x="2883990" y="1178565"/>
                  <a:pt x="2883197" y="2146588"/>
                  <a:pt x="2884784" y="3112230"/>
                </a:cubicBezTo>
                <a:cubicBezTo>
                  <a:pt x="2884784" y="3228509"/>
                  <a:pt x="2883390" y="2082141"/>
                  <a:pt x="2886173" y="3294198"/>
                </a:cubicBezTo>
                <a:lnTo>
                  <a:pt x="210542" y="3287054"/>
                </a:lnTo>
                <a:cubicBezTo>
                  <a:pt x="94263" y="3287054"/>
                  <a:pt x="0" y="3192791"/>
                  <a:pt x="0" y="3076512"/>
                </a:cubicBezTo>
                <a:lnTo>
                  <a:pt x="0" y="210542"/>
                </a:lnTo>
                <a:close/>
              </a:path>
            </a:pathLst>
          </a:custGeom>
          <a:solidFill>
            <a:schemeClr val="accent1">
              <a:alpha val="90000"/>
            </a:schemeClr>
          </a:solidFill>
        </p:spPr>
        <p:txBody>
          <a:bodyPr lIns="270000" rIns="468000" anchor="ctr" anchorCtr="0"/>
          <a:lstStyle>
            <a:lvl1pPr marL="0" indent="0">
              <a:buNone/>
              <a:defRPr sz="1240" b="0" i="0">
                <a:solidFill>
                  <a:schemeClr val="bg1"/>
                </a:solidFill>
                <a:latin typeface="Myriad for Rabobank It" panose="020B0503030403090204" pitchFamily="34" charset="0"/>
              </a:defRPr>
            </a:lvl1pPr>
          </a:lstStyle>
          <a:p>
            <a:pPr lvl="0"/>
            <a:endParaRPr lang="en-GB" noProof="0"/>
          </a:p>
        </p:txBody>
      </p:sp>
      <p:sp>
        <p:nvSpPr>
          <p:cNvPr id="4" name="text" descr="{&quot;templafy&quot;:{&quot;id&quot;:&quot;65807de3-f994-4185-9d45-15f65c1fa455&quot;}}" title="Translations.White_Brand_Name_Behind_Blue">
            <a:extLst>
              <a:ext uri="{FF2B5EF4-FFF2-40B4-BE49-F238E27FC236}">
                <a16:creationId xmlns:a16="http://schemas.microsoft.com/office/drawing/2014/main" id="{0F2C7E3D-B2E2-4564-A1EC-0ECCA7B35B99}"/>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8" name="Tijdelijke aanduiding voor tekst en wit logo">
            <a:extLst>
              <a:ext uri="{FF2B5EF4-FFF2-40B4-BE49-F238E27FC236}">
                <a16:creationId xmlns:a16="http://schemas.microsoft.com/office/drawing/2014/main" id="{5DE36DE3-D81D-41A4-8189-8B808C74FF6F}"/>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9" name="Tijdelijke aanduiding voor tekst en blauw logo">
            <a:extLst>
              <a:ext uri="{FF2B5EF4-FFF2-40B4-BE49-F238E27FC236}">
                <a16:creationId xmlns:a16="http://schemas.microsoft.com/office/drawing/2014/main" id="{74891402-73B9-45F0-B08B-22C437B3CE86}"/>
              </a:ext>
            </a:extLst>
          </p:cNvPr>
          <p:cNvSpPr>
            <a:spLocks noGrp="1"/>
          </p:cNvSpPr>
          <p:nvPr>
            <p:ph type="body" sz="quarter" idx="20"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140008971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icture Full Slide and Wide Box">
    <p:bg>
      <p:bgPr>
        <a:solidFill>
          <a:schemeClr val="bg1">
            <a:alpha val="90000"/>
          </a:schemeClr>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AE4C9B38-5AB9-4A21-9E23-E2AFDE9DA23B}"/>
              </a:ext>
            </a:extLst>
          </p:cNvPr>
          <p:cNvSpPr>
            <a:spLocks noGrp="1"/>
          </p:cNvSpPr>
          <p:nvPr>
            <p:ph type="pic" sz="quarter" idx="10"/>
          </p:nvPr>
        </p:nvSpPr>
        <p:spPr>
          <a:xfrm>
            <a:off x="0" y="0"/>
            <a:ext cx="9144000" cy="5143500"/>
          </a:xfrm>
        </p:spPr>
        <p:txBody>
          <a:bodyPr/>
          <a:lstStyle>
            <a:lvl1pPr marL="0" indent="0" algn="ctr">
              <a:buNone/>
              <a:defRPr sz="1200" b="0" i="0">
                <a:solidFill>
                  <a:schemeClr val="bg1">
                    <a:lumMod val="65000"/>
                  </a:schemeClr>
                </a:solidFill>
              </a:defRPr>
            </a:lvl1pPr>
          </a:lstStyle>
          <a:p>
            <a:endParaRPr lang="nl-NL"/>
          </a:p>
        </p:txBody>
      </p:sp>
      <p:sp>
        <p:nvSpPr>
          <p:cNvPr id="12" name="Tijdelijke aanduiding voor tekst 12">
            <a:extLst>
              <a:ext uri="{FF2B5EF4-FFF2-40B4-BE49-F238E27FC236}">
                <a16:creationId xmlns:a16="http://schemas.microsoft.com/office/drawing/2014/main" id="{CF2F06E8-DE5C-4C60-9FB0-69A617051068}"/>
              </a:ext>
            </a:extLst>
          </p:cNvPr>
          <p:cNvSpPr>
            <a:spLocks noGrp="1"/>
          </p:cNvSpPr>
          <p:nvPr>
            <p:ph type="body" sz="quarter" idx="16"/>
          </p:nvPr>
        </p:nvSpPr>
        <p:spPr>
          <a:xfrm>
            <a:off x="4572002" y="1252538"/>
            <a:ext cx="4575345" cy="3301341"/>
          </a:xfrm>
          <a:custGeom>
            <a:avLst/>
            <a:gdLst>
              <a:gd name="connsiteX0" fmla="*/ 0 w 4573388"/>
              <a:gd name="connsiteY0" fmla="*/ 313081 h 3294198"/>
              <a:gd name="connsiteX1" fmla="*/ 313081 w 4573388"/>
              <a:gd name="connsiteY1" fmla="*/ 0 h 3294198"/>
              <a:gd name="connsiteX2" fmla="*/ 4260307 w 4573388"/>
              <a:gd name="connsiteY2" fmla="*/ 0 h 3294198"/>
              <a:gd name="connsiteX3" fmla="*/ 4573388 w 4573388"/>
              <a:gd name="connsiteY3" fmla="*/ 313081 h 3294198"/>
              <a:gd name="connsiteX4" fmla="*/ 4573388 w 4573388"/>
              <a:gd name="connsiteY4" fmla="*/ 2981117 h 3294198"/>
              <a:gd name="connsiteX5" fmla="*/ 4260307 w 4573388"/>
              <a:gd name="connsiteY5" fmla="*/ 3294198 h 3294198"/>
              <a:gd name="connsiteX6" fmla="*/ 313081 w 4573388"/>
              <a:gd name="connsiteY6" fmla="*/ 3294198 h 3294198"/>
              <a:gd name="connsiteX7" fmla="*/ 0 w 4573388"/>
              <a:gd name="connsiteY7" fmla="*/ 2981117 h 3294198"/>
              <a:gd name="connsiteX8" fmla="*/ 0 w 4573388"/>
              <a:gd name="connsiteY8" fmla="*/ 313081 h 3294198"/>
              <a:gd name="connsiteX0" fmla="*/ 0 w 4647641"/>
              <a:gd name="connsiteY0" fmla="*/ 317844 h 3298961"/>
              <a:gd name="connsiteX1" fmla="*/ 313081 w 4647641"/>
              <a:gd name="connsiteY1" fmla="*/ 4763 h 3298961"/>
              <a:gd name="connsiteX2" fmla="*/ 4569870 w 4647641"/>
              <a:gd name="connsiteY2" fmla="*/ 0 h 3298961"/>
              <a:gd name="connsiteX3" fmla="*/ 4573388 w 4647641"/>
              <a:gd name="connsiteY3" fmla="*/ 317844 h 3298961"/>
              <a:gd name="connsiteX4" fmla="*/ 4573388 w 4647641"/>
              <a:gd name="connsiteY4" fmla="*/ 2985880 h 3298961"/>
              <a:gd name="connsiteX5" fmla="*/ 4260307 w 4647641"/>
              <a:gd name="connsiteY5" fmla="*/ 3298961 h 3298961"/>
              <a:gd name="connsiteX6" fmla="*/ 313081 w 4647641"/>
              <a:gd name="connsiteY6" fmla="*/ 3298961 h 3298961"/>
              <a:gd name="connsiteX7" fmla="*/ 0 w 4647641"/>
              <a:gd name="connsiteY7" fmla="*/ 2985880 h 3298961"/>
              <a:gd name="connsiteX8" fmla="*/ 0 w 4647641"/>
              <a:gd name="connsiteY8" fmla="*/ 317844 h 3298961"/>
              <a:gd name="connsiteX0" fmla="*/ 0 w 4573973"/>
              <a:gd name="connsiteY0" fmla="*/ 317844 h 3298961"/>
              <a:gd name="connsiteX1" fmla="*/ 313081 w 4573973"/>
              <a:gd name="connsiteY1" fmla="*/ 4763 h 3298961"/>
              <a:gd name="connsiteX2" fmla="*/ 4569870 w 4573973"/>
              <a:gd name="connsiteY2" fmla="*/ 0 h 3298961"/>
              <a:gd name="connsiteX3" fmla="*/ 4573388 w 4573973"/>
              <a:gd name="connsiteY3" fmla="*/ 317844 h 3298961"/>
              <a:gd name="connsiteX4" fmla="*/ 4573388 w 4573973"/>
              <a:gd name="connsiteY4" fmla="*/ 2985880 h 3298961"/>
              <a:gd name="connsiteX5" fmla="*/ 4260307 w 4573973"/>
              <a:gd name="connsiteY5" fmla="*/ 3298961 h 3298961"/>
              <a:gd name="connsiteX6" fmla="*/ 313081 w 4573973"/>
              <a:gd name="connsiteY6" fmla="*/ 3298961 h 3298961"/>
              <a:gd name="connsiteX7" fmla="*/ 0 w 4573973"/>
              <a:gd name="connsiteY7" fmla="*/ 2985880 h 3298961"/>
              <a:gd name="connsiteX8" fmla="*/ 0 w 4573973"/>
              <a:gd name="connsiteY8" fmla="*/ 317844 h 3298961"/>
              <a:gd name="connsiteX0" fmla="*/ 0 w 4575345"/>
              <a:gd name="connsiteY0" fmla="*/ 315462 h 3296579"/>
              <a:gd name="connsiteX1" fmla="*/ 313081 w 4575345"/>
              <a:gd name="connsiteY1" fmla="*/ 2381 h 3296579"/>
              <a:gd name="connsiteX2" fmla="*/ 4572251 w 4575345"/>
              <a:gd name="connsiteY2" fmla="*/ 0 h 3296579"/>
              <a:gd name="connsiteX3" fmla="*/ 4573388 w 4575345"/>
              <a:gd name="connsiteY3" fmla="*/ 315462 h 3296579"/>
              <a:gd name="connsiteX4" fmla="*/ 4573388 w 4575345"/>
              <a:gd name="connsiteY4" fmla="*/ 2983498 h 3296579"/>
              <a:gd name="connsiteX5" fmla="*/ 4260307 w 4575345"/>
              <a:gd name="connsiteY5" fmla="*/ 3296579 h 3296579"/>
              <a:gd name="connsiteX6" fmla="*/ 313081 w 4575345"/>
              <a:gd name="connsiteY6" fmla="*/ 3296579 h 3296579"/>
              <a:gd name="connsiteX7" fmla="*/ 0 w 4575345"/>
              <a:gd name="connsiteY7" fmla="*/ 2983498 h 3296579"/>
              <a:gd name="connsiteX8" fmla="*/ 0 w 4575345"/>
              <a:gd name="connsiteY8" fmla="*/ 315462 h 3296579"/>
              <a:gd name="connsiteX0" fmla="*/ 0 w 4649395"/>
              <a:gd name="connsiteY0" fmla="*/ 315462 h 3301341"/>
              <a:gd name="connsiteX1" fmla="*/ 313081 w 4649395"/>
              <a:gd name="connsiteY1" fmla="*/ 2381 h 3301341"/>
              <a:gd name="connsiteX2" fmla="*/ 4572251 w 4649395"/>
              <a:gd name="connsiteY2" fmla="*/ 0 h 3301341"/>
              <a:gd name="connsiteX3" fmla="*/ 4573388 w 4649395"/>
              <a:gd name="connsiteY3" fmla="*/ 315462 h 3301341"/>
              <a:gd name="connsiteX4" fmla="*/ 4573388 w 4649395"/>
              <a:gd name="connsiteY4" fmla="*/ 2983498 h 3301341"/>
              <a:gd name="connsiteX5" fmla="*/ 4572251 w 4649395"/>
              <a:gd name="connsiteY5" fmla="*/ 3301341 h 3301341"/>
              <a:gd name="connsiteX6" fmla="*/ 313081 w 4649395"/>
              <a:gd name="connsiteY6" fmla="*/ 3296579 h 3301341"/>
              <a:gd name="connsiteX7" fmla="*/ 0 w 4649395"/>
              <a:gd name="connsiteY7" fmla="*/ 2983498 h 3301341"/>
              <a:gd name="connsiteX8" fmla="*/ 0 w 4649395"/>
              <a:gd name="connsiteY8" fmla="*/ 315462 h 3301341"/>
              <a:gd name="connsiteX0" fmla="*/ 0 w 4575345"/>
              <a:gd name="connsiteY0" fmla="*/ 315462 h 3301341"/>
              <a:gd name="connsiteX1" fmla="*/ 313081 w 4575345"/>
              <a:gd name="connsiteY1" fmla="*/ 2381 h 3301341"/>
              <a:gd name="connsiteX2" fmla="*/ 4572251 w 4575345"/>
              <a:gd name="connsiteY2" fmla="*/ 0 h 3301341"/>
              <a:gd name="connsiteX3" fmla="*/ 4573388 w 4575345"/>
              <a:gd name="connsiteY3" fmla="*/ 315462 h 3301341"/>
              <a:gd name="connsiteX4" fmla="*/ 4573388 w 4575345"/>
              <a:gd name="connsiteY4" fmla="*/ 2983498 h 3301341"/>
              <a:gd name="connsiteX5" fmla="*/ 4572251 w 4575345"/>
              <a:gd name="connsiteY5" fmla="*/ 3301341 h 3301341"/>
              <a:gd name="connsiteX6" fmla="*/ 313081 w 4575345"/>
              <a:gd name="connsiteY6" fmla="*/ 3296579 h 3301341"/>
              <a:gd name="connsiteX7" fmla="*/ 0 w 4575345"/>
              <a:gd name="connsiteY7" fmla="*/ 2983498 h 3301341"/>
              <a:gd name="connsiteX8" fmla="*/ 0 w 4575345"/>
              <a:gd name="connsiteY8" fmla="*/ 315462 h 3301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5345" h="3301341">
                <a:moveTo>
                  <a:pt x="0" y="315462"/>
                </a:moveTo>
                <a:cubicBezTo>
                  <a:pt x="0" y="142552"/>
                  <a:pt x="140171" y="2381"/>
                  <a:pt x="313081" y="2381"/>
                </a:cubicBezTo>
                <a:lnTo>
                  <a:pt x="4572251" y="0"/>
                </a:lnTo>
                <a:cubicBezTo>
                  <a:pt x="4578474" y="1540669"/>
                  <a:pt x="4573388" y="142552"/>
                  <a:pt x="4573388" y="315462"/>
                </a:cubicBezTo>
                <a:lnTo>
                  <a:pt x="4573388" y="2983498"/>
                </a:lnTo>
                <a:cubicBezTo>
                  <a:pt x="4573388" y="3156408"/>
                  <a:pt x="4571329" y="1891641"/>
                  <a:pt x="4572251" y="3301341"/>
                </a:cubicBezTo>
                <a:lnTo>
                  <a:pt x="313081" y="3296579"/>
                </a:lnTo>
                <a:cubicBezTo>
                  <a:pt x="140171" y="3296579"/>
                  <a:pt x="0" y="3156408"/>
                  <a:pt x="0" y="2983498"/>
                </a:cubicBezTo>
                <a:lnTo>
                  <a:pt x="0" y="315462"/>
                </a:lnTo>
                <a:close/>
              </a:path>
            </a:pathLst>
          </a:custGeom>
          <a:solidFill>
            <a:schemeClr val="accent1">
              <a:alpha val="90000"/>
            </a:schemeClr>
          </a:solidFill>
        </p:spPr>
        <p:txBody>
          <a:bodyPr lIns="270000" rIns="468000" anchor="ctr" anchorCtr="0"/>
          <a:lstStyle>
            <a:lvl1pPr marL="0" indent="0">
              <a:buNone/>
              <a:defRPr sz="1240" b="0" i="0">
                <a:solidFill>
                  <a:schemeClr val="bg1"/>
                </a:solidFill>
                <a:latin typeface="Myriad for Rabobank It" panose="020B0503030403090204" pitchFamily="34" charset="0"/>
              </a:defRPr>
            </a:lvl1pPr>
          </a:lstStyle>
          <a:p>
            <a:pPr lvl="0"/>
            <a:endParaRPr lang="en-GB" noProof="0"/>
          </a:p>
        </p:txBody>
      </p:sp>
      <p:sp>
        <p:nvSpPr>
          <p:cNvPr id="2" name="text" descr="{&quot;templafy&quot;:{&quot;id&quot;:&quot;c96c426c-7bb9-46ae-8a5b-34c5feb8f41b&quot;}}" title="Translations.White_Brand_Name_Behind_Blue">
            <a:extLst>
              <a:ext uri="{FF2B5EF4-FFF2-40B4-BE49-F238E27FC236}">
                <a16:creationId xmlns:a16="http://schemas.microsoft.com/office/drawing/2014/main" id="{B76B9635-31BB-4F43-B074-E7694AF001F5}"/>
              </a:ext>
            </a:extLst>
          </p:cNvPr>
          <p:cNvSpPr/>
          <p:nvPr userDrawn="1"/>
        </p:nvSpPr>
        <p:spPr>
          <a:xfrm>
            <a:off x="0" y="-362020"/>
            <a:ext cx="9144000" cy="276999"/>
          </a:xfrm>
          <a:prstGeom prst="rect">
            <a:avLst/>
          </a:prstGeom>
          <a:noFill/>
          <a:ln w="12700">
            <a:noFill/>
          </a:ln>
        </p:spPr>
        <p:txBody>
          <a:bodyPr wrap="square" lIns="0" rIns="0" rtlCol="0" anchor="b" anchorCtr="0">
            <a:spAutoFit/>
          </a:bodyPr>
          <a:lstStyle/>
          <a:p>
            <a:pPr marL="171442" marR="0" lvl="0" indent="-171442" fontAlgn="auto">
              <a:lnSpc>
                <a:spcPct val="100000"/>
              </a:lnSpc>
              <a:spcBef>
                <a:spcPts val="0"/>
              </a:spcBef>
              <a:spcAft>
                <a:spcPts val="0"/>
              </a:spcAft>
              <a:buClrTx/>
              <a:buSzTx/>
              <a:buFont typeface="Myriad for Rabobank" panose="020B0604020202020204" pitchFamily="34" charset="0"/>
              <a:buChar char="•"/>
              <a:tabLst/>
            </a:pPr>
            <a:r>
              <a:rPr lang="nl-NL" sz="1200" i="0">
                <a:solidFill>
                  <a:schemeClr val="bg2">
                    <a:lumMod val="50000"/>
                  </a:schemeClr>
                </a:solidFill>
                <a:latin typeface="Myriad for Rabobank" panose="020B0503030403020204" pitchFamily="34" charset="0"/>
              </a:rPr>
              <a:t>Rabobank brand name poorly legible? Click and delete it. A white brand name can be found behind!</a:t>
            </a:r>
          </a:p>
        </p:txBody>
      </p:sp>
      <p:sp>
        <p:nvSpPr>
          <p:cNvPr id="7" name="Tijdelijke aanduiding voor tekst en wit logo">
            <a:extLst>
              <a:ext uri="{FF2B5EF4-FFF2-40B4-BE49-F238E27FC236}">
                <a16:creationId xmlns:a16="http://schemas.microsoft.com/office/drawing/2014/main" id="{BBA65830-B7BB-4E91-869C-115B66713ED1}"/>
              </a:ext>
            </a:extLst>
          </p:cNvPr>
          <p:cNvSpPr>
            <a:spLocks noGrp="1"/>
          </p:cNvSpPr>
          <p:nvPr>
            <p:ph type="body" sz="quarter" idx="19" hasCustomPrompt="1"/>
          </p:nvPr>
        </p:nvSpPr>
        <p:spPr>
          <a:xfrm>
            <a:off x="8017200" y="4784400"/>
            <a:ext cx="655200" cy="122400"/>
          </a:xfrm>
          <a:blipFill>
            <a:blip r:embed="rId2"/>
            <a:stretch>
              <a:fillRect/>
            </a:stretch>
          </a:blipFill>
        </p:spPr>
        <p:txBody>
          <a:bodyPr/>
          <a:lstStyle>
            <a:lvl1pPr marL="0" indent="0" algn="ctr">
              <a:buNone/>
              <a:defRPr sz="800" b="0" i="0"/>
            </a:lvl1pPr>
          </a:lstStyle>
          <a:p>
            <a:pPr lvl="0"/>
            <a:r>
              <a:rPr lang="nl-NL"/>
              <a:t>.</a:t>
            </a:r>
          </a:p>
        </p:txBody>
      </p:sp>
      <p:sp>
        <p:nvSpPr>
          <p:cNvPr id="8" name="Tijdelijke aanduiding voor tekst en blauw logo">
            <a:extLst>
              <a:ext uri="{FF2B5EF4-FFF2-40B4-BE49-F238E27FC236}">
                <a16:creationId xmlns:a16="http://schemas.microsoft.com/office/drawing/2014/main" id="{9DF0BFCF-F1A3-4A68-84CE-AB100DE04EA6}"/>
              </a:ext>
            </a:extLst>
          </p:cNvPr>
          <p:cNvSpPr>
            <a:spLocks noGrp="1"/>
          </p:cNvSpPr>
          <p:nvPr>
            <p:ph type="body" sz="quarter" idx="20" hasCustomPrompt="1"/>
          </p:nvPr>
        </p:nvSpPr>
        <p:spPr>
          <a:xfrm>
            <a:off x="8017200" y="4784400"/>
            <a:ext cx="655200" cy="122400"/>
          </a:xfrm>
          <a:blipFill>
            <a:blip r:embed="rId3"/>
            <a:stretch>
              <a:fillRect/>
            </a:stretch>
          </a:blipFill>
        </p:spPr>
        <p:txBody>
          <a:bodyPr/>
          <a:lstStyle>
            <a:lvl1pPr marL="0" indent="0" algn="ctr">
              <a:buNone/>
              <a:defRPr sz="800" b="0" i="0">
                <a:solidFill>
                  <a:schemeClr val="bg1"/>
                </a:solidFill>
              </a:defRPr>
            </a:lvl1pPr>
          </a:lstStyle>
          <a:p>
            <a:pPr lvl="0"/>
            <a:r>
              <a:rPr lang="nl-NL"/>
              <a:t>.</a:t>
            </a:r>
          </a:p>
        </p:txBody>
      </p:sp>
    </p:spTree>
    <p:extLst>
      <p:ext uri="{BB962C8B-B14F-4D97-AF65-F5344CB8AC3E}">
        <p14:creationId xmlns:p14="http://schemas.microsoft.com/office/powerpoint/2010/main" val="1461243779"/>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noProof="0"/>
              <a:t>Klik om de stijl te bewerken</a:t>
            </a:r>
            <a:endParaRPr lang="nl-NL"/>
          </a:p>
        </p:txBody>
      </p:sp>
      <p:sp>
        <p:nvSpPr>
          <p:cNvPr id="5" name="Tijdelijke aanduiding voor tekst 6"/>
          <p:cNvSpPr>
            <a:spLocks noGrp="1"/>
          </p:cNvSpPr>
          <p:nvPr>
            <p:ph type="body" sz="quarter" idx="15" hasCustomPrompt="1"/>
          </p:nvPr>
        </p:nvSpPr>
        <p:spPr>
          <a:xfrm>
            <a:off x="162410" y="648832"/>
            <a:ext cx="7804150" cy="212725"/>
          </a:xfrm>
        </p:spPr>
        <p:txBody>
          <a:bodyPr vert="horz" lIns="0" tIns="45720" rIns="0" bIns="45720" rtlCol="0" anchor="ctr"/>
          <a:lstStyle>
            <a:lvl1pPr marL="0" indent="0">
              <a:buNone/>
              <a:defRPr lang="nl-NL" sz="1200" dirty="0">
                <a:solidFill>
                  <a:srgbClr val="5E6A71"/>
                </a:solidFill>
                <a:cs typeface="+mn-cs"/>
              </a:defRPr>
            </a:lvl1pPr>
          </a:lstStyle>
          <a:p>
            <a:pPr marL="0" lvl="0" defTabSz="456988"/>
            <a:r>
              <a:rPr lang="nl-NL" err="1"/>
              <a:t>Subtitle</a:t>
            </a:r>
            <a:endParaRPr lang="nl-NL"/>
          </a:p>
        </p:txBody>
      </p:sp>
      <p:sp>
        <p:nvSpPr>
          <p:cNvPr id="9" name="Tijdelijke aanduiding voor dianummer 6"/>
          <p:cNvSpPr txBox="1">
            <a:spLocks/>
          </p:cNvSpPr>
          <p:nvPr userDrawn="1"/>
        </p:nvSpPr>
        <p:spPr>
          <a:xfrm>
            <a:off x="8452464" y="4805363"/>
            <a:ext cx="642937" cy="143590"/>
          </a:xfrm>
          <a:prstGeom prst="rect">
            <a:avLst/>
          </a:prstGeom>
        </p:spPr>
        <p:txBody>
          <a:bodyPr vert="horz" lIns="91440" tIns="45720" rIns="0" bIns="45720" rtlCol="0" anchor="ctr"/>
          <a:lstStyle>
            <a:defPPr>
              <a:defRPr lang="nl-NL"/>
            </a:defPPr>
            <a:lvl1pPr marL="0" algn="r" defTabSz="456999" rtl="0" eaLnBrk="1" latinLnBrk="0" hangingPunct="1">
              <a:defRPr sz="800" kern="1200">
                <a:solidFill>
                  <a:srgbClr val="5E6A71"/>
                </a:solidFill>
                <a:latin typeface="Calibri" panose="020F0502020204030204" pitchFamily="34" charset="0"/>
                <a:ea typeface="+mn-ea"/>
                <a:cs typeface="Calibri" panose="020F0502020204030204" pitchFamily="34" charset="0"/>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en-GB" sz="800" smtClean="0"/>
              <a:pPr/>
              <a:t>‹#›</a:t>
            </a:fld>
            <a:endParaRPr lang="en-GB" sz="800"/>
          </a:p>
        </p:txBody>
      </p:sp>
    </p:spTree>
    <p:extLst>
      <p:ext uri="{BB962C8B-B14F-4D97-AF65-F5344CB8AC3E}">
        <p14:creationId xmlns:p14="http://schemas.microsoft.com/office/powerpoint/2010/main" val="265384486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Transition slide">
    <p:bg>
      <p:bgPr>
        <a:solidFill>
          <a:srgbClr val="679DDF"/>
        </a:solidFill>
        <a:effectLst/>
      </p:bgPr>
    </p:bg>
    <p:spTree>
      <p:nvGrpSpPr>
        <p:cNvPr id="1" name=""/>
        <p:cNvGrpSpPr/>
        <p:nvPr/>
      </p:nvGrpSpPr>
      <p:grpSpPr>
        <a:xfrm>
          <a:off x="0" y="0"/>
          <a:ext cx="0" cy="0"/>
          <a:chOff x="0" y="0"/>
          <a:chExt cx="0" cy="0"/>
        </a:xfrm>
      </p:grpSpPr>
      <p:sp>
        <p:nvSpPr>
          <p:cNvPr id="7" name="Rechthoek 7"/>
          <p:cNvSpPr/>
          <p:nvPr userDrawn="1"/>
        </p:nvSpPr>
        <p:spPr>
          <a:xfrm>
            <a:off x="242889" y="1617717"/>
            <a:ext cx="8667749" cy="1977971"/>
          </a:xfrm>
          <a:prstGeom prst="roundRect">
            <a:avLst>
              <a:gd name="adj" fmla="val 15979"/>
            </a:avLst>
          </a:prstGeom>
          <a:solidFill>
            <a:schemeClr val="bg1"/>
          </a:solidFill>
          <a:ln w="6350" cap="flat" cmpd="sng" algn="ctr">
            <a:noFill/>
            <a:prstDash val="solid"/>
          </a:ln>
          <a:effectLst/>
        </p:spPr>
        <p:txBody>
          <a:bodyPr rot="0" spcFirstLastPara="0" vertOverflow="overflow" horzOverflow="overflow" vert="horz" wrap="square" lIns="0" tIns="46800" rIns="0" bIns="46800" numCol="1" spcCol="0" rtlCol="0" fromWordArt="0" anchor="ctr" anchorCtr="0" forceAA="0" compatLnSpc="1">
            <a:prstTxWarp prst="textNoShape">
              <a:avLst/>
            </a:prstTxWarp>
            <a:no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9" name="Titel 1"/>
          <p:cNvSpPr>
            <a:spLocks noGrp="1"/>
          </p:cNvSpPr>
          <p:nvPr>
            <p:ph type="title"/>
          </p:nvPr>
        </p:nvSpPr>
        <p:spPr>
          <a:xfrm>
            <a:off x="475815" y="1836823"/>
            <a:ext cx="7804586" cy="504706"/>
          </a:xfrm>
          <a:solidFill>
            <a:schemeClr val="bg1"/>
          </a:solidFill>
          <a:effectLst/>
        </p:spPr>
        <p:txBody>
          <a:bodyPr anchor="b">
            <a:spAutoFit/>
          </a:bodyPr>
          <a:lstStyle>
            <a:lvl1pPr>
              <a:defRPr sz="4000" b="0" i="0">
                <a:solidFill>
                  <a:schemeClr val="accent2"/>
                </a:solidFill>
              </a:defRPr>
            </a:lvl1pPr>
          </a:lstStyle>
          <a:p>
            <a:r>
              <a:rPr lang="nl-NL" noProof="0"/>
              <a:t>Klik om de stijl te bewerken</a:t>
            </a:r>
            <a:endParaRPr lang="en-GB" noProof="0"/>
          </a:p>
        </p:txBody>
      </p:sp>
      <p:sp>
        <p:nvSpPr>
          <p:cNvPr id="6" name="Tijdelijke aanduiding voor tekst 5"/>
          <p:cNvSpPr>
            <a:spLocks noGrp="1"/>
          </p:cNvSpPr>
          <p:nvPr>
            <p:ph type="body" sz="quarter" idx="11" hasCustomPrompt="1"/>
          </p:nvPr>
        </p:nvSpPr>
        <p:spPr>
          <a:xfrm>
            <a:off x="475815" y="2430032"/>
            <a:ext cx="7804585" cy="369332"/>
          </a:xfrm>
          <a:solidFill>
            <a:schemeClr val="bg1"/>
          </a:solidFill>
        </p:spPr>
        <p:txBody>
          <a:bodyPr wrap="square">
            <a:spAutoFit/>
          </a:bodyPr>
          <a:lstStyle>
            <a:lvl1pPr marL="0" indent="0">
              <a:lnSpc>
                <a:spcPct val="100000"/>
              </a:lnSpc>
              <a:spcBef>
                <a:spcPts val="0"/>
              </a:spcBef>
              <a:buNone/>
              <a:defRPr sz="2400" b="1" i="1" baseline="0">
                <a:solidFill>
                  <a:schemeClr val="tx2"/>
                </a:solidFill>
              </a:defRPr>
            </a:lvl1pPr>
          </a:lstStyle>
          <a:p>
            <a:pPr lvl="0"/>
            <a:r>
              <a:rPr lang="en-GB" noProof="0"/>
              <a:t>Click to add subtitle</a:t>
            </a:r>
          </a:p>
        </p:txBody>
      </p:sp>
      <p:sp>
        <p:nvSpPr>
          <p:cNvPr id="8" name="Rechthoek 7"/>
          <p:cNvSpPr/>
          <p:nvPr userDrawn="1"/>
        </p:nvSpPr>
        <p:spPr>
          <a:xfrm>
            <a:off x="5434013" y="264700"/>
            <a:ext cx="3709987" cy="375297"/>
          </a:xfrm>
          <a:prstGeom prst="rect">
            <a:avLst/>
          </a:prstGeom>
          <a:solidFill>
            <a:srgbClr val="679DDF"/>
          </a:solidFill>
          <a:ln w="6350" cap="flat" cmpd="sng" algn="ctr">
            <a:noFill/>
            <a:prstDash val="solid"/>
          </a:ln>
          <a:effectLst/>
        </p:spPr>
        <p:txBody>
          <a:bodyPr rot="0" spcFirstLastPara="0" vertOverflow="overflow" horzOverflow="overflow" vert="horz" wrap="square" lIns="0" tIns="46800" rIns="0" bIns="46800" numCol="1" spcCol="0" rtlCol="0" fromWordArt="0" anchor="ctr" anchorCtr="0" forceAA="0" compatLnSpc="1">
            <a:prstTxWarp prst="textNoShape">
              <a:avLst/>
            </a:prstTxWarp>
            <a:spAutoFit/>
          </a:bodyPr>
          <a:lstStyle/>
          <a:p>
            <a:pPr marL="0" marR="0" indent="0" algn="ctr" defTabSz="914378"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10" name="Tijdelijke aanduiding voor dianummer 6"/>
          <p:cNvSpPr txBox="1">
            <a:spLocks/>
          </p:cNvSpPr>
          <p:nvPr userDrawn="1"/>
        </p:nvSpPr>
        <p:spPr>
          <a:xfrm>
            <a:off x="8452464" y="4805363"/>
            <a:ext cx="642937" cy="143590"/>
          </a:xfrm>
          <a:prstGeom prst="rect">
            <a:avLst/>
          </a:prstGeom>
        </p:spPr>
        <p:txBody>
          <a:bodyPr vert="horz" lIns="91440" tIns="45720" rIns="0" bIns="45720" rtlCol="0" anchor="ctr"/>
          <a:lstStyle>
            <a:defPPr>
              <a:defRPr lang="nl-NL"/>
            </a:defPPr>
            <a:lvl1pPr marL="0" algn="r" defTabSz="456999" rtl="0" eaLnBrk="1" latinLnBrk="0" hangingPunct="1">
              <a:defRPr sz="800" kern="1200">
                <a:solidFill>
                  <a:srgbClr val="5E6A71"/>
                </a:solidFill>
                <a:latin typeface="Calibri" panose="020F0502020204030204" pitchFamily="34" charset="0"/>
                <a:ea typeface="+mn-ea"/>
                <a:cs typeface="Calibri" panose="020F0502020204030204" pitchFamily="34" charset="0"/>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en-GB" sz="800" smtClean="0"/>
              <a:pPr/>
              <a:t>‹#›</a:t>
            </a:fld>
            <a:endParaRPr lang="en-GB" sz="800"/>
          </a:p>
        </p:txBody>
      </p:sp>
    </p:spTree>
    <p:extLst>
      <p:ext uri="{BB962C8B-B14F-4D97-AF65-F5344CB8AC3E}">
        <p14:creationId xmlns:p14="http://schemas.microsoft.com/office/powerpoint/2010/main" val="2900651214"/>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Basic slide">
    <p:spTree>
      <p:nvGrpSpPr>
        <p:cNvPr id="1" name=""/>
        <p:cNvGrpSpPr/>
        <p:nvPr/>
      </p:nvGrpSpPr>
      <p:grpSpPr>
        <a:xfrm>
          <a:off x="0" y="0"/>
          <a:ext cx="0" cy="0"/>
          <a:chOff x="0" y="0"/>
          <a:chExt cx="0" cy="0"/>
        </a:xfrm>
      </p:grpSpPr>
      <p:sp>
        <p:nvSpPr>
          <p:cNvPr id="2" name="Titel 1"/>
          <p:cNvSpPr>
            <a:spLocks noGrp="1"/>
          </p:cNvSpPr>
          <p:nvPr>
            <p:ph type="title"/>
          </p:nvPr>
        </p:nvSpPr>
        <p:spPr>
          <a:xfrm>
            <a:off x="162410" y="-1"/>
            <a:ext cx="8886340" cy="534355"/>
          </a:xfrm>
        </p:spPr>
        <p:txBody>
          <a:bodyPr/>
          <a:lstStyle>
            <a:lvl1pPr>
              <a:defRPr>
                <a:latin typeface="+mj-lt"/>
              </a:defRPr>
            </a:lvl1pPr>
          </a:lstStyle>
          <a:p>
            <a:r>
              <a:rPr lang="en-GB" noProof="0" err="1"/>
              <a:t>Klik</a:t>
            </a:r>
            <a:r>
              <a:rPr lang="en-GB" noProof="0"/>
              <a:t> om de </a:t>
            </a:r>
            <a:r>
              <a:rPr lang="en-GB" noProof="0" err="1"/>
              <a:t>stijl</a:t>
            </a:r>
            <a:r>
              <a:rPr lang="en-GB" noProof="0"/>
              <a:t> te </a:t>
            </a:r>
            <a:r>
              <a:rPr lang="en-GB" noProof="0" err="1"/>
              <a:t>bewerken</a:t>
            </a:r>
            <a:endParaRPr lang="en-GB" noProof="0"/>
          </a:p>
        </p:txBody>
      </p:sp>
      <p:sp>
        <p:nvSpPr>
          <p:cNvPr id="5" name="Tijdelijke aanduiding voor inhoud 4"/>
          <p:cNvSpPr>
            <a:spLocks noGrp="1"/>
          </p:cNvSpPr>
          <p:nvPr>
            <p:ph sz="quarter" idx="11"/>
          </p:nvPr>
        </p:nvSpPr>
        <p:spPr>
          <a:xfrm>
            <a:off x="162409" y="913832"/>
            <a:ext cx="8886341" cy="3891531"/>
          </a:xfrm>
        </p:spPr>
        <p:txBody>
          <a:bodyPr/>
          <a:lstStyle>
            <a:lvl1pPr>
              <a:defRPr sz="1400">
                <a:latin typeface="+mj-lt"/>
              </a:defRPr>
            </a:lvl1pPr>
            <a:lvl2pPr>
              <a:lnSpc>
                <a:spcPct val="100000"/>
              </a:lnSpc>
              <a:defRPr sz="1200">
                <a:latin typeface="+mj-lt"/>
              </a:defRPr>
            </a:lvl2pPr>
            <a:lvl3pPr>
              <a:lnSpc>
                <a:spcPct val="100000"/>
              </a:lnSpc>
              <a:defRPr sz="1100">
                <a:latin typeface="+mj-lt"/>
              </a:defRPr>
            </a:lvl3pPr>
            <a:lvl4pPr marL="933727" indent="-285743">
              <a:lnSpc>
                <a:spcPct val="100000"/>
              </a:lnSpc>
              <a:buFont typeface="Arial" panose="020B0604020202020204" pitchFamily="34" charset="0"/>
              <a:buChar char="•"/>
              <a:defRPr sz="1100">
                <a:latin typeface="+mj-lt"/>
              </a:defRPr>
            </a:lvl4pPr>
            <a:lvl5pPr>
              <a:lnSpc>
                <a:spcPct val="100000"/>
              </a:lnSpc>
              <a:defRPr sz="1200">
                <a:latin typeface="+mj-lt"/>
              </a:defRPr>
            </a:lvl5pPr>
          </a:lstStyle>
          <a:p>
            <a:pPr lvl="0"/>
            <a:r>
              <a:rPr lang="en-GB" noProof="0" err="1"/>
              <a:t>Klik</a:t>
            </a:r>
            <a:r>
              <a:rPr lang="en-GB" noProof="0"/>
              <a:t> om de </a:t>
            </a:r>
            <a:r>
              <a:rPr lang="en-GB" noProof="0" err="1"/>
              <a:t>modelstijlen</a:t>
            </a:r>
            <a:r>
              <a:rPr lang="en-GB" noProof="0"/>
              <a:t> te </a:t>
            </a:r>
            <a:r>
              <a:rPr lang="en-GB" noProof="0" err="1"/>
              <a:t>bewerken</a:t>
            </a:r>
            <a:endParaRPr lang="en-GB" noProof="0"/>
          </a:p>
          <a:p>
            <a:pPr lvl="1"/>
            <a:r>
              <a:rPr lang="en-GB" noProof="0" err="1"/>
              <a:t>Tweede</a:t>
            </a:r>
            <a:r>
              <a:rPr lang="en-GB" noProof="0"/>
              <a:t> </a:t>
            </a:r>
            <a:r>
              <a:rPr lang="en-GB" noProof="0" err="1"/>
              <a:t>niveau</a:t>
            </a:r>
            <a:endParaRPr lang="en-GB" noProof="0"/>
          </a:p>
          <a:p>
            <a:pPr lvl="2"/>
            <a:r>
              <a:rPr lang="en-GB" noProof="0" err="1"/>
              <a:t>Derde</a:t>
            </a:r>
            <a:r>
              <a:rPr lang="en-GB" noProof="0"/>
              <a:t> </a:t>
            </a:r>
            <a:r>
              <a:rPr lang="en-GB" noProof="0" err="1"/>
              <a:t>niveau</a:t>
            </a:r>
            <a:endParaRPr lang="en-GB" noProof="0"/>
          </a:p>
          <a:p>
            <a:pPr lvl="3"/>
            <a:r>
              <a:rPr lang="en-GB" noProof="0" err="1"/>
              <a:t>Vierde</a:t>
            </a:r>
            <a:r>
              <a:rPr lang="en-GB" noProof="0"/>
              <a:t> </a:t>
            </a:r>
            <a:r>
              <a:rPr lang="en-GB" noProof="0" err="1"/>
              <a:t>niveau</a:t>
            </a:r>
            <a:endParaRPr lang="en-GB" noProof="0"/>
          </a:p>
          <a:p>
            <a:pPr lvl="4"/>
            <a:r>
              <a:rPr lang="en-GB" noProof="0" err="1"/>
              <a:t>Vijfde</a:t>
            </a:r>
            <a:r>
              <a:rPr lang="en-GB" noProof="0"/>
              <a:t> </a:t>
            </a:r>
            <a:r>
              <a:rPr lang="en-GB" noProof="0" err="1"/>
              <a:t>niveau</a:t>
            </a:r>
            <a:endParaRPr lang="en-GB" noProof="0"/>
          </a:p>
        </p:txBody>
      </p:sp>
      <p:sp>
        <p:nvSpPr>
          <p:cNvPr id="7" name="Tijdelijke aanduiding voor tekst 6"/>
          <p:cNvSpPr>
            <a:spLocks noGrp="1"/>
          </p:cNvSpPr>
          <p:nvPr>
            <p:ph type="body" sz="quarter" idx="12" hasCustomPrompt="1"/>
          </p:nvPr>
        </p:nvSpPr>
        <p:spPr>
          <a:xfrm>
            <a:off x="162411" y="617731"/>
            <a:ext cx="7668088" cy="212725"/>
          </a:xfrm>
        </p:spPr>
        <p:txBody>
          <a:bodyPr vert="horz" lIns="0" tIns="45720" rIns="0" bIns="45720" rtlCol="0" anchor="ctr"/>
          <a:lstStyle>
            <a:lvl1pPr marL="0" indent="0">
              <a:buNone/>
              <a:defRPr lang="nl-NL" sz="1200" i="1" dirty="0">
                <a:solidFill>
                  <a:srgbClr val="000099"/>
                </a:solidFill>
                <a:latin typeface="+mj-lt"/>
                <a:cs typeface="Calibri" panose="020F0502020204030204" pitchFamily="34" charset="0"/>
              </a:defRPr>
            </a:lvl1pPr>
          </a:lstStyle>
          <a:p>
            <a:pPr marL="0" lvl="0" defTabSz="456988"/>
            <a:r>
              <a:rPr lang="en-GB" noProof="0"/>
              <a:t>Subtitle</a:t>
            </a:r>
          </a:p>
        </p:txBody>
      </p:sp>
      <p:sp>
        <p:nvSpPr>
          <p:cNvPr id="6" name="Tijdelijke aanduiding voor dianummer 6"/>
          <p:cNvSpPr txBox="1">
            <a:spLocks/>
          </p:cNvSpPr>
          <p:nvPr userDrawn="1"/>
        </p:nvSpPr>
        <p:spPr>
          <a:xfrm>
            <a:off x="8452464" y="4805363"/>
            <a:ext cx="642937" cy="143590"/>
          </a:xfrm>
          <a:prstGeom prst="rect">
            <a:avLst/>
          </a:prstGeom>
        </p:spPr>
        <p:txBody>
          <a:bodyPr vert="horz" lIns="91440" tIns="45720" rIns="0" bIns="45720" rtlCol="0" anchor="ctr"/>
          <a:lstStyle>
            <a:defPPr>
              <a:defRPr lang="nl-NL"/>
            </a:defPPr>
            <a:lvl1pPr marL="0" algn="r" defTabSz="456999" rtl="0" eaLnBrk="1" latinLnBrk="0" hangingPunct="1">
              <a:defRPr sz="800" kern="1200">
                <a:solidFill>
                  <a:srgbClr val="5E6A71"/>
                </a:solidFill>
                <a:latin typeface="Calibri" panose="020F0502020204030204" pitchFamily="34" charset="0"/>
                <a:ea typeface="+mn-ea"/>
                <a:cs typeface="Calibri" panose="020F0502020204030204" pitchFamily="34" charset="0"/>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en-GB" sz="800" smtClean="0"/>
              <a:pPr/>
              <a:t>‹#›</a:t>
            </a:fld>
            <a:endParaRPr lang="en-GB" sz="800"/>
          </a:p>
        </p:txBody>
      </p:sp>
    </p:spTree>
    <p:extLst>
      <p:ext uri="{BB962C8B-B14F-4D97-AF65-F5344CB8AC3E}">
        <p14:creationId xmlns:p14="http://schemas.microsoft.com/office/powerpoint/2010/main" val="36528015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 Target="../slides/slide7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 Target="../slides/slide63.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 Target="../slides/slide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 Target="../slides/slide74.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 Target="../slides/slide3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 Target="../slides/slide68.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75814" y="121201"/>
            <a:ext cx="7464026" cy="570893"/>
          </a:xfrm>
          <a:prstGeom prst="rect">
            <a:avLst/>
          </a:prstGeom>
        </p:spPr>
        <p:txBody>
          <a:bodyPr vert="horz" lIns="0" tIns="0" rIns="0" bIns="0" rtlCol="0" anchor="ctr">
            <a:noAutofit/>
          </a:bodyPr>
          <a:lstStyle/>
          <a:p>
            <a:r>
              <a:rPr lang="nl-NL"/>
              <a:t>Klik om de stijl te bewerken</a:t>
            </a:r>
            <a:endParaRPr lang="en-GB" noProof="0"/>
          </a:p>
        </p:txBody>
      </p:sp>
      <p:sp>
        <p:nvSpPr>
          <p:cNvPr id="5" name="Kader 4" hidden="1"/>
          <p:cNvSpPr/>
          <p:nvPr/>
        </p:nvSpPr>
        <p:spPr>
          <a:xfrm>
            <a:off x="-540568" y="-408592"/>
            <a:ext cx="10225136" cy="5960686"/>
          </a:xfrm>
          <a:prstGeom prst="frame">
            <a:avLst>
              <a:gd name="adj1" fmla="val 6674"/>
            </a:avLst>
          </a:prstGeom>
          <a:noFill/>
          <a:ln w="6350" cap="flat" cmpd="sng" algn="ctr">
            <a:solidFill>
              <a:schemeClr val="accent2"/>
            </a:solid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noAutofit/>
          </a:bodyPr>
          <a:lstStyle/>
          <a:p>
            <a:pPr marL="0" marR="0" indent="0" algn="ctr" defTabSz="914400"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Pro"/>
              <a:ea typeface="+mn-ea"/>
              <a:cs typeface="Myriad Pro"/>
            </a:endParaRPr>
          </a:p>
        </p:txBody>
      </p:sp>
      <p:sp>
        <p:nvSpPr>
          <p:cNvPr id="7" name="Tijdelijke aanduiding voor dianummer 6"/>
          <p:cNvSpPr>
            <a:spLocks noGrp="1"/>
          </p:cNvSpPr>
          <p:nvPr>
            <p:ph type="sldNum" sz="quarter" idx="4"/>
          </p:nvPr>
        </p:nvSpPr>
        <p:spPr>
          <a:xfrm>
            <a:off x="8452463" y="4561284"/>
            <a:ext cx="642937" cy="204788"/>
          </a:xfrm>
          <a:prstGeom prst="rect">
            <a:avLst/>
          </a:prstGeom>
        </p:spPr>
        <p:txBody>
          <a:bodyPr vert="horz" lIns="91440" tIns="45720" rIns="0" bIns="45720" rtlCol="0" anchor="ctr"/>
          <a:lstStyle>
            <a:lvl1pPr algn="r">
              <a:defRPr sz="1200">
                <a:solidFill>
                  <a:srgbClr val="5E6A71"/>
                </a:solidFill>
              </a:defRPr>
            </a:lvl1pPr>
          </a:lstStyle>
          <a:p>
            <a:fld id="{4821C4A5-98F2-7545-875B-39B2F4500447}" type="slidenum">
              <a:rPr lang="en-GB" noProof="0" smtClean="0"/>
              <a:pPr/>
              <a:t>‹#›</a:t>
            </a:fld>
            <a:endParaRPr lang="en-GB" noProof="0"/>
          </a:p>
        </p:txBody>
      </p:sp>
      <p:sp>
        <p:nvSpPr>
          <p:cNvPr id="8" name="Tijdelijke aanduiding voor tekst 7"/>
          <p:cNvSpPr>
            <a:spLocks noGrp="1"/>
          </p:cNvSpPr>
          <p:nvPr>
            <p:ph type="body" idx="1"/>
          </p:nvPr>
        </p:nvSpPr>
        <p:spPr>
          <a:xfrm>
            <a:off x="475812" y="967740"/>
            <a:ext cx="7804588" cy="3485263"/>
          </a:xfrm>
          <a:prstGeom prst="rect">
            <a:avLst/>
          </a:prstGeom>
        </p:spPr>
        <p:txBody>
          <a:bodyPr vert="horz" lIns="0" tIns="45720" rIns="0" bIns="45720" rtlCol="0">
            <a:no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noProof="0"/>
          </a:p>
        </p:txBody>
      </p:sp>
      <p:pic>
        <p:nvPicPr>
          <p:cNvPr id="3" name="Afbeelding 2" descr="RB_logo_rgb.png"/>
          <p:cNvPicPr>
            <a:picLocks/>
          </p:cNvPicPr>
          <p:nvPr/>
        </p:nvPicPr>
        <p:blipFill>
          <a:blip r:embed="rId58" cstate="screen">
            <a:extLst>
              <a:ext uri="{28A0092B-C50C-407E-A947-70E740481C1C}">
                <a14:useLocalDpi xmlns:a14="http://schemas.microsoft.com/office/drawing/2010/main"/>
              </a:ext>
            </a:extLst>
          </a:blip>
          <a:stretch>
            <a:fillRect/>
          </a:stretch>
        </p:blipFill>
        <p:spPr>
          <a:xfrm>
            <a:off x="8521371" y="51110"/>
            <a:ext cx="505120" cy="640984"/>
          </a:xfrm>
          <a:prstGeom prst="rect">
            <a:avLst/>
          </a:prstGeom>
        </p:spPr>
      </p:pic>
      <p:sp>
        <p:nvSpPr>
          <p:cNvPr id="9" name="Rounded Rectangle 10">
            <a:hlinkClick r:id="" action="ppaction://noaction"/>
          </p:cNvPr>
          <p:cNvSpPr/>
          <p:nvPr/>
        </p:nvSpPr>
        <p:spPr>
          <a:xfrm>
            <a:off x="4601287"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0" name="Rounded Rectangle 11">
            <a:hlinkClick r:id="rId59" action="ppaction://hlinksldjump"/>
          </p:cNvPr>
          <p:cNvSpPr/>
          <p:nvPr/>
        </p:nvSpPr>
        <p:spPr>
          <a:xfrm>
            <a:off x="8262081" y="4875491"/>
            <a:ext cx="870044"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accent1"/>
                </a:solidFill>
                <a:effectLst/>
                <a:uLnTx/>
                <a:uFillTx/>
                <a:latin typeface="Myriad Pro"/>
                <a:ea typeface="+mn-ea"/>
                <a:cs typeface="Myriad Pro"/>
              </a:rPr>
            </a:br>
            <a:r>
              <a:rPr kumimoji="0" lang="en-GB" sz="800" b="1" i="0" u="none" strike="noStrike" kern="0" cap="none" spc="0" normalizeH="0" baseline="0" noProof="0">
                <a:ln>
                  <a:noFill/>
                </a:ln>
                <a:solidFill>
                  <a:schemeClr val="accent1"/>
                </a:solidFill>
                <a:effectLst/>
                <a:uLnTx/>
                <a:uFillTx/>
                <a:latin typeface="Myriad Pro"/>
                <a:ea typeface="+mn-ea"/>
                <a:cs typeface="Myriad Pro"/>
              </a:rPr>
              <a:t>Control</a:t>
            </a:r>
          </a:p>
        </p:txBody>
      </p:sp>
      <p:sp>
        <p:nvSpPr>
          <p:cNvPr id="11" name="Rounded Rectangle 10">
            <a:hlinkClick r:id="" action="ppaction://noaction"/>
          </p:cNvPr>
          <p:cNvSpPr/>
          <p:nvPr/>
        </p:nvSpPr>
        <p:spPr>
          <a:xfrm>
            <a:off x="5516486"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7. Migration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2" name="Rounded Rectangle 10">
            <a:hlinkClick r:id="rId60" action="ppaction://hlinksldjump"/>
          </p:cNvPr>
          <p:cNvSpPr/>
          <p:nvPr/>
        </p:nvSpPr>
        <p:spPr>
          <a:xfrm>
            <a:off x="6431685"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8. Risk</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3" name="Rounded Rectangle 10">
            <a:hlinkClick r:id="" action="ppaction://noaction"/>
          </p:cNvPr>
          <p:cNvSpPr/>
          <p:nvPr/>
        </p:nvSpPr>
        <p:spPr>
          <a:xfrm>
            <a:off x="7346884"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9. Impact on Operations</a:t>
            </a:r>
          </a:p>
        </p:txBody>
      </p:sp>
      <p:sp>
        <p:nvSpPr>
          <p:cNvPr id="14" name="Rounded Rectangle 10">
            <a:hlinkClick r:id="rId61" action="ppaction://hlinksldjump"/>
          </p:cNvPr>
          <p:cNvSpPr/>
          <p:nvPr/>
        </p:nvSpPr>
        <p:spPr>
          <a:xfrm>
            <a:off x="3686088"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5" name="Rounded Rectangle 10">
            <a:hlinkClick r:id="rId62" action="ppaction://hlinksldjump"/>
          </p:cNvPr>
          <p:cNvSpPr/>
          <p:nvPr/>
        </p:nvSpPr>
        <p:spPr>
          <a:xfrm>
            <a:off x="2770889"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6" name="Rounded Rectangle 10">
            <a:hlinkClick r:id="rId63" action="ppaction://hlinksldjump"/>
          </p:cNvPr>
          <p:cNvSpPr/>
          <p:nvPr/>
        </p:nvSpPr>
        <p:spPr>
          <a:xfrm>
            <a:off x="1855690"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3. Process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7" name="Rounded Rectangle 10">
            <a:hlinkClick r:id="rId62" action="ppaction://hlinksldjump"/>
          </p:cNvPr>
          <p:cNvSpPr/>
          <p:nvPr/>
        </p:nvSpPr>
        <p:spPr>
          <a:xfrm>
            <a:off x="940491"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
        <p:nvSpPr>
          <p:cNvPr id="18" name="Rounded Rectangle 10">
            <a:hlinkClick r:id="rId64" action="ppaction://hlinksldjump"/>
          </p:cNvPr>
          <p:cNvSpPr/>
          <p:nvPr/>
        </p:nvSpPr>
        <p:spPr>
          <a:xfrm>
            <a:off x="25292" y="4875491"/>
            <a:ext cx="891335" cy="29965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accent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accent1"/>
              </a:solidFill>
              <a:effectLst/>
              <a:uLnTx/>
              <a:uFillTx/>
              <a:latin typeface="Myriad Pro"/>
              <a:ea typeface="+mn-ea"/>
              <a:cs typeface="Myriad Pro"/>
            </a:endParaRPr>
          </a:p>
        </p:txBody>
      </p:sp>
    </p:spTree>
    <p:extLst>
      <p:ext uri="{BB962C8B-B14F-4D97-AF65-F5344CB8AC3E}">
        <p14:creationId xmlns:p14="http://schemas.microsoft.com/office/powerpoint/2010/main" val="767415925"/>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828" r:id="rId13"/>
    <p:sldLayoutId id="2147483886"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50" r:id="rId24"/>
    <p:sldLayoutId id="2147483752" r:id="rId25"/>
    <p:sldLayoutId id="2147483753" r:id="rId26"/>
    <p:sldLayoutId id="2147483894" r:id="rId27"/>
    <p:sldLayoutId id="2147483783" r:id="rId28"/>
    <p:sldLayoutId id="2147483784" r:id="rId29"/>
    <p:sldLayoutId id="2147483785" r:id="rId30"/>
    <p:sldLayoutId id="2147483787" r:id="rId31"/>
    <p:sldLayoutId id="2147483788" r:id="rId32"/>
    <p:sldLayoutId id="2147483789" r:id="rId33"/>
    <p:sldLayoutId id="2147483790" r:id="rId34"/>
    <p:sldLayoutId id="2147483791" r:id="rId35"/>
    <p:sldLayoutId id="2147483792" r:id="rId36"/>
    <p:sldLayoutId id="2147483793" r:id="rId37"/>
    <p:sldLayoutId id="2147483794" r:id="rId38"/>
    <p:sldLayoutId id="2147483795" r:id="rId39"/>
    <p:sldLayoutId id="2147483796" r:id="rId40"/>
    <p:sldLayoutId id="2147483797" r:id="rId41"/>
    <p:sldLayoutId id="2147483816" r:id="rId42"/>
    <p:sldLayoutId id="2147483830" r:id="rId43"/>
    <p:sldLayoutId id="2147483870" r:id="rId44"/>
    <p:sldLayoutId id="2147483896" r:id="rId45"/>
    <p:sldLayoutId id="2147483897" r:id="rId46"/>
    <p:sldLayoutId id="2147483898" r:id="rId47"/>
    <p:sldLayoutId id="2147483899" r:id="rId48"/>
    <p:sldLayoutId id="2147483900" r:id="rId49"/>
    <p:sldLayoutId id="2147483901" r:id="rId50"/>
    <p:sldLayoutId id="2147483902" r:id="rId51"/>
    <p:sldLayoutId id="2147483903" r:id="rId52"/>
    <p:sldLayoutId id="2147483906" r:id="rId53"/>
    <p:sldLayoutId id="2147483908" r:id="rId54"/>
    <p:sldLayoutId id="2147483939" r:id="rId55"/>
    <p:sldLayoutId id="2147483940" r:id="rId56"/>
  </p:sldLayoutIdLst>
  <p:transition>
    <p:fade/>
  </p:transition>
  <p:hf hdr="0" ftr="0" dt="0"/>
  <p:txStyles>
    <p:titleStyle>
      <a:lvl1pPr algn="l" defTabSz="456999" rtl="0" eaLnBrk="1" latinLnBrk="0" hangingPunct="1">
        <a:lnSpc>
          <a:spcPct val="90000"/>
        </a:lnSpc>
        <a:spcBef>
          <a:spcPct val="0"/>
        </a:spcBef>
        <a:buNone/>
        <a:defRPr sz="2800" b="0" i="0" kern="1200">
          <a:solidFill>
            <a:schemeClr val="tx2"/>
          </a:solidFill>
          <a:latin typeface="+mj-lt"/>
          <a:ea typeface="+mj-ea"/>
          <a:cs typeface="Myriad Pro Light"/>
        </a:defRPr>
      </a:lvl1pPr>
    </p:titleStyle>
    <p:body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20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71600" y="353833"/>
            <a:ext cx="8197200" cy="507474"/>
          </a:xfrm>
          <a:prstGeom prst="rect">
            <a:avLst/>
          </a:prstGeom>
        </p:spPr>
        <p:txBody>
          <a:bodyPr vert="horz" lIns="0" tIns="0" rIns="0" bIns="0" rtlCol="0" anchor="b" anchorCtr="0">
            <a:noAutofit/>
          </a:bodyPr>
          <a:lstStyle/>
          <a:p>
            <a:r>
              <a:rPr lang="en-GB" noProof="0"/>
              <a:t>Click to add title</a:t>
            </a:r>
            <a:endParaRPr lang="nl-NL"/>
          </a:p>
        </p:txBody>
      </p:sp>
      <p:sp>
        <p:nvSpPr>
          <p:cNvPr id="5" name="Kader 4" hidden="1"/>
          <p:cNvSpPr/>
          <p:nvPr/>
        </p:nvSpPr>
        <p:spPr>
          <a:xfrm>
            <a:off x="-540568" y="-408592"/>
            <a:ext cx="10225136" cy="5960686"/>
          </a:xfrm>
          <a:prstGeom prst="frame">
            <a:avLst>
              <a:gd name="adj1" fmla="val 6674"/>
            </a:avLst>
          </a:prstGeom>
          <a:noFill/>
          <a:ln w="6350" cap="flat" cmpd="sng" algn="ctr">
            <a:solidFill>
              <a:schemeClr val="accent2"/>
            </a:solidFill>
            <a:prstDash val="solid"/>
          </a:ln>
          <a:effectLst/>
        </p:spPr>
        <p:txBody>
          <a:bodyPr rot="0" spcFirstLastPara="0" vertOverflow="overflow" horzOverflow="overflow" vert="horz" wrap="square" lIns="91440" tIns="36000" rIns="91440" bIns="72000" numCol="1" spcCol="0" rtlCol="0" fromWordArt="0" anchor="ctr" anchorCtr="0" forceAA="0" compatLnSpc="1">
            <a:prstTxWarp prst="textNoShape">
              <a:avLst/>
            </a:prstTxWarp>
            <a:noAutofit/>
          </a:bodyPr>
          <a:lstStyle/>
          <a:p>
            <a:pPr marL="0" marR="0" indent="0" algn="ctr" defTabSz="914355" eaLnBrk="1" fontAlgn="auto" latinLnBrk="0" hangingPunct="1">
              <a:lnSpc>
                <a:spcPct val="110000"/>
              </a:lnSpc>
              <a:spcBef>
                <a:spcPts val="0"/>
              </a:spcBef>
              <a:spcAft>
                <a:spcPts val="0"/>
              </a:spcAft>
              <a:buClrTx/>
              <a:buSzTx/>
              <a:buFontTx/>
              <a:buNone/>
              <a:tabLst/>
            </a:pPr>
            <a:endParaRPr kumimoji="0" lang="nl-NL" sz="1800" b="0" i="0" u="none" strike="noStrike" kern="0" cap="none" spc="0" normalizeH="0" baseline="0" noProof="0">
              <a:ln>
                <a:noFill/>
              </a:ln>
              <a:solidFill>
                <a:srgbClr val="000000"/>
              </a:solidFill>
              <a:effectLst/>
              <a:uLnTx/>
              <a:uFillTx/>
              <a:latin typeface="Myriad for Rabobank Lt" panose="020B0403030403020204" pitchFamily="34" charset="0"/>
              <a:ea typeface="+mn-ea"/>
              <a:cs typeface="Myriad for Rabobank"/>
            </a:endParaRPr>
          </a:p>
        </p:txBody>
      </p:sp>
      <p:sp>
        <p:nvSpPr>
          <p:cNvPr id="8" name="Tijdelijke aanduiding voor tekst 7"/>
          <p:cNvSpPr>
            <a:spLocks noGrp="1"/>
          </p:cNvSpPr>
          <p:nvPr>
            <p:ph type="body" idx="1"/>
          </p:nvPr>
        </p:nvSpPr>
        <p:spPr>
          <a:xfrm>
            <a:off x="471600" y="1288800"/>
            <a:ext cx="8197200" cy="3240000"/>
          </a:xfrm>
          <a:prstGeom prst="rect">
            <a:avLst/>
          </a:prstGeom>
        </p:spPr>
        <p:txBody>
          <a:bodyPr vert="horz" lIns="0" tIns="0" rIns="0" bIns="0" rtlCol="0">
            <a:noAutofit/>
          </a:bodyPr>
          <a:lstStyle/>
          <a:p>
            <a:pPr lvl="0"/>
            <a:endParaRPr lang="en-GB" noProof="0"/>
          </a:p>
          <a:p>
            <a:pPr lvl="1"/>
            <a:endParaRPr lang="en-US"/>
          </a:p>
          <a:p>
            <a:pPr lvl="2"/>
            <a:endParaRPr lang="en-US"/>
          </a:p>
          <a:p>
            <a:pPr lvl="3"/>
            <a:endParaRPr lang="en-US"/>
          </a:p>
          <a:p>
            <a:pPr lvl="4"/>
            <a:endParaRPr lang="en-US"/>
          </a:p>
        </p:txBody>
      </p:sp>
      <p:sp>
        <p:nvSpPr>
          <p:cNvPr id="3" name="Rechthoek 2" hidden="1">
            <a:extLst>
              <a:ext uri="{FF2B5EF4-FFF2-40B4-BE49-F238E27FC236}">
                <a16:creationId xmlns:a16="http://schemas.microsoft.com/office/drawing/2014/main" id="{C8922F52-36AC-45F9-9D88-0FD0E4028866}"/>
              </a:ext>
            </a:extLst>
          </p:cNvPr>
          <p:cNvSpPr/>
          <p:nvPr userDrawn="1"/>
        </p:nvSpPr>
        <p:spPr>
          <a:xfrm>
            <a:off x="471600" y="483398"/>
            <a:ext cx="8197200" cy="29880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9" name="Rechthoek 8" hidden="1">
            <a:extLst>
              <a:ext uri="{FF2B5EF4-FFF2-40B4-BE49-F238E27FC236}">
                <a16:creationId xmlns:a16="http://schemas.microsoft.com/office/drawing/2014/main" id="{4E5A4722-5CC1-44E4-95F1-AD539B9EF72E}"/>
              </a:ext>
            </a:extLst>
          </p:cNvPr>
          <p:cNvSpPr/>
          <p:nvPr userDrawn="1"/>
        </p:nvSpPr>
        <p:spPr>
          <a:xfrm>
            <a:off x="471600" y="1285200"/>
            <a:ext cx="8197200" cy="3240000"/>
          </a:xfrm>
          <a:prstGeom prst="rect">
            <a:avLst/>
          </a:prstGeom>
          <a:noFill/>
          <a:ln w="3175" cap="rnd" cmpd="sng" algn="ctr">
            <a:solidFill>
              <a:srgbClr val="FF0000"/>
            </a:solidFill>
            <a:prstDash val="solid"/>
          </a:ln>
          <a:effectLst/>
        </p:spPr>
        <p:txBody>
          <a:bodyPr rtlCol="0" anchor="ctr"/>
          <a:lstStyle/>
          <a:p>
            <a:pPr algn="ctr">
              <a:lnSpc>
                <a:spcPct val="100000"/>
              </a:lnSpc>
            </a:pPr>
            <a:endParaRPr lang="nl-NL" sz="2400" b="0" i="0">
              <a:solidFill>
                <a:srgbClr val="5E6A71"/>
              </a:solidFill>
              <a:latin typeface="Myriad for Rabobank Lt" panose="020B0403030403020204" pitchFamily="34" charset="0"/>
            </a:endParaRPr>
          </a:p>
        </p:txBody>
      </p:sp>
      <p:sp>
        <p:nvSpPr>
          <p:cNvPr id="10" name="Rechthoek 9" hidden="1">
            <a:extLst>
              <a:ext uri="{FF2B5EF4-FFF2-40B4-BE49-F238E27FC236}">
                <a16:creationId xmlns:a16="http://schemas.microsoft.com/office/drawing/2014/main" id="{0469A1D3-5796-42A4-9335-8BEAF291514B}"/>
              </a:ext>
            </a:extLst>
          </p:cNvPr>
          <p:cNvSpPr/>
          <p:nvPr userDrawn="1"/>
        </p:nvSpPr>
        <p:spPr>
          <a:xfrm>
            <a:off x="470988" y="4891581"/>
            <a:ext cx="8197200" cy="251920"/>
          </a:xfrm>
          <a:prstGeom prst="rect">
            <a:avLst/>
          </a:prstGeom>
          <a:noFill/>
          <a:ln w="3175" cap="rnd" cmpd="sng" algn="ctr">
            <a:solidFill>
              <a:srgbClr val="FF0000"/>
            </a:solidFill>
            <a:prstDash val="solid"/>
          </a:ln>
          <a:effectLst/>
        </p:spPr>
        <p:txBody>
          <a:bodyPr rtlCol="0" anchor="ctr"/>
          <a:lstStyle/>
          <a:p>
            <a:pPr algn="ctr"/>
            <a:endParaRPr lang="nl-NL" sz="2400" b="0" i="0">
              <a:solidFill>
                <a:srgbClr val="5E6A71"/>
              </a:solidFill>
              <a:latin typeface="Myriad for Rabobank Lt" panose="020B0403030403020204" pitchFamily="34" charset="0"/>
            </a:endParaRPr>
          </a:p>
        </p:txBody>
      </p:sp>
      <p:sp>
        <p:nvSpPr>
          <p:cNvPr id="14" name="Slide Number Placeholder 10">
            <a:extLst>
              <a:ext uri="{FF2B5EF4-FFF2-40B4-BE49-F238E27FC236}">
                <a16:creationId xmlns:a16="http://schemas.microsoft.com/office/drawing/2014/main" id="{F31BD96B-CAD5-463A-9D5B-99DED7E4AC5C}"/>
              </a:ext>
            </a:extLst>
          </p:cNvPr>
          <p:cNvSpPr>
            <a:spLocks noGrp="1"/>
          </p:cNvSpPr>
          <p:nvPr>
            <p:ph type="sldNum" sz="quarter" idx="4"/>
          </p:nvPr>
        </p:nvSpPr>
        <p:spPr>
          <a:xfrm>
            <a:off x="470988" y="4757731"/>
            <a:ext cx="2057400" cy="204788"/>
          </a:xfrm>
          <a:prstGeom prst="rect">
            <a:avLst/>
          </a:prstGeom>
        </p:spPr>
        <p:txBody>
          <a:bodyPr vert="horz" lIns="0" tIns="45720" rIns="0" bIns="45720" rtlCol="0" anchor="ctr"/>
          <a:lstStyle>
            <a:lvl1pPr>
              <a:defRPr lang="en-GB" sz="940" smtClean="0">
                <a:solidFill>
                  <a:srgbClr val="CCCCCC"/>
                </a:solidFill>
                <a:latin typeface="Myriad for Rabobank" panose="02000503050000020004" pitchFamily="2" charset="0"/>
              </a:defRPr>
            </a:lvl1pPr>
          </a:lstStyle>
          <a:p>
            <a:fld id="{14A8E892-9D3D-449A-93AD-1E7955DBB18F}" type="slidenum">
              <a:rPr lang="en-GB" smtClean="0"/>
              <a:pPr/>
              <a:t>‹#›</a:t>
            </a:fld>
            <a:endParaRPr lang="en-GB"/>
          </a:p>
        </p:txBody>
      </p:sp>
    </p:spTree>
    <p:extLst>
      <p:ext uri="{BB962C8B-B14F-4D97-AF65-F5344CB8AC3E}">
        <p14:creationId xmlns:p14="http://schemas.microsoft.com/office/powerpoint/2010/main" val="35335920"/>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 id="2147483926" r:id="rId17"/>
    <p:sldLayoutId id="2147483927" r:id="rId18"/>
    <p:sldLayoutId id="2147483928" r:id="rId19"/>
    <p:sldLayoutId id="2147483929" r:id="rId20"/>
    <p:sldLayoutId id="2147483930" r:id="rId21"/>
    <p:sldLayoutId id="2147483931" r:id="rId22"/>
    <p:sldLayoutId id="2147483932" r:id="rId23"/>
    <p:sldLayoutId id="2147483933" r:id="rId24"/>
    <p:sldLayoutId id="2147483934" r:id="rId25"/>
    <p:sldLayoutId id="2147483935" r:id="rId26"/>
    <p:sldLayoutId id="2147483936" r:id="rId27"/>
    <p:sldLayoutId id="2147483937" r:id="rId28"/>
    <p:sldLayoutId id="2147483938" r:id="rId29"/>
  </p:sldLayoutIdLst>
  <p:transition>
    <p:fade/>
  </p:transition>
  <p:hf hdr="0" ftr="0" dt="0"/>
  <p:txStyles>
    <p:titleStyle>
      <a:lvl1pPr algn="l" defTabSz="456977" rtl="0" eaLnBrk="1" latinLnBrk="0" hangingPunct="1">
        <a:lnSpc>
          <a:spcPct val="80000"/>
        </a:lnSpc>
        <a:spcBef>
          <a:spcPct val="0"/>
        </a:spcBef>
        <a:buNone/>
        <a:defRPr sz="2800" b="0" i="0" kern="1200">
          <a:solidFill>
            <a:schemeClr val="tx2"/>
          </a:solidFill>
          <a:latin typeface="Myriad for Rabobank Bd It" panose="020B0703030403090204" pitchFamily="34" charset="0"/>
          <a:ea typeface="+mj-ea"/>
          <a:cs typeface="Myriad for Rabobank Bd It" panose="020B0703030403090204" pitchFamily="34" charset="0"/>
        </a:defRPr>
      </a:lvl1pPr>
    </p:titleStyle>
    <p:bodyStyle>
      <a:lvl1pPr marL="215990" marR="0" indent="-215990" algn="l" defTabSz="914355" rtl="0" eaLnBrk="1" fontAlgn="auto" latinLnBrk="0" hangingPunct="1">
        <a:lnSpc>
          <a:spcPct val="100000"/>
        </a:lnSpc>
        <a:spcBef>
          <a:spcPts val="0"/>
        </a:spcBef>
        <a:spcAft>
          <a:spcPts val="0"/>
        </a:spcAft>
        <a:buClr>
          <a:schemeClr val="accent2"/>
        </a:buClr>
        <a:buSzPct val="90000"/>
        <a:buFont typeface="Myriad for Rabobank"/>
        <a:buChar char="•"/>
        <a:tabLst/>
        <a:defRPr kumimoji="0" lang="nl-NL" sz="1310" b="0" i="0" u="none" strike="noStrike" kern="1200" cap="none" spc="0" normalizeH="0" baseline="0" noProof="0">
          <a:ln>
            <a:noFill/>
          </a:ln>
          <a:solidFill>
            <a:srgbClr val="333333"/>
          </a:solidFill>
          <a:effectLst/>
          <a:uLnTx/>
          <a:uFillTx/>
          <a:latin typeface="Myriad for Rabobank Lt" panose="020B0403030403020204" pitchFamily="34" charset="0"/>
          <a:ea typeface="+mn-ea"/>
          <a:cs typeface="Arial" panose="020B0604020202020204" pitchFamily="34" charset="0"/>
        </a:defRPr>
      </a:lvl1pPr>
      <a:lvl2pPr marL="431979" marR="0" indent="-215990" algn="l" defTabSz="914355" rtl="0" eaLnBrk="1" fontAlgn="auto" latinLnBrk="0" hangingPunct="1">
        <a:lnSpc>
          <a:spcPct val="100000"/>
        </a:lnSpc>
        <a:spcBef>
          <a:spcPts val="0"/>
        </a:spcBef>
        <a:spcAft>
          <a:spcPts val="0"/>
        </a:spcAft>
        <a:buClr>
          <a:schemeClr val="tx2"/>
        </a:buClr>
        <a:buSzPct val="90000"/>
        <a:buFont typeface="Myriad for Rabobank"/>
        <a:buChar char="•"/>
        <a:tabLst/>
        <a:defRPr kumimoji="0" lang="nl-NL" sz="1310" b="0" i="0" u="none" strike="noStrike" kern="1200" cap="none" spc="0" normalizeH="0" baseline="0" noProof="0">
          <a:ln>
            <a:noFill/>
          </a:ln>
          <a:solidFill>
            <a:srgbClr val="333333"/>
          </a:solidFill>
          <a:effectLst/>
          <a:uLnTx/>
          <a:uFillTx/>
          <a:latin typeface="Myriad for Rabobank Lt" panose="020B0403030403020204" pitchFamily="34" charset="0"/>
          <a:ea typeface="+mn-ea"/>
          <a:cs typeface="Arial" panose="020B0604020202020204" pitchFamily="34" charset="0"/>
        </a:defRPr>
      </a:lvl2pPr>
      <a:lvl3pPr marL="647968" marR="0" indent="-215990" algn="l" defTabSz="914355" rtl="0" eaLnBrk="1" fontAlgn="auto" latinLnBrk="0" hangingPunct="1">
        <a:lnSpc>
          <a:spcPct val="100000"/>
        </a:lnSpc>
        <a:spcBef>
          <a:spcPts val="0"/>
        </a:spcBef>
        <a:spcAft>
          <a:spcPts val="0"/>
        </a:spcAft>
        <a:buClr>
          <a:schemeClr val="accent2"/>
        </a:buClr>
        <a:buSzPct val="90000"/>
        <a:buFont typeface="Myriad for Rabobank"/>
        <a:buChar char="•"/>
        <a:tabLst/>
        <a:defRPr kumimoji="0" lang="nl-NL" sz="1310" b="0" i="0" u="none" strike="noStrike" kern="1200" cap="none" spc="0" normalizeH="0" baseline="0" noProof="0">
          <a:ln>
            <a:noFill/>
          </a:ln>
          <a:solidFill>
            <a:srgbClr val="333333"/>
          </a:solidFill>
          <a:effectLst/>
          <a:uLnTx/>
          <a:uFillTx/>
          <a:latin typeface="Myriad for Rabobank Lt" panose="020B0403030403020204" pitchFamily="34" charset="0"/>
          <a:ea typeface="+mn-ea"/>
          <a:cs typeface="Mongolian Baiti" pitchFamily="66" charset="0"/>
        </a:defRPr>
      </a:lvl3pPr>
      <a:lvl4pPr marL="863957" marR="0" indent="-215990" algn="l" defTabSz="914355" rtl="0" eaLnBrk="1" fontAlgn="auto" latinLnBrk="0" hangingPunct="1">
        <a:lnSpc>
          <a:spcPct val="100000"/>
        </a:lnSpc>
        <a:spcBef>
          <a:spcPts val="0"/>
        </a:spcBef>
        <a:spcAft>
          <a:spcPts val="0"/>
        </a:spcAft>
        <a:buClr>
          <a:srgbClr val="5E6A71"/>
        </a:buClr>
        <a:buSzPct val="90000"/>
        <a:buFont typeface="Myriad for Rabobank" pitchFamily="34" charset="0"/>
        <a:buChar char="•"/>
        <a:tabLst/>
        <a:defRPr kumimoji="0" lang="nl-NL" sz="1310" b="0" i="0" u="none" strike="noStrike" kern="1200" cap="none" spc="0" normalizeH="0" baseline="0" noProof="0">
          <a:ln>
            <a:noFill/>
          </a:ln>
          <a:solidFill>
            <a:srgbClr val="333333"/>
          </a:solidFill>
          <a:effectLst/>
          <a:uLnTx/>
          <a:uFillTx/>
          <a:latin typeface="Myriad for Rabobank Lt" panose="020B0403030403020204" pitchFamily="34" charset="0"/>
          <a:ea typeface="+mn-ea"/>
          <a:cs typeface="Mongolian Baiti" pitchFamily="66" charset="0"/>
        </a:defRPr>
      </a:lvl4pPr>
      <a:lvl5pPr marL="1588" marR="0" indent="0" algn="l" defTabSz="914355" rtl="0" eaLnBrk="1" fontAlgn="auto" latinLnBrk="0" hangingPunct="1">
        <a:lnSpc>
          <a:spcPct val="100000"/>
        </a:lnSpc>
        <a:spcBef>
          <a:spcPts val="0"/>
        </a:spcBef>
        <a:spcAft>
          <a:spcPts val="0"/>
        </a:spcAft>
        <a:buClrTx/>
        <a:buSzTx/>
        <a:buFont typeface="Myriad for Rabobank"/>
        <a:buNone/>
        <a:tabLst/>
        <a:defRPr kumimoji="0" lang="nl-NL" sz="1310" b="0" i="0" u="none" strike="noStrike" kern="1200" cap="none" spc="0" normalizeH="0" baseline="0" noProof="0">
          <a:ln>
            <a:noFill/>
          </a:ln>
          <a:solidFill>
            <a:schemeClr val="tx2"/>
          </a:solidFill>
          <a:effectLst/>
          <a:uLnTx/>
          <a:uFillTx/>
          <a:latin typeface="Myriad for Rabobank Bd It" panose="020B0703030403090204" pitchFamily="34" charset="0"/>
          <a:ea typeface="+mn-ea"/>
          <a:cs typeface="Mongolian Baiti" pitchFamily="66" charset="0"/>
        </a:defRPr>
      </a:lvl5pPr>
      <a:lvl6pPr marL="177791" indent="-177791" algn="l" defTabSz="456977" rtl="0" eaLnBrk="1" latinLnBrk="0" hangingPunct="1">
        <a:lnSpc>
          <a:spcPct val="90000"/>
        </a:lnSpc>
        <a:spcBef>
          <a:spcPct val="20000"/>
        </a:spcBef>
        <a:buFont typeface="Myriad for Rabobank"/>
        <a:buChar char="•"/>
        <a:defRPr sz="1600" kern="1200">
          <a:solidFill>
            <a:schemeClr val="tx1"/>
          </a:solidFill>
          <a:latin typeface="+mn-lt"/>
          <a:ea typeface="+mn-ea"/>
          <a:cs typeface="+mn-cs"/>
        </a:defRPr>
      </a:lvl6pPr>
      <a:lvl7pPr marL="177791" indent="-177791" algn="l" defTabSz="456977" rtl="0" eaLnBrk="1" latinLnBrk="0" hangingPunct="1">
        <a:lnSpc>
          <a:spcPct val="90000"/>
        </a:lnSpc>
        <a:spcBef>
          <a:spcPct val="20000"/>
        </a:spcBef>
        <a:buFont typeface="Myriad for Rabobank"/>
        <a:buChar char="•"/>
        <a:defRPr sz="1600" kern="1200">
          <a:solidFill>
            <a:schemeClr val="tx1"/>
          </a:solidFill>
          <a:latin typeface="+mn-lt"/>
          <a:ea typeface="+mn-ea"/>
          <a:cs typeface="+mn-cs"/>
        </a:defRPr>
      </a:lvl7pPr>
      <a:lvl8pPr marL="3427323" indent="-228488" algn="l" defTabSz="456977" rtl="0" eaLnBrk="1" latinLnBrk="0" hangingPunct="1">
        <a:spcBef>
          <a:spcPct val="20000"/>
        </a:spcBef>
        <a:buFont typeface="Myriad for Rabobank"/>
        <a:buChar char="•"/>
        <a:defRPr sz="2000" kern="1200">
          <a:solidFill>
            <a:schemeClr val="tx1"/>
          </a:solidFill>
          <a:latin typeface="+mn-lt"/>
          <a:ea typeface="+mn-ea"/>
          <a:cs typeface="+mn-cs"/>
        </a:defRPr>
      </a:lvl8pPr>
      <a:lvl9pPr marL="3884301" indent="-228488" algn="l" defTabSz="456977" rtl="0" eaLnBrk="1" latinLnBrk="0" hangingPunct="1">
        <a:spcBef>
          <a:spcPct val="20000"/>
        </a:spcBef>
        <a:buFont typeface="Myriad for Rabobank"/>
        <a:buChar char="•"/>
        <a:defRPr sz="2000" kern="1200">
          <a:solidFill>
            <a:schemeClr val="tx1"/>
          </a:solidFill>
          <a:latin typeface="+mn-lt"/>
          <a:ea typeface="+mn-ea"/>
          <a:cs typeface="+mn-cs"/>
        </a:defRPr>
      </a:lvl9pPr>
    </p:bodyStyle>
    <p:otherStyle>
      <a:defPPr>
        <a:defRPr lang="nl-NL"/>
      </a:defPPr>
      <a:lvl1pPr marL="0" algn="l" defTabSz="456977" rtl="0" eaLnBrk="1" latinLnBrk="0" hangingPunct="1">
        <a:defRPr sz="1800" kern="1200">
          <a:solidFill>
            <a:schemeClr val="tx1"/>
          </a:solidFill>
          <a:latin typeface="+mn-lt"/>
          <a:ea typeface="+mn-ea"/>
          <a:cs typeface="+mn-cs"/>
        </a:defRPr>
      </a:lvl1pPr>
      <a:lvl2pPr marL="456977" algn="l" defTabSz="456977" rtl="0" eaLnBrk="1" latinLnBrk="0" hangingPunct="1">
        <a:defRPr sz="1800" kern="1200">
          <a:solidFill>
            <a:schemeClr val="tx1"/>
          </a:solidFill>
          <a:latin typeface="+mn-lt"/>
          <a:ea typeface="+mn-ea"/>
          <a:cs typeface="+mn-cs"/>
        </a:defRPr>
      </a:lvl2pPr>
      <a:lvl3pPr marL="913953" algn="l" defTabSz="456977" rtl="0" eaLnBrk="1" latinLnBrk="0" hangingPunct="1">
        <a:defRPr sz="1800" kern="1200">
          <a:solidFill>
            <a:schemeClr val="tx1"/>
          </a:solidFill>
          <a:latin typeface="+mn-lt"/>
          <a:ea typeface="+mn-ea"/>
          <a:cs typeface="+mn-cs"/>
        </a:defRPr>
      </a:lvl3pPr>
      <a:lvl4pPr marL="1370930" algn="l" defTabSz="456977" rtl="0" eaLnBrk="1" latinLnBrk="0" hangingPunct="1">
        <a:defRPr sz="1800" kern="1200">
          <a:solidFill>
            <a:schemeClr val="tx1"/>
          </a:solidFill>
          <a:latin typeface="+mn-lt"/>
          <a:ea typeface="+mn-ea"/>
          <a:cs typeface="+mn-cs"/>
        </a:defRPr>
      </a:lvl4pPr>
      <a:lvl5pPr marL="1827905" algn="l" defTabSz="456977" rtl="0" eaLnBrk="1" latinLnBrk="0" hangingPunct="1">
        <a:defRPr sz="1800" kern="1200">
          <a:solidFill>
            <a:schemeClr val="tx1"/>
          </a:solidFill>
          <a:latin typeface="+mn-lt"/>
          <a:ea typeface="+mn-ea"/>
          <a:cs typeface="+mn-cs"/>
        </a:defRPr>
      </a:lvl5pPr>
      <a:lvl6pPr marL="2284883" algn="l" defTabSz="456977" rtl="0" eaLnBrk="1" latinLnBrk="0" hangingPunct="1">
        <a:defRPr sz="1800" kern="1200">
          <a:solidFill>
            <a:schemeClr val="tx1"/>
          </a:solidFill>
          <a:latin typeface="+mn-lt"/>
          <a:ea typeface="+mn-ea"/>
          <a:cs typeface="+mn-cs"/>
        </a:defRPr>
      </a:lvl6pPr>
      <a:lvl7pPr marL="2741861" algn="l" defTabSz="456977" rtl="0" eaLnBrk="1" latinLnBrk="0" hangingPunct="1">
        <a:defRPr sz="1800" kern="1200">
          <a:solidFill>
            <a:schemeClr val="tx1"/>
          </a:solidFill>
          <a:latin typeface="+mn-lt"/>
          <a:ea typeface="+mn-ea"/>
          <a:cs typeface="+mn-cs"/>
        </a:defRPr>
      </a:lvl7pPr>
      <a:lvl8pPr marL="3198835" algn="l" defTabSz="456977" rtl="0" eaLnBrk="1" latinLnBrk="0" hangingPunct="1">
        <a:defRPr sz="1800" kern="1200">
          <a:solidFill>
            <a:schemeClr val="tx1"/>
          </a:solidFill>
          <a:latin typeface="+mn-lt"/>
          <a:ea typeface="+mn-ea"/>
          <a:cs typeface="+mn-cs"/>
        </a:defRPr>
      </a:lvl8pPr>
      <a:lvl9pPr marL="3655813" algn="l" defTabSz="4569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customXml" Target="../../customXml/item1.xml"/><Relationship Id="rId1" Type="http://schemas.openxmlformats.org/officeDocument/2006/relationships/customXml" Target="../../customXml/item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6.emf"/></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 Target="slide2.xml"/><Relationship Id="rId7"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raboweb.sharepoint.com/:p:/r/teams/SDARiskFinance/Shared%20Documents/ModelManagement/Topics/IFRS9%20migration%20to%20N-BIF/Decision%20document%20IFRS9%20migration%20to%20nBIF%20v1.0.pptx?d=w754cfbb4bdbd41fe96ec7dd5e404596e&amp;csf=1&amp;web=1&amp;e=jKYtSn"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slide" Target="slide30.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hyperlink" Target="https://raboweb.sharepoint.com/:p:/r/teams/SDARiskFinance/_layouts/15/Doc.aspx?sourcedoc=%7BFC960EDC-EA33-4369-82D5-203132986523%7D&amp;file=Stress%20Testing%20-%20Target%20State%20on%20N-BIF%20v%200.9.pptx&amp;wdLOR=cCAE2FAD4-7838-D64B-AD6E-41A21CBE60DB&amp;action=edit&amp;mobileredirect=true" TargetMode="External"/></Relationships>
</file>

<file path=ppt/slides/_rels/slide20.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5.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hyperlink" Target="https://confluence.dev.rabobank.nl/pages/viewpage.action?pageId=758918209" TargetMode="External"/><Relationship Id="rId4" Type="http://schemas.openxmlformats.org/officeDocument/2006/relationships/slide" Target="slide30.xml"/></Relationships>
</file>

<file path=ppt/slides/_rels/slide2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slide" Target="slide30.xml"/></Relationships>
</file>

<file path=ppt/slides/_rels/slide2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8" Type="http://schemas.openxmlformats.org/officeDocument/2006/relationships/slide" Target="slide35.xml"/><Relationship Id="rId13" Type="http://schemas.openxmlformats.org/officeDocument/2006/relationships/slide" Target="slide40.xml"/><Relationship Id="rId3" Type="http://schemas.openxmlformats.org/officeDocument/2006/relationships/slide" Target="slide30.xml"/><Relationship Id="rId7" Type="http://schemas.openxmlformats.org/officeDocument/2006/relationships/slide" Target="slide34.xml"/><Relationship Id="rId12" Type="http://schemas.openxmlformats.org/officeDocument/2006/relationships/slide" Target="slide39.xml"/><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slide" Target="slide41.xml"/><Relationship Id="rId11" Type="http://schemas.openxmlformats.org/officeDocument/2006/relationships/slide" Target="slide38.xml"/><Relationship Id="rId5" Type="http://schemas.openxmlformats.org/officeDocument/2006/relationships/slide" Target="slide32.xml"/><Relationship Id="rId15" Type="http://schemas.openxmlformats.org/officeDocument/2006/relationships/slide" Target="slide44.xml"/><Relationship Id="rId10" Type="http://schemas.openxmlformats.org/officeDocument/2006/relationships/slide" Target="slide37.xml"/><Relationship Id="rId4" Type="http://schemas.openxmlformats.org/officeDocument/2006/relationships/slide" Target="slide43.xml"/><Relationship Id="rId9" Type="http://schemas.openxmlformats.org/officeDocument/2006/relationships/slide" Target="slide36.xml"/><Relationship Id="rId14" Type="http://schemas.openxmlformats.org/officeDocument/2006/relationships/slide" Target="slide42.xml"/></Relationships>
</file>

<file path=ppt/slides/_rels/slide31.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hyperlink" Target="https://raboweb.sharepoint.com/:p:/r/teams/SDARiskFinance/Shared%20Documents/ModelManagement/Topics/NBIF/nBIF%20Test%20%26%20Parallel%20production%20run%20strategy.pptx?d=w5b7fc8366ca54a39a0ec7ac9dacc036a&amp;csf=1&amp;web=1&amp;e=aDxprx" TargetMode="External"/><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31.emf"/><Relationship Id="rId5" Type="http://schemas.openxmlformats.org/officeDocument/2006/relationships/slide" Target="slide30.xml"/><Relationship Id="rId4" Type="http://schemas.openxmlformats.org/officeDocument/2006/relationships/hyperlink" Target="https://raboweb.sharepoint.com/:p:/r/teams/SDARiskFinance/Shared%20Documents/ModelManagement/Topics/NBIF/nBIF%20solution%20options%20for%20Parallel%20production%20run.pptx?d=w38a2c061311845a48a4ad8fb23e77505&amp;csf=1&amp;web=1&amp;e=JdgKYp" TargetMode="External"/></Relationships>
</file>

<file path=ppt/slides/_rels/slide34.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hyperlink" Target="https://raboweb.sharepoint.com/:p:/r/teams/SDARiskFinance/Shared%20Documents/ModelManagement/Models/Corporate/10.%20Analysis/Behavioural%20Risk%20Drivers/BRDD%20scenarios%20Corporate%20Model%20v0.99.pptx?d=w55674cd90ba44d19899a4a2201604f4c&amp;csf=1&amp;web=1&amp;e=VFWUxJ" TargetMode="External"/><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slide" Target="slide30.xml"/></Relationships>
</file>

<file path=ppt/slides/_rels/slide4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notesSlide" Target="../notesSlides/notesSlide41.xml"/><Relationship Id="rId7" Type="http://schemas.openxmlformats.org/officeDocument/2006/relationships/slide" Target="slide49.xml"/><Relationship Id="rId2" Type="http://schemas.openxmlformats.org/officeDocument/2006/relationships/slideLayout" Target="../slideLayouts/slideLayout9.xml"/><Relationship Id="rId1" Type="http://schemas.openxmlformats.org/officeDocument/2006/relationships/themeOverride" Target="../theme/themeOverride1.xml"/><Relationship Id="rId6" Type="http://schemas.openxmlformats.org/officeDocument/2006/relationships/slide" Target="slide48.xml"/><Relationship Id="rId5" Type="http://schemas.openxmlformats.org/officeDocument/2006/relationships/slide" Target="slide47.xml"/><Relationship Id="rId4" Type="http://schemas.openxmlformats.org/officeDocument/2006/relationships/slide" Target="slide30.xml"/></Relationships>
</file>

<file path=ppt/slides/_rels/slide47.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42.xml"/><Relationship Id="rId1" Type="http://schemas.openxmlformats.org/officeDocument/2006/relationships/slideLayout" Target="../slideLayouts/slideLayout9.xml"/><Relationship Id="rId5" Type="http://schemas.openxmlformats.org/officeDocument/2006/relationships/slide" Target="slide46.xm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43.xml"/><Relationship Id="rId1" Type="http://schemas.openxmlformats.org/officeDocument/2006/relationships/slideLayout" Target="../slideLayouts/slideLayout9.xml"/><Relationship Id="rId4" Type="http://schemas.openxmlformats.org/officeDocument/2006/relationships/slide" Target="slide46.xml"/></Relationships>
</file>

<file path=ppt/slides/_rels/slide4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44.xml"/><Relationship Id="rId1" Type="http://schemas.openxmlformats.org/officeDocument/2006/relationships/slideLayout" Target="../slideLayouts/slideLayout9.xml"/><Relationship Id="rId4" Type="http://schemas.openxmlformats.org/officeDocument/2006/relationships/slide" Target="slide46.xml"/></Relationships>
</file>

<file path=ppt/slides/_rels/slide50.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45.xml"/><Relationship Id="rId1" Type="http://schemas.openxmlformats.org/officeDocument/2006/relationships/slideLayout" Target="../slideLayouts/slideLayout9.xml"/><Relationship Id="rId4" Type="http://schemas.openxmlformats.org/officeDocument/2006/relationships/slide" Target="slide46.xml"/></Relationships>
</file>

<file path=ppt/slides/_rels/slide5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52.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5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49.xml"/><Relationship Id="rId1" Type="http://schemas.openxmlformats.org/officeDocument/2006/relationships/slideLayout" Target="../slideLayouts/slideLayout27.xml"/><Relationship Id="rId4" Type="http://schemas.openxmlformats.org/officeDocument/2006/relationships/image" Target="../media/image35.emf"/></Relationships>
</file>

<file path=ppt/slides/_rels/slide5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slide" Target="slide54.xml"/></Relationships>
</file>

<file path=ppt/slides/_rels/slide5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slide" Target="slide54.xml"/><Relationship Id="rId4" Type="http://schemas.openxmlformats.org/officeDocument/2006/relationships/image" Target="../media/image38.emf"/></Relationships>
</file>

<file path=ppt/slides/_rels/slide5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2.xml"/><Relationship Id="rId1" Type="http://schemas.openxmlformats.org/officeDocument/2006/relationships/slideLayout" Target="../slideLayouts/slideLayout27.xml"/><Relationship Id="rId5" Type="http://schemas.openxmlformats.org/officeDocument/2006/relationships/image" Target="../media/image39.emf"/><Relationship Id="rId4" Type="http://schemas.openxmlformats.org/officeDocument/2006/relationships/slide" Target="slide54.xml"/></Relationships>
</file>

<file path=ppt/slides/_rels/slide58.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40.emf"/><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slide" Target="slide58.xml"/><Relationship Id="rId4" Type="http://schemas.openxmlformats.org/officeDocument/2006/relationships/slide" Target="slide21.xml"/></Relationships>
</file>

<file path=ppt/slides/_rels/slide6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hyperlink" Target="https://raboweb.sharepoint.com/:p:/r/teams/SDARiskFinance/Shared%20Documents/ModelManagement/Topics/IFRS9%20migration%20to%20N-BIF/Decision%20document%20IFRS9%20migration%20to%20nBIF%20v1.0.pptx?d=w754cfbb4bdbd41fe96ec7dd5e404596e&amp;csf=1&amp;web=1&amp;e=avMc4H" TargetMode="External"/><Relationship Id="rId5" Type="http://schemas.openxmlformats.org/officeDocument/2006/relationships/image" Target="../media/image42.emf"/><Relationship Id="rId4" Type="http://schemas.openxmlformats.org/officeDocument/2006/relationships/slide" Target="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notesSlide" Target="../notesSlides/notesSlide59.xml"/><Relationship Id="rId1" Type="http://schemas.openxmlformats.org/officeDocument/2006/relationships/slideLayout" Target="../slideLayouts/slideLayout9.xml"/><Relationship Id="rId6" Type="http://schemas.openxmlformats.org/officeDocument/2006/relationships/hyperlink" Target="https://confluence.dev.rabobank.nl/display/Azure" TargetMode="External"/><Relationship Id="rId5" Type="http://schemas.openxmlformats.org/officeDocument/2006/relationships/image" Target="../media/image49.png"/><Relationship Id="rId4" Type="http://schemas.openxmlformats.org/officeDocument/2006/relationships/hyperlink" Target="https://confluence.dev.rabobank.nl/display/Azure" TargetMode="External"/></Relationships>
</file>

<file path=ppt/slides/_rels/slide6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slide" Target="slide71.xml"/></Relationships>
</file>

<file path=ppt/slides/_rels/slide72.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8" Type="http://schemas.openxmlformats.org/officeDocument/2006/relationships/hyperlink" Target="https://policyhouseportal.rabonet.com/display/PP/Policy+House+Portal+Rabobank+Group" TargetMode="External"/><Relationship Id="rId13" Type="http://schemas.openxmlformats.org/officeDocument/2006/relationships/hyperlink" Target="https://raboweb.sharepoint.com/sites/Topic-FirstLineRiskSecurity/Standards/Forms/AllItems.aspx?RootFolder=%2fsites%2fTopic%2dFirstLineRiskSecurity%2fStandards%2f03%2e%20Departmental%20Procedures%2fFLR&amp;FolderCTID=0x012000FD2A25E9C374C9489F994247ED734413" TargetMode="External"/><Relationship Id="rId3" Type="http://schemas.openxmlformats.org/officeDocument/2006/relationships/hyperlink" Target="https://raboweb.sharepoint.com/:p:/r/teams/SDARiskFinance/Tribe%20Credit%20Analytics%20Architecture%20Repository/PSA%20N-Bridge%20v1.0.pptx?d=wa65da20701214251a0075daa11032057&amp;csf=1&amp;web=1&amp;e=Wnmih5" TargetMode="External"/><Relationship Id="rId7" Type="http://schemas.openxmlformats.org/officeDocument/2006/relationships/hyperlink" Target="https://raboweb.sharepoint.com/teams/SDARiskFinance/_layouts/15/Doc.aspx?OR=teams&amp;action=edit&amp;sourcedoc=%7bBE38944B-78D3-4109-9474-09BEFA319959%7d" TargetMode="External"/><Relationship Id="rId12" Type="http://schemas.openxmlformats.org/officeDocument/2006/relationships/hyperlink" Target="http://sharepoint.rabonet.com/sites/architecture/process/Templates/Agile%20Functional%20Solution%20Design%20Template.dotx" TargetMode="External"/><Relationship Id="rId17" Type="http://schemas.openxmlformats.org/officeDocument/2006/relationships/hyperlink" Target="https://raboweb.sharepoint.com/teams/EDLOnboardingTeam/SitePages/Architecture.aspx" TargetMode="External"/><Relationship Id="rId2" Type="http://schemas.openxmlformats.org/officeDocument/2006/relationships/hyperlink" Target="https://raboweb.sharepoint.com/teams/SDARiskFinance/_layouts/15/Doc.aspx?OR=teams&amp;action=edit&amp;sourcedoc=%7bF333A115-317E-4387-9B00-FA1FF832ABA6%7d" TargetMode="External"/><Relationship Id="rId16" Type="http://schemas.openxmlformats.org/officeDocument/2006/relationships/hyperlink" Target="https://teams.microsoft.com/l/channel/19%3Aac2458ea5a434feba91281e82510b174%40thread.skype/tab%3A%3A5c9db01f-c855-4e7e-9027-627f40201b93?groupId=fa5f53e0-8101-4397-8b6a-687b2f382fa6&amp;tenantId=6e93a626-8aca-4dc1-9191-ce291b4b75a1" TargetMode="External"/><Relationship Id="rId1" Type="http://schemas.openxmlformats.org/officeDocument/2006/relationships/slideLayout" Target="../slideLayouts/slideLayout12.xml"/><Relationship Id="rId6" Type="http://schemas.openxmlformats.org/officeDocument/2006/relationships/hyperlink" Target="https://raboweb.sharepoint.com/teams/SDARiskFinance/Shared%20Documents/ModelManagement/Topics/NBridgeBatchIF/BRD" TargetMode="External"/><Relationship Id="rId11" Type="http://schemas.openxmlformats.org/officeDocument/2006/relationships/hyperlink" Target="https://raboweb.sharepoint.com/sites/organization-strategydataandarchitecture/SitePages/way_of_working_descriptions-default.aspx" TargetMode="External"/><Relationship Id="rId5" Type="http://schemas.openxmlformats.org/officeDocument/2006/relationships/hyperlink" Target="https://raboweb.sharepoint.com/:p:/r/teams/SDARiskFinance/Tribe%20Credit%20Analytics%20Architecture%20Repository/Decision%20document%20IFRS9%20migration%20to%20nBIF%20v1.0.pptx?d=w67bf226d153a49258e8f993ceaeab949&amp;csf=1&amp;web=1&amp;e=XFT2LN" TargetMode="External"/><Relationship Id="rId15" Type="http://schemas.openxmlformats.org/officeDocument/2006/relationships/hyperlink" Target="https://raboweb.sharepoint.com/sites/organization-strategydataandarchitecture/SitePages/Data-Management-Office-(DMO).aspx" TargetMode="External"/><Relationship Id="rId10" Type="http://schemas.openxmlformats.org/officeDocument/2006/relationships/hyperlink" Target="https://raboweb.sharepoint.com/sites/organization-strategydataandarchitecture/SitePages/policy_and_guidance_enterprise-architecture_ea-principles-default.aspx" TargetMode="External"/><Relationship Id="rId4" Type="http://schemas.openxmlformats.org/officeDocument/2006/relationships/hyperlink" Target="https://raboweb.sharepoint.com/:p:/r/teams/SDARiskFinance/Tribe%20Credit%20Analytics%20Architecture%20Repository/S%26I%20n-BIF%20architecture%20note%20V1.0.pptx?d=w533d660605b4485683ffb7e6ca5aecf9&amp;csf=1&amp;web=1&amp;e=YqQfvX" TargetMode="External"/><Relationship Id="rId9" Type="http://schemas.openxmlformats.org/officeDocument/2006/relationships/hyperlink" Target="http://sharepoint.rabonet.com/sites/ITOPSgovernance/GovernanceDocs/Forms/Policies.aspx" TargetMode="External"/><Relationship Id="rId14" Type="http://schemas.openxmlformats.org/officeDocument/2006/relationships/hyperlink" Target="https://raboweb.sharepoint.com/sites/organization-strategydataandarchitecture/Shared%20Documents/Enterprise%20Architecture/EA/Vijfpuntschaal%20voor%20infrastructurele%20beschikbaarheid.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bridge over water with many round structures&#10;&#10;Description automatically generated">
            <a:extLst>
              <a:ext uri="{FF2B5EF4-FFF2-40B4-BE49-F238E27FC236}">
                <a16:creationId xmlns:a16="http://schemas.microsoft.com/office/drawing/2014/main" id="{89011605-068E-4E8F-4DA9-9F0270E362C2}"/>
              </a:ext>
            </a:extLst>
          </p:cNvPr>
          <p:cNvPicPr>
            <a:picLocks noGrp="1" noChangeAspect="1"/>
          </p:cNvPicPr>
          <p:nvPr>
            <p:ph type="pic" sz="quarter" idx="14"/>
          </p:nvPr>
        </p:nvPicPr>
        <p:blipFill rotWithShape="1">
          <a:blip r:embed="rId5"/>
          <a:srcRect l="21147" r="22202"/>
          <a:stretch/>
        </p:blipFill>
        <p:spPr>
          <a:xfrm>
            <a:off x="0" y="0"/>
            <a:ext cx="9145917" cy="4056611"/>
          </a:xfrm>
        </p:spPr>
      </p:pic>
      <p:sp>
        <p:nvSpPr>
          <p:cNvPr id="5" name="Slide Number Placeholder 4">
            <a:extLst>
              <a:ext uri="{FF2B5EF4-FFF2-40B4-BE49-F238E27FC236}">
                <a16:creationId xmlns:a16="http://schemas.microsoft.com/office/drawing/2014/main" id="{9F783490-97F6-461B-AEBD-D1F812F79115}"/>
              </a:ext>
            </a:extLst>
          </p:cNvPr>
          <p:cNvSpPr>
            <a:spLocks noGrp="1"/>
          </p:cNvSpPr>
          <p:nvPr>
            <p:ph type="sldNum" sz="quarter" idx="4"/>
          </p:nvPr>
        </p:nvSpPr>
        <p:spPr>
          <a:xfrm>
            <a:off x="457200" y="5340282"/>
            <a:ext cx="371475" cy="273844"/>
          </a:xfrm>
        </p:spPr>
        <p:txBody>
          <a:bodyPr/>
          <a:lstStyle/>
          <a:p>
            <a:fld id="{555B1587-59F1-4FB5-A363-0505DAC627C3}" type="slidenum">
              <a:rPr lang="nl-NL" noProof="0" smtClean="0"/>
              <a:pPr/>
              <a:t>1</a:t>
            </a:fld>
            <a:endParaRPr lang="nl-NL" noProof="0"/>
          </a:p>
        </p:txBody>
      </p:sp>
      <p:sp>
        <p:nvSpPr>
          <p:cNvPr id="9" name="Tijdelijke aanduiding voor tekst 8">
            <a:extLst>
              <a:ext uri="{FF2B5EF4-FFF2-40B4-BE49-F238E27FC236}">
                <a16:creationId xmlns:a16="http://schemas.microsoft.com/office/drawing/2014/main" id="{EDB6BD49-162A-4A9A-B505-B2692FF31F73}"/>
              </a:ext>
            </a:extLst>
          </p:cNvPr>
          <p:cNvSpPr txBox="1">
            <a:spLocks/>
          </p:cNvSpPr>
          <p:nvPr/>
        </p:nvSpPr>
        <p:spPr>
          <a:xfrm>
            <a:off x="229372" y="4098420"/>
            <a:ext cx="6595498" cy="771235"/>
          </a:xfrm>
          <a:prstGeom prst="rect">
            <a:avLst/>
          </a:prstGeom>
        </p:spPr>
        <p:txBody>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GB" sz="1050" b="1"/>
              <a:t>Author</a:t>
            </a:r>
            <a:r>
              <a:rPr lang="en-GB" sz="1050"/>
              <a:t>:	     Prabhat Kumar</a:t>
            </a:r>
          </a:p>
          <a:p>
            <a:pPr>
              <a:lnSpc>
                <a:spcPct val="100000"/>
              </a:lnSpc>
              <a:spcBef>
                <a:spcPts val="0"/>
              </a:spcBef>
            </a:pPr>
            <a:r>
              <a:rPr lang="en-GB" sz="1050" b="1"/>
              <a:t>Version</a:t>
            </a:r>
            <a:r>
              <a:rPr lang="en-GB" sz="1050"/>
              <a:t>:	     v2.0</a:t>
            </a:r>
          </a:p>
          <a:p>
            <a:pPr>
              <a:lnSpc>
                <a:spcPct val="100000"/>
              </a:lnSpc>
              <a:spcBef>
                <a:spcPts val="0"/>
              </a:spcBef>
            </a:pPr>
            <a:r>
              <a:rPr lang="en-GB" sz="1050" b="1"/>
              <a:t>Date</a:t>
            </a:r>
            <a:r>
              <a:rPr lang="en-GB" sz="1050"/>
              <a:t>:	     2023-09-22</a:t>
            </a:r>
          </a:p>
          <a:p>
            <a:pPr>
              <a:lnSpc>
                <a:spcPct val="100000"/>
              </a:lnSpc>
              <a:spcBef>
                <a:spcPts val="0"/>
              </a:spcBef>
            </a:pPr>
            <a:r>
              <a:rPr lang="en-US" sz="1050" b="1"/>
              <a:t>Key Consultants:  </a:t>
            </a:r>
            <a:r>
              <a:rPr lang="en-US" sz="1050"/>
              <a:t>Guido </a:t>
            </a:r>
            <a:r>
              <a:rPr lang="en-US" sz="1050" err="1"/>
              <a:t>Helder</a:t>
            </a:r>
            <a:r>
              <a:rPr lang="en-US" sz="1050"/>
              <a:t>, Harry </a:t>
            </a:r>
            <a:r>
              <a:rPr lang="en-US" sz="1050" err="1"/>
              <a:t>Coopmans</a:t>
            </a:r>
            <a:r>
              <a:rPr lang="en-US" sz="1050"/>
              <a:t>,  Aaron Van Dam</a:t>
            </a:r>
            <a:endParaRPr lang="en-GB" sz="1050"/>
          </a:p>
        </p:txBody>
      </p:sp>
      <p:sp>
        <p:nvSpPr>
          <p:cNvPr id="17" name="Subtitle 16">
            <a:extLst>
              <a:ext uri="{FF2B5EF4-FFF2-40B4-BE49-F238E27FC236}">
                <a16:creationId xmlns:a16="http://schemas.microsoft.com/office/drawing/2014/main" id="{E901623B-8500-BD56-6DA9-2EBD449B9D0C}"/>
              </a:ext>
            </a:extLst>
          </p:cNvPr>
          <p:cNvSpPr>
            <a:spLocks noGrp="1"/>
          </p:cNvSpPr>
          <p:nvPr/>
        </p:nvSpPr>
        <p:spPr>
          <a:xfrm>
            <a:off x="939979" y="2579491"/>
            <a:ext cx="5884891" cy="421245"/>
          </a:xfrm>
          <a:prstGeom prst="roundRect">
            <a:avLst>
              <a:gd name="adj" fmla="val 21895"/>
            </a:avLst>
          </a:prstGeom>
          <a:gradFill flip="none" rotWithShape="0">
            <a:gsLst>
              <a:gs pos="0">
                <a:srgbClr val="FF8000"/>
              </a:gs>
              <a:gs pos="94000">
                <a:srgbClr val="FF4D00"/>
              </a:gs>
            </a:gsLst>
            <a:lin ang="1320000" scaled="0"/>
            <a:tileRect/>
          </a:gradFill>
          <a:ln w="19050" cmpd="sng">
            <a:noFill/>
          </a:ln>
          <a:effectLst/>
        </p:spPr>
        <p:txBody>
          <a:bodyPr rot="0" spcFirstLastPara="0" vert="horz" wrap="square" lIns="144000" tIns="36000" rIns="108000" bIns="54000" numCol="1" spcCol="0" rtlCol="0" fromWordArt="0" anchor="t" anchorCtr="0" forceAA="0" compatLnSpc="1">
            <a:prstTxWarp prst="textNoShape">
              <a:avLst/>
            </a:prstTxWarp>
            <a:spAutoFit/>
          </a:bodyPr>
          <a:lstStyle>
            <a:lvl1pPr marL="0" marR="0" indent="0" algn="l" defTabSz="456999" rtl="0" eaLnBrk="1" fontAlgn="auto" latinLnBrk="0" hangingPunct="1">
              <a:lnSpc>
                <a:spcPct val="100000"/>
              </a:lnSpc>
              <a:spcBef>
                <a:spcPct val="0"/>
              </a:spcBef>
              <a:spcAft>
                <a:spcPts val="0"/>
              </a:spcAft>
              <a:buClr>
                <a:schemeClr val="accent2"/>
              </a:buClr>
              <a:buSzPct val="90000"/>
              <a:buFont typeface="Lucida Grande"/>
              <a:buNone/>
              <a:tabLst/>
              <a:defRPr kumimoji="0" lang="nl-NL" sz="2000" b="1" i="1" u="none" strike="noStrike" kern="1200" cap="none" spc="0" normalizeH="0" baseline="0" noProof="0" dirty="0">
                <a:ln>
                  <a:noFill/>
                </a:ln>
                <a:solidFill>
                  <a:schemeClr val="bg1"/>
                </a:solidFill>
                <a:effectLst/>
                <a:uLnTx/>
                <a:uFillTx/>
                <a:latin typeface="+mj-lt"/>
                <a:ea typeface="+mn-ea"/>
                <a:cs typeface="+mn-cs"/>
              </a:defRPr>
            </a:lvl1pPr>
            <a:lvl2pPr marL="456999" marR="0" indent="0" algn="ctr" defTabSz="914400" rtl="0" eaLnBrk="1" fontAlgn="auto" latinLnBrk="0" hangingPunct="1">
              <a:lnSpc>
                <a:spcPct val="100000"/>
              </a:lnSpc>
              <a:spcBef>
                <a:spcPct val="20000"/>
              </a:spcBef>
              <a:spcAft>
                <a:spcPts val="0"/>
              </a:spcAft>
              <a:buClr>
                <a:schemeClr val="tx2"/>
              </a:buClr>
              <a:buSzPct val="90000"/>
              <a:buFont typeface="Lucida Grande"/>
              <a:buNone/>
              <a:tabLst/>
              <a:defRPr kumimoji="0" lang="nl-NL" sz="1800" b="0" i="0" u="none" strike="noStrike" kern="1200" cap="none" spc="0" normalizeH="0" baseline="0" noProof="0">
                <a:ln>
                  <a:noFill/>
                </a:ln>
                <a:solidFill>
                  <a:schemeClr val="tx1">
                    <a:tint val="75000"/>
                  </a:schemeClr>
                </a:solidFill>
                <a:effectLst/>
                <a:uLnTx/>
                <a:uFillTx/>
                <a:latin typeface="+mn-lt"/>
                <a:ea typeface="+mn-ea"/>
                <a:cs typeface="+mn-cs"/>
              </a:defRPr>
            </a:lvl2pPr>
            <a:lvl3pPr marL="913999" marR="0" indent="0" algn="ctr" defTabSz="914400" rtl="0" eaLnBrk="1" fontAlgn="auto" latinLnBrk="0" hangingPunct="1">
              <a:lnSpc>
                <a:spcPct val="100000"/>
              </a:lnSpc>
              <a:spcBef>
                <a:spcPct val="20000"/>
              </a:spcBef>
              <a:spcAft>
                <a:spcPts val="0"/>
              </a:spcAft>
              <a:buClr>
                <a:schemeClr val="accent2"/>
              </a:buClr>
              <a:buSzPct val="90000"/>
              <a:buFont typeface="Lucida Grande"/>
              <a:buNone/>
              <a:tabLst/>
              <a:defRPr kumimoji="0" lang="nl-NL" sz="1600" b="0" i="0" u="none" strike="noStrike" kern="1200" cap="none" spc="0" normalizeH="0" baseline="0" noProof="0">
                <a:ln>
                  <a:noFill/>
                </a:ln>
                <a:solidFill>
                  <a:schemeClr val="tx1">
                    <a:tint val="75000"/>
                  </a:schemeClr>
                </a:solidFill>
                <a:effectLst/>
                <a:uLnTx/>
                <a:uFillTx/>
                <a:latin typeface="+mn-lt"/>
                <a:ea typeface="+mn-ea"/>
                <a:cs typeface="+mn-cs"/>
              </a:defRPr>
            </a:lvl3pPr>
            <a:lvl4pPr marL="1370998" marR="0" indent="0" algn="ctr" defTabSz="914400" rtl="0" eaLnBrk="1" fontAlgn="auto" latinLnBrk="0" hangingPunct="1">
              <a:lnSpc>
                <a:spcPct val="100000"/>
              </a:lnSpc>
              <a:spcBef>
                <a:spcPct val="20000"/>
              </a:spcBef>
              <a:spcAft>
                <a:spcPts val="0"/>
              </a:spcAft>
              <a:buClr>
                <a:srgbClr val="5E6A71"/>
              </a:buClr>
              <a:buSzPct val="80000"/>
              <a:buFont typeface="Arial" pitchFamily="34" charset="0"/>
              <a:buNone/>
              <a:tabLst/>
              <a:defRPr kumimoji="0" lang="nl-NL" sz="1600" b="0" i="0" u="none" strike="noStrike" kern="1200" cap="none" spc="0" normalizeH="0" baseline="0" noProof="0">
                <a:ln>
                  <a:noFill/>
                </a:ln>
                <a:solidFill>
                  <a:schemeClr val="tx1">
                    <a:tint val="75000"/>
                  </a:schemeClr>
                </a:solidFill>
                <a:effectLst/>
                <a:uLnTx/>
                <a:uFillTx/>
                <a:latin typeface="+mn-lt"/>
                <a:ea typeface="+mn-ea"/>
                <a:cs typeface="+mn-cs"/>
              </a:defRPr>
            </a:lvl4pPr>
            <a:lvl5pPr marL="1827997" marR="0" indent="0" algn="ctr"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1">
                    <a:tint val="75000"/>
                  </a:schemeClr>
                </a:solidFill>
                <a:effectLst/>
                <a:uLnTx/>
                <a:uFillTx/>
                <a:latin typeface="+mn-lt"/>
                <a:ea typeface="+mn-ea"/>
                <a:cs typeface="+mn-cs"/>
              </a:defRPr>
            </a:lvl5pPr>
            <a:lvl6pPr marL="2284997" indent="0" algn="ctr" defTabSz="456999" rtl="0" eaLnBrk="1" latinLnBrk="0" hangingPunct="1">
              <a:lnSpc>
                <a:spcPct val="90000"/>
              </a:lnSpc>
              <a:spcBef>
                <a:spcPct val="20000"/>
              </a:spcBef>
              <a:buFont typeface="Arial"/>
              <a:buNone/>
              <a:defRPr sz="1600" kern="1200">
                <a:solidFill>
                  <a:schemeClr val="tx1">
                    <a:tint val="75000"/>
                  </a:schemeClr>
                </a:solidFill>
                <a:latin typeface="+mn-lt"/>
                <a:ea typeface="+mn-ea"/>
                <a:cs typeface="+mn-cs"/>
              </a:defRPr>
            </a:lvl6pPr>
            <a:lvl7pPr marL="2741997" indent="0" algn="ctr" defTabSz="456999" rtl="0" eaLnBrk="1" latinLnBrk="0" hangingPunct="1">
              <a:lnSpc>
                <a:spcPct val="90000"/>
              </a:lnSpc>
              <a:spcBef>
                <a:spcPct val="20000"/>
              </a:spcBef>
              <a:buFont typeface="Arial"/>
              <a:buNone/>
              <a:defRPr sz="1600" kern="1200">
                <a:solidFill>
                  <a:schemeClr val="tx1">
                    <a:tint val="75000"/>
                  </a:schemeClr>
                </a:solidFill>
                <a:latin typeface="+mn-lt"/>
                <a:ea typeface="+mn-ea"/>
                <a:cs typeface="+mn-cs"/>
              </a:defRPr>
            </a:lvl7pPr>
            <a:lvl8pPr marL="3198995" indent="0" algn="ctr" defTabSz="456999"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5995" indent="0" algn="ctr" defTabSz="456999"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1800"/>
              <a:t>Project Start Architecture</a:t>
            </a:r>
          </a:p>
        </p:txBody>
      </p:sp>
      <p:sp>
        <p:nvSpPr>
          <p:cNvPr id="18" name="Title 15">
            <a:extLst>
              <a:ext uri="{FF2B5EF4-FFF2-40B4-BE49-F238E27FC236}">
                <a16:creationId xmlns:a16="http://schemas.microsoft.com/office/drawing/2014/main" id="{5CA7AB60-8B69-4C0F-C072-143970925FA6}"/>
              </a:ext>
            </a:extLst>
          </p:cNvPr>
          <p:cNvSpPr>
            <a:spLocks noGrp="1"/>
          </p:cNvSpPr>
          <p:nvPr/>
        </p:nvSpPr>
        <p:spPr>
          <a:xfrm>
            <a:off x="0" y="1800515"/>
            <a:ext cx="6824870" cy="771235"/>
          </a:xfrm>
          <a:prstGeom prst="round1Rect">
            <a:avLst>
              <a:gd name="adj" fmla="val 11967"/>
            </a:avLst>
          </a:prstGeom>
          <a:solidFill>
            <a:schemeClr val="accent1"/>
          </a:solidFill>
          <a:ln w="19050" cmpd="sng">
            <a:solidFill>
              <a:schemeClr val="bg1"/>
            </a:solidFill>
          </a:ln>
        </p:spPr>
        <p:txBody>
          <a:bodyPr vert="horz" wrap="square" lIns="396000" tIns="126000" rIns="108000" bIns="144000" rtlCol="0" anchor="b">
            <a:spAutoFit/>
          </a:bodyPr>
          <a:lstStyle>
            <a:lvl1pPr algn="l" defTabSz="456999" rtl="0" eaLnBrk="1" latinLnBrk="0" hangingPunct="1">
              <a:lnSpc>
                <a:spcPct val="90000"/>
              </a:lnSpc>
              <a:spcBef>
                <a:spcPct val="0"/>
              </a:spcBef>
              <a:buNone/>
              <a:defRPr sz="3600" b="0" i="0" kern="1200">
                <a:solidFill>
                  <a:srgbClr val="FFFFFF"/>
                </a:solidFill>
                <a:latin typeface="+mj-lt"/>
                <a:ea typeface="+mj-ea"/>
                <a:cs typeface="Myriad Pro Light"/>
              </a:defRPr>
            </a:lvl1pPr>
          </a:lstStyle>
          <a:p>
            <a:r>
              <a:rPr lang="en-GB"/>
              <a:t>n-Bridge Information Factories</a:t>
            </a:r>
            <a:endParaRPr lang="en-US"/>
          </a:p>
        </p:txBody>
      </p:sp>
      <p:pic>
        <p:nvPicPr>
          <p:cNvPr id="4" name="Picture 3" descr="A picture containing text, clipart&#10;&#10;Description automatically generated">
            <a:extLst>
              <a:ext uri="{FF2B5EF4-FFF2-40B4-BE49-F238E27FC236}">
                <a16:creationId xmlns:a16="http://schemas.microsoft.com/office/drawing/2014/main" id="{902D148A-D80D-8487-ECDB-4C8AFFB0C982}"/>
              </a:ext>
            </a:extLst>
          </p:cNvPr>
          <p:cNvPicPr>
            <a:picLocks noChangeAspect="1"/>
          </p:cNvPicPr>
          <p:nvPr/>
        </p:nvPicPr>
        <p:blipFill>
          <a:blip r:embed="rId6"/>
          <a:stretch>
            <a:fillRect/>
          </a:stretch>
        </p:blipFill>
        <p:spPr>
          <a:xfrm>
            <a:off x="4466850" y="4064352"/>
            <a:ext cx="1848971" cy="1003501"/>
          </a:xfrm>
          <a:prstGeom prst="rect">
            <a:avLst/>
          </a:prstGeom>
        </p:spPr>
      </p:pic>
    </p:spTree>
    <p:custDataLst>
      <p:custData r:id="rId1"/>
      <p:custData r:id="rId2"/>
    </p:custDataLst>
    <p:extLst>
      <p:ext uri="{BB962C8B-B14F-4D97-AF65-F5344CB8AC3E}">
        <p14:creationId xmlns:p14="http://schemas.microsoft.com/office/powerpoint/2010/main" val="1171373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2"/>
          <p:cNvSpPr>
            <a:spLocks noGrp="1"/>
          </p:cNvSpPr>
          <p:nvPr>
            <p:ph type="title"/>
          </p:nvPr>
        </p:nvSpPr>
        <p:spPr/>
        <p:txBody>
          <a:bodyPr/>
          <a:lstStyle/>
          <a:p>
            <a:r>
              <a:rPr lang="en-GB" altLang="en-US"/>
              <a:t>Reading Guide</a:t>
            </a:r>
          </a:p>
        </p:txBody>
      </p:sp>
      <p:sp>
        <p:nvSpPr>
          <p:cNvPr id="4" name="Slide Number Placeholder 3"/>
          <p:cNvSpPr>
            <a:spLocks noGrp="1"/>
          </p:cNvSpPr>
          <p:nvPr>
            <p:ph type="sldNum" sz="quarter" idx="10"/>
          </p:nvPr>
        </p:nvSpPr>
        <p:spPr>
          <a:prstGeom prst="rect">
            <a:avLst/>
          </a:prstGeom>
        </p:spPr>
        <p:txBody>
          <a:bodyPr/>
          <a:lstStyle/>
          <a:p>
            <a:pPr algn="r">
              <a:defRPr/>
            </a:pPr>
            <a:fld id="{D014E5D6-F5D4-4FD6-9B89-CFFFB55690EF}" type="slidenum">
              <a:rPr lang="en-GB" sz="1200" smtClean="0">
                <a:solidFill>
                  <a:schemeClr val="tx1">
                    <a:lumMod val="50000"/>
                    <a:lumOff val="50000"/>
                  </a:schemeClr>
                </a:solidFill>
              </a:rPr>
              <a:pPr algn="r">
                <a:defRPr/>
              </a:pPr>
              <a:t>2</a:t>
            </a:fld>
            <a:endParaRPr lang="en-GB" sz="1200">
              <a:solidFill>
                <a:schemeClr val="tx1">
                  <a:lumMod val="50000"/>
                  <a:lumOff val="50000"/>
                </a:schemeClr>
              </a:solidFill>
            </a:endParaRPr>
          </a:p>
        </p:txBody>
      </p:sp>
      <p:sp>
        <p:nvSpPr>
          <p:cNvPr id="24578" name="Vertical Text Placeholder 1"/>
          <p:cNvSpPr>
            <a:spLocks noGrp="1"/>
          </p:cNvSpPr>
          <p:nvPr>
            <p:ph sz="quarter" idx="11"/>
          </p:nvPr>
        </p:nvSpPr>
        <p:spPr/>
        <p:txBody>
          <a:bodyPr>
            <a:normAutofit fontScale="55000" lnSpcReduction="20000"/>
          </a:bodyPr>
          <a:lstStyle/>
          <a:p>
            <a:pPr marL="342900" indent="-342900" defTabSz="957263" fontAlgn="base">
              <a:spcAft>
                <a:spcPct val="0"/>
              </a:spcAft>
              <a:buFont typeface="+mj-lt"/>
              <a:buAutoNum type="arabicPeriod"/>
            </a:pPr>
            <a:r>
              <a:rPr lang="en-GB" altLang="en-US" b="1" i="1">
                <a:solidFill>
                  <a:schemeClr val="accent2"/>
                </a:solidFill>
                <a:latin typeface="+mn-lt"/>
                <a:cs typeface="Myriad Pro Light"/>
              </a:rPr>
              <a:t>Introduction</a:t>
            </a:r>
            <a:br>
              <a:rPr lang="en-GB" altLang="en-US">
                <a:latin typeface="+mn-lt"/>
                <a:cs typeface="Myriad Pro Light"/>
              </a:rPr>
            </a:br>
            <a:r>
              <a:rPr lang="en-GB" altLang="en-US" b="0" i="0">
                <a:solidFill>
                  <a:srgbClr val="000000"/>
                </a:solidFill>
                <a:latin typeface="+mn-lt"/>
              </a:rPr>
              <a:t>In this section an introduction to the project, its goal, background and scope is given. The impacted functional domains </a:t>
            </a:r>
            <a:r>
              <a:rPr lang="en-GB" altLang="en-US" b="0" i="0">
                <a:latin typeface="+mn-lt"/>
              </a:rPr>
              <a:t>are indicated</a:t>
            </a:r>
            <a:r>
              <a:rPr lang="en-GB" altLang="en-US" b="0" i="0">
                <a:solidFill>
                  <a:srgbClr val="000000"/>
                </a:solidFill>
                <a:latin typeface="+mn-lt"/>
              </a:rPr>
              <a:t>.</a:t>
            </a:r>
          </a:p>
          <a:p>
            <a:pPr marL="342900" indent="-342900" defTabSz="957263" fontAlgn="base">
              <a:spcBef>
                <a:spcPts val="1263"/>
              </a:spcBef>
              <a:spcAft>
                <a:spcPct val="0"/>
              </a:spcAft>
              <a:buFont typeface="+mj-lt"/>
              <a:buAutoNum type="arabicPeriod"/>
            </a:pPr>
            <a:r>
              <a:rPr lang="en-GB" altLang="en-US" b="1" i="1">
                <a:solidFill>
                  <a:schemeClr val="accent2"/>
                </a:solidFill>
                <a:latin typeface="+mn-lt"/>
                <a:cs typeface="Myriad Pro Light"/>
              </a:rPr>
              <a:t>Business architecture</a:t>
            </a:r>
            <a:br>
              <a:rPr lang="en-GB" altLang="en-US">
                <a:latin typeface="+mn-lt"/>
                <a:cs typeface="Myriad Pro Light"/>
              </a:rPr>
            </a:br>
            <a:r>
              <a:rPr lang="en-GB" altLang="en-US" b="0" i="0">
                <a:latin typeface="+mn-lt"/>
              </a:rPr>
              <a:t>Describes the main business requirements </a:t>
            </a:r>
            <a:r>
              <a:rPr lang="en-GB" altLang="en-US"/>
              <a:t>and </a:t>
            </a:r>
            <a:r>
              <a:rPr lang="en-GB" altLang="en-US" b="0" i="0">
                <a:latin typeface="+mn-lt"/>
              </a:rPr>
              <a:t>explains how the supported products relate to the reference architecture.</a:t>
            </a:r>
          </a:p>
          <a:p>
            <a:pPr marL="342900" indent="-342900" defTabSz="957263" fontAlgn="base">
              <a:spcBef>
                <a:spcPts val="1263"/>
              </a:spcBef>
              <a:spcAft>
                <a:spcPct val="0"/>
              </a:spcAft>
              <a:buFont typeface="+mj-lt"/>
              <a:buAutoNum type="arabicPeriod"/>
            </a:pPr>
            <a:r>
              <a:rPr lang="en-GB" altLang="en-US" b="1" i="1">
                <a:solidFill>
                  <a:schemeClr val="accent2"/>
                </a:solidFill>
                <a:latin typeface="+mn-lt"/>
                <a:cs typeface="Myriad Pro Light"/>
              </a:rPr>
              <a:t>Process architecture</a:t>
            </a:r>
            <a:br>
              <a:rPr lang="en-GB" altLang="en-US" b="0" i="0">
                <a:solidFill>
                  <a:srgbClr val="000000"/>
                </a:solidFill>
                <a:latin typeface="+mn-lt"/>
              </a:rPr>
            </a:br>
            <a:r>
              <a:rPr lang="en-GB" altLang="en-US" b="0" i="0">
                <a:solidFill>
                  <a:srgbClr val="000000"/>
                </a:solidFill>
                <a:latin typeface="+mn-lt"/>
              </a:rPr>
              <a:t>Describes </a:t>
            </a:r>
            <a:r>
              <a:rPr lang="en-GB" altLang="en-US" b="0" i="0">
                <a:latin typeface="+mn-lt"/>
              </a:rPr>
              <a:t>the business functions and related processes.</a:t>
            </a:r>
            <a:endParaRPr lang="en-GB" altLang="en-US" b="0" i="0" strike="sngStrike">
              <a:latin typeface="+mn-lt"/>
            </a:endParaRPr>
          </a:p>
          <a:p>
            <a:pPr marL="342900" indent="-342900" defTabSz="957263" fontAlgn="base">
              <a:spcBef>
                <a:spcPts val="1263"/>
              </a:spcBef>
              <a:spcAft>
                <a:spcPct val="0"/>
              </a:spcAft>
              <a:buFont typeface="+mj-lt"/>
              <a:buAutoNum type="arabicPeriod"/>
            </a:pPr>
            <a:r>
              <a:rPr lang="en-GB" altLang="en-US" b="1" i="1">
                <a:solidFill>
                  <a:schemeClr val="accent2"/>
                </a:solidFill>
                <a:latin typeface="+mn-lt"/>
                <a:cs typeface="Myriad Pro Light"/>
              </a:rPr>
              <a:t>Information architecture</a:t>
            </a:r>
            <a:br>
              <a:rPr lang="en-GB" altLang="en-US">
                <a:latin typeface="+mn-lt"/>
                <a:cs typeface="Myriad Pro Light"/>
              </a:rPr>
            </a:br>
            <a:r>
              <a:rPr lang="en-GB" altLang="en-US" b="0" i="0">
                <a:solidFill>
                  <a:srgbClr val="000000"/>
                </a:solidFill>
              </a:rPr>
              <a:t>Describes the business object models, the information models and data aspects.</a:t>
            </a:r>
          </a:p>
          <a:p>
            <a:pPr marL="342900" indent="-342900" defTabSz="957263" fontAlgn="base">
              <a:spcBef>
                <a:spcPts val="1263"/>
              </a:spcBef>
              <a:spcAft>
                <a:spcPct val="0"/>
              </a:spcAft>
              <a:buFont typeface="+mj-lt"/>
              <a:buAutoNum type="arabicPeriod"/>
            </a:pPr>
            <a:r>
              <a:rPr lang="en-GB" altLang="en-US" b="1" i="1">
                <a:solidFill>
                  <a:schemeClr val="accent2"/>
                </a:solidFill>
                <a:cs typeface="Myriad Pro Light"/>
              </a:rPr>
              <a:t>Application architecture</a:t>
            </a:r>
            <a:br>
              <a:rPr lang="en-GB" altLang="en-US">
                <a:cs typeface="Myriad Pro Light"/>
              </a:rPr>
            </a:br>
            <a:r>
              <a:rPr lang="en-GB" altLang="en-US" b="0" i="0">
                <a:solidFill>
                  <a:srgbClr val="000000"/>
                </a:solidFill>
              </a:rPr>
              <a:t>The application architecture current state and end state are depicted, the changes between these states are described. Also design decisions are explained.</a:t>
            </a:r>
            <a:endParaRPr lang="en-GB" altLang="en-US" b="0" i="0">
              <a:solidFill>
                <a:srgbClr val="000000"/>
              </a:solidFill>
              <a:latin typeface="+mn-lt"/>
            </a:endParaRPr>
          </a:p>
        </p:txBody>
      </p:sp>
      <p:sp>
        <p:nvSpPr>
          <p:cNvPr id="3" name="Tijdelijke aanduiding voor inhoud 2"/>
          <p:cNvSpPr>
            <a:spLocks noGrp="1"/>
          </p:cNvSpPr>
          <p:nvPr>
            <p:ph sz="quarter" idx="12"/>
          </p:nvPr>
        </p:nvSpPr>
        <p:spPr/>
        <p:txBody>
          <a:bodyPr>
            <a:normAutofit fontScale="55000" lnSpcReduction="20000"/>
          </a:bodyPr>
          <a:lstStyle/>
          <a:p>
            <a:pPr marL="342900" indent="-342900">
              <a:spcBef>
                <a:spcPts val="1200"/>
              </a:spcBef>
              <a:buFont typeface="+mj-lt"/>
              <a:buAutoNum type="arabicPeriod" startAt="6"/>
            </a:pPr>
            <a:r>
              <a:rPr lang="en-GB" altLang="en-US" b="1" i="1">
                <a:solidFill>
                  <a:srgbClr val="FF6600"/>
                </a:solidFill>
                <a:ea typeface="Myriad Pro Light"/>
                <a:cs typeface="Myriad Pro Light"/>
              </a:rPr>
              <a:t>Infrastructure architecture</a:t>
            </a:r>
            <a:br>
              <a:rPr lang="en-GB" altLang="en-US" b="1" i="1">
                <a:solidFill>
                  <a:srgbClr val="FF6600"/>
                </a:solidFill>
                <a:ea typeface="Myriad Pro Light"/>
                <a:cs typeface="Myriad Pro Light"/>
              </a:rPr>
            </a:br>
            <a:r>
              <a:rPr lang="en-GB" altLang="en-US">
                <a:solidFill>
                  <a:srgbClr val="000000"/>
                </a:solidFill>
                <a:ea typeface="Myriad Pro Light"/>
                <a:cs typeface="Myriad Pro Light"/>
              </a:rPr>
              <a:t>Describes the technology choices that have been made, the infrastructure requirements and attention points. Also, the technical design decisions that already have been taken, are explained.</a:t>
            </a:r>
          </a:p>
          <a:p>
            <a:pPr marL="342900" indent="-342900">
              <a:spcBef>
                <a:spcPts val="1200"/>
              </a:spcBef>
              <a:buFont typeface="+mj-lt"/>
              <a:buAutoNum type="arabicPeriod" startAt="6"/>
            </a:pPr>
            <a:r>
              <a:rPr lang="en-GB" altLang="en-US" b="1" i="1">
                <a:solidFill>
                  <a:srgbClr val="FF6600"/>
                </a:solidFill>
                <a:ea typeface="Myriad Pro Light"/>
                <a:cs typeface="Myriad Pro Light"/>
              </a:rPr>
              <a:t>Migration</a:t>
            </a:r>
            <a:br>
              <a:rPr lang="en-GB" altLang="en-US" b="1" i="1">
                <a:solidFill>
                  <a:srgbClr val="FF6600"/>
                </a:solidFill>
                <a:ea typeface="Myriad Pro Light"/>
                <a:cs typeface="Myriad Pro Light"/>
              </a:rPr>
            </a:br>
            <a:r>
              <a:rPr lang="en-GB" altLang="en-US">
                <a:ea typeface="Myriad Pro Light"/>
              </a:rPr>
              <a:t>Describes the intermediate steps between the current and the target architecture</a:t>
            </a:r>
          </a:p>
          <a:p>
            <a:pPr marL="342900" indent="-342900">
              <a:spcBef>
                <a:spcPts val="1200"/>
              </a:spcBef>
              <a:buFont typeface="+mj-lt"/>
              <a:buAutoNum type="arabicPeriod" startAt="6"/>
            </a:pPr>
            <a:r>
              <a:rPr lang="en-GB" altLang="en-US" b="1" i="1">
                <a:solidFill>
                  <a:srgbClr val="FF6600"/>
                </a:solidFill>
                <a:ea typeface="Myriad Pro Light"/>
                <a:cs typeface="Myriad Pro Light"/>
              </a:rPr>
              <a:t>Risk</a:t>
            </a:r>
            <a:br>
              <a:rPr lang="en-GB" altLang="en-US" b="1" i="1">
                <a:solidFill>
                  <a:srgbClr val="FF6600"/>
                </a:solidFill>
                <a:ea typeface="Myriad Pro Light"/>
                <a:cs typeface="Myriad Pro Light"/>
              </a:rPr>
            </a:br>
            <a:r>
              <a:rPr lang="en-GB" altLang="en-US">
                <a:ea typeface="Myriad Pro Light"/>
                <a:cs typeface="Myriad Pro Light"/>
              </a:rPr>
              <a:t>Describes the AIC code and the security attention points of the relevant applications.</a:t>
            </a:r>
          </a:p>
          <a:p>
            <a:pPr marL="342900" indent="-342900">
              <a:spcBef>
                <a:spcPts val="1200"/>
              </a:spcBef>
              <a:buFont typeface="+mj-lt"/>
              <a:buAutoNum type="arabicPeriod" startAt="6"/>
            </a:pPr>
            <a:r>
              <a:rPr lang="en-GB" altLang="en-US" b="1" i="1">
                <a:solidFill>
                  <a:srgbClr val="FF6600"/>
                </a:solidFill>
                <a:ea typeface="Myriad Pro Light"/>
                <a:cs typeface="Myriad Pro Light"/>
              </a:rPr>
              <a:t>Impact on Operations</a:t>
            </a:r>
            <a:br>
              <a:rPr lang="en-GB" altLang="en-US" b="1" i="1">
                <a:solidFill>
                  <a:srgbClr val="FF6600"/>
                </a:solidFill>
                <a:ea typeface="Myriad Pro Light"/>
                <a:cs typeface="Myriad Pro Light"/>
              </a:rPr>
            </a:br>
            <a:r>
              <a:rPr lang="en-GB" altLang="en-US">
                <a:ea typeface="Myriad Pro Light"/>
                <a:cs typeface="Myriad Pro Light"/>
              </a:rPr>
              <a:t>Describes the impact on IT Operations.</a:t>
            </a:r>
          </a:p>
          <a:p>
            <a:pPr marL="342900" indent="-342900">
              <a:spcBef>
                <a:spcPts val="1200"/>
              </a:spcBef>
              <a:buFont typeface="+mj-lt"/>
              <a:buAutoNum type="arabicPeriod" startAt="6"/>
            </a:pPr>
            <a:r>
              <a:rPr lang="en-GB" altLang="en-US" b="1" i="1">
                <a:solidFill>
                  <a:srgbClr val="FF6600"/>
                </a:solidFill>
                <a:ea typeface="Myriad Pro Light"/>
                <a:cs typeface="Myriad Pro Light"/>
              </a:rPr>
              <a:t>Document Control  </a:t>
            </a:r>
            <a:br>
              <a:rPr lang="en-GB" altLang="en-US" b="1" i="1">
                <a:solidFill>
                  <a:srgbClr val="FF6600"/>
                </a:solidFill>
                <a:ea typeface="Myriad Pro Light"/>
                <a:cs typeface="Myriad Pro Light"/>
              </a:rPr>
            </a:br>
            <a:r>
              <a:rPr lang="en-GB" altLang="en-US">
                <a:solidFill>
                  <a:srgbClr val="000000"/>
                </a:solidFill>
                <a:ea typeface="Myriad Pro Light"/>
                <a:cs typeface="Myriad Pro Light"/>
              </a:rPr>
              <a:t>Contains information about the history of the document, the sign offs and references.</a:t>
            </a:r>
            <a:endParaRPr lang="en-GB" altLang="en-US" b="1" i="1">
              <a:solidFill>
                <a:srgbClr val="FF6600"/>
              </a:solidFill>
              <a:ea typeface="Myriad Pro Light"/>
              <a:cs typeface="Myriad Pro Light"/>
            </a:endParaRPr>
          </a:p>
          <a:p>
            <a:endParaRPr lang="nl-NL"/>
          </a:p>
        </p:txBody>
      </p:sp>
    </p:spTree>
    <p:extLst>
      <p:ext uri="{BB962C8B-B14F-4D97-AF65-F5344CB8AC3E}">
        <p14:creationId xmlns:p14="http://schemas.microsoft.com/office/powerpoint/2010/main" val="3144476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471840" y="3134527"/>
            <a:ext cx="3848309" cy="1515191"/>
          </a:xfrm>
          <a:prstGeom prst="rect">
            <a:avLst/>
          </a:prstGeom>
          <a:solidFill>
            <a:srgbClr val="DCDDDE"/>
          </a:solidFill>
          <a:ln w="12700" cap="rnd" cmpd="sng" algn="ctr">
            <a:solidFill>
              <a:srgbClr val="EAEAEA"/>
            </a:solid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E6A71"/>
              </a:solidFill>
              <a:effectLst/>
              <a:uLnTx/>
              <a:uFillTx/>
              <a:latin typeface="Corbel"/>
              <a:ea typeface="+mn-ea"/>
              <a:cs typeface="+mn-cs"/>
            </a:endParaRPr>
          </a:p>
        </p:txBody>
      </p:sp>
      <p:sp>
        <p:nvSpPr>
          <p:cNvPr id="13" name="TextBox 9"/>
          <p:cNvSpPr txBox="1"/>
          <p:nvPr/>
        </p:nvSpPr>
        <p:spPr>
          <a:xfrm>
            <a:off x="4410546" y="1160941"/>
            <a:ext cx="2608820" cy="3494729"/>
          </a:xfrm>
          <a:prstGeom prst="rect">
            <a:avLst/>
          </a:prstGeom>
          <a:noFill/>
          <a:ln w="12700" algn="ctr">
            <a:solidFill>
              <a:srgbClr val="DCDDDE"/>
            </a:solidFill>
            <a:miter lim="800000"/>
            <a:headEnd/>
            <a:tailEnd/>
          </a:ln>
        </p:spPr>
        <p:txBody>
          <a:bodyPr lIns="72000" tIns="40118" rIns="40118" bIns="40118" anchor="t"/>
          <a:lstStyle>
            <a:defPPr>
              <a:defRPr lang="en-US"/>
            </a:defPPr>
            <a:lvl1pPr marL="171450" indent="-171450" defTabSz="914100">
              <a:spcBef>
                <a:spcPts val="600"/>
              </a:spcBef>
              <a:buFont typeface="Arial" pitchFamily="34" charset="0"/>
              <a:buChar char="•"/>
              <a:defRPr sz="1200"/>
            </a:lvl1pPr>
          </a:lstStyle>
          <a:p>
            <a:pPr marL="171450" marR="0" lvl="0" indent="-171450" algn="l" defTabSz="456988" rtl="0" eaLnBrk="1" fontAlgn="auto" latinLnBrk="0" hangingPunct="1">
              <a:lnSpc>
                <a:spcPct val="100000"/>
              </a:lnSpc>
              <a:spcBef>
                <a:spcPts val="0"/>
              </a:spcBef>
              <a:spcAft>
                <a:spcPts val="0"/>
              </a:spcAft>
              <a:buClrTx/>
              <a:buSzTx/>
              <a:buFont typeface="Arial" pitchFamily="34" charset="0"/>
              <a:buChar char="•"/>
              <a:tabLst/>
              <a:defRPr/>
            </a:pPr>
            <a:r>
              <a:rPr kumimoji="0" lang="en-US"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Complexity will increase when integrating ECL, Basel IV,RAROC,  baseline stress test into the monthly credit risk calculations. </a:t>
            </a:r>
          </a:p>
          <a:p>
            <a:pPr marL="171450" marR="0" lvl="0" indent="-171450" algn="l" defTabSz="456988" rtl="0" eaLnBrk="1" fontAlgn="auto" latinLnBrk="0" hangingPunct="1">
              <a:lnSpc>
                <a:spcPct val="100000"/>
              </a:lnSpc>
              <a:spcBef>
                <a:spcPts val="0"/>
              </a:spcBef>
              <a:spcAft>
                <a:spcPts val="0"/>
              </a:spcAft>
              <a:buClrTx/>
              <a:buSzTx/>
              <a:buFont typeface="Arial" pitchFamily="34" charset="0"/>
              <a:buChar char="•"/>
              <a:tabLst/>
              <a:defRPr/>
            </a:pPr>
            <a:r>
              <a:rPr kumimoji="0" lang="en-US"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Many areas of the  affected IT Landscape are already undergoing drastic changes such as: </a:t>
            </a:r>
          </a:p>
          <a:p>
            <a:pPr marL="356870" marR="0" lvl="1" indent="-179070" algn="just" defTabSz="456999" rtl="0" eaLnBrk="1" fontAlgn="auto" latinLnBrk="0" hangingPunct="1">
              <a:lnSpc>
                <a:spcPct val="100000"/>
              </a:lnSpc>
              <a:spcBef>
                <a:spcPts val="0"/>
              </a:spcBef>
              <a:spcAft>
                <a:spcPts val="0"/>
              </a:spcAft>
              <a:buClr>
                <a:srgbClr val="FF6600"/>
              </a:buClr>
              <a:buSzTx/>
              <a:buFont typeface="Arial" panose="020B0604020202020204" pitchFamily="34" charset="0"/>
              <a:buChar char="•"/>
              <a:tabLst/>
              <a:defRPr/>
            </a:pPr>
            <a:r>
              <a:rPr kumimoji="0" lang="en-GB" sz="8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DART &amp; Stress Test is migrating to cloud and to CAS platform</a:t>
            </a:r>
            <a:endParaRPr lang="en-GB" sz="8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a:p>
            <a:pPr marL="356870" marR="0" lvl="1" indent="-179070" algn="just" defTabSz="456999" rtl="0" eaLnBrk="1" fontAlgn="auto" latinLnBrk="0" hangingPunct="1">
              <a:lnSpc>
                <a:spcPct val="100000"/>
              </a:lnSpc>
              <a:spcBef>
                <a:spcPts val="0"/>
              </a:spcBef>
              <a:spcAft>
                <a:spcPts val="0"/>
              </a:spcAft>
              <a:buClr>
                <a:srgbClr val="FF6600"/>
              </a:buClr>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A new regulatory reporting platform to perform external reporting</a:t>
            </a:r>
            <a:endParaRPr lang="en-US" sz="8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a:p>
            <a:pPr marL="356870" marR="0" lvl="1" indent="-179070" algn="just" defTabSz="456999" rtl="0" eaLnBrk="1" fontAlgn="auto" latinLnBrk="0" hangingPunct="1">
              <a:lnSpc>
                <a:spcPct val="100000"/>
              </a:lnSpc>
              <a:spcBef>
                <a:spcPts val="0"/>
              </a:spcBef>
              <a:spcAft>
                <a:spcPts val="0"/>
              </a:spcAft>
              <a:buClr>
                <a:srgbClr val="FF6600"/>
              </a:buClr>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RML (existing IRB models are being revamped) is affecting the Credit Risk IRB models</a:t>
            </a:r>
          </a:p>
          <a:p>
            <a:pPr marL="356870" lvl="1" indent="-179070" algn="just">
              <a:buClr>
                <a:srgbClr val="FF6600"/>
              </a:buClr>
              <a:buFont typeface="Arial" panose="020B0604020202020204" pitchFamily="34" charset="0"/>
              <a:buChar char="•"/>
              <a:defRPr/>
            </a:pPr>
            <a:r>
              <a:rPr kumimoji="0" lang="en-US" sz="800" b="0" i="0" u="none" strike="noStrike" kern="0" cap="none" spc="0" normalizeH="0" baseline="0" noProof="0">
                <a:ln>
                  <a:noFill/>
                </a:ln>
                <a:effectLst/>
                <a:uLnTx/>
                <a:uFillTx/>
                <a:latin typeface="Calibri" panose="020F0502020204030204" pitchFamily="34" charset="0"/>
                <a:cs typeface="Calibri" panose="020F0502020204030204" pitchFamily="34" charset="0"/>
              </a:rPr>
              <a:t>Oxygen is implementing GRFD as the replacement of</a:t>
            </a:r>
            <a:r>
              <a:rPr lang="en-US" sz="800" kern="0">
                <a:latin typeface="Calibri" panose="020F0502020204030204" pitchFamily="34" charset="0"/>
                <a:cs typeface="Calibri" panose="020F0502020204030204" pitchFamily="34" charset="0"/>
              </a:rPr>
              <a:t> </a:t>
            </a:r>
            <a:r>
              <a:rPr kumimoji="0" lang="en-US" sz="800" b="0" i="0" u="none" strike="noStrike" kern="0" cap="none" spc="0" normalizeH="0" baseline="0" noProof="0">
                <a:ln>
                  <a:noFill/>
                </a:ln>
                <a:effectLst/>
                <a:uLnTx/>
                <a:uFillTx/>
                <a:latin typeface="Calibri" panose="020F0502020204030204" pitchFamily="34" charset="0"/>
                <a:cs typeface="Calibri" panose="020F0502020204030204" pitchFamily="34" charset="0"/>
              </a:rPr>
              <a:t>multiple R&amp;F data warehouses,</a:t>
            </a:r>
            <a:endParaRPr lang="en-US" sz="800" b="0" i="0" u="none" strike="noStrike" kern="0" cap="none" spc="0" normalizeH="0" baseline="0" noProof="0">
              <a:ln>
                <a:noFill/>
              </a:ln>
              <a:effectLst/>
              <a:uLnTx/>
              <a:uFillTx/>
              <a:latin typeface="Calibri" panose="020F0502020204030204" pitchFamily="34" charset="0"/>
              <a:cs typeface="Calibri" panose="020F0502020204030204" pitchFamily="34" charset="0"/>
            </a:endParaRPr>
          </a:p>
          <a:p>
            <a:pPr marL="171450" marR="0" lvl="0" indent="-171450" algn="just" defTabSz="914100" rtl="0" eaLnBrk="1" fontAlgn="auto" latinLnBrk="0" hangingPunct="1">
              <a:lnSpc>
                <a:spcPct val="100000"/>
              </a:lnSpc>
              <a:spcBef>
                <a:spcPts val="0"/>
              </a:spcBef>
              <a:spcAft>
                <a:spcPts val="0"/>
              </a:spcAft>
              <a:buClr>
                <a:srgbClr val="FF6600"/>
              </a:buClr>
              <a:buSzTx/>
              <a:buFont typeface="Arial" pitchFamily="34" charset="0"/>
              <a:buChar char="•"/>
              <a:tabLst/>
              <a:defRPr/>
            </a:pPr>
            <a:r>
              <a:rPr kumimoji="0" lang="en-US" sz="900" b="0" i="0" u="none" strike="noStrike" kern="0" cap="none" spc="0" normalizeH="0" baseline="0" noProof="0">
                <a:ln>
                  <a:noFill/>
                </a:ln>
                <a:effectLst/>
                <a:uLnTx/>
                <a:uFillTx/>
                <a:latin typeface="Calibri" panose="020F0502020204030204" pitchFamily="34" charset="0"/>
                <a:cs typeface="Calibri" panose="020F0502020204030204" pitchFamily="34" charset="0"/>
              </a:rPr>
              <a:t>Complication/challenge is to define right solutions on this dynamic Risk &amp; Finance Architectural Landscape by balancing between tactical/legacy implementations and aiming for structural solutions, considering feasibility of implementation</a:t>
            </a:r>
            <a:endParaRPr kumimoji="0" lang="en-US" sz="9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6" name="Title 5"/>
          <p:cNvSpPr>
            <a:spLocks noGrp="1"/>
          </p:cNvSpPr>
          <p:nvPr>
            <p:ph type="title"/>
          </p:nvPr>
        </p:nvSpPr>
        <p:spPr>
          <a:xfrm>
            <a:off x="475814" y="170489"/>
            <a:ext cx="7464026" cy="667033"/>
          </a:xfrm>
        </p:spPr>
        <p:txBody>
          <a:bodyPr/>
          <a:lstStyle/>
          <a:p>
            <a:r>
              <a:rPr lang="en-US"/>
              <a:t>1.1 Introduction (1/2)</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US"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5"/>
          </p:nvPr>
        </p:nvSpPr>
        <p:spPr>
          <a:xfrm>
            <a:off x="476250" y="944588"/>
            <a:ext cx="7804150" cy="212725"/>
          </a:xfrm>
        </p:spPr>
        <p:txBody>
          <a:bodyPr/>
          <a:lstStyle/>
          <a:p>
            <a:r>
              <a:rPr lang="nl-NL">
                <a:latin typeface="Arial" panose="020B0604020202020204" pitchFamily="34" charset="0"/>
                <a:cs typeface="Arial" panose="020B0604020202020204" pitchFamily="34" charset="0"/>
              </a:rPr>
              <a:t> </a:t>
            </a:r>
          </a:p>
        </p:txBody>
      </p:sp>
      <p:sp>
        <p:nvSpPr>
          <p:cNvPr id="23" name="Tijdelijke aanduiding voor tekst 22"/>
          <p:cNvSpPr>
            <a:spLocks noGrp="1"/>
          </p:cNvSpPr>
          <p:nvPr>
            <p:ph type="body" sz="quarter" idx="13"/>
          </p:nvPr>
        </p:nvSpPr>
        <p:spPr>
          <a:xfrm>
            <a:off x="476250" y="4205685"/>
            <a:ext cx="7804150" cy="204787"/>
          </a:xfrm>
        </p:spPr>
        <p:txBody>
          <a:bodyPr/>
          <a:lstStyle/>
          <a:p>
            <a:pPr marL="0" indent="0">
              <a:buNone/>
            </a:pPr>
            <a:r>
              <a:rPr lang="nl-NL"/>
              <a:t> </a:t>
            </a:r>
          </a:p>
        </p:txBody>
      </p:sp>
      <p:sp>
        <p:nvSpPr>
          <p:cNvPr id="10" name="Rectangle 6"/>
          <p:cNvSpPr/>
          <p:nvPr/>
        </p:nvSpPr>
        <p:spPr>
          <a:xfrm>
            <a:off x="465535" y="937538"/>
            <a:ext cx="3854614" cy="217450"/>
          </a:xfrm>
          <a:prstGeom prst="rect">
            <a:avLst/>
          </a:prstGeom>
          <a:solidFill>
            <a:srgbClr val="DCDDDE"/>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Situation</a:t>
            </a:r>
          </a:p>
        </p:txBody>
      </p:sp>
      <p:sp>
        <p:nvSpPr>
          <p:cNvPr id="11" name="Rectangle 7"/>
          <p:cNvSpPr/>
          <p:nvPr/>
        </p:nvSpPr>
        <p:spPr>
          <a:xfrm>
            <a:off x="4410545" y="937538"/>
            <a:ext cx="2608821" cy="211585"/>
          </a:xfrm>
          <a:prstGeom prst="rect">
            <a:avLst/>
          </a:prstGeom>
          <a:solidFill>
            <a:srgbClr val="DCDDDE"/>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Complication</a:t>
            </a:r>
          </a:p>
        </p:txBody>
      </p:sp>
      <p:sp>
        <p:nvSpPr>
          <p:cNvPr id="12" name="TextBox 8"/>
          <p:cNvSpPr txBox="1"/>
          <p:nvPr/>
        </p:nvSpPr>
        <p:spPr>
          <a:xfrm>
            <a:off x="471840" y="1162332"/>
            <a:ext cx="3848309" cy="3487385"/>
          </a:xfrm>
          <a:prstGeom prst="rect">
            <a:avLst/>
          </a:prstGeom>
          <a:noFill/>
          <a:ln w="12700" algn="ctr">
            <a:solidFill>
              <a:srgbClr val="DCDDDE"/>
            </a:solidFill>
            <a:miter lim="800000"/>
            <a:headEnd/>
            <a:tailEnd/>
          </a:ln>
        </p:spPr>
        <p:txBody>
          <a:bodyPr lIns="72000" tIns="40118" rIns="40118" bIns="40118"/>
          <a:lstStyle>
            <a:defPPr>
              <a:defRPr lang="en-US"/>
            </a:defPPr>
            <a:lvl1pPr marL="171450" indent="-171450" defTabSz="914100">
              <a:spcBef>
                <a:spcPts val="600"/>
              </a:spcBef>
              <a:buFont typeface="Arial" pitchFamily="34" charset="0"/>
              <a:buChar char="•"/>
              <a:defRPr sz="1200"/>
            </a:lvl1pPr>
          </a:lstStyle>
          <a:p>
            <a:pPr marL="171450" marR="0" lvl="0" indent="-171450" algn="just" defTabSz="456988" rtl="0" eaLnBrk="1" fontAlgn="auto" latinLnBrk="0" hangingPunct="1">
              <a:lnSpc>
                <a:spcPct val="100000"/>
              </a:lnSpc>
              <a:spcBef>
                <a:spcPts val="0"/>
              </a:spcBef>
              <a:spcAft>
                <a:spcPts val="0"/>
              </a:spcAft>
              <a:buClrTx/>
              <a:buSzTx/>
              <a:buFont typeface="Arial"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rPr>
              <a:t>For producing regulatory and internal reports, booking of IFRS9 provisions and performing baseline stress testing, within Rabobank a series of credit model calculations needs to be performed every month. To do this, Rabobank Risk &amp; Finance needs:</a:t>
            </a:r>
          </a:p>
          <a:p>
            <a:pPr marL="456999" marR="0" lvl="1" indent="0" algn="just" defTabSz="456988"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pitchFamily="34" charset="0"/>
                <a:cs typeface="Calibri" panose="020F0502020204030204" pitchFamily="34" charset="0"/>
              </a:rPr>
              <a:t>to gather data, </a:t>
            </a:r>
          </a:p>
          <a:p>
            <a:pPr marL="456999" marR="0" lvl="1" indent="0" algn="just" defTabSz="456988"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pitchFamily="34" charset="0"/>
                <a:cs typeface="Calibri" panose="020F0502020204030204" pitchFamily="34" charset="0"/>
              </a:rPr>
              <a:t>to run model calculations, </a:t>
            </a:r>
          </a:p>
          <a:p>
            <a:pPr marL="456999" marR="0" lvl="1" indent="0" algn="just" defTabSz="456988"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pitchFamily="34" charset="0"/>
                <a:cs typeface="Calibri" panose="020F0502020204030204" pitchFamily="34" charset="0"/>
              </a:rPr>
              <a:t>to inspect and sign off data</a:t>
            </a:r>
          </a:p>
          <a:p>
            <a:pPr marL="171450" marR="0" lvl="1" indent="-171450" algn="just" defTabSz="4569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rPr>
              <a:t>The current system setup and TOMs for running IRB and ECL models are diverse and complex. </a:t>
            </a:r>
          </a:p>
          <a:p>
            <a:pPr marL="171450" marR="0" lvl="1" indent="-171450" algn="just" defTabSz="4569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rPr>
              <a:t>Running the IRB/RWA batches alone leads to complex operating models – see below snippet.</a:t>
            </a:r>
          </a:p>
          <a:p>
            <a:pPr marL="171450" marR="0" lvl="0" indent="-171450" algn="just" defTabSz="456988" rtl="0" eaLnBrk="1" fontAlgn="auto" latinLnBrk="0" hangingPunct="1">
              <a:lnSpc>
                <a:spcPct val="100000"/>
              </a:lnSpc>
              <a:spcBef>
                <a:spcPts val="0"/>
              </a:spcBef>
              <a:spcAft>
                <a:spcPts val="0"/>
              </a:spcAft>
              <a:buClrTx/>
              <a:buSzTx/>
              <a:buFont typeface="Arial"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rPr>
              <a:t>Current setup causes unapproved data to already be ingested in GRFD</a:t>
            </a:r>
          </a:p>
          <a:p>
            <a:pPr marL="171450" marR="0" lvl="0" indent="-171450" algn="just" defTabSz="456988" rtl="0" eaLnBrk="1" fontAlgn="auto" latinLnBrk="0" hangingPunct="1">
              <a:lnSpc>
                <a:spcPct val="100000"/>
              </a:lnSpc>
              <a:spcBef>
                <a:spcPts val="0"/>
              </a:spcBef>
              <a:spcAft>
                <a:spcPts val="0"/>
              </a:spcAft>
              <a:buClrTx/>
              <a:buSzTx/>
              <a:buFont typeface="Arial" pitchFamily="34" charset="0"/>
              <a:buChar char="•"/>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rPr>
              <a:t>Role of GFRD/O2 has grown beyond data warehousing to include orchestration of calculations and key controls</a:t>
            </a:r>
          </a:p>
          <a:p>
            <a:pPr marL="628449" marR="0" lvl="1" indent="-171450" algn="just" defTabSz="45698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C8009C"/>
              </a:solidFill>
              <a:effectLst/>
              <a:uLnTx/>
              <a:uFillTx/>
              <a:latin typeface="Corbel"/>
              <a:ea typeface="+mn-ea"/>
              <a:cs typeface="Arial" panose="020B0604020202020204" pitchFamily="34" charset="0"/>
            </a:endParaRPr>
          </a:p>
        </p:txBody>
      </p:sp>
      <p:sp>
        <p:nvSpPr>
          <p:cNvPr id="20"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1. Introduction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cxnSp>
        <p:nvCxnSpPr>
          <p:cNvPr id="34" name="Rechte verbindingslijn 33"/>
          <p:cNvCxnSpPr/>
          <p:nvPr/>
        </p:nvCxnSpPr>
        <p:spPr>
          <a:xfrm flipV="1">
            <a:off x="465534" y="916216"/>
            <a:ext cx="3854615" cy="6544"/>
          </a:xfrm>
          <a:prstGeom prst="line">
            <a:avLst/>
          </a:prstGeom>
          <a:ln w="28575" cap="rnd">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6" name="Rechte verbindingslijn 35"/>
          <p:cNvCxnSpPr/>
          <p:nvPr/>
        </p:nvCxnSpPr>
        <p:spPr>
          <a:xfrm>
            <a:off x="4410545" y="922760"/>
            <a:ext cx="2608821" cy="0"/>
          </a:xfrm>
          <a:prstGeom prst="line">
            <a:avLst/>
          </a:prstGeom>
          <a:ln w="28575" cap="rnd">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pic>
        <p:nvPicPr>
          <p:cNvPr id="22" name="Picture 2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42736" y="953330"/>
            <a:ext cx="180000" cy="180000"/>
          </a:xfrm>
          <a:prstGeom prst="rect">
            <a:avLst/>
          </a:prstGeom>
        </p:spPr>
      </p:pic>
      <p:pic>
        <p:nvPicPr>
          <p:cNvPr id="25" name="Picture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9782" y="953330"/>
            <a:ext cx="205181" cy="180000"/>
          </a:xfrm>
          <a:prstGeom prst="rect">
            <a:avLst/>
          </a:prstGeom>
        </p:spPr>
      </p:pic>
      <p:sp>
        <p:nvSpPr>
          <p:cNvPr id="16" name="Rectangle 15"/>
          <p:cNvSpPr/>
          <p:nvPr/>
        </p:nvSpPr>
        <p:spPr>
          <a:xfrm>
            <a:off x="855309" y="649640"/>
            <a:ext cx="2379177" cy="307777"/>
          </a:xfrm>
          <a:prstGeom prst="rect">
            <a:avLst/>
          </a:prstGeom>
        </p:spPr>
        <p:txBody>
          <a:bodyPr wrap="none">
            <a:spAutoFit/>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D6400"/>
                </a:solidFill>
                <a:effectLst/>
                <a:uLnTx/>
                <a:uFillTx/>
                <a:latin typeface="Corbel"/>
                <a:ea typeface="+mn-ea"/>
                <a:cs typeface="+mn-cs"/>
              </a:rPr>
              <a:t>Situation &amp; the complication?</a:t>
            </a:r>
            <a:endParaRPr kumimoji="0" lang="en-GB" sz="1400" b="0" i="0" u="none" strike="noStrike" kern="1200" cap="none" spc="0" normalizeH="0" baseline="0" noProof="0">
              <a:ln>
                <a:noFill/>
              </a:ln>
              <a:solidFill>
                <a:srgbClr val="FD6400"/>
              </a:solidFill>
              <a:effectLst/>
              <a:uLnTx/>
              <a:uFillTx/>
              <a:latin typeface="Corbel"/>
              <a:ea typeface="+mn-ea"/>
              <a:cs typeface="+mn-cs"/>
            </a:endParaRPr>
          </a:p>
        </p:txBody>
      </p:sp>
      <p:sp>
        <p:nvSpPr>
          <p:cNvPr id="35" name="Rectangle 10"/>
          <p:cNvSpPr/>
          <p:nvPr/>
        </p:nvSpPr>
        <p:spPr>
          <a:xfrm>
            <a:off x="7166400" y="916216"/>
            <a:ext cx="1490932" cy="211585"/>
          </a:xfrm>
          <a:prstGeom prst="rect">
            <a:avLst/>
          </a:prstGeom>
          <a:solidFill>
            <a:srgbClr val="DCDDDE"/>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Question</a:t>
            </a:r>
          </a:p>
        </p:txBody>
      </p:sp>
      <p:sp>
        <p:nvSpPr>
          <p:cNvPr id="37" name="TextBox 11"/>
          <p:cNvSpPr txBox="1"/>
          <p:nvPr/>
        </p:nvSpPr>
        <p:spPr>
          <a:xfrm>
            <a:off x="7167281" y="1122688"/>
            <a:ext cx="1492177" cy="3527030"/>
          </a:xfrm>
          <a:prstGeom prst="rect">
            <a:avLst/>
          </a:prstGeom>
          <a:noFill/>
          <a:ln w="12700" algn="ctr">
            <a:solidFill>
              <a:srgbClr val="DCDDDE"/>
            </a:solidFill>
            <a:miter lim="800000"/>
            <a:headEnd/>
            <a:tailEnd/>
          </a:ln>
        </p:spPr>
        <p:txBody>
          <a:bodyPr lIns="72000" tIns="40118" rIns="40118" bIns="40118" anchor="t"/>
          <a:lstStyle>
            <a:defPPr>
              <a:defRPr lang="en-US"/>
            </a:defPPr>
            <a:lvl1pPr marL="171450" indent="-171450" defTabSz="914100">
              <a:spcBef>
                <a:spcPts val="600"/>
              </a:spcBef>
              <a:buFont typeface="Arial" pitchFamily="34" charset="0"/>
              <a:buChar char="•"/>
              <a:defRPr sz="1200"/>
            </a:lvl1pPr>
          </a:lstStyle>
          <a:p>
            <a:pPr marL="0" marR="0" lvl="0" indent="0" algn="l" defTabSz="456988" rtl="0" eaLnBrk="1" fontAlgn="auto" latinLnBrk="0" hangingPunct="1">
              <a:lnSpc>
                <a:spcPct val="100000"/>
              </a:lnSpc>
              <a:spcBef>
                <a:spcPts val="0"/>
              </a:spcBef>
              <a:spcAft>
                <a:spcPts val="0"/>
              </a:spcAft>
              <a:buClrTx/>
              <a:buSzTx/>
              <a:buFont typeface="Arial" pitchFamily="34" charset="0"/>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rPr>
              <a:t>How to implement an integrated approach to coordinate the following in a manageable way?</a:t>
            </a:r>
          </a:p>
          <a:p>
            <a:pPr marL="177800" marR="0" lvl="0" indent="0" algn="l" defTabSz="456988" rtl="0" eaLnBrk="1" fontAlgn="auto" latinLnBrk="0" hangingPunct="1">
              <a:lnSpc>
                <a:spcPct val="100000"/>
              </a:lnSpc>
              <a:spcBef>
                <a:spcPts val="0"/>
              </a:spcBef>
              <a:spcAft>
                <a:spcPts val="0"/>
              </a:spcAft>
              <a:buClrTx/>
              <a:buSzTx/>
              <a:buFont typeface="Arial" pitchFamily="34" charset="0"/>
              <a:buNone/>
              <a:tabLst/>
              <a:defRPr/>
            </a:pPr>
            <a:r>
              <a:rPr kumimoji="0" lang="en-US" sz="900" b="0" i="0" u="none" strike="noStrike" kern="1200" cap="none" spc="0" normalizeH="0" baseline="0" noProof="0">
                <a:ln>
                  <a:noFill/>
                </a:ln>
                <a:effectLst/>
                <a:uLnTx/>
                <a:uFillTx/>
                <a:latin typeface="Calibri" panose="020F0502020204030204" pitchFamily="34" charset="0"/>
                <a:cs typeface="Calibri" panose="020F0502020204030204" pitchFamily="34" charset="0"/>
              </a:rPr>
              <a:t>running and orchestrating:</a:t>
            </a:r>
          </a:p>
          <a:p>
            <a:pPr marL="177800" indent="0" defTabSz="456988">
              <a:spcBef>
                <a:spcPts val="0"/>
              </a:spcBef>
              <a:buNone/>
              <a:defRPr/>
            </a:pPr>
            <a:r>
              <a:rPr kumimoji="0" lang="en-US" sz="900" b="0" i="0" u="none" strike="noStrike" kern="1200" cap="none" spc="0" normalizeH="0" baseline="0" noProof="0">
                <a:ln>
                  <a:noFill/>
                </a:ln>
                <a:effectLst/>
                <a:uLnTx/>
                <a:uFillTx/>
                <a:latin typeface="Calibri"/>
                <a:cs typeface="Calibri"/>
              </a:rPr>
              <a:t>1. calculations</a:t>
            </a:r>
            <a:endParaRPr lang="en-US" sz="900">
              <a:latin typeface="Calibri"/>
              <a:cs typeface="Calibri"/>
            </a:endParaRPr>
          </a:p>
          <a:p>
            <a:pPr marL="177800" indent="0" defTabSz="456988">
              <a:spcBef>
                <a:spcPts val="0"/>
              </a:spcBef>
              <a:buNone/>
              <a:defRPr/>
            </a:pPr>
            <a:r>
              <a:rPr kumimoji="0" lang="en-US" sz="900" b="0" i="0" u="none" strike="noStrike" kern="1200" cap="none" spc="0" normalizeH="0" baseline="0" noProof="0">
                <a:ln>
                  <a:noFill/>
                </a:ln>
                <a:effectLst/>
                <a:uLnTx/>
                <a:uFillTx/>
                <a:latin typeface="Calibri"/>
                <a:cs typeface="Calibri"/>
              </a:rPr>
              <a:t>2. </a:t>
            </a:r>
            <a:r>
              <a:rPr lang="en-US" sz="900">
                <a:latin typeface="Calibri"/>
                <a:cs typeface="Calibri"/>
              </a:rPr>
              <a:t>inspections</a:t>
            </a:r>
            <a:endParaRPr lang="en-US">
              <a:latin typeface="Corbel"/>
              <a:cs typeface="Calibri"/>
            </a:endParaRPr>
          </a:p>
          <a:p>
            <a:pPr marL="177800" indent="0" defTabSz="456988">
              <a:spcBef>
                <a:spcPts val="0"/>
              </a:spcBef>
              <a:buNone/>
              <a:defRPr/>
            </a:pPr>
            <a:r>
              <a:rPr lang="en-US" sz="900">
                <a:latin typeface="Calibri"/>
                <a:cs typeface="Calibri"/>
              </a:rPr>
              <a:t>3</a:t>
            </a:r>
            <a:r>
              <a:rPr kumimoji="0" lang="en-US" sz="900" b="0" i="0" u="none" strike="noStrike" kern="1200" cap="none" spc="0" normalizeH="0" baseline="0" noProof="0">
                <a:ln>
                  <a:noFill/>
                </a:ln>
                <a:effectLst/>
                <a:uLnTx/>
                <a:uFillTx/>
                <a:latin typeface="Calibri"/>
                <a:cs typeface="Calibri"/>
              </a:rPr>
              <a:t>. sign </a:t>
            </a:r>
            <a:r>
              <a:rPr lang="en-US" sz="900">
                <a:latin typeface="Calibri"/>
                <a:cs typeface="Calibri"/>
              </a:rPr>
              <a:t>offs</a:t>
            </a:r>
            <a:endParaRPr lang="en-US">
              <a:latin typeface="Corbel"/>
              <a:cs typeface="Calibri"/>
            </a:endParaRPr>
          </a:p>
          <a:p>
            <a:pPr marL="177800" indent="0" defTabSz="456988">
              <a:spcBef>
                <a:spcPts val="0"/>
              </a:spcBef>
              <a:buNone/>
              <a:defRPr/>
            </a:pPr>
            <a:r>
              <a:rPr lang="en-US" sz="900">
                <a:latin typeface="Calibri"/>
                <a:cs typeface="Calibri"/>
              </a:rPr>
              <a:t>4</a:t>
            </a:r>
            <a:r>
              <a:rPr kumimoji="0" lang="en-US" sz="900" b="0" i="0" u="none" strike="noStrike" kern="1200" cap="none" spc="0" normalizeH="0" baseline="0" noProof="0">
                <a:ln>
                  <a:noFill/>
                </a:ln>
                <a:effectLst/>
                <a:uLnTx/>
                <a:uFillTx/>
                <a:latin typeface="Calibri"/>
                <a:cs typeface="Calibri"/>
              </a:rPr>
              <a:t>. retrieval and delivery of the data</a:t>
            </a:r>
            <a:endParaRPr lang="en-US"/>
          </a:p>
          <a:p>
            <a:pPr marL="0" marR="0" lvl="0" indent="0" algn="l" defTabSz="456988" rtl="0" eaLnBrk="1" fontAlgn="auto" latinLnBrk="0" hangingPunct="1">
              <a:lnSpc>
                <a:spcPct val="100000"/>
              </a:lnSpc>
              <a:spcBef>
                <a:spcPts val="0"/>
              </a:spcBef>
              <a:spcAft>
                <a:spcPts val="0"/>
              </a:spcAft>
              <a:buClrTx/>
              <a:buSzTx/>
              <a:buFont typeface="Arial" pitchFamily="34" charset="0"/>
              <a:buNone/>
              <a:tabLst/>
              <a:defRPr/>
            </a:pPr>
            <a:r>
              <a:rPr kumimoji="0" lang="en-US" sz="900" b="0" i="0" u="none" strike="noStrike" kern="1200" cap="none" spc="0" normalizeH="0" baseline="0" noProof="0">
                <a:ln>
                  <a:noFill/>
                </a:ln>
                <a:effectLst/>
                <a:uLnTx/>
                <a:uFillTx/>
                <a:latin typeface="Calibri" panose="020F0502020204030204" pitchFamily="34" charset="0"/>
                <a:cs typeface="Calibri" panose="020F0502020204030204" pitchFamily="34" charset="0"/>
              </a:rPr>
              <a:t>With responsibilities clearly separated for all these aspects ?</a:t>
            </a:r>
          </a:p>
        </p:txBody>
      </p:sp>
      <p:cxnSp>
        <p:nvCxnSpPr>
          <p:cNvPr id="38" name="Rechte verbindingslijn 36"/>
          <p:cNvCxnSpPr/>
          <p:nvPr/>
        </p:nvCxnSpPr>
        <p:spPr>
          <a:xfrm>
            <a:off x="7163669" y="916216"/>
            <a:ext cx="1487077" cy="0"/>
          </a:xfrm>
          <a:prstGeom prst="line">
            <a:avLst/>
          </a:prstGeom>
          <a:ln w="28575" cap="rnd">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pic>
        <p:nvPicPr>
          <p:cNvPr id="39" name="Picture 38"/>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96696" y="934036"/>
            <a:ext cx="198000" cy="198000"/>
          </a:xfrm>
          <a:prstGeom prst="rect">
            <a:avLst/>
          </a:prstGeom>
        </p:spPr>
      </p:pic>
      <p:grpSp>
        <p:nvGrpSpPr>
          <p:cNvPr id="46" name="Group 45"/>
          <p:cNvGrpSpPr/>
          <p:nvPr/>
        </p:nvGrpSpPr>
        <p:grpSpPr>
          <a:xfrm>
            <a:off x="2408695" y="3259063"/>
            <a:ext cx="1708898" cy="1305247"/>
            <a:chOff x="4625246" y="3389410"/>
            <a:chExt cx="2375028" cy="1307279"/>
          </a:xfrm>
        </p:grpSpPr>
        <p:sp>
          <p:nvSpPr>
            <p:cNvPr id="47" name="Rectangle 46"/>
            <p:cNvSpPr/>
            <p:nvPr/>
          </p:nvSpPr>
          <p:spPr>
            <a:xfrm>
              <a:off x="4625246" y="3389410"/>
              <a:ext cx="2375028" cy="1307279"/>
            </a:xfrm>
            <a:prstGeom prst="rect">
              <a:avLst/>
            </a:prstGeom>
            <a:solidFill>
              <a:schemeClr val="bg1"/>
            </a:solidFill>
            <a:ln w="12700" cap="rnd" cmpd="sng" algn="ctr">
              <a:solidFill>
                <a:srgbClr val="EAEAEA"/>
              </a:solidFill>
              <a:prstDash val="solid"/>
            </a:ln>
            <a:effectLst/>
          </p:spPr>
          <p:txBody>
            <a:bodyPr rtlCol="0" anchor="t"/>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orbel"/>
                <a:ea typeface="+mn-ea"/>
                <a:cs typeface="+mn-cs"/>
              </a:endParaRPr>
            </a:p>
          </p:txBody>
        </p:sp>
        <p:pic>
          <p:nvPicPr>
            <p:cNvPr id="48" name="Afbeelding 3"/>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56396" y="3494128"/>
              <a:ext cx="2298405" cy="1108897"/>
            </a:xfrm>
            <a:prstGeom prst="rect">
              <a:avLst/>
            </a:prstGeom>
            <a:noFill/>
            <a:ln>
              <a:noFill/>
            </a:ln>
          </p:spPr>
        </p:pic>
        <p:sp>
          <p:nvSpPr>
            <p:cNvPr id="49" name="TextBox 48"/>
            <p:cNvSpPr txBox="1"/>
            <p:nvPr/>
          </p:nvSpPr>
          <p:spPr>
            <a:xfrm rot="21195432">
              <a:off x="4633550" y="3712588"/>
              <a:ext cx="1911415" cy="768557"/>
            </a:xfrm>
            <a:prstGeom prst="rect">
              <a:avLst/>
            </a:prstGeom>
            <a:noFill/>
            <a:ln w="12700">
              <a:noFill/>
            </a:ln>
          </p:spPr>
          <p:txBody>
            <a:bodyPr wrap="none" lIns="0" rIns="0" rtlCol="0" anchor="t" anchorCtr="0">
              <a:spAutoFit/>
            </a:bodyPr>
            <a:lstStyle/>
            <a:p>
              <a:pPr marL="0" marR="0" lvl="0" indent="0" algn="ctr" defTabSz="45699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5E6A71"/>
                  </a:solidFill>
                  <a:effectLst>
                    <a:glow rad="63500">
                      <a:srgbClr val="90D1E3">
                        <a:satMod val="175000"/>
                        <a:alpha val="40000"/>
                      </a:srgbClr>
                    </a:glow>
                  </a:effectLst>
                  <a:uLnTx/>
                  <a:uFillTx/>
                  <a:latin typeface="Corbel"/>
                  <a:ea typeface="+mn-ea"/>
                  <a:cs typeface="+mn-cs"/>
                </a:rPr>
                <a:t>RSME</a:t>
              </a:r>
            </a:p>
          </p:txBody>
        </p:sp>
      </p:grpSp>
      <p:grpSp>
        <p:nvGrpSpPr>
          <p:cNvPr id="50" name="Group 49"/>
          <p:cNvGrpSpPr/>
          <p:nvPr/>
        </p:nvGrpSpPr>
        <p:grpSpPr>
          <a:xfrm>
            <a:off x="617674" y="3251003"/>
            <a:ext cx="1694278" cy="1313307"/>
            <a:chOff x="1316258" y="3414784"/>
            <a:chExt cx="1914622" cy="1281905"/>
          </a:xfrm>
        </p:grpSpPr>
        <p:sp>
          <p:nvSpPr>
            <p:cNvPr id="51" name="Rectangle 50"/>
            <p:cNvSpPr/>
            <p:nvPr/>
          </p:nvSpPr>
          <p:spPr>
            <a:xfrm>
              <a:off x="1316258" y="3414784"/>
              <a:ext cx="1914622" cy="1281905"/>
            </a:xfrm>
            <a:prstGeom prst="rect">
              <a:avLst/>
            </a:prstGeom>
            <a:solidFill>
              <a:schemeClr val="bg1"/>
            </a:solidFill>
            <a:ln w="12700" cap="rnd" cmpd="sng" algn="ctr">
              <a:solidFill>
                <a:srgbClr val="EAEAEA"/>
              </a:solidFill>
              <a:prstDash val="solid"/>
            </a:ln>
            <a:effectLst/>
          </p:spPr>
          <p:txBody>
            <a:bodyPr rtlCol="0" anchor="t"/>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orbel"/>
                <a:ea typeface="+mn-ea"/>
                <a:cs typeface="+mn-cs"/>
              </a:endParaRPr>
            </a:p>
          </p:txBody>
        </p:sp>
        <p:pic>
          <p:nvPicPr>
            <p:cNvPr id="52" name="Picture 51"/>
            <p:cNvPicPr>
              <a:picLocks noChangeAspect="1"/>
            </p:cNvPicPr>
            <p:nvPr/>
          </p:nvPicPr>
          <p:blipFill>
            <a:blip r:embed="rId8"/>
            <a:stretch>
              <a:fillRect/>
            </a:stretch>
          </p:blipFill>
          <p:spPr>
            <a:xfrm>
              <a:off x="1345032" y="3494128"/>
              <a:ext cx="1857073" cy="1069815"/>
            </a:xfrm>
            <a:prstGeom prst="rect">
              <a:avLst/>
            </a:prstGeom>
          </p:spPr>
        </p:pic>
        <p:sp>
          <p:nvSpPr>
            <p:cNvPr id="53" name="TextBox 52"/>
            <p:cNvSpPr txBox="1"/>
            <p:nvPr/>
          </p:nvSpPr>
          <p:spPr>
            <a:xfrm rot="21195432">
              <a:off x="1445429" y="3761453"/>
              <a:ext cx="1581563" cy="753640"/>
            </a:xfrm>
            <a:prstGeom prst="rect">
              <a:avLst/>
            </a:prstGeom>
            <a:noFill/>
            <a:ln w="12700">
              <a:noFill/>
            </a:ln>
          </p:spPr>
          <p:txBody>
            <a:bodyPr wrap="square" lIns="0" rIns="0" rtlCol="0" anchor="t" anchorCtr="0">
              <a:spAutoFit/>
            </a:bodyPr>
            <a:lstStyle/>
            <a:p>
              <a:pPr marL="0" marR="0" lvl="0" indent="0" algn="ctr" defTabSz="456999"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5E6A71"/>
                  </a:solidFill>
                  <a:effectLst>
                    <a:glow rad="63500">
                      <a:srgbClr val="90D1E3">
                        <a:satMod val="175000"/>
                        <a:alpha val="40000"/>
                      </a:srgbClr>
                    </a:glow>
                  </a:effectLst>
                  <a:uLnTx/>
                  <a:uFillTx/>
                  <a:latin typeface="Corbel"/>
                  <a:ea typeface="+mn-ea"/>
                  <a:cs typeface="+mn-cs"/>
                </a:rPr>
                <a:t>RMM</a:t>
              </a:r>
            </a:p>
          </p:txBody>
        </p:sp>
      </p:grpSp>
    </p:spTree>
    <p:extLst>
      <p:ext uri="{BB962C8B-B14F-4D97-AF65-F5344CB8AC3E}">
        <p14:creationId xmlns:p14="http://schemas.microsoft.com/office/powerpoint/2010/main" val="2694847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1015" y="51830"/>
            <a:ext cx="8051447" cy="788164"/>
          </a:xfrm>
          <a:solidFill>
            <a:schemeClr val="bg1"/>
          </a:solidFill>
        </p:spPr>
        <p:txBody>
          <a:bodyPr/>
          <a:lstStyle/>
          <a:p>
            <a:r>
              <a:rPr lang="en-GB"/>
              <a:t>1.2 </a:t>
            </a:r>
            <a:r>
              <a:rPr lang="en-US"/>
              <a:t>Model calculation becoming more interdependent</a:t>
            </a:r>
            <a:endParaRPr lang="en-GB"/>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4"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1. Introduction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pic>
        <p:nvPicPr>
          <p:cNvPr id="20" name="Picture 19"/>
          <p:cNvPicPr>
            <a:picLocks noChangeAspect="1"/>
          </p:cNvPicPr>
          <p:nvPr/>
        </p:nvPicPr>
        <p:blipFill>
          <a:blip r:embed="rId4"/>
          <a:stretch>
            <a:fillRect/>
          </a:stretch>
        </p:blipFill>
        <p:spPr>
          <a:xfrm>
            <a:off x="4505036" y="1088546"/>
            <a:ext cx="4365098" cy="2987588"/>
          </a:xfrm>
          <a:prstGeom prst="rect">
            <a:avLst/>
          </a:prstGeom>
        </p:spPr>
      </p:pic>
      <p:pic>
        <p:nvPicPr>
          <p:cNvPr id="6" name="Picture 5"/>
          <p:cNvPicPr>
            <a:picLocks noChangeAspect="1"/>
          </p:cNvPicPr>
          <p:nvPr/>
        </p:nvPicPr>
        <p:blipFill>
          <a:blip r:embed="rId5"/>
          <a:stretch>
            <a:fillRect/>
          </a:stretch>
        </p:blipFill>
        <p:spPr>
          <a:xfrm>
            <a:off x="529983" y="2915175"/>
            <a:ext cx="3385219" cy="1646109"/>
          </a:xfrm>
          <a:prstGeom prst="rect">
            <a:avLst/>
          </a:prstGeom>
        </p:spPr>
      </p:pic>
      <p:sp>
        <p:nvSpPr>
          <p:cNvPr id="21" name="Rectangle 20"/>
          <p:cNvSpPr/>
          <p:nvPr/>
        </p:nvSpPr>
        <p:spPr>
          <a:xfrm>
            <a:off x="779109" y="554489"/>
            <a:ext cx="3844322" cy="307777"/>
          </a:xfrm>
          <a:prstGeom prst="rect">
            <a:avLst/>
          </a:prstGeom>
        </p:spPr>
        <p:txBody>
          <a:bodyPr wrap="none">
            <a:spAutoFit/>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noProof="0">
                <a:ln>
                  <a:noFill/>
                </a:ln>
                <a:solidFill>
                  <a:srgbClr val="FD6400"/>
                </a:solidFill>
                <a:effectLst/>
                <a:uLnTx/>
                <a:uFillTx/>
                <a:latin typeface="Corbel"/>
                <a:ea typeface="+mn-ea"/>
                <a:cs typeface="+mn-cs"/>
              </a:rPr>
              <a:t>new models =&gt; more complex dependency chain  </a:t>
            </a:r>
            <a:endParaRPr kumimoji="0" lang="en-GB" sz="1400" b="0" i="0" u="none" strike="noStrike" kern="1200" cap="none" spc="0" normalizeH="0" baseline="0" noProof="0">
              <a:ln>
                <a:noFill/>
              </a:ln>
              <a:solidFill>
                <a:srgbClr val="FD6400"/>
              </a:solidFill>
              <a:effectLst/>
              <a:uLnTx/>
              <a:uFillTx/>
              <a:latin typeface="Corbel"/>
              <a:ea typeface="+mn-ea"/>
              <a:cs typeface="+mn-cs"/>
            </a:endParaRPr>
          </a:p>
        </p:txBody>
      </p:sp>
      <p:grpSp>
        <p:nvGrpSpPr>
          <p:cNvPr id="8" name="Group 7"/>
          <p:cNvGrpSpPr/>
          <p:nvPr/>
        </p:nvGrpSpPr>
        <p:grpSpPr>
          <a:xfrm rot="20178651">
            <a:off x="3853378" y="2628076"/>
            <a:ext cx="567827" cy="418811"/>
            <a:chOff x="3874885" y="2314195"/>
            <a:chExt cx="891674" cy="501992"/>
          </a:xfrm>
          <a:gradFill flip="none" rotWithShape="1">
            <a:gsLst>
              <a:gs pos="0">
                <a:srgbClr val="F9A16B">
                  <a:shade val="30000"/>
                  <a:satMod val="115000"/>
                </a:srgbClr>
              </a:gs>
              <a:gs pos="50000">
                <a:srgbClr val="F9A16B">
                  <a:shade val="67500"/>
                  <a:satMod val="115000"/>
                </a:srgbClr>
              </a:gs>
              <a:gs pos="100000">
                <a:srgbClr val="F9A16B">
                  <a:shade val="100000"/>
                  <a:satMod val="115000"/>
                </a:srgbClr>
              </a:gs>
            </a:gsLst>
            <a:lin ang="0" scaled="1"/>
            <a:tileRect/>
          </a:gradFill>
        </p:grpSpPr>
        <p:sp>
          <p:nvSpPr>
            <p:cNvPr id="7" name="Chevron 6"/>
            <p:cNvSpPr/>
            <p:nvPr/>
          </p:nvSpPr>
          <p:spPr>
            <a:xfrm>
              <a:off x="3874885" y="2440319"/>
              <a:ext cx="274320" cy="249744"/>
            </a:xfrm>
            <a:prstGeom prst="chevron">
              <a:avLst/>
            </a:prstGeom>
            <a:grpFill/>
            <a:ln w="12700" cap="rnd" cmpd="sng" algn="ctr">
              <a:solidFill>
                <a:srgbClr val="EAEAEA"/>
              </a:solid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E6A71"/>
                </a:solidFill>
                <a:effectLst/>
                <a:uLnTx/>
                <a:uFillTx/>
                <a:latin typeface="Corbel"/>
                <a:ea typeface="+mn-ea"/>
                <a:cs typeface="+mn-cs"/>
              </a:endParaRPr>
            </a:p>
          </p:txBody>
        </p:sp>
        <p:sp>
          <p:nvSpPr>
            <p:cNvPr id="12" name="Chevron 11"/>
            <p:cNvSpPr/>
            <p:nvPr/>
          </p:nvSpPr>
          <p:spPr>
            <a:xfrm>
              <a:off x="4080669" y="2412407"/>
              <a:ext cx="274320" cy="305568"/>
            </a:xfrm>
            <a:prstGeom prst="chevron">
              <a:avLst/>
            </a:prstGeom>
            <a:grpFill/>
            <a:ln w="12700" cap="rnd" cmpd="sng" algn="ctr">
              <a:solidFill>
                <a:srgbClr val="EAEAEA"/>
              </a:solid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E6A71"/>
                </a:solidFill>
                <a:effectLst/>
                <a:uLnTx/>
                <a:uFillTx/>
                <a:latin typeface="Corbel"/>
                <a:ea typeface="+mn-ea"/>
                <a:cs typeface="+mn-cs"/>
              </a:endParaRPr>
            </a:p>
          </p:txBody>
        </p:sp>
        <p:sp>
          <p:nvSpPr>
            <p:cNvPr id="15" name="Chevron 14"/>
            <p:cNvSpPr/>
            <p:nvPr/>
          </p:nvSpPr>
          <p:spPr>
            <a:xfrm>
              <a:off x="4286453" y="2370485"/>
              <a:ext cx="274320" cy="389412"/>
            </a:xfrm>
            <a:prstGeom prst="chevron">
              <a:avLst/>
            </a:prstGeom>
            <a:grpFill/>
            <a:ln w="12700" cap="rnd" cmpd="sng" algn="ctr">
              <a:solidFill>
                <a:srgbClr val="EAEAEA"/>
              </a:solid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E6A71"/>
                </a:solidFill>
                <a:effectLst/>
                <a:uLnTx/>
                <a:uFillTx/>
                <a:latin typeface="Corbel"/>
                <a:ea typeface="+mn-ea"/>
                <a:cs typeface="+mn-cs"/>
              </a:endParaRPr>
            </a:p>
          </p:txBody>
        </p:sp>
        <p:sp>
          <p:nvSpPr>
            <p:cNvPr id="16" name="Chevron 15"/>
            <p:cNvSpPr/>
            <p:nvPr/>
          </p:nvSpPr>
          <p:spPr>
            <a:xfrm>
              <a:off x="4492239" y="2314195"/>
              <a:ext cx="274320" cy="501992"/>
            </a:xfrm>
            <a:prstGeom prst="chevron">
              <a:avLst/>
            </a:prstGeom>
            <a:grpFill/>
            <a:ln w="12700" cap="rnd" cmpd="sng" algn="ctr">
              <a:solidFill>
                <a:srgbClr val="EAEAEA"/>
              </a:solid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5E6A71"/>
                </a:solidFill>
                <a:effectLst/>
                <a:uLnTx/>
                <a:uFillTx/>
                <a:latin typeface="Corbel"/>
                <a:ea typeface="+mn-ea"/>
                <a:cs typeface="+mn-cs"/>
              </a:endParaRPr>
            </a:p>
          </p:txBody>
        </p:sp>
      </p:grpSp>
      <p:sp>
        <p:nvSpPr>
          <p:cNvPr id="10" name="TextBox 9">
            <a:extLst>
              <a:ext uri="{FF2B5EF4-FFF2-40B4-BE49-F238E27FC236}">
                <a16:creationId xmlns:a16="http://schemas.microsoft.com/office/drawing/2014/main" id="{F785FEE1-21D0-9F6C-065F-930A2AFEAC6B}"/>
              </a:ext>
            </a:extLst>
          </p:cNvPr>
          <p:cNvSpPr txBox="1"/>
          <p:nvPr/>
        </p:nvSpPr>
        <p:spPr>
          <a:xfrm>
            <a:off x="553602" y="1088546"/>
            <a:ext cx="3654886" cy="1492716"/>
          </a:xfrm>
          <a:prstGeom prst="rect">
            <a:avLst/>
          </a:prstGeom>
          <a:solidFill>
            <a:schemeClr val="bg2"/>
          </a:solidFill>
          <a:ln w="12700">
            <a:noFill/>
          </a:ln>
        </p:spPr>
        <p:txBody>
          <a:bodyPr wrap="square" lIns="0" rIns="0" rtlCol="0" anchor="t" anchorCtr="0">
            <a:spAutoFit/>
          </a:bodyPr>
          <a:lstStyle/>
          <a:p>
            <a:pPr marL="171450" indent="-171450">
              <a:spcBef>
                <a:spcPts val="300"/>
              </a:spcBef>
              <a:spcAft>
                <a:spcPts val="300"/>
              </a:spcAft>
              <a:buFont typeface="Arial" panose="020B0604020202020204" pitchFamily="34" charset="0"/>
              <a:buChar char="•"/>
            </a:pPr>
            <a:r>
              <a:rPr lang="en-GB" sz="900">
                <a:solidFill>
                  <a:srgbClr val="5E6A71"/>
                </a:solidFill>
                <a:latin typeface="Calibri" panose="020F0502020204030204" pitchFamily="34" charset="0"/>
                <a:cs typeface="Calibri" panose="020F0502020204030204" pitchFamily="34" charset="0"/>
              </a:rPr>
              <a:t>The dependencies between the Credit Risk Calculations is already complex (see below) and it’s only going to increase with new calculations (like SA-RWA). See right for an overview of future state dependencies.
Traditionally, the model orchestration is done by a variety of different parties, Tribe Data foundation (GRFD, LBB Bubble etc), Tribe Credit Core (CAM), Tribe Credit Analytics (DART, STIB). 
With nBIF being positioned as the IT system to do end to end n-Bridge run, The orchestration responsibility moves completely to Tribe Credit Analytics.</a:t>
            </a:r>
          </a:p>
        </p:txBody>
      </p:sp>
    </p:spTree>
    <p:extLst>
      <p:ext uri="{BB962C8B-B14F-4D97-AF65-F5344CB8AC3E}">
        <p14:creationId xmlns:p14="http://schemas.microsoft.com/office/powerpoint/2010/main" val="3549208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2"/>
          <p:cNvSpPr/>
          <p:nvPr/>
        </p:nvSpPr>
        <p:spPr>
          <a:xfrm>
            <a:off x="6473385" y="1118264"/>
            <a:ext cx="2053608" cy="189000"/>
          </a:xfrm>
          <a:prstGeom prst="rect">
            <a:avLst/>
          </a:prstGeom>
          <a:solidFill>
            <a:srgbClr val="DCDDDE"/>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orbel"/>
                <a:ea typeface="+mn-ea"/>
                <a:cs typeface="+mn-cs"/>
              </a:rPr>
              <a:t>Goals</a:t>
            </a:r>
          </a:p>
        </p:txBody>
      </p:sp>
      <p:sp>
        <p:nvSpPr>
          <p:cNvPr id="31" name="Rectangle 12"/>
          <p:cNvSpPr/>
          <p:nvPr/>
        </p:nvSpPr>
        <p:spPr>
          <a:xfrm>
            <a:off x="517572" y="1118261"/>
            <a:ext cx="5790238" cy="173898"/>
          </a:xfrm>
          <a:prstGeom prst="rect">
            <a:avLst/>
          </a:prstGeom>
          <a:solidFill>
            <a:srgbClr val="DCDDDE"/>
          </a:solidFill>
          <a:ln w="2540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orbel"/>
                <a:ea typeface="+mn-ea"/>
                <a:cs typeface="+mn-cs"/>
              </a:rPr>
              <a:t>Proposal</a:t>
            </a:r>
          </a:p>
        </p:txBody>
      </p:sp>
      <p:sp>
        <p:nvSpPr>
          <p:cNvPr id="6" name="Title 5"/>
          <p:cNvSpPr>
            <a:spLocks noGrp="1"/>
          </p:cNvSpPr>
          <p:nvPr>
            <p:ph type="title"/>
          </p:nvPr>
        </p:nvSpPr>
        <p:spPr>
          <a:xfrm>
            <a:off x="475814" y="170489"/>
            <a:ext cx="7464026" cy="614105"/>
          </a:xfrm>
        </p:spPr>
        <p:txBody>
          <a:bodyPr/>
          <a:lstStyle/>
          <a:p>
            <a:r>
              <a:rPr lang="en-US"/>
              <a:t>1.1 Introduction (2/2)</a:t>
            </a:r>
          </a:p>
        </p:txBody>
      </p:sp>
      <p:sp>
        <p:nvSpPr>
          <p:cNvPr id="5" name="Slide Number Placeholder 4"/>
          <p:cNvSpPr>
            <a:spLocks noGrp="1"/>
          </p:cNvSpPr>
          <p:nvPr>
            <p:ph type="sldNum" sz="quarter" idx="10"/>
          </p:nvPr>
        </p:nvSpPr>
        <p:spPr>
          <a:xfrm>
            <a:off x="8445392" y="4621460"/>
            <a:ext cx="642937" cy="204788"/>
          </a:xfrm>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US"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5"/>
          </p:nvPr>
        </p:nvSpPr>
        <p:spPr>
          <a:xfrm>
            <a:off x="476250" y="1236206"/>
            <a:ext cx="7804150" cy="212725"/>
          </a:xfrm>
        </p:spPr>
        <p:txBody>
          <a:bodyPr/>
          <a:lstStyle/>
          <a:p>
            <a:r>
              <a:rPr lang="nl-NL">
                <a:latin typeface="Arial" panose="020B0604020202020204" pitchFamily="34" charset="0"/>
                <a:cs typeface="Arial" panose="020B0604020202020204" pitchFamily="34" charset="0"/>
              </a:rPr>
              <a:t> </a:t>
            </a:r>
          </a:p>
        </p:txBody>
      </p:sp>
      <p:sp>
        <p:nvSpPr>
          <p:cNvPr id="18" name="TextBox 13"/>
          <p:cNvSpPr txBox="1"/>
          <p:nvPr/>
        </p:nvSpPr>
        <p:spPr>
          <a:xfrm>
            <a:off x="6470542" y="1307267"/>
            <a:ext cx="2053608" cy="1631343"/>
          </a:xfrm>
          <a:prstGeom prst="rect">
            <a:avLst/>
          </a:prstGeom>
          <a:noFill/>
          <a:ln w="12700" algn="ctr">
            <a:solidFill>
              <a:srgbClr val="DCDDDE"/>
            </a:solidFill>
            <a:miter lim="800000"/>
            <a:headEnd/>
            <a:tailEnd/>
          </a:ln>
        </p:spPr>
        <p:txBody>
          <a:bodyPr lIns="72000" tIns="40118" rIns="40118" bIns="40118"/>
          <a:lstStyle>
            <a:defPPr>
              <a:defRPr lang="en-US"/>
            </a:defPPr>
            <a:lvl1pPr marL="171450" indent="-171450" defTabSz="914100">
              <a:spcBef>
                <a:spcPts val="600"/>
              </a:spcBef>
              <a:buFont typeface="Arial" pitchFamily="34" charset="0"/>
              <a:buChar char="•"/>
              <a:defRPr sz="1200"/>
            </a:lvl1pPr>
          </a:lstStyle>
          <a:p>
            <a:pPr marL="177800" marR="0" lvl="0" indent="-177800" algn="l" defTabSz="957998" rtl="0" eaLnBrk="0" fontAlgn="base" latinLnBrk="0" hangingPunct="0">
              <a:lnSpc>
                <a:spcPct val="100000"/>
              </a:lnSpc>
              <a:spcBef>
                <a:spcPts val="0"/>
              </a:spcBef>
              <a:spcAft>
                <a:spcPts val="0"/>
              </a:spcAft>
              <a:buClrTx/>
              <a:buSzTx/>
              <a:buFont typeface="Arial" pitchFamily="34" charset="0"/>
              <a:buChar char="•"/>
              <a:tabLst/>
              <a:defRPr/>
            </a:pPr>
            <a:r>
              <a:rPr kumimoji="0" lang="en-GB"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Simplified</a:t>
            </a:r>
            <a:r>
              <a:rPr kumimoji="0" lang="en-US"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 Risk Modeling landscape.</a:t>
            </a:r>
            <a:endParaRPr kumimoji="0" lang="en-GB"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a:p>
            <a:pPr marL="177800" marR="0" lvl="0" indent="-177800" algn="l" defTabSz="957998" rtl="0" eaLnBrk="0" fontAlgn="base" latinLnBrk="0" hangingPunct="0">
              <a:lnSpc>
                <a:spcPct val="100000"/>
              </a:lnSpc>
              <a:spcBef>
                <a:spcPts val="0"/>
              </a:spcBef>
              <a:spcAft>
                <a:spcPts val="0"/>
              </a:spcAft>
              <a:buClrTx/>
              <a:buSzTx/>
              <a:buFont typeface="Arial" pitchFamily="34" charset="0"/>
              <a:buChar char="•"/>
              <a:tabLst/>
              <a:defRPr/>
            </a:pPr>
            <a:r>
              <a:rPr kumimoji="0" lang="en-GB"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Better lineage (in-turn improved BCBS 239 compliance).</a:t>
            </a:r>
          </a:p>
          <a:p>
            <a:pPr marL="177800" marR="0" lvl="0" indent="-177800" algn="l" defTabSz="957998" rtl="0" eaLnBrk="0" fontAlgn="base" latinLnBrk="0" hangingPunct="0">
              <a:lnSpc>
                <a:spcPct val="100000"/>
              </a:lnSpc>
              <a:spcBef>
                <a:spcPts val="0"/>
              </a:spcBef>
              <a:spcAft>
                <a:spcPts val="0"/>
              </a:spcAft>
              <a:buClrTx/>
              <a:buSzTx/>
              <a:buFont typeface="Arial" pitchFamily="34" charset="0"/>
              <a:buChar char="•"/>
              <a:tabLst/>
              <a:defRPr/>
            </a:pPr>
            <a:r>
              <a:rPr kumimoji="0" lang="en-GB"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rPr>
              <a:t>Shorter time-to-insight (reporting timelines).</a:t>
            </a:r>
          </a:p>
          <a:p>
            <a:pPr marL="177800" lvl="0" indent="-177800" defTabSz="957998" eaLnBrk="0" fontAlgn="base" hangingPunct="0">
              <a:spcBef>
                <a:spcPts val="0"/>
              </a:spcBef>
              <a:defRPr/>
            </a:pPr>
            <a:r>
              <a:rPr lang="en-GB" sz="900" kern="0">
                <a:solidFill>
                  <a:prstClr val="black"/>
                </a:solidFill>
                <a:latin typeface="Calibri" panose="020F0502020204030204" pitchFamily="34" charset="0"/>
                <a:cs typeface="Calibri" panose="020F0502020204030204" pitchFamily="34" charset="0"/>
              </a:rPr>
              <a:t>Improved alignment and consistency across bridges </a:t>
            </a:r>
          </a:p>
          <a:p>
            <a:pPr marL="177800" lvl="0" indent="-177800" defTabSz="957998" eaLnBrk="0" fontAlgn="base" hangingPunct="0">
              <a:spcBef>
                <a:spcPts val="0"/>
              </a:spcBef>
              <a:defRPr/>
            </a:pPr>
            <a:r>
              <a:rPr lang="en-GB" sz="900" kern="0">
                <a:solidFill>
                  <a:prstClr val="black"/>
                </a:solidFill>
                <a:latin typeface="Calibri" panose="020F0502020204030204" pitchFamily="34" charset="0"/>
                <a:cs typeface="Calibri" panose="020F0502020204030204" pitchFamily="34" charset="0"/>
              </a:rPr>
              <a:t>Allocate roles and responsibilities where they belong </a:t>
            </a:r>
            <a:endParaRPr kumimoji="0" lang="en-GB" sz="9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a:p>
            <a:pPr marL="177800" marR="0" lvl="0" indent="-177800" algn="l" defTabSz="957998" rtl="0" eaLnBrk="0" fontAlgn="base" latinLnBrk="0" hangingPunct="0">
              <a:lnSpc>
                <a:spcPct val="100000"/>
              </a:lnSpc>
              <a:spcBef>
                <a:spcPts val="0"/>
              </a:spcBef>
              <a:spcAft>
                <a:spcPts val="0"/>
              </a:spcAft>
              <a:buClrTx/>
              <a:buSzTx/>
              <a:buFont typeface="Arial" pitchFamily="34" charset="0"/>
              <a:buChar char="•"/>
              <a:tabLst/>
              <a:defRPr/>
            </a:pPr>
            <a:endParaRPr kumimoji="0" lang="en-US" sz="800" b="0"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20"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1. Introduction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cxnSp>
        <p:nvCxnSpPr>
          <p:cNvPr id="38" name="Rechte verbindingslijn 37"/>
          <p:cNvCxnSpPr/>
          <p:nvPr/>
        </p:nvCxnSpPr>
        <p:spPr>
          <a:xfrm>
            <a:off x="523812" y="1105269"/>
            <a:ext cx="5783668" cy="0"/>
          </a:xfrm>
          <a:prstGeom prst="line">
            <a:avLst/>
          </a:prstGeom>
          <a:ln w="28575" cap="rnd">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2426" y="1105269"/>
            <a:ext cx="208780" cy="216000"/>
          </a:xfrm>
          <a:prstGeom prst="rect">
            <a:avLst/>
          </a:prstGeom>
        </p:spPr>
      </p:pic>
      <mc:AlternateContent xmlns:mc="http://schemas.openxmlformats.org/markup-compatibility/2006" xmlns:a14="http://schemas.microsoft.com/office/drawing/2010/main">
        <mc:Choice Requires="a14">
          <p:sp>
            <p:nvSpPr>
              <p:cNvPr id="33" name="TextBox 13"/>
              <p:cNvSpPr txBox="1"/>
              <p:nvPr/>
            </p:nvSpPr>
            <p:spPr>
              <a:xfrm>
                <a:off x="517570" y="1307264"/>
                <a:ext cx="5790240" cy="1631346"/>
              </a:xfrm>
              <a:prstGeom prst="rect">
                <a:avLst/>
              </a:prstGeom>
              <a:noFill/>
              <a:ln w="12700" algn="ctr">
                <a:solidFill>
                  <a:srgbClr val="DCDDDE"/>
                </a:solidFill>
                <a:miter lim="800000"/>
                <a:headEnd/>
                <a:tailEnd/>
              </a:ln>
            </p:spPr>
            <p:txBody>
              <a:bodyPr lIns="72000" tIns="40118" rIns="40118" bIns="40118"/>
              <a:lstStyle>
                <a:defPPr>
                  <a:defRPr lang="en-US"/>
                </a:defPPr>
                <a:lvl1pPr marL="171450" indent="-171450" defTabSz="914100">
                  <a:spcBef>
                    <a:spcPts val="600"/>
                  </a:spcBef>
                  <a:buFont typeface="Arial" pitchFamily="34" charset="0"/>
                  <a:buChar char="•"/>
                  <a:defRPr sz="1200"/>
                </a:lvl1pPr>
              </a:lstStyle>
              <a:p>
                <a:pPr algn="just">
                  <a:spcBef>
                    <a:spcPts val="0"/>
                  </a:spcBef>
                  <a:defRPr/>
                </a:pPr>
                <a:r>
                  <a:rPr lang="en-GB" sz="900">
                    <a:solidFill>
                      <a:prstClr val="black"/>
                    </a:solidFill>
                    <a:latin typeface="Calibri" panose="020F0502020204030204" pitchFamily="34" charset="0"/>
                    <a:cs typeface="Calibri" panose="020F0502020204030204" pitchFamily="34" charset="0"/>
                  </a:rPr>
                  <a:t>The responsibility of Tribe Credit Analytics shifts from providing calculations to providing verified Risk Parameters</a:t>
                </a:r>
              </a:p>
              <a:p>
                <a:pPr algn="just">
                  <a:spcBef>
                    <a:spcPts val="0"/>
                  </a:spcBef>
                  <a:defRPr/>
                </a:pPr>
                <a:r>
                  <a:rPr lang="en-US" sz="900">
                    <a:solidFill>
                      <a:prstClr val="black"/>
                    </a:solidFill>
                    <a:latin typeface="Calibri" panose="020F0502020204030204" pitchFamily="34" charset="0"/>
                    <a:cs typeface="Calibri" panose="020F0502020204030204" pitchFamily="34" charset="0"/>
                  </a:rPr>
                  <a:t>To support this, Build an integrated solution,</a:t>
                </a:r>
                <a:r>
                  <a:rPr lang="en-US" sz="900" b="1">
                    <a:solidFill>
                      <a:prstClr val="black"/>
                    </a:solidFill>
                    <a:latin typeface="Calibri" panose="020F0502020204030204" pitchFamily="34" charset="0"/>
                    <a:cs typeface="Calibri" panose="020F0502020204030204" pitchFamily="34" charset="0"/>
                  </a:rPr>
                  <a:t> n-Bridge </a:t>
                </a:r>
                <a:r>
                  <a:rPr lang="en-US" sz="900" b="1">
                    <a:latin typeface="Calibri" panose="020F0502020204030204" pitchFamily="34" charset="0"/>
                    <a:cs typeface="Calibri" panose="020F0502020204030204" pitchFamily="34" charset="0"/>
                  </a:rPr>
                  <a:t>Batch Information Factory (‘nBIF’)</a:t>
                </a:r>
                <a:r>
                  <a:rPr lang="en-US" sz="900">
                    <a:solidFill>
                      <a:prstClr val="black"/>
                    </a:solidFill>
                    <a:latin typeface="Calibri" panose="020F0502020204030204" pitchFamily="34" charset="0"/>
                    <a:cs typeface="Calibri" panose="020F0502020204030204" pitchFamily="34" charset="0"/>
                  </a:rPr>
                  <a:t>, for Periodic calculations across all bridges including monthly runs and ad-hoc runs.</a:t>
                </a:r>
              </a:p>
              <a:p>
                <a:pPr lvl="0" algn="just">
                  <a:spcBef>
                    <a:spcPts val="0"/>
                  </a:spcBef>
                  <a:defRPr/>
                </a:pPr>
                <a14:m>
                  <m:oMath xmlns:m="http://schemas.openxmlformats.org/officeDocument/2006/math">
                    <m:r>
                      <m:rPr>
                        <m:nor/>
                      </m:rPr>
                      <a:rPr lang="en-US" sz="900" dirty="0">
                        <a:solidFill>
                          <a:prstClr val="black"/>
                        </a:solidFill>
                        <a:latin typeface="Calibri" panose="020F0502020204030204" pitchFamily="34" charset="0"/>
                        <a:cs typeface="Calibri" panose="020F0502020204030204" pitchFamily="34" charset="0"/>
                      </a:rPr>
                      <m:t>Implement</m:t>
                    </m:r>
                    <m:r>
                      <m:rPr>
                        <m:nor/>
                      </m:rPr>
                      <a:rPr lang="en-US" sz="900" dirty="0">
                        <a:solidFill>
                          <a:prstClr val="black"/>
                        </a:solidFill>
                        <a:latin typeface="Calibri" panose="020F0502020204030204" pitchFamily="34" charset="0"/>
                        <a:cs typeface="Calibri" panose="020F0502020204030204" pitchFamily="34" charset="0"/>
                      </a:rPr>
                      <m:t>/</m:t>
                    </m:r>
                    <m:r>
                      <m:rPr>
                        <m:nor/>
                      </m:rPr>
                      <a:rPr lang="en-US" sz="900" dirty="0">
                        <a:solidFill>
                          <a:prstClr val="black"/>
                        </a:solidFill>
                        <a:latin typeface="Calibri" panose="020F0502020204030204" pitchFamily="34" charset="0"/>
                        <a:cs typeface="Calibri" panose="020F0502020204030204" pitchFamily="34" charset="0"/>
                      </a:rPr>
                      <m:t>relocate</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orchestration</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function</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to</m:t>
                    </m:r>
                    <m:r>
                      <m:rPr>
                        <m:nor/>
                      </m:rPr>
                      <a:rPr lang="en-US" sz="900" dirty="0">
                        <a:solidFill>
                          <a:prstClr val="black"/>
                        </a:solidFill>
                        <a:latin typeface="Calibri" panose="020F0502020204030204" pitchFamily="34" charset="0"/>
                        <a:cs typeface="Calibri" panose="020F0502020204030204" pitchFamily="34" charset="0"/>
                      </a:rPr>
                      <m:t> </m:t>
                    </m:r>
                    <m:r>
                      <m:rPr>
                        <m:sty m:val="p"/>
                      </m:rPr>
                      <a:rPr lang="en-US" sz="900" dirty="0" smtClean="0">
                        <a:solidFill>
                          <a:prstClr val="black"/>
                        </a:solidFill>
                        <a:latin typeface="Cambria Math" panose="02040503050406030204" pitchFamily="18" charset="0"/>
                        <a:cs typeface="Calibri" panose="020F0502020204030204" pitchFamily="34" charset="0"/>
                      </a:rPr>
                      <m:t>nBIF</m:t>
                    </m:r>
                    <m:r>
                      <a:rPr lang="en-IN" sz="900" dirty="0" smtClean="0">
                        <a:solidFill>
                          <a:prstClr val="black"/>
                        </a:solidFill>
                        <a:latin typeface="Cambria Math" panose="02040503050406030204" pitchFamily="18" charset="0"/>
                        <a:cs typeface="Calibri" panose="020F0502020204030204" pitchFamily="34" charset="0"/>
                      </a:rPr>
                      <m:t> </m:t>
                    </m:r>
                    <m:r>
                      <a:rPr lang="en-IN" sz="900" dirty="0" smtClean="0">
                        <a:solidFill>
                          <a:prstClr val="black"/>
                        </a:solidFill>
                        <a:latin typeface="Cambria Math" panose="02040503050406030204" pitchFamily="18" charset="0"/>
                        <a:cs typeface="Calibri" panose="020F0502020204030204" pitchFamily="34" charset="0"/>
                      </a:rPr>
                      <m:t>𝑠𝑜𝑙𝑢𝑡𝑖𝑜𝑛</m:t>
                    </m:r>
                    <m:r>
                      <m:rPr>
                        <m:nor/>
                      </m:rPr>
                      <a:rPr lang="en-IN" sz="900" b="0" i="0" dirty="0" smtClean="0">
                        <a:solidFill>
                          <a:prstClr val="black"/>
                        </a:solidFill>
                        <a:latin typeface="Calibri" panose="020F0502020204030204" pitchFamily="34" charset="0"/>
                        <a:cs typeface="Calibri" panose="020F0502020204030204" pitchFamily="34" charset="0"/>
                      </a:rPr>
                      <m:t>. </m:t>
                    </m:r>
                    <m:r>
                      <m:rPr>
                        <m:nor/>
                      </m:rPr>
                      <a:rPr lang="en-IN" sz="900" b="0" i="0" dirty="0" smtClean="0">
                        <a:solidFill>
                          <a:prstClr val="black"/>
                        </a:solidFill>
                        <a:latin typeface="Calibri" panose="020F0502020204030204" pitchFamily="34" charset="0"/>
                        <a:cs typeface="Calibri" panose="020F0502020204030204" pitchFamily="34" charset="0"/>
                      </a:rPr>
                      <m:t>The</m:t>
                    </m:r>
                    <m:r>
                      <m:rPr>
                        <m:nor/>
                      </m:rPr>
                      <a:rPr lang="en-IN" sz="900" b="0" i="0" dirty="0" smtClean="0">
                        <a:solidFill>
                          <a:prstClr val="black"/>
                        </a:solidFill>
                        <a:latin typeface="Calibri" panose="020F0502020204030204" pitchFamily="34" charset="0"/>
                        <a:cs typeface="Calibri" panose="020F0502020204030204" pitchFamily="34" charset="0"/>
                      </a:rPr>
                      <m:t> </m:t>
                    </m:r>
                    <m:r>
                      <m:rPr>
                        <m:nor/>
                      </m:rPr>
                      <a:rPr lang="en-IN" sz="900" b="0" i="0" dirty="0" smtClean="0">
                        <a:solidFill>
                          <a:prstClr val="black"/>
                        </a:solidFill>
                        <a:latin typeface="Calibri" panose="020F0502020204030204" pitchFamily="34" charset="0"/>
                        <a:cs typeface="Calibri" panose="020F0502020204030204" pitchFamily="34" charset="0"/>
                      </a:rPr>
                      <m:t>solution</m:t>
                    </m:r>
                    <m:r>
                      <m:rPr>
                        <m:nor/>
                      </m:rPr>
                      <a:rPr lang="en-IN" sz="900" b="0" i="0" dirty="0" smtClean="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will</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be</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owned</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and</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provided</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by</m:t>
                    </m:r>
                    <m:r>
                      <m:rPr>
                        <m:nor/>
                      </m:rPr>
                      <a:rPr lang="en-US" sz="900" dirty="0">
                        <a:solidFill>
                          <a:prstClr val="black"/>
                        </a:solidFill>
                        <a:latin typeface="Calibri" panose="020F0502020204030204" pitchFamily="34" charset="0"/>
                        <a:cs typeface="Calibri" panose="020F0502020204030204" pitchFamily="34" charset="0"/>
                      </a:rPr>
                      <m:t> </m:t>
                    </m:r>
                    <m:r>
                      <m:rPr>
                        <m:nor/>
                      </m:rPr>
                      <a:rPr lang="en-IN" sz="900" dirty="0">
                        <a:solidFill>
                          <a:prstClr val="black"/>
                        </a:solidFill>
                        <a:latin typeface="Calibri" panose="020F0502020204030204" pitchFamily="34" charset="0"/>
                        <a:cs typeface="Calibri" panose="020F0502020204030204" pitchFamily="34" charset="0"/>
                      </a:rPr>
                      <m:t>Tribe</m:t>
                    </m:r>
                    <m:r>
                      <m:rPr>
                        <m:nor/>
                      </m:rPr>
                      <a:rPr lang="en-IN" sz="900" dirty="0">
                        <a:solidFill>
                          <a:prstClr val="black"/>
                        </a:solidFill>
                        <a:latin typeface="Calibri" panose="020F0502020204030204" pitchFamily="34" charset="0"/>
                        <a:cs typeface="Calibri" panose="020F0502020204030204" pitchFamily="34" charset="0"/>
                      </a:rPr>
                      <m:t> </m:t>
                    </m:r>
                    <m:r>
                      <m:rPr>
                        <m:nor/>
                      </m:rPr>
                      <a:rPr lang="en-IN" sz="900" dirty="0">
                        <a:solidFill>
                          <a:prstClr val="black"/>
                        </a:solidFill>
                        <a:latin typeface="Calibri" panose="020F0502020204030204" pitchFamily="34" charset="0"/>
                        <a:cs typeface="Calibri" panose="020F0502020204030204" pitchFamily="34" charset="0"/>
                      </a:rPr>
                      <m:t>Credit</m:t>
                    </m:r>
                    <m:r>
                      <m:rPr>
                        <m:nor/>
                      </m:rPr>
                      <a:rPr lang="en-IN" sz="900" dirty="0">
                        <a:solidFill>
                          <a:prstClr val="black"/>
                        </a:solidFill>
                        <a:latin typeface="Calibri" panose="020F0502020204030204" pitchFamily="34" charset="0"/>
                        <a:cs typeface="Calibri" panose="020F0502020204030204" pitchFamily="34" charset="0"/>
                      </a:rPr>
                      <m:t> </m:t>
                    </m:r>
                    <m:r>
                      <m:rPr>
                        <m:nor/>
                      </m:rPr>
                      <a:rPr lang="en-IN" sz="900" dirty="0">
                        <a:solidFill>
                          <a:prstClr val="black"/>
                        </a:solidFill>
                        <a:latin typeface="Calibri" panose="020F0502020204030204" pitchFamily="34" charset="0"/>
                        <a:cs typeface="Calibri" panose="020F0502020204030204" pitchFamily="34" charset="0"/>
                      </a:rPr>
                      <m:t>Analytics</m:t>
                    </m:r>
                    <m:r>
                      <m:rPr>
                        <m:nor/>
                      </m:rPr>
                      <a:rPr lang="en-GB" sz="900" dirty="0">
                        <a:solidFill>
                          <a:prstClr val="black"/>
                        </a:solidFill>
                        <a:latin typeface="Calibri" panose="020F0502020204030204" pitchFamily="34" charset="0"/>
                        <a:cs typeface="Calibri" panose="020F0502020204030204" pitchFamily="34" charset="0"/>
                      </a:rPr>
                      <m:t>. </m:t>
                    </m:r>
                    <m:r>
                      <m:rPr>
                        <m:nor/>
                      </m:rPr>
                      <a:rPr lang="en-IN" sz="900" b="0" i="0" dirty="0" smtClean="0">
                        <a:solidFill>
                          <a:prstClr val="black"/>
                        </a:solidFill>
                        <a:latin typeface="Calibri" panose="020F0502020204030204" pitchFamily="34" charset="0"/>
                        <a:cs typeface="Calibri" panose="020F0502020204030204" pitchFamily="34" charset="0"/>
                      </a:rPr>
                      <m:t>Data</m:t>
                    </m:r>
                    <m:r>
                      <m:rPr>
                        <m:nor/>
                      </m:rPr>
                      <a:rPr lang="en-IN" sz="900" b="0" i="0" dirty="0" smtClean="0">
                        <a:solidFill>
                          <a:prstClr val="black"/>
                        </a:solidFill>
                        <a:latin typeface="Calibri" panose="020F0502020204030204" pitchFamily="34" charset="0"/>
                        <a:cs typeface="Calibri" panose="020F0502020204030204" pitchFamily="34" charset="0"/>
                      </a:rPr>
                      <m:t> </m:t>
                    </m:r>
                    <m:r>
                      <m:rPr>
                        <m:nor/>
                      </m:rPr>
                      <a:rPr lang="en-IN" sz="900" b="0" i="0" dirty="0" smtClean="0">
                        <a:solidFill>
                          <a:prstClr val="black"/>
                        </a:solidFill>
                        <a:latin typeface="Calibri" panose="020F0502020204030204" pitchFamily="34" charset="0"/>
                        <a:cs typeface="Calibri" panose="020F0502020204030204" pitchFamily="34" charset="0"/>
                      </a:rPr>
                      <m:t>foundation</m:t>
                    </m:r>
                    <m:r>
                      <m:rPr>
                        <m:nor/>
                      </m:rPr>
                      <a:rPr lang="en-IN" sz="900" b="0" i="0" dirty="0" smtClean="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and</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others</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are</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stakeholders</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in</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the</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overall</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process</m:t>
                    </m:r>
                    <m:r>
                      <m:rPr>
                        <m:nor/>
                      </m:rPr>
                      <a:rPr lang="en-US" sz="900" dirty="0">
                        <a:solidFill>
                          <a:prstClr val="black"/>
                        </a:solidFill>
                        <a:latin typeface="Calibri" panose="020F0502020204030204" pitchFamily="34" charset="0"/>
                        <a:cs typeface="Calibri" panose="020F0502020204030204" pitchFamily="34" charset="0"/>
                      </a:rPr>
                      <m:t>.. </m:t>
                    </m:r>
                  </m:oMath>
                </a14:m>
                <a:endParaRPr lang="en-US" sz="900">
                  <a:solidFill>
                    <a:prstClr val="black"/>
                  </a:solidFill>
                  <a:latin typeface="Calibri" panose="020F0502020204030204" pitchFamily="34" charset="0"/>
                  <a:cs typeface="Calibri" panose="020F0502020204030204" pitchFamily="34" charset="0"/>
                </a:endParaRPr>
              </a:p>
              <a:p>
                <a:pPr lvl="0" algn="just">
                  <a:spcBef>
                    <a:spcPts val="0"/>
                  </a:spcBef>
                  <a:defRPr/>
                </a:pPr>
                <a14:m>
                  <m:oMath xmlns:m="http://schemas.openxmlformats.org/officeDocument/2006/math">
                    <m:r>
                      <m:rPr>
                        <m:nor/>
                      </m:rPr>
                      <a:rPr lang="en-GB" sz="900" dirty="0">
                        <a:solidFill>
                          <a:prstClr val="black"/>
                        </a:solidFill>
                        <a:latin typeface="Calibri" panose="020F0502020204030204" pitchFamily="34" charset="0"/>
                        <a:cs typeface="Calibri" panose="020F0502020204030204" pitchFamily="34" charset="0"/>
                      </a:rPr>
                      <m:t>Retrieve</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and</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hold</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inputs</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from</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defined</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archive</m:t>
                    </m:r>
                    <m:r>
                      <m:rPr>
                        <m:nor/>
                      </m:rPr>
                      <a:rPr lang="en-GB" sz="900" dirty="0">
                        <a:solidFill>
                          <a:prstClr val="black"/>
                        </a:solidFill>
                        <a:latin typeface="Calibri" panose="020F0502020204030204" pitchFamily="34" charset="0"/>
                        <a:cs typeface="Calibri" panose="020F0502020204030204" pitchFamily="34" charset="0"/>
                      </a:rPr>
                      <m:t>(</m:t>
                    </m:r>
                    <m:r>
                      <m:rPr>
                        <m:nor/>
                      </m:rPr>
                      <a:rPr lang="en-GB" sz="900" dirty="0">
                        <a:solidFill>
                          <a:prstClr val="black"/>
                        </a:solidFill>
                        <a:latin typeface="Calibri" panose="020F0502020204030204" pitchFamily="34" charset="0"/>
                        <a:cs typeface="Calibri" panose="020F0502020204030204" pitchFamily="34" charset="0"/>
                      </a:rPr>
                      <m:t>s</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to</m:t>
                    </m:r>
                    <m:r>
                      <m:rPr>
                        <m:nor/>
                      </m:rPr>
                      <a:rPr lang="en-GB" sz="900" dirty="0">
                        <a:solidFill>
                          <a:prstClr val="black"/>
                        </a:solidFill>
                        <a:latin typeface="Calibri" panose="020F0502020204030204" pitchFamily="34" charset="0"/>
                        <a:cs typeface="Calibri" panose="020F0502020204030204" pitchFamily="34" charset="0"/>
                      </a:rPr>
                      <m:t> </m:t>
                    </m:r>
                    <m:r>
                      <m:rPr>
                        <m:sty m:val="p"/>
                      </m:rPr>
                      <a:rPr lang="en-GB" sz="900" dirty="0" smtClean="0">
                        <a:solidFill>
                          <a:prstClr val="black"/>
                        </a:solidFill>
                        <a:latin typeface="Cambria Math" panose="02040503050406030204" pitchFamily="18" charset="0"/>
                        <a:cs typeface="Calibri" panose="020F0502020204030204" pitchFamily="34" charset="0"/>
                      </a:rPr>
                      <m:t>nBIF</m:t>
                    </m:r>
                    <m:r>
                      <a:rPr lang="en-GB" sz="900" dirty="0">
                        <a:solidFill>
                          <a:prstClr val="black"/>
                        </a:solidFill>
                        <a:latin typeface="Cambria Math" panose="02040503050406030204" pitchFamily="18" charset="0"/>
                        <a:cs typeface="Calibri" panose="020F0502020204030204" pitchFamily="34" charset="0"/>
                      </a:rPr>
                      <m:t> </m:t>
                    </m:r>
                    <m:r>
                      <m:rPr>
                        <m:sty m:val="p"/>
                      </m:rPr>
                      <a:rPr lang="en-GB" sz="900" dirty="0">
                        <a:solidFill>
                          <a:prstClr val="black"/>
                        </a:solidFill>
                        <a:latin typeface="Cambria Math" panose="02040503050406030204" pitchFamily="18" charset="0"/>
                        <a:cs typeface="Calibri" panose="020F0502020204030204" pitchFamily="34" charset="0"/>
                      </a:rPr>
                      <m:t>during</m:t>
                    </m:r>
                    <m:r>
                      <a:rPr lang="en-GB" sz="900" dirty="0">
                        <a:solidFill>
                          <a:prstClr val="black"/>
                        </a:solidFill>
                        <a:latin typeface="Cambria Math" panose="02040503050406030204" pitchFamily="18" charset="0"/>
                        <a:cs typeface="Calibri" panose="020F0502020204030204" pitchFamily="34" charset="0"/>
                      </a:rPr>
                      <m:t> </m:t>
                    </m:r>
                    <m:r>
                      <m:rPr>
                        <m:sty m:val="p"/>
                      </m:rPr>
                      <a:rPr lang="en-GB" sz="900" dirty="0">
                        <a:solidFill>
                          <a:prstClr val="black"/>
                        </a:solidFill>
                        <a:latin typeface="Cambria Math" panose="02040503050406030204" pitchFamily="18" charset="0"/>
                        <a:cs typeface="Calibri" panose="020F0502020204030204" pitchFamily="34" charset="0"/>
                      </a:rPr>
                      <m:t>the</m:t>
                    </m:r>
                    <m:r>
                      <a:rPr lang="en-GB" sz="900" dirty="0">
                        <a:solidFill>
                          <a:prstClr val="black"/>
                        </a:solidFill>
                        <a:latin typeface="Cambria Math" panose="02040503050406030204" pitchFamily="18" charset="0"/>
                        <a:cs typeface="Calibri" panose="020F0502020204030204" pitchFamily="34" charset="0"/>
                      </a:rPr>
                      <m:t> </m:t>
                    </m:r>
                    <m:r>
                      <m:rPr>
                        <m:sty m:val="p"/>
                      </m:rPr>
                      <a:rPr lang="en-GB" sz="900" dirty="0">
                        <a:solidFill>
                          <a:prstClr val="black"/>
                        </a:solidFill>
                        <a:latin typeface="Cambria Math" panose="02040503050406030204" pitchFamily="18" charset="0"/>
                        <a:cs typeface="Calibri" panose="020F0502020204030204" pitchFamily="34" charset="0"/>
                      </a:rPr>
                      <m:t>orchestration</m:t>
                    </m:r>
                    <m:r>
                      <a:rPr lang="en-GB" sz="900" dirty="0">
                        <a:solidFill>
                          <a:prstClr val="black"/>
                        </a:solidFill>
                        <a:latin typeface="Cambria Math" panose="02040503050406030204" pitchFamily="18" charset="0"/>
                        <a:cs typeface="Calibri" panose="020F0502020204030204" pitchFamily="34" charset="0"/>
                      </a:rPr>
                      <m:t> </m:t>
                    </m:r>
                    <m:r>
                      <m:rPr>
                        <m:sty m:val="p"/>
                      </m:rPr>
                      <a:rPr lang="en-GB" sz="900" dirty="0">
                        <a:solidFill>
                          <a:prstClr val="black"/>
                        </a:solidFill>
                        <a:latin typeface="Cambria Math" panose="02040503050406030204" pitchFamily="18" charset="0"/>
                        <a:cs typeface="Calibri" panose="020F0502020204030204" pitchFamily="34" charset="0"/>
                      </a:rPr>
                      <m:t>process</m:t>
                    </m:r>
                  </m:oMath>
                </a14:m>
                <a:endParaRPr lang="en-GB" sz="900">
                  <a:solidFill>
                    <a:prstClr val="black"/>
                  </a:solidFill>
                  <a:latin typeface="Calibri" panose="020F0502020204030204" pitchFamily="34" charset="0"/>
                  <a:cs typeface="Calibri" panose="020F0502020204030204" pitchFamily="34" charset="0"/>
                </a:endParaRPr>
              </a:p>
              <a:p>
                <a:pPr lvl="0" algn="just">
                  <a:spcBef>
                    <a:spcPts val="0"/>
                  </a:spcBef>
                  <a:defRPr/>
                </a:pPr>
                <a:r>
                  <a:rPr lang="en-GB" sz="900">
                    <a:solidFill>
                      <a:prstClr val="black"/>
                    </a:solidFill>
                    <a:latin typeface="Calibri" panose="020F0502020204030204" pitchFamily="34" charset="0"/>
                    <a:cs typeface="Calibri" panose="020F0502020204030204" pitchFamily="34" charset="0"/>
                  </a:rPr>
                  <a:t>Initiate several parallel as well as subsequent calculations (using CAS), delivering the right subset of data to each calculator.</a:t>
                </a:r>
              </a:p>
              <a:p>
                <a:pPr lvl="0" algn="just">
                  <a:spcBef>
                    <a:spcPts val="0"/>
                  </a:spcBef>
                  <a:defRPr/>
                </a:pPr>
                <a14:m>
                  <m:oMath xmlns:m="http://schemas.openxmlformats.org/officeDocument/2006/math">
                    <m:r>
                      <m:rPr>
                        <m:nor/>
                      </m:rPr>
                      <a:rPr lang="en-US" sz="900" dirty="0">
                        <a:solidFill>
                          <a:prstClr val="black"/>
                        </a:solidFill>
                        <a:latin typeface="Calibri" panose="020F0502020204030204" pitchFamily="34" charset="0"/>
                        <a:cs typeface="Calibri" panose="020F0502020204030204" pitchFamily="34" charset="0"/>
                      </a:rPr>
                      <m:t>Provide</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users</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capability</m:t>
                    </m:r>
                    <m:r>
                      <m:rPr>
                        <m:nor/>
                      </m:rPr>
                      <a:rPr lang="en-US" sz="900" dirty="0">
                        <a:solidFill>
                          <a:prstClr val="black"/>
                        </a:solidFill>
                        <a:latin typeface="Calibri" panose="020F0502020204030204" pitchFamily="34" charset="0"/>
                        <a:cs typeface="Calibri" panose="020F0502020204030204" pitchFamily="34" charset="0"/>
                      </a:rPr>
                      <m:t> </m:t>
                    </m:r>
                    <m:r>
                      <m:rPr>
                        <m:nor/>
                      </m:rPr>
                      <a:rPr lang="en-US" sz="900" dirty="0">
                        <a:solidFill>
                          <a:prstClr val="black"/>
                        </a:solidFill>
                        <a:latin typeface="Calibri" panose="020F0502020204030204" pitchFamily="34" charset="0"/>
                        <a:cs typeface="Calibri" panose="020F0502020204030204" pitchFamily="34" charset="0"/>
                      </a:rPr>
                      <m:t>to</m:t>
                    </m:r>
                    <m:r>
                      <m:rPr>
                        <m:nor/>
                      </m:rPr>
                      <a:rPr lang="en-US"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inspect</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and</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approve</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calculation</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results</m:t>
                    </m:r>
                    <m:r>
                      <m:rPr>
                        <m:nor/>
                      </m:rPr>
                      <a:rPr lang="en-GB" sz="900" dirty="0">
                        <a:solidFill>
                          <a:prstClr val="black"/>
                        </a:solidFill>
                        <a:latin typeface="Calibri" panose="020F0502020204030204" pitchFamily="34" charset="0"/>
                        <a:cs typeface="Calibri" panose="020F0502020204030204" pitchFamily="34" charset="0"/>
                      </a:rPr>
                      <m:t>.</m:t>
                    </m:r>
                  </m:oMath>
                </a14:m>
                <a:endParaRPr lang="en-GB" sz="900">
                  <a:solidFill>
                    <a:prstClr val="black"/>
                  </a:solidFill>
                  <a:latin typeface="Calibri" panose="020F0502020204030204" pitchFamily="34" charset="0"/>
                  <a:cs typeface="Calibri" panose="020F0502020204030204" pitchFamily="34" charset="0"/>
                </a:endParaRPr>
              </a:p>
              <a:p>
                <a:pPr lvl="0" algn="just">
                  <a:spcBef>
                    <a:spcPts val="0"/>
                  </a:spcBef>
                  <a:defRPr/>
                </a:pPr>
                <a14:m>
                  <m:oMath xmlns:m="http://schemas.openxmlformats.org/officeDocument/2006/math">
                    <m:r>
                      <m:rPr>
                        <m:nor/>
                      </m:rPr>
                      <a:rPr lang="en-GB" sz="900" dirty="0">
                        <a:solidFill>
                          <a:prstClr val="black"/>
                        </a:solidFill>
                        <a:latin typeface="Calibri" panose="020F0502020204030204" pitchFamily="34" charset="0"/>
                        <a:cs typeface="Calibri" panose="020F0502020204030204" pitchFamily="34" charset="0"/>
                      </a:rPr>
                      <m:t>Provide</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results</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back</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into</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GRFD</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and</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to</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CRPR</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wherever</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needed</m:t>
                    </m:r>
                    <m:r>
                      <m:rPr>
                        <m:nor/>
                      </m:rPr>
                      <a:rPr lang="en-GB" sz="900" dirty="0">
                        <a:solidFill>
                          <a:prstClr val="black"/>
                        </a:solidFill>
                        <a:latin typeface="Calibri" panose="020F0502020204030204" pitchFamily="34" charset="0"/>
                        <a:cs typeface="Calibri" panose="020F0502020204030204" pitchFamily="34" charset="0"/>
                      </a:rPr>
                      <m:t>).</m:t>
                    </m:r>
                  </m:oMath>
                </a14:m>
                <a:endParaRPr lang="en-GB" sz="900">
                  <a:solidFill>
                    <a:prstClr val="black"/>
                  </a:solidFill>
                  <a:latin typeface="Calibri" panose="020F0502020204030204" pitchFamily="34" charset="0"/>
                  <a:cs typeface="Calibri" panose="020F0502020204030204" pitchFamily="34" charset="0"/>
                </a:endParaRPr>
              </a:p>
              <a:p>
                <a:pPr lvl="0" algn="just">
                  <a:spcBef>
                    <a:spcPts val="0"/>
                  </a:spcBef>
                  <a:defRPr/>
                </a:pPr>
                <a:r>
                  <a:rPr lang="en-GB" sz="900">
                    <a:solidFill>
                      <a:prstClr val="black"/>
                    </a:solidFill>
                    <a:latin typeface="Calibri" panose="020F0502020204030204" pitchFamily="34" charset="0"/>
                    <a:cs typeface="Calibri" panose="020F0502020204030204" pitchFamily="34" charset="0"/>
                  </a:rPr>
                  <a:t>Clean-up processing data once </a:t>
                </a:r>
                <a14:m>
                  <m:oMath xmlns:m="http://schemas.openxmlformats.org/officeDocument/2006/math">
                    <m:r>
                      <m:rPr>
                        <m:nor/>
                      </m:rPr>
                      <a:rPr lang="en-GB" sz="900" dirty="0">
                        <a:solidFill>
                          <a:prstClr val="black"/>
                        </a:solidFill>
                        <a:latin typeface="Calibri" panose="020F0502020204030204" pitchFamily="34" charset="0"/>
                        <a:cs typeface="Calibri" panose="020F0502020204030204" pitchFamily="34" charset="0"/>
                      </a:rPr>
                      <m:t>entire</m:t>
                    </m:r>
                    <m:r>
                      <m:rPr>
                        <m:nor/>
                      </m:rPr>
                      <a:rPr lang="en-GB" sz="900" dirty="0">
                        <a:solidFill>
                          <a:prstClr val="black"/>
                        </a:solidFill>
                        <a:latin typeface="Calibri" panose="020F0502020204030204" pitchFamily="34" charset="0"/>
                        <a:cs typeface="Calibri" panose="020F0502020204030204" pitchFamily="34" charset="0"/>
                      </a:rPr>
                      <m:t> </m:t>
                    </m:r>
                    <m:r>
                      <m:rPr>
                        <m:nor/>
                      </m:rPr>
                      <a:rPr lang="en-GB" sz="900" dirty="0">
                        <a:solidFill>
                          <a:prstClr val="black"/>
                        </a:solidFill>
                        <a:latin typeface="Calibri" panose="020F0502020204030204" pitchFamily="34" charset="0"/>
                        <a:cs typeface="Calibri" panose="020F0502020204030204" pitchFamily="34" charset="0"/>
                      </a:rPr>
                      <m:t>N</m:t>
                    </m:r>
                    <m:r>
                      <m:rPr>
                        <m:nor/>
                      </m:rPr>
                      <a:rPr lang="en-GB" sz="900" dirty="0">
                        <a:solidFill>
                          <a:prstClr val="black"/>
                        </a:solidFill>
                        <a:latin typeface="Calibri" panose="020F0502020204030204" pitchFamily="34" charset="0"/>
                        <a:cs typeface="Calibri" panose="020F0502020204030204" pitchFamily="34" charset="0"/>
                      </a:rPr>
                      <m:t>−</m:t>
                    </m:r>
                    <m:r>
                      <m:rPr>
                        <m:nor/>
                      </m:rPr>
                      <a:rPr lang="en-GB" sz="900" dirty="0">
                        <a:solidFill>
                          <a:prstClr val="black"/>
                        </a:solidFill>
                        <a:latin typeface="Calibri" panose="020F0502020204030204" pitchFamily="34" charset="0"/>
                        <a:cs typeface="Calibri" panose="020F0502020204030204" pitchFamily="34" charset="0"/>
                      </a:rPr>
                      <m:t>bridge</m:t>
                    </m:r>
                  </m:oMath>
                </a14:m>
                <a:r>
                  <a:rPr lang="en-GB" sz="900">
                    <a:solidFill>
                      <a:prstClr val="black"/>
                    </a:solidFill>
                    <a:latin typeface="Calibri" panose="020F0502020204030204" pitchFamily="34" charset="0"/>
                    <a:cs typeface="Calibri" panose="020F0502020204030204" pitchFamily="34" charset="0"/>
                  </a:rPr>
                  <a:t> run is complete. </a:t>
                </a:r>
              </a:p>
            </p:txBody>
          </p:sp>
        </mc:Choice>
        <mc:Fallback xmlns="">
          <p:sp>
            <p:nvSpPr>
              <p:cNvPr id="33" name="TextBox 13"/>
              <p:cNvSpPr txBox="1">
                <a:spLocks noRot="1" noChangeAspect="1" noMove="1" noResize="1" noEditPoints="1" noAdjustHandles="1" noChangeArrowheads="1" noChangeShapeType="1" noTextEdit="1"/>
              </p:cNvSpPr>
              <p:nvPr/>
            </p:nvSpPr>
            <p:spPr>
              <a:xfrm>
                <a:off x="517570" y="1307264"/>
                <a:ext cx="5790240" cy="1631346"/>
              </a:xfrm>
              <a:prstGeom prst="rect">
                <a:avLst/>
              </a:prstGeom>
              <a:blipFill>
                <a:blip r:embed="rId5"/>
                <a:stretch>
                  <a:fillRect r="-420"/>
                </a:stretch>
              </a:blipFill>
              <a:ln w="12700" algn="ctr">
                <a:solidFill>
                  <a:srgbClr val="DCDDDE"/>
                </a:solidFill>
                <a:miter lim="800000"/>
                <a:headEnd/>
                <a:tailEnd/>
              </a:ln>
            </p:spPr>
            <p:txBody>
              <a:bodyPr/>
              <a:lstStyle/>
              <a:p>
                <a:r>
                  <a:rPr lang="en-US">
                    <a:noFill/>
                  </a:rPr>
                  <a:t> </a:t>
                </a:r>
              </a:p>
            </p:txBody>
          </p:sp>
        </mc:Fallback>
      </mc:AlternateContent>
      <p:pic>
        <p:nvPicPr>
          <p:cNvPr id="35" name="Picture 34"/>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25096" y="1127264"/>
            <a:ext cx="103781" cy="180000"/>
          </a:xfrm>
          <a:prstGeom prst="rect">
            <a:avLst/>
          </a:prstGeom>
        </p:spPr>
      </p:pic>
      <p:sp>
        <p:nvSpPr>
          <p:cNvPr id="41" name="Rectangle 40"/>
          <p:cNvSpPr/>
          <p:nvPr/>
        </p:nvSpPr>
        <p:spPr>
          <a:xfrm>
            <a:off x="916627" y="656305"/>
            <a:ext cx="4153573" cy="307777"/>
          </a:xfrm>
          <a:prstGeom prst="rect">
            <a:avLst/>
          </a:prstGeom>
        </p:spPr>
        <p:txBody>
          <a:bodyPr wrap="none">
            <a:spAutoFit/>
          </a:bodyPr>
          <a:lstStyle/>
          <a:p>
            <a:r>
              <a:rPr lang="en-US" sz="1400" b="1">
                <a:solidFill>
                  <a:schemeClr val="accent2"/>
                </a:solidFill>
              </a:rPr>
              <a:t>The n-Bridge Information Factory (nBIF) proposal </a:t>
            </a:r>
            <a:endParaRPr lang="en-GB" sz="1400" b="1">
              <a:solidFill>
                <a:schemeClr val="accent2"/>
              </a:solidFill>
            </a:endParaRPr>
          </a:p>
        </p:txBody>
      </p:sp>
      <p:cxnSp>
        <p:nvCxnSpPr>
          <p:cNvPr id="25" name="Rechte verbindingslijn 36"/>
          <p:cNvCxnSpPr/>
          <p:nvPr/>
        </p:nvCxnSpPr>
        <p:spPr>
          <a:xfrm>
            <a:off x="6473125" y="1105269"/>
            <a:ext cx="2051025" cy="0"/>
          </a:xfrm>
          <a:prstGeom prst="line">
            <a:avLst/>
          </a:prstGeom>
          <a:ln w="28575" cap="rnd">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62F4E5A6-55BE-97C0-3C43-AA369CEA9D30}"/>
              </a:ext>
            </a:extLst>
          </p:cNvPr>
          <p:cNvGrpSpPr/>
          <p:nvPr/>
        </p:nvGrpSpPr>
        <p:grpSpPr>
          <a:xfrm>
            <a:off x="540381" y="3054357"/>
            <a:ext cx="5512949" cy="1760115"/>
            <a:chOff x="364617" y="1728991"/>
            <a:chExt cx="7379113" cy="2505221"/>
          </a:xfrm>
        </p:grpSpPr>
        <p:sp>
          <p:nvSpPr>
            <p:cNvPr id="3" name="Rectangle 2">
              <a:extLst>
                <a:ext uri="{FF2B5EF4-FFF2-40B4-BE49-F238E27FC236}">
                  <a16:creationId xmlns:a16="http://schemas.microsoft.com/office/drawing/2014/main" id="{5C906ABC-1CD0-87D3-B7ED-C3E4B65C2553}"/>
                </a:ext>
              </a:extLst>
            </p:cNvPr>
            <p:cNvSpPr/>
            <p:nvPr/>
          </p:nvSpPr>
          <p:spPr>
            <a:xfrm>
              <a:off x="1309167" y="1728991"/>
              <a:ext cx="4165201" cy="804363"/>
            </a:xfrm>
            <a:prstGeom prst="rect">
              <a:avLst/>
            </a:prstGeom>
            <a:solidFill>
              <a:srgbClr val="7030A0"/>
            </a:solidFill>
            <a:ln w="3175"/>
          </p:spPr>
          <p:style>
            <a:lnRef idx="2">
              <a:schemeClr val="accent1">
                <a:shade val="50000"/>
              </a:schemeClr>
            </a:lnRef>
            <a:fillRef idx="1">
              <a:schemeClr val="accent1"/>
            </a:fillRef>
            <a:effectRef idx="0">
              <a:schemeClr val="accent1"/>
            </a:effectRef>
            <a:fontRef idx="minor">
              <a:schemeClr val="lt1"/>
            </a:fontRef>
          </p:style>
          <p:txBody>
            <a:bodyPr lIns="36000" rtlCol="0" anchor="t"/>
            <a:lstStyle/>
            <a:p>
              <a:r>
                <a:rPr lang="en-US" sz="600">
                  <a:latin typeface="Calibri" panose="020F0502020204030204" pitchFamily="34" charset="0"/>
                  <a:cs typeface="Calibri" panose="020F0502020204030204" pitchFamily="34" charset="0"/>
                </a:rPr>
                <a:t>CAS</a:t>
              </a:r>
            </a:p>
          </p:txBody>
        </p:sp>
        <p:sp>
          <p:nvSpPr>
            <p:cNvPr id="4" name="Rectangle 3">
              <a:extLst>
                <a:ext uri="{FF2B5EF4-FFF2-40B4-BE49-F238E27FC236}">
                  <a16:creationId xmlns:a16="http://schemas.microsoft.com/office/drawing/2014/main" id="{1A8C51A9-BDA4-8A5B-823B-4355AE6370C5}"/>
                </a:ext>
              </a:extLst>
            </p:cNvPr>
            <p:cNvSpPr/>
            <p:nvPr/>
          </p:nvSpPr>
          <p:spPr>
            <a:xfrm>
              <a:off x="1603569" y="1798977"/>
              <a:ext cx="1124257" cy="648000"/>
            </a:xfrm>
            <a:prstGeom prst="rect">
              <a:avLst/>
            </a:prstGeom>
            <a:solidFill>
              <a:schemeClr val="accent2"/>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600">
                  <a:latin typeface="Calibri" panose="020F0502020204030204" pitchFamily="34" charset="0"/>
                  <a:cs typeface="Calibri" panose="020F0502020204030204" pitchFamily="34" charset="0"/>
                </a:rPr>
                <a:t>Model Calculator 1</a:t>
              </a:r>
            </a:p>
          </p:txBody>
        </p:sp>
        <p:sp>
          <p:nvSpPr>
            <p:cNvPr id="7" name="Rectangle 6">
              <a:extLst>
                <a:ext uri="{FF2B5EF4-FFF2-40B4-BE49-F238E27FC236}">
                  <a16:creationId xmlns:a16="http://schemas.microsoft.com/office/drawing/2014/main" id="{304CB2A6-1241-AA52-BA6B-E7577221D45E}"/>
                </a:ext>
              </a:extLst>
            </p:cNvPr>
            <p:cNvSpPr/>
            <p:nvPr/>
          </p:nvSpPr>
          <p:spPr>
            <a:xfrm>
              <a:off x="4036831" y="1798977"/>
              <a:ext cx="576062" cy="648000"/>
            </a:xfrm>
            <a:prstGeom prst="rect">
              <a:avLst/>
            </a:prstGeom>
            <a:solidFill>
              <a:schemeClr val="accent2"/>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600">
                  <a:latin typeface="Calibri" panose="020F0502020204030204" pitchFamily="34" charset="0"/>
                  <a:cs typeface="Calibri" panose="020F0502020204030204" pitchFamily="34" charset="0"/>
                </a:rPr>
                <a:t>M.C. 4</a:t>
              </a:r>
            </a:p>
          </p:txBody>
        </p:sp>
        <p:sp>
          <p:nvSpPr>
            <p:cNvPr id="8" name="Rectangle 7">
              <a:extLst>
                <a:ext uri="{FF2B5EF4-FFF2-40B4-BE49-F238E27FC236}">
                  <a16:creationId xmlns:a16="http://schemas.microsoft.com/office/drawing/2014/main" id="{F33ECA5D-51F6-7249-5383-AD211031FA3B}"/>
                </a:ext>
              </a:extLst>
            </p:cNvPr>
            <p:cNvSpPr/>
            <p:nvPr/>
          </p:nvSpPr>
          <p:spPr>
            <a:xfrm>
              <a:off x="3430521" y="1798977"/>
              <a:ext cx="568361" cy="648000"/>
            </a:xfrm>
            <a:prstGeom prst="rect">
              <a:avLst/>
            </a:prstGeom>
            <a:solidFill>
              <a:schemeClr val="accent2"/>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600">
                  <a:latin typeface="Calibri" panose="020F0502020204030204" pitchFamily="34" charset="0"/>
                  <a:cs typeface="Calibri" panose="020F0502020204030204" pitchFamily="34" charset="0"/>
                </a:rPr>
                <a:t>M.C. 3</a:t>
              </a:r>
            </a:p>
          </p:txBody>
        </p:sp>
        <p:sp>
          <p:nvSpPr>
            <p:cNvPr id="9" name="Rectangle 8">
              <a:extLst>
                <a:ext uri="{FF2B5EF4-FFF2-40B4-BE49-F238E27FC236}">
                  <a16:creationId xmlns:a16="http://schemas.microsoft.com/office/drawing/2014/main" id="{93E245B6-89CE-3C32-0C1D-7F3899D7F25C}"/>
                </a:ext>
              </a:extLst>
            </p:cNvPr>
            <p:cNvSpPr/>
            <p:nvPr/>
          </p:nvSpPr>
          <p:spPr>
            <a:xfrm>
              <a:off x="4685903" y="1798977"/>
              <a:ext cx="537909" cy="648000"/>
            </a:xfrm>
            <a:prstGeom prst="rect">
              <a:avLst/>
            </a:prstGeom>
            <a:solidFill>
              <a:schemeClr val="accent2"/>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600">
                  <a:latin typeface="Calibri" panose="020F0502020204030204" pitchFamily="34" charset="0"/>
                  <a:cs typeface="Calibri" panose="020F0502020204030204" pitchFamily="34" charset="0"/>
                </a:rPr>
                <a:t>M.C. 5</a:t>
              </a:r>
            </a:p>
          </p:txBody>
        </p:sp>
        <p:sp>
          <p:nvSpPr>
            <p:cNvPr id="10" name="Rectangle 9">
              <a:extLst>
                <a:ext uri="{FF2B5EF4-FFF2-40B4-BE49-F238E27FC236}">
                  <a16:creationId xmlns:a16="http://schemas.microsoft.com/office/drawing/2014/main" id="{6FB0409E-5110-A142-98FF-C82AD1F3DD18}"/>
                </a:ext>
              </a:extLst>
            </p:cNvPr>
            <p:cNvSpPr/>
            <p:nvPr/>
          </p:nvSpPr>
          <p:spPr>
            <a:xfrm>
              <a:off x="2844125" y="1798977"/>
              <a:ext cx="536815" cy="648000"/>
            </a:xfrm>
            <a:prstGeom prst="rect">
              <a:avLst/>
            </a:prstGeom>
            <a:solidFill>
              <a:schemeClr val="accent2"/>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600">
                  <a:latin typeface="Calibri" panose="020F0502020204030204" pitchFamily="34" charset="0"/>
                  <a:cs typeface="Calibri" panose="020F0502020204030204" pitchFamily="34" charset="0"/>
                </a:rPr>
                <a:t>M.C. 2</a:t>
              </a:r>
            </a:p>
          </p:txBody>
        </p:sp>
        <p:sp>
          <p:nvSpPr>
            <p:cNvPr id="11" name="Rectangle 10">
              <a:extLst>
                <a:ext uri="{FF2B5EF4-FFF2-40B4-BE49-F238E27FC236}">
                  <a16:creationId xmlns:a16="http://schemas.microsoft.com/office/drawing/2014/main" id="{23F37B33-DD79-180A-AE36-EDB6DA146E5C}"/>
                </a:ext>
              </a:extLst>
            </p:cNvPr>
            <p:cNvSpPr/>
            <p:nvPr/>
          </p:nvSpPr>
          <p:spPr>
            <a:xfrm>
              <a:off x="1309167" y="2625724"/>
              <a:ext cx="5703544" cy="838401"/>
            </a:xfrm>
            <a:prstGeom prst="rect">
              <a:avLst/>
            </a:prstGeom>
            <a:solidFill>
              <a:srgbClr val="C8009C"/>
            </a:solidFill>
            <a:ln w="3175"/>
          </p:spPr>
          <p:style>
            <a:lnRef idx="2">
              <a:schemeClr val="accent1">
                <a:shade val="50000"/>
              </a:schemeClr>
            </a:lnRef>
            <a:fillRef idx="1">
              <a:schemeClr val="accent1"/>
            </a:fillRef>
            <a:effectRef idx="0">
              <a:schemeClr val="accent1"/>
            </a:effectRef>
            <a:fontRef idx="minor">
              <a:schemeClr val="lt1"/>
            </a:fontRef>
          </p:style>
          <p:txBody>
            <a:bodyPr lIns="36000" rtlCol="0" anchor="t"/>
            <a:lstStyle/>
            <a:p>
              <a:r>
                <a:rPr lang="en-US" sz="600">
                  <a:latin typeface="Calibri" panose="020F0502020204030204" pitchFamily="34" charset="0"/>
                  <a:cs typeface="Calibri" panose="020F0502020204030204" pitchFamily="34" charset="0"/>
                </a:rPr>
                <a:t>‘nBIF’</a:t>
              </a:r>
            </a:p>
          </p:txBody>
        </p:sp>
        <p:sp>
          <p:nvSpPr>
            <p:cNvPr id="12" name="Rectangle 11">
              <a:extLst>
                <a:ext uri="{FF2B5EF4-FFF2-40B4-BE49-F238E27FC236}">
                  <a16:creationId xmlns:a16="http://schemas.microsoft.com/office/drawing/2014/main" id="{27E9ABBD-BE2A-0784-9D75-FA8C6204CC59}"/>
                </a:ext>
              </a:extLst>
            </p:cNvPr>
            <p:cNvSpPr/>
            <p:nvPr/>
          </p:nvSpPr>
          <p:spPr>
            <a:xfrm>
              <a:off x="1720271" y="2131450"/>
              <a:ext cx="711184" cy="257462"/>
            </a:xfrm>
            <a:prstGeom prst="rect">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600">
                  <a:latin typeface="Calibri" panose="020F0502020204030204" pitchFamily="34" charset="0"/>
                  <a:cs typeface="Calibri" panose="020F0502020204030204" pitchFamily="34" charset="0"/>
                </a:rPr>
                <a:t>IRB</a:t>
              </a:r>
            </a:p>
          </p:txBody>
        </p:sp>
        <p:sp>
          <p:nvSpPr>
            <p:cNvPr id="13" name="Rectangle 12">
              <a:extLst>
                <a:ext uri="{FF2B5EF4-FFF2-40B4-BE49-F238E27FC236}">
                  <a16:creationId xmlns:a16="http://schemas.microsoft.com/office/drawing/2014/main" id="{4BFCD98D-81EF-94C3-223D-FC7032DD58CF}"/>
                </a:ext>
              </a:extLst>
            </p:cNvPr>
            <p:cNvSpPr/>
            <p:nvPr/>
          </p:nvSpPr>
          <p:spPr>
            <a:xfrm>
              <a:off x="4148486" y="2141932"/>
              <a:ext cx="413128" cy="257462"/>
            </a:xfrm>
            <a:prstGeom prst="rect">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600">
                  <a:latin typeface="Calibri" panose="020F0502020204030204" pitchFamily="34" charset="0"/>
                  <a:cs typeface="Calibri" panose="020F0502020204030204" pitchFamily="34" charset="0"/>
                </a:rPr>
                <a:t>ST</a:t>
              </a:r>
            </a:p>
          </p:txBody>
        </p:sp>
        <p:sp>
          <p:nvSpPr>
            <p:cNvPr id="14" name="Rectangle 13">
              <a:extLst>
                <a:ext uri="{FF2B5EF4-FFF2-40B4-BE49-F238E27FC236}">
                  <a16:creationId xmlns:a16="http://schemas.microsoft.com/office/drawing/2014/main" id="{452F934A-FD38-631E-75C8-AAE7727EBEE8}"/>
                </a:ext>
              </a:extLst>
            </p:cNvPr>
            <p:cNvSpPr/>
            <p:nvPr/>
          </p:nvSpPr>
          <p:spPr>
            <a:xfrm>
              <a:off x="4734267" y="2149075"/>
              <a:ext cx="469539" cy="257462"/>
            </a:xfrm>
            <a:prstGeom prst="rect">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600">
                  <a:latin typeface="Calibri" panose="020F0502020204030204" pitchFamily="34" charset="0"/>
                  <a:cs typeface="Calibri" panose="020F0502020204030204" pitchFamily="34" charset="0"/>
                </a:rPr>
                <a:t>RAROC</a:t>
              </a:r>
            </a:p>
          </p:txBody>
        </p:sp>
        <p:sp>
          <p:nvSpPr>
            <p:cNvPr id="15" name="Rectangle 14">
              <a:extLst>
                <a:ext uri="{FF2B5EF4-FFF2-40B4-BE49-F238E27FC236}">
                  <a16:creationId xmlns:a16="http://schemas.microsoft.com/office/drawing/2014/main" id="{709E42D8-35AB-3B42-47DB-5B75C17D0DBE}"/>
                </a:ext>
              </a:extLst>
            </p:cNvPr>
            <p:cNvSpPr/>
            <p:nvPr/>
          </p:nvSpPr>
          <p:spPr>
            <a:xfrm>
              <a:off x="3482491" y="2141933"/>
              <a:ext cx="479751" cy="257462"/>
            </a:xfrm>
            <a:prstGeom prst="rect">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600">
                  <a:latin typeface="Calibri" panose="020F0502020204030204" pitchFamily="34" charset="0"/>
                  <a:cs typeface="Calibri" panose="020F0502020204030204" pitchFamily="34" charset="0"/>
                </a:rPr>
                <a:t>RWA</a:t>
              </a:r>
            </a:p>
          </p:txBody>
        </p:sp>
        <p:sp>
          <p:nvSpPr>
            <p:cNvPr id="16" name="Rectangle 15">
              <a:extLst>
                <a:ext uri="{FF2B5EF4-FFF2-40B4-BE49-F238E27FC236}">
                  <a16:creationId xmlns:a16="http://schemas.microsoft.com/office/drawing/2014/main" id="{7665AF75-13B8-B4FA-FF44-B3684682BC1D}"/>
                </a:ext>
              </a:extLst>
            </p:cNvPr>
            <p:cNvSpPr/>
            <p:nvPr/>
          </p:nvSpPr>
          <p:spPr>
            <a:xfrm>
              <a:off x="2897750" y="2131450"/>
              <a:ext cx="405872" cy="257462"/>
            </a:xfrm>
            <a:prstGeom prst="rect">
              <a:avLst/>
            </a:prstGeom>
            <a:solidFill>
              <a:srgbClr val="FF0000"/>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ECL</a:t>
              </a:r>
            </a:p>
          </p:txBody>
        </p:sp>
        <p:sp>
          <p:nvSpPr>
            <p:cNvPr id="19" name="Rectangle 18">
              <a:extLst>
                <a:ext uri="{FF2B5EF4-FFF2-40B4-BE49-F238E27FC236}">
                  <a16:creationId xmlns:a16="http://schemas.microsoft.com/office/drawing/2014/main" id="{786442CC-B3FF-C554-3674-AD55C7B77736}"/>
                </a:ext>
              </a:extLst>
            </p:cNvPr>
            <p:cNvSpPr/>
            <p:nvPr/>
          </p:nvSpPr>
          <p:spPr>
            <a:xfrm>
              <a:off x="5479251" y="2675843"/>
              <a:ext cx="645288" cy="257462"/>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600">
                  <a:latin typeface="Calibri" panose="020F0502020204030204" pitchFamily="34" charset="0"/>
                  <a:cs typeface="Calibri" panose="020F0502020204030204" pitchFamily="34" charset="0"/>
                </a:rPr>
                <a:t>ECL Manual </a:t>
              </a:r>
              <a:br>
                <a:rPr lang="en-US" sz="600">
                  <a:latin typeface="Calibri" panose="020F0502020204030204" pitchFamily="34" charset="0"/>
                  <a:cs typeface="Calibri" panose="020F0502020204030204" pitchFamily="34" charset="0"/>
                </a:rPr>
              </a:br>
              <a:r>
                <a:rPr lang="en-US" sz="600">
                  <a:latin typeface="Calibri" panose="020F0502020204030204" pitchFamily="34" charset="0"/>
                  <a:cs typeface="Calibri" panose="020F0502020204030204" pitchFamily="34" charset="0"/>
                </a:rPr>
                <a:t>Override?</a:t>
              </a:r>
            </a:p>
          </p:txBody>
        </p:sp>
        <p:sp>
          <p:nvSpPr>
            <p:cNvPr id="22" name="Rectangle 21">
              <a:extLst>
                <a:ext uri="{FF2B5EF4-FFF2-40B4-BE49-F238E27FC236}">
                  <a16:creationId xmlns:a16="http://schemas.microsoft.com/office/drawing/2014/main" id="{133CAB44-EBAA-AEF2-7170-3F804E6448A6}"/>
                </a:ext>
              </a:extLst>
            </p:cNvPr>
            <p:cNvSpPr/>
            <p:nvPr/>
          </p:nvSpPr>
          <p:spPr>
            <a:xfrm>
              <a:off x="1416112" y="3246323"/>
              <a:ext cx="3995209" cy="141455"/>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Orchestrate/workflow/schedule</a:t>
              </a:r>
            </a:p>
          </p:txBody>
        </p:sp>
        <p:sp>
          <p:nvSpPr>
            <p:cNvPr id="23" name="Flowchart: Magnetic Disk 121">
              <a:extLst>
                <a:ext uri="{FF2B5EF4-FFF2-40B4-BE49-F238E27FC236}">
                  <a16:creationId xmlns:a16="http://schemas.microsoft.com/office/drawing/2014/main" id="{B011C64D-C0A4-4D61-AF69-C534181223ED}"/>
                </a:ext>
              </a:extLst>
            </p:cNvPr>
            <p:cNvSpPr/>
            <p:nvPr/>
          </p:nvSpPr>
          <p:spPr>
            <a:xfrm>
              <a:off x="2503943" y="2922546"/>
              <a:ext cx="2298340" cy="279254"/>
            </a:xfrm>
            <a:prstGeom prst="flowChartMagneticDisk">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Work DB and I/O DBs</a:t>
              </a:r>
            </a:p>
          </p:txBody>
        </p:sp>
        <p:sp>
          <p:nvSpPr>
            <p:cNvPr id="24" name="Rectangle 23">
              <a:extLst>
                <a:ext uri="{FF2B5EF4-FFF2-40B4-BE49-F238E27FC236}">
                  <a16:creationId xmlns:a16="http://schemas.microsoft.com/office/drawing/2014/main" id="{42461AEB-2902-1EB2-3A68-31D61E7F7A0F}"/>
                </a:ext>
              </a:extLst>
            </p:cNvPr>
            <p:cNvSpPr/>
            <p:nvPr/>
          </p:nvSpPr>
          <p:spPr>
            <a:xfrm>
              <a:off x="6191149" y="2888049"/>
              <a:ext cx="766645" cy="156875"/>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Inspect (bi)</a:t>
              </a:r>
            </a:p>
          </p:txBody>
        </p:sp>
        <p:sp>
          <p:nvSpPr>
            <p:cNvPr id="26" name="Rectangle 25">
              <a:extLst>
                <a:ext uri="{FF2B5EF4-FFF2-40B4-BE49-F238E27FC236}">
                  <a16:creationId xmlns:a16="http://schemas.microsoft.com/office/drawing/2014/main" id="{5FA71128-EE97-35FA-4110-D45015028AC7}"/>
                </a:ext>
              </a:extLst>
            </p:cNvPr>
            <p:cNvSpPr/>
            <p:nvPr/>
          </p:nvSpPr>
          <p:spPr>
            <a:xfrm>
              <a:off x="6191149" y="3044924"/>
              <a:ext cx="766645" cy="156875"/>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Approve</a:t>
              </a:r>
            </a:p>
          </p:txBody>
        </p:sp>
        <p:sp>
          <p:nvSpPr>
            <p:cNvPr id="27" name="Rectangle 26">
              <a:extLst>
                <a:ext uri="{FF2B5EF4-FFF2-40B4-BE49-F238E27FC236}">
                  <a16:creationId xmlns:a16="http://schemas.microsoft.com/office/drawing/2014/main" id="{4D6AC6C6-40CC-00D8-15BF-CF90F71797D6}"/>
                </a:ext>
              </a:extLst>
            </p:cNvPr>
            <p:cNvSpPr/>
            <p:nvPr/>
          </p:nvSpPr>
          <p:spPr>
            <a:xfrm>
              <a:off x="6191149" y="3201799"/>
              <a:ext cx="766645" cy="171012"/>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Dashboard?</a:t>
              </a:r>
            </a:p>
          </p:txBody>
        </p:sp>
        <p:sp>
          <p:nvSpPr>
            <p:cNvPr id="28" name="Rectangle 27">
              <a:extLst>
                <a:ext uri="{FF2B5EF4-FFF2-40B4-BE49-F238E27FC236}">
                  <a16:creationId xmlns:a16="http://schemas.microsoft.com/office/drawing/2014/main" id="{56BB78D4-9EF2-4F69-4F66-B085CC61A308}"/>
                </a:ext>
              </a:extLst>
            </p:cNvPr>
            <p:cNvSpPr/>
            <p:nvPr/>
          </p:nvSpPr>
          <p:spPr>
            <a:xfrm>
              <a:off x="1433685" y="2997078"/>
              <a:ext cx="461220" cy="156875"/>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E(T)L</a:t>
              </a:r>
            </a:p>
          </p:txBody>
        </p:sp>
        <p:sp>
          <p:nvSpPr>
            <p:cNvPr id="29" name="Rectangle 28">
              <a:extLst>
                <a:ext uri="{FF2B5EF4-FFF2-40B4-BE49-F238E27FC236}">
                  <a16:creationId xmlns:a16="http://schemas.microsoft.com/office/drawing/2014/main" id="{A465880F-B1D9-67EE-7BFF-542788283C1B}"/>
                </a:ext>
              </a:extLst>
            </p:cNvPr>
            <p:cNvSpPr/>
            <p:nvPr/>
          </p:nvSpPr>
          <p:spPr>
            <a:xfrm>
              <a:off x="2009382" y="3002795"/>
              <a:ext cx="461220" cy="156875"/>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E(T)L</a:t>
              </a:r>
            </a:p>
          </p:txBody>
        </p:sp>
        <p:sp>
          <p:nvSpPr>
            <p:cNvPr id="30" name="Rectangle 29">
              <a:extLst>
                <a:ext uri="{FF2B5EF4-FFF2-40B4-BE49-F238E27FC236}">
                  <a16:creationId xmlns:a16="http://schemas.microsoft.com/office/drawing/2014/main" id="{290386E6-FB14-961C-CA91-D4EA51A3B318}"/>
                </a:ext>
              </a:extLst>
            </p:cNvPr>
            <p:cNvSpPr/>
            <p:nvPr/>
          </p:nvSpPr>
          <p:spPr>
            <a:xfrm>
              <a:off x="4950101" y="3021647"/>
              <a:ext cx="461220" cy="156875"/>
            </a:xfrm>
            <a:prstGeom prst="rect">
              <a:avLst/>
            </a:prstGeom>
            <a:solidFill>
              <a:srgbClr val="7E0063"/>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E(T)L</a:t>
              </a:r>
            </a:p>
          </p:txBody>
        </p:sp>
        <p:cxnSp>
          <p:nvCxnSpPr>
            <p:cNvPr id="34" name="Straight Arrow Connector 33">
              <a:extLst>
                <a:ext uri="{FF2B5EF4-FFF2-40B4-BE49-F238E27FC236}">
                  <a16:creationId xmlns:a16="http://schemas.microsoft.com/office/drawing/2014/main" id="{2DB81E3B-51FC-4B60-88F6-70C0697DBC52}"/>
                </a:ext>
              </a:extLst>
            </p:cNvPr>
            <p:cNvCxnSpPr/>
            <p:nvPr/>
          </p:nvCxnSpPr>
          <p:spPr>
            <a:xfrm flipV="1">
              <a:off x="1768217" y="2446939"/>
              <a:ext cx="0"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9E57FDD-0305-577E-9F66-53209B431587}"/>
                </a:ext>
              </a:extLst>
            </p:cNvPr>
            <p:cNvCxnSpPr/>
            <p:nvPr/>
          </p:nvCxnSpPr>
          <p:spPr>
            <a:xfrm>
              <a:off x="2579194" y="2446939"/>
              <a:ext cx="5193"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2681824-79E0-CB5A-5CBF-78029E4EF820}"/>
                </a:ext>
              </a:extLst>
            </p:cNvPr>
            <p:cNvCxnSpPr/>
            <p:nvPr/>
          </p:nvCxnSpPr>
          <p:spPr>
            <a:xfrm flipV="1">
              <a:off x="2934284" y="2446939"/>
              <a:ext cx="0"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00E1C5B-9F7D-6E19-76D1-3DA5BFDC3EF4}"/>
                </a:ext>
              </a:extLst>
            </p:cNvPr>
            <p:cNvCxnSpPr/>
            <p:nvPr/>
          </p:nvCxnSpPr>
          <p:spPr>
            <a:xfrm>
              <a:off x="3201154" y="2446939"/>
              <a:ext cx="5193"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9636BA0-135B-9032-1875-7DD32937D29B}"/>
                </a:ext>
              </a:extLst>
            </p:cNvPr>
            <p:cNvCxnSpPr/>
            <p:nvPr/>
          </p:nvCxnSpPr>
          <p:spPr>
            <a:xfrm flipV="1">
              <a:off x="3653113" y="2446939"/>
              <a:ext cx="0"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2D447F7-3DA1-6E72-6AD0-C930C7034428}"/>
                </a:ext>
              </a:extLst>
            </p:cNvPr>
            <p:cNvCxnSpPr/>
            <p:nvPr/>
          </p:nvCxnSpPr>
          <p:spPr>
            <a:xfrm>
              <a:off x="3919983" y="2446939"/>
              <a:ext cx="5193"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5070FBE-6FCC-7F38-DFEA-8FDAB61CC405}"/>
                </a:ext>
              </a:extLst>
            </p:cNvPr>
            <p:cNvCxnSpPr/>
            <p:nvPr/>
          </p:nvCxnSpPr>
          <p:spPr>
            <a:xfrm flipV="1">
              <a:off x="4195854" y="2446939"/>
              <a:ext cx="0"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FED17E9-BC13-A3CC-5EFE-7E83760A9CE6}"/>
                </a:ext>
              </a:extLst>
            </p:cNvPr>
            <p:cNvCxnSpPr/>
            <p:nvPr/>
          </p:nvCxnSpPr>
          <p:spPr>
            <a:xfrm>
              <a:off x="4462724" y="2446939"/>
              <a:ext cx="5193"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E48288C-5546-44F7-99CE-ED9F74447F19}"/>
                </a:ext>
              </a:extLst>
            </p:cNvPr>
            <p:cNvCxnSpPr/>
            <p:nvPr/>
          </p:nvCxnSpPr>
          <p:spPr>
            <a:xfrm flipV="1">
              <a:off x="4811199" y="2446939"/>
              <a:ext cx="0"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9699F5D-4D56-6D9D-67C5-2BFA72B33354}"/>
                </a:ext>
              </a:extLst>
            </p:cNvPr>
            <p:cNvCxnSpPr/>
            <p:nvPr/>
          </p:nvCxnSpPr>
          <p:spPr>
            <a:xfrm>
              <a:off x="5142617" y="2446939"/>
              <a:ext cx="5193" cy="17280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8C7B4B2-5EB2-7A19-0103-D434ECEABF6E}"/>
                </a:ext>
              </a:extLst>
            </p:cNvPr>
            <p:cNvCxnSpPr/>
            <p:nvPr/>
          </p:nvCxnSpPr>
          <p:spPr>
            <a:xfrm>
              <a:off x="7014174" y="2753889"/>
              <a:ext cx="191647" cy="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0B313B19-CF9C-20E5-44A7-7A2A1B449B50}"/>
                </a:ext>
              </a:extLst>
            </p:cNvPr>
            <p:cNvSpPr/>
            <p:nvPr/>
          </p:nvSpPr>
          <p:spPr>
            <a:xfrm>
              <a:off x="7205821" y="2630339"/>
              <a:ext cx="537909" cy="237600"/>
            </a:xfrm>
            <a:prstGeom prst="rect">
              <a:avLst/>
            </a:prstGeom>
            <a:solidFill>
              <a:schemeClr val="accent1">
                <a:lumMod val="7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latin typeface="Calibri" panose="020F0502020204030204" pitchFamily="34" charset="0"/>
                  <a:cs typeface="Calibri" panose="020F0502020204030204" pitchFamily="34" charset="0"/>
                </a:rPr>
                <a:t>CRPR</a:t>
              </a:r>
            </a:p>
          </p:txBody>
        </p:sp>
        <p:sp>
          <p:nvSpPr>
            <p:cNvPr id="49" name="Rectangle 48">
              <a:extLst>
                <a:ext uri="{FF2B5EF4-FFF2-40B4-BE49-F238E27FC236}">
                  <a16:creationId xmlns:a16="http://schemas.microsoft.com/office/drawing/2014/main" id="{BAEE2624-BC00-5E34-6E0D-CBE9E361AF8C}"/>
                </a:ext>
              </a:extLst>
            </p:cNvPr>
            <p:cNvSpPr/>
            <p:nvPr/>
          </p:nvSpPr>
          <p:spPr>
            <a:xfrm>
              <a:off x="1309167" y="3611808"/>
              <a:ext cx="1871631" cy="622404"/>
            </a:xfrm>
            <a:prstGeom prst="rect">
              <a:avLst/>
            </a:prstGeom>
            <a:solidFill>
              <a:schemeClr val="tx1">
                <a:lumMod val="50000"/>
                <a:lumOff val="5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600">
                  <a:solidFill>
                    <a:schemeClr val="lt1"/>
                  </a:solidFill>
                  <a:latin typeface="Calibri" panose="020F0502020204030204" pitchFamily="34" charset="0"/>
                  <a:cs typeface="Calibri" panose="020F0502020204030204" pitchFamily="34" charset="0"/>
                </a:rPr>
                <a:t>Reporting</a:t>
              </a:r>
            </a:p>
          </p:txBody>
        </p:sp>
        <p:sp>
          <p:nvSpPr>
            <p:cNvPr id="50" name="Rectangle 49">
              <a:extLst>
                <a:ext uri="{FF2B5EF4-FFF2-40B4-BE49-F238E27FC236}">
                  <a16:creationId xmlns:a16="http://schemas.microsoft.com/office/drawing/2014/main" id="{FEA0EA30-B4F8-86E4-B013-FFF7294A0174}"/>
                </a:ext>
              </a:extLst>
            </p:cNvPr>
            <p:cNvSpPr/>
            <p:nvPr/>
          </p:nvSpPr>
          <p:spPr>
            <a:xfrm>
              <a:off x="1905789" y="3701808"/>
              <a:ext cx="492957" cy="468000"/>
            </a:xfrm>
            <a:prstGeom prst="rect">
              <a:avLst/>
            </a:prstGeom>
            <a:solidFill>
              <a:schemeClr val="bg1">
                <a:lumMod val="65000"/>
              </a:schemeClr>
            </a:solidFill>
            <a:ln w="3175" cap="rnd" cmpd="sng" algn="ctr">
              <a:solidFill>
                <a:schemeClr val="tx1"/>
              </a:solidFill>
              <a:prstDash val="solid"/>
            </a:ln>
            <a:effectLst/>
          </p:spPr>
          <p:txBody>
            <a:bodyPr rtlCol="0" anchor="ctr"/>
            <a:lstStyle/>
            <a:p>
              <a:r>
                <a:rPr lang="en-US" sz="900">
                  <a:solidFill>
                    <a:schemeClr val="bg1"/>
                  </a:solidFill>
                  <a:latin typeface="Calibri" panose="020F0502020204030204" pitchFamily="34" charset="0"/>
                  <a:cs typeface="Calibri" panose="020F0502020204030204" pitchFamily="34" charset="0"/>
                </a:rPr>
                <a:t>RRP</a:t>
              </a:r>
            </a:p>
          </p:txBody>
        </p:sp>
        <p:sp>
          <p:nvSpPr>
            <p:cNvPr id="51" name="Rectangle 50">
              <a:extLst>
                <a:ext uri="{FF2B5EF4-FFF2-40B4-BE49-F238E27FC236}">
                  <a16:creationId xmlns:a16="http://schemas.microsoft.com/office/drawing/2014/main" id="{EBB1181D-1494-7532-EF53-3A1E1006DE02}"/>
                </a:ext>
              </a:extLst>
            </p:cNvPr>
            <p:cNvSpPr/>
            <p:nvPr/>
          </p:nvSpPr>
          <p:spPr>
            <a:xfrm>
              <a:off x="2434721" y="3701808"/>
              <a:ext cx="697912" cy="468000"/>
            </a:xfrm>
            <a:prstGeom prst="rect">
              <a:avLst/>
            </a:prstGeom>
            <a:solidFill>
              <a:schemeClr val="bg1">
                <a:lumMod val="65000"/>
              </a:schemeClr>
            </a:solidFill>
            <a:ln w="3175" cap="rnd" cmpd="sng" algn="ctr">
              <a:solidFill>
                <a:schemeClr val="tx1"/>
              </a:solidFill>
              <a:prstDash val="solid"/>
            </a:ln>
            <a:effectLst/>
          </p:spPr>
          <p:txBody>
            <a:bodyPr rtlCol="0" anchor="ctr"/>
            <a:lstStyle/>
            <a:p>
              <a:r>
                <a:rPr lang="en-US" sz="900">
                  <a:solidFill>
                    <a:schemeClr val="bg1"/>
                  </a:solidFill>
                  <a:latin typeface="Calibri" panose="020F0502020204030204" pitchFamily="34" charset="0"/>
                  <a:cs typeface="Calibri" panose="020F0502020204030204" pitchFamily="34" charset="0"/>
                </a:rPr>
                <a:t>Legacy Rep.</a:t>
              </a:r>
            </a:p>
          </p:txBody>
        </p:sp>
        <p:pic>
          <p:nvPicPr>
            <p:cNvPr id="52" name="Picture 6" descr="258,506 BEST Person Clipart IMAGES, STOCK PHOTOS &amp; VECTORS | Adobe Stock">
              <a:extLst>
                <a:ext uri="{FF2B5EF4-FFF2-40B4-BE49-F238E27FC236}">
                  <a16:creationId xmlns:a16="http://schemas.microsoft.com/office/drawing/2014/main" id="{E5183FC5-A29C-1185-E766-8F17F4EE9A65}"/>
                </a:ext>
              </a:extLst>
            </p:cNvPr>
            <p:cNvPicPr>
              <a:picLocks noChangeAspect="1" noChangeArrowheads="1"/>
            </p:cNvPicPr>
            <p:nvPr/>
          </p:nvPicPr>
          <p:blipFill>
            <a:blip r:embed="rId7">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8204" y="2982700"/>
              <a:ext cx="377766" cy="377766"/>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cxnSp>
          <p:nvCxnSpPr>
            <p:cNvPr id="53" name="Straight Arrow Connector 52">
              <a:extLst>
                <a:ext uri="{FF2B5EF4-FFF2-40B4-BE49-F238E27FC236}">
                  <a16:creationId xmlns:a16="http://schemas.microsoft.com/office/drawing/2014/main" id="{5FD912A8-2D99-4CA6-B658-0A6D88D7B965}"/>
                </a:ext>
              </a:extLst>
            </p:cNvPr>
            <p:cNvCxnSpPr/>
            <p:nvPr/>
          </p:nvCxnSpPr>
          <p:spPr>
            <a:xfrm flipH="1">
              <a:off x="7014174" y="3174255"/>
              <a:ext cx="360000" cy="0"/>
            </a:xfrm>
            <a:prstGeom prst="straightConnector1">
              <a:avLst/>
            </a:prstGeom>
            <a:ln w="3175" cap="rnd">
              <a:prstDash val="sysDot"/>
              <a:headEnd type="arrow"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467DFAB0-06B2-F05C-3581-A2DC5C4CFFFE}"/>
                </a:ext>
              </a:extLst>
            </p:cNvPr>
            <p:cNvSpPr/>
            <p:nvPr/>
          </p:nvSpPr>
          <p:spPr>
            <a:xfrm>
              <a:off x="364617" y="1728991"/>
              <a:ext cx="289240" cy="2505221"/>
            </a:xfrm>
            <a:prstGeom prst="rect">
              <a:avLst/>
            </a:prstGeom>
            <a:solidFill>
              <a:srgbClr val="0000CC"/>
            </a:solidFill>
            <a:ln w="3175"/>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US" sz="600">
                  <a:latin typeface="Calibri" panose="020F0502020204030204" pitchFamily="34" charset="0"/>
                  <a:cs typeface="Calibri" panose="020F0502020204030204" pitchFamily="34" charset="0"/>
                </a:rPr>
                <a:t>GRFD</a:t>
              </a:r>
            </a:p>
          </p:txBody>
        </p:sp>
        <p:cxnSp>
          <p:nvCxnSpPr>
            <p:cNvPr id="55" name="Straight Arrow Connector 54">
              <a:extLst>
                <a:ext uri="{FF2B5EF4-FFF2-40B4-BE49-F238E27FC236}">
                  <a16:creationId xmlns:a16="http://schemas.microsoft.com/office/drawing/2014/main" id="{14B29F95-DD20-6FA7-AD19-CD2E3F56469D}"/>
                </a:ext>
              </a:extLst>
            </p:cNvPr>
            <p:cNvCxnSpPr>
              <a:cxnSpLocks/>
              <a:endCxn id="60" idx="3"/>
            </p:cNvCxnSpPr>
            <p:nvPr/>
          </p:nvCxnSpPr>
          <p:spPr>
            <a:xfrm flipH="1">
              <a:off x="1163152" y="3322615"/>
              <a:ext cx="117347" cy="0"/>
            </a:xfrm>
            <a:prstGeom prst="straightConnector1">
              <a:avLst/>
            </a:prstGeom>
            <a:ln w="3175">
              <a:solidFill>
                <a:schemeClr val="tx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84C0613-5AE6-63E4-5878-0789FBA8D1B4}"/>
                </a:ext>
              </a:extLst>
            </p:cNvPr>
            <p:cNvCxnSpPr>
              <a:cxnSpLocks/>
              <a:endCxn id="49" idx="1"/>
            </p:cNvCxnSpPr>
            <p:nvPr/>
          </p:nvCxnSpPr>
          <p:spPr>
            <a:xfrm>
              <a:off x="653857" y="3923010"/>
              <a:ext cx="655310" cy="0"/>
            </a:xfrm>
            <a:prstGeom prst="straightConnector1">
              <a:avLst/>
            </a:prstGeom>
            <a:ln w="3175">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1906F92-C5CA-AD3F-1108-9851DB672E19}"/>
                </a:ext>
              </a:extLst>
            </p:cNvPr>
            <p:cNvSpPr/>
            <p:nvPr/>
          </p:nvSpPr>
          <p:spPr>
            <a:xfrm>
              <a:off x="829513" y="2622185"/>
              <a:ext cx="331834" cy="311120"/>
            </a:xfrm>
            <a:prstGeom prst="rect">
              <a:avLst/>
            </a:prstGeom>
            <a:solidFill>
              <a:srgbClr val="C8009C"/>
            </a:solidFill>
            <a:ln w="3175"/>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600">
                  <a:latin typeface="Calibri" panose="020F0502020204030204" pitchFamily="34" charset="0"/>
                  <a:cs typeface="Calibri" panose="020F0502020204030204" pitchFamily="34" charset="0"/>
                </a:rPr>
                <a:t>CADDI</a:t>
              </a:r>
            </a:p>
          </p:txBody>
        </p:sp>
        <p:cxnSp>
          <p:nvCxnSpPr>
            <p:cNvPr id="58" name="Straight Arrow Connector 57">
              <a:extLst>
                <a:ext uri="{FF2B5EF4-FFF2-40B4-BE49-F238E27FC236}">
                  <a16:creationId xmlns:a16="http://schemas.microsoft.com/office/drawing/2014/main" id="{374B4799-81D5-7E0F-B32B-53B24C293916}"/>
                </a:ext>
              </a:extLst>
            </p:cNvPr>
            <p:cNvCxnSpPr>
              <a:cxnSpLocks/>
              <a:endCxn id="57" idx="1"/>
            </p:cNvCxnSpPr>
            <p:nvPr/>
          </p:nvCxnSpPr>
          <p:spPr>
            <a:xfrm>
              <a:off x="653857" y="2777745"/>
              <a:ext cx="175656" cy="0"/>
            </a:xfrm>
            <a:prstGeom prst="straightConnector1">
              <a:avLst/>
            </a:prstGeom>
            <a:ln w="3175">
              <a:solidFill>
                <a:schemeClr val="tx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490AED1-E46A-DD76-01A2-89C7B7B35BF4}"/>
                </a:ext>
              </a:extLst>
            </p:cNvPr>
            <p:cNvCxnSpPr>
              <a:cxnSpLocks/>
              <a:stCxn id="57" idx="3"/>
            </p:cNvCxnSpPr>
            <p:nvPr/>
          </p:nvCxnSpPr>
          <p:spPr>
            <a:xfrm>
              <a:off x="1161348" y="2777745"/>
              <a:ext cx="146356" cy="9525"/>
            </a:xfrm>
            <a:prstGeom prst="straightConnector1">
              <a:avLst/>
            </a:prstGeom>
            <a:ln w="3175">
              <a:solidFill>
                <a:schemeClr val="tx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DFEE0FDB-7F3C-E091-90BA-BC3AE261A6F8}"/>
                </a:ext>
              </a:extLst>
            </p:cNvPr>
            <p:cNvSpPr/>
            <p:nvPr/>
          </p:nvSpPr>
          <p:spPr>
            <a:xfrm>
              <a:off x="829512" y="3161852"/>
              <a:ext cx="333640" cy="321524"/>
            </a:xfrm>
            <a:prstGeom prst="rect">
              <a:avLst/>
            </a:prstGeom>
            <a:solidFill>
              <a:srgbClr val="0000CC"/>
            </a:solidFill>
            <a:ln w="3175"/>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US" sz="600">
                  <a:latin typeface="Calibri" panose="020F0502020204030204" pitchFamily="34" charset="0"/>
                  <a:cs typeface="Calibri" panose="020F0502020204030204" pitchFamily="34" charset="0"/>
                </a:rPr>
                <a:t>CFO </a:t>
              </a:r>
            </a:p>
            <a:p>
              <a:pPr algn="ctr"/>
              <a:r>
                <a:rPr lang="en-US" sz="600">
                  <a:latin typeface="Calibri" panose="020F0502020204030204" pitchFamily="34" charset="0"/>
                  <a:cs typeface="Calibri" panose="020F0502020204030204" pitchFamily="34" charset="0"/>
                </a:rPr>
                <a:t>HUB</a:t>
              </a:r>
            </a:p>
          </p:txBody>
        </p:sp>
      </p:grpSp>
      <mc:AlternateContent xmlns:mc="http://schemas.openxmlformats.org/markup-compatibility/2006" xmlns:a14="http://schemas.microsoft.com/office/drawing/2010/main">
        <mc:Choice Requires="a14">
          <p:sp>
            <p:nvSpPr>
              <p:cNvPr id="61" name="Line Callout 1 60">
                <a:extLst>
                  <a:ext uri="{FF2B5EF4-FFF2-40B4-BE49-F238E27FC236}">
                    <a16:creationId xmlns:a16="http://schemas.microsoft.com/office/drawing/2014/main" id="{FCD756A2-8961-8F8A-DDE9-47BE6FC16549}"/>
                  </a:ext>
                </a:extLst>
              </p:cNvPr>
              <p:cNvSpPr/>
              <p:nvPr/>
            </p:nvSpPr>
            <p:spPr>
              <a:xfrm>
                <a:off x="6193102" y="3267773"/>
                <a:ext cx="2440544" cy="990488"/>
              </a:xfrm>
              <a:prstGeom prst="borderCallout1">
                <a:avLst>
                  <a:gd name="adj1" fmla="val 18751"/>
                  <a:gd name="adj2" fmla="val -3783"/>
                  <a:gd name="adj3" fmla="val 16442"/>
                  <a:gd name="adj4" fmla="val -81993"/>
                </a:avLst>
              </a:prstGeom>
              <a:solidFill>
                <a:schemeClr val="bg1"/>
              </a:solidFill>
              <a:ln w="12700" cap="rnd" cmpd="sng" algn="ctr">
                <a:solidFill>
                  <a:srgbClr val="D6083B"/>
                </a:solidFill>
                <a:prstDash val="solid"/>
              </a:ln>
              <a:effectLst/>
            </p:spPr>
            <p:txBody>
              <a:bodyPr rtlCol="0" anchor="ctr"/>
              <a:lstStyle/>
              <a:p>
                <a:pPr algn="ctr"/>
                <a:r>
                  <a:rPr lang="en-US" sz="1100">
                    <a:solidFill>
                      <a:srgbClr val="D6083B"/>
                    </a:solidFill>
                  </a:rPr>
                  <a:t> The depicted model calculators and calculation modules are a rough indication of what will be part of a </a:t>
                </a:r>
                <a14:m>
                  <m:oMath xmlns:m="http://schemas.openxmlformats.org/officeDocument/2006/math">
                    <m:r>
                      <m:rPr>
                        <m:sty m:val="p"/>
                      </m:rPr>
                      <a:rPr lang="en-US" sz="1100" i="1" dirty="0" smtClean="0">
                        <a:solidFill>
                          <a:srgbClr val="D6083B"/>
                        </a:solidFill>
                        <a:latin typeface="Cambria Math" panose="02040503050406030204" pitchFamily="18" charset="0"/>
                      </a:rPr>
                      <m:t>n</m:t>
                    </m:r>
                    <m:r>
                      <a:rPr lang="en-US" sz="1100" i="1" dirty="0" smtClean="0">
                        <a:solidFill>
                          <a:srgbClr val="D6083B"/>
                        </a:solidFill>
                        <a:latin typeface="Cambria Math" panose="02040503050406030204" pitchFamily="18" charset="0"/>
                      </a:rPr>
                      <m:t>−</m:t>
                    </m:r>
                    <m:r>
                      <m:rPr>
                        <m:sty m:val="p"/>
                      </m:rPr>
                      <a:rPr lang="en-US" sz="1100" i="1" dirty="0" smtClean="0">
                        <a:solidFill>
                          <a:srgbClr val="D6083B"/>
                        </a:solidFill>
                        <a:latin typeface="Cambria Math" panose="02040503050406030204" pitchFamily="18" charset="0"/>
                      </a:rPr>
                      <m:t>Bridge</m:t>
                    </m:r>
                  </m:oMath>
                </a14:m>
                <a:r>
                  <a:rPr lang="en-US" sz="1100">
                    <a:solidFill>
                      <a:srgbClr val="D6083B"/>
                    </a:solidFill>
                  </a:rPr>
                  <a:t> batch. </a:t>
                </a:r>
              </a:p>
            </p:txBody>
          </p:sp>
        </mc:Choice>
        <mc:Fallback xmlns="">
          <p:sp>
            <p:nvSpPr>
              <p:cNvPr id="61" name="Line Callout 1 60">
                <a:extLst>
                  <a:ext uri="{FF2B5EF4-FFF2-40B4-BE49-F238E27FC236}">
                    <a16:creationId xmlns:a16="http://schemas.microsoft.com/office/drawing/2014/main" id="{FCD756A2-8961-8F8A-DDE9-47BE6FC16549}"/>
                  </a:ext>
                </a:extLst>
              </p:cNvPr>
              <p:cNvSpPr>
                <a:spLocks noRot="1" noChangeAspect="1" noMove="1" noResize="1" noEditPoints="1" noAdjustHandles="1" noChangeArrowheads="1" noChangeShapeType="1" noTextEdit="1"/>
              </p:cNvSpPr>
              <p:nvPr/>
            </p:nvSpPr>
            <p:spPr>
              <a:xfrm>
                <a:off x="6193102" y="3267773"/>
                <a:ext cx="2440544" cy="990488"/>
              </a:xfrm>
              <a:prstGeom prst="borderCallout1">
                <a:avLst>
                  <a:gd name="adj1" fmla="val 18751"/>
                  <a:gd name="adj2" fmla="val -3783"/>
                  <a:gd name="adj3" fmla="val 16442"/>
                  <a:gd name="adj4" fmla="val -81993"/>
                </a:avLst>
              </a:prstGeom>
              <a:blipFill>
                <a:blip r:embed="rId8"/>
                <a:stretch>
                  <a:fillRect/>
                </a:stretch>
              </a:blipFill>
              <a:ln w="12700" cap="rnd" cmpd="sng" algn="ctr">
                <a:solidFill>
                  <a:srgbClr val="D6083B"/>
                </a:solidFill>
                <a:prstDash val="solid"/>
              </a:ln>
              <a:effectLst/>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9036DFB8-8CF5-3C8E-6647-443BDB42C41B}"/>
              </a:ext>
            </a:extLst>
          </p:cNvPr>
          <p:cNvCxnSpPr>
            <a:cxnSpLocks/>
          </p:cNvCxnSpPr>
          <p:nvPr/>
        </p:nvCxnSpPr>
        <p:spPr>
          <a:xfrm flipH="1">
            <a:off x="756473" y="4174004"/>
            <a:ext cx="131232" cy="0"/>
          </a:xfrm>
          <a:prstGeom prst="straightConnector1">
            <a:avLst/>
          </a:prstGeom>
          <a:ln w="3175">
            <a:solidFill>
              <a:schemeClr val="tx1"/>
            </a:solidFill>
            <a:headEnd w="sm" len="sm"/>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356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1.3 What Principles to adhere?</a:t>
            </a:r>
          </a:p>
        </p:txBody>
      </p:sp>
      <p:sp>
        <p:nvSpPr>
          <p:cNvPr id="4" name="Slide Number Placeholder 3"/>
          <p:cNvSpPr>
            <a:spLocks noGrp="1"/>
          </p:cNvSpPr>
          <p:nvPr>
            <p:ph type="sldNum" sz="quarter" idx="10"/>
          </p:nvPr>
        </p:nvSpPr>
        <p:spPr/>
        <p:txBody>
          <a:bodyPr/>
          <a:lstStyle/>
          <a:p>
            <a:fld id="{9C7F1ACC-2CE8-4B5A-AF9E-0D67538731EE}" type="slidenum">
              <a:rPr lang="en-GB" smtClean="0"/>
              <a:pPr/>
              <a:t>6</a:t>
            </a:fld>
            <a:endParaRPr lang="en-GB"/>
          </a:p>
        </p:txBody>
      </p:sp>
      <p:sp>
        <p:nvSpPr>
          <p:cNvPr id="11" name="Tijdelijke aanduiding voor tekst 10"/>
          <p:cNvSpPr>
            <a:spLocks noGrp="1"/>
          </p:cNvSpPr>
          <p:nvPr>
            <p:ph type="body" sz="quarter" idx="15"/>
          </p:nvPr>
        </p:nvSpPr>
        <p:spPr/>
        <p:txBody>
          <a:bodyPr/>
          <a:lstStyle/>
          <a:p>
            <a:r>
              <a:rPr lang="en-GB"/>
              <a:t>For more information see 10.3 General references; link to the </a:t>
            </a:r>
            <a:r>
              <a:rPr lang="nl-NL"/>
              <a:t>Rabobank Enterprise IT Architecture </a:t>
            </a:r>
            <a:r>
              <a:rPr lang="nl-NL" err="1"/>
              <a:t>Principles</a:t>
            </a:r>
            <a:r>
              <a:rPr lang="nl-NL"/>
              <a:t>.</a:t>
            </a:r>
            <a:endParaRPr lang="en-GB"/>
          </a:p>
        </p:txBody>
      </p:sp>
      <p:sp>
        <p:nvSpPr>
          <p:cNvPr id="8" name="Tijdelijke aanduiding voor tekst 7"/>
          <p:cNvSpPr>
            <a:spLocks noGrp="1"/>
          </p:cNvSpPr>
          <p:nvPr>
            <p:ph type="body" sz="quarter" idx="13"/>
          </p:nvPr>
        </p:nvSpPr>
        <p:spPr/>
        <p:txBody>
          <a:bodyPr/>
          <a:lstStyle/>
          <a:p>
            <a:r>
              <a:rPr lang="en-GB"/>
              <a:t> </a:t>
            </a:r>
          </a:p>
        </p:txBody>
      </p:sp>
      <p:sp>
        <p:nvSpPr>
          <p:cNvPr id="81"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pic>
        <p:nvPicPr>
          <p:cNvPr id="2" name="Picture 1"/>
          <p:cNvPicPr>
            <a:picLocks noChangeAspect="1"/>
          </p:cNvPicPr>
          <p:nvPr/>
        </p:nvPicPr>
        <p:blipFill>
          <a:blip r:embed="rId4"/>
          <a:stretch>
            <a:fillRect/>
          </a:stretch>
        </p:blipFill>
        <p:spPr>
          <a:xfrm>
            <a:off x="470959" y="1290181"/>
            <a:ext cx="5721497" cy="3461506"/>
          </a:xfrm>
          <a:prstGeom prst="rect">
            <a:avLst/>
          </a:prstGeom>
        </p:spPr>
      </p:pic>
      <p:sp>
        <p:nvSpPr>
          <p:cNvPr id="5" name="Rounded Rectangle 4"/>
          <p:cNvSpPr/>
          <p:nvPr/>
        </p:nvSpPr>
        <p:spPr>
          <a:xfrm>
            <a:off x="1336431" y="2628101"/>
            <a:ext cx="1509079"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9" name="Rounded Rectangle 8"/>
          <p:cNvSpPr/>
          <p:nvPr/>
        </p:nvSpPr>
        <p:spPr>
          <a:xfrm>
            <a:off x="4583723" y="2628101"/>
            <a:ext cx="1509079" cy="470573"/>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0" name="Rounded Rectangle 9"/>
          <p:cNvSpPr/>
          <p:nvPr/>
        </p:nvSpPr>
        <p:spPr>
          <a:xfrm>
            <a:off x="4686032" y="3247292"/>
            <a:ext cx="1107299"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2" name="Rounded Rectangle 11"/>
          <p:cNvSpPr/>
          <p:nvPr/>
        </p:nvSpPr>
        <p:spPr>
          <a:xfrm>
            <a:off x="2869246" y="2628101"/>
            <a:ext cx="1509079"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3" name="Rounded Rectangle 12"/>
          <p:cNvSpPr/>
          <p:nvPr/>
        </p:nvSpPr>
        <p:spPr>
          <a:xfrm>
            <a:off x="1336430" y="3710618"/>
            <a:ext cx="1509079"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4" name="Rounded Rectangle 13"/>
          <p:cNvSpPr/>
          <p:nvPr/>
        </p:nvSpPr>
        <p:spPr>
          <a:xfrm>
            <a:off x="4683378" y="3720054"/>
            <a:ext cx="1109953"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5" name="Rounded Rectangle 14"/>
          <p:cNvSpPr/>
          <p:nvPr/>
        </p:nvSpPr>
        <p:spPr>
          <a:xfrm>
            <a:off x="4693494" y="1409268"/>
            <a:ext cx="1099837"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6" name="Rounded Rectangle 15"/>
          <p:cNvSpPr/>
          <p:nvPr/>
        </p:nvSpPr>
        <p:spPr>
          <a:xfrm>
            <a:off x="4683378" y="2202768"/>
            <a:ext cx="1167504"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
        <p:nvSpPr>
          <p:cNvPr id="17" name="Rounded Rectangle 16"/>
          <p:cNvSpPr/>
          <p:nvPr/>
        </p:nvSpPr>
        <p:spPr>
          <a:xfrm>
            <a:off x="1336429" y="3247292"/>
            <a:ext cx="1509079" cy="249382"/>
          </a:xfrm>
          <a:prstGeom prst="roundRect">
            <a:avLst/>
          </a:prstGeom>
          <a:noFill/>
          <a:ln w="12700" cap="rnd" cmpd="sng" algn="ctr">
            <a:solidFill>
              <a:srgbClr val="FFFF00"/>
            </a:solidFill>
            <a:prstDash val="solid"/>
          </a:ln>
          <a:effectLst/>
        </p:spPr>
        <p:txBody>
          <a:bodyPr rtlCol="0" anchor="ctr"/>
          <a:lstStyle/>
          <a:p>
            <a:pPr algn="ctr"/>
            <a:endParaRPr lang="en-US">
              <a:solidFill>
                <a:srgbClr val="5E6A71"/>
              </a:solidFill>
            </a:endParaRPr>
          </a:p>
        </p:txBody>
      </p:sp>
    </p:spTree>
    <p:extLst>
      <p:ext uri="{BB962C8B-B14F-4D97-AF65-F5344CB8AC3E}">
        <p14:creationId xmlns:p14="http://schemas.microsoft.com/office/powerpoint/2010/main" val="1475139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nl-NL"/>
              <a:t>1.6 Scope</a:t>
            </a:r>
          </a:p>
        </p:txBody>
      </p:sp>
      <p:sp>
        <p:nvSpPr>
          <p:cNvPr id="4" name="Slide Number Placeholder 3"/>
          <p:cNvSpPr>
            <a:spLocks noGrp="1"/>
          </p:cNvSpPr>
          <p:nvPr>
            <p:ph type="sldNum" sz="quarter" idx="10"/>
          </p:nvPr>
        </p:nvSpPr>
        <p:spPr/>
        <p:txBody>
          <a:bodyPr/>
          <a:lstStyle/>
          <a:p>
            <a:fld id="{9C7F1ACC-2CE8-4B5A-AF9E-0D67538731EE}" type="slidenum">
              <a:rPr lang="en-GB" smtClean="0"/>
              <a:pPr/>
              <a:t>7</a:t>
            </a:fld>
            <a:endParaRPr lang="en-GB"/>
          </a:p>
        </p:txBody>
      </p:sp>
      <p:sp>
        <p:nvSpPr>
          <p:cNvPr id="28" name="Tijdelijke aanduiding voor tekst 27"/>
          <p:cNvSpPr>
            <a:spLocks noGrp="1"/>
          </p:cNvSpPr>
          <p:nvPr>
            <p:ph type="body" sz="quarter" idx="15"/>
          </p:nvPr>
        </p:nvSpPr>
        <p:spPr/>
        <p:txBody>
          <a:bodyPr/>
          <a:lstStyle/>
          <a:p>
            <a:r>
              <a:rPr lang="nl-NL"/>
              <a:t> </a:t>
            </a:r>
          </a:p>
        </p:txBody>
      </p:sp>
      <p:graphicFrame>
        <p:nvGraphicFramePr>
          <p:cNvPr id="11" name="Tabel 10"/>
          <p:cNvGraphicFramePr>
            <a:graphicFrameLocks noGrp="1"/>
          </p:cNvGraphicFramePr>
          <p:nvPr>
            <p:extLst>
              <p:ext uri="{D42A27DB-BD31-4B8C-83A1-F6EECF244321}">
                <p14:modId xmlns:p14="http://schemas.microsoft.com/office/powerpoint/2010/main" val="2575676836"/>
              </p:ext>
            </p:extLst>
          </p:nvPr>
        </p:nvGraphicFramePr>
        <p:xfrm>
          <a:off x="476250" y="862479"/>
          <a:ext cx="8338567" cy="1787558"/>
        </p:xfrm>
        <a:graphic>
          <a:graphicData uri="http://schemas.openxmlformats.org/drawingml/2006/table">
            <a:tbl>
              <a:tblPr firstRow="1" bandRow="1">
                <a:tableStyleId>{17292A2E-F333-43FB-9621-5CBBE7FDCDCB}</a:tableStyleId>
              </a:tblPr>
              <a:tblGrid>
                <a:gridCol w="1334858">
                  <a:extLst>
                    <a:ext uri="{9D8B030D-6E8A-4147-A177-3AD203B41FA5}">
                      <a16:colId xmlns:a16="http://schemas.microsoft.com/office/drawing/2014/main" val="20000"/>
                    </a:ext>
                  </a:extLst>
                </a:gridCol>
                <a:gridCol w="3287365">
                  <a:extLst>
                    <a:ext uri="{9D8B030D-6E8A-4147-A177-3AD203B41FA5}">
                      <a16:colId xmlns:a16="http://schemas.microsoft.com/office/drawing/2014/main" val="20001"/>
                    </a:ext>
                  </a:extLst>
                </a:gridCol>
                <a:gridCol w="3716344">
                  <a:extLst>
                    <a:ext uri="{9D8B030D-6E8A-4147-A177-3AD203B41FA5}">
                      <a16:colId xmlns:a16="http://schemas.microsoft.com/office/drawing/2014/main" val="20002"/>
                    </a:ext>
                  </a:extLst>
                </a:gridCol>
              </a:tblGrid>
              <a:tr h="341033">
                <a:tc>
                  <a:txBody>
                    <a:bodyPr/>
                    <a:lstStyle/>
                    <a:p>
                      <a:pPr algn="l" fontAlgn="b"/>
                      <a:r>
                        <a:rPr lang="en-GB" sz="1100" i="1" u="none" strike="noStrike" noProof="0">
                          <a:solidFill>
                            <a:schemeClr val="tx1"/>
                          </a:solidFill>
                          <a:effectLst/>
                          <a:latin typeface="Calibri" panose="020F0502020204030204" pitchFamily="34" charset="0"/>
                          <a:cs typeface="Calibri" panose="020F0502020204030204" pitchFamily="34" charset="0"/>
                        </a:rPr>
                        <a:t>Business aspect</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alibri" panose="020F0502020204030204" pitchFamily="34" charset="0"/>
                          <a:cs typeface="Calibri" panose="020F0502020204030204" pitchFamily="34" charset="0"/>
                        </a:rPr>
                        <a:t>In Scope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alibri" panose="020F0502020204030204" pitchFamily="34" charset="0"/>
                          <a:cs typeface="Calibri" panose="020F0502020204030204" pitchFamily="34" charset="0"/>
                        </a:rPr>
                        <a:t>Out of scope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18765">
                <a:tc>
                  <a:txBody>
                    <a:bodyPr/>
                    <a:lstStyle/>
                    <a:p>
                      <a:pPr algn="l"/>
                      <a:r>
                        <a:rPr lang="en-US" sz="800" noProof="0">
                          <a:solidFill>
                            <a:schemeClr val="tx1"/>
                          </a:solidFill>
                          <a:latin typeface="Calibri" panose="020F0502020204030204" pitchFamily="34" charset="0"/>
                          <a:cs typeface="Calibri" panose="020F0502020204030204" pitchFamily="34" charset="0"/>
                        </a:rPr>
                        <a:t>Customer segments</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1" u="none" strike="noStrike" kern="1200" noProof="0">
                          <a:solidFill>
                            <a:srgbClr val="000000"/>
                          </a:solidFill>
                          <a:effectLst/>
                          <a:latin typeface="Calibri"/>
                          <a:ea typeface="+mn-ea"/>
                          <a:cs typeface="Calibri"/>
                        </a:rPr>
                        <a:t>RMM, RSME, Corporate, Rural, OP portfolios, Non-IRB models, Vista, RMAN, </a:t>
                      </a:r>
                      <a:r>
                        <a:rPr lang="en-US" sz="800" b="0" i="1" u="none" strike="noStrike" kern="1200" noProof="0" err="1">
                          <a:solidFill>
                            <a:srgbClr val="000000"/>
                          </a:solidFill>
                          <a:effectLst/>
                          <a:latin typeface="Calibri"/>
                          <a:ea typeface="+mn-ea"/>
                          <a:cs typeface="Calibri"/>
                        </a:rPr>
                        <a:t>Obvion</a:t>
                      </a:r>
                      <a:r>
                        <a:rPr lang="en-US" sz="800" b="0" i="1" u="none" strike="noStrike" kern="1200" noProof="0">
                          <a:solidFill>
                            <a:srgbClr val="000000"/>
                          </a:solidFill>
                          <a:effectLst/>
                          <a:latin typeface="Calibri"/>
                          <a:ea typeface="+mn-ea"/>
                          <a:cs typeface="Calibri"/>
                        </a:rPr>
                        <a:t>, IPRE, PF, COSAS, FS</a:t>
                      </a:r>
                      <a:endParaRPr lang="en-GB" sz="800" b="0" i="1" u="none" strike="noStrike" kern="1200">
                        <a:solidFill>
                          <a:srgbClr val="000000"/>
                        </a:solidFill>
                        <a:effectLst/>
                        <a:latin typeface="Calibri"/>
                        <a:ea typeface="+mn-ea"/>
                        <a:cs typeface="Calibri"/>
                      </a:endParaRP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1" u="none" strike="noStrike" kern="1200" noProof="0">
                          <a:solidFill>
                            <a:srgbClr val="000000"/>
                          </a:solidFill>
                          <a:effectLst/>
                          <a:latin typeface="Calibri" panose="020F0502020204030204" pitchFamily="34" charset="0"/>
                          <a:ea typeface="+mn-ea"/>
                          <a:cs typeface="Calibri" panose="020F0502020204030204" pitchFamily="34" charset="0"/>
                        </a:rPr>
                        <a:t>DLL</a:t>
                      </a:r>
                      <a:endParaRPr lang="en-GB" sz="800" b="0" i="1" u="none" strike="noStrike" kern="1200" noProof="0">
                        <a:solidFill>
                          <a:srgbClr val="000000"/>
                        </a:solidFill>
                        <a:effectLst/>
                        <a:latin typeface="Calibri" panose="020F0502020204030204" pitchFamily="34" charset="0"/>
                        <a:ea typeface="+mn-ea"/>
                        <a:cs typeface="Calibri" panose="020F0502020204030204" pitchFamily="34" charset="0"/>
                      </a:endParaRP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02850">
                <a:tc>
                  <a:txBody>
                    <a:bodyPr/>
                    <a:lstStyle/>
                    <a:p>
                      <a:pPr algn="l"/>
                      <a:r>
                        <a:rPr lang="en-US" sz="800" noProof="0">
                          <a:solidFill>
                            <a:schemeClr val="tx1"/>
                          </a:solidFill>
                          <a:latin typeface="Calibri" panose="020F0502020204030204" pitchFamily="34" charset="0"/>
                          <a:cs typeface="Calibri" panose="020F0502020204030204" pitchFamily="34" charset="0"/>
                        </a:rPr>
                        <a:t>Calculations</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1" u="none" strike="noStrike" kern="1200" noProof="0">
                          <a:solidFill>
                            <a:srgbClr val="000000"/>
                          </a:solidFill>
                          <a:effectLst/>
                          <a:latin typeface="Calibri" panose="020F0502020204030204" pitchFamily="34" charset="0"/>
                          <a:ea typeface="+mn-ea"/>
                          <a:cs typeface="Calibri" panose="020F0502020204030204" pitchFamily="34" charset="0"/>
                        </a:rPr>
                        <a:t>IRB, RWA, Basel IV SA RWA , ECL, RAROC &amp; ST, B-RDD</a:t>
                      </a:r>
                      <a:endParaRPr lang="en-US" sz="800" b="0" i="1" u="none" strike="noStrike" kern="1200" noProof="0">
                        <a:solidFill>
                          <a:srgbClr val="000000"/>
                        </a:solidFill>
                        <a:effectLst/>
                        <a:latin typeface="Calibri"/>
                        <a:ea typeface="+mn-ea"/>
                        <a:cs typeface="Calibri"/>
                      </a:endParaRP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1" u="none" strike="noStrike" baseline="0" noProof="0">
                          <a:solidFill>
                            <a:srgbClr val="000000"/>
                          </a:solidFill>
                          <a:effectLst/>
                          <a:latin typeface="Calibri"/>
                          <a:cs typeface="Calibri"/>
                        </a:rPr>
                        <a:t>EWS, Climate risk, Collateral eligibility calculation</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41481">
                <a:tc>
                  <a:txBody>
                    <a:bodyPr/>
                    <a:lstStyle/>
                    <a:p>
                      <a:pPr algn="l"/>
                      <a:r>
                        <a:rPr lang="en-US" sz="800" noProof="0">
                          <a:solidFill>
                            <a:schemeClr val="tx1"/>
                          </a:solidFill>
                          <a:latin typeface="Calibri" panose="020F0502020204030204" pitchFamily="34" charset="0"/>
                          <a:cs typeface="Calibri" panose="020F0502020204030204" pitchFamily="34" charset="0"/>
                        </a:rPr>
                        <a:t>Processes</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1" u="none" strike="noStrike" kern="1200" noProof="0">
                          <a:solidFill>
                            <a:srgbClr val="000000"/>
                          </a:solidFill>
                          <a:effectLst/>
                          <a:latin typeface="Calibri"/>
                          <a:ea typeface="+mn-ea"/>
                          <a:cs typeface="Calibri"/>
                        </a:rPr>
                        <a:t>UT5 to UT 13: Monthly Accounting &amp; Reporting, UT8, UT14 [Model Monitoring, Calibration &amp; Re(development)]</a:t>
                      </a:r>
                    </a:p>
                    <a:p>
                      <a:pPr marL="0" marR="0" lvl="0" indent="0" algn="l" defTabSz="456999" rtl="0" eaLnBrk="1" fontAlgn="b" latinLnBrk="0" hangingPunct="1">
                        <a:lnSpc>
                          <a:spcPct val="100000"/>
                        </a:lnSpc>
                        <a:spcBef>
                          <a:spcPts val="0"/>
                        </a:spcBef>
                        <a:spcAft>
                          <a:spcPts val="0"/>
                        </a:spcAft>
                        <a:buClrTx/>
                        <a:buSzTx/>
                        <a:buFontTx/>
                        <a:buNone/>
                        <a:tabLst/>
                        <a:defRPr/>
                      </a:pPr>
                      <a:r>
                        <a:rPr lang="en-US" sz="800" b="0" i="1" u="none" strike="noStrike" kern="1200" noProof="0">
                          <a:solidFill>
                            <a:srgbClr val="000000"/>
                          </a:solidFill>
                          <a:effectLst/>
                          <a:latin typeface="Calibri"/>
                          <a:ea typeface="+mn-ea"/>
                          <a:cs typeface="Calibri"/>
                        </a:rPr>
                        <a:t>UT3 (CRC triggers) and UT4 ( SAM - latest PD/RRR ) – nBIF positively impact these UT’s by making risk parameters directly available in CRPR</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1" u="none" strike="noStrike" noProof="0">
                          <a:solidFill>
                            <a:srgbClr val="000000"/>
                          </a:solidFill>
                          <a:effectLst/>
                          <a:latin typeface="Calibri"/>
                          <a:cs typeface="Calibri"/>
                        </a:rPr>
                        <a:t>UT1</a:t>
                      </a:r>
                      <a:r>
                        <a:rPr lang="en-US" sz="800" b="0" i="1" u="none" strike="noStrike" baseline="0" noProof="0">
                          <a:solidFill>
                            <a:srgbClr val="000000"/>
                          </a:solidFill>
                          <a:effectLst/>
                          <a:latin typeface="Calibri"/>
                          <a:cs typeface="Calibri"/>
                        </a:rPr>
                        <a:t> &amp;</a:t>
                      </a:r>
                      <a:r>
                        <a:rPr lang="en-US" sz="800" b="0" i="1" u="none" strike="noStrike" noProof="0">
                          <a:solidFill>
                            <a:srgbClr val="000000"/>
                          </a:solidFill>
                          <a:effectLst/>
                          <a:latin typeface="Calibri"/>
                          <a:cs typeface="Calibri"/>
                        </a:rPr>
                        <a:t> UT2 [online]</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187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noProof="0">
                          <a:solidFill>
                            <a:schemeClr val="tx1"/>
                          </a:solidFill>
                          <a:latin typeface="Calibri" panose="020F0502020204030204" pitchFamily="34" charset="0"/>
                          <a:cs typeface="Calibri" panose="020F0502020204030204" pitchFamily="34" charset="0"/>
                        </a:rPr>
                        <a:t>User groups</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1" u="none" strike="noStrike" kern="1200" noProof="0">
                          <a:solidFill>
                            <a:srgbClr val="000000"/>
                          </a:solidFill>
                          <a:effectLst/>
                          <a:latin typeface="Calibri" panose="020F0502020204030204" pitchFamily="34" charset="0"/>
                          <a:ea typeface="+mn-ea"/>
                          <a:cs typeface="Calibri" panose="020F0502020204030204" pitchFamily="34" charset="0"/>
                        </a:rPr>
                        <a:t>Credit Analytics/RME </a:t>
                      </a:r>
                      <a:r>
                        <a:rPr lang="en-GB" sz="800" b="0" i="1" u="none" strike="noStrike" kern="1200" noProof="0">
                          <a:solidFill>
                            <a:srgbClr val="000000"/>
                          </a:solidFill>
                          <a:effectLst/>
                          <a:latin typeface="Calibri"/>
                          <a:ea typeface="+mn-ea"/>
                          <a:cs typeface="Calibri"/>
                        </a:rPr>
                        <a:t>, </a:t>
                      </a:r>
                      <a:r>
                        <a:rPr lang="en-GB" sz="800" b="0" i="1" u="none" strike="noStrike" kern="1200" noProof="0">
                          <a:solidFill>
                            <a:srgbClr val="000000"/>
                          </a:solidFill>
                          <a:effectLst/>
                          <a:latin typeface="Calibri" panose="020F0502020204030204" pitchFamily="34" charset="0"/>
                          <a:ea typeface="+mn-ea"/>
                          <a:cs typeface="Calibri" panose="020F0502020204030204" pitchFamily="34" charset="0"/>
                        </a:rPr>
                        <a:t>Data Foundation</a:t>
                      </a:r>
                      <a:r>
                        <a:rPr lang="en-GB" sz="800" b="0" i="1" u="none" strike="noStrike" kern="1200" baseline="0" noProof="0">
                          <a:solidFill>
                            <a:srgbClr val="000000"/>
                          </a:solidFill>
                          <a:effectLst/>
                          <a:latin typeface="Calibri" panose="020F0502020204030204" pitchFamily="34" charset="0"/>
                          <a:ea typeface="+mn-ea"/>
                          <a:cs typeface="Calibri" panose="020F0502020204030204" pitchFamily="34" charset="0"/>
                        </a:rPr>
                        <a:t>, </a:t>
                      </a:r>
                      <a:r>
                        <a:rPr lang="en-GB" sz="800" b="0" i="1" kern="1200" baseline="0" noProof="0">
                          <a:solidFill>
                            <a:schemeClr val="tx1"/>
                          </a:solidFill>
                          <a:latin typeface="Calibri" panose="020F0502020204030204" pitchFamily="34" charset="0"/>
                          <a:ea typeface="+mn-ea"/>
                          <a:cs typeface="Calibri" panose="020F0502020204030204" pitchFamily="34" charset="0"/>
                        </a:rPr>
                        <a:t>Credit core</a:t>
                      </a:r>
                      <a:endParaRPr lang="en-US" sz="800" b="0" i="1" kern="1200" noProof="0">
                        <a:solidFill>
                          <a:schemeClr val="tx1"/>
                        </a:solidFill>
                        <a:latin typeface="Calibri" panose="020F0502020204030204" pitchFamily="34" charset="0"/>
                        <a:ea typeface="+mn-ea"/>
                        <a:cs typeface="Calibri" panose="020F0502020204030204" pitchFamily="34" charset="0"/>
                      </a:endParaRP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1" kern="1200" baseline="0" noProof="0">
                          <a:solidFill>
                            <a:schemeClr val="tx1"/>
                          </a:solidFill>
                          <a:latin typeface="Calibri" panose="020F0502020204030204" pitchFamily="34" charset="0"/>
                          <a:ea typeface="+mn-ea"/>
                          <a:cs typeface="Calibri" panose="020F0502020204030204" pitchFamily="34" charset="0"/>
                        </a:rPr>
                        <a:t>External Reporting ; &amp; Internal Reporting</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aphicFrame>
        <p:nvGraphicFramePr>
          <p:cNvPr id="13" name="Tabel 12"/>
          <p:cNvGraphicFramePr>
            <a:graphicFrameLocks noGrp="1"/>
          </p:cNvGraphicFramePr>
          <p:nvPr>
            <p:extLst>
              <p:ext uri="{D42A27DB-BD31-4B8C-83A1-F6EECF244321}">
                <p14:modId xmlns:p14="http://schemas.microsoft.com/office/powerpoint/2010/main" val="197600366"/>
              </p:ext>
            </p:extLst>
          </p:nvPr>
        </p:nvGraphicFramePr>
        <p:xfrm>
          <a:off x="470959" y="2852500"/>
          <a:ext cx="8342731" cy="1630680"/>
        </p:xfrm>
        <a:graphic>
          <a:graphicData uri="http://schemas.openxmlformats.org/drawingml/2006/table">
            <a:tbl>
              <a:tblPr firstRow="1" bandRow="1">
                <a:tableStyleId>{17292A2E-F333-43FB-9621-5CBBE7FDCDCB}</a:tableStyleId>
              </a:tblPr>
              <a:tblGrid>
                <a:gridCol w="1271371">
                  <a:extLst>
                    <a:ext uri="{9D8B030D-6E8A-4147-A177-3AD203B41FA5}">
                      <a16:colId xmlns:a16="http://schemas.microsoft.com/office/drawing/2014/main" val="20000"/>
                    </a:ext>
                  </a:extLst>
                </a:gridCol>
                <a:gridCol w="3364992">
                  <a:extLst>
                    <a:ext uri="{9D8B030D-6E8A-4147-A177-3AD203B41FA5}">
                      <a16:colId xmlns:a16="http://schemas.microsoft.com/office/drawing/2014/main" val="20001"/>
                    </a:ext>
                  </a:extLst>
                </a:gridCol>
                <a:gridCol w="3706368">
                  <a:extLst>
                    <a:ext uri="{9D8B030D-6E8A-4147-A177-3AD203B41FA5}">
                      <a16:colId xmlns:a16="http://schemas.microsoft.com/office/drawing/2014/main" val="20002"/>
                    </a:ext>
                  </a:extLst>
                </a:gridCol>
              </a:tblGrid>
              <a:tr h="211955">
                <a:tc>
                  <a:txBody>
                    <a:bodyPr/>
                    <a:lstStyle/>
                    <a:p>
                      <a:pPr algn="l" fontAlgn="b"/>
                      <a:r>
                        <a:rPr lang="en-GB" sz="1100" i="1" u="none" strike="noStrike" noProof="0">
                          <a:solidFill>
                            <a:schemeClr val="tx1"/>
                          </a:solidFill>
                          <a:effectLst/>
                          <a:latin typeface="Calibri" panose="020F0502020204030204" pitchFamily="34" charset="0"/>
                          <a:cs typeface="Calibri" panose="020F0502020204030204" pitchFamily="34" charset="0"/>
                        </a:rPr>
                        <a:t>IT aspect</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alibri" panose="020F0502020204030204" pitchFamily="34" charset="0"/>
                          <a:cs typeface="Calibri" panose="020F0502020204030204" pitchFamily="34" charset="0"/>
                        </a:rPr>
                        <a:t>In Scope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alibri" panose="020F0502020204030204" pitchFamily="34" charset="0"/>
                          <a:cs typeface="Calibri" panose="020F0502020204030204" pitchFamily="34" charset="0"/>
                        </a:rPr>
                        <a:t>Out of scope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74039">
                <a:tc>
                  <a:txBody>
                    <a:bodyPr/>
                    <a:lstStyle/>
                    <a:p>
                      <a:pPr marL="0" algn="l" defTabSz="456999" rtl="0" eaLnBrk="1" fontAlgn="b" latinLnBrk="0" hangingPunct="1"/>
                      <a:r>
                        <a:rPr lang="en-US" sz="800" b="0" i="0" u="none" strike="noStrike" kern="1200" noProof="0">
                          <a:solidFill>
                            <a:srgbClr val="000000"/>
                          </a:solidFill>
                          <a:effectLst/>
                          <a:latin typeface="Calibri"/>
                          <a:ea typeface="+mn-ea"/>
                          <a:cs typeface="Calibri"/>
                        </a:rPr>
                        <a:t>Applications</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IN" sz="800" b="0" i="1" u="none" strike="noStrike" baseline="0" noProof="0">
                          <a:solidFill>
                            <a:srgbClr val="000000"/>
                          </a:solidFill>
                          <a:effectLst/>
                          <a:latin typeface="Calibri" panose="020F0502020204030204" pitchFamily="34" charset="0"/>
                          <a:cs typeface="Calibri" panose="020F0502020204030204" pitchFamily="34" charset="0"/>
                        </a:rPr>
                        <a:t>nBIF</a:t>
                      </a:r>
                      <a:r>
                        <a:rPr lang="en-US" sz="800" b="0" i="1" u="none" strike="noStrike" baseline="0" noProof="0">
                          <a:solidFill>
                            <a:srgbClr val="000000"/>
                          </a:solidFill>
                          <a:effectLst/>
                          <a:latin typeface="Calibri" panose="020F0502020204030204" pitchFamily="34" charset="0"/>
                          <a:cs typeface="Calibri" panose="020F0502020204030204" pitchFamily="34" charset="0"/>
                        </a:rPr>
                        <a:t>  Data Management, Orchestration of Model calculators </a:t>
                      </a:r>
                      <a:r>
                        <a:rPr lang="en-GB" sz="800" b="0" i="1" u="none" strike="noStrike" baseline="0" noProof="0">
                          <a:solidFill>
                            <a:srgbClr val="000000"/>
                          </a:solidFill>
                          <a:effectLst/>
                          <a:latin typeface="Calibri" panose="020F0502020204030204" pitchFamily="34" charset="0"/>
                          <a:cs typeface="Calibri" panose="020F0502020204030204" pitchFamily="34" charset="0"/>
                        </a:rPr>
                        <a:t>and validation of risk parameters for UT5</a:t>
                      </a:r>
                      <a:r>
                        <a:rPr lang="en-US" sz="800" b="0" i="1" u="none" strike="noStrike" baseline="0" noProof="0">
                          <a:solidFill>
                            <a:srgbClr val="000000"/>
                          </a:solidFill>
                          <a:effectLst/>
                          <a:latin typeface="Calibri" panose="020F0502020204030204" pitchFamily="34" charset="0"/>
                          <a:cs typeface="Calibri" panose="020F0502020204030204" pitchFamily="34" charset="0"/>
                        </a:rPr>
                        <a:t>, UT8, UT9,</a:t>
                      </a:r>
                    </a:p>
                    <a:p>
                      <a:pPr marL="0" marR="0" lvl="0" indent="0" algn="l" defTabSz="456999" rtl="0" eaLnBrk="1" fontAlgn="b" latinLnBrk="0" hangingPunct="1">
                        <a:lnSpc>
                          <a:spcPct val="100000"/>
                        </a:lnSpc>
                        <a:spcBef>
                          <a:spcPts val="0"/>
                        </a:spcBef>
                        <a:spcAft>
                          <a:spcPts val="0"/>
                        </a:spcAft>
                        <a:buClrTx/>
                        <a:buSzTx/>
                        <a:buFontTx/>
                        <a:buNone/>
                        <a:tabLst/>
                        <a:defRPr/>
                      </a:pPr>
                      <a:r>
                        <a:rPr lang="en-US" sz="800" b="0" i="1" u="none" strike="noStrike" baseline="0" noProof="0">
                          <a:solidFill>
                            <a:srgbClr val="000000"/>
                          </a:solidFill>
                          <a:effectLst/>
                          <a:latin typeface="Calibri" panose="020F0502020204030204" pitchFamily="34" charset="0"/>
                          <a:cs typeface="Calibri" panose="020F0502020204030204" pitchFamily="34" charset="0"/>
                        </a:rPr>
                        <a:t>User Interaction – Inspection &amp; correction etc.</a:t>
                      </a:r>
                    </a:p>
                    <a:p>
                      <a:pPr marL="0" marR="0" lvl="0" indent="0" algn="l" defTabSz="456999" rtl="0" eaLnBrk="1" fontAlgn="b" latinLnBrk="0" hangingPunct="1">
                        <a:lnSpc>
                          <a:spcPct val="100000"/>
                        </a:lnSpc>
                        <a:spcBef>
                          <a:spcPts val="0"/>
                        </a:spcBef>
                        <a:spcAft>
                          <a:spcPts val="0"/>
                        </a:spcAft>
                        <a:buClrTx/>
                        <a:buSzTx/>
                        <a:buFontTx/>
                        <a:buNone/>
                        <a:tabLst/>
                        <a:defRPr/>
                      </a:pPr>
                      <a:r>
                        <a:rPr lang="en-US" sz="800" b="0" i="1" u="none" strike="noStrike" noProof="0">
                          <a:solidFill>
                            <a:srgbClr val="000000"/>
                          </a:solidFill>
                          <a:effectLst/>
                          <a:latin typeface="Calibri" panose="020F0502020204030204" pitchFamily="34" charset="0"/>
                          <a:cs typeface="Calibri" panose="020F0502020204030204" pitchFamily="34" charset="0"/>
                        </a:rPr>
                        <a:t>Impact to existing</a:t>
                      </a:r>
                      <a:r>
                        <a:rPr lang="en-US" sz="800" b="0" i="1" u="none" strike="noStrike" baseline="0" noProof="0">
                          <a:solidFill>
                            <a:srgbClr val="000000"/>
                          </a:solidFill>
                          <a:effectLst/>
                          <a:latin typeface="Calibri" panose="020F0502020204030204" pitchFamily="34" charset="0"/>
                          <a:cs typeface="Calibri" panose="020F0502020204030204" pitchFamily="34" charset="0"/>
                        </a:rPr>
                        <a:t> application</a:t>
                      </a:r>
                      <a:r>
                        <a:rPr lang="en-US" sz="800" b="0" i="1" u="none" strike="noStrike" noProof="0">
                          <a:solidFill>
                            <a:srgbClr val="000000"/>
                          </a:solidFill>
                          <a:effectLst/>
                          <a:latin typeface="Calibri" panose="020F0502020204030204" pitchFamily="34" charset="0"/>
                          <a:cs typeface="Calibri" panose="020F0502020204030204" pitchFamily="34" charset="0"/>
                        </a:rPr>
                        <a:t>: CAM, GRFD, CFO Hub,</a:t>
                      </a:r>
                      <a:r>
                        <a:rPr lang="en-US" sz="800" b="0" i="1" u="none" strike="noStrike" baseline="0" noProof="0">
                          <a:solidFill>
                            <a:srgbClr val="000000"/>
                          </a:solidFill>
                          <a:effectLst/>
                          <a:latin typeface="Calibri" panose="020F0502020204030204" pitchFamily="34" charset="0"/>
                          <a:cs typeface="Calibri" panose="020F0502020204030204" pitchFamily="34" charset="0"/>
                        </a:rPr>
                        <a:t>  CRPR etc.</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1" u="none" strike="noStrike" noProof="0">
                          <a:solidFill>
                            <a:srgbClr val="000000"/>
                          </a:solidFill>
                          <a:effectLst/>
                          <a:latin typeface="Calibri" panose="020F0502020204030204" pitchFamily="34" charset="0"/>
                          <a:cs typeface="Calibri" panose="020F0502020204030204" pitchFamily="34" charset="0"/>
                        </a:rPr>
                        <a:t>Decommissioning of model orchestration functions from GRFD</a:t>
                      </a:r>
                    </a:p>
                    <a:p>
                      <a:pPr algn="l" fontAlgn="b"/>
                      <a:r>
                        <a:rPr lang="en-GB" sz="800" b="0" i="1" u="none" strike="noStrike" noProof="0">
                          <a:solidFill>
                            <a:srgbClr val="000000"/>
                          </a:solidFill>
                          <a:effectLst/>
                          <a:latin typeface="Calibri" panose="020F0502020204030204" pitchFamily="34" charset="0"/>
                          <a:cs typeface="Calibri" panose="020F0502020204030204" pitchFamily="34" charset="0"/>
                        </a:rPr>
                        <a:t>LBB Bubble</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4295">
                <a:tc>
                  <a:txBody>
                    <a:bodyPr/>
                    <a:lstStyle/>
                    <a:p>
                      <a:pPr marL="0" algn="l" defTabSz="456999" rtl="0" eaLnBrk="1" fontAlgn="b" latinLnBrk="0" hangingPunct="1"/>
                      <a:r>
                        <a:rPr lang="en-US" sz="800" b="0" i="0" u="none" strike="noStrike" kern="1200" noProof="0">
                          <a:solidFill>
                            <a:srgbClr val="000000"/>
                          </a:solidFill>
                          <a:effectLst/>
                          <a:latin typeface="Calibri"/>
                          <a:ea typeface="+mn-ea"/>
                          <a:cs typeface="Calibri"/>
                        </a:rPr>
                        <a:t>Middleware</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0" u="none" strike="noStrike" noProof="0">
                          <a:solidFill>
                            <a:srgbClr val="000000"/>
                          </a:solidFill>
                          <a:effectLst/>
                          <a:latin typeface="Calibri" panose="020F0502020204030204" pitchFamily="34" charset="0"/>
                          <a:cs typeface="Calibri" panose="020F0502020204030204" pitchFamily="34" charset="0"/>
                        </a:rPr>
                        <a:t>Data sourcing from GRFD</a:t>
                      </a:r>
                      <a:r>
                        <a:rPr lang="en-US" sz="800" b="0" i="0" u="none" strike="noStrike" baseline="0" noProof="0">
                          <a:solidFill>
                            <a:srgbClr val="000000"/>
                          </a:solidFill>
                          <a:effectLst/>
                          <a:latin typeface="Calibri" panose="020F0502020204030204" pitchFamily="34" charset="0"/>
                          <a:cs typeface="Calibri" panose="020F0502020204030204" pitchFamily="34" charset="0"/>
                        </a:rPr>
                        <a:t> to </a:t>
                      </a:r>
                      <a:r>
                        <a:rPr lang="en-IN" sz="800" b="0" i="0" u="none" strike="noStrike" baseline="0" noProof="0">
                          <a:solidFill>
                            <a:srgbClr val="000000"/>
                          </a:solidFill>
                          <a:effectLst/>
                          <a:latin typeface="Calibri" panose="020F0502020204030204" pitchFamily="34" charset="0"/>
                          <a:cs typeface="Calibri" panose="020F0502020204030204" pitchFamily="34" charset="0"/>
                        </a:rPr>
                        <a:t>nBIF</a:t>
                      </a:r>
                      <a:r>
                        <a:rPr lang="en-US" sz="800" b="0" i="0" u="none" strike="noStrike" baseline="0" noProof="0">
                          <a:solidFill>
                            <a:srgbClr val="000000"/>
                          </a:solidFill>
                          <a:effectLst/>
                          <a:latin typeface="Calibri" panose="020F0502020204030204" pitchFamily="34" charset="0"/>
                          <a:cs typeface="Calibri" panose="020F0502020204030204" pitchFamily="34" charset="0"/>
                        </a:rPr>
                        <a:t> . </a:t>
                      </a:r>
                    </a:p>
                    <a:p>
                      <a:pPr algn="l" fontAlgn="b"/>
                      <a:r>
                        <a:rPr lang="en-US" sz="800" b="0" i="0" u="none" strike="noStrike" baseline="0" noProof="0">
                          <a:solidFill>
                            <a:srgbClr val="000000"/>
                          </a:solidFill>
                          <a:effectLst/>
                          <a:latin typeface="Calibri" panose="020F0502020204030204" pitchFamily="34" charset="0"/>
                          <a:cs typeface="Calibri" panose="020F0502020204030204" pitchFamily="34" charset="0"/>
                        </a:rPr>
                        <a:t>Data provisioning to GRFD, CRPR etc. from </a:t>
                      </a:r>
                      <a:r>
                        <a:rPr lang="en-IN" sz="800" b="0" i="0" u="none" strike="noStrike" baseline="0" noProof="0">
                          <a:solidFill>
                            <a:srgbClr val="000000"/>
                          </a:solidFill>
                          <a:effectLst/>
                          <a:latin typeface="Calibri" panose="020F0502020204030204" pitchFamily="34" charset="0"/>
                          <a:cs typeface="Calibri" panose="020F0502020204030204" pitchFamily="34" charset="0"/>
                        </a:rPr>
                        <a:t>nBIF</a:t>
                      </a:r>
                      <a:r>
                        <a:rPr lang="en-US" sz="800" b="0" i="0" u="none" strike="noStrike" baseline="0" noProof="0">
                          <a:solidFill>
                            <a:srgbClr val="000000"/>
                          </a:solidFill>
                          <a:effectLst/>
                          <a:latin typeface="Calibri" panose="020F0502020204030204" pitchFamily="34" charset="0"/>
                          <a:cs typeface="Calibri" panose="020F0502020204030204" pitchFamily="34" charset="0"/>
                        </a:rPr>
                        <a:t> </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0" u="none" strike="noStrike" noProof="0">
                          <a:solidFill>
                            <a:srgbClr val="000000"/>
                          </a:solidFill>
                          <a:effectLst/>
                          <a:latin typeface="Calibri"/>
                          <a:cs typeface="Calibri"/>
                        </a:rPr>
                        <a:t>Data Sourcing from Golden Sources to GRFD, Credit Data Zipper, LBB bubble etc.</a:t>
                      </a:r>
                      <a:endParaRPr lang="en-GB" sz="800" b="0" i="0" u="none" strike="noStrike" noProof="0">
                        <a:solidFill>
                          <a:srgbClr val="000000"/>
                        </a:solidFill>
                        <a:effectLst/>
                        <a:latin typeface="Calibri"/>
                        <a:cs typeface="Calibri"/>
                      </a:endParaRP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4552">
                <a:tc>
                  <a:txBody>
                    <a:bodyPr/>
                    <a:lstStyle/>
                    <a:p>
                      <a:pPr marL="0" algn="l" defTabSz="456999" rtl="0" eaLnBrk="1" fontAlgn="b" latinLnBrk="0" hangingPunct="1"/>
                      <a:r>
                        <a:rPr lang="en-US" sz="800" b="0" i="0" u="none" strike="noStrike" kern="1200" noProof="0">
                          <a:solidFill>
                            <a:srgbClr val="000000"/>
                          </a:solidFill>
                          <a:effectLst/>
                          <a:latin typeface="Calibri"/>
                          <a:ea typeface="+mn-ea"/>
                          <a:cs typeface="Calibri"/>
                        </a:rPr>
                        <a:t>Infrastructure</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noProof="0">
                          <a:solidFill>
                            <a:srgbClr val="000000"/>
                          </a:solidFill>
                          <a:effectLst/>
                          <a:latin typeface="Calibri" panose="020F0502020204030204" pitchFamily="34" charset="0"/>
                          <a:cs typeface="Calibri" panose="020F0502020204030204" pitchFamily="34" charset="0"/>
                        </a:rPr>
                        <a:t>Data storage, </a:t>
                      </a:r>
                      <a:r>
                        <a:rPr lang="en-US" sz="800" b="0" i="0" u="none" strike="noStrike" baseline="0" noProof="0">
                          <a:solidFill>
                            <a:srgbClr val="000000"/>
                          </a:solidFill>
                          <a:effectLst/>
                          <a:latin typeface="Calibri" panose="020F0502020204030204" pitchFamily="34" charset="0"/>
                          <a:cs typeface="Calibri" panose="020F0502020204030204" pitchFamily="34" charset="0"/>
                        </a:rPr>
                        <a:t>Data logistics</a:t>
                      </a:r>
                      <a:endParaRPr lang="en-US" sz="800" b="0" i="0" u="none" strike="noStrike" noProof="0">
                        <a:solidFill>
                          <a:srgbClr val="000000"/>
                        </a:solidFill>
                        <a:effectLst/>
                        <a:latin typeface="Calibri" panose="020F0502020204030204" pitchFamily="34" charset="0"/>
                        <a:cs typeface="Calibri" panose="020F0502020204030204" pitchFamily="34" charset="0"/>
                      </a:endParaRPr>
                    </a:p>
                    <a:p>
                      <a:pPr algn="l" fontAlgn="b"/>
                      <a:r>
                        <a:rPr lang="en-US" sz="800" b="0" i="0" u="none" strike="noStrike" noProof="0">
                          <a:solidFill>
                            <a:srgbClr val="000000"/>
                          </a:solidFill>
                          <a:effectLst/>
                          <a:latin typeface="Calibri" panose="020F0502020204030204" pitchFamily="34" charset="0"/>
                          <a:cs typeface="Calibri" panose="020F0502020204030204" pitchFamily="34" charset="0"/>
                        </a:rPr>
                        <a:t>Workflow Orchestrator for</a:t>
                      </a:r>
                      <a:r>
                        <a:rPr lang="en-US" sz="800" b="0" i="0" u="none" strike="noStrike" baseline="0" noProof="0">
                          <a:solidFill>
                            <a:srgbClr val="000000"/>
                          </a:solidFill>
                          <a:effectLst/>
                          <a:latin typeface="Calibri" panose="020F0502020204030204" pitchFamily="34" charset="0"/>
                          <a:cs typeface="Calibri" panose="020F0502020204030204" pitchFamily="34" charset="0"/>
                        </a:rPr>
                        <a:t> </a:t>
                      </a:r>
                      <a:r>
                        <a:rPr lang="en-IN" sz="800" b="0" i="0" u="none" strike="noStrike" baseline="0" noProof="0">
                          <a:solidFill>
                            <a:srgbClr val="000000"/>
                          </a:solidFill>
                          <a:effectLst/>
                          <a:latin typeface="Calibri" panose="020F0502020204030204" pitchFamily="34" charset="0"/>
                          <a:cs typeface="Calibri" panose="020F0502020204030204" pitchFamily="34" charset="0"/>
                        </a:rPr>
                        <a:t>nBIF</a:t>
                      </a:r>
                      <a:r>
                        <a:rPr lang="en-US" sz="800" b="0" i="0" u="none" strike="noStrike" baseline="0" noProof="0">
                          <a:solidFill>
                            <a:srgbClr val="000000"/>
                          </a:solidFill>
                          <a:effectLst/>
                          <a:latin typeface="Calibri" panose="020F0502020204030204" pitchFamily="34" charset="0"/>
                          <a:cs typeface="Calibri" panose="020F0502020204030204" pitchFamily="34" charset="0"/>
                        </a:rPr>
                        <a:t> </a:t>
                      </a:r>
                    </a:p>
                    <a:p>
                      <a:pPr algn="l" fontAlgn="b"/>
                      <a:r>
                        <a:rPr lang="en-GB" sz="800" b="0" i="0" u="none" strike="noStrike" noProof="0">
                          <a:solidFill>
                            <a:srgbClr val="000000"/>
                          </a:solidFill>
                          <a:effectLst/>
                          <a:latin typeface="Calibri" panose="020F0502020204030204" pitchFamily="34" charset="0"/>
                          <a:cs typeface="Calibri" panose="020F0502020204030204" pitchFamily="34" charset="0"/>
                        </a:rPr>
                        <a:t>User Interface for Inspection, ad-hoc runs etc</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800" b="0" i="0" u="none" strike="noStrike" noProof="0">
                          <a:solidFill>
                            <a:srgbClr val="000000"/>
                          </a:solidFill>
                          <a:effectLst/>
                          <a:latin typeface="Calibri" panose="020F0502020204030204" pitchFamily="34" charset="0"/>
                          <a:cs typeface="Calibri" panose="020F0502020204030204" pitchFamily="34" charset="0"/>
                        </a:rPr>
                        <a:t>Calculator platform (CAS)</a:t>
                      </a:r>
                      <a:endParaRPr lang="en-GB" sz="800" b="0" i="0" u="none" strike="noStrike" noProof="0">
                        <a:solidFill>
                          <a:srgbClr val="000000"/>
                        </a:solidFill>
                        <a:effectLst/>
                        <a:latin typeface="Calibri" panose="020F0502020204030204" pitchFamily="34" charset="0"/>
                        <a:cs typeface="Calibri" panose="020F0502020204030204" pitchFamily="34" charset="0"/>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15"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2855572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8">
            <a:extLst>
              <a:ext uri="{FF2B5EF4-FFF2-40B4-BE49-F238E27FC236}">
                <a16:creationId xmlns:a16="http://schemas.microsoft.com/office/drawing/2014/main" id="{AC96556C-E905-40A3-8E71-E46B1C13D8D1}"/>
              </a:ext>
            </a:extLst>
          </p:cNvPr>
          <p:cNvSpPr/>
          <p:nvPr/>
        </p:nvSpPr>
        <p:spPr bwMode="auto">
          <a:xfrm>
            <a:off x="359331" y="1635250"/>
            <a:ext cx="8424452" cy="2004353"/>
          </a:xfrm>
          <a:prstGeom prst="rect">
            <a:avLst/>
          </a:prstGeom>
          <a:solidFill>
            <a:schemeClr val="accent5">
              <a:lumMod val="20000"/>
              <a:lumOff val="80000"/>
            </a:schemeClr>
          </a:solidFill>
          <a:ln w="12700" cap="flat" cmpd="sng" algn="ctr">
            <a:solidFill>
              <a:srgbClr val="000099"/>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900">
              <a:latin typeface="Calibri" panose="020F0502020204030204" pitchFamily="34" charset="0"/>
              <a:cs typeface="Calibri" panose="020F0502020204030204" pitchFamily="34" charset="0"/>
            </a:endParaRPr>
          </a:p>
        </p:txBody>
      </p:sp>
      <p:sp>
        <p:nvSpPr>
          <p:cNvPr id="2" name="Titel 1"/>
          <p:cNvSpPr>
            <a:spLocks noGrp="1"/>
          </p:cNvSpPr>
          <p:nvPr>
            <p:ph type="title"/>
          </p:nvPr>
        </p:nvSpPr>
        <p:spPr>
          <a:xfrm>
            <a:off x="488020" y="160621"/>
            <a:ext cx="7464026" cy="875509"/>
          </a:xfrm>
        </p:spPr>
        <p:txBody>
          <a:bodyPr/>
          <a:lstStyle/>
          <a:p>
            <a:r>
              <a:rPr lang="en-US"/>
              <a:t>1.7 Overview of </a:t>
            </a:r>
            <a:r>
              <a:rPr lang="en-IN"/>
              <a:t>nBIF</a:t>
            </a:r>
            <a:r>
              <a:rPr lang="en-US"/>
              <a:t> PSA and related PSA’s</a:t>
            </a:r>
          </a:p>
        </p:txBody>
      </p:sp>
      <p:sp>
        <p:nvSpPr>
          <p:cNvPr id="3" name="Tijdelijke aanduiding voor dianummer 2"/>
          <p:cNvSpPr>
            <a:spLocks noGrp="1"/>
          </p:cNvSpPr>
          <p:nvPr>
            <p:ph type="sldNum" sz="quarter" idx="10"/>
          </p:nvPr>
        </p:nvSpPr>
        <p:spPr/>
        <p:txBody>
          <a:bodyPr/>
          <a:lstStyle/>
          <a:p>
            <a:fld id="{4821C4A5-98F2-7545-875B-39B2F4500447}" type="slidenum">
              <a:rPr lang="en-US" smtClean="0">
                <a:latin typeface="Calibri" panose="020F0502020204030204" pitchFamily="34" charset="0"/>
                <a:cs typeface="Calibri" panose="020F0502020204030204" pitchFamily="34" charset="0"/>
              </a:rPr>
              <a:pPr/>
              <a:t>8</a:t>
            </a:fld>
            <a:endParaRPr lang="en-US">
              <a:latin typeface="Calibri" panose="020F0502020204030204" pitchFamily="34" charset="0"/>
              <a:cs typeface="Calibri" panose="020F0502020204030204" pitchFamily="34" charset="0"/>
            </a:endParaRPr>
          </a:p>
        </p:txBody>
      </p:sp>
      <p:sp>
        <p:nvSpPr>
          <p:cNvPr id="4" name="Tijdelijke aanduiding voor inhoud 3"/>
          <p:cNvSpPr>
            <a:spLocks noGrp="1"/>
          </p:cNvSpPr>
          <p:nvPr>
            <p:ph sz="quarter" idx="11"/>
          </p:nvPr>
        </p:nvSpPr>
        <p:spPr>
          <a:xfrm>
            <a:off x="488020" y="823225"/>
            <a:ext cx="8058408" cy="350970"/>
          </a:xfrm>
        </p:spPr>
        <p:txBody>
          <a:bodyPr/>
          <a:lstStyle/>
          <a:p>
            <a:pPr marL="0" indent="0">
              <a:buNone/>
            </a:pPr>
            <a:r>
              <a:rPr lang="en-US" sz="1400">
                <a:solidFill>
                  <a:schemeClr val="accent2"/>
                </a:solidFill>
                <a:cs typeface="+mn-cs"/>
              </a:rPr>
              <a:t>The goal of this PSA is to describe the role and positioning of </a:t>
            </a:r>
            <a:r>
              <a:rPr lang="en-IN" sz="1400">
                <a:solidFill>
                  <a:schemeClr val="accent2"/>
                </a:solidFill>
                <a:cs typeface="+mn-cs"/>
              </a:rPr>
              <a:t>n-Bridge</a:t>
            </a:r>
            <a:r>
              <a:rPr lang="en-US" sz="1400">
                <a:solidFill>
                  <a:schemeClr val="accent2"/>
                </a:solidFill>
                <a:cs typeface="+mn-cs"/>
              </a:rPr>
              <a:t> in RML Model chains.</a:t>
            </a:r>
          </a:p>
        </p:txBody>
      </p:sp>
      <p:sp>
        <p:nvSpPr>
          <p:cNvPr id="7" name="Tijdelijke aanduiding voor dianummer 2">
            <a:extLst>
              <a:ext uri="{FF2B5EF4-FFF2-40B4-BE49-F238E27FC236}">
                <a16:creationId xmlns:a16="http://schemas.microsoft.com/office/drawing/2014/main" id="{7C2F9112-A132-4978-B867-74199BC31CB2}"/>
              </a:ext>
            </a:extLst>
          </p:cNvPr>
          <p:cNvSpPr txBox="1">
            <a:spLocks/>
          </p:cNvSpPr>
          <p:nvPr/>
        </p:nvSpPr>
        <p:spPr>
          <a:xfrm>
            <a:off x="8452463" y="4561284"/>
            <a:ext cx="642937" cy="204788"/>
          </a:xfrm>
          <a:prstGeom prst="rect">
            <a:avLst/>
          </a:prstGeom>
        </p:spPr>
        <p:txBody>
          <a:bodyPr vert="horz" lIns="91440" tIns="45720" rIns="0" bIns="45720" rtlCol="0" anchor="ctr"/>
          <a:lstStyle>
            <a:defPPr>
              <a:defRPr lang="nl-NL"/>
            </a:defPPr>
            <a:lvl1pPr marL="0" algn="r" defTabSz="456999" rtl="0" eaLnBrk="1" latinLnBrk="0" hangingPunct="1">
              <a:defRPr sz="1200" kern="1200">
                <a:solidFill>
                  <a:srgbClr val="5E6A7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fld id="{4821C4A5-98F2-7545-875B-39B2F4500447}" type="slidenum">
              <a:rPr lang="en-US" smtClean="0">
                <a:latin typeface="Calibri" panose="020F0502020204030204" pitchFamily="34" charset="0"/>
                <a:cs typeface="Calibri" panose="020F0502020204030204" pitchFamily="34" charset="0"/>
              </a:rPr>
              <a:pPr/>
              <a:t>8</a:t>
            </a:fld>
            <a:endParaRPr lang="en-US">
              <a:latin typeface="Calibri" panose="020F0502020204030204" pitchFamily="34" charset="0"/>
              <a:cs typeface="Calibri" panose="020F0502020204030204" pitchFamily="34" charset="0"/>
            </a:endParaRPr>
          </a:p>
        </p:txBody>
      </p:sp>
      <p:sp>
        <p:nvSpPr>
          <p:cNvPr id="8" name="Rectangle 78">
            <a:extLst>
              <a:ext uri="{FF2B5EF4-FFF2-40B4-BE49-F238E27FC236}">
                <a16:creationId xmlns:a16="http://schemas.microsoft.com/office/drawing/2014/main" id="{378C2DFA-0EAA-4BF0-9F0F-5A8F0AB62E94}"/>
              </a:ext>
            </a:extLst>
          </p:cNvPr>
          <p:cNvSpPr/>
          <p:nvPr/>
        </p:nvSpPr>
        <p:spPr bwMode="auto">
          <a:xfrm>
            <a:off x="359329" y="1280898"/>
            <a:ext cx="8424452" cy="332310"/>
          </a:xfrm>
          <a:prstGeom prst="rect">
            <a:avLst/>
          </a:prstGeom>
          <a:solidFill>
            <a:srgbClr val="000099"/>
          </a:solidFill>
          <a:ln w="12700" cap="flat" cmpd="sng" algn="ctr">
            <a:solidFill>
              <a:srgbClr val="000099"/>
            </a:solidFill>
            <a:prstDash val="solid"/>
          </a:ln>
          <a:effectLst/>
        </p:spPr>
        <p:txBody>
          <a:bodyPr lIns="36000" tIns="36000" rIns="36000" bIns="36000" anchor="t"/>
          <a:lstStyle/>
          <a:p>
            <a:pPr algn="ctr" defTabSz="1219170" fontAlgn="auto">
              <a:lnSpc>
                <a:spcPct val="90000"/>
              </a:lnSpc>
              <a:spcBef>
                <a:spcPts val="0"/>
              </a:spcBef>
              <a:spcAft>
                <a:spcPts val="0"/>
              </a:spcAft>
            </a:pPr>
            <a:r>
              <a:rPr lang="en-GB" sz="1400" b="1">
                <a:solidFill>
                  <a:prstClr val="white"/>
                </a:solidFill>
                <a:latin typeface="Calibri" panose="020F0502020204030204" pitchFamily="34" charset="0"/>
                <a:cs typeface="Calibri" panose="020F0502020204030204" pitchFamily="34" charset="0"/>
              </a:rPr>
              <a:t>nBIF </a:t>
            </a:r>
            <a:r>
              <a:rPr lang="en-US" sz="1400" b="1">
                <a:solidFill>
                  <a:prstClr val="white"/>
                </a:solidFill>
                <a:latin typeface="Calibri" panose="020F0502020204030204" pitchFamily="34" charset="0"/>
                <a:cs typeface="Calibri" panose="020F0502020204030204" pitchFamily="34" charset="0"/>
              </a:rPr>
              <a:t>PSA affects the solutions in below PSA</a:t>
            </a:r>
          </a:p>
        </p:txBody>
      </p:sp>
      <p:grpSp>
        <p:nvGrpSpPr>
          <p:cNvPr id="27" name="Group 26">
            <a:extLst>
              <a:ext uri="{FF2B5EF4-FFF2-40B4-BE49-F238E27FC236}">
                <a16:creationId xmlns:a16="http://schemas.microsoft.com/office/drawing/2014/main" id="{CA0A6C58-CB26-4653-D62B-55FB63F32163}"/>
              </a:ext>
            </a:extLst>
          </p:cNvPr>
          <p:cNvGrpSpPr/>
          <p:nvPr/>
        </p:nvGrpSpPr>
        <p:grpSpPr>
          <a:xfrm>
            <a:off x="4600294" y="2632638"/>
            <a:ext cx="867128" cy="756000"/>
            <a:chOff x="6086682" y="1578896"/>
            <a:chExt cx="867128" cy="773034"/>
          </a:xfrm>
        </p:grpSpPr>
        <p:grpSp>
          <p:nvGrpSpPr>
            <p:cNvPr id="6" name="Group 5"/>
            <p:cNvGrpSpPr/>
            <p:nvPr/>
          </p:nvGrpSpPr>
          <p:grpSpPr>
            <a:xfrm>
              <a:off x="6086682" y="1578896"/>
              <a:ext cx="867128" cy="773034"/>
              <a:chOff x="6944292" y="1190948"/>
              <a:chExt cx="1151176" cy="888856"/>
            </a:xfrm>
          </p:grpSpPr>
          <p:sp>
            <p:nvSpPr>
              <p:cNvPr id="75" name="Rectangle 78">
                <a:extLst>
                  <a:ext uri="{FF2B5EF4-FFF2-40B4-BE49-F238E27FC236}">
                    <a16:creationId xmlns:a16="http://schemas.microsoft.com/office/drawing/2014/main" id="{09C5860D-50C0-4AA0-AD43-94BD8ACA5D91}"/>
                  </a:ext>
                </a:extLst>
              </p:cNvPr>
              <p:cNvSpPr/>
              <p:nvPr/>
            </p:nvSpPr>
            <p:spPr bwMode="auto">
              <a:xfrm>
                <a:off x="6944293" y="1190948"/>
                <a:ext cx="1151175" cy="266626"/>
              </a:xfrm>
              <a:prstGeom prst="rect">
                <a:avLst/>
              </a:prstGeom>
              <a:solidFill>
                <a:srgbClr val="FF4900"/>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CAS Calculator</a:t>
                </a:r>
              </a:p>
            </p:txBody>
          </p:sp>
          <p:sp>
            <p:nvSpPr>
              <p:cNvPr id="76" name="Rectangle 78">
                <a:extLst>
                  <a:ext uri="{FF2B5EF4-FFF2-40B4-BE49-F238E27FC236}">
                    <a16:creationId xmlns:a16="http://schemas.microsoft.com/office/drawing/2014/main" id="{753AF8A3-DE00-476A-9EFA-C5C0E7A203EA}"/>
                  </a:ext>
                </a:extLst>
              </p:cNvPr>
              <p:cNvSpPr/>
              <p:nvPr/>
            </p:nvSpPr>
            <p:spPr bwMode="auto">
              <a:xfrm>
                <a:off x="6944292" y="1465461"/>
                <a:ext cx="1151175" cy="614343"/>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73" name="Rechthoek 69">
              <a:extLst>
                <a:ext uri="{FF2B5EF4-FFF2-40B4-BE49-F238E27FC236}">
                  <a16:creationId xmlns:a16="http://schemas.microsoft.com/office/drawing/2014/main" id="{8617F5B3-3307-4771-ABAA-D37C36996A29}"/>
                </a:ext>
              </a:extLst>
            </p:cNvPr>
            <p:cNvSpPr/>
            <p:nvPr/>
          </p:nvSpPr>
          <p:spPr bwMode="auto">
            <a:xfrm>
              <a:off x="6182732" y="1885691"/>
              <a:ext cx="673486" cy="33312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Calculation</a:t>
              </a:r>
            </a:p>
          </p:txBody>
        </p:sp>
      </p:grpSp>
      <p:grpSp>
        <p:nvGrpSpPr>
          <p:cNvPr id="28" name="Group 27">
            <a:extLst>
              <a:ext uri="{FF2B5EF4-FFF2-40B4-BE49-F238E27FC236}">
                <a16:creationId xmlns:a16="http://schemas.microsoft.com/office/drawing/2014/main" id="{A3D6F811-03F0-E577-63AA-C4D0D5CCE580}"/>
              </a:ext>
            </a:extLst>
          </p:cNvPr>
          <p:cNvGrpSpPr/>
          <p:nvPr/>
        </p:nvGrpSpPr>
        <p:grpSpPr>
          <a:xfrm>
            <a:off x="7792856" y="2650604"/>
            <a:ext cx="867128" cy="755999"/>
            <a:chOff x="4809869" y="3803186"/>
            <a:chExt cx="867128" cy="773035"/>
          </a:xfrm>
        </p:grpSpPr>
        <p:grpSp>
          <p:nvGrpSpPr>
            <p:cNvPr id="78" name="Group 94">
              <a:extLst>
                <a:ext uri="{FF2B5EF4-FFF2-40B4-BE49-F238E27FC236}">
                  <a16:creationId xmlns:a16="http://schemas.microsoft.com/office/drawing/2014/main" id="{49AB80B1-77A4-4909-A36B-25B27888460C}"/>
                </a:ext>
              </a:extLst>
            </p:cNvPr>
            <p:cNvGrpSpPr/>
            <p:nvPr/>
          </p:nvGrpSpPr>
          <p:grpSpPr>
            <a:xfrm>
              <a:off x="4809869" y="3803186"/>
              <a:ext cx="867128" cy="773035"/>
              <a:chOff x="6641800" y="648688"/>
              <a:chExt cx="2556118" cy="1021413"/>
            </a:xfrm>
          </p:grpSpPr>
          <p:sp>
            <p:nvSpPr>
              <p:cNvPr id="80" name="Rectangle 78">
                <a:extLst>
                  <a:ext uri="{FF2B5EF4-FFF2-40B4-BE49-F238E27FC236}">
                    <a16:creationId xmlns:a16="http://schemas.microsoft.com/office/drawing/2014/main" id="{753AF8A3-DE00-476A-9EFA-C5C0E7A203EA}"/>
                  </a:ext>
                </a:extLst>
              </p:cNvPr>
              <p:cNvSpPr/>
              <p:nvPr/>
            </p:nvSpPr>
            <p:spPr bwMode="auto">
              <a:xfrm>
                <a:off x="6647586" y="847165"/>
                <a:ext cx="2550332" cy="822936"/>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sp>
            <p:nvSpPr>
              <p:cNvPr id="79" name="Rectangle 78">
                <a:extLst>
                  <a:ext uri="{FF2B5EF4-FFF2-40B4-BE49-F238E27FC236}">
                    <a16:creationId xmlns:a16="http://schemas.microsoft.com/office/drawing/2014/main" id="{09C5860D-50C0-4AA0-AD43-94BD8ACA5D91}"/>
                  </a:ext>
                </a:extLst>
              </p:cNvPr>
              <p:cNvSpPr/>
              <p:nvPr/>
            </p:nvSpPr>
            <p:spPr bwMode="auto">
              <a:xfrm>
                <a:off x="6641800" y="648688"/>
                <a:ext cx="2556118" cy="315451"/>
              </a:xfrm>
              <a:prstGeom prst="rect">
                <a:avLst/>
              </a:prstGeom>
              <a:solidFill>
                <a:srgbClr val="FF4900"/>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CRPR</a:t>
                </a:r>
              </a:p>
            </p:txBody>
          </p:sp>
        </p:grpSp>
        <p:sp>
          <p:nvSpPr>
            <p:cNvPr id="81" name="Rechthoek 69">
              <a:extLst>
                <a:ext uri="{FF2B5EF4-FFF2-40B4-BE49-F238E27FC236}">
                  <a16:creationId xmlns:a16="http://schemas.microsoft.com/office/drawing/2014/main" id="{8617F5B3-3307-4771-ABAA-D37C36996A29}"/>
                </a:ext>
              </a:extLst>
            </p:cNvPr>
            <p:cNvSpPr/>
            <p:nvPr/>
          </p:nvSpPr>
          <p:spPr bwMode="auto">
            <a:xfrm>
              <a:off x="4907222" y="4118127"/>
              <a:ext cx="673486" cy="33312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Risk</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Administration</a:t>
              </a:r>
            </a:p>
          </p:txBody>
        </p:sp>
      </p:grpSp>
      <p:sp>
        <p:nvSpPr>
          <p:cNvPr id="103" name="Rectangle 78">
            <a:extLst>
              <a:ext uri="{FF2B5EF4-FFF2-40B4-BE49-F238E27FC236}">
                <a16:creationId xmlns:a16="http://schemas.microsoft.com/office/drawing/2014/main" id="{09C5860D-50C0-4AA0-AD43-94BD8ACA5D91}"/>
              </a:ext>
            </a:extLst>
          </p:cNvPr>
          <p:cNvSpPr/>
          <p:nvPr/>
        </p:nvSpPr>
        <p:spPr bwMode="auto">
          <a:xfrm>
            <a:off x="5701843" y="2639377"/>
            <a:ext cx="867127" cy="229697"/>
          </a:xfrm>
          <a:prstGeom prst="rect">
            <a:avLst/>
          </a:prstGeom>
          <a:solidFill>
            <a:srgbClr val="FF4900"/>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CAS Usage Patterns</a:t>
            </a:r>
          </a:p>
        </p:txBody>
      </p:sp>
      <p:sp>
        <p:nvSpPr>
          <p:cNvPr id="104" name="Rectangle 78">
            <a:extLst>
              <a:ext uri="{FF2B5EF4-FFF2-40B4-BE49-F238E27FC236}">
                <a16:creationId xmlns:a16="http://schemas.microsoft.com/office/drawing/2014/main" id="{753AF8A3-DE00-476A-9EFA-C5C0E7A203EA}"/>
              </a:ext>
            </a:extLst>
          </p:cNvPr>
          <p:cNvSpPr/>
          <p:nvPr/>
        </p:nvSpPr>
        <p:spPr bwMode="auto">
          <a:xfrm>
            <a:off x="5701843" y="2875745"/>
            <a:ext cx="867127" cy="519632"/>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sp>
        <p:nvSpPr>
          <p:cNvPr id="105" name="Rechthoek 69">
            <a:extLst>
              <a:ext uri="{FF2B5EF4-FFF2-40B4-BE49-F238E27FC236}">
                <a16:creationId xmlns:a16="http://schemas.microsoft.com/office/drawing/2014/main" id="{8617F5B3-3307-4771-ABAA-D37C36996A29}"/>
              </a:ext>
            </a:extLst>
          </p:cNvPr>
          <p:cNvSpPr/>
          <p:nvPr/>
        </p:nvSpPr>
        <p:spPr bwMode="auto">
          <a:xfrm>
            <a:off x="5797894" y="2961936"/>
            <a:ext cx="673486" cy="303261"/>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Usage Patterns</a:t>
            </a:r>
          </a:p>
        </p:txBody>
      </p:sp>
      <p:grpSp>
        <p:nvGrpSpPr>
          <p:cNvPr id="55" name="Group 94">
            <a:extLst>
              <a:ext uri="{FF2B5EF4-FFF2-40B4-BE49-F238E27FC236}">
                <a16:creationId xmlns:a16="http://schemas.microsoft.com/office/drawing/2014/main" id="{49AB80B1-77A4-4909-A36B-25B27888460C}"/>
              </a:ext>
            </a:extLst>
          </p:cNvPr>
          <p:cNvGrpSpPr/>
          <p:nvPr/>
        </p:nvGrpSpPr>
        <p:grpSpPr>
          <a:xfrm>
            <a:off x="7791532" y="1794497"/>
            <a:ext cx="867129" cy="669006"/>
            <a:chOff x="3154128" y="400256"/>
            <a:chExt cx="2556121" cy="857139"/>
          </a:xfrm>
        </p:grpSpPr>
        <p:sp>
          <p:nvSpPr>
            <p:cNvPr id="56" name="Rectangle 55">
              <a:extLst>
                <a:ext uri="{FF2B5EF4-FFF2-40B4-BE49-F238E27FC236}">
                  <a16:creationId xmlns:a16="http://schemas.microsoft.com/office/drawing/2014/main" id="{09C5860D-50C0-4AA0-AD43-94BD8ACA5D91}"/>
                </a:ext>
              </a:extLst>
            </p:cNvPr>
            <p:cNvSpPr/>
            <p:nvPr/>
          </p:nvSpPr>
          <p:spPr bwMode="auto">
            <a:xfrm>
              <a:off x="3154128" y="400256"/>
              <a:ext cx="2556118" cy="2092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Basel IV</a:t>
              </a:r>
            </a:p>
          </p:txBody>
        </p:sp>
        <p:sp>
          <p:nvSpPr>
            <p:cNvPr id="86" name="Rectangle 78">
              <a:extLst>
                <a:ext uri="{FF2B5EF4-FFF2-40B4-BE49-F238E27FC236}">
                  <a16:creationId xmlns:a16="http://schemas.microsoft.com/office/drawing/2014/main" id="{753AF8A3-DE00-476A-9EFA-C5C0E7A203EA}"/>
                </a:ext>
              </a:extLst>
            </p:cNvPr>
            <p:cNvSpPr/>
            <p:nvPr/>
          </p:nvSpPr>
          <p:spPr bwMode="auto">
            <a:xfrm>
              <a:off x="3154131" y="598736"/>
              <a:ext cx="2556118" cy="658659"/>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87" name="Rechthoek 69">
            <a:extLst>
              <a:ext uri="{FF2B5EF4-FFF2-40B4-BE49-F238E27FC236}">
                <a16:creationId xmlns:a16="http://schemas.microsoft.com/office/drawing/2014/main" id="{8617F5B3-3307-4771-ABAA-D37C36996A29}"/>
              </a:ext>
            </a:extLst>
          </p:cNvPr>
          <p:cNvSpPr/>
          <p:nvPr/>
        </p:nvSpPr>
        <p:spPr bwMode="auto">
          <a:xfrm>
            <a:off x="7910758" y="2038249"/>
            <a:ext cx="673486" cy="325785"/>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SA-RWA</a:t>
            </a:r>
          </a:p>
        </p:txBody>
      </p:sp>
      <p:grpSp>
        <p:nvGrpSpPr>
          <p:cNvPr id="97" name="Group 96"/>
          <p:cNvGrpSpPr/>
          <p:nvPr/>
        </p:nvGrpSpPr>
        <p:grpSpPr>
          <a:xfrm>
            <a:off x="488020" y="2632638"/>
            <a:ext cx="867127" cy="756000"/>
            <a:chOff x="7010310" y="1325215"/>
            <a:chExt cx="1151175" cy="762513"/>
          </a:xfrm>
        </p:grpSpPr>
        <p:sp>
          <p:nvSpPr>
            <p:cNvPr id="99" name="Rectangle 78">
              <a:extLst>
                <a:ext uri="{FF2B5EF4-FFF2-40B4-BE49-F238E27FC236}">
                  <a16:creationId xmlns:a16="http://schemas.microsoft.com/office/drawing/2014/main" id="{753AF8A3-DE00-476A-9EFA-C5C0E7A203EA}"/>
                </a:ext>
              </a:extLst>
            </p:cNvPr>
            <p:cNvSpPr/>
            <p:nvPr/>
          </p:nvSpPr>
          <p:spPr bwMode="auto">
            <a:xfrm>
              <a:off x="7010310" y="1473385"/>
              <a:ext cx="1151175" cy="614343"/>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sp>
          <p:nvSpPr>
            <p:cNvPr id="98" name="Rectangle 78">
              <a:extLst>
                <a:ext uri="{FF2B5EF4-FFF2-40B4-BE49-F238E27FC236}">
                  <a16:creationId xmlns:a16="http://schemas.microsoft.com/office/drawing/2014/main" id="{09C5860D-50C0-4AA0-AD43-94BD8ACA5D91}"/>
                </a:ext>
              </a:extLst>
            </p:cNvPr>
            <p:cNvSpPr/>
            <p:nvPr/>
          </p:nvSpPr>
          <p:spPr bwMode="auto">
            <a:xfrm>
              <a:off x="7010310" y="1325215"/>
              <a:ext cx="1151175" cy="235493"/>
            </a:xfrm>
            <a:prstGeom prst="rect">
              <a:avLst/>
            </a:prstGeom>
            <a:solidFill>
              <a:srgbClr val="FF4900"/>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GRFD Blueprint</a:t>
              </a:r>
            </a:p>
          </p:txBody>
        </p:sp>
      </p:grpSp>
      <p:sp>
        <p:nvSpPr>
          <p:cNvPr id="100" name="Rechthoek 69">
            <a:extLst>
              <a:ext uri="{FF2B5EF4-FFF2-40B4-BE49-F238E27FC236}">
                <a16:creationId xmlns:a16="http://schemas.microsoft.com/office/drawing/2014/main" id="{8617F5B3-3307-4771-ABAA-D37C36996A29}"/>
              </a:ext>
            </a:extLst>
          </p:cNvPr>
          <p:cNvSpPr/>
          <p:nvPr/>
        </p:nvSpPr>
        <p:spPr bwMode="auto">
          <a:xfrm>
            <a:off x="584071" y="2943727"/>
            <a:ext cx="673486" cy="32398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Data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 warehousing</a:t>
            </a:r>
          </a:p>
        </p:txBody>
      </p:sp>
      <p:grpSp>
        <p:nvGrpSpPr>
          <p:cNvPr id="34" name="Group 33"/>
          <p:cNvGrpSpPr/>
          <p:nvPr/>
        </p:nvGrpSpPr>
        <p:grpSpPr>
          <a:xfrm>
            <a:off x="6743044" y="1794498"/>
            <a:ext cx="867127" cy="669006"/>
            <a:chOff x="7010310" y="1325215"/>
            <a:chExt cx="1151175" cy="639875"/>
          </a:xfrm>
        </p:grpSpPr>
        <p:sp>
          <p:nvSpPr>
            <p:cNvPr id="35" name="Rectangle 78">
              <a:extLst>
                <a:ext uri="{FF2B5EF4-FFF2-40B4-BE49-F238E27FC236}">
                  <a16:creationId xmlns:a16="http://schemas.microsoft.com/office/drawing/2014/main" id="{09C5860D-50C0-4AA0-AD43-94BD8ACA5D91}"/>
                </a:ext>
              </a:extLst>
            </p:cNvPr>
            <p:cNvSpPr/>
            <p:nvPr/>
          </p:nvSpPr>
          <p:spPr bwMode="auto">
            <a:xfrm>
              <a:off x="7010310" y="1325215"/>
              <a:ext cx="1151175" cy="140283"/>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IFRS9</a:t>
              </a:r>
            </a:p>
          </p:txBody>
        </p:sp>
        <p:sp>
          <p:nvSpPr>
            <p:cNvPr id="36" name="Rectangle 78">
              <a:extLst>
                <a:ext uri="{FF2B5EF4-FFF2-40B4-BE49-F238E27FC236}">
                  <a16:creationId xmlns:a16="http://schemas.microsoft.com/office/drawing/2014/main" id="{753AF8A3-DE00-476A-9EFA-C5C0E7A203EA}"/>
                </a:ext>
              </a:extLst>
            </p:cNvPr>
            <p:cNvSpPr/>
            <p:nvPr/>
          </p:nvSpPr>
          <p:spPr bwMode="auto">
            <a:xfrm>
              <a:off x="7010310" y="1473385"/>
              <a:ext cx="1151175" cy="491705"/>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37" name="Rechthoek 69">
            <a:extLst>
              <a:ext uri="{FF2B5EF4-FFF2-40B4-BE49-F238E27FC236}">
                <a16:creationId xmlns:a16="http://schemas.microsoft.com/office/drawing/2014/main" id="{8617F5B3-3307-4771-ABAA-D37C36996A29}"/>
              </a:ext>
            </a:extLst>
          </p:cNvPr>
          <p:cNvSpPr/>
          <p:nvPr/>
        </p:nvSpPr>
        <p:spPr bwMode="auto">
          <a:xfrm>
            <a:off x="6839864" y="2039148"/>
            <a:ext cx="673486" cy="32398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ECL – UT9</a:t>
            </a:r>
          </a:p>
        </p:txBody>
      </p:sp>
      <p:grpSp>
        <p:nvGrpSpPr>
          <p:cNvPr id="38" name="Group 94">
            <a:extLst>
              <a:ext uri="{FF2B5EF4-FFF2-40B4-BE49-F238E27FC236}">
                <a16:creationId xmlns:a16="http://schemas.microsoft.com/office/drawing/2014/main" id="{49AB80B1-77A4-4909-A36B-25B27888460C}"/>
              </a:ext>
            </a:extLst>
          </p:cNvPr>
          <p:cNvGrpSpPr/>
          <p:nvPr/>
        </p:nvGrpSpPr>
        <p:grpSpPr>
          <a:xfrm>
            <a:off x="1457017" y="1794497"/>
            <a:ext cx="867128" cy="669006"/>
            <a:chOff x="3154128" y="400256"/>
            <a:chExt cx="2556118" cy="1021416"/>
          </a:xfrm>
        </p:grpSpPr>
        <p:sp>
          <p:nvSpPr>
            <p:cNvPr id="39" name="Rectangle 38">
              <a:extLst>
                <a:ext uri="{FF2B5EF4-FFF2-40B4-BE49-F238E27FC236}">
                  <a16:creationId xmlns:a16="http://schemas.microsoft.com/office/drawing/2014/main" id="{09C5860D-50C0-4AA0-AD43-94BD8ACA5D91}"/>
                </a:ext>
              </a:extLst>
            </p:cNvPr>
            <p:cNvSpPr/>
            <p:nvPr/>
          </p:nvSpPr>
          <p:spPr bwMode="auto">
            <a:xfrm>
              <a:off x="3154128" y="400256"/>
              <a:ext cx="2556118" cy="2092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RMM</a:t>
              </a:r>
            </a:p>
          </p:txBody>
        </p:sp>
        <p:sp>
          <p:nvSpPr>
            <p:cNvPr id="40" name="Rectangle 78">
              <a:extLst>
                <a:ext uri="{FF2B5EF4-FFF2-40B4-BE49-F238E27FC236}">
                  <a16:creationId xmlns:a16="http://schemas.microsoft.com/office/drawing/2014/main" id="{753AF8A3-DE00-476A-9EFA-C5C0E7A203EA}"/>
                </a:ext>
              </a:extLst>
            </p:cNvPr>
            <p:cNvSpPr/>
            <p:nvPr/>
          </p:nvSpPr>
          <p:spPr bwMode="auto">
            <a:xfrm>
              <a:off x="3159915" y="598736"/>
              <a:ext cx="2550331" cy="822936"/>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41" name="Rechthoek 69">
            <a:extLst>
              <a:ext uri="{FF2B5EF4-FFF2-40B4-BE49-F238E27FC236}">
                <a16:creationId xmlns:a16="http://schemas.microsoft.com/office/drawing/2014/main" id="{8617F5B3-3307-4771-ABAA-D37C36996A29}"/>
              </a:ext>
            </a:extLst>
          </p:cNvPr>
          <p:cNvSpPr/>
          <p:nvPr/>
        </p:nvSpPr>
        <p:spPr bwMode="auto">
          <a:xfrm>
            <a:off x="1576243" y="2038249"/>
            <a:ext cx="673486" cy="325784"/>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IRB &amp; IRB-RWA</a:t>
            </a:r>
          </a:p>
        </p:txBody>
      </p:sp>
      <p:grpSp>
        <p:nvGrpSpPr>
          <p:cNvPr id="42" name="Group 41"/>
          <p:cNvGrpSpPr/>
          <p:nvPr/>
        </p:nvGrpSpPr>
        <p:grpSpPr>
          <a:xfrm>
            <a:off x="2516369" y="2639377"/>
            <a:ext cx="867127" cy="756000"/>
            <a:chOff x="7010310" y="1198872"/>
            <a:chExt cx="1151175" cy="888856"/>
          </a:xfrm>
        </p:grpSpPr>
        <p:sp>
          <p:nvSpPr>
            <p:cNvPr id="43" name="Rectangle 78">
              <a:extLst>
                <a:ext uri="{FF2B5EF4-FFF2-40B4-BE49-F238E27FC236}">
                  <a16:creationId xmlns:a16="http://schemas.microsoft.com/office/drawing/2014/main" id="{09C5860D-50C0-4AA0-AD43-94BD8ACA5D91}"/>
                </a:ext>
              </a:extLst>
            </p:cNvPr>
            <p:cNvSpPr/>
            <p:nvPr/>
          </p:nvSpPr>
          <p:spPr bwMode="auto">
            <a:xfrm>
              <a:off x="7010310" y="1198872"/>
              <a:ext cx="1151175" cy="266627"/>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MDS </a:t>
              </a:r>
              <a:r>
                <a:rPr lang="en-US" sz="800" b="1" err="1">
                  <a:solidFill>
                    <a:prstClr val="white"/>
                  </a:solidFill>
                  <a:latin typeface="Calibri" panose="020F0502020204030204" pitchFamily="34" charset="0"/>
                  <a:cs typeface="Calibri" panose="020F0502020204030204" pitchFamily="34" charset="0"/>
                </a:rPr>
                <a:t>Actualisation</a:t>
              </a:r>
              <a:endParaRPr lang="en-US" sz="800" b="1">
                <a:solidFill>
                  <a:prstClr val="white"/>
                </a:solidFill>
                <a:latin typeface="Calibri" panose="020F0502020204030204" pitchFamily="34" charset="0"/>
                <a:cs typeface="Calibri" panose="020F0502020204030204" pitchFamily="34" charset="0"/>
              </a:endParaRPr>
            </a:p>
          </p:txBody>
        </p:sp>
        <p:sp>
          <p:nvSpPr>
            <p:cNvPr id="44" name="Rectangle 78">
              <a:extLst>
                <a:ext uri="{FF2B5EF4-FFF2-40B4-BE49-F238E27FC236}">
                  <a16:creationId xmlns:a16="http://schemas.microsoft.com/office/drawing/2014/main" id="{753AF8A3-DE00-476A-9EFA-C5C0E7A203EA}"/>
                </a:ext>
              </a:extLst>
            </p:cNvPr>
            <p:cNvSpPr/>
            <p:nvPr/>
          </p:nvSpPr>
          <p:spPr bwMode="auto">
            <a:xfrm>
              <a:off x="7010310" y="1473385"/>
              <a:ext cx="1151175" cy="614343"/>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45" name="Rechthoek 69">
            <a:extLst>
              <a:ext uri="{FF2B5EF4-FFF2-40B4-BE49-F238E27FC236}">
                <a16:creationId xmlns:a16="http://schemas.microsoft.com/office/drawing/2014/main" id="{8617F5B3-3307-4771-ABAA-D37C36996A29}"/>
              </a:ext>
            </a:extLst>
          </p:cNvPr>
          <p:cNvSpPr/>
          <p:nvPr/>
        </p:nvSpPr>
        <p:spPr bwMode="auto">
          <a:xfrm>
            <a:off x="2616769" y="2949566"/>
            <a:ext cx="673486" cy="325785"/>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Monitoring &amp;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Redevelopment</a:t>
            </a:r>
          </a:p>
        </p:txBody>
      </p:sp>
      <p:grpSp>
        <p:nvGrpSpPr>
          <p:cNvPr id="47" name="Group 46"/>
          <p:cNvGrpSpPr/>
          <p:nvPr/>
        </p:nvGrpSpPr>
        <p:grpSpPr>
          <a:xfrm>
            <a:off x="5701843" y="1794498"/>
            <a:ext cx="867127" cy="669006"/>
            <a:chOff x="7010310" y="1325215"/>
            <a:chExt cx="1151175" cy="639875"/>
          </a:xfrm>
        </p:grpSpPr>
        <p:sp>
          <p:nvSpPr>
            <p:cNvPr id="48" name="Rectangle 78">
              <a:extLst>
                <a:ext uri="{FF2B5EF4-FFF2-40B4-BE49-F238E27FC236}">
                  <a16:creationId xmlns:a16="http://schemas.microsoft.com/office/drawing/2014/main" id="{09C5860D-50C0-4AA0-AD43-94BD8ACA5D91}"/>
                </a:ext>
              </a:extLst>
            </p:cNvPr>
            <p:cNvSpPr/>
            <p:nvPr/>
          </p:nvSpPr>
          <p:spPr bwMode="auto">
            <a:xfrm>
              <a:off x="7010310" y="1325215"/>
              <a:ext cx="1151175" cy="140283"/>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ST</a:t>
              </a:r>
            </a:p>
          </p:txBody>
        </p:sp>
        <p:sp>
          <p:nvSpPr>
            <p:cNvPr id="49" name="Rectangle 78">
              <a:extLst>
                <a:ext uri="{FF2B5EF4-FFF2-40B4-BE49-F238E27FC236}">
                  <a16:creationId xmlns:a16="http://schemas.microsoft.com/office/drawing/2014/main" id="{753AF8A3-DE00-476A-9EFA-C5C0E7A203EA}"/>
                </a:ext>
              </a:extLst>
            </p:cNvPr>
            <p:cNvSpPr/>
            <p:nvPr/>
          </p:nvSpPr>
          <p:spPr bwMode="auto">
            <a:xfrm>
              <a:off x="7010310" y="1473385"/>
              <a:ext cx="1151175" cy="491705"/>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50" name="Rechthoek 69">
            <a:extLst>
              <a:ext uri="{FF2B5EF4-FFF2-40B4-BE49-F238E27FC236}">
                <a16:creationId xmlns:a16="http://schemas.microsoft.com/office/drawing/2014/main" id="{8617F5B3-3307-4771-ABAA-D37C36996A29}"/>
              </a:ext>
            </a:extLst>
          </p:cNvPr>
          <p:cNvSpPr/>
          <p:nvPr/>
        </p:nvSpPr>
        <p:spPr bwMode="auto">
          <a:xfrm>
            <a:off x="5797894" y="2039148"/>
            <a:ext cx="673486" cy="32398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Use – UT8</a:t>
            </a:r>
          </a:p>
        </p:txBody>
      </p:sp>
      <p:sp>
        <p:nvSpPr>
          <p:cNvPr id="46" name="Rounded Rectangle 10">
            <a:hlinkClick r:id="rId2"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grpSp>
        <p:nvGrpSpPr>
          <p:cNvPr id="53" name="Group 94">
            <a:extLst>
              <a:ext uri="{FF2B5EF4-FFF2-40B4-BE49-F238E27FC236}">
                <a16:creationId xmlns:a16="http://schemas.microsoft.com/office/drawing/2014/main" id="{D26AA6EF-3692-4676-8E22-4F623579F6D4}"/>
              </a:ext>
            </a:extLst>
          </p:cNvPr>
          <p:cNvGrpSpPr/>
          <p:nvPr/>
        </p:nvGrpSpPr>
        <p:grpSpPr>
          <a:xfrm>
            <a:off x="2514406" y="1794497"/>
            <a:ext cx="867128" cy="669006"/>
            <a:chOff x="3154128" y="400256"/>
            <a:chExt cx="2556118" cy="857139"/>
          </a:xfrm>
        </p:grpSpPr>
        <p:sp>
          <p:nvSpPr>
            <p:cNvPr id="54" name="Rectangle 53">
              <a:extLst>
                <a:ext uri="{FF2B5EF4-FFF2-40B4-BE49-F238E27FC236}">
                  <a16:creationId xmlns:a16="http://schemas.microsoft.com/office/drawing/2014/main" id="{C2C1DBE8-03B8-4EF0-B6C9-3BCC3B64B9F7}"/>
                </a:ext>
              </a:extLst>
            </p:cNvPr>
            <p:cNvSpPr/>
            <p:nvPr/>
          </p:nvSpPr>
          <p:spPr bwMode="auto">
            <a:xfrm>
              <a:off x="3154128" y="400256"/>
              <a:ext cx="2556118" cy="2092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RSME</a:t>
              </a:r>
            </a:p>
          </p:txBody>
        </p:sp>
        <p:sp>
          <p:nvSpPr>
            <p:cNvPr id="57" name="Rectangle 78">
              <a:extLst>
                <a:ext uri="{FF2B5EF4-FFF2-40B4-BE49-F238E27FC236}">
                  <a16:creationId xmlns:a16="http://schemas.microsoft.com/office/drawing/2014/main" id="{8DD3E5CE-4C82-4D99-8A3A-4A469FE4F99E}"/>
                </a:ext>
              </a:extLst>
            </p:cNvPr>
            <p:cNvSpPr/>
            <p:nvPr/>
          </p:nvSpPr>
          <p:spPr bwMode="auto">
            <a:xfrm>
              <a:off x="3159915" y="598736"/>
              <a:ext cx="2550331" cy="658659"/>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58" name="Rechthoek 69">
            <a:extLst>
              <a:ext uri="{FF2B5EF4-FFF2-40B4-BE49-F238E27FC236}">
                <a16:creationId xmlns:a16="http://schemas.microsoft.com/office/drawing/2014/main" id="{FA791027-2BBF-48DD-A855-1F3B5ED65641}"/>
              </a:ext>
            </a:extLst>
          </p:cNvPr>
          <p:cNvSpPr/>
          <p:nvPr/>
        </p:nvSpPr>
        <p:spPr bwMode="auto">
          <a:xfrm>
            <a:off x="2633632" y="2038249"/>
            <a:ext cx="673486" cy="325784"/>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IRB &amp; IRB-RWA</a:t>
            </a:r>
          </a:p>
        </p:txBody>
      </p:sp>
      <p:grpSp>
        <p:nvGrpSpPr>
          <p:cNvPr id="59" name="Group 94">
            <a:extLst>
              <a:ext uri="{FF2B5EF4-FFF2-40B4-BE49-F238E27FC236}">
                <a16:creationId xmlns:a16="http://schemas.microsoft.com/office/drawing/2014/main" id="{385B67C1-F4F6-4D6F-A0B6-710C0959B498}"/>
              </a:ext>
            </a:extLst>
          </p:cNvPr>
          <p:cNvGrpSpPr/>
          <p:nvPr/>
        </p:nvGrpSpPr>
        <p:grpSpPr>
          <a:xfrm>
            <a:off x="491945" y="1794497"/>
            <a:ext cx="867128" cy="669006"/>
            <a:chOff x="3154128" y="400256"/>
            <a:chExt cx="2556118" cy="857139"/>
          </a:xfrm>
        </p:grpSpPr>
        <p:sp>
          <p:nvSpPr>
            <p:cNvPr id="60" name="Rectangle 59">
              <a:extLst>
                <a:ext uri="{FF2B5EF4-FFF2-40B4-BE49-F238E27FC236}">
                  <a16:creationId xmlns:a16="http://schemas.microsoft.com/office/drawing/2014/main" id="{E91A2900-6518-441A-BF0E-271DBF20369A}"/>
                </a:ext>
              </a:extLst>
            </p:cNvPr>
            <p:cNvSpPr/>
            <p:nvPr/>
          </p:nvSpPr>
          <p:spPr bwMode="auto">
            <a:xfrm>
              <a:off x="3154128" y="400256"/>
              <a:ext cx="2556118" cy="2092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CORP</a:t>
              </a:r>
            </a:p>
          </p:txBody>
        </p:sp>
        <p:sp>
          <p:nvSpPr>
            <p:cNvPr id="61" name="Rectangle 78">
              <a:extLst>
                <a:ext uri="{FF2B5EF4-FFF2-40B4-BE49-F238E27FC236}">
                  <a16:creationId xmlns:a16="http://schemas.microsoft.com/office/drawing/2014/main" id="{CE210EC7-8CB8-46E7-92CB-450DC7540AD7}"/>
                </a:ext>
              </a:extLst>
            </p:cNvPr>
            <p:cNvSpPr/>
            <p:nvPr/>
          </p:nvSpPr>
          <p:spPr bwMode="auto">
            <a:xfrm>
              <a:off x="3159915" y="598736"/>
              <a:ext cx="2550331" cy="658659"/>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62" name="Rechthoek 69">
            <a:extLst>
              <a:ext uri="{FF2B5EF4-FFF2-40B4-BE49-F238E27FC236}">
                <a16:creationId xmlns:a16="http://schemas.microsoft.com/office/drawing/2014/main" id="{A8C3DE3B-FD62-4365-9E9F-2F94E2EADA68}"/>
              </a:ext>
            </a:extLst>
          </p:cNvPr>
          <p:cNvSpPr/>
          <p:nvPr/>
        </p:nvSpPr>
        <p:spPr bwMode="auto">
          <a:xfrm>
            <a:off x="611171" y="2038249"/>
            <a:ext cx="673486" cy="325785"/>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IRB &amp; IRB-RWA</a:t>
            </a:r>
          </a:p>
        </p:txBody>
      </p:sp>
      <p:grpSp>
        <p:nvGrpSpPr>
          <p:cNvPr id="13" name="Group 94">
            <a:extLst>
              <a:ext uri="{FF2B5EF4-FFF2-40B4-BE49-F238E27FC236}">
                <a16:creationId xmlns:a16="http://schemas.microsoft.com/office/drawing/2014/main" id="{48C35B64-E253-2FA0-4060-77327134D10C}"/>
              </a:ext>
            </a:extLst>
          </p:cNvPr>
          <p:cNvGrpSpPr/>
          <p:nvPr/>
        </p:nvGrpSpPr>
        <p:grpSpPr>
          <a:xfrm>
            <a:off x="3540997" y="2639377"/>
            <a:ext cx="867128" cy="756000"/>
            <a:chOff x="3154128" y="400256"/>
            <a:chExt cx="2556118" cy="1021416"/>
          </a:xfrm>
        </p:grpSpPr>
        <p:sp>
          <p:nvSpPr>
            <p:cNvPr id="15" name="Rectangle 78">
              <a:extLst>
                <a:ext uri="{FF2B5EF4-FFF2-40B4-BE49-F238E27FC236}">
                  <a16:creationId xmlns:a16="http://schemas.microsoft.com/office/drawing/2014/main" id="{BE085023-83AD-5064-7B80-4E30A700D926}"/>
                </a:ext>
              </a:extLst>
            </p:cNvPr>
            <p:cNvSpPr/>
            <p:nvPr/>
          </p:nvSpPr>
          <p:spPr bwMode="auto">
            <a:xfrm>
              <a:off x="3159915" y="598736"/>
              <a:ext cx="2550331" cy="822936"/>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6AC84467-2F1E-7B43-6402-476769797AFF}"/>
                </a:ext>
              </a:extLst>
            </p:cNvPr>
            <p:cNvSpPr/>
            <p:nvPr/>
          </p:nvSpPr>
          <p:spPr bwMode="auto">
            <a:xfrm>
              <a:off x="3154128" y="400256"/>
              <a:ext cx="2556118" cy="315453"/>
            </a:xfrm>
            <a:prstGeom prst="rect">
              <a:avLst/>
            </a:prstGeom>
            <a:solidFill>
              <a:srgbClr val="FF4900"/>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CADDI</a:t>
              </a:r>
            </a:p>
          </p:txBody>
        </p:sp>
      </p:grpSp>
      <p:sp>
        <p:nvSpPr>
          <p:cNvPr id="16" name="Rechthoek 69">
            <a:extLst>
              <a:ext uri="{FF2B5EF4-FFF2-40B4-BE49-F238E27FC236}">
                <a16:creationId xmlns:a16="http://schemas.microsoft.com/office/drawing/2014/main" id="{DC3CCCD6-BE5C-0BC1-BD2F-B0E695EF9F77}"/>
              </a:ext>
            </a:extLst>
          </p:cNvPr>
          <p:cNvSpPr/>
          <p:nvPr/>
        </p:nvSpPr>
        <p:spPr bwMode="auto">
          <a:xfrm>
            <a:off x="3660223" y="2950466"/>
            <a:ext cx="673486" cy="325785"/>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Data Staging-In from GRFD to CA </a:t>
            </a:r>
          </a:p>
        </p:txBody>
      </p:sp>
      <p:grpSp>
        <p:nvGrpSpPr>
          <p:cNvPr id="12" name="Group 94">
            <a:extLst>
              <a:ext uri="{FF2B5EF4-FFF2-40B4-BE49-F238E27FC236}">
                <a16:creationId xmlns:a16="http://schemas.microsoft.com/office/drawing/2014/main" id="{F00BBCCB-BCFF-6CE3-EA72-09E581C3B2E7}"/>
              </a:ext>
            </a:extLst>
          </p:cNvPr>
          <p:cNvGrpSpPr/>
          <p:nvPr/>
        </p:nvGrpSpPr>
        <p:grpSpPr>
          <a:xfrm>
            <a:off x="3540997" y="1794497"/>
            <a:ext cx="867128" cy="669006"/>
            <a:chOff x="3154128" y="400256"/>
            <a:chExt cx="2556118" cy="857139"/>
          </a:xfrm>
        </p:grpSpPr>
        <p:sp>
          <p:nvSpPr>
            <p:cNvPr id="18" name="Rectangle 17">
              <a:extLst>
                <a:ext uri="{FF2B5EF4-FFF2-40B4-BE49-F238E27FC236}">
                  <a16:creationId xmlns:a16="http://schemas.microsoft.com/office/drawing/2014/main" id="{76ED48FB-D827-6E35-663A-DB22E489F335}"/>
                </a:ext>
              </a:extLst>
            </p:cNvPr>
            <p:cNvSpPr/>
            <p:nvPr/>
          </p:nvSpPr>
          <p:spPr bwMode="auto">
            <a:xfrm>
              <a:off x="3154128" y="400256"/>
              <a:ext cx="2556118" cy="2092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RURAL</a:t>
              </a:r>
            </a:p>
          </p:txBody>
        </p:sp>
        <p:sp>
          <p:nvSpPr>
            <p:cNvPr id="19" name="Rectangle 78">
              <a:extLst>
                <a:ext uri="{FF2B5EF4-FFF2-40B4-BE49-F238E27FC236}">
                  <a16:creationId xmlns:a16="http://schemas.microsoft.com/office/drawing/2014/main" id="{5B72F5BB-E408-3246-36EA-9C19819046B5}"/>
                </a:ext>
              </a:extLst>
            </p:cNvPr>
            <p:cNvSpPr/>
            <p:nvPr/>
          </p:nvSpPr>
          <p:spPr bwMode="auto">
            <a:xfrm>
              <a:off x="3159915" y="598736"/>
              <a:ext cx="2550331" cy="658659"/>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17" name="Rechthoek 69">
            <a:extLst>
              <a:ext uri="{FF2B5EF4-FFF2-40B4-BE49-F238E27FC236}">
                <a16:creationId xmlns:a16="http://schemas.microsoft.com/office/drawing/2014/main" id="{7DAD0AAD-D277-8A2D-4871-BE51A9E6DEBE}"/>
              </a:ext>
            </a:extLst>
          </p:cNvPr>
          <p:cNvSpPr/>
          <p:nvPr/>
        </p:nvSpPr>
        <p:spPr bwMode="auto">
          <a:xfrm>
            <a:off x="3660223" y="2038249"/>
            <a:ext cx="673486" cy="325785"/>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IRB &amp; IRB-RWA</a:t>
            </a:r>
          </a:p>
        </p:txBody>
      </p:sp>
      <p:grpSp>
        <p:nvGrpSpPr>
          <p:cNvPr id="21" name="Group 94">
            <a:extLst>
              <a:ext uri="{FF2B5EF4-FFF2-40B4-BE49-F238E27FC236}">
                <a16:creationId xmlns:a16="http://schemas.microsoft.com/office/drawing/2014/main" id="{ACC3861E-8C02-4995-67FB-32604C776EEC}"/>
              </a:ext>
            </a:extLst>
          </p:cNvPr>
          <p:cNvGrpSpPr/>
          <p:nvPr/>
        </p:nvGrpSpPr>
        <p:grpSpPr>
          <a:xfrm>
            <a:off x="4592819" y="1794497"/>
            <a:ext cx="867128" cy="669006"/>
            <a:chOff x="3154128" y="400256"/>
            <a:chExt cx="2556118" cy="857139"/>
          </a:xfrm>
        </p:grpSpPr>
        <p:sp>
          <p:nvSpPr>
            <p:cNvPr id="23" name="Rectangle 22">
              <a:extLst>
                <a:ext uri="{FF2B5EF4-FFF2-40B4-BE49-F238E27FC236}">
                  <a16:creationId xmlns:a16="http://schemas.microsoft.com/office/drawing/2014/main" id="{4BF36D73-5ECF-68CB-B1E6-99DD4F07CCD2}"/>
                </a:ext>
              </a:extLst>
            </p:cNvPr>
            <p:cNvSpPr/>
            <p:nvPr/>
          </p:nvSpPr>
          <p:spPr bwMode="auto">
            <a:xfrm>
              <a:off x="3154128" y="400256"/>
              <a:ext cx="2556118" cy="2092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SL&amp;I</a:t>
              </a:r>
            </a:p>
          </p:txBody>
        </p:sp>
        <p:sp>
          <p:nvSpPr>
            <p:cNvPr id="24" name="Rectangle 78">
              <a:extLst>
                <a:ext uri="{FF2B5EF4-FFF2-40B4-BE49-F238E27FC236}">
                  <a16:creationId xmlns:a16="http://schemas.microsoft.com/office/drawing/2014/main" id="{524F9AE9-85D0-FEB7-7567-0647BDE0DC7E}"/>
                </a:ext>
              </a:extLst>
            </p:cNvPr>
            <p:cNvSpPr/>
            <p:nvPr/>
          </p:nvSpPr>
          <p:spPr bwMode="auto">
            <a:xfrm>
              <a:off x="3159915" y="598736"/>
              <a:ext cx="2550331" cy="658659"/>
            </a:xfrm>
            <a:prstGeom prst="rect">
              <a:avLst/>
            </a:prstGeom>
            <a:solidFill>
              <a:schemeClr val="bg1"/>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grpSp>
      <p:sp>
        <p:nvSpPr>
          <p:cNvPr id="22" name="Rechthoek 69">
            <a:extLst>
              <a:ext uri="{FF2B5EF4-FFF2-40B4-BE49-F238E27FC236}">
                <a16:creationId xmlns:a16="http://schemas.microsoft.com/office/drawing/2014/main" id="{383F2BED-5B90-CB9D-ED9D-B2DB5979211E}"/>
              </a:ext>
            </a:extLst>
          </p:cNvPr>
          <p:cNvSpPr/>
          <p:nvPr/>
        </p:nvSpPr>
        <p:spPr bwMode="auto">
          <a:xfrm>
            <a:off x="4712045" y="2038249"/>
            <a:ext cx="673486" cy="325785"/>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Model Use</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IRB &amp; IRB-RWA</a:t>
            </a:r>
          </a:p>
        </p:txBody>
      </p:sp>
      <p:grpSp>
        <p:nvGrpSpPr>
          <p:cNvPr id="71" name="Group 70">
            <a:extLst>
              <a:ext uri="{FF2B5EF4-FFF2-40B4-BE49-F238E27FC236}">
                <a16:creationId xmlns:a16="http://schemas.microsoft.com/office/drawing/2014/main" id="{82DE8D62-3634-7A5F-DFF8-AEB684A8B114}"/>
              </a:ext>
            </a:extLst>
          </p:cNvPr>
          <p:cNvGrpSpPr/>
          <p:nvPr/>
        </p:nvGrpSpPr>
        <p:grpSpPr>
          <a:xfrm>
            <a:off x="6743043" y="2639379"/>
            <a:ext cx="867128" cy="755998"/>
            <a:chOff x="4809869" y="3803187"/>
            <a:chExt cx="867128" cy="773034"/>
          </a:xfrm>
        </p:grpSpPr>
        <p:grpSp>
          <p:nvGrpSpPr>
            <p:cNvPr id="72" name="Group 94">
              <a:extLst>
                <a:ext uri="{FF2B5EF4-FFF2-40B4-BE49-F238E27FC236}">
                  <a16:creationId xmlns:a16="http://schemas.microsoft.com/office/drawing/2014/main" id="{1A4781DD-5893-3A8C-5621-1476F089387A}"/>
                </a:ext>
              </a:extLst>
            </p:cNvPr>
            <p:cNvGrpSpPr/>
            <p:nvPr/>
          </p:nvGrpSpPr>
          <p:grpSpPr>
            <a:xfrm>
              <a:off x="4809869" y="3803187"/>
              <a:ext cx="867128" cy="773034"/>
              <a:chOff x="6641800" y="648689"/>
              <a:chExt cx="2556118" cy="1021412"/>
            </a:xfrm>
          </p:grpSpPr>
          <p:sp>
            <p:nvSpPr>
              <p:cNvPr id="82" name="Rectangle 78">
                <a:extLst>
                  <a:ext uri="{FF2B5EF4-FFF2-40B4-BE49-F238E27FC236}">
                    <a16:creationId xmlns:a16="http://schemas.microsoft.com/office/drawing/2014/main" id="{B7CD5664-256B-8EFF-2533-4AE11D267539}"/>
                  </a:ext>
                </a:extLst>
              </p:cNvPr>
              <p:cNvSpPr/>
              <p:nvPr/>
            </p:nvSpPr>
            <p:spPr bwMode="auto">
              <a:xfrm>
                <a:off x="6647586" y="847165"/>
                <a:ext cx="2550332" cy="822936"/>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sp>
            <p:nvSpPr>
              <p:cNvPr id="77" name="Rectangle 76">
                <a:extLst>
                  <a:ext uri="{FF2B5EF4-FFF2-40B4-BE49-F238E27FC236}">
                    <a16:creationId xmlns:a16="http://schemas.microsoft.com/office/drawing/2014/main" id="{DE914398-1CEE-FEEE-5B2C-4F3AE15B9403}"/>
                  </a:ext>
                </a:extLst>
              </p:cNvPr>
              <p:cNvSpPr/>
              <p:nvPr/>
            </p:nvSpPr>
            <p:spPr bwMode="auto">
              <a:xfrm>
                <a:off x="6641800" y="648689"/>
                <a:ext cx="2556118" cy="310340"/>
              </a:xfrm>
              <a:prstGeom prst="rect">
                <a:avLst/>
              </a:prstGeom>
              <a:solidFill>
                <a:srgbClr val="FF4900"/>
              </a:solidFill>
              <a:ln w="12700" cap="flat" cmpd="sng" algn="ctr">
                <a:solidFill>
                  <a:srgbClr val="FF4900"/>
                </a:solidFill>
                <a:prstDash val="solid"/>
              </a:ln>
              <a:effectLst/>
            </p:spPr>
            <p:txBody>
              <a:bodyPr lIns="36000" tIns="36000" rIns="36000" bIns="36000" anchor="ctr"/>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PSA Collateral Eligibility Engine</a:t>
                </a:r>
              </a:p>
            </p:txBody>
          </p:sp>
        </p:grpSp>
        <p:sp>
          <p:nvSpPr>
            <p:cNvPr id="74" name="Rechthoek 69">
              <a:extLst>
                <a:ext uri="{FF2B5EF4-FFF2-40B4-BE49-F238E27FC236}">
                  <a16:creationId xmlns:a16="http://schemas.microsoft.com/office/drawing/2014/main" id="{EDC7C79A-2284-3E82-800F-2F2334E7CB78}"/>
                </a:ext>
              </a:extLst>
            </p:cNvPr>
            <p:cNvSpPr/>
            <p:nvPr/>
          </p:nvSpPr>
          <p:spPr bwMode="auto">
            <a:xfrm>
              <a:off x="4907222" y="4118127"/>
              <a:ext cx="673486" cy="33312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Risk</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Administration</a:t>
              </a:r>
            </a:p>
          </p:txBody>
        </p:sp>
      </p:grpSp>
      <p:grpSp>
        <p:nvGrpSpPr>
          <p:cNvPr id="88" name="Group 87">
            <a:extLst>
              <a:ext uri="{FF2B5EF4-FFF2-40B4-BE49-F238E27FC236}">
                <a16:creationId xmlns:a16="http://schemas.microsoft.com/office/drawing/2014/main" id="{887F0B92-1593-A583-DE71-8D827F35CACC}"/>
              </a:ext>
            </a:extLst>
          </p:cNvPr>
          <p:cNvGrpSpPr/>
          <p:nvPr/>
        </p:nvGrpSpPr>
        <p:grpSpPr>
          <a:xfrm>
            <a:off x="1458300" y="2643488"/>
            <a:ext cx="867127" cy="756000"/>
            <a:chOff x="7010310" y="1325215"/>
            <a:chExt cx="1151175" cy="762513"/>
          </a:xfrm>
        </p:grpSpPr>
        <p:sp>
          <p:nvSpPr>
            <p:cNvPr id="89" name="Rectangle 78">
              <a:extLst>
                <a:ext uri="{FF2B5EF4-FFF2-40B4-BE49-F238E27FC236}">
                  <a16:creationId xmlns:a16="http://schemas.microsoft.com/office/drawing/2014/main" id="{8F588BDF-3B08-7CDB-6E77-FF4FBD0630AB}"/>
                </a:ext>
              </a:extLst>
            </p:cNvPr>
            <p:cNvSpPr/>
            <p:nvPr/>
          </p:nvSpPr>
          <p:spPr bwMode="auto">
            <a:xfrm>
              <a:off x="7010310" y="1473385"/>
              <a:ext cx="1151175" cy="614343"/>
            </a:xfrm>
            <a:prstGeom prst="rect">
              <a:avLst/>
            </a:prstGeom>
            <a:solidFill>
              <a:schemeClr val="bg1"/>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endParaRPr lang="en-US" sz="800">
                <a:latin typeface="Calibri" panose="020F0502020204030204" pitchFamily="34" charset="0"/>
                <a:cs typeface="Calibri" panose="020F0502020204030204" pitchFamily="34" charset="0"/>
              </a:endParaRPr>
            </a:p>
          </p:txBody>
        </p:sp>
        <p:sp>
          <p:nvSpPr>
            <p:cNvPr id="90" name="Rectangle 78">
              <a:extLst>
                <a:ext uri="{FF2B5EF4-FFF2-40B4-BE49-F238E27FC236}">
                  <a16:creationId xmlns:a16="http://schemas.microsoft.com/office/drawing/2014/main" id="{F4C6C5AB-0700-8065-DF47-A253ED7CEED8}"/>
                </a:ext>
              </a:extLst>
            </p:cNvPr>
            <p:cNvSpPr/>
            <p:nvPr/>
          </p:nvSpPr>
          <p:spPr bwMode="auto">
            <a:xfrm>
              <a:off x="7010310" y="1325215"/>
              <a:ext cx="1151175" cy="235493"/>
            </a:xfrm>
            <a:prstGeom prst="rect">
              <a:avLst/>
            </a:prstGeom>
            <a:solidFill>
              <a:srgbClr val="FF4900"/>
            </a:solidFill>
            <a:ln w="12700" cap="flat" cmpd="sng" algn="ctr">
              <a:solidFill>
                <a:srgbClr val="FF4900"/>
              </a:solidFill>
              <a:prstDash val="solid"/>
            </a:ln>
            <a:effectLst/>
          </p:spPr>
          <p:txBody>
            <a:bodyPr lIns="36000" tIns="36000" rIns="36000" bIns="36000" anchor="t"/>
            <a:lstStyle/>
            <a:p>
              <a:pPr algn="ctr" defTabSz="1219170" fontAlgn="auto">
                <a:lnSpc>
                  <a:spcPct val="90000"/>
                </a:lnSpc>
                <a:spcBef>
                  <a:spcPts val="0"/>
                </a:spcBef>
                <a:spcAft>
                  <a:spcPts val="0"/>
                </a:spcAft>
              </a:pPr>
              <a:r>
                <a:rPr lang="en-US" sz="800" b="1">
                  <a:solidFill>
                    <a:prstClr val="white"/>
                  </a:solidFill>
                  <a:latin typeface="Calibri" panose="020F0502020204030204" pitchFamily="34" charset="0"/>
                  <a:cs typeface="Calibri" panose="020F0502020204030204" pitchFamily="34" charset="0"/>
                </a:rPr>
                <a:t>GRFD Go2</a:t>
              </a:r>
            </a:p>
          </p:txBody>
        </p:sp>
      </p:grpSp>
      <p:sp>
        <p:nvSpPr>
          <p:cNvPr id="91" name="Rechthoek 69">
            <a:extLst>
              <a:ext uri="{FF2B5EF4-FFF2-40B4-BE49-F238E27FC236}">
                <a16:creationId xmlns:a16="http://schemas.microsoft.com/office/drawing/2014/main" id="{A30841FA-55E3-00FE-80CB-5935261E763D}"/>
              </a:ext>
            </a:extLst>
          </p:cNvPr>
          <p:cNvSpPr/>
          <p:nvPr/>
        </p:nvSpPr>
        <p:spPr bwMode="auto">
          <a:xfrm>
            <a:off x="1554351" y="2954577"/>
            <a:ext cx="673486" cy="323986"/>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Data </a:t>
            </a:r>
          </a:p>
          <a:p>
            <a:pPr marL="0" marR="0" indent="0" algn="ctr" defTabSz="914400" rtl="0" eaLnBrk="0" fontAlgn="base" latinLnBrk="0" hangingPunct="0">
              <a:lnSpc>
                <a:spcPct val="100000"/>
              </a:lnSpc>
              <a:spcBef>
                <a:spcPct val="0"/>
              </a:spcBef>
              <a:spcAft>
                <a:spcPct val="0"/>
              </a:spcAft>
              <a:buClrTx/>
              <a:buSzTx/>
              <a:buFontTx/>
              <a:buNone/>
              <a:tabLst/>
            </a:pPr>
            <a:r>
              <a:rPr lang="en-US" sz="700" b="1" i="1">
                <a:solidFill>
                  <a:schemeClr val="bg1"/>
                </a:solidFill>
                <a:latin typeface="Calibri" panose="020F0502020204030204" pitchFamily="34" charset="0"/>
                <a:cs typeface="Calibri" panose="020F0502020204030204" pitchFamily="34" charset="0"/>
              </a:rPr>
              <a:t> warehousing</a:t>
            </a:r>
          </a:p>
        </p:txBody>
      </p:sp>
    </p:spTree>
    <p:extLst>
      <p:ext uri="{BB962C8B-B14F-4D97-AF65-F5344CB8AC3E}">
        <p14:creationId xmlns:p14="http://schemas.microsoft.com/office/powerpoint/2010/main" val="236954884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itel 1">
            <a:extLst>
              <a:ext uri="{FF2B5EF4-FFF2-40B4-BE49-F238E27FC236}">
                <a16:creationId xmlns:a16="http://schemas.microsoft.com/office/drawing/2014/main" id="{A225C6DB-0CF0-8E4B-B3BB-1F9EEFE638E2}"/>
              </a:ext>
            </a:extLst>
          </p:cNvPr>
          <p:cNvSpPr>
            <a:spLocks noGrp="1"/>
          </p:cNvSpPr>
          <p:nvPr>
            <p:ph type="title"/>
          </p:nvPr>
        </p:nvSpPr>
        <p:spPr>
          <a:xfrm>
            <a:off x="475815" y="191293"/>
            <a:ext cx="7655312" cy="875509"/>
          </a:xfrm>
        </p:spPr>
        <p:txBody>
          <a:bodyPr/>
          <a:lstStyle/>
          <a:p>
            <a:r>
              <a:rPr lang="nl-NL"/>
              <a:t>1.8 </a:t>
            </a:r>
            <a:r>
              <a:rPr lang="en-GB"/>
              <a:t>Functional</a:t>
            </a:r>
            <a:r>
              <a:rPr lang="nl-NL"/>
              <a:t> Domain impact</a:t>
            </a:r>
          </a:p>
        </p:txBody>
      </p:sp>
      <p:sp>
        <p:nvSpPr>
          <p:cNvPr id="5" name="Tijdelijke aanduiding voor dianummer 4"/>
          <p:cNvSpPr>
            <a:spLocks noGrp="1"/>
          </p:cNvSpPr>
          <p:nvPr>
            <p:ph type="sldNum" sz="quarter" idx="10"/>
          </p:nvPr>
        </p:nvSpPr>
        <p:spPr>
          <a:xfrm>
            <a:off x="8429498" y="4613651"/>
            <a:ext cx="642937" cy="204788"/>
          </a:xfrm>
        </p:spPr>
        <p:txBody>
          <a:bodyPr/>
          <a:lstStyle/>
          <a:p>
            <a:fld id="{4821C4A5-98F2-7545-875B-39B2F4500447}" type="slidenum">
              <a:rPr lang="en-GB" smtClean="0"/>
              <a:pPr/>
              <a:t>9</a:t>
            </a:fld>
            <a:endParaRPr lang="en-GB"/>
          </a:p>
        </p:txBody>
      </p:sp>
      <p:sp>
        <p:nvSpPr>
          <p:cNvPr id="111"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grpSp>
        <p:nvGrpSpPr>
          <p:cNvPr id="112" name="Group 12"/>
          <p:cNvGrpSpPr/>
          <p:nvPr/>
        </p:nvGrpSpPr>
        <p:grpSpPr>
          <a:xfrm>
            <a:off x="475815" y="1066802"/>
            <a:ext cx="7005183" cy="3266129"/>
            <a:chOff x="797669" y="1060826"/>
            <a:chExt cx="7649971" cy="3720054"/>
          </a:xfrm>
        </p:grpSpPr>
        <p:sp>
          <p:nvSpPr>
            <p:cNvPr id="114" name="Rectangle 78"/>
            <p:cNvSpPr/>
            <p:nvPr/>
          </p:nvSpPr>
          <p:spPr>
            <a:xfrm>
              <a:off x="797669" y="1060826"/>
              <a:ext cx="7649970" cy="616722"/>
            </a:xfrm>
            <a:prstGeom prst="rect">
              <a:avLst/>
            </a:prstGeom>
            <a:solidFill>
              <a:schemeClr val="bg1">
                <a:lumMod val="50000"/>
              </a:schemeClr>
            </a:solidFill>
            <a:ln w="6350">
              <a:no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lIns="68580" tIns="34290" rIns="68580" bIns="34290" rtlCol="0" anchor="t"/>
            <a:lstStyle/>
            <a:p>
              <a:pPr algn="ctr" defTabSz="685783">
                <a:defRPr/>
              </a:pPr>
              <a:r>
                <a:rPr lang="en-GB" sz="700">
                  <a:solidFill>
                    <a:prstClr val="white"/>
                  </a:solidFill>
                  <a:latin typeface="Corbel"/>
                </a:rPr>
                <a:t>Enterprise Governance</a:t>
              </a:r>
            </a:p>
          </p:txBody>
        </p:sp>
        <p:sp>
          <p:nvSpPr>
            <p:cNvPr id="115" name="Rectangle 79"/>
            <p:cNvSpPr/>
            <p:nvPr/>
          </p:nvSpPr>
          <p:spPr>
            <a:xfrm>
              <a:off x="797669" y="4159689"/>
              <a:ext cx="7649970" cy="621191"/>
            </a:xfrm>
            <a:prstGeom prst="rect">
              <a:avLst/>
            </a:prstGeom>
            <a:solidFill>
              <a:schemeClr val="bg1">
                <a:lumMod val="50000"/>
              </a:schemeClr>
            </a:solidFill>
            <a:ln w="6350">
              <a:no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lIns="68580" tIns="34290" rIns="68580" bIns="34290" rtlCol="0" anchor="t"/>
            <a:lstStyle/>
            <a:p>
              <a:pPr algn="ctr"/>
              <a:r>
                <a:rPr lang="en-GB" sz="700">
                  <a:solidFill>
                    <a:prstClr val="white"/>
                  </a:solidFill>
                  <a:latin typeface="Corbel"/>
                </a:rPr>
                <a:t>Organization Support</a:t>
              </a:r>
            </a:p>
          </p:txBody>
        </p:sp>
        <p:sp>
          <p:nvSpPr>
            <p:cNvPr id="116" name="Rectangle 83">
              <a:extLst>
                <a:ext uri="{FF2B5EF4-FFF2-40B4-BE49-F238E27FC236}">
                  <a16:creationId xmlns:a16="http://schemas.microsoft.com/office/drawing/2014/main" id="{CE9332BC-DB91-1B43-AC4F-04B1EE714B5A}"/>
                </a:ext>
              </a:extLst>
            </p:cNvPr>
            <p:cNvSpPr/>
            <p:nvPr/>
          </p:nvSpPr>
          <p:spPr>
            <a:xfrm>
              <a:off x="885399"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Organization strategy</a:t>
              </a:r>
            </a:p>
          </p:txBody>
        </p:sp>
        <p:sp>
          <p:nvSpPr>
            <p:cNvPr id="117" name="Rectangle 88">
              <a:extLst>
                <a:ext uri="{FF2B5EF4-FFF2-40B4-BE49-F238E27FC236}">
                  <a16:creationId xmlns:a16="http://schemas.microsoft.com/office/drawing/2014/main" id="{DB46954C-6524-1445-B645-2E51EE150316}"/>
                </a:ext>
              </a:extLst>
            </p:cNvPr>
            <p:cNvSpPr/>
            <p:nvPr/>
          </p:nvSpPr>
          <p:spPr>
            <a:xfrm>
              <a:off x="1838247"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Investor relation management</a:t>
              </a:r>
            </a:p>
          </p:txBody>
        </p:sp>
        <p:sp>
          <p:nvSpPr>
            <p:cNvPr id="118" name="Rectangle 89">
              <a:extLst>
                <a:ext uri="{FF2B5EF4-FFF2-40B4-BE49-F238E27FC236}">
                  <a16:creationId xmlns:a16="http://schemas.microsoft.com/office/drawing/2014/main" id="{454170FF-7569-9E42-ACA6-5C632007BC15}"/>
                </a:ext>
              </a:extLst>
            </p:cNvPr>
            <p:cNvSpPr/>
            <p:nvPr/>
          </p:nvSpPr>
          <p:spPr>
            <a:xfrm>
              <a:off x="2791096"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Compliance and risk governance</a:t>
              </a:r>
            </a:p>
          </p:txBody>
        </p:sp>
        <p:sp>
          <p:nvSpPr>
            <p:cNvPr id="119" name="Rectangle 91">
              <a:extLst>
                <a:ext uri="{FF2B5EF4-FFF2-40B4-BE49-F238E27FC236}">
                  <a16:creationId xmlns:a16="http://schemas.microsoft.com/office/drawing/2014/main" id="{8E6EFB22-073A-4C49-80B0-D37BF2FB96FF}"/>
                </a:ext>
              </a:extLst>
            </p:cNvPr>
            <p:cNvSpPr/>
            <p:nvPr/>
          </p:nvSpPr>
          <p:spPr>
            <a:xfrm>
              <a:off x="3743944"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Value chain management</a:t>
              </a:r>
            </a:p>
          </p:txBody>
        </p:sp>
        <p:sp>
          <p:nvSpPr>
            <p:cNvPr id="120" name="Rectangle 92">
              <a:extLst>
                <a:ext uri="{FF2B5EF4-FFF2-40B4-BE49-F238E27FC236}">
                  <a16:creationId xmlns:a16="http://schemas.microsoft.com/office/drawing/2014/main" id="{F4C7A3B0-FDA0-0146-B8C5-A135B2469E68}"/>
                </a:ext>
              </a:extLst>
            </p:cNvPr>
            <p:cNvSpPr/>
            <p:nvPr/>
          </p:nvSpPr>
          <p:spPr>
            <a:xfrm>
              <a:off x="4696792"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Data governance</a:t>
              </a:r>
            </a:p>
          </p:txBody>
        </p:sp>
        <p:sp>
          <p:nvSpPr>
            <p:cNvPr id="121" name="Rectangle 93">
              <a:extLst>
                <a:ext uri="{FF2B5EF4-FFF2-40B4-BE49-F238E27FC236}">
                  <a16:creationId xmlns:a16="http://schemas.microsoft.com/office/drawing/2014/main" id="{653E709D-85E6-144E-9165-90E407F9EB32}"/>
                </a:ext>
              </a:extLst>
            </p:cNvPr>
            <p:cNvSpPr/>
            <p:nvPr/>
          </p:nvSpPr>
          <p:spPr>
            <a:xfrm>
              <a:off x="5649640"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Portfolio management</a:t>
              </a:r>
            </a:p>
          </p:txBody>
        </p:sp>
        <p:sp>
          <p:nvSpPr>
            <p:cNvPr id="122" name="Rectangle 95">
              <a:extLst>
                <a:ext uri="{FF2B5EF4-FFF2-40B4-BE49-F238E27FC236}">
                  <a16:creationId xmlns:a16="http://schemas.microsoft.com/office/drawing/2014/main" id="{B6659DBD-740C-994A-944C-D6A39B27719C}"/>
                </a:ext>
              </a:extLst>
            </p:cNvPr>
            <p:cNvSpPr/>
            <p:nvPr/>
          </p:nvSpPr>
          <p:spPr>
            <a:xfrm>
              <a:off x="7555334"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27000" tIns="0" rIns="27000" bIns="0" rtlCol="0" anchor="ctr"/>
            <a:lstStyle/>
            <a:p>
              <a:pPr algn="ctr" defTabSz="685783"/>
              <a:r>
                <a:rPr lang="en-GB" sz="600" i="1">
                  <a:solidFill>
                    <a:prstClr val="white"/>
                  </a:solidFill>
                  <a:latin typeface="Corbel"/>
                </a:rPr>
                <a:t>Sustainability policy development</a:t>
              </a:r>
            </a:p>
          </p:txBody>
        </p:sp>
        <p:sp>
          <p:nvSpPr>
            <p:cNvPr id="123" name="Rectangle 94">
              <a:extLst>
                <a:ext uri="{FF2B5EF4-FFF2-40B4-BE49-F238E27FC236}">
                  <a16:creationId xmlns:a16="http://schemas.microsoft.com/office/drawing/2014/main" id="{DB4D7698-297A-704A-B8A9-DC2E3DC35E92}"/>
                </a:ext>
              </a:extLst>
            </p:cNvPr>
            <p:cNvSpPr/>
            <p:nvPr/>
          </p:nvSpPr>
          <p:spPr>
            <a:xfrm>
              <a:off x="6602488" y="1253162"/>
              <a:ext cx="783923" cy="354057"/>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Project portfolio management</a:t>
              </a:r>
            </a:p>
          </p:txBody>
        </p:sp>
        <p:sp>
          <p:nvSpPr>
            <p:cNvPr id="124" name="Rectangle 78">
              <a:extLst>
                <a:ext uri="{FF2B5EF4-FFF2-40B4-BE49-F238E27FC236}">
                  <a16:creationId xmlns:a16="http://schemas.microsoft.com/office/drawing/2014/main" id="{1C65086C-BD06-8B4E-B2B9-FA9A899CCE64}"/>
                </a:ext>
              </a:extLst>
            </p:cNvPr>
            <p:cNvSpPr/>
            <p:nvPr/>
          </p:nvSpPr>
          <p:spPr>
            <a:xfrm>
              <a:off x="797669" y="1699808"/>
              <a:ext cx="1032440" cy="2432696"/>
            </a:xfrm>
            <a:prstGeom prst="rect">
              <a:avLst/>
            </a:prstGeom>
            <a:solidFill>
              <a:schemeClr val="accent2"/>
            </a:solidFill>
            <a:ln w="6350">
              <a:noFill/>
            </a:ln>
            <a:effectLst>
              <a:outerShdw blurRad="50800" dist="38100" dir="2700000" algn="tl" rotWithShape="0">
                <a:prstClr val="black">
                  <a:alpha val="40000"/>
                </a:prstClr>
              </a:outerShdw>
            </a:effectLst>
          </p:spPr>
          <p:txBody>
            <a:bodyPr lIns="68519" tIns="34258" rIns="68519" bIns="34258" rtlCol="0" anchor="t"/>
            <a:lstStyle/>
            <a:p>
              <a:pPr algn="ctr" defTabSz="456560" eaLnBrk="0" hangingPunct="0"/>
              <a:r>
                <a:rPr lang="en-GB" sz="700">
                  <a:solidFill>
                    <a:prstClr val="white"/>
                  </a:solidFill>
                  <a:latin typeface="Corbel"/>
                </a:rPr>
                <a:t>Interaction Management</a:t>
              </a:r>
            </a:p>
            <a:p>
              <a:pPr algn="ctr" defTabSz="456560" eaLnBrk="0" hangingPunct="0"/>
              <a:endParaRPr lang="en-GB" sz="700">
                <a:solidFill>
                  <a:prstClr val="white"/>
                </a:solidFill>
                <a:latin typeface="Corbel"/>
              </a:endParaRPr>
            </a:p>
          </p:txBody>
        </p:sp>
        <p:sp>
          <p:nvSpPr>
            <p:cNvPr id="125" name="Rectangle 83">
              <a:extLst>
                <a:ext uri="{FF2B5EF4-FFF2-40B4-BE49-F238E27FC236}">
                  <a16:creationId xmlns:a16="http://schemas.microsoft.com/office/drawing/2014/main" id="{A9712F3E-59FA-CE46-8969-773CE7DBFA17}"/>
                </a:ext>
              </a:extLst>
            </p:cNvPr>
            <p:cNvSpPr/>
            <p:nvPr/>
          </p:nvSpPr>
          <p:spPr>
            <a:xfrm>
              <a:off x="903650" y="2256776"/>
              <a:ext cx="820477"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Conversation management</a:t>
              </a:r>
            </a:p>
          </p:txBody>
        </p:sp>
        <p:sp>
          <p:nvSpPr>
            <p:cNvPr id="126" name="Rectangle 89">
              <a:extLst>
                <a:ext uri="{FF2B5EF4-FFF2-40B4-BE49-F238E27FC236}">
                  <a16:creationId xmlns:a16="http://schemas.microsoft.com/office/drawing/2014/main" id="{98DB1045-126E-C546-95E4-D43195761C67}"/>
                </a:ext>
              </a:extLst>
            </p:cNvPr>
            <p:cNvSpPr/>
            <p:nvPr/>
          </p:nvSpPr>
          <p:spPr>
            <a:xfrm>
              <a:off x="903650" y="2877364"/>
              <a:ext cx="820477"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Channel management</a:t>
              </a:r>
            </a:p>
          </p:txBody>
        </p:sp>
        <p:sp>
          <p:nvSpPr>
            <p:cNvPr id="127" name="Rectangle 91">
              <a:extLst>
                <a:ext uri="{FF2B5EF4-FFF2-40B4-BE49-F238E27FC236}">
                  <a16:creationId xmlns:a16="http://schemas.microsoft.com/office/drawing/2014/main" id="{DCAD9D39-08D5-D94F-9383-D2B4776707A7}"/>
                </a:ext>
              </a:extLst>
            </p:cNvPr>
            <p:cNvSpPr/>
            <p:nvPr/>
          </p:nvSpPr>
          <p:spPr>
            <a:xfrm>
              <a:off x="903650" y="3472353"/>
              <a:ext cx="820477"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Authentication management</a:t>
              </a:r>
            </a:p>
          </p:txBody>
        </p:sp>
        <p:sp>
          <p:nvSpPr>
            <p:cNvPr id="128" name="Rectangle 78">
              <a:extLst>
                <a:ext uri="{FF2B5EF4-FFF2-40B4-BE49-F238E27FC236}">
                  <a16:creationId xmlns:a16="http://schemas.microsoft.com/office/drawing/2014/main" id="{59174A10-60E3-AB46-9FF0-2CDFA05E9A9C}"/>
                </a:ext>
              </a:extLst>
            </p:cNvPr>
            <p:cNvSpPr/>
            <p:nvPr/>
          </p:nvSpPr>
          <p:spPr>
            <a:xfrm>
              <a:off x="1873968" y="3518897"/>
              <a:ext cx="2449421" cy="616722"/>
            </a:xfrm>
            <a:prstGeom prst="rect">
              <a:avLst/>
            </a:prstGeom>
            <a:solidFill>
              <a:schemeClr val="accent2"/>
            </a:solidFill>
            <a:ln w="6350">
              <a:no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t"/>
            <a:lstStyle/>
            <a:p>
              <a:pPr algn="ctr" defTabSz="685783">
                <a:defRPr/>
              </a:pPr>
              <a:r>
                <a:rPr lang="en-GB" sz="800">
                  <a:solidFill>
                    <a:prstClr val="white"/>
                  </a:solidFill>
                  <a:latin typeface="Corbel"/>
                </a:rPr>
                <a:t>Partner Management</a:t>
              </a:r>
            </a:p>
          </p:txBody>
        </p:sp>
        <p:sp>
          <p:nvSpPr>
            <p:cNvPr id="129" name="Rectangle 83">
              <a:extLst>
                <a:ext uri="{FF2B5EF4-FFF2-40B4-BE49-F238E27FC236}">
                  <a16:creationId xmlns:a16="http://schemas.microsoft.com/office/drawing/2014/main" id="{3904D842-79F4-CF48-9548-ED7ECA197940}"/>
                </a:ext>
              </a:extLst>
            </p:cNvPr>
            <p:cNvSpPr/>
            <p:nvPr/>
          </p:nvSpPr>
          <p:spPr>
            <a:xfrm>
              <a:off x="1996322" y="3705570"/>
              <a:ext cx="820478"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Partner</a:t>
              </a:r>
            </a:p>
            <a:p>
              <a:pPr algn="ctr" defTabSz="685783">
                <a:defRPr/>
              </a:pPr>
              <a:r>
                <a:rPr lang="en-GB" sz="600" i="1">
                  <a:solidFill>
                    <a:prstClr val="white"/>
                  </a:solidFill>
                  <a:latin typeface="Corbel"/>
                </a:rPr>
                <a:t>agreement management</a:t>
              </a:r>
            </a:p>
          </p:txBody>
        </p:sp>
        <p:sp>
          <p:nvSpPr>
            <p:cNvPr id="130" name="Rectangle 88">
              <a:extLst>
                <a:ext uri="{FF2B5EF4-FFF2-40B4-BE49-F238E27FC236}">
                  <a16:creationId xmlns:a16="http://schemas.microsoft.com/office/drawing/2014/main" id="{6EA8CD83-5F7A-B847-8328-59FAA4382C14}"/>
                </a:ext>
              </a:extLst>
            </p:cNvPr>
            <p:cNvSpPr/>
            <p:nvPr/>
          </p:nvSpPr>
          <p:spPr>
            <a:xfrm>
              <a:off x="3380556" y="3705570"/>
              <a:ext cx="820478"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Partner agreement execution</a:t>
              </a:r>
            </a:p>
          </p:txBody>
        </p:sp>
        <p:sp>
          <p:nvSpPr>
            <p:cNvPr id="131" name="Rectangle 78">
              <a:extLst>
                <a:ext uri="{FF2B5EF4-FFF2-40B4-BE49-F238E27FC236}">
                  <a16:creationId xmlns:a16="http://schemas.microsoft.com/office/drawing/2014/main" id="{59174A10-60E3-AB46-9FF0-2CDFA05E9A9C}"/>
                </a:ext>
              </a:extLst>
            </p:cNvPr>
            <p:cNvSpPr/>
            <p:nvPr/>
          </p:nvSpPr>
          <p:spPr>
            <a:xfrm>
              <a:off x="4356494" y="3508881"/>
              <a:ext cx="2586288" cy="621191"/>
            </a:xfrm>
            <a:prstGeom prst="rect">
              <a:avLst/>
            </a:prstGeom>
            <a:solidFill>
              <a:schemeClr val="accent2"/>
            </a:solidFill>
            <a:ln w="6350">
              <a:no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t"/>
            <a:lstStyle/>
            <a:p>
              <a:pPr algn="ctr" defTabSz="685783">
                <a:defRPr/>
              </a:pPr>
              <a:r>
                <a:rPr lang="en-GB" sz="800">
                  <a:solidFill>
                    <a:prstClr val="white"/>
                  </a:solidFill>
                  <a:latin typeface="Corbel"/>
                </a:rPr>
                <a:t>Involved Party Management</a:t>
              </a:r>
            </a:p>
          </p:txBody>
        </p:sp>
        <p:sp>
          <p:nvSpPr>
            <p:cNvPr id="132" name="Rectangle 83">
              <a:extLst>
                <a:ext uri="{FF2B5EF4-FFF2-40B4-BE49-F238E27FC236}">
                  <a16:creationId xmlns:a16="http://schemas.microsoft.com/office/drawing/2014/main" id="{8FA70FC9-9D8A-3D4A-9908-6AAF390B73BD}"/>
                </a:ext>
              </a:extLst>
            </p:cNvPr>
            <p:cNvSpPr/>
            <p:nvPr/>
          </p:nvSpPr>
          <p:spPr>
            <a:xfrm>
              <a:off x="4545036" y="3705570"/>
              <a:ext cx="820478"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srgbClr val="FFFFFF"/>
                  </a:solidFill>
                  <a:latin typeface="Corbel"/>
                </a:rPr>
                <a:t>Involved Party information management</a:t>
              </a:r>
            </a:p>
          </p:txBody>
        </p:sp>
        <p:sp>
          <p:nvSpPr>
            <p:cNvPr id="133" name="Rectangle 88">
              <a:extLst>
                <a:ext uri="{FF2B5EF4-FFF2-40B4-BE49-F238E27FC236}">
                  <a16:creationId xmlns:a16="http://schemas.microsoft.com/office/drawing/2014/main" id="{530AF6FE-7831-154F-96CD-F786606A8405}"/>
                </a:ext>
              </a:extLst>
            </p:cNvPr>
            <p:cNvSpPr/>
            <p:nvPr/>
          </p:nvSpPr>
          <p:spPr>
            <a:xfrm>
              <a:off x="5933762" y="3705570"/>
              <a:ext cx="820478" cy="369120"/>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lnSpc>
                  <a:spcPts val="675"/>
                </a:lnSpc>
                <a:defRPr/>
              </a:pPr>
              <a:r>
                <a:rPr lang="en-GB" sz="600" i="1">
                  <a:solidFill>
                    <a:srgbClr val="FFFFFF"/>
                  </a:solidFill>
                  <a:latin typeface="Corbel"/>
                </a:rPr>
                <a:t>Involved Party relationship information management</a:t>
              </a:r>
            </a:p>
          </p:txBody>
        </p:sp>
        <p:sp>
          <p:nvSpPr>
            <p:cNvPr id="134" name="Rectangle 79"/>
            <p:cNvSpPr/>
            <p:nvPr/>
          </p:nvSpPr>
          <p:spPr>
            <a:xfrm>
              <a:off x="6975891" y="1698479"/>
              <a:ext cx="1471749" cy="2431592"/>
            </a:xfrm>
            <a:prstGeom prst="rect">
              <a:avLst/>
            </a:prstGeom>
            <a:solidFill>
              <a:srgbClr val="00A3A1"/>
            </a:solidFill>
            <a:ln w="6350">
              <a:noFill/>
            </a:ln>
            <a:effectLst>
              <a:outerShdw blurRad="50800" dist="38100" dir="2700000" algn="tl" rotWithShape="0">
                <a:prstClr val="black">
                  <a:alpha val="40000"/>
                </a:prstClr>
              </a:outerShdw>
            </a:effectLst>
          </p:spPr>
          <p:txBody>
            <a:bodyPr lIns="68519" tIns="34258" rIns="68519" bIns="34258" rtlCol="0" anchor="t"/>
            <a:lstStyle/>
            <a:p>
              <a:pPr algn="ctr" defTabSz="456560" eaLnBrk="0" hangingPunct="0">
                <a:defRPr/>
              </a:pPr>
              <a:r>
                <a:rPr lang="en-GB" sz="700">
                  <a:solidFill>
                    <a:prstClr val="white"/>
                  </a:solidFill>
                  <a:latin typeface="Corbel"/>
                </a:rPr>
                <a:t>Risk, Finance and Compliance Management</a:t>
              </a:r>
            </a:p>
          </p:txBody>
        </p:sp>
        <p:sp>
          <p:nvSpPr>
            <p:cNvPr id="135" name="Rectangle 83">
              <a:extLst>
                <a:ext uri="{FF2B5EF4-FFF2-40B4-BE49-F238E27FC236}">
                  <a16:creationId xmlns:a16="http://schemas.microsoft.com/office/drawing/2014/main" id="{A553DBF9-5AB3-B14C-9C96-135E515CB61A}"/>
                </a:ext>
              </a:extLst>
            </p:cNvPr>
            <p:cNvSpPr/>
            <p:nvPr/>
          </p:nvSpPr>
          <p:spPr>
            <a:xfrm>
              <a:off x="7299227" y="2121501"/>
              <a:ext cx="820478" cy="345947"/>
            </a:xfrm>
            <a:prstGeom prst="rect">
              <a:avLst/>
            </a:prstGeom>
            <a:solidFill>
              <a:srgbClr val="00A3A1"/>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7200" rIns="68580" bIns="34290" rtlCol="0" anchor="t"/>
            <a:lstStyle/>
            <a:p>
              <a:pPr algn="ctr" defTabSz="685783">
                <a:defRPr/>
              </a:pPr>
              <a:r>
                <a:rPr lang="en-GB" sz="600" i="1">
                  <a:solidFill>
                    <a:prstClr val="white"/>
                  </a:solidFill>
                  <a:latin typeface="Corbel"/>
                </a:rPr>
                <a:t>Risk management</a:t>
              </a:r>
            </a:p>
          </p:txBody>
        </p:sp>
        <p:sp>
          <p:nvSpPr>
            <p:cNvPr id="136" name="Rectangle 88">
              <a:extLst>
                <a:ext uri="{FF2B5EF4-FFF2-40B4-BE49-F238E27FC236}">
                  <a16:creationId xmlns:a16="http://schemas.microsoft.com/office/drawing/2014/main" id="{D7D839B2-3E73-EA4D-A0FB-954858ABF28A}"/>
                </a:ext>
              </a:extLst>
            </p:cNvPr>
            <p:cNvSpPr/>
            <p:nvPr/>
          </p:nvSpPr>
          <p:spPr>
            <a:xfrm>
              <a:off x="7299227" y="2502953"/>
              <a:ext cx="820478" cy="369120"/>
            </a:xfrm>
            <a:prstGeom prst="rect">
              <a:avLst/>
            </a:prstGeom>
            <a:solidFill>
              <a:srgbClr val="00A3A1"/>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Treasury management</a:t>
              </a:r>
            </a:p>
          </p:txBody>
        </p:sp>
        <p:sp>
          <p:nvSpPr>
            <p:cNvPr id="137" name="Rectangle 89">
              <a:extLst>
                <a:ext uri="{FF2B5EF4-FFF2-40B4-BE49-F238E27FC236}">
                  <a16:creationId xmlns:a16="http://schemas.microsoft.com/office/drawing/2014/main" id="{40C96163-1860-C645-AB6F-07D681BA1B1E}"/>
                </a:ext>
              </a:extLst>
            </p:cNvPr>
            <p:cNvSpPr/>
            <p:nvPr/>
          </p:nvSpPr>
          <p:spPr>
            <a:xfrm>
              <a:off x="7299227" y="2907579"/>
              <a:ext cx="820478" cy="369120"/>
            </a:xfrm>
            <a:prstGeom prst="rect">
              <a:avLst/>
            </a:prstGeom>
            <a:solidFill>
              <a:srgbClr val="00A3A1"/>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Financial accounting</a:t>
              </a:r>
            </a:p>
          </p:txBody>
        </p:sp>
        <p:sp>
          <p:nvSpPr>
            <p:cNvPr id="138" name="Rectangle 91">
              <a:extLst>
                <a:ext uri="{FF2B5EF4-FFF2-40B4-BE49-F238E27FC236}">
                  <a16:creationId xmlns:a16="http://schemas.microsoft.com/office/drawing/2014/main" id="{F9AB89F7-B774-4E45-B976-1D82495A2B9A}"/>
                </a:ext>
              </a:extLst>
            </p:cNvPr>
            <p:cNvSpPr/>
            <p:nvPr/>
          </p:nvSpPr>
          <p:spPr>
            <a:xfrm>
              <a:off x="7299227" y="3312204"/>
              <a:ext cx="820478" cy="369120"/>
            </a:xfrm>
            <a:prstGeom prst="rect">
              <a:avLst/>
            </a:prstGeom>
            <a:solidFill>
              <a:srgbClr val="00A3A1"/>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Reporting</a:t>
              </a:r>
            </a:p>
          </p:txBody>
        </p:sp>
        <p:sp>
          <p:nvSpPr>
            <p:cNvPr id="139" name="Rectangle 91">
              <a:extLst>
                <a:ext uri="{FF2B5EF4-FFF2-40B4-BE49-F238E27FC236}">
                  <a16:creationId xmlns:a16="http://schemas.microsoft.com/office/drawing/2014/main" id="{47471A48-1638-1C46-839B-87D56FF4B2A9}"/>
                </a:ext>
              </a:extLst>
            </p:cNvPr>
            <p:cNvSpPr/>
            <p:nvPr/>
          </p:nvSpPr>
          <p:spPr>
            <a:xfrm>
              <a:off x="7299227" y="3716830"/>
              <a:ext cx="820478" cy="369120"/>
            </a:xfrm>
            <a:prstGeom prst="rect">
              <a:avLst/>
            </a:prstGeom>
            <a:solidFill>
              <a:srgbClr val="00A3A1"/>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Compliance management</a:t>
              </a:r>
            </a:p>
          </p:txBody>
        </p:sp>
        <p:sp>
          <p:nvSpPr>
            <p:cNvPr id="140" name="Rectangle 78">
              <a:extLst>
                <a:ext uri="{FF2B5EF4-FFF2-40B4-BE49-F238E27FC236}">
                  <a16:creationId xmlns:a16="http://schemas.microsoft.com/office/drawing/2014/main" id="{0235339A-0D37-5248-84A9-0A1DD53AF763}"/>
                </a:ext>
              </a:extLst>
            </p:cNvPr>
            <p:cNvSpPr/>
            <p:nvPr/>
          </p:nvSpPr>
          <p:spPr>
            <a:xfrm>
              <a:off x="1857413" y="1699556"/>
              <a:ext cx="1976197" cy="1771765"/>
            </a:xfrm>
            <a:prstGeom prst="rect">
              <a:avLst/>
            </a:prstGeom>
            <a:solidFill>
              <a:schemeClr val="accent1">
                <a:lumMod val="40000"/>
                <a:lumOff val="60000"/>
              </a:schemeClr>
            </a:solidFill>
            <a:ln w="6350">
              <a:noFill/>
            </a:ln>
            <a:effectLst>
              <a:outerShdw blurRad="50800" dist="38100" dir="2700000" algn="tl" rotWithShape="0">
                <a:prstClr val="black">
                  <a:alpha val="40000"/>
                </a:prstClr>
              </a:outerShdw>
            </a:effectLst>
          </p:spPr>
          <p:txBody>
            <a:bodyPr lIns="68519" tIns="34258" rIns="68519" bIns="34258" rtlCol="0" anchor="t"/>
            <a:lstStyle/>
            <a:p>
              <a:pPr algn="ctr" defTabSz="456560"/>
              <a:r>
                <a:rPr lang="en-GB" sz="700">
                  <a:solidFill>
                    <a:srgbClr val="FFFFFF"/>
                  </a:solidFill>
                  <a:latin typeface="Corbel"/>
                </a:rPr>
                <a:t>Customer engagement</a:t>
              </a:r>
              <a:endParaRPr lang="en-US" sz="1400"/>
            </a:p>
          </p:txBody>
        </p:sp>
        <p:sp>
          <p:nvSpPr>
            <p:cNvPr id="141" name="Rectangle 83">
              <a:extLst>
                <a:ext uri="{FF2B5EF4-FFF2-40B4-BE49-F238E27FC236}">
                  <a16:creationId xmlns:a16="http://schemas.microsoft.com/office/drawing/2014/main" id="{2E8E083F-47F2-AB49-BCE0-2E648B8E8C75}"/>
                </a:ext>
              </a:extLst>
            </p:cNvPr>
            <p:cNvSpPr/>
            <p:nvPr/>
          </p:nvSpPr>
          <p:spPr>
            <a:xfrm>
              <a:off x="1966159" y="2098328"/>
              <a:ext cx="820477" cy="369120"/>
            </a:xfrm>
            <a:prstGeom prst="rect">
              <a:avLst/>
            </a:prstGeom>
            <a:solidFill>
              <a:schemeClr val="tx2">
                <a:lumMod val="40000"/>
                <a:lumOff val="6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a:r>
                <a:rPr lang="en-GB" sz="600" i="1">
                  <a:solidFill>
                    <a:prstClr val="white"/>
                  </a:solidFill>
                </a:rPr>
                <a:t>Research and Development</a:t>
              </a:r>
              <a:endParaRPr lang="en-GB" sz="600" i="1">
                <a:solidFill>
                  <a:prstClr val="white"/>
                </a:solidFill>
                <a:latin typeface="Corbel"/>
              </a:endParaRPr>
            </a:p>
          </p:txBody>
        </p:sp>
        <p:sp>
          <p:nvSpPr>
            <p:cNvPr id="142" name="Rectangle 89">
              <a:extLst>
                <a:ext uri="{FF2B5EF4-FFF2-40B4-BE49-F238E27FC236}">
                  <a16:creationId xmlns:a16="http://schemas.microsoft.com/office/drawing/2014/main" id="{CD136910-C816-6247-99F8-F13314926BDD}"/>
                </a:ext>
              </a:extLst>
            </p:cNvPr>
            <p:cNvSpPr/>
            <p:nvPr/>
          </p:nvSpPr>
          <p:spPr>
            <a:xfrm>
              <a:off x="2878392" y="2099413"/>
              <a:ext cx="820477" cy="369120"/>
            </a:xfrm>
            <a:prstGeom prst="rect">
              <a:avLst/>
            </a:prstGeom>
            <a:solidFill>
              <a:schemeClr val="tx2">
                <a:lumMod val="40000"/>
                <a:lumOff val="6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a:r>
                <a:rPr lang="en-GB" sz="600" i="1">
                  <a:solidFill>
                    <a:prstClr val="white"/>
                  </a:solidFill>
                  <a:latin typeface="Corbel"/>
                </a:rPr>
                <a:t>Marketing</a:t>
              </a:r>
            </a:p>
          </p:txBody>
        </p:sp>
        <p:sp>
          <p:nvSpPr>
            <p:cNvPr id="143" name="Rectangle 91">
              <a:extLst>
                <a:ext uri="{FF2B5EF4-FFF2-40B4-BE49-F238E27FC236}">
                  <a16:creationId xmlns:a16="http://schemas.microsoft.com/office/drawing/2014/main" id="{84C9C9F9-7C54-3C4E-817D-C9354D0DE85F}"/>
                </a:ext>
              </a:extLst>
            </p:cNvPr>
            <p:cNvSpPr/>
            <p:nvPr/>
          </p:nvSpPr>
          <p:spPr>
            <a:xfrm>
              <a:off x="1963325" y="2723018"/>
              <a:ext cx="820477" cy="369120"/>
            </a:xfrm>
            <a:prstGeom prst="rect">
              <a:avLst/>
            </a:prstGeom>
            <a:solidFill>
              <a:schemeClr val="tx2">
                <a:lumMod val="40000"/>
                <a:lumOff val="6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a:r>
                <a:rPr lang="en-GB" sz="600" i="1">
                  <a:solidFill>
                    <a:prstClr val="white"/>
                  </a:solidFill>
                </a:rPr>
                <a:t>Account and  Sales Management </a:t>
              </a:r>
              <a:endParaRPr lang="en-GB" sz="600" i="1">
                <a:solidFill>
                  <a:prstClr val="white"/>
                </a:solidFill>
                <a:latin typeface="Corbel"/>
              </a:endParaRPr>
            </a:p>
          </p:txBody>
        </p:sp>
        <p:sp>
          <p:nvSpPr>
            <p:cNvPr id="144" name="Rectangle 78">
              <a:extLst>
                <a:ext uri="{FF2B5EF4-FFF2-40B4-BE49-F238E27FC236}">
                  <a16:creationId xmlns:a16="http://schemas.microsoft.com/office/drawing/2014/main" id="{64F94CEF-FC47-0041-9FB7-816BD172AC96}"/>
                </a:ext>
              </a:extLst>
            </p:cNvPr>
            <p:cNvSpPr/>
            <p:nvPr/>
          </p:nvSpPr>
          <p:spPr>
            <a:xfrm>
              <a:off x="3866718" y="1698479"/>
              <a:ext cx="3076065" cy="1771386"/>
            </a:xfrm>
            <a:prstGeom prst="rect">
              <a:avLst/>
            </a:prstGeom>
            <a:solidFill>
              <a:schemeClr val="tx2"/>
            </a:solidFill>
            <a:ln w="6350">
              <a:solidFill>
                <a:schemeClr val="accent1"/>
              </a:solidFill>
            </a:ln>
            <a:effectLst>
              <a:outerShdw blurRad="50800" dist="38100" dir="2700000" algn="tl" rotWithShape="0">
                <a:prstClr val="black">
                  <a:alpha val="40000"/>
                </a:prstClr>
              </a:outerShdw>
            </a:effectLst>
          </p:spPr>
          <p:txBody>
            <a:bodyPr lIns="68519" tIns="34258" rIns="68519" bIns="34258" rtlCol="0" anchor="t"/>
            <a:lstStyle/>
            <a:p>
              <a:pPr algn="ctr" defTabSz="456560" eaLnBrk="0" hangingPunct="0"/>
              <a:r>
                <a:rPr lang="en-GB" sz="700">
                  <a:solidFill>
                    <a:prstClr val="white"/>
                  </a:solidFill>
                  <a:latin typeface="Corbel"/>
                </a:rPr>
                <a:t>Product and Agreement Management</a:t>
              </a:r>
            </a:p>
          </p:txBody>
        </p:sp>
        <p:sp>
          <p:nvSpPr>
            <p:cNvPr id="145" name="Rectangle 83">
              <a:extLst>
                <a:ext uri="{FF2B5EF4-FFF2-40B4-BE49-F238E27FC236}">
                  <a16:creationId xmlns:a16="http://schemas.microsoft.com/office/drawing/2014/main" id="{94B2DC95-97EF-5540-BE81-A7D5C5069024}"/>
                </a:ext>
              </a:extLst>
            </p:cNvPr>
            <p:cNvSpPr/>
            <p:nvPr/>
          </p:nvSpPr>
          <p:spPr>
            <a:xfrm>
              <a:off x="5002348" y="2097816"/>
              <a:ext cx="820478" cy="369119"/>
            </a:xfrm>
            <a:prstGeom prst="rect">
              <a:avLst/>
            </a:prstGeom>
            <a:solidFill>
              <a:schemeClr val="tx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Asset management</a:t>
              </a:r>
            </a:p>
          </p:txBody>
        </p:sp>
        <p:sp>
          <p:nvSpPr>
            <p:cNvPr id="146" name="Rectangle 88">
              <a:extLst>
                <a:ext uri="{FF2B5EF4-FFF2-40B4-BE49-F238E27FC236}">
                  <a16:creationId xmlns:a16="http://schemas.microsoft.com/office/drawing/2014/main" id="{6BCD3740-EB5A-1A46-A456-7E29FAEBC9CD}"/>
                </a:ext>
              </a:extLst>
            </p:cNvPr>
            <p:cNvSpPr/>
            <p:nvPr/>
          </p:nvSpPr>
          <p:spPr>
            <a:xfrm>
              <a:off x="4040818" y="2097816"/>
              <a:ext cx="820478" cy="369119"/>
            </a:xfrm>
            <a:prstGeom prst="rect">
              <a:avLst/>
            </a:prstGeom>
            <a:solidFill>
              <a:schemeClr val="tx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Lending</a:t>
              </a:r>
            </a:p>
          </p:txBody>
        </p:sp>
        <p:sp>
          <p:nvSpPr>
            <p:cNvPr id="147" name="Rectangle 89">
              <a:extLst>
                <a:ext uri="{FF2B5EF4-FFF2-40B4-BE49-F238E27FC236}">
                  <a16:creationId xmlns:a16="http://schemas.microsoft.com/office/drawing/2014/main" id="{5E984529-8107-6C4F-B6F3-96C23CE8DBD1}"/>
                </a:ext>
              </a:extLst>
            </p:cNvPr>
            <p:cNvSpPr/>
            <p:nvPr/>
          </p:nvSpPr>
          <p:spPr>
            <a:xfrm>
              <a:off x="5949640" y="2097816"/>
              <a:ext cx="820478" cy="369119"/>
            </a:xfrm>
            <a:prstGeom prst="rect">
              <a:avLst/>
            </a:prstGeom>
            <a:solidFill>
              <a:schemeClr val="tx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Payments</a:t>
              </a:r>
            </a:p>
          </p:txBody>
        </p:sp>
        <p:sp>
          <p:nvSpPr>
            <p:cNvPr id="148" name="Rectangle 83">
              <a:extLst>
                <a:ext uri="{FF2B5EF4-FFF2-40B4-BE49-F238E27FC236}">
                  <a16:creationId xmlns:a16="http://schemas.microsoft.com/office/drawing/2014/main" id="{DF47261A-4B14-BD47-9E40-5B89E9551601}"/>
                </a:ext>
              </a:extLst>
            </p:cNvPr>
            <p:cNvSpPr/>
            <p:nvPr/>
          </p:nvSpPr>
          <p:spPr>
            <a:xfrm>
              <a:off x="4038107" y="2723020"/>
              <a:ext cx="820478" cy="369119"/>
            </a:xfrm>
            <a:prstGeom prst="rect">
              <a:avLst/>
            </a:prstGeom>
            <a:solidFill>
              <a:schemeClr val="tx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Financial markets</a:t>
              </a:r>
            </a:p>
          </p:txBody>
        </p:sp>
        <p:sp>
          <p:nvSpPr>
            <p:cNvPr id="149" name="Rectangle 88">
              <a:extLst>
                <a:ext uri="{FF2B5EF4-FFF2-40B4-BE49-F238E27FC236}">
                  <a16:creationId xmlns:a16="http://schemas.microsoft.com/office/drawing/2014/main" id="{6172CEC7-3DFE-1B49-AA81-2CB90A749C83}"/>
                </a:ext>
              </a:extLst>
            </p:cNvPr>
            <p:cNvSpPr/>
            <p:nvPr/>
          </p:nvSpPr>
          <p:spPr>
            <a:xfrm>
              <a:off x="5009936" y="2723020"/>
              <a:ext cx="820478" cy="369119"/>
            </a:xfrm>
            <a:prstGeom prst="rect">
              <a:avLst/>
            </a:prstGeom>
            <a:solidFill>
              <a:schemeClr val="tx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68580" tIns="34290" rIns="68580" bIns="34290" rtlCol="0" anchor="ctr"/>
            <a:lstStyle/>
            <a:p>
              <a:pPr algn="ctr" defTabSz="685783">
                <a:defRPr/>
              </a:pPr>
              <a:r>
                <a:rPr lang="en-GB" sz="600" i="1">
                  <a:solidFill>
                    <a:prstClr val="white"/>
                  </a:solidFill>
                  <a:latin typeface="Corbel"/>
                </a:rPr>
                <a:t>Insurance</a:t>
              </a:r>
            </a:p>
          </p:txBody>
        </p:sp>
        <p:sp>
          <p:nvSpPr>
            <p:cNvPr id="150" name="Rectangle 88">
              <a:extLst>
                <a:ext uri="{FF2B5EF4-FFF2-40B4-BE49-F238E27FC236}">
                  <a16:creationId xmlns:a16="http://schemas.microsoft.com/office/drawing/2014/main" id="{B3B1BBD2-ED42-A044-9CD2-03DFCE24F4C6}"/>
                </a:ext>
              </a:extLst>
            </p:cNvPr>
            <p:cNvSpPr/>
            <p:nvPr/>
          </p:nvSpPr>
          <p:spPr>
            <a:xfrm>
              <a:off x="5963630" y="2723020"/>
              <a:ext cx="820478" cy="369119"/>
            </a:xfrm>
            <a:prstGeom prst="rect">
              <a:avLst/>
            </a:prstGeom>
            <a:solidFill>
              <a:schemeClr val="tx2"/>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defRPr/>
              </a:pPr>
              <a:r>
                <a:rPr lang="en-GB" sz="600" i="1">
                  <a:solidFill>
                    <a:srgbClr val="FFFFFF"/>
                  </a:solidFill>
                  <a:latin typeface="Corbel"/>
                </a:rPr>
                <a:t>Non financial services</a:t>
              </a:r>
            </a:p>
          </p:txBody>
        </p:sp>
        <p:sp>
          <p:nvSpPr>
            <p:cNvPr id="151" name="Rectangle 83">
              <a:extLst>
                <a:ext uri="{FF2B5EF4-FFF2-40B4-BE49-F238E27FC236}">
                  <a16:creationId xmlns:a16="http://schemas.microsoft.com/office/drawing/2014/main" id="{179CA2C5-13F6-FC49-92E5-5235E431D004}"/>
                </a:ext>
              </a:extLst>
            </p:cNvPr>
            <p:cNvSpPr/>
            <p:nvPr/>
          </p:nvSpPr>
          <p:spPr>
            <a:xfrm>
              <a:off x="834101"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Audit servicing</a:t>
              </a:r>
            </a:p>
          </p:txBody>
        </p:sp>
        <p:sp>
          <p:nvSpPr>
            <p:cNvPr id="152" name="Rectangle 88">
              <a:extLst>
                <a:ext uri="{FF2B5EF4-FFF2-40B4-BE49-F238E27FC236}">
                  <a16:creationId xmlns:a16="http://schemas.microsoft.com/office/drawing/2014/main" id="{5309B0E2-6821-B948-B90D-DA6640B2490F}"/>
                </a:ext>
              </a:extLst>
            </p:cNvPr>
            <p:cNvSpPr/>
            <p:nvPr/>
          </p:nvSpPr>
          <p:spPr>
            <a:xfrm>
              <a:off x="1520803"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Human resource management</a:t>
              </a:r>
            </a:p>
          </p:txBody>
        </p:sp>
        <p:sp>
          <p:nvSpPr>
            <p:cNvPr id="153" name="Rectangle 89">
              <a:extLst>
                <a:ext uri="{FF2B5EF4-FFF2-40B4-BE49-F238E27FC236}">
                  <a16:creationId xmlns:a16="http://schemas.microsoft.com/office/drawing/2014/main" id="{49C35A4A-5E85-D844-866D-EDA9DD1164F7}"/>
                </a:ext>
              </a:extLst>
            </p:cNvPr>
            <p:cNvSpPr/>
            <p:nvPr/>
          </p:nvSpPr>
          <p:spPr>
            <a:xfrm>
              <a:off x="2207505"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IT development &amp; operations</a:t>
              </a:r>
            </a:p>
          </p:txBody>
        </p:sp>
        <p:sp>
          <p:nvSpPr>
            <p:cNvPr id="154" name="Rectangle 91">
              <a:extLst>
                <a:ext uri="{FF2B5EF4-FFF2-40B4-BE49-F238E27FC236}">
                  <a16:creationId xmlns:a16="http://schemas.microsoft.com/office/drawing/2014/main" id="{B1F49525-A68D-AC4C-8E59-A0CD6C47EA79}"/>
                </a:ext>
              </a:extLst>
            </p:cNvPr>
            <p:cNvSpPr/>
            <p:nvPr/>
          </p:nvSpPr>
          <p:spPr>
            <a:xfrm>
              <a:off x="2894207"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Communication</a:t>
              </a:r>
            </a:p>
          </p:txBody>
        </p:sp>
        <p:sp>
          <p:nvSpPr>
            <p:cNvPr id="155" name="Rectangle 92">
              <a:extLst>
                <a:ext uri="{FF2B5EF4-FFF2-40B4-BE49-F238E27FC236}">
                  <a16:creationId xmlns:a16="http://schemas.microsoft.com/office/drawing/2014/main" id="{48602E6B-7A62-714C-A224-D661E57C5977}"/>
                </a:ext>
              </a:extLst>
            </p:cNvPr>
            <p:cNvSpPr/>
            <p:nvPr/>
          </p:nvSpPr>
          <p:spPr>
            <a:xfrm>
              <a:off x="3580909"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Management reporting</a:t>
              </a:r>
            </a:p>
          </p:txBody>
        </p:sp>
        <p:sp>
          <p:nvSpPr>
            <p:cNvPr id="156" name="Rectangle 93">
              <a:extLst>
                <a:ext uri="{FF2B5EF4-FFF2-40B4-BE49-F238E27FC236}">
                  <a16:creationId xmlns:a16="http://schemas.microsoft.com/office/drawing/2014/main" id="{AF2C9FDA-0BB4-2142-B8EE-BFCA404CCFA9}"/>
                </a:ext>
              </a:extLst>
            </p:cNvPr>
            <p:cNvSpPr/>
            <p:nvPr/>
          </p:nvSpPr>
          <p:spPr>
            <a:xfrm>
              <a:off x="4267611"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Fiscal and legal support</a:t>
              </a:r>
            </a:p>
          </p:txBody>
        </p:sp>
        <p:sp>
          <p:nvSpPr>
            <p:cNvPr id="157" name="Rectangle 94">
              <a:extLst>
                <a:ext uri="{FF2B5EF4-FFF2-40B4-BE49-F238E27FC236}">
                  <a16:creationId xmlns:a16="http://schemas.microsoft.com/office/drawing/2014/main" id="{53D3C1A5-DC60-EC4B-80BD-0A859DCBB70A}"/>
                </a:ext>
              </a:extLst>
            </p:cNvPr>
            <p:cNvSpPr/>
            <p:nvPr/>
          </p:nvSpPr>
          <p:spPr>
            <a:xfrm>
              <a:off x="4954313"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Document management</a:t>
              </a:r>
            </a:p>
          </p:txBody>
        </p:sp>
        <p:sp>
          <p:nvSpPr>
            <p:cNvPr id="158" name="Rectangle 91">
              <a:extLst>
                <a:ext uri="{FF2B5EF4-FFF2-40B4-BE49-F238E27FC236}">
                  <a16:creationId xmlns:a16="http://schemas.microsoft.com/office/drawing/2014/main" id="{84C9C9F9-7C54-3C4E-817D-C9354D0DE85F}"/>
                </a:ext>
              </a:extLst>
            </p:cNvPr>
            <p:cNvSpPr/>
            <p:nvPr/>
          </p:nvSpPr>
          <p:spPr>
            <a:xfrm>
              <a:off x="2875112" y="2721452"/>
              <a:ext cx="820477" cy="369120"/>
            </a:xfrm>
            <a:prstGeom prst="rect">
              <a:avLst/>
            </a:prstGeom>
            <a:solidFill>
              <a:schemeClr val="tx2">
                <a:lumMod val="40000"/>
                <a:lumOff val="6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34290" rIns="68580" bIns="34290" rtlCol="0" anchor="ctr"/>
            <a:lstStyle/>
            <a:p>
              <a:pPr algn="ctr">
                <a:lnSpc>
                  <a:spcPts val="675"/>
                </a:lnSpc>
              </a:pPr>
              <a:r>
                <a:rPr lang="en-GB" sz="600" i="1">
                  <a:solidFill>
                    <a:prstClr val="white"/>
                  </a:solidFill>
                </a:rPr>
                <a:t>Customer Service and Transaction Request Management</a:t>
              </a:r>
            </a:p>
          </p:txBody>
        </p:sp>
        <p:sp>
          <p:nvSpPr>
            <p:cNvPr id="159" name="Rectangle 95">
              <a:extLst>
                <a:ext uri="{FF2B5EF4-FFF2-40B4-BE49-F238E27FC236}">
                  <a16:creationId xmlns:a16="http://schemas.microsoft.com/office/drawing/2014/main" id="{6BE3EB6D-2F6A-3246-98E3-2706E7A4D00A}"/>
                </a:ext>
              </a:extLst>
            </p:cNvPr>
            <p:cNvSpPr/>
            <p:nvPr/>
          </p:nvSpPr>
          <p:spPr>
            <a:xfrm>
              <a:off x="5641015"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Procurement</a:t>
              </a:r>
            </a:p>
          </p:txBody>
        </p:sp>
        <p:sp>
          <p:nvSpPr>
            <p:cNvPr id="160" name="Rectangle 90">
              <a:extLst>
                <a:ext uri="{FF2B5EF4-FFF2-40B4-BE49-F238E27FC236}">
                  <a16:creationId xmlns:a16="http://schemas.microsoft.com/office/drawing/2014/main" id="{49CA0553-AE9B-2341-96D4-BB08BC7E1A5F}"/>
                </a:ext>
              </a:extLst>
            </p:cNvPr>
            <p:cNvSpPr/>
            <p:nvPr/>
          </p:nvSpPr>
          <p:spPr>
            <a:xfrm>
              <a:off x="6327717"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Facility management</a:t>
              </a:r>
            </a:p>
          </p:txBody>
        </p:sp>
        <p:sp>
          <p:nvSpPr>
            <p:cNvPr id="161" name="Rectangle 90">
              <a:extLst>
                <a:ext uri="{FF2B5EF4-FFF2-40B4-BE49-F238E27FC236}">
                  <a16:creationId xmlns:a16="http://schemas.microsoft.com/office/drawing/2014/main" id="{575681AE-26D2-BE4A-8AA2-8590119A4F12}"/>
                </a:ext>
              </a:extLst>
            </p:cNvPr>
            <p:cNvSpPr/>
            <p:nvPr/>
          </p:nvSpPr>
          <p:spPr>
            <a:xfrm>
              <a:off x="7014419"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Data </a:t>
              </a:r>
              <a:br>
                <a:rPr lang="en-GB" sz="600" i="1">
                  <a:solidFill>
                    <a:prstClr val="white"/>
                  </a:solidFill>
                  <a:latin typeface="Corbel"/>
                </a:rPr>
              </a:br>
              <a:r>
                <a:rPr lang="en-GB" sz="600" i="1">
                  <a:solidFill>
                    <a:prstClr val="white"/>
                  </a:solidFill>
                  <a:latin typeface="Corbel"/>
                </a:rPr>
                <a:t>management</a:t>
              </a:r>
            </a:p>
          </p:txBody>
        </p:sp>
        <p:sp>
          <p:nvSpPr>
            <p:cNvPr id="162" name="Rectangle 90">
              <a:extLst>
                <a:ext uri="{FF2B5EF4-FFF2-40B4-BE49-F238E27FC236}">
                  <a16:creationId xmlns:a16="http://schemas.microsoft.com/office/drawing/2014/main" id="{575681AE-26D2-BE4A-8AA2-8590119A4F12}"/>
                </a:ext>
              </a:extLst>
            </p:cNvPr>
            <p:cNvSpPr/>
            <p:nvPr/>
          </p:nvSpPr>
          <p:spPr>
            <a:xfrm>
              <a:off x="7701123" y="4371332"/>
              <a:ext cx="671675" cy="290198"/>
            </a:xfrm>
            <a:prstGeom prst="rect">
              <a:avLst/>
            </a:prstGeom>
            <a:solidFill>
              <a:schemeClr val="bg1">
                <a:lumMod val="50000"/>
              </a:schemeClr>
            </a:solidFill>
            <a:ln w="6350">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defTabSz="685783"/>
              <a:r>
                <a:rPr lang="en-GB" sz="600" i="1">
                  <a:solidFill>
                    <a:prstClr val="white"/>
                  </a:solidFill>
                  <a:latin typeface="Corbel"/>
                </a:rPr>
                <a:t>Model </a:t>
              </a:r>
              <a:br>
                <a:rPr lang="en-GB" sz="600" i="1">
                  <a:solidFill>
                    <a:prstClr val="white"/>
                  </a:solidFill>
                  <a:latin typeface="Corbel"/>
                </a:rPr>
              </a:br>
              <a:r>
                <a:rPr lang="en-GB" sz="600" i="1">
                  <a:solidFill>
                    <a:prstClr val="white"/>
                  </a:solidFill>
                  <a:latin typeface="Corbel"/>
                </a:rPr>
                <a:t>management</a:t>
              </a:r>
            </a:p>
          </p:txBody>
        </p:sp>
      </p:grpSp>
      <p:sp>
        <p:nvSpPr>
          <p:cNvPr id="165" name="Rounded Rectangle 164"/>
          <p:cNvSpPr/>
          <p:nvPr/>
        </p:nvSpPr>
        <p:spPr>
          <a:xfrm>
            <a:off x="6154818" y="3971917"/>
            <a:ext cx="1257647" cy="283626"/>
          </a:xfrm>
          <a:prstGeom prst="roundRect">
            <a:avLst/>
          </a:prstGeom>
          <a:noFill/>
          <a:ln w="57150" cap="rnd" cmpd="sng" algn="ctr">
            <a:solidFill>
              <a:srgbClr val="C00000"/>
            </a:solidFill>
            <a:prstDash val="solid"/>
          </a:ln>
          <a:effectLst/>
        </p:spPr>
        <p:txBody>
          <a:bodyPr lIns="18000" tIns="18000" rIns="18000" bIns="18000" rtlCol="0" anchor="t"/>
          <a:lstStyle/>
          <a:p>
            <a:pPr algn="ctr"/>
            <a:endParaRPr lang="en-US" sz="80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Rounded Rectangle 164">
            <a:extLst>
              <a:ext uri="{FF2B5EF4-FFF2-40B4-BE49-F238E27FC236}">
                <a16:creationId xmlns:a16="http://schemas.microsoft.com/office/drawing/2014/main" id="{33B6F189-256D-97D7-271A-A6F1C8AEDE77}"/>
              </a:ext>
            </a:extLst>
          </p:cNvPr>
          <p:cNvSpPr/>
          <p:nvPr/>
        </p:nvSpPr>
        <p:spPr>
          <a:xfrm>
            <a:off x="6429381" y="1977257"/>
            <a:ext cx="751323" cy="283626"/>
          </a:xfrm>
          <a:prstGeom prst="roundRect">
            <a:avLst/>
          </a:prstGeom>
          <a:noFill/>
          <a:ln w="57150" cap="rnd" cmpd="sng" algn="ctr">
            <a:solidFill>
              <a:srgbClr val="C00000"/>
            </a:solidFill>
            <a:prstDash val="solid"/>
          </a:ln>
          <a:effectLst/>
        </p:spPr>
        <p:txBody>
          <a:bodyPr lIns="18000" tIns="18000" rIns="18000" bIns="18000" rtlCol="0" anchor="t"/>
          <a:lstStyle/>
          <a:p>
            <a:pPr algn="ctr"/>
            <a:endParaRPr lang="en-US" sz="800">
              <a:solidFill>
                <a:schemeClr val="tx1">
                  <a:lumMod val="75000"/>
                  <a:lumOff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473264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88020" y="160623"/>
            <a:ext cx="7464026" cy="624646"/>
          </a:xfrm>
        </p:spPr>
        <p:txBody>
          <a:bodyPr/>
          <a:lstStyle/>
          <a:p>
            <a:r>
              <a:rPr lang="en-US"/>
              <a:t>1.7 nBIF </a:t>
            </a:r>
            <a:r>
              <a:rPr lang="en-US" u="sng"/>
              <a:t>Indicative</a:t>
            </a:r>
            <a:r>
              <a:rPr lang="en-US"/>
              <a:t> plateaus</a:t>
            </a:r>
          </a:p>
        </p:txBody>
      </p:sp>
      <p:sp>
        <p:nvSpPr>
          <p:cNvPr id="144" name="Rounded Rectangle 137">
            <a:hlinkClick r:id="rId3" action="ppaction://hlinksldjump"/>
            <a:extLst>
              <a:ext uri="{FF2B5EF4-FFF2-40B4-BE49-F238E27FC236}">
                <a16:creationId xmlns:a16="http://schemas.microsoft.com/office/drawing/2014/main" id="{5999E3D1-0B77-4608-A3DD-CD9EA6548115}"/>
              </a:ext>
            </a:extLst>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1. Introduction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3" name="Rectangle 2">
            <a:extLst>
              <a:ext uri="{FF2B5EF4-FFF2-40B4-BE49-F238E27FC236}">
                <a16:creationId xmlns:a16="http://schemas.microsoft.com/office/drawing/2014/main" id="{EEC59A20-20A6-256F-3660-16641809AC4A}"/>
              </a:ext>
            </a:extLst>
          </p:cNvPr>
          <p:cNvSpPr/>
          <p:nvPr/>
        </p:nvSpPr>
        <p:spPr>
          <a:xfrm>
            <a:off x="337242" y="3992997"/>
            <a:ext cx="8644245" cy="658832"/>
          </a:xfrm>
          <a:prstGeom prst="rect">
            <a:avLst/>
          </a:prstGeom>
          <a:solidFill>
            <a:srgbClr val="FFCCFF"/>
          </a:solidFill>
          <a:ln w="12700" cap="rnd" cmpd="sng" algn="ctr">
            <a:noFill/>
            <a:prstDash val="solid"/>
          </a:ln>
          <a:effectLst/>
        </p:spPr>
        <p:txBody>
          <a:bodyPr rtlCol="0" anchor="ctr"/>
          <a:lstStyle/>
          <a:p>
            <a:pPr algn="ctr"/>
            <a:endParaRPr lang="en-NL">
              <a:solidFill>
                <a:srgbClr val="5E6A71"/>
              </a:solidFill>
            </a:endParaRPr>
          </a:p>
        </p:txBody>
      </p:sp>
      <p:sp>
        <p:nvSpPr>
          <p:cNvPr id="4" name="Rectangle 3">
            <a:extLst>
              <a:ext uri="{FF2B5EF4-FFF2-40B4-BE49-F238E27FC236}">
                <a16:creationId xmlns:a16="http://schemas.microsoft.com/office/drawing/2014/main" id="{B39B4797-955B-6FAF-FB08-C771DABF8795}"/>
              </a:ext>
            </a:extLst>
          </p:cNvPr>
          <p:cNvSpPr/>
          <p:nvPr/>
        </p:nvSpPr>
        <p:spPr>
          <a:xfrm>
            <a:off x="340736" y="2549324"/>
            <a:ext cx="8644245" cy="658800"/>
          </a:xfrm>
          <a:prstGeom prst="rect">
            <a:avLst/>
          </a:prstGeom>
          <a:solidFill>
            <a:schemeClr val="accent4">
              <a:lumMod val="20000"/>
              <a:lumOff val="80000"/>
            </a:schemeClr>
          </a:solidFill>
          <a:ln w="12700" cap="rnd" cmpd="sng" algn="ctr">
            <a:noFill/>
            <a:prstDash val="solid"/>
          </a:ln>
          <a:effectLst/>
        </p:spPr>
        <p:txBody>
          <a:bodyPr rtlCol="0" anchor="ctr"/>
          <a:lstStyle/>
          <a:p>
            <a:pPr algn="ctr"/>
            <a:endParaRPr lang="en-NL">
              <a:solidFill>
                <a:srgbClr val="5E6A71"/>
              </a:solidFill>
            </a:endParaRPr>
          </a:p>
        </p:txBody>
      </p:sp>
      <p:sp>
        <p:nvSpPr>
          <p:cNvPr id="6" name="Rectangle 5">
            <a:extLst>
              <a:ext uri="{FF2B5EF4-FFF2-40B4-BE49-F238E27FC236}">
                <a16:creationId xmlns:a16="http://schemas.microsoft.com/office/drawing/2014/main" id="{FB46F083-0CEE-7C92-20F0-16D05739FDD4}"/>
              </a:ext>
            </a:extLst>
          </p:cNvPr>
          <p:cNvSpPr/>
          <p:nvPr/>
        </p:nvSpPr>
        <p:spPr>
          <a:xfrm>
            <a:off x="340736" y="3271145"/>
            <a:ext cx="8644245" cy="658832"/>
          </a:xfrm>
          <a:prstGeom prst="rect">
            <a:avLst/>
          </a:prstGeom>
          <a:solidFill>
            <a:schemeClr val="tx2">
              <a:lumMod val="20000"/>
              <a:lumOff val="80000"/>
              <a:alpha val="68000"/>
            </a:schemeClr>
          </a:solidFill>
          <a:ln w="12700" cap="rnd" cmpd="sng" algn="ctr">
            <a:noFill/>
            <a:prstDash val="solid"/>
          </a:ln>
          <a:effectLst/>
        </p:spPr>
        <p:txBody>
          <a:bodyPr rtlCol="0" anchor="ctr"/>
          <a:lstStyle/>
          <a:p>
            <a:pPr algn="ctr"/>
            <a:endParaRPr lang="en-NL">
              <a:solidFill>
                <a:srgbClr val="5E6A71"/>
              </a:solidFill>
            </a:endParaRPr>
          </a:p>
        </p:txBody>
      </p:sp>
      <p:sp>
        <p:nvSpPr>
          <p:cNvPr id="7" name="Rectangle 6">
            <a:extLst>
              <a:ext uri="{FF2B5EF4-FFF2-40B4-BE49-F238E27FC236}">
                <a16:creationId xmlns:a16="http://schemas.microsoft.com/office/drawing/2014/main" id="{0024562E-52A1-0399-4588-4C82C70C2433}"/>
              </a:ext>
            </a:extLst>
          </p:cNvPr>
          <p:cNvSpPr/>
          <p:nvPr/>
        </p:nvSpPr>
        <p:spPr>
          <a:xfrm>
            <a:off x="337242" y="1827503"/>
            <a:ext cx="8644245" cy="658800"/>
          </a:xfrm>
          <a:prstGeom prst="rect">
            <a:avLst/>
          </a:prstGeom>
          <a:solidFill>
            <a:schemeClr val="accent3">
              <a:lumMod val="40000"/>
              <a:lumOff val="60000"/>
            </a:schemeClr>
          </a:solidFill>
          <a:ln w="12700" cap="rnd" cmpd="sng" algn="ctr">
            <a:noFill/>
            <a:prstDash val="solid"/>
          </a:ln>
          <a:effectLst/>
        </p:spPr>
        <p:txBody>
          <a:bodyPr rtlCol="0" anchor="ctr"/>
          <a:lstStyle/>
          <a:p>
            <a:pPr algn="ctr"/>
            <a:endParaRPr lang="en-NL">
              <a:solidFill>
                <a:srgbClr val="5E6A71"/>
              </a:solidFill>
            </a:endParaRPr>
          </a:p>
        </p:txBody>
      </p:sp>
      <p:sp>
        <p:nvSpPr>
          <p:cNvPr id="9" name="TextBox 144">
            <a:extLst>
              <a:ext uri="{FF2B5EF4-FFF2-40B4-BE49-F238E27FC236}">
                <a16:creationId xmlns:a16="http://schemas.microsoft.com/office/drawing/2014/main" id="{5E016457-87F0-1209-F44A-9265FDB8EE8F}"/>
              </a:ext>
            </a:extLst>
          </p:cNvPr>
          <p:cNvSpPr txBox="1"/>
          <p:nvPr/>
        </p:nvSpPr>
        <p:spPr>
          <a:xfrm>
            <a:off x="762001" y="2119258"/>
            <a:ext cx="1426011" cy="318662"/>
          </a:xfrm>
          <a:prstGeom prst="rect">
            <a:avLst/>
          </a:prstGeom>
          <a:solidFill>
            <a:schemeClr val="accent2">
              <a:lumMod val="20000"/>
              <a:lumOff val="80000"/>
            </a:schemeClr>
          </a:solidFill>
          <a:ln w="12700" cap="rnd" cmpd="sng" algn="ctr">
            <a:solidFill>
              <a:schemeClr val="accent2"/>
            </a:solidFill>
            <a:prstDash val="solid"/>
          </a:ln>
          <a:effectLst/>
        </p:spPr>
        <p:txBody>
          <a:bodyPr lIns="0" tIns="0" rIns="0" rtlCol="0" anchor="t"/>
          <a:lstStyle>
            <a:defPPr>
              <a:defRPr lang="nl-NL"/>
            </a:defPPr>
            <a:lvl1pP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r>
              <a:rPr lang="en-US" sz="700"/>
              <a:t> RSME UT5 with double </a:t>
            </a:r>
          </a:p>
          <a:p>
            <a:r>
              <a:rPr lang="en-US" sz="700"/>
              <a:t> loop from GRFD for IRB &amp; RWA (B3)</a:t>
            </a:r>
          </a:p>
        </p:txBody>
      </p:sp>
      <p:sp>
        <p:nvSpPr>
          <p:cNvPr id="13" name="TextBox 144">
            <a:extLst>
              <a:ext uri="{FF2B5EF4-FFF2-40B4-BE49-F238E27FC236}">
                <a16:creationId xmlns:a16="http://schemas.microsoft.com/office/drawing/2014/main" id="{1F50B8E1-4B0C-4C34-F397-BC7B14492D20}"/>
              </a:ext>
            </a:extLst>
          </p:cNvPr>
          <p:cNvSpPr txBox="1"/>
          <p:nvPr/>
        </p:nvSpPr>
        <p:spPr>
          <a:xfrm>
            <a:off x="2088762" y="1884043"/>
            <a:ext cx="1827990" cy="259539"/>
          </a:xfrm>
          <a:prstGeom prst="rect">
            <a:avLst/>
          </a:prstGeom>
          <a:solidFill>
            <a:schemeClr val="accent2">
              <a:lumMod val="20000"/>
              <a:lumOff val="80000"/>
            </a:schemeClr>
          </a:solidFill>
          <a:ln w="12700" cap="rnd" cmpd="sng" algn="ctr">
            <a:solidFill>
              <a:schemeClr val="accent2"/>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RSME UT5 (</a:t>
            </a:r>
            <a:r>
              <a:rPr lang="en-US" sz="700" b="0">
                <a:latin typeface="+mn-lt"/>
              </a:rPr>
              <a:t>IRB + RWA (B3)</a:t>
            </a:r>
            <a:r>
              <a:rPr lang="en-US" sz="700"/>
              <a:t>) </a:t>
            </a:r>
          </a:p>
          <a:p>
            <a:pPr algn="l"/>
            <a:r>
              <a:rPr lang="en-US" sz="700"/>
              <a:t>with single call from GRFD </a:t>
            </a:r>
          </a:p>
        </p:txBody>
      </p:sp>
      <p:sp>
        <p:nvSpPr>
          <p:cNvPr id="16" name="TextBox 144">
            <a:extLst>
              <a:ext uri="{FF2B5EF4-FFF2-40B4-BE49-F238E27FC236}">
                <a16:creationId xmlns:a16="http://schemas.microsoft.com/office/drawing/2014/main" id="{D69E6CFF-391E-76CF-71BB-D2948F08FF40}"/>
              </a:ext>
            </a:extLst>
          </p:cNvPr>
          <p:cNvSpPr txBox="1"/>
          <p:nvPr/>
        </p:nvSpPr>
        <p:spPr>
          <a:xfrm>
            <a:off x="1760494" y="2817502"/>
            <a:ext cx="2519406" cy="177169"/>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RMM UT5 (</a:t>
            </a:r>
            <a:r>
              <a:rPr lang="en-US" sz="700" b="0">
                <a:latin typeface="+mn-lt"/>
              </a:rPr>
              <a:t>IRB + RWA (B3)</a:t>
            </a:r>
            <a:r>
              <a:rPr lang="en-US" sz="700"/>
              <a:t>)</a:t>
            </a:r>
          </a:p>
        </p:txBody>
      </p:sp>
      <p:sp>
        <p:nvSpPr>
          <p:cNvPr id="28" name="TextBox 144">
            <a:extLst>
              <a:ext uri="{FF2B5EF4-FFF2-40B4-BE49-F238E27FC236}">
                <a16:creationId xmlns:a16="http://schemas.microsoft.com/office/drawing/2014/main" id="{5A27B0E6-280F-58DC-92F2-AE46F0DB70BE}"/>
              </a:ext>
            </a:extLst>
          </p:cNvPr>
          <p:cNvSpPr txBox="1"/>
          <p:nvPr/>
        </p:nvSpPr>
        <p:spPr>
          <a:xfrm>
            <a:off x="3664856" y="2027818"/>
            <a:ext cx="3082082" cy="172304"/>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RSME UT5 + UT9 (IFRS9)</a:t>
            </a:r>
          </a:p>
        </p:txBody>
      </p:sp>
      <p:sp>
        <p:nvSpPr>
          <p:cNvPr id="30" name="TextBox 29">
            <a:extLst>
              <a:ext uri="{FF2B5EF4-FFF2-40B4-BE49-F238E27FC236}">
                <a16:creationId xmlns:a16="http://schemas.microsoft.com/office/drawing/2014/main" id="{D3009769-A9CF-8E5D-187C-A0CE2183BAB6}"/>
              </a:ext>
            </a:extLst>
          </p:cNvPr>
          <p:cNvSpPr txBox="1"/>
          <p:nvPr/>
        </p:nvSpPr>
        <p:spPr>
          <a:xfrm>
            <a:off x="372930" y="1859100"/>
            <a:ext cx="893024" cy="276999"/>
          </a:xfrm>
          <a:prstGeom prst="rect">
            <a:avLst/>
          </a:prstGeom>
          <a:noFill/>
          <a:ln w="12700">
            <a:noFill/>
          </a:ln>
        </p:spPr>
        <p:txBody>
          <a:bodyPr wrap="square" lIns="0" rIns="0" rtlCol="0" anchor="t" anchorCtr="0">
            <a:spAutoFit/>
          </a:bodyPr>
          <a:lstStyle/>
          <a:p>
            <a:r>
              <a:rPr lang="en-NL" sz="1200">
                <a:solidFill>
                  <a:schemeClr val="tx2"/>
                </a:solidFill>
                <a:latin typeface="+mj-lt"/>
              </a:rPr>
              <a:t>RSME</a:t>
            </a:r>
            <a:r>
              <a:rPr lang="en-IN" sz="1200">
                <a:solidFill>
                  <a:schemeClr val="tx2"/>
                </a:solidFill>
                <a:latin typeface="+mj-lt"/>
              </a:rPr>
              <a:t> nBIF</a:t>
            </a:r>
            <a:endParaRPr lang="en-NL" sz="1200">
              <a:solidFill>
                <a:schemeClr val="tx2"/>
              </a:solidFill>
              <a:latin typeface="+mj-lt"/>
            </a:endParaRPr>
          </a:p>
        </p:txBody>
      </p:sp>
      <p:sp>
        <p:nvSpPr>
          <p:cNvPr id="31" name="TextBox 30">
            <a:extLst>
              <a:ext uri="{FF2B5EF4-FFF2-40B4-BE49-F238E27FC236}">
                <a16:creationId xmlns:a16="http://schemas.microsoft.com/office/drawing/2014/main" id="{678373E0-B87F-2972-159E-59E09EDB9DB6}"/>
              </a:ext>
            </a:extLst>
          </p:cNvPr>
          <p:cNvSpPr txBox="1"/>
          <p:nvPr/>
        </p:nvSpPr>
        <p:spPr>
          <a:xfrm>
            <a:off x="381362" y="2606662"/>
            <a:ext cx="700336" cy="461665"/>
          </a:xfrm>
          <a:prstGeom prst="rect">
            <a:avLst/>
          </a:prstGeom>
          <a:noFill/>
          <a:ln w="12700">
            <a:noFill/>
          </a:ln>
        </p:spPr>
        <p:txBody>
          <a:bodyPr wrap="square" lIns="0" rIns="0" rtlCol="0" anchor="t" anchorCtr="0">
            <a:spAutoFit/>
          </a:bodyPr>
          <a:lstStyle/>
          <a:p>
            <a:r>
              <a:rPr lang="en-NL" sz="1200">
                <a:solidFill>
                  <a:schemeClr val="tx2"/>
                </a:solidFill>
                <a:latin typeface="+mj-lt"/>
              </a:rPr>
              <a:t>RMM</a:t>
            </a:r>
            <a:r>
              <a:rPr lang="en-IN" sz="1200">
                <a:solidFill>
                  <a:schemeClr val="tx2"/>
                </a:solidFill>
                <a:latin typeface="+mj-lt"/>
              </a:rPr>
              <a:t> &amp; CF nBIF</a:t>
            </a:r>
            <a:endParaRPr lang="en-NL" sz="1200">
              <a:solidFill>
                <a:schemeClr val="tx2"/>
              </a:solidFill>
              <a:latin typeface="+mj-lt"/>
            </a:endParaRPr>
          </a:p>
        </p:txBody>
      </p:sp>
      <p:sp>
        <p:nvSpPr>
          <p:cNvPr id="32" name="TextBox 31">
            <a:extLst>
              <a:ext uri="{FF2B5EF4-FFF2-40B4-BE49-F238E27FC236}">
                <a16:creationId xmlns:a16="http://schemas.microsoft.com/office/drawing/2014/main" id="{C8E7ADD2-8B38-A103-861B-C199DBA96D6B}"/>
              </a:ext>
            </a:extLst>
          </p:cNvPr>
          <p:cNvSpPr txBox="1"/>
          <p:nvPr/>
        </p:nvSpPr>
        <p:spPr>
          <a:xfrm>
            <a:off x="372930" y="3294375"/>
            <a:ext cx="893024" cy="461665"/>
          </a:xfrm>
          <a:prstGeom prst="rect">
            <a:avLst/>
          </a:prstGeom>
          <a:noFill/>
          <a:ln w="12700">
            <a:noFill/>
          </a:ln>
        </p:spPr>
        <p:txBody>
          <a:bodyPr wrap="square" lIns="0" rIns="0" rtlCol="0" anchor="t" anchorCtr="0">
            <a:spAutoFit/>
          </a:bodyPr>
          <a:lstStyle/>
          <a:p>
            <a:r>
              <a:rPr lang="en-NL" sz="1200">
                <a:solidFill>
                  <a:schemeClr val="tx2"/>
                </a:solidFill>
                <a:latin typeface="+mj-lt"/>
              </a:rPr>
              <a:t>Corporate</a:t>
            </a:r>
            <a:r>
              <a:rPr lang="en-IN" sz="1200">
                <a:solidFill>
                  <a:schemeClr val="tx2"/>
                </a:solidFill>
                <a:latin typeface="+mj-lt"/>
              </a:rPr>
              <a:t> &amp; Rural nBIF</a:t>
            </a:r>
            <a:endParaRPr lang="en-NL" sz="1200">
              <a:solidFill>
                <a:schemeClr val="tx2"/>
              </a:solidFill>
              <a:latin typeface="+mj-lt"/>
            </a:endParaRPr>
          </a:p>
        </p:txBody>
      </p:sp>
      <p:sp>
        <p:nvSpPr>
          <p:cNvPr id="40" name="TextBox 144">
            <a:extLst>
              <a:ext uri="{FF2B5EF4-FFF2-40B4-BE49-F238E27FC236}">
                <a16:creationId xmlns:a16="http://schemas.microsoft.com/office/drawing/2014/main" id="{9DB5E715-05C6-EE15-34D8-5DAEA542F240}"/>
              </a:ext>
            </a:extLst>
          </p:cNvPr>
          <p:cNvSpPr txBox="1"/>
          <p:nvPr/>
        </p:nvSpPr>
        <p:spPr>
          <a:xfrm>
            <a:off x="3757467" y="2956190"/>
            <a:ext cx="1653988" cy="186733"/>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CF UT5 (</a:t>
            </a:r>
            <a:r>
              <a:rPr lang="en-US" sz="700" b="0">
                <a:latin typeface="+mn-lt"/>
              </a:rPr>
              <a:t>IRB RWA+SA RWA(B3)</a:t>
            </a:r>
            <a:r>
              <a:rPr lang="en-US" sz="700"/>
              <a:t>)</a:t>
            </a:r>
          </a:p>
        </p:txBody>
      </p:sp>
      <p:sp>
        <p:nvSpPr>
          <p:cNvPr id="43" name="TextBox 144">
            <a:extLst>
              <a:ext uri="{FF2B5EF4-FFF2-40B4-BE49-F238E27FC236}">
                <a16:creationId xmlns:a16="http://schemas.microsoft.com/office/drawing/2014/main" id="{9F104425-3C6B-0701-7ED9-5049143D75CD}"/>
              </a:ext>
            </a:extLst>
          </p:cNvPr>
          <p:cNvSpPr txBox="1"/>
          <p:nvPr/>
        </p:nvSpPr>
        <p:spPr>
          <a:xfrm>
            <a:off x="2438400" y="3340566"/>
            <a:ext cx="3312640" cy="173991"/>
          </a:xfrm>
          <a:prstGeom prst="rect">
            <a:avLst/>
          </a:prstGeom>
          <a:solidFill>
            <a:schemeClr val="bg1"/>
          </a:solidFill>
          <a:ln w="12700" cap="rnd" cmpd="sng" algn="ctr">
            <a:solidFill>
              <a:schemeClr val="accent1"/>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Corp (DRB+W&amp;R) UT5 with B3</a:t>
            </a:r>
          </a:p>
        </p:txBody>
      </p:sp>
      <p:sp>
        <p:nvSpPr>
          <p:cNvPr id="50" name="TextBox 144">
            <a:extLst>
              <a:ext uri="{FF2B5EF4-FFF2-40B4-BE49-F238E27FC236}">
                <a16:creationId xmlns:a16="http://schemas.microsoft.com/office/drawing/2014/main" id="{97ABA5E6-FA42-BC1F-9B3A-DC667FA22E6D}"/>
              </a:ext>
            </a:extLst>
          </p:cNvPr>
          <p:cNvSpPr txBox="1"/>
          <p:nvPr/>
        </p:nvSpPr>
        <p:spPr>
          <a:xfrm>
            <a:off x="5040069" y="3409987"/>
            <a:ext cx="2522883" cy="173991"/>
          </a:xfrm>
          <a:prstGeom prst="rect">
            <a:avLst/>
          </a:prstGeom>
          <a:solidFill>
            <a:schemeClr val="bg1"/>
          </a:solidFill>
          <a:ln w="12700" cap="rnd" cmpd="sng" algn="ctr">
            <a:solidFill>
              <a:schemeClr val="accent1"/>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Corp UT5 with B4</a:t>
            </a:r>
          </a:p>
        </p:txBody>
      </p:sp>
      <p:sp>
        <p:nvSpPr>
          <p:cNvPr id="56" name="TextBox 55">
            <a:extLst>
              <a:ext uri="{FF2B5EF4-FFF2-40B4-BE49-F238E27FC236}">
                <a16:creationId xmlns:a16="http://schemas.microsoft.com/office/drawing/2014/main" id="{48C83681-8780-60BA-F4FA-460583839538}"/>
              </a:ext>
            </a:extLst>
          </p:cNvPr>
          <p:cNvSpPr txBox="1"/>
          <p:nvPr/>
        </p:nvSpPr>
        <p:spPr>
          <a:xfrm>
            <a:off x="369436" y="3977012"/>
            <a:ext cx="1047026" cy="276999"/>
          </a:xfrm>
          <a:prstGeom prst="rect">
            <a:avLst/>
          </a:prstGeom>
          <a:noFill/>
          <a:ln w="12700">
            <a:noFill/>
          </a:ln>
        </p:spPr>
        <p:txBody>
          <a:bodyPr wrap="square" lIns="0" rIns="0" rtlCol="0" anchor="t" anchorCtr="0">
            <a:spAutoFit/>
          </a:bodyPr>
          <a:lstStyle/>
          <a:p>
            <a:r>
              <a:rPr lang="en-IN" sz="1200">
                <a:solidFill>
                  <a:schemeClr val="tx2"/>
                </a:solidFill>
                <a:latin typeface="+mj-lt"/>
              </a:rPr>
              <a:t>SL&amp;I nBIF</a:t>
            </a:r>
            <a:endParaRPr lang="en-NL" sz="1200">
              <a:solidFill>
                <a:schemeClr val="tx2"/>
              </a:solidFill>
              <a:latin typeface="+mj-lt"/>
            </a:endParaRPr>
          </a:p>
        </p:txBody>
      </p:sp>
      <p:sp>
        <p:nvSpPr>
          <p:cNvPr id="128" name="TextBox 144">
            <a:extLst>
              <a:ext uri="{FF2B5EF4-FFF2-40B4-BE49-F238E27FC236}">
                <a16:creationId xmlns:a16="http://schemas.microsoft.com/office/drawing/2014/main" id="{5041489E-378D-120C-69E3-5D07CA49DD09}"/>
              </a:ext>
            </a:extLst>
          </p:cNvPr>
          <p:cNvSpPr txBox="1"/>
          <p:nvPr/>
        </p:nvSpPr>
        <p:spPr>
          <a:xfrm>
            <a:off x="4036110" y="2597639"/>
            <a:ext cx="2290982" cy="186733"/>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err="1"/>
              <a:t>Obvion</a:t>
            </a:r>
            <a:r>
              <a:rPr lang="en-US" sz="700"/>
              <a:t> UT5 (</a:t>
            </a:r>
            <a:r>
              <a:rPr lang="en-US" sz="700" b="0">
                <a:latin typeface="+mn-lt"/>
              </a:rPr>
              <a:t>IRB + RWA (B3)</a:t>
            </a:r>
            <a:r>
              <a:rPr lang="en-US" sz="700"/>
              <a:t>) </a:t>
            </a:r>
          </a:p>
        </p:txBody>
      </p:sp>
      <p:sp>
        <p:nvSpPr>
          <p:cNvPr id="5" name="TextBox 144">
            <a:extLst>
              <a:ext uri="{FF2B5EF4-FFF2-40B4-BE49-F238E27FC236}">
                <a16:creationId xmlns:a16="http://schemas.microsoft.com/office/drawing/2014/main" id="{584EDC01-F2EF-9A6B-6F6E-FAD07B39C5B9}"/>
              </a:ext>
            </a:extLst>
          </p:cNvPr>
          <p:cNvSpPr txBox="1"/>
          <p:nvPr/>
        </p:nvSpPr>
        <p:spPr>
          <a:xfrm>
            <a:off x="5568379" y="2828761"/>
            <a:ext cx="2427027" cy="186733"/>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CF UT5 with B4 </a:t>
            </a:r>
          </a:p>
        </p:txBody>
      </p:sp>
      <p:sp>
        <p:nvSpPr>
          <p:cNvPr id="130" name="Rectangle 129">
            <a:extLst>
              <a:ext uri="{FF2B5EF4-FFF2-40B4-BE49-F238E27FC236}">
                <a16:creationId xmlns:a16="http://schemas.microsoft.com/office/drawing/2014/main" id="{E1499BBB-AC89-3F1E-DFD1-987DB92F57AD}"/>
              </a:ext>
            </a:extLst>
          </p:cNvPr>
          <p:cNvSpPr/>
          <p:nvPr/>
        </p:nvSpPr>
        <p:spPr>
          <a:xfrm>
            <a:off x="337243" y="1085901"/>
            <a:ext cx="8660092" cy="678581"/>
          </a:xfrm>
          <a:prstGeom prst="rect">
            <a:avLst/>
          </a:prstGeom>
          <a:solidFill>
            <a:schemeClr val="accent6">
              <a:lumMod val="20000"/>
              <a:lumOff val="80000"/>
            </a:schemeClr>
          </a:solidFill>
          <a:ln w="12700" cap="rnd" cmpd="sng" algn="ctr">
            <a:noFill/>
            <a:prstDash val="solid"/>
          </a:ln>
          <a:effectLst/>
        </p:spPr>
        <p:txBody>
          <a:bodyPr rtlCol="0" anchor="ctr"/>
          <a:lstStyle/>
          <a:p>
            <a:pPr algn="ctr"/>
            <a:endParaRPr lang="en-NL">
              <a:solidFill>
                <a:srgbClr val="5E6A71"/>
              </a:solidFill>
            </a:endParaRPr>
          </a:p>
        </p:txBody>
      </p:sp>
      <p:sp>
        <p:nvSpPr>
          <p:cNvPr id="18" name="TextBox 17">
            <a:extLst>
              <a:ext uri="{FF2B5EF4-FFF2-40B4-BE49-F238E27FC236}">
                <a16:creationId xmlns:a16="http://schemas.microsoft.com/office/drawing/2014/main" id="{D703C9E4-5A06-1F00-90CA-0C959F501C82}"/>
              </a:ext>
            </a:extLst>
          </p:cNvPr>
          <p:cNvSpPr txBox="1"/>
          <p:nvPr/>
        </p:nvSpPr>
        <p:spPr>
          <a:xfrm>
            <a:off x="381362" y="1093160"/>
            <a:ext cx="884592" cy="276999"/>
          </a:xfrm>
          <a:prstGeom prst="rect">
            <a:avLst/>
          </a:prstGeom>
          <a:noFill/>
          <a:ln w="12700">
            <a:noFill/>
          </a:ln>
        </p:spPr>
        <p:txBody>
          <a:bodyPr wrap="square" lIns="0" rIns="0" rtlCol="0" anchor="t" anchorCtr="0">
            <a:spAutoFit/>
          </a:bodyPr>
          <a:lstStyle/>
          <a:p>
            <a:r>
              <a:rPr lang="en-IN" sz="1200">
                <a:solidFill>
                  <a:schemeClr val="tx2"/>
                </a:solidFill>
                <a:latin typeface="+mj-lt"/>
                <a:ea typeface="+mj-ea"/>
                <a:cs typeface="Myriad Pro Light"/>
              </a:rPr>
              <a:t>nBIF Platform</a:t>
            </a:r>
            <a:endParaRPr lang="en-NL" sz="1200">
              <a:solidFill>
                <a:schemeClr val="tx2"/>
              </a:solidFill>
              <a:latin typeface="+mj-lt"/>
              <a:ea typeface="+mj-ea"/>
              <a:cs typeface="Myriad Pro Light"/>
            </a:endParaRPr>
          </a:p>
        </p:txBody>
      </p:sp>
      <p:sp>
        <p:nvSpPr>
          <p:cNvPr id="23" name="TextBox 144">
            <a:extLst>
              <a:ext uri="{FF2B5EF4-FFF2-40B4-BE49-F238E27FC236}">
                <a16:creationId xmlns:a16="http://schemas.microsoft.com/office/drawing/2014/main" id="{2C7080D1-7B53-9B9F-6C4D-CD29C415FFE6}"/>
              </a:ext>
            </a:extLst>
          </p:cNvPr>
          <p:cNvSpPr txBox="1"/>
          <p:nvPr/>
        </p:nvSpPr>
        <p:spPr>
          <a:xfrm>
            <a:off x="4495801" y="2250098"/>
            <a:ext cx="2336801" cy="193136"/>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RSME UT5 + UT9  with RWA Basel 4</a:t>
            </a:r>
          </a:p>
        </p:txBody>
      </p:sp>
      <p:sp>
        <p:nvSpPr>
          <p:cNvPr id="131" name="TextBox 144">
            <a:extLst>
              <a:ext uri="{FF2B5EF4-FFF2-40B4-BE49-F238E27FC236}">
                <a16:creationId xmlns:a16="http://schemas.microsoft.com/office/drawing/2014/main" id="{C5249232-4295-9905-2F1A-42A9DB1EB0C3}"/>
              </a:ext>
            </a:extLst>
          </p:cNvPr>
          <p:cNvSpPr txBox="1"/>
          <p:nvPr/>
        </p:nvSpPr>
        <p:spPr>
          <a:xfrm>
            <a:off x="2151236" y="1126642"/>
            <a:ext cx="1689243" cy="375375"/>
          </a:xfrm>
          <a:prstGeom prst="rect">
            <a:avLst/>
          </a:prstGeom>
          <a:solidFill>
            <a:schemeClr val="accent2">
              <a:lumMod val="20000"/>
              <a:lumOff val="80000"/>
            </a:schemeClr>
          </a:solidFill>
          <a:ln w="12700" cap="rnd" cmpd="sng" algn="ctr">
            <a:solidFill>
              <a:schemeClr val="accent2"/>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Platform Release 2</a:t>
            </a:r>
          </a:p>
          <a:p>
            <a:pPr marL="171450" indent="-171450" algn="l">
              <a:buFont typeface="Arial" panose="020B0604020202020204" pitchFamily="34" charset="0"/>
              <a:buChar char="•"/>
            </a:pPr>
            <a:r>
              <a:rPr lang="en-US" sz="700" b="0">
                <a:latin typeface="+mn-lt"/>
              </a:rPr>
              <a:t>Parallel development blueprint</a:t>
            </a:r>
          </a:p>
          <a:p>
            <a:pPr marL="171450" indent="-171450" algn="l">
              <a:buFont typeface="Arial" panose="020B0604020202020204" pitchFamily="34" charset="0"/>
              <a:buChar char="•"/>
            </a:pPr>
            <a:r>
              <a:rPr lang="en-US" sz="700" b="0">
                <a:latin typeface="+mn-lt"/>
              </a:rPr>
              <a:t> Inspection Module</a:t>
            </a:r>
            <a:endParaRPr lang="en-US" sz="700"/>
          </a:p>
        </p:txBody>
      </p:sp>
      <p:sp>
        <p:nvSpPr>
          <p:cNvPr id="134" name="TextBox 144">
            <a:extLst>
              <a:ext uri="{FF2B5EF4-FFF2-40B4-BE49-F238E27FC236}">
                <a16:creationId xmlns:a16="http://schemas.microsoft.com/office/drawing/2014/main" id="{DB8A18BE-2872-DB63-DEF9-A3FEEBA509FC}"/>
              </a:ext>
            </a:extLst>
          </p:cNvPr>
          <p:cNvSpPr txBox="1"/>
          <p:nvPr/>
        </p:nvSpPr>
        <p:spPr>
          <a:xfrm>
            <a:off x="3821514" y="1211074"/>
            <a:ext cx="1689243" cy="410134"/>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Platform Release 3</a:t>
            </a:r>
          </a:p>
          <a:p>
            <a:pPr marL="171450" indent="-171450" algn="l">
              <a:buFont typeface="Arial" panose="020B0604020202020204" pitchFamily="34" charset="0"/>
              <a:buChar char="•"/>
            </a:pPr>
            <a:r>
              <a:rPr lang="en-US" sz="700" b="0">
                <a:latin typeface="+mn-lt"/>
              </a:rPr>
              <a:t> nBIF UT5 dummy as a  product</a:t>
            </a:r>
          </a:p>
          <a:p>
            <a:pPr marL="171450" indent="-171450" algn="l">
              <a:buFont typeface="Arial" panose="020B0604020202020204" pitchFamily="34" charset="0"/>
              <a:buChar char="•"/>
            </a:pPr>
            <a:r>
              <a:rPr lang="en-US" sz="700" b="0">
                <a:latin typeface="+mn-lt"/>
              </a:rPr>
              <a:t> nBIF 365 – extend UI features</a:t>
            </a:r>
            <a:endParaRPr lang="en-US" sz="700"/>
          </a:p>
        </p:txBody>
      </p:sp>
      <p:sp>
        <p:nvSpPr>
          <p:cNvPr id="54" name="TextBox 144">
            <a:extLst>
              <a:ext uri="{FF2B5EF4-FFF2-40B4-BE49-F238E27FC236}">
                <a16:creationId xmlns:a16="http://schemas.microsoft.com/office/drawing/2014/main" id="{41463E1E-758E-0C83-0018-842D3F4D5A69}"/>
              </a:ext>
            </a:extLst>
          </p:cNvPr>
          <p:cNvSpPr txBox="1"/>
          <p:nvPr/>
        </p:nvSpPr>
        <p:spPr>
          <a:xfrm>
            <a:off x="762001" y="1331519"/>
            <a:ext cx="1426011" cy="333801"/>
          </a:xfrm>
          <a:prstGeom prst="rect">
            <a:avLst/>
          </a:prstGeom>
          <a:solidFill>
            <a:schemeClr val="accent2">
              <a:lumMod val="20000"/>
              <a:lumOff val="80000"/>
            </a:schemeClr>
          </a:solidFill>
          <a:ln w="12700" cap="rnd" cmpd="sng" algn="ctr">
            <a:solidFill>
              <a:schemeClr val="accent2"/>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Platform Release 1</a:t>
            </a:r>
          </a:p>
          <a:p>
            <a:pPr marL="87313" indent="-87313" algn="l">
              <a:buFont typeface="Arial" panose="020B0604020202020204" pitchFamily="34" charset="0"/>
              <a:buChar char="•"/>
            </a:pPr>
            <a:r>
              <a:rPr lang="en-US" sz="700">
                <a:latin typeface="+mn-lt"/>
              </a:rPr>
              <a:t>Base Platform for RSME needs </a:t>
            </a:r>
            <a:endParaRPr lang="en-US" sz="700" b="0">
              <a:latin typeface="+mn-lt"/>
            </a:endParaRPr>
          </a:p>
        </p:txBody>
      </p:sp>
      <p:sp>
        <p:nvSpPr>
          <p:cNvPr id="141" name="TextBox 144">
            <a:extLst>
              <a:ext uri="{FF2B5EF4-FFF2-40B4-BE49-F238E27FC236}">
                <a16:creationId xmlns:a16="http://schemas.microsoft.com/office/drawing/2014/main" id="{CDDCF202-E1BC-228E-DE8E-BE1513F407E1}"/>
              </a:ext>
            </a:extLst>
          </p:cNvPr>
          <p:cNvSpPr txBox="1"/>
          <p:nvPr/>
        </p:nvSpPr>
        <p:spPr>
          <a:xfrm>
            <a:off x="5473981" y="1168176"/>
            <a:ext cx="1655061" cy="319801"/>
          </a:xfrm>
          <a:prstGeom prst="rect">
            <a:avLst/>
          </a:prstGeom>
          <a:solidFill>
            <a:schemeClr val="bg2"/>
          </a:solidFill>
          <a:ln w="12700" cap="rnd" cmpd="sng" algn="ctr">
            <a:solidFill>
              <a:schemeClr val="bg1">
                <a:lumMod val="50000"/>
              </a:schemeClr>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Platform Release 4</a:t>
            </a:r>
          </a:p>
          <a:p>
            <a:pPr marL="171450" indent="-171450" algn="l">
              <a:buFont typeface="Arial" panose="020B0604020202020204" pitchFamily="34" charset="0"/>
              <a:buChar char="•"/>
            </a:pPr>
            <a:r>
              <a:rPr lang="en-US" sz="700" b="0">
                <a:latin typeface="+mn-lt"/>
              </a:rPr>
              <a:t> nBIF ad-hoc run instances</a:t>
            </a:r>
            <a:endParaRPr lang="en-US" sz="700"/>
          </a:p>
        </p:txBody>
      </p:sp>
      <p:sp>
        <p:nvSpPr>
          <p:cNvPr id="138" name="TextBox 144">
            <a:extLst>
              <a:ext uri="{FF2B5EF4-FFF2-40B4-BE49-F238E27FC236}">
                <a16:creationId xmlns:a16="http://schemas.microsoft.com/office/drawing/2014/main" id="{96B9A8F2-1D3A-FEC4-8BF3-E8E23D328DBA}"/>
              </a:ext>
            </a:extLst>
          </p:cNvPr>
          <p:cNvSpPr txBox="1"/>
          <p:nvPr/>
        </p:nvSpPr>
        <p:spPr>
          <a:xfrm>
            <a:off x="7059300" y="1247684"/>
            <a:ext cx="1689243" cy="283835"/>
          </a:xfrm>
          <a:prstGeom prst="rect">
            <a:avLst/>
          </a:prstGeom>
          <a:solidFill>
            <a:schemeClr val="bg2"/>
          </a:solidFill>
          <a:ln w="12700" cap="rnd" cmpd="sng" algn="ctr">
            <a:solidFill>
              <a:schemeClr val="bg1">
                <a:lumMod val="50000"/>
              </a:schemeClr>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Platform Release 5</a:t>
            </a:r>
          </a:p>
          <a:p>
            <a:pPr marL="171450" indent="-171450" algn="l">
              <a:buFont typeface="Arial" panose="020B0604020202020204" pitchFamily="34" charset="0"/>
              <a:buChar char="•"/>
            </a:pPr>
            <a:r>
              <a:rPr lang="en-US" sz="700" b="0">
                <a:latin typeface="+mn-lt"/>
              </a:rPr>
              <a:t> nBIF 365 with Ad-Hoc run console</a:t>
            </a:r>
            <a:endParaRPr lang="en-US" sz="700"/>
          </a:p>
        </p:txBody>
      </p:sp>
      <p:sp>
        <p:nvSpPr>
          <p:cNvPr id="33" name="TextBox 143">
            <a:extLst>
              <a:ext uri="{FF2B5EF4-FFF2-40B4-BE49-F238E27FC236}">
                <a16:creationId xmlns:a16="http://schemas.microsoft.com/office/drawing/2014/main" id="{4F3D5E0A-444A-AD5D-B163-0A6866DBA991}"/>
              </a:ext>
            </a:extLst>
          </p:cNvPr>
          <p:cNvSpPr txBox="1"/>
          <p:nvPr/>
        </p:nvSpPr>
        <p:spPr>
          <a:xfrm>
            <a:off x="1829698" y="2105218"/>
            <a:ext cx="426643" cy="161583"/>
          </a:xfrm>
          <a:prstGeom prst="rect">
            <a:avLst/>
          </a:prstGeom>
          <a:noFill/>
          <a:ln w="12700">
            <a:noFill/>
          </a:ln>
        </p:spPr>
        <p:txBody>
          <a:bodyPr wrap="square" lIns="0" tIns="0" rIns="0" bIns="0" rtlCol="0" anchor="ctr">
            <a:spAutoFit/>
          </a:bodyPr>
          <a:lstStyle>
            <a:defPPr>
              <a:defRPr lang="en-AU"/>
            </a:defPPr>
            <a:lvl1pPr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1pPr>
            <a:lvl2pPr marL="3429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2pPr>
            <a:lvl3pPr marL="6858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3pPr>
            <a:lvl4pPr marL="10287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4pPr>
            <a:lvl5pPr marL="13716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5pPr>
            <a:lvl6pPr marL="17145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6pPr>
            <a:lvl7pPr marL="20574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7pPr>
            <a:lvl8pPr marL="24003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8pPr>
            <a:lvl9pPr marL="27432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9pPr>
          </a:lstStyle>
          <a:p>
            <a:pPr defTabSz="456988">
              <a:defRPr/>
            </a:pPr>
            <a:r>
              <a:rPr lang="en-US" sz="1050" b="1">
                <a:solidFill>
                  <a:schemeClr val="accent2"/>
                </a:solidFill>
              </a:rPr>
              <a:t>MVP</a:t>
            </a:r>
          </a:p>
        </p:txBody>
      </p:sp>
      <p:sp>
        <p:nvSpPr>
          <p:cNvPr id="143" name="TextBox 143">
            <a:extLst>
              <a:ext uri="{FF2B5EF4-FFF2-40B4-BE49-F238E27FC236}">
                <a16:creationId xmlns:a16="http://schemas.microsoft.com/office/drawing/2014/main" id="{A8C43471-2303-5B55-2F65-8EDC12FC7A59}"/>
              </a:ext>
            </a:extLst>
          </p:cNvPr>
          <p:cNvSpPr txBox="1"/>
          <p:nvPr/>
        </p:nvSpPr>
        <p:spPr>
          <a:xfrm>
            <a:off x="1838497" y="1326394"/>
            <a:ext cx="426643" cy="161583"/>
          </a:xfrm>
          <a:prstGeom prst="rect">
            <a:avLst/>
          </a:prstGeom>
          <a:noFill/>
          <a:ln w="12700">
            <a:noFill/>
          </a:ln>
        </p:spPr>
        <p:txBody>
          <a:bodyPr wrap="square" lIns="0" tIns="0" rIns="0" bIns="0" rtlCol="0" anchor="ctr">
            <a:spAutoFit/>
          </a:bodyPr>
          <a:lstStyle>
            <a:defPPr>
              <a:defRPr lang="en-AU"/>
            </a:defPPr>
            <a:lvl1pPr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1pPr>
            <a:lvl2pPr marL="3429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2pPr>
            <a:lvl3pPr marL="6858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3pPr>
            <a:lvl4pPr marL="10287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4pPr>
            <a:lvl5pPr marL="1371600" algn="l" rtl="0" fontAlgn="base">
              <a:spcBef>
                <a:spcPct val="0"/>
              </a:spcBef>
              <a:spcAft>
                <a:spcPct val="0"/>
              </a:spcAft>
              <a:defRPr sz="1800" kern="1200">
                <a:solidFill>
                  <a:schemeClr val="tx1"/>
                </a:solidFill>
                <a:latin typeface="Arial" pitchFamily="34" charset="0"/>
                <a:ea typeface="ＭＳ Ｐゴシック" pitchFamily="34" charset="-128"/>
                <a:cs typeface="Arial" pitchFamily="34" charset="0"/>
              </a:defRPr>
            </a:lvl5pPr>
            <a:lvl6pPr marL="17145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6pPr>
            <a:lvl7pPr marL="20574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7pPr>
            <a:lvl8pPr marL="24003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8pPr>
            <a:lvl9pPr marL="2743200" algn="l" defTabSz="685800" rtl="0" eaLnBrk="1" latinLnBrk="0" hangingPunct="1">
              <a:defRPr sz="1800" kern="1200">
                <a:solidFill>
                  <a:schemeClr val="tx1"/>
                </a:solidFill>
                <a:latin typeface="Arial" pitchFamily="34" charset="0"/>
                <a:ea typeface="ＭＳ Ｐゴシック" pitchFamily="34" charset="-128"/>
                <a:cs typeface="Arial" pitchFamily="34" charset="0"/>
              </a:defRPr>
            </a:lvl9pPr>
          </a:lstStyle>
          <a:p>
            <a:pPr defTabSz="456988">
              <a:defRPr/>
            </a:pPr>
            <a:r>
              <a:rPr lang="en-US" sz="1050" b="1">
                <a:solidFill>
                  <a:schemeClr val="accent2"/>
                </a:solidFill>
              </a:rPr>
              <a:t>MVP</a:t>
            </a:r>
          </a:p>
        </p:txBody>
      </p:sp>
      <p:sp>
        <p:nvSpPr>
          <p:cNvPr id="38" name="TextBox 37">
            <a:extLst>
              <a:ext uri="{FF2B5EF4-FFF2-40B4-BE49-F238E27FC236}">
                <a16:creationId xmlns:a16="http://schemas.microsoft.com/office/drawing/2014/main" id="{038B552C-D602-B321-3AB7-314512AD9B62}"/>
              </a:ext>
            </a:extLst>
          </p:cNvPr>
          <p:cNvSpPr txBox="1"/>
          <p:nvPr/>
        </p:nvSpPr>
        <p:spPr>
          <a:xfrm>
            <a:off x="381361" y="753365"/>
            <a:ext cx="8600125" cy="253916"/>
          </a:xfrm>
          <a:prstGeom prst="rect">
            <a:avLst/>
          </a:prstGeom>
          <a:noFill/>
          <a:ln w="12700">
            <a:noFill/>
          </a:ln>
        </p:spPr>
        <p:txBody>
          <a:bodyPr wrap="square" lIns="0" rIns="0" rtlCol="0" anchor="t" anchorCtr="0">
            <a:spAutoFit/>
          </a:bodyPr>
          <a:lstStyle/>
          <a:p>
            <a:r>
              <a:rPr lang="en-IN" sz="1050">
                <a:solidFill>
                  <a:srgbClr val="5E6A71"/>
                </a:solidFill>
              </a:rPr>
              <a:t>This roadmap showcase only those milestones that involve nBIF.  </a:t>
            </a:r>
            <a:endParaRPr lang="LID4096" sz="1050">
              <a:solidFill>
                <a:srgbClr val="5E6A71"/>
              </a:solidFill>
            </a:endParaRPr>
          </a:p>
        </p:txBody>
      </p:sp>
      <p:sp>
        <p:nvSpPr>
          <p:cNvPr id="20" name="TextBox 144">
            <a:extLst>
              <a:ext uri="{FF2B5EF4-FFF2-40B4-BE49-F238E27FC236}">
                <a16:creationId xmlns:a16="http://schemas.microsoft.com/office/drawing/2014/main" id="{2CE4B6A3-AA50-ACE4-3BD0-C8959371AE42}"/>
              </a:ext>
            </a:extLst>
          </p:cNvPr>
          <p:cNvSpPr txBox="1"/>
          <p:nvPr/>
        </p:nvSpPr>
        <p:spPr>
          <a:xfrm>
            <a:off x="6432969" y="1941569"/>
            <a:ext cx="1999832" cy="163650"/>
          </a:xfrm>
          <a:prstGeom prst="rect">
            <a:avLst/>
          </a:prstGeom>
          <a:solidFill>
            <a:schemeClr val="bg2"/>
          </a:solidFill>
          <a:ln w="12700" cap="rnd" cmpd="sng" algn="ctr">
            <a:solidFill>
              <a:schemeClr val="bg1">
                <a:lumMod val="50000"/>
              </a:schemeClr>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RSME UT5 + UT9 +UT8 ( ST Baseline)</a:t>
            </a:r>
          </a:p>
        </p:txBody>
      </p:sp>
      <p:sp>
        <p:nvSpPr>
          <p:cNvPr id="48" name="TextBox 144">
            <a:extLst>
              <a:ext uri="{FF2B5EF4-FFF2-40B4-BE49-F238E27FC236}">
                <a16:creationId xmlns:a16="http://schemas.microsoft.com/office/drawing/2014/main" id="{17158EDD-1ADA-4B07-3AE5-ADDD52F08DAD}"/>
              </a:ext>
            </a:extLst>
          </p:cNvPr>
          <p:cNvSpPr txBox="1"/>
          <p:nvPr/>
        </p:nvSpPr>
        <p:spPr>
          <a:xfrm>
            <a:off x="5625786" y="3628431"/>
            <a:ext cx="1937166" cy="154731"/>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RURAL RWA with B4</a:t>
            </a:r>
          </a:p>
        </p:txBody>
      </p:sp>
      <p:sp>
        <p:nvSpPr>
          <p:cNvPr id="46" name="TextBox 144">
            <a:extLst>
              <a:ext uri="{FF2B5EF4-FFF2-40B4-BE49-F238E27FC236}">
                <a16:creationId xmlns:a16="http://schemas.microsoft.com/office/drawing/2014/main" id="{B91C2B37-B1F4-5E26-86A1-095DEF476891}"/>
              </a:ext>
            </a:extLst>
          </p:cNvPr>
          <p:cNvSpPr txBox="1"/>
          <p:nvPr/>
        </p:nvSpPr>
        <p:spPr>
          <a:xfrm>
            <a:off x="6992718" y="3703371"/>
            <a:ext cx="1751602" cy="154731"/>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RURAL IRB v2.0 + RWA with B4</a:t>
            </a:r>
          </a:p>
        </p:txBody>
      </p:sp>
      <p:sp>
        <p:nvSpPr>
          <p:cNvPr id="52" name="TextBox 144">
            <a:extLst>
              <a:ext uri="{FF2B5EF4-FFF2-40B4-BE49-F238E27FC236}">
                <a16:creationId xmlns:a16="http://schemas.microsoft.com/office/drawing/2014/main" id="{CFCD3223-E02E-2A71-3EB3-E7F283C85AF8}"/>
              </a:ext>
            </a:extLst>
          </p:cNvPr>
          <p:cNvSpPr txBox="1"/>
          <p:nvPr/>
        </p:nvSpPr>
        <p:spPr>
          <a:xfrm>
            <a:off x="5625786" y="4021169"/>
            <a:ext cx="2214272" cy="110929"/>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IPRE RWA with B4</a:t>
            </a:r>
          </a:p>
        </p:txBody>
      </p:sp>
      <p:sp>
        <p:nvSpPr>
          <p:cNvPr id="53" name="TextBox 144">
            <a:extLst>
              <a:ext uri="{FF2B5EF4-FFF2-40B4-BE49-F238E27FC236}">
                <a16:creationId xmlns:a16="http://schemas.microsoft.com/office/drawing/2014/main" id="{2E5FC305-BFFF-3065-3354-C9BED9604279}"/>
              </a:ext>
            </a:extLst>
          </p:cNvPr>
          <p:cNvSpPr txBox="1"/>
          <p:nvPr/>
        </p:nvSpPr>
        <p:spPr>
          <a:xfrm>
            <a:off x="5625785" y="4174625"/>
            <a:ext cx="2214272" cy="110929"/>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PF RWA with B4</a:t>
            </a:r>
          </a:p>
        </p:txBody>
      </p:sp>
      <p:sp>
        <p:nvSpPr>
          <p:cNvPr id="156" name="TextBox 155">
            <a:extLst>
              <a:ext uri="{FF2B5EF4-FFF2-40B4-BE49-F238E27FC236}">
                <a16:creationId xmlns:a16="http://schemas.microsoft.com/office/drawing/2014/main" id="{76A357F2-8D55-2ADD-A2BC-5025CE12CCA6}"/>
              </a:ext>
            </a:extLst>
          </p:cNvPr>
          <p:cNvSpPr txBox="1"/>
          <p:nvPr/>
        </p:nvSpPr>
        <p:spPr>
          <a:xfrm>
            <a:off x="337242" y="4643831"/>
            <a:ext cx="5074213" cy="184666"/>
          </a:xfrm>
          <a:prstGeom prst="rect">
            <a:avLst/>
          </a:prstGeom>
          <a:noFill/>
          <a:ln w="12700">
            <a:noFill/>
          </a:ln>
        </p:spPr>
        <p:txBody>
          <a:bodyPr wrap="square" lIns="0" rIns="0" rtlCol="0" anchor="t" anchorCtr="0">
            <a:spAutoFit/>
          </a:bodyPr>
          <a:lstStyle/>
          <a:p>
            <a:r>
              <a:rPr lang="en-IN" sz="600" b="1" i="1" u="sng">
                <a:solidFill>
                  <a:srgbClr val="C00000"/>
                </a:solidFill>
              </a:rPr>
              <a:t>Roadmap for IFRS9 &amp; Stress testing on nBIF is yet to be defined. RSME IFRS9 is first on nBIF so logically ST on nBIF will be built first for RSME.  </a:t>
            </a:r>
            <a:endParaRPr lang="LID4096" sz="600" b="1" i="1" u="sng">
              <a:solidFill>
                <a:srgbClr val="C00000"/>
              </a:solidFill>
            </a:endParaRPr>
          </a:p>
        </p:txBody>
      </p:sp>
      <p:grpSp>
        <p:nvGrpSpPr>
          <p:cNvPr id="161" name="Group 160">
            <a:extLst>
              <a:ext uri="{FF2B5EF4-FFF2-40B4-BE49-F238E27FC236}">
                <a16:creationId xmlns:a16="http://schemas.microsoft.com/office/drawing/2014/main" id="{6E7AC5AF-8D5D-7330-1012-F7EEC71310DD}"/>
              </a:ext>
            </a:extLst>
          </p:cNvPr>
          <p:cNvGrpSpPr/>
          <p:nvPr/>
        </p:nvGrpSpPr>
        <p:grpSpPr>
          <a:xfrm>
            <a:off x="6055712" y="481320"/>
            <a:ext cx="2085845" cy="208083"/>
            <a:chOff x="6055712" y="507638"/>
            <a:chExt cx="2085845" cy="208083"/>
          </a:xfrm>
        </p:grpSpPr>
        <p:sp>
          <p:nvSpPr>
            <p:cNvPr id="157" name="TextBox 144">
              <a:extLst>
                <a:ext uri="{FF2B5EF4-FFF2-40B4-BE49-F238E27FC236}">
                  <a16:creationId xmlns:a16="http://schemas.microsoft.com/office/drawing/2014/main" id="{60A92C09-1C08-2831-FC7C-1ED84B209F8D}"/>
                </a:ext>
              </a:extLst>
            </p:cNvPr>
            <p:cNvSpPr txBox="1"/>
            <p:nvPr/>
          </p:nvSpPr>
          <p:spPr>
            <a:xfrm>
              <a:off x="6055712" y="507638"/>
              <a:ext cx="655248" cy="202217"/>
            </a:xfrm>
            <a:prstGeom prst="rect">
              <a:avLst/>
            </a:prstGeom>
            <a:solidFill>
              <a:schemeClr val="accent2">
                <a:lumMod val="20000"/>
                <a:lumOff val="80000"/>
              </a:schemeClr>
            </a:solidFill>
            <a:ln w="12700" cap="rnd" cmpd="sng" algn="ctr">
              <a:solidFill>
                <a:schemeClr val="accent2"/>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Complete</a:t>
              </a:r>
              <a:endParaRPr lang="en-US" sz="700" b="0">
                <a:latin typeface="+mn-lt"/>
              </a:endParaRPr>
            </a:p>
          </p:txBody>
        </p:sp>
        <p:sp>
          <p:nvSpPr>
            <p:cNvPr id="158" name="TextBox 144">
              <a:extLst>
                <a:ext uri="{FF2B5EF4-FFF2-40B4-BE49-F238E27FC236}">
                  <a16:creationId xmlns:a16="http://schemas.microsoft.com/office/drawing/2014/main" id="{84ED2CAB-DAD0-6046-934B-E8798A577A57}"/>
                </a:ext>
              </a:extLst>
            </p:cNvPr>
            <p:cNvSpPr txBox="1"/>
            <p:nvPr/>
          </p:nvSpPr>
          <p:spPr>
            <a:xfrm>
              <a:off x="6771760" y="508949"/>
              <a:ext cx="655249" cy="202217"/>
            </a:xfrm>
            <a:prstGeom prst="rect">
              <a:avLst/>
            </a:prstGeom>
            <a:solidFill>
              <a:schemeClr val="bg1"/>
            </a:solidFill>
            <a:ln w="12700" cap="rnd" cmpd="sng" algn="ctr">
              <a:solidFill>
                <a:schemeClr val="accent1"/>
              </a:solidFill>
              <a:prstDash val="solid"/>
            </a:ln>
            <a:effectLst/>
          </p:spPr>
          <p:txBody>
            <a:bodyPr rtlCol="0" anchor="t"/>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In Progress</a:t>
              </a:r>
            </a:p>
          </p:txBody>
        </p:sp>
        <p:sp>
          <p:nvSpPr>
            <p:cNvPr id="159" name="TextBox 144">
              <a:extLst>
                <a:ext uri="{FF2B5EF4-FFF2-40B4-BE49-F238E27FC236}">
                  <a16:creationId xmlns:a16="http://schemas.microsoft.com/office/drawing/2014/main" id="{50D0D6BE-473D-E74C-EB6D-485AE5FA7319}"/>
                </a:ext>
              </a:extLst>
            </p:cNvPr>
            <p:cNvSpPr txBox="1"/>
            <p:nvPr/>
          </p:nvSpPr>
          <p:spPr>
            <a:xfrm>
              <a:off x="7486309" y="513504"/>
              <a:ext cx="655248" cy="202217"/>
            </a:xfrm>
            <a:prstGeom prst="rect">
              <a:avLst/>
            </a:prstGeom>
            <a:solidFill>
              <a:schemeClr val="bg2"/>
            </a:solidFill>
            <a:ln w="12700" cap="rnd" cmpd="sng" algn="ctr">
              <a:solidFill>
                <a:schemeClr val="bg1">
                  <a:lumMod val="50000"/>
                </a:schemeClr>
              </a:solidFill>
              <a:prstDash val="solid"/>
            </a:ln>
            <a:effectLst/>
          </p:spPr>
          <p:txBody>
            <a:bodyPr rtlCol="0" anchor="t"/>
            <a:lstStyle>
              <a:defPPr>
                <a:defRPr lang="nl-NL"/>
              </a:defPPr>
              <a:lvl1pPr defTabSz="456988">
                <a:defRPr sz="7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r>
                <a:rPr lang="en-US"/>
                <a:t>Planned</a:t>
              </a:r>
            </a:p>
          </p:txBody>
        </p:sp>
      </p:grpSp>
      <p:sp>
        <p:nvSpPr>
          <p:cNvPr id="10" name="TextBox 144">
            <a:extLst>
              <a:ext uri="{FF2B5EF4-FFF2-40B4-BE49-F238E27FC236}">
                <a16:creationId xmlns:a16="http://schemas.microsoft.com/office/drawing/2014/main" id="{D728B7A5-D899-2F03-1288-402C56F97222}"/>
              </a:ext>
            </a:extLst>
          </p:cNvPr>
          <p:cNvSpPr txBox="1"/>
          <p:nvPr/>
        </p:nvSpPr>
        <p:spPr>
          <a:xfrm>
            <a:off x="5580658" y="3050920"/>
            <a:ext cx="2427027" cy="186733"/>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err="1"/>
              <a:t>Obvion</a:t>
            </a:r>
            <a:r>
              <a:rPr lang="en-US" sz="700"/>
              <a:t> UT5 with B4 </a:t>
            </a:r>
          </a:p>
        </p:txBody>
      </p:sp>
      <p:sp>
        <p:nvSpPr>
          <p:cNvPr id="11" name="TextBox 144">
            <a:extLst>
              <a:ext uri="{FF2B5EF4-FFF2-40B4-BE49-F238E27FC236}">
                <a16:creationId xmlns:a16="http://schemas.microsoft.com/office/drawing/2014/main" id="{BE5075DA-C10A-2878-A00B-F67073EEFCEB}"/>
              </a:ext>
            </a:extLst>
          </p:cNvPr>
          <p:cNvSpPr txBox="1"/>
          <p:nvPr/>
        </p:nvSpPr>
        <p:spPr>
          <a:xfrm>
            <a:off x="5568379" y="2617563"/>
            <a:ext cx="2427027" cy="186733"/>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RMM UT5 with B4 </a:t>
            </a:r>
          </a:p>
        </p:txBody>
      </p:sp>
      <p:sp>
        <p:nvSpPr>
          <p:cNvPr id="12" name="TextBox 144">
            <a:extLst>
              <a:ext uri="{FF2B5EF4-FFF2-40B4-BE49-F238E27FC236}">
                <a16:creationId xmlns:a16="http://schemas.microsoft.com/office/drawing/2014/main" id="{4FB98626-79B4-8F34-79C4-04C00321C4DD}"/>
              </a:ext>
            </a:extLst>
          </p:cNvPr>
          <p:cNvSpPr txBox="1"/>
          <p:nvPr/>
        </p:nvSpPr>
        <p:spPr>
          <a:xfrm>
            <a:off x="5625784" y="4336499"/>
            <a:ext cx="2214272" cy="110929"/>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SOV &amp; FI RWA with B4</a:t>
            </a:r>
          </a:p>
        </p:txBody>
      </p:sp>
      <p:sp>
        <p:nvSpPr>
          <p:cNvPr id="14" name="TextBox 144">
            <a:extLst>
              <a:ext uri="{FF2B5EF4-FFF2-40B4-BE49-F238E27FC236}">
                <a16:creationId xmlns:a16="http://schemas.microsoft.com/office/drawing/2014/main" id="{B2ABFA99-A82A-69CA-3C9C-3B97E089FB8C}"/>
              </a:ext>
            </a:extLst>
          </p:cNvPr>
          <p:cNvSpPr txBox="1"/>
          <p:nvPr/>
        </p:nvSpPr>
        <p:spPr>
          <a:xfrm>
            <a:off x="5625784" y="4510448"/>
            <a:ext cx="2214272" cy="110929"/>
          </a:xfrm>
          <a:prstGeom prst="rect">
            <a:avLst/>
          </a:prstGeom>
          <a:solidFill>
            <a:schemeClr val="bg2"/>
          </a:solidFill>
          <a:ln w="12700" cap="rnd" cmpd="sng" algn="ctr">
            <a:solidFill>
              <a:schemeClr val="bg1">
                <a:lumMod val="50000"/>
              </a:schemeClr>
            </a:solidFill>
            <a:prstDash val="solid"/>
          </a:ln>
          <a:effectLst/>
        </p:spPr>
        <p:txBody>
          <a:bodyPr rtlCol="0" anchor="ctr"/>
          <a:lstStyle>
            <a:defPPr>
              <a:defRPr lang="nl-NL"/>
            </a:defPPr>
            <a:lvl1pPr algn="ctr" defTabSz="456988">
              <a:defRPr sz="900">
                <a:solidFill>
                  <a:srgbClr val="5E6A71"/>
                </a:solidFill>
                <a:latin typeface="Corbel"/>
              </a:defRPr>
            </a:lvl1pPr>
            <a:lvl2pPr marL="342900" fontAlgn="base">
              <a:spcBef>
                <a:spcPct val="0"/>
              </a:spcBef>
              <a:spcAft>
                <a:spcPct val="0"/>
              </a:spcAft>
              <a:defRPr>
                <a:latin typeface="Arial" pitchFamily="34" charset="0"/>
                <a:ea typeface="ＭＳ Ｐゴシック" pitchFamily="34" charset="-128"/>
                <a:cs typeface="Arial" pitchFamily="34" charset="0"/>
              </a:defRPr>
            </a:lvl2pPr>
            <a:lvl3pPr marL="685800" fontAlgn="base">
              <a:spcBef>
                <a:spcPct val="0"/>
              </a:spcBef>
              <a:spcAft>
                <a:spcPct val="0"/>
              </a:spcAft>
              <a:defRPr>
                <a:latin typeface="Arial" pitchFamily="34" charset="0"/>
                <a:ea typeface="ＭＳ Ｐゴシック" pitchFamily="34" charset="-128"/>
                <a:cs typeface="Arial" pitchFamily="34" charset="0"/>
              </a:defRPr>
            </a:lvl3pPr>
            <a:lvl4pPr marL="1028700" fontAlgn="base">
              <a:spcBef>
                <a:spcPct val="0"/>
              </a:spcBef>
              <a:spcAft>
                <a:spcPct val="0"/>
              </a:spcAft>
              <a:defRPr>
                <a:latin typeface="Arial" pitchFamily="34" charset="0"/>
                <a:ea typeface="ＭＳ Ｐゴシック" pitchFamily="34" charset="-128"/>
                <a:cs typeface="Arial" pitchFamily="34" charset="0"/>
              </a:defRPr>
            </a:lvl4pPr>
            <a:lvl5pPr marL="1371600" fontAlgn="base">
              <a:spcBef>
                <a:spcPct val="0"/>
              </a:spcBef>
              <a:spcAft>
                <a:spcPct val="0"/>
              </a:spcAft>
              <a:defRPr>
                <a:latin typeface="Arial" pitchFamily="34" charset="0"/>
                <a:ea typeface="ＭＳ Ｐゴシック" pitchFamily="34" charset="-128"/>
                <a:cs typeface="Arial" pitchFamily="34" charset="0"/>
              </a:defRPr>
            </a:lvl5pPr>
            <a:lvl6pPr marL="1714500" defTabSz="685800">
              <a:defRPr>
                <a:latin typeface="Arial" pitchFamily="34" charset="0"/>
                <a:ea typeface="ＭＳ Ｐゴシック" pitchFamily="34" charset="-128"/>
                <a:cs typeface="Arial" pitchFamily="34" charset="0"/>
              </a:defRPr>
            </a:lvl6pPr>
            <a:lvl7pPr marL="2057400" defTabSz="685800">
              <a:defRPr>
                <a:latin typeface="Arial" pitchFamily="34" charset="0"/>
                <a:ea typeface="ＭＳ Ｐゴシック" pitchFamily="34" charset="-128"/>
                <a:cs typeface="Arial" pitchFamily="34" charset="0"/>
              </a:defRPr>
            </a:lvl7pPr>
            <a:lvl8pPr marL="2400300" defTabSz="685800">
              <a:defRPr>
                <a:latin typeface="Arial" pitchFamily="34" charset="0"/>
                <a:ea typeface="ＭＳ Ｐゴシック" pitchFamily="34" charset="-128"/>
                <a:cs typeface="Arial" pitchFamily="34" charset="0"/>
              </a:defRPr>
            </a:lvl8pPr>
            <a:lvl9pPr marL="2743200" defTabSz="685800">
              <a:defRPr>
                <a:latin typeface="Arial" pitchFamily="34" charset="0"/>
                <a:ea typeface="ＭＳ Ｐゴシック" pitchFamily="34" charset="-128"/>
                <a:cs typeface="Arial" pitchFamily="34" charset="0"/>
              </a:defRPr>
            </a:lvl9pPr>
          </a:lstStyle>
          <a:p>
            <a:pPr algn="l"/>
            <a:r>
              <a:rPr lang="en-US" sz="700"/>
              <a:t>SL&amp;I DRB RWA with B4</a:t>
            </a:r>
          </a:p>
        </p:txBody>
      </p:sp>
    </p:spTree>
    <p:extLst>
      <p:ext uri="{BB962C8B-B14F-4D97-AF65-F5344CB8AC3E}">
        <p14:creationId xmlns:p14="http://schemas.microsoft.com/office/powerpoint/2010/main" val="278756203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1.11 Open issues</a:t>
            </a:r>
          </a:p>
        </p:txBody>
      </p:sp>
      <p:sp>
        <p:nvSpPr>
          <p:cNvPr id="5" name="Slide Number Placeholder 4"/>
          <p:cNvSpPr>
            <a:spLocks noGrp="1"/>
          </p:cNvSpPr>
          <p:nvPr>
            <p:ph type="sldNum" sz="quarter" idx="10"/>
          </p:nvPr>
        </p:nvSpPr>
        <p:spPr/>
        <p:txBody>
          <a:bodyPr/>
          <a:lstStyle/>
          <a:p>
            <a:fld id="{9C7F1ACC-2CE8-4B5A-AF9E-0D67538731EE}" type="slidenum">
              <a:rPr lang="en-GB" smtClean="0"/>
              <a:pPr/>
              <a:t>11</a:t>
            </a:fld>
            <a:endParaRPr lang="en-GB"/>
          </a:p>
        </p:txBody>
      </p:sp>
      <p:sp>
        <p:nvSpPr>
          <p:cNvPr id="6" name="Tijdelijke aanduiding voor tekst 5"/>
          <p:cNvSpPr>
            <a:spLocks noGrp="1"/>
          </p:cNvSpPr>
          <p:nvPr>
            <p:ph type="body" sz="quarter" idx="15"/>
          </p:nvPr>
        </p:nvSpPr>
        <p:spPr/>
        <p:txBody>
          <a:bodyPr/>
          <a:lstStyle/>
          <a:p>
            <a:r>
              <a:rPr lang="nl-NL"/>
              <a:t> </a:t>
            </a:r>
          </a:p>
        </p:txBody>
      </p:sp>
      <p:sp>
        <p:nvSpPr>
          <p:cNvPr id="13" name="Tijdelijke aanduiding voor tekst 12"/>
          <p:cNvSpPr>
            <a:spLocks noGrp="1"/>
          </p:cNvSpPr>
          <p:nvPr>
            <p:ph type="body" sz="quarter" idx="13"/>
          </p:nvPr>
        </p:nvSpPr>
        <p:spPr/>
        <p:txBody>
          <a:bodyPr/>
          <a:lstStyle/>
          <a:p>
            <a:r>
              <a:rPr lang="nl-NL"/>
              <a:t> </a:t>
            </a:r>
          </a:p>
        </p:txBody>
      </p:sp>
      <p:graphicFrame>
        <p:nvGraphicFramePr>
          <p:cNvPr id="7" name="Tabel 6"/>
          <p:cNvGraphicFramePr>
            <a:graphicFrameLocks noGrp="1"/>
          </p:cNvGraphicFramePr>
          <p:nvPr>
            <p:extLst>
              <p:ext uri="{D42A27DB-BD31-4B8C-83A1-F6EECF244321}">
                <p14:modId xmlns:p14="http://schemas.microsoft.com/office/powerpoint/2010/main" val="2500909550"/>
              </p:ext>
            </p:extLst>
          </p:nvPr>
        </p:nvGraphicFramePr>
        <p:xfrm>
          <a:off x="475814" y="1321228"/>
          <a:ext cx="8119546" cy="3291840"/>
        </p:xfrm>
        <a:graphic>
          <a:graphicData uri="http://schemas.openxmlformats.org/drawingml/2006/table">
            <a:tbl>
              <a:tblPr firstRow="1" bandRow="1">
                <a:tableStyleId>{17292A2E-F333-43FB-9621-5CBBE7FDCDCB}</a:tableStyleId>
              </a:tblPr>
              <a:tblGrid>
                <a:gridCol w="482881">
                  <a:extLst>
                    <a:ext uri="{9D8B030D-6E8A-4147-A177-3AD203B41FA5}">
                      <a16:colId xmlns:a16="http://schemas.microsoft.com/office/drawing/2014/main" val="20000"/>
                    </a:ext>
                  </a:extLst>
                </a:gridCol>
                <a:gridCol w="6408278">
                  <a:extLst>
                    <a:ext uri="{9D8B030D-6E8A-4147-A177-3AD203B41FA5}">
                      <a16:colId xmlns:a16="http://schemas.microsoft.com/office/drawing/2014/main" val="20001"/>
                    </a:ext>
                  </a:extLst>
                </a:gridCol>
                <a:gridCol w="1228387">
                  <a:extLst>
                    <a:ext uri="{9D8B030D-6E8A-4147-A177-3AD203B41FA5}">
                      <a16:colId xmlns:a16="http://schemas.microsoft.com/office/drawing/2014/main" val="3242704647"/>
                    </a:ext>
                  </a:extLst>
                </a:gridCol>
              </a:tblGrid>
              <a:tr h="183274">
                <a:tc>
                  <a:txBody>
                    <a:bodyPr/>
                    <a:lstStyle/>
                    <a:p>
                      <a:pPr algn="l" fontAlgn="b"/>
                      <a:r>
                        <a:rPr lang="en-GB" sz="1200" i="1" u="none" strike="noStrike" noProof="0">
                          <a:solidFill>
                            <a:schemeClr val="tx1"/>
                          </a:solidFill>
                          <a:effectLst/>
                        </a:rPr>
                        <a:t>Id.</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200" b="1" i="1" u="none" strike="noStrike" noProof="0">
                          <a:solidFill>
                            <a:schemeClr val="tx1"/>
                          </a:solidFill>
                          <a:effectLst/>
                          <a:latin typeface="+mn-lt"/>
                        </a:rPr>
                        <a:t>Description</a:t>
                      </a:r>
                      <a:endParaRPr lang="en-GB" sz="1200" b="1" i="1" u="none" strike="noStrike" noProof="0">
                        <a:solidFill>
                          <a:schemeClr val="tx1"/>
                        </a:solidFill>
                        <a:effectLst/>
                        <a:latin typeface="Corbel"/>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200" b="1" i="1" u="none" strike="noStrike" noProof="0">
                          <a:solidFill>
                            <a:schemeClr val="tx1"/>
                          </a:solidFill>
                          <a:effectLst/>
                          <a:latin typeface="Corbel"/>
                        </a:rPr>
                        <a:t>To</a:t>
                      </a:r>
                      <a:r>
                        <a:rPr lang="en-GB" sz="1200" b="1" i="1" u="none" strike="noStrike" baseline="0" noProof="0">
                          <a:solidFill>
                            <a:schemeClr val="tx1"/>
                          </a:solidFill>
                          <a:effectLst/>
                          <a:latin typeface="Corbel"/>
                        </a:rPr>
                        <a:t> be closed</a:t>
                      </a:r>
                      <a:endParaRPr lang="en-GB" sz="1200" b="1" i="1" u="none" strike="noStrike" noProof="0">
                        <a:solidFill>
                          <a:schemeClr val="tx1"/>
                        </a:solidFill>
                        <a:effectLst/>
                        <a:latin typeface="Corbel"/>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3">
                <a:tc>
                  <a:txBody>
                    <a:bodyPr/>
                    <a:lstStyle/>
                    <a:p>
                      <a:pPr marL="0" lvl="0" algn="l" defTabSz="456999">
                        <a:buNone/>
                      </a:pPr>
                      <a:r>
                        <a:rPr lang="en-GB" sz="900" b="0" i="0" u="none" strike="noStrike" kern="1200" noProof="0">
                          <a:solidFill>
                            <a:srgbClr val="000000"/>
                          </a:solidFill>
                          <a:effectLst/>
                          <a:latin typeface="Corbel"/>
                          <a:ea typeface="+mn-ea"/>
                          <a:cs typeface="+mn-cs"/>
                        </a:rPr>
                        <a:t>1</a:t>
                      </a:r>
                    </a:p>
                  </a:txBody>
                  <a:tcPr marL="90936" marR="90936" marT="25717" marB="25717">
                    <a:lnL w="12700">
                      <a:solidFill>
                        <a:schemeClr val="bg2">
                          <a:lumMod val="90000"/>
                        </a:schemeClr>
                      </a:solidFill>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a:solidFill>
                        <a:schemeClr val="bg2">
                          <a:lumMod val="90000"/>
                        </a:schemeClr>
                      </a:solidFill>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n-GB" sz="900" b="1" i="0" baseline="0"/>
                        <a:t>Structural solution for registering intermediary results for Model Monitoring.</a:t>
                      </a:r>
                      <a:r>
                        <a:rPr lang="en-GB" sz="900" b="0" i="0" baseline="0"/>
                        <a:t> In the target architecture MM store is the fully validated archive where the full calculations (input / intermediary / output) are registered. Model monitoring only needs validated risk metrics in structured format. nBIF fits well for that purpose in relation to batch runs. </a:t>
                      </a:r>
                    </a:p>
                    <a:p>
                      <a:pPr marL="0" lvl="0" indent="0" algn="l">
                        <a:lnSpc>
                          <a:spcPct val="100000"/>
                        </a:lnSpc>
                        <a:spcBef>
                          <a:spcPts val="0"/>
                        </a:spcBef>
                        <a:spcAft>
                          <a:spcPts val="0"/>
                        </a:spcAft>
                        <a:buNone/>
                      </a:pPr>
                      <a:r>
                        <a:rPr lang="en-GB" sz="900" b="0" i="0" baseline="0"/>
                        <a:t>The role of nBIF in feeding the MM Store is still an open point, and will be addressed in the PSA for MM Store</a:t>
                      </a:r>
                    </a:p>
                    <a:p>
                      <a:pPr marL="0" lvl="0" indent="0" algn="l">
                        <a:lnSpc>
                          <a:spcPct val="100000"/>
                        </a:lnSpc>
                        <a:spcBef>
                          <a:spcPts val="0"/>
                        </a:spcBef>
                        <a:spcAft>
                          <a:spcPts val="0"/>
                        </a:spcAft>
                        <a:buNone/>
                      </a:pPr>
                      <a:r>
                        <a:rPr lang="en-GB" sz="900" b="0" i="0" baseline="0"/>
                        <a:t>The solution on go-live for MM Factory is that CAS data gets stored in the Calculation Archive, and from there it is retrieved by the MM Factory. nBIF doesn't play a role in this process.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n-GB" sz="900" b="0" i="0" u="none" strike="noStrike" kern="1200" baseline="0" noProof="0">
                          <a:solidFill>
                            <a:schemeClr val="tx1"/>
                          </a:solidFill>
                          <a:effectLst/>
                          <a:latin typeface="Corbel"/>
                        </a:rPr>
                        <a:t>In the UDS Stage 3 design</a:t>
                      </a:r>
                      <a:endParaRPr lang="en-US"/>
                    </a:p>
                  </a:txBody>
                  <a:tcPr marL="45720" marR="45720">
                    <a:lnL w="12700" cap="flat" cmpd="sng" algn="ctr">
                      <a:solidFill>
                        <a:schemeClr val="bg2">
                          <a:lumMod val="90000"/>
                        </a:schemeClr>
                      </a:solidFill>
                      <a:prstDash val="solid"/>
                      <a:round/>
                      <a:headEnd type="none" w="med" len="med"/>
                      <a:tailEnd type="none" w="med" len="med"/>
                    </a:lnL>
                    <a:lnR w="12700">
                      <a:solidFill>
                        <a:schemeClr val="bg2">
                          <a:lumMod val="90000"/>
                        </a:schemeClr>
                      </a:solid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01516097"/>
                  </a:ext>
                </a:extLst>
              </a:tr>
              <a:tr h="183274">
                <a:tc>
                  <a:txBody>
                    <a:bodyPr/>
                    <a:lstStyle/>
                    <a:p>
                      <a:pPr marL="0" algn="l" defTabSz="456999" rtl="0" eaLnBrk="1" fontAlgn="b" latinLnBrk="0" hangingPunct="1"/>
                      <a:r>
                        <a:rPr lang="en-GB" sz="900" b="0" i="0" u="none" strike="noStrike" kern="1200" noProof="0">
                          <a:solidFill>
                            <a:srgbClr val="000000"/>
                          </a:solidFill>
                          <a:effectLst/>
                          <a:latin typeface="Corbel"/>
                          <a:ea typeface="+mn-ea"/>
                          <a:cs typeface="+mn-cs"/>
                        </a:rPr>
                        <a:t>2</a:t>
                      </a:r>
                      <a:endParaRPr lang="en-US" sz="9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a:solidFill>
                        <a:schemeClr val="bg2">
                          <a:lumMod val="90000"/>
                        </a:schemeClr>
                      </a:solidFill>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900" b="1" i="0" u="none" strike="noStrike" noProof="0">
                          <a:solidFill>
                            <a:srgbClr val="000000"/>
                          </a:solidFill>
                          <a:effectLst/>
                          <a:latin typeface="Corbel"/>
                        </a:rPr>
                        <a:t>Incorporation of a correction</a:t>
                      </a:r>
                      <a:r>
                        <a:rPr lang="en-GB" sz="900" b="1" i="0" u="none" strike="noStrike" baseline="0" noProof="0">
                          <a:solidFill>
                            <a:srgbClr val="000000"/>
                          </a:solidFill>
                          <a:effectLst/>
                          <a:latin typeface="Corbel"/>
                        </a:rPr>
                        <a:t> module in the business process : </a:t>
                      </a:r>
                      <a:r>
                        <a:rPr lang="en-GB" sz="900" b="0" i="0" u="none" strike="noStrike" baseline="0" noProof="0">
                          <a:solidFill>
                            <a:srgbClr val="000000"/>
                          </a:solidFill>
                          <a:effectLst/>
                          <a:latin typeface="Corbel"/>
                        </a:rPr>
                        <a:t>A correction module will be part of </a:t>
                      </a:r>
                      <a:r>
                        <a:rPr lang="en-GB" sz="900" b="0" i="0" u="none" strike="noStrike" baseline="0" noProof="0">
                          <a:effectLst/>
                        </a:rPr>
                        <a:t>nBIF , which allows business users to correct calculated Risk Parameters. Depending on the outcome of the TOM discussion, it will be added to the business function model. This includes the assignment of a business user (role) to the Risk Parameter correction business function.</a:t>
                      </a:r>
                      <a:endParaRPr lang="en-GB" sz="900" b="1" i="0" u="none" strike="noStrike" noProof="0">
                        <a:solidFill>
                          <a:srgbClr val="000000"/>
                        </a:solidFill>
                        <a:effectLst/>
                        <a:latin typeface="Corbel"/>
                      </a:endParaRP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a:solidFill>
                        <a:schemeClr val="bg2">
                          <a:lumMod val="90000"/>
                        </a:schemeClr>
                      </a:solidFill>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900" b="0" i="0" u="none" strike="noStrike" kern="1200" baseline="0" noProof="0">
                          <a:solidFill>
                            <a:schemeClr val="tx1"/>
                          </a:solidFill>
                          <a:effectLst/>
                          <a:latin typeface="+mn-lt"/>
                          <a:ea typeface="+mn-ea"/>
                          <a:cs typeface="+mn-cs"/>
                        </a:rPr>
                        <a:t>Via a separate architecture note on nBIF correction module</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a:solidFill>
                        <a:schemeClr val="bg2">
                          <a:lumMod val="90000"/>
                        </a:schemeClr>
                      </a:solidFill>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pPr marL="0" algn="l" defTabSz="456999" rtl="0" eaLnBrk="1" fontAlgn="b" latinLnBrk="0" hangingPunct="1"/>
                      <a:r>
                        <a:rPr lang="en-US" sz="900" b="0" i="0" u="none" strike="noStrike" kern="1200" noProof="0">
                          <a:solidFill>
                            <a:srgbClr val="000000"/>
                          </a:solidFill>
                          <a:effectLst/>
                          <a:latin typeface="Corbel"/>
                          <a:ea typeface="+mn-ea"/>
                          <a:cs typeface="+mn-cs"/>
                        </a:rPr>
                        <a:t>3</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900" b="1" i="0" u="none" strike="noStrike" noProof="0">
                          <a:solidFill>
                            <a:srgbClr val="000000"/>
                          </a:solidFill>
                          <a:effectLst/>
                          <a:latin typeface="Corbel"/>
                        </a:rPr>
                        <a:t>Technology choice of the correction module: </a:t>
                      </a:r>
                      <a:r>
                        <a:rPr lang="en-GB" sz="900" b="0" i="0" u="none" strike="noStrike" noProof="0">
                          <a:solidFill>
                            <a:srgbClr val="000000"/>
                          </a:solidFill>
                          <a:effectLst/>
                          <a:latin typeface="Corbel"/>
                        </a:rPr>
                        <a:t>A final decision has yet to be made between PowerApps or Azure </a:t>
                      </a:r>
                      <a:r>
                        <a:rPr lang="en-GB" sz="900" b="0" i="0" u="none" strike="noStrike" noProof="0" err="1">
                          <a:solidFill>
                            <a:srgbClr val="000000"/>
                          </a:solidFill>
                          <a:effectLst/>
                          <a:latin typeface="Corbel"/>
                        </a:rPr>
                        <a:t>WebApps</a:t>
                      </a:r>
                      <a:r>
                        <a:rPr lang="en-GB" sz="900" b="0" i="0" u="none" strike="noStrike" noProof="0">
                          <a:solidFill>
                            <a:srgbClr val="000000"/>
                          </a:solidFill>
                          <a:effectLst/>
                          <a:latin typeface="Corbel"/>
                        </a:rPr>
                        <a:t> . Since</a:t>
                      </a:r>
                      <a:r>
                        <a:rPr lang="en-GB" sz="900" b="0" i="0" u="none" strike="noStrike" baseline="0" noProof="0">
                          <a:solidFill>
                            <a:srgbClr val="000000"/>
                          </a:solidFill>
                          <a:effectLst/>
                          <a:latin typeface="Corbel"/>
                        </a:rPr>
                        <a:t> nBIF is set up modular, this doesn’t impact the realisation of the rest of the application</a:t>
                      </a:r>
                      <a:endParaRPr lang="en-GB" sz="900" b="1"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900" b="0" i="0" u="none" strike="noStrike" kern="1200" baseline="0" noProof="0">
                          <a:solidFill>
                            <a:schemeClr val="tx1"/>
                          </a:solidFill>
                          <a:effectLst/>
                          <a:latin typeface="+mn-lt"/>
                          <a:ea typeface="+mn-ea"/>
                          <a:cs typeface="+mn-cs"/>
                        </a:rPr>
                        <a:t>Via a separate architecture note</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3274">
                <a:tc>
                  <a:txBody>
                    <a:bodyPr/>
                    <a:lstStyle/>
                    <a:p>
                      <a:pPr marL="0" algn="l" defTabSz="456999" rtl="0" eaLnBrk="1" fontAlgn="b" latinLnBrk="0" hangingPunct="1"/>
                      <a:r>
                        <a:rPr lang="en-US" sz="900" b="0" i="0" u="none" strike="noStrike" kern="1200" noProof="0">
                          <a:solidFill>
                            <a:srgbClr val="000000"/>
                          </a:solidFill>
                          <a:effectLst/>
                          <a:latin typeface="Corbel"/>
                          <a:ea typeface="+mn-ea"/>
                          <a:cs typeface="+mn-cs"/>
                        </a:rPr>
                        <a:t>4</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900" b="1" i="0" u="none" strike="noStrike" noProof="0">
                          <a:solidFill>
                            <a:srgbClr val="000000"/>
                          </a:solidFill>
                          <a:effectLst/>
                          <a:latin typeface="+mn-lt"/>
                        </a:rPr>
                        <a:t>Technical Architecture for the ad-hoc run console within nBIF 365 : </a:t>
                      </a:r>
                      <a:r>
                        <a:rPr lang="en-GB" sz="900" b="0" i="0" u="none" strike="noStrike" noProof="0">
                          <a:solidFill>
                            <a:srgbClr val="000000"/>
                          </a:solidFill>
                          <a:effectLst/>
                          <a:latin typeface="Corbel"/>
                        </a:rPr>
                        <a:t> Since</a:t>
                      </a:r>
                      <a:r>
                        <a:rPr lang="en-GB" sz="900" b="0" i="0" u="none" strike="noStrike" baseline="0" noProof="0">
                          <a:solidFill>
                            <a:srgbClr val="000000"/>
                          </a:solidFill>
                          <a:effectLst/>
                          <a:latin typeface="Corbel"/>
                        </a:rPr>
                        <a:t> this is not a must have solution, this doesn’t impact the realisation of the rest of the application including ability to do ad-hoc runs on nBIF platform.</a:t>
                      </a:r>
                      <a:endParaRPr lang="en-GB" sz="900" b="1"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900" b="0" i="0" u="none" strike="noStrike" kern="1200" baseline="0" noProof="0">
                          <a:solidFill>
                            <a:schemeClr val="tx1"/>
                          </a:solidFill>
                          <a:effectLst/>
                          <a:latin typeface="+mn-lt"/>
                          <a:ea typeface="+mn-ea"/>
                          <a:cs typeface="+mn-cs"/>
                        </a:rPr>
                        <a:t>In a subsequent version of the PSA</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3274">
                <a:tc>
                  <a:txBody>
                    <a:bodyPr/>
                    <a:lstStyle/>
                    <a:p>
                      <a:pPr marL="0" algn="l" defTabSz="456999" rtl="0" eaLnBrk="1" fontAlgn="b" latinLnBrk="0" hangingPunct="1"/>
                      <a:r>
                        <a:rPr lang="en-US" sz="900" b="0" i="0" u="none" strike="noStrike" kern="1200" noProof="0">
                          <a:solidFill>
                            <a:srgbClr val="000000"/>
                          </a:solidFill>
                          <a:effectLst/>
                          <a:latin typeface="Corbel"/>
                          <a:ea typeface="+mn-ea"/>
                          <a:cs typeface="+mn-cs"/>
                        </a:rPr>
                        <a:t>5</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900" b="1" i="0" u="none" strike="noStrike" kern="1200" baseline="0">
                          <a:solidFill>
                            <a:srgbClr val="000000"/>
                          </a:solidFill>
                          <a:effectLst/>
                          <a:latin typeface="Corbel"/>
                          <a:ea typeface="+mn-ea"/>
                          <a:cs typeface="+mn-cs"/>
                        </a:rPr>
                        <a:t>Stress testing </a:t>
                      </a:r>
                      <a:r>
                        <a:rPr lang="en-GB" sz="900" b="0" i="0" u="none" strike="noStrike" kern="1200" baseline="0">
                          <a:solidFill>
                            <a:srgbClr val="000000"/>
                          </a:solidFill>
                          <a:effectLst/>
                          <a:latin typeface="Corbel"/>
                          <a:ea typeface="+mn-ea"/>
                          <a:cs typeface="+mn-cs"/>
                        </a:rPr>
                        <a:t>has dependency on prudential backstop (PB)calculator. This calculator is maintained by Credit Core. A decision is needed to include PB calculator a part of n-Bridge. </a:t>
                      </a:r>
                      <a:endParaRPr lang="en-GB" sz="900" b="0" i="0" u="none" strike="noStrike" kern="1200" baseline="0" noProof="0">
                        <a:solidFill>
                          <a:srgbClr val="000000"/>
                        </a:solidFill>
                        <a:effectLst/>
                        <a:latin typeface="Corbel"/>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900" b="0" i="0" u="none" strike="noStrike" kern="1200" baseline="0" noProof="0">
                          <a:solidFill>
                            <a:schemeClr val="tx1"/>
                          </a:solidFill>
                          <a:effectLst/>
                          <a:latin typeface="+mn-lt"/>
                          <a:ea typeface="+mn-ea"/>
                          <a:cs typeface="+mn-cs"/>
                        </a:rPr>
                        <a:t>In a subsequent version of the PSA</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4348232"/>
                  </a:ext>
                </a:extLst>
              </a:tr>
              <a:tr h="183274">
                <a:tc>
                  <a:txBody>
                    <a:bodyPr/>
                    <a:lstStyle/>
                    <a:p>
                      <a:pPr marL="0" algn="l" defTabSz="456999" rtl="0" eaLnBrk="1" fontAlgn="b" latinLnBrk="0" hangingPunct="1"/>
                      <a:r>
                        <a:rPr lang="en-US" sz="900" b="0" i="0" u="none" strike="noStrike" kern="1200" noProof="0">
                          <a:solidFill>
                            <a:srgbClr val="000000"/>
                          </a:solidFill>
                          <a:effectLst/>
                          <a:latin typeface="Corbel"/>
                          <a:ea typeface="+mn-ea"/>
                          <a:cs typeface="+mn-cs"/>
                        </a:rPr>
                        <a:t>6</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900" b="1" i="0" u="none" strike="noStrike" kern="1200" baseline="0" noProof="0">
                          <a:solidFill>
                            <a:srgbClr val="000000"/>
                          </a:solidFill>
                          <a:effectLst/>
                          <a:latin typeface="Corbel"/>
                          <a:ea typeface="+mn-ea"/>
                          <a:cs typeface="+mn-cs"/>
                        </a:rPr>
                        <a:t>Supporting  data  needs of Stress testing reports in intermediate phase.  </a:t>
                      </a:r>
                      <a:r>
                        <a:rPr lang="en-GB" sz="900" b="0" i="0" u="none" strike="noStrike" kern="1200" baseline="0" noProof="0">
                          <a:solidFill>
                            <a:srgbClr val="000000"/>
                          </a:solidFill>
                          <a:effectLst/>
                          <a:latin typeface="Corbel"/>
                          <a:ea typeface="+mn-ea"/>
                          <a:cs typeface="+mn-cs"/>
                        </a:rPr>
                        <a:t>Eventually every ST reports be done by tribe External reporting in target situation. During the intermediate period they need to be supported by Stress Testing. An Information flow from nBIF to ST Information factory (in plan) need to be designed.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900" b="0" i="0" u="none" strike="noStrike" kern="1200" baseline="0" noProof="0">
                          <a:solidFill>
                            <a:schemeClr val="tx1"/>
                          </a:solidFill>
                          <a:effectLst/>
                          <a:latin typeface="+mn-lt"/>
                          <a:ea typeface="+mn-ea"/>
                          <a:cs typeface="+mn-cs"/>
                        </a:rPr>
                        <a:t>In the PSA of ST Information Factory</a:t>
                      </a:r>
                    </a:p>
                  </a:txBody>
                  <a:tcPr marL="45720" marR="45720" anchor="b">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51866"/>
                  </a:ext>
                </a:extLst>
              </a:tr>
            </a:tbl>
          </a:graphicData>
        </a:graphic>
      </p:graphicFrame>
      <p:sp>
        <p:nvSpPr>
          <p:cNvPr id="9" name="Rounded Rectangle 10">
            <a:hlinkClick r:id="rId3"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10709268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1.12 Architecture deviations </a:t>
            </a:r>
          </a:p>
        </p:txBody>
      </p:sp>
      <p:sp>
        <p:nvSpPr>
          <p:cNvPr id="5" name="Slide Number Placeholder 4"/>
          <p:cNvSpPr>
            <a:spLocks noGrp="1"/>
          </p:cNvSpPr>
          <p:nvPr>
            <p:ph type="sldNum" sz="quarter" idx="10"/>
          </p:nvPr>
        </p:nvSpPr>
        <p:spPr/>
        <p:txBody>
          <a:bodyPr/>
          <a:lstStyle/>
          <a:p>
            <a:fld id="{9C7F1ACC-2CE8-4B5A-AF9E-0D67538731EE}" type="slidenum">
              <a:rPr lang="en-GB" smtClean="0"/>
              <a:pPr/>
              <a:t>12</a:t>
            </a:fld>
            <a:endParaRPr lang="en-GB"/>
          </a:p>
        </p:txBody>
      </p:sp>
      <p:sp>
        <p:nvSpPr>
          <p:cNvPr id="7" name="Tijdelijke aanduiding voor tekst 6"/>
          <p:cNvSpPr>
            <a:spLocks noGrp="1"/>
          </p:cNvSpPr>
          <p:nvPr>
            <p:ph type="body" sz="quarter" idx="15"/>
          </p:nvPr>
        </p:nvSpPr>
        <p:spPr/>
        <p:txBody>
          <a:bodyPr/>
          <a:lstStyle/>
          <a:p>
            <a:r>
              <a:rPr lang="nl-NL"/>
              <a:t> </a:t>
            </a:r>
          </a:p>
        </p:txBody>
      </p:sp>
      <p:graphicFrame>
        <p:nvGraphicFramePr>
          <p:cNvPr id="10" name="Tabel 9"/>
          <p:cNvGraphicFramePr>
            <a:graphicFrameLocks noGrp="1"/>
          </p:cNvGraphicFramePr>
          <p:nvPr>
            <p:extLst>
              <p:ext uri="{D42A27DB-BD31-4B8C-83A1-F6EECF244321}">
                <p14:modId xmlns:p14="http://schemas.microsoft.com/office/powerpoint/2010/main" val="584648142"/>
              </p:ext>
            </p:extLst>
          </p:nvPr>
        </p:nvGraphicFramePr>
        <p:xfrm>
          <a:off x="570491" y="1081048"/>
          <a:ext cx="8196369" cy="2994796"/>
        </p:xfrm>
        <a:graphic>
          <a:graphicData uri="http://schemas.openxmlformats.org/drawingml/2006/table">
            <a:tbl>
              <a:tblPr firstRow="1" bandRow="1">
                <a:tableStyleId>{17292A2E-F333-43FB-9621-5CBBE7FDCDCB}</a:tableStyleId>
              </a:tblPr>
              <a:tblGrid>
                <a:gridCol w="251760">
                  <a:extLst>
                    <a:ext uri="{9D8B030D-6E8A-4147-A177-3AD203B41FA5}">
                      <a16:colId xmlns:a16="http://schemas.microsoft.com/office/drawing/2014/main" val="20000"/>
                    </a:ext>
                  </a:extLst>
                </a:gridCol>
                <a:gridCol w="2228958">
                  <a:extLst>
                    <a:ext uri="{9D8B030D-6E8A-4147-A177-3AD203B41FA5}">
                      <a16:colId xmlns:a16="http://schemas.microsoft.com/office/drawing/2014/main" val="20001"/>
                    </a:ext>
                  </a:extLst>
                </a:gridCol>
                <a:gridCol w="2425960">
                  <a:extLst>
                    <a:ext uri="{9D8B030D-6E8A-4147-A177-3AD203B41FA5}">
                      <a16:colId xmlns:a16="http://schemas.microsoft.com/office/drawing/2014/main" val="20002"/>
                    </a:ext>
                  </a:extLst>
                </a:gridCol>
                <a:gridCol w="2425960">
                  <a:extLst>
                    <a:ext uri="{9D8B030D-6E8A-4147-A177-3AD203B41FA5}">
                      <a16:colId xmlns:a16="http://schemas.microsoft.com/office/drawing/2014/main" val="1128806903"/>
                    </a:ext>
                  </a:extLst>
                </a:gridCol>
                <a:gridCol w="863731">
                  <a:extLst>
                    <a:ext uri="{9D8B030D-6E8A-4147-A177-3AD203B41FA5}">
                      <a16:colId xmlns:a16="http://schemas.microsoft.com/office/drawing/2014/main" val="3950352936"/>
                    </a:ext>
                  </a:extLst>
                </a:gridCol>
              </a:tblGrid>
              <a:tr h="293401">
                <a:tc>
                  <a:txBody>
                    <a:bodyPr/>
                    <a:lstStyle/>
                    <a:p>
                      <a:pPr algn="l" fontAlgn="b"/>
                      <a:r>
                        <a:rPr lang="en-GB" sz="1100" i="1" u="none" strike="noStrike" noProof="0">
                          <a:solidFill>
                            <a:schemeClr val="tx1"/>
                          </a:solidFill>
                          <a:effectLst/>
                        </a:rPr>
                        <a:t>Nr</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mn-lt"/>
                        </a:rPr>
                        <a:t>Description</a:t>
                      </a:r>
                      <a:endParaRPr lang="en-GB" sz="1100" b="1" i="1" u="none" strike="noStrike" noProof="0">
                        <a:solidFill>
                          <a:schemeClr val="tx1"/>
                        </a:solidFill>
                        <a:effectLst/>
                        <a:latin typeface="Corbel"/>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mn-lt"/>
                        </a:rPr>
                        <a:t>End date</a:t>
                      </a:r>
                      <a:endParaRPr lang="en-GB" sz="1100" b="1" i="1" u="none" strike="noStrike" noProof="0">
                        <a:solidFill>
                          <a:schemeClr val="tx1"/>
                        </a:solidFill>
                        <a:effectLst/>
                        <a:latin typeface="Corbel"/>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orbel"/>
                        </a:rPr>
                        <a:t>Reference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orbel"/>
                        </a:rPr>
                        <a:t>Owner</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55637">
                <a:tc>
                  <a:txBody>
                    <a:bodyPr/>
                    <a:lstStyle/>
                    <a:p>
                      <a:pPr marL="0" algn="l" defTabSz="456999" rtl="0" eaLnBrk="1" fontAlgn="b" latinLnBrk="0" hangingPunct="1"/>
                      <a:r>
                        <a:rPr lang="en-US" sz="800" b="0" i="0" u="none" strike="noStrike" kern="1200" noProof="0">
                          <a:solidFill>
                            <a:srgbClr val="000000"/>
                          </a:solidFill>
                          <a:effectLst/>
                          <a:latin typeface="Corbel"/>
                          <a:ea typeface="+mn-ea"/>
                          <a:cs typeface="+mn-cs"/>
                        </a:rPr>
                        <a:t>1</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0" u="none" strike="noStrike" kern="1200" noProof="0">
                          <a:solidFill>
                            <a:srgbClr val="000000"/>
                          </a:solidFill>
                          <a:effectLst/>
                          <a:latin typeface="Corbel"/>
                          <a:ea typeface="+mn-ea"/>
                          <a:cs typeface="+mn-cs"/>
                        </a:rPr>
                        <a:t>CAM will continue to be playing the role of Orchestrator and data management layer for Rural monthly batch run – UT 5</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b="0" i="0" u="none" strike="noStrike" kern="1200" noProof="0">
                          <a:solidFill>
                            <a:srgbClr val="000000"/>
                          </a:solidFill>
                          <a:effectLst/>
                          <a:latin typeface="Corbel"/>
                          <a:ea typeface="+mn-ea"/>
                          <a:cs typeface="+mn-cs"/>
                        </a:rPr>
                        <a:t>Until the Rural model redevelopment to version 2</a:t>
                      </a:r>
                      <a:endParaRPr lang="en-GB" sz="800" b="0" i="0" u="none" strike="noStrike" kern="1200" noProof="0">
                        <a:solidFill>
                          <a:srgbClr val="000000"/>
                        </a:solidFill>
                        <a:effectLst/>
                        <a:latin typeface="Corbel"/>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i="0" u="none" strike="noStrike" kern="1200" noProof="0">
                          <a:solidFill>
                            <a:srgbClr val="000000"/>
                          </a:solidFill>
                          <a:effectLst/>
                          <a:latin typeface="Corbel"/>
                          <a:ea typeface="+mn-ea"/>
                          <a:cs typeface="+mn-cs"/>
                        </a:rPr>
                        <a:t>TBD</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i="0" u="none" strike="noStrike" kern="1200" noProof="0">
                          <a:solidFill>
                            <a:srgbClr val="000000"/>
                          </a:solidFill>
                          <a:effectLst/>
                          <a:latin typeface="Corbel"/>
                          <a:ea typeface="+mn-ea"/>
                          <a:cs typeface="+mn-cs"/>
                        </a:rPr>
                        <a:t>Area Rural</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55544">
                <a:tc>
                  <a:txBody>
                    <a:bodyPr/>
                    <a:lstStyle/>
                    <a:p>
                      <a:pPr marL="0" algn="l" defTabSz="456999" rtl="0" eaLnBrk="1" fontAlgn="b" latinLnBrk="0" hangingPunct="1"/>
                      <a:r>
                        <a:rPr lang="en-US" sz="800" b="0" i="0" u="none" strike="noStrike" kern="1200" noProof="0">
                          <a:solidFill>
                            <a:srgbClr val="000000"/>
                          </a:solidFill>
                          <a:effectLst/>
                          <a:latin typeface="Corbel"/>
                          <a:ea typeface="+mn-ea"/>
                          <a:cs typeface="+mn-cs"/>
                        </a:rPr>
                        <a:t>2</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0" u="none" strike="noStrike" noProof="0">
                          <a:solidFill>
                            <a:srgbClr val="000000"/>
                          </a:solidFill>
                          <a:effectLst/>
                          <a:latin typeface="Corbel"/>
                        </a:rPr>
                        <a:t>B-RDD model for RSME will continue to be orchestrated by C-RDD application. nBIF will collect the results and use for IRB model run.</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Corbel"/>
                        </a:rPr>
                        <a:t>RSME B-RDD model shall merge with IRB RSME model &amp;  C-RDD application shall be decommissioned. Role of transaction data sourcing be moved to CADDI. </a:t>
                      </a:r>
                      <a:r>
                        <a:rPr lang="en-GB" sz="800" b="0" i="0" u="none" strike="noStrike" noProof="0">
                          <a:solidFill>
                            <a:srgbClr val="000000"/>
                          </a:solidFill>
                          <a:effectLst/>
                          <a:latin typeface="+mn-lt"/>
                        </a:rPr>
                        <a:t>An end date is to be identified in RSME specific PSA.</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TBD</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Area RSME</a:t>
                      </a:r>
                    </a:p>
                    <a:p>
                      <a:pPr marL="0" marR="0" lvl="0" indent="0" algn="l" defTabSz="456999" rtl="0" eaLnBrk="1" fontAlgn="b" latinLnBrk="0" hangingPunct="1">
                        <a:lnSpc>
                          <a:spcPct val="100000"/>
                        </a:lnSpc>
                        <a:spcBef>
                          <a:spcPts val="0"/>
                        </a:spcBef>
                        <a:spcAft>
                          <a:spcPts val="0"/>
                        </a:spcAft>
                        <a:buClrTx/>
                        <a:buSzTx/>
                        <a:buFontTx/>
                        <a:buNone/>
                        <a:tabLst/>
                        <a:defRPr/>
                      </a:pPr>
                      <a:endParaRPr lang="en-GB" sz="800" b="0" i="0" u="none" strike="noStrike" noProof="0">
                        <a:solidFill>
                          <a:srgbClr val="000000"/>
                        </a:solidFill>
                        <a:effectLst/>
                        <a:latin typeface="+mn-lt"/>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5725219"/>
                  </a:ext>
                </a:extLst>
              </a:tr>
              <a:tr h="477786">
                <a:tc>
                  <a:txBody>
                    <a:bodyPr/>
                    <a:lstStyle/>
                    <a:p>
                      <a:pPr marL="0" algn="l" defTabSz="456999" rtl="0" eaLnBrk="1" fontAlgn="b" latinLnBrk="0" hangingPunct="1"/>
                      <a:r>
                        <a:rPr lang="en-US" sz="800" b="0" i="0" u="none" strike="noStrike" kern="1200" noProof="0">
                          <a:solidFill>
                            <a:srgbClr val="000000"/>
                          </a:solidFill>
                          <a:effectLst/>
                          <a:latin typeface="Corbel"/>
                          <a:ea typeface="+mn-ea"/>
                          <a:cs typeface="+mn-cs"/>
                        </a:rPr>
                        <a:t>3</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0" u="none" strike="noStrike" noProof="0">
                          <a:solidFill>
                            <a:srgbClr val="000000"/>
                          </a:solidFill>
                          <a:effectLst/>
                          <a:latin typeface="Corbel"/>
                        </a:rPr>
                        <a:t>nBIF will transfer ECL results to STIB for post processing IFRS9 business </a:t>
                      </a:r>
                      <a:r>
                        <a:rPr lang="en-GB" sz="800" b="0" i="0" u="none" strike="noStrike" noProof="0">
                          <a:solidFill>
                            <a:srgbClr val="000000"/>
                          </a:solidFill>
                          <a:effectLst/>
                          <a:latin typeface="+mn-lt"/>
                        </a:rPr>
                        <a:t>processes, like “Preparation of ledger bookings to support </a:t>
                      </a:r>
                      <a:r>
                        <a:rPr lang="en-GB" sz="800" b="0" i="0" u="none" strike="noStrike" noProof="0" err="1">
                          <a:solidFill>
                            <a:srgbClr val="000000"/>
                          </a:solidFill>
                          <a:effectLst/>
                          <a:latin typeface="+mn-lt"/>
                        </a:rPr>
                        <a:t>FinRep</a:t>
                      </a:r>
                      <a:r>
                        <a:rPr lang="en-GB" sz="800" b="0" i="0" u="none" strike="noStrike" noProof="0">
                          <a:solidFill>
                            <a:srgbClr val="000000"/>
                          </a:solidFill>
                          <a:effectLst/>
                          <a:latin typeface="+mn-lt"/>
                        </a:rPr>
                        <a:t>”.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Corbel"/>
                        </a:rPr>
                        <a:t>Until the movement of post processing IFRS9 business processes to strategic solutions. </a:t>
                      </a:r>
                      <a:endParaRPr lang="en-GB" sz="800" b="0" i="0" u="none" strike="noStrike" noProof="0">
                        <a:solidFill>
                          <a:srgbClr val="000000"/>
                        </a:solidFill>
                        <a:effectLst/>
                        <a:latin typeface="+mn-lt"/>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IN" sz="800">
                          <a:hlinkClick r:id="rId3"/>
                        </a:rPr>
                        <a:t>Decision document IFRS9 migration to nBIF v1.0.pptx</a:t>
                      </a:r>
                      <a:r>
                        <a:rPr lang="en-IN" sz="800"/>
                        <a:t> </a:t>
                      </a:r>
                      <a:endParaRPr lang="en-GB" sz="800" b="0"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0" u="none" strike="noStrike" noProof="0">
                          <a:solidFill>
                            <a:srgbClr val="000000"/>
                          </a:solidFill>
                          <a:effectLst/>
                          <a:latin typeface="Corbel"/>
                        </a:rPr>
                        <a:t>Area Provisioning &amp; Reporting</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83576">
                <a:tc>
                  <a:txBody>
                    <a:bodyPr/>
                    <a:lstStyle/>
                    <a:p>
                      <a:pPr marL="0" algn="l" defTabSz="456999" rtl="0" eaLnBrk="1" fontAlgn="b" latinLnBrk="0" hangingPunct="1"/>
                      <a:r>
                        <a:rPr lang="en-US" sz="800" b="0" i="0" u="none" strike="noStrike" kern="1200" noProof="0">
                          <a:solidFill>
                            <a:srgbClr val="000000"/>
                          </a:solidFill>
                          <a:effectLst/>
                          <a:latin typeface="Corbel"/>
                          <a:ea typeface="+mn-ea"/>
                          <a:cs typeface="+mn-cs"/>
                        </a:rPr>
                        <a:t>5</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0" u="none" strike="noStrike" noProof="0">
                          <a:solidFill>
                            <a:srgbClr val="000000"/>
                          </a:solidFill>
                          <a:effectLst/>
                          <a:latin typeface="Corbel"/>
                        </a:rPr>
                        <a:t>Direct exchange of data between  nBIF &amp; IFRS9 Information Factory for various purposes. For ex – “Origination PD Curve cache” , “MES Data Cache”,  “to support execution of secondary runs which still happen through IFRS9 information factory”.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Corbel"/>
                        </a:rPr>
                        <a:t>In subsequent plateaus, that are yet to be plotted, nBIF will directly ingest the data needed for IFRS9 and is not available through GRFD route</a:t>
                      </a:r>
                      <a:r>
                        <a:rPr lang="en-GB" sz="800" b="0" i="0" u="none" strike="noStrike" noProof="0">
                          <a:solidFill>
                            <a:srgbClr val="000000"/>
                          </a:solidFill>
                          <a:effectLst/>
                          <a:latin typeface="+mn-lt"/>
                        </a:rPr>
                        <a:t>.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IN" sz="800">
                          <a:hlinkClick r:id="rId3"/>
                        </a:rPr>
                        <a:t>Decision document IFRS9 migration to nBIF v1.0.pptx</a:t>
                      </a:r>
                      <a:r>
                        <a:rPr lang="en-IN" sz="800"/>
                        <a:t> </a:t>
                      </a:r>
                      <a:endParaRPr lang="en-GB" sz="800" b="0" i="0" u="none" strike="noStrike" noProof="0">
                        <a:solidFill>
                          <a:srgbClr val="000000"/>
                        </a:solidFill>
                        <a:effectLst/>
                        <a:latin typeface="+mn-lt"/>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Area Provisioning &amp; Reporting</a:t>
                      </a:r>
                    </a:p>
                    <a:p>
                      <a:pPr algn="l" fontAlgn="b"/>
                      <a:endParaRPr lang="en-GB" sz="800" b="0"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8491">
                <a:tc>
                  <a:txBody>
                    <a:bodyPr/>
                    <a:lstStyle/>
                    <a:p>
                      <a:pPr marL="0" algn="l" defTabSz="456999" rtl="0" eaLnBrk="1" fontAlgn="b" latinLnBrk="0" hangingPunct="1"/>
                      <a:r>
                        <a:rPr lang="en-US" sz="800" b="0" i="0" u="none" strike="noStrike" kern="1200" noProof="0">
                          <a:solidFill>
                            <a:srgbClr val="000000"/>
                          </a:solidFill>
                          <a:effectLst/>
                          <a:latin typeface="Corbel"/>
                          <a:ea typeface="+mn-ea"/>
                          <a:cs typeface="+mn-cs"/>
                        </a:rPr>
                        <a:t>5</a:t>
                      </a: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GB" sz="800" b="0"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GB" sz="800" b="0"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GB" sz="800" b="0"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GB" sz="800" b="0" i="0" u="none" strike="noStrike" noProof="0">
                        <a:solidFill>
                          <a:srgbClr val="000000"/>
                        </a:solidFill>
                        <a:effectLst/>
                        <a:latin typeface="Corbel"/>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905563"/>
                  </a:ext>
                </a:extLst>
              </a:tr>
            </a:tbl>
          </a:graphicData>
        </a:graphic>
      </p:graphicFrame>
      <p:sp>
        <p:nvSpPr>
          <p:cNvPr id="11" name="Rounded Rectangle 10">
            <a:hlinkClick r:id="rId4" action="ppaction://hlinksldjump"/>
          </p:cNvPr>
          <p:cNvSpPr/>
          <p:nvPr/>
        </p:nvSpPr>
        <p:spPr>
          <a:xfrm>
            <a:off x="2529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 Introduction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6" name="TextBox 5">
            <a:extLst>
              <a:ext uri="{FF2B5EF4-FFF2-40B4-BE49-F238E27FC236}">
                <a16:creationId xmlns:a16="http://schemas.microsoft.com/office/drawing/2014/main" id="{17BCA204-47B0-AC77-0838-EC128FF9BA54}"/>
              </a:ext>
            </a:extLst>
          </p:cNvPr>
          <p:cNvSpPr txBox="1"/>
          <p:nvPr/>
        </p:nvSpPr>
        <p:spPr>
          <a:xfrm>
            <a:off x="528411" y="582044"/>
            <a:ext cx="8087178" cy="369332"/>
          </a:xfrm>
          <a:prstGeom prst="rect">
            <a:avLst/>
          </a:prstGeom>
          <a:noFill/>
          <a:ln w="12700">
            <a:noFill/>
          </a:ln>
        </p:spPr>
        <p:txBody>
          <a:bodyPr wrap="square" lIns="0" rIns="0" rtlCol="0" anchor="t" anchorCtr="0">
            <a:spAutoFit/>
          </a:bodyPr>
          <a:lstStyle/>
          <a:p>
            <a:r>
              <a:rPr lang="en-IN" sz="900">
                <a:solidFill>
                  <a:srgbClr val="5E6A71"/>
                </a:solidFill>
              </a:rPr>
              <a:t>There are architecture deviations that are maintained separately but have direct impact to nBIF. Below list contains such Architecture deviations for completeness along with the reference location where they are managed.</a:t>
            </a:r>
            <a:endParaRPr lang="LID4096" sz="900">
              <a:solidFill>
                <a:srgbClr val="5E6A71"/>
              </a:solidFill>
            </a:endParaRPr>
          </a:p>
        </p:txBody>
      </p:sp>
    </p:spTree>
    <p:extLst>
      <p:ext uri="{BB962C8B-B14F-4D97-AF65-F5344CB8AC3E}">
        <p14:creationId xmlns:p14="http://schemas.microsoft.com/office/powerpoint/2010/main" val="26144926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effectLst/>
        </p:spPr>
        <p:txBody>
          <a:bodyPr vert="horz" lIns="0" tIns="0" rIns="0" bIns="0" rtlCol="0" anchor="b">
            <a:spAutoFit/>
          </a:bodyPr>
          <a:lstStyle/>
          <a:p>
            <a:r>
              <a:rPr lang="en-GB"/>
              <a:t>Business Architecture</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8" name="Rounded Rectangle 10">
            <a:hlinkClick r:id="rId2" action="ppaction://hlinksldjump"/>
          </p:cNvPr>
          <p:cNvSpPr/>
          <p:nvPr/>
        </p:nvSpPr>
        <p:spPr>
          <a:xfrm>
            <a:off x="938158"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275143308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4"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orbel"/>
              <a:ea typeface="+mn-ea"/>
              <a:cs typeface="+mn-cs"/>
            </a:endParaRPr>
          </a:p>
        </p:txBody>
      </p:sp>
      <p:sp>
        <p:nvSpPr>
          <p:cNvPr id="2" name="Title 1"/>
          <p:cNvSpPr>
            <a:spLocks noGrp="1"/>
          </p:cNvSpPr>
          <p:nvPr>
            <p:ph type="title"/>
          </p:nvPr>
        </p:nvSpPr>
        <p:spPr>
          <a:xfrm>
            <a:off x="475814" y="191293"/>
            <a:ext cx="7464026" cy="644988"/>
          </a:xfrm>
        </p:spPr>
        <p:txBody>
          <a:bodyPr/>
          <a:lstStyle/>
          <a:p>
            <a:r>
              <a:rPr lang="en-GB" sz="2400"/>
              <a:t>2.1 Positioning of </a:t>
            </a:r>
            <a:r>
              <a:rPr lang="en-IN" sz="2400"/>
              <a:t>nBIF</a:t>
            </a:r>
            <a:r>
              <a:rPr lang="en-GB" sz="2400"/>
              <a:t>  in “Enterprise Data Architecture”</a:t>
            </a:r>
          </a:p>
        </p:txBody>
      </p:sp>
      <mc:AlternateContent xmlns:mc="http://schemas.openxmlformats.org/markup-compatibility/2006" xmlns:a14="http://schemas.microsoft.com/office/drawing/2010/main">
        <mc:Choice Requires="a14">
          <p:sp>
            <p:nvSpPr>
              <p:cNvPr id="5" name="TextBox 4"/>
              <p:cNvSpPr txBox="1"/>
              <p:nvPr/>
            </p:nvSpPr>
            <p:spPr>
              <a:xfrm>
                <a:off x="7086011" y="2195535"/>
                <a:ext cx="709173" cy="646357"/>
              </a:xfrm>
              <a:prstGeom prst="rect">
                <a:avLst/>
              </a:prstGeom>
              <a:solidFill>
                <a:srgbClr val="FFFF93"/>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algn="ctr" defTabSz="455602" fontAlgn="base">
                  <a:spcBef>
                    <a:spcPct val="0"/>
                  </a:spcBef>
                  <a:spcAft>
                    <a:spcPct val="0"/>
                  </a:spcAft>
                  <a:defRPr sz="800" i="1">
                    <a:latin typeface="Calibri" panose="020F0502020204030204" pitchFamily="34" charset="0"/>
                    <a:cs typeface="Calibri" panose="020F0502020204030204" pitchFamily="34" charset="0"/>
                  </a:defRPr>
                </a:lvl1pPr>
              </a:lstStyle>
              <a:p>
                <a:pPr/>
                <a14:m>
                  <m:oMathPara xmlns:m="http://schemas.openxmlformats.org/officeDocument/2006/math">
                    <m:oMathParaPr>
                      <m:jc m:val="centerGroup"/>
                    </m:oMathParaPr>
                    <m:oMath xmlns:m="http://schemas.openxmlformats.org/officeDocument/2006/math">
                      <m:r>
                        <m:rPr>
                          <m:sty m:val="p"/>
                        </m:rPr>
                        <a:rPr lang="en-GB" sz="1600" i="0" smtClean="0">
                          <a:solidFill>
                            <a:schemeClr val="tx1"/>
                          </a:solidFill>
                          <a:latin typeface="Cambria Math" panose="02040503050406030204" pitchFamily="18" charset="0"/>
                        </a:rPr>
                        <m:t>nBIF</m:t>
                      </m:r>
                    </m:oMath>
                  </m:oMathPara>
                </a14:m>
                <a:endParaRPr lang="en-GB" sz="1600">
                  <a:solidFill>
                    <a:schemeClr val="tx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086011" y="2195535"/>
                <a:ext cx="709173" cy="646357"/>
              </a:xfrm>
              <a:prstGeom prst="rect">
                <a:avLst/>
              </a:prstGeom>
              <a:blipFill>
                <a:blip r:embed="rId3"/>
                <a:stretch>
                  <a:fillRect/>
                </a:stretch>
              </a:blipFill>
              <a:ln w="3175" cap="flat" cmpd="sng" algn="ctr">
                <a:noFill/>
                <a:prstDash val="solid"/>
              </a:ln>
              <a:effectLst>
                <a:outerShdw blurRad="50800" dist="38100" dir="2700000" algn="tl" rotWithShape="0">
                  <a:prstClr val="black">
                    <a:alpha val="40000"/>
                  </a:prstClr>
                </a:outerShdw>
              </a:effectLst>
            </p:spPr>
            <p:txBody>
              <a:bodyPr/>
              <a:lstStyle/>
              <a:p>
                <a:r>
                  <a:rPr lang="en-US">
                    <a:noFill/>
                  </a:rPr>
                  <a:t> </a:t>
                </a:r>
              </a:p>
            </p:txBody>
          </p:sp>
        </mc:Fallback>
      </mc:AlternateContent>
      <p:grpSp>
        <p:nvGrpSpPr>
          <p:cNvPr id="6" name="Group 5"/>
          <p:cNvGrpSpPr/>
          <p:nvPr/>
        </p:nvGrpSpPr>
        <p:grpSpPr>
          <a:xfrm>
            <a:off x="725232" y="836281"/>
            <a:ext cx="6080060" cy="3960702"/>
            <a:chOff x="3016147" y="1060878"/>
            <a:chExt cx="6080060" cy="3960702"/>
          </a:xfrm>
        </p:grpSpPr>
        <p:sp>
          <p:nvSpPr>
            <p:cNvPr id="107" name="Rectangle 106"/>
            <p:cNvSpPr/>
            <p:nvPr/>
          </p:nvSpPr>
          <p:spPr>
            <a:xfrm>
              <a:off x="4101149" y="1530350"/>
              <a:ext cx="103726" cy="215563"/>
            </a:xfrm>
            <a:prstGeom prst="rect">
              <a:avLst/>
            </a:prstGeom>
            <a:solidFill>
              <a:schemeClr val="bg1"/>
            </a:solidFill>
            <a:ln w="12700" cap="rnd" cmpd="sng" algn="ctr">
              <a:noFill/>
              <a:prstDash val="solid"/>
            </a:ln>
            <a:effectLst/>
          </p:spPr>
          <p:txBody>
            <a:bodyPr lIns="36000" tIns="36000" rIns="36000" bIns="36000" rtlCol="0" anchor="ctr"/>
            <a:lstStyle/>
            <a:p>
              <a:pPr algn="ctr"/>
              <a:endParaRPr lang="en-US" sz="1000">
                <a:latin typeface="Calibri" panose="020F0502020204030204" pitchFamily="34" charset="0"/>
                <a:cs typeface="Calibri" panose="020F0502020204030204" pitchFamily="34" charset="0"/>
              </a:endParaRPr>
            </a:p>
          </p:txBody>
        </p:sp>
        <p:sp>
          <p:nvSpPr>
            <p:cNvPr id="108" name="Rechthoek 109"/>
            <p:cNvSpPr/>
            <p:nvPr/>
          </p:nvSpPr>
          <p:spPr>
            <a:xfrm>
              <a:off x="3016147" y="1060878"/>
              <a:ext cx="6080060" cy="396070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lIns="91436" tIns="45718" rIns="91436" bIns="45718" rtlCol="0" anchor="t" anchorCtr="0"/>
            <a:lstStyle>
              <a:defPPr>
                <a:defRPr lang="nl-NL"/>
              </a:defPPr>
              <a:lvl1pPr marL="0" algn="l" defTabSz="456999" rtl="0" eaLnBrk="1" latinLnBrk="0" hangingPunct="1">
                <a:defRPr sz="1800" kern="1200">
                  <a:solidFill>
                    <a:schemeClr val="lt1"/>
                  </a:solidFill>
                  <a:latin typeface="+mn-lt"/>
                  <a:ea typeface="+mn-ea"/>
                  <a:cs typeface="+mn-cs"/>
                </a:defRPr>
              </a:lvl1pPr>
              <a:lvl2pPr marL="456999" algn="l" defTabSz="456999" rtl="0" eaLnBrk="1" latinLnBrk="0" hangingPunct="1">
                <a:defRPr sz="1800" kern="1200">
                  <a:solidFill>
                    <a:schemeClr val="lt1"/>
                  </a:solidFill>
                  <a:latin typeface="+mn-lt"/>
                  <a:ea typeface="+mn-ea"/>
                  <a:cs typeface="+mn-cs"/>
                </a:defRPr>
              </a:lvl2pPr>
              <a:lvl3pPr marL="913999" algn="l" defTabSz="456999" rtl="0" eaLnBrk="1" latinLnBrk="0" hangingPunct="1">
                <a:defRPr sz="1800" kern="1200">
                  <a:solidFill>
                    <a:schemeClr val="lt1"/>
                  </a:solidFill>
                  <a:latin typeface="+mn-lt"/>
                  <a:ea typeface="+mn-ea"/>
                  <a:cs typeface="+mn-cs"/>
                </a:defRPr>
              </a:lvl3pPr>
              <a:lvl4pPr marL="1370998" algn="l" defTabSz="456999" rtl="0" eaLnBrk="1" latinLnBrk="0" hangingPunct="1">
                <a:defRPr sz="1800" kern="1200">
                  <a:solidFill>
                    <a:schemeClr val="lt1"/>
                  </a:solidFill>
                  <a:latin typeface="+mn-lt"/>
                  <a:ea typeface="+mn-ea"/>
                  <a:cs typeface="+mn-cs"/>
                </a:defRPr>
              </a:lvl4pPr>
              <a:lvl5pPr marL="1827997" algn="l" defTabSz="456999" rtl="0" eaLnBrk="1" latinLnBrk="0" hangingPunct="1">
                <a:defRPr sz="1800" kern="1200">
                  <a:solidFill>
                    <a:schemeClr val="lt1"/>
                  </a:solidFill>
                  <a:latin typeface="+mn-lt"/>
                  <a:ea typeface="+mn-ea"/>
                  <a:cs typeface="+mn-cs"/>
                </a:defRPr>
              </a:lvl5pPr>
              <a:lvl6pPr marL="2284997" algn="l" defTabSz="456999" rtl="0" eaLnBrk="1" latinLnBrk="0" hangingPunct="1">
                <a:defRPr sz="1800" kern="1200">
                  <a:solidFill>
                    <a:schemeClr val="lt1"/>
                  </a:solidFill>
                  <a:latin typeface="+mn-lt"/>
                  <a:ea typeface="+mn-ea"/>
                  <a:cs typeface="+mn-cs"/>
                </a:defRPr>
              </a:lvl6pPr>
              <a:lvl7pPr marL="2741997" algn="l" defTabSz="456999" rtl="0" eaLnBrk="1" latinLnBrk="0" hangingPunct="1">
                <a:defRPr sz="1800" kern="1200">
                  <a:solidFill>
                    <a:schemeClr val="lt1"/>
                  </a:solidFill>
                  <a:latin typeface="+mn-lt"/>
                  <a:ea typeface="+mn-ea"/>
                  <a:cs typeface="+mn-cs"/>
                </a:defRPr>
              </a:lvl7pPr>
              <a:lvl8pPr marL="3198995" algn="l" defTabSz="456999" rtl="0" eaLnBrk="1" latinLnBrk="0" hangingPunct="1">
                <a:defRPr sz="1800" kern="1200">
                  <a:solidFill>
                    <a:schemeClr val="lt1"/>
                  </a:solidFill>
                  <a:latin typeface="+mn-lt"/>
                  <a:ea typeface="+mn-ea"/>
                  <a:cs typeface="+mn-cs"/>
                </a:defRPr>
              </a:lvl8pPr>
              <a:lvl9pPr marL="3655995" algn="l" defTabSz="456999" rtl="0" eaLnBrk="1" latinLnBrk="0" hangingPunct="1">
                <a:defRPr sz="1800" kern="1200">
                  <a:solidFill>
                    <a:schemeClr val="lt1"/>
                  </a:solidFill>
                  <a:latin typeface="+mn-lt"/>
                  <a:ea typeface="+mn-ea"/>
                  <a:cs typeface="+mn-cs"/>
                </a:defRPr>
              </a:lvl9pPr>
            </a:lstStyle>
            <a:p>
              <a:pPr algn="ctr"/>
              <a:r>
                <a:rPr lang="en-GB" sz="1000" b="1">
                  <a:solidFill>
                    <a:schemeClr val="bg1"/>
                  </a:solidFill>
                </a:rPr>
                <a:t>Enterprise Data Architecture</a:t>
              </a:r>
            </a:p>
          </p:txBody>
        </p:sp>
        <p:sp>
          <p:nvSpPr>
            <p:cNvPr id="109" name="Rechthoek 109"/>
            <p:cNvSpPr/>
            <p:nvPr/>
          </p:nvSpPr>
          <p:spPr>
            <a:xfrm>
              <a:off x="4271806" y="1313126"/>
              <a:ext cx="3230166" cy="2923484"/>
            </a:xfrm>
            <a:prstGeom prst="rect">
              <a:avLst/>
            </a:prstGeom>
            <a:solidFill>
              <a:srgbClr val="4B92DB">
                <a:alpha val="65000"/>
              </a:srgbClr>
            </a:solidFill>
            <a:ln w="25400"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800" b="1">
                  <a:solidFill>
                    <a:schemeClr val="bg1"/>
                  </a:solidFill>
                </a:rPr>
                <a:t>Enterprise Data Lake</a:t>
              </a:r>
            </a:p>
          </p:txBody>
        </p:sp>
        <p:sp>
          <p:nvSpPr>
            <p:cNvPr id="110" name="Rechthoek 72"/>
            <p:cNvSpPr/>
            <p:nvPr/>
          </p:nvSpPr>
          <p:spPr>
            <a:xfrm>
              <a:off x="4305382" y="1797843"/>
              <a:ext cx="559696" cy="2369437"/>
            </a:xfrm>
            <a:prstGeom prst="rect">
              <a:avLst/>
            </a:prstGeom>
            <a:solidFill>
              <a:schemeClr val="tx2">
                <a:lumMod val="60000"/>
                <a:lumOff val="40000"/>
              </a:schemeClr>
            </a:solidFill>
            <a:ln w="3175" cap="flat" cmpd="sng" algn="ctr">
              <a:noFill/>
              <a:prstDash val="solid"/>
            </a:ln>
            <a:effectLst>
              <a:outerShdw blurRad="50800" dist="38100" dir="2700000" algn="tl" rotWithShape="0">
                <a:prstClr val="black">
                  <a:alpha val="40000"/>
                </a:prstClr>
              </a:outerShdw>
            </a:effectLst>
          </p:spPr>
          <p:txBody>
            <a:bodyPr lIns="36000" tIns="45718" rIns="36000"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800" kern="0">
                  <a:solidFill>
                    <a:schemeClr val="bg1"/>
                  </a:solidFill>
                  <a:cs typeface="Arial" pitchFamily="34" charset="0"/>
                </a:rPr>
                <a:t>Raw Archives</a:t>
              </a:r>
              <a:endParaRPr lang="en-GB" sz="700" kern="0">
                <a:solidFill>
                  <a:schemeClr val="bg1"/>
                </a:solidFill>
                <a:cs typeface="Arial" pitchFamily="34" charset="0"/>
              </a:endParaRPr>
            </a:p>
          </p:txBody>
        </p:sp>
        <p:sp>
          <p:nvSpPr>
            <p:cNvPr id="111" name="Rechthoek 72"/>
            <p:cNvSpPr/>
            <p:nvPr/>
          </p:nvSpPr>
          <p:spPr>
            <a:xfrm>
              <a:off x="6642081" y="1797843"/>
              <a:ext cx="808209" cy="2369438"/>
            </a:xfrm>
            <a:prstGeom prst="rect">
              <a:avLst/>
            </a:prstGeom>
            <a:solidFill>
              <a:schemeClr val="tx2">
                <a:lumMod val="60000"/>
                <a:lumOff val="40000"/>
              </a:schemeClr>
            </a:solidFill>
            <a:ln w="3175" cap="flat" cmpd="sng" algn="ctr">
              <a:noFill/>
              <a:prstDash val="solid"/>
            </a:ln>
            <a:effectLst>
              <a:outerShdw blurRad="50800" dist="38100" dir="2700000" algn="tl" rotWithShape="0">
                <a:prstClr val="black">
                  <a:alpha val="40000"/>
                </a:prstClr>
              </a:outerShdw>
            </a:effectLst>
          </p:spPr>
          <p:txBody>
            <a:bodyPr lIns="36000" tIns="45718" rIns="36000"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800" kern="0">
                  <a:solidFill>
                    <a:schemeClr val="bg1"/>
                  </a:solidFill>
                  <a:cs typeface="Arial" pitchFamily="34" charset="0"/>
                </a:rPr>
                <a:t>Defined Archive</a:t>
              </a:r>
              <a:endParaRPr lang="en-GB" sz="700" kern="0">
                <a:solidFill>
                  <a:schemeClr val="bg1"/>
                </a:solidFill>
                <a:cs typeface="Arial" pitchFamily="34" charset="0"/>
              </a:endParaRPr>
            </a:p>
          </p:txBody>
        </p:sp>
        <p:sp>
          <p:nvSpPr>
            <p:cNvPr id="112" name="Rechthoek 98"/>
            <p:cNvSpPr/>
            <p:nvPr/>
          </p:nvSpPr>
          <p:spPr>
            <a:xfrm>
              <a:off x="4934743" y="1797843"/>
              <a:ext cx="1560703" cy="2369437"/>
            </a:xfrm>
            <a:prstGeom prst="rect">
              <a:avLst/>
            </a:prstGeom>
            <a:solidFill>
              <a:srgbClr val="FD6400"/>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kern="0">
                  <a:solidFill>
                    <a:prstClr val="white"/>
                  </a:solidFill>
                  <a:cs typeface="Arial" pitchFamily="34" charset="0"/>
                </a:rPr>
                <a:t>Definition Factories </a:t>
              </a:r>
            </a:p>
          </p:txBody>
        </p:sp>
        <p:sp>
          <p:nvSpPr>
            <p:cNvPr id="113" name="Rechthoek 109"/>
            <p:cNvSpPr/>
            <p:nvPr/>
          </p:nvSpPr>
          <p:spPr>
            <a:xfrm>
              <a:off x="7568905" y="1313126"/>
              <a:ext cx="1399647" cy="2917151"/>
            </a:xfrm>
            <a:prstGeom prst="rect">
              <a:avLst/>
            </a:prstGeom>
            <a:solidFill>
              <a:srgbClr val="D795A9"/>
            </a:solidFill>
            <a:ln w="25400"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800" b="1">
                  <a:solidFill>
                    <a:schemeClr val="bg1"/>
                  </a:solidFill>
                </a:rPr>
                <a:t>Information Factories</a:t>
              </a:r>
            </a:p>
          </p:txBody>
        </p:sp>
        <p:sp>
          <p:nvSpPr>
            <p:cNvPr id="114" name="Rechthoek 109"/>
            <p:cNvSpPr/>
            <p:nvPr/>
          </p:nvSpPr>
          <p:spPr>
            <a:xfrm>
              <a:off x="3343951" y="1313126"/>
              <a:ext cx="860924" cy="2923483"/>
            </a:xfrm>
            <a:prstGeom prst="rect">
              <a:avLst/>
            </a:prstGeom>
            <a:solidFill>
              <a:srgbClr val="F79646">
                <a:alpha val="65000"/>
              </a:srgbClr>
            </a:solidFill>
            <a:ln w="25400" cap="flat" cmpd="sng" algn="ctr">
              <a:noFill/>
              <a:prstDash val="solid"/>
            </a:ln>
            <a:effectLst>
              <a:outerShdw blurRad="50800" dist="38100" dir="2700000" algn="tl" rotWithShape="0">
                <a:prstClr val="black">
                  <a:alpha val="40000"/>
                </a:prstClr>
              </a:outerShdw>
            </a:effectLst>
          </p:spPr>
          <p:txBody>
            <a:bodyPr wrap="none"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800" b="1">
                  <a:solidFill>
                    <a:schemeClr val="bg1"/>
                  </a:solidFill>
                </a:rPr>
                <a:t>Primary Processes </a:t>
              </a:r>
            </a:p>
            <a:p>
              <a:pPr algn="ctr"/>
              <a:r>
                <a:rPr lang="en-GB" sz="800" b="1">
                  <a:solidFill>
                    <a:schemeClr val="bg1"/>
                  </a:solidFill>
                </a:rPr>
                <a:t>/ Sources</a:t>
              </a:r>
            </a:p>
          </p:txBody>
        </p:sp>
        <p:sp>
          <p:nvSpPr>
            <p:cNvPr id="115" name="Rechthoek 128"/>
            <p:cNvSpPr/>
            <p:nvPr/>
          </p:nvSpPr>
          <p:spPr>
            <a:xfrm>
              <a:off x="3149063" y="3536402"/>
              <a:ext cx="3277563" cy="574069"/>
            </a:xfrm>
            <a:prstGeom prst="rect">
              <a:avLst/>
            </a:prstGeom>
            <a:solidFill>
              <a:schemeClr val="bg2">
                <a:lumMod val="50000"/>
              </a:schemeClr>
            </a:solidFill>
            <a:ln w="19050" cap="flat" cmpd="sng" algn="ctr">
              <a:noFill/>
              <a:prstDash val="dash"/>
            </a:ln>
            <a:effectLst>
              <a:outerShdw blurRad="50800" dist="38100" dir="2700000" algn="tl" rotWithShape="0">
                <a:prstClr val="black">
                  <a:alpha val="40000"/>
                </a:prstClr>
              </a:outerShdw>
            </a:effectLst>
          </p:spPr>
          <p:txBody>
            <a:bodyPr vert="vert270"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defTabSz="456965" fontAlgn="base">
                <a:spcBef>
                  <a:spcPct val="0"/>
                </a:spcBef>
                <a:spcAft>
                  <a:spcPct val="0"/>
                </a:spcAft>
              </a:pPr>
              <a:endParaRPr lang="en-GB" sz="800" kern="0">
                <a:solidFill>
                  <a:srgbClr val="000099"/>
                </a:solidFill>
                <a:cs typeface="Arial" pitchFamily="34" charset="0"/>
              </a:endParaRPr>
            </a:p>
          </p:txBody>
        </p:sp>
        <p:sp>
          <p:nvSpPr>
            <p:cNvPr id="116" name="Rechthoek 111"/>
            <p:cNvSpPr/>
            <p:nvPr/>
          </p:nvSpPr>
          <p:spPr>
            <a:xfrm>
              <a:off x="3149063" y="2881167"/>
              <a:ext cx="3277563" cy="574069"/>
            </a:xfrm>
            <a:prstGeom prst="rect">
              <a:avLst/>
            </a:prstGeom>
            <a:solidFill>
              <a:schemeClr val="bg2">
                <a:lumMod val="50000"/>
              </a:schemeClr>
            </a:solidFill>
            <a:ln w="19050" cap="flat" cmpd="sng" algn="ctr">
              <a:noFill/>
              <a:prstDash val="dash"/>
            </a:ln>
            <a:effectLst>
              <a:outerShdw blurRad="50800" dist="38100" dir="2700000" algn="tl" rotWithShape="0">
                <a:prstClr val="black">
                  <a:alpha val="40000"/>
                </a:prstClr>
              </a:outerShdw>
            </a:effectLst>
          </p:spPr>
          <p:txBody>
            <a:bodyPr vert="vert270"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defTabSz="456965" fontAlgn="base">
                <a:spcBef>
                  <a:spcPct val="0"/>
                </a:spcBef>
                <a:spcAft>
                  <a:spcPct val="0"/>
                </a:spcAft>
              </a:pPr>
              <a:endParaRPr lang="en-GB" sz="800" kern="0">
                <a:solidFill>
                  <a:srgbClr val="000099"/>
                </a:solidFill>
                <a:cs typeface="Arial" pitchFamily="34" charset="0"/>
              </a:endParaRPr>
            </a:p>
          </p:txBody>
        </p:sp>
        <p:sp>
          <p:nvSpPr>
            <p:cNvPr id="117" name="Rechthoek 147"/>
            <p:cNvSpPr/>
            <p:nvPr/>
          </p:nvSpPr>
          <p:spPr>
            <a:xfrm>
              <a:off x="3155042" y="2215305"/>
              <a:ext cx="3277564" cy="574069"/>
            </a:xfrm>
            <a:prstGeom prst="rect">
              <a:avLst/>
            </a:prstGeom>
            <a:solidFill>
              <a:schemeClr val="bg2">
                <a:lumMod val="50000"/>
              </a:schemeClr>
            </a:solidFill>
            <a:ln w="19050" cap="flat" cmpd="sng" algn="ctr">
              <a:noFill/>
              <a:prstDash val="dash"/>
            </a:ln>
            <a:effectLst>
              <a:outerShdw blurRad="50800" dist="38100" dir="2700000" algn="tl" rotWithShape="0">
                <a:prstClr val="black">
                  <a:alpha val="40000"/>
                </a:prstClr>
              </a:outerShdw>
            </a:effectLst>
          </p:spPr>
          <p:txBody>
            <a:bodyPr vert="vert270"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defTabSz="456965" fontAlgn="base">
                <a:spcBef>
                  <a:spcPct val="0"/>
                </a:spcBef>
                <a:spcAft>
                  <a:spcPct val="0"/>
                </a:spcAft>
                <a:defRPr/>
              </a:pPr>
              <a:endParaRPr lang="en-GB" sz="800" kern="0">
                <a:solidFill>
                  <a:srgbClr val="000099"/>
                </a:solidFill>
                <a:cs typeface="Arial" pitchFamily="34" charset="0"/>
              </a:endParaRPr>
            </a:p>
          </p:txBody>
        </p:sp>
        <p:sp>
          <p:nvSpPr>
            <p:cNvPr id="118" name="Rechthoek 178"/>
            <p:cNvSpPr/>
            <p:nvPr/>
          </p:nvSpPr>
          <p:spPr>
            <a:xfrm>
              <a:off x="5868246" y="2541127"/>
              <a:ext cx="522871" cy="191352"/>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0" rIns="0" bIns="0"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Defined Data</a:t>
              </a:r>
            </a:p>
          </p:txBody>
        </p:sp>
        <p:sp>
          <p:nvSpPr>
            <p:cNvPr id="119" name="Rechthoek 182"/>
            <p:cNvSpPr/>
            <p:nvPr/>
          </p:nvSpPr>
          <p:spPr>
            <a:xfrm>
              <a:off x="5868220" y="2297148"/>
              <a:ext cx="522871" cy="191352"/>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0" rIns="0" bIns="0"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Defined Data</a:t>
              </a:r>
            </a:p>
          </p:txBody>
        </p:sp>
        <p:cxnSp>
          <p:nvCxnSpPr>
            <p:cNvPr id="120" name="Rechte verbindingslijn met pijl 186"/>
            <p:cNvCxnSpPr/>
            <p:nvPr/>
          </p:nvCxnSpPr>
          <p:spPr>
            <a:xfrm>
              <a:off x="4827146" y="2383196"/>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1" name="Rechthoek 85"/>
            <p:cNvSpPr/>
            <p:nvPr/>
          </p:nvSpPr>
          <p:spPr>
            <a:xfrm>
              <a:off x="4393738" y="2296516"/>
              <a:ext cx="400415" cy="191984"/>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Raw Data</a:t>
              </a:r>
            </a:p>
          </p:txBody>
        </p:sp>
        <p:sp>
          <p:nvSpPr>
            <p:cNvPr id="122" name="Rechthoek 90"/>
            <p:cNvSpPr/>
            <p:nvPr/>
          </p:nvSpPr>
          <p:spPr>
            <a:xfrm>
              <a:off x="4391935" y="2541100"/>
              <a:ext cx="400415" cy="182384"/>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Raw Data</a:t>
              </a:r>
            </a:p>
          </p:txBody>
        </p:sp>
        <p:sp>
          <p:nvSpPr>
            <p:cNvPr id="123" name="Rechthoek 136"/>
            <p:cNvSpPr/>
            <p:nvPr/>
          </p:nvSpPr>
          <p:spPr>
            <a:xfrm>
              <a:off x="5002934" y="2294879"/>
              <a:ext cx="664921" cy="460149"/>
            </a:xfrm>
            <a:prstGeom prst="rect">
              <a:avLst/>
            </a:prstGeom>
            <a:solidFill>
              <a:srgbClr val="FD6400"/>
            </a:solidFill>
            <a:ln w="25400" cap="flat" cmpd="sng" algn="ctr">
              <a:noFill/>
              <a:prstDash val="solid"/>
            </a:ln>
            <a:effectLst>
              <a:outerShdw blurRad="50800" dist="38100" dir="2700000" algn="tl" rotWithShape="0">
                <a:prstClr val="black">
                  <a:alpha val="40000"/>
                </a:prstClr>
              </a:outerShdw>
            </a:effectLst>
          </p:spPr>
          <p:txBody>
            <a:bodyPr lIns="36000" tIns="45718" rIns="3600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kern="0">
                  <a:solidFill>
                    <a:prstClr val="white"/>
                  </a:solidFill>
                  <a:cs typeface="Arial" pitchFamily="34" charset="0"/>
                </a:rPr>
                <a:t>Defining &amp; Curating data</a:t>
              </a:r>
            </a:p>
          </p:txBody>
        </p:sp>
        <p:sp>
          <p:nvSpPr>
            <p:cNvPr id="124" name="Rechthoek 151"/>
            <p:cNvSpPr/>
            <p:nvPr/>
          </p:nvSpPr>
          <p:spPr>
            <a:xfrm>
              <a:off x="4271805" y="4454000"/>
              <a:ext cx="4696746" cy="520499"/>
            </a:xfrm>
            <a:prstGeom prst="rect">
              <a:avLst/>
            </a:prstGeom>
            <a:solidFill>
              <a:schemeClr val="bg1">
                <a:lumMod val="65000"/>
              </a:schemeClr>
            </a:solidFill>
            <a:ln w="25400"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800" b="1">
                  <a:solidFill>
                    <a:schemeClr val="bg1"/>
                  </a:solidFill>
                </a:rPr>
                <a:t>Data Labs</a:t>
              </a:r>
            </a:p>
          </p:txBody>
        </p:sp>
        <p:cxnSp>
          <p:nvCxnSpPr>
            <p:cNvPr id="125" name="Rechte verbindingslijn met pijl 68"/>
            <p:cNvCxnSpPr/>
            <p:nvPr/>
          </p:nvCxnSpPr>
          <p:spPr>
            <a:xfrm>
              <a:off x="4827146" y="2656220"/>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Rechte verbindingslijn met pijl 70"/>
            <p:cNvCxnSpPr/>
            <p:nvPr/>
          </p:nvCxnSpPr>
          <p:spPr>
            <a:xfrm>
              <a:off x="5691832" y="2383303"/>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7" name="Rechte verbindingslijn met pijl 71"/>
            <p:cNvCxnSpPr/>
            <p:nvPr/>
          </p:nvCxnSpPr>
          <p:spPr>
            <a:xfrm>
              <a:off x="5686030" y="2642441"/>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Rechte verbindingslijn met pijl 77"/>
            <p:cNvCxnSpPr/>
            <p:nvPr/>
          </p:nvCxnSpPr>
          <p:spPr>
            <a:xfrm>
              <a:off x="6464647" y="2636803"/>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9" name="Rechte verbindingslijn met pijl 78"/>
            <p:cNvCxnSpPr/>
            <p:nvPr/>
          </p:nvCxnSpPr>
          <p:spPr>
            <a:xfrm>
              <a:off x="6458030" y="2408114"/>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0" name="Rechthoek 96"/>
            <p:cNvSpPr/>
            <p:nvPr/>
          </p:nvSpPr>
          <p:spPr>
            <a:xfrm>
              <a:off x="5862267" y="3206989"/>
              <a:ext cx="522871" cy="191352"/>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0" rIns="0" bIns="0"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Defined Data</a:t>
              </a:r>
            </a:p>
          </p:txBody>
        </p:sp>
        <p:sp>
          <p:nvSpPr>
            <p:cNvPr id="131" name="Rechthoek 97"/>
            <p:cNvSpPr/>
            <p:nvPr/>
          </p:nvSpPr>
          <p:spPr>
            <a:xfrm>
              <a:off x="5862241" y="2960906"/>
              <a:ext cx="522871" cy="191352"/>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0" rIns="0" bIns="0"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Defined Data</a:t>
              </a:r>
            </a:p>
          </p:txBody>
        </p:sp>
        <p:cxnSp>
          <p:nvCxnSpPr>
            <p:cNvPr id="132" name="Rechte verbindingslijn met pijl 99"/>
            <p:cNvCxnSpPr/>
            <p:nvPr/>
          </p:nvCxnSpPr>
          <p:spPr>
            <a:xfrm>
              <a:off x="4821167" y="3049058"/>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echthoek 101"/>
            <p:cNvSpPr/>
            <p:nvPr/>
          </p:nvSpPr>
          <p:spPr>
            <a:xfrm>
              <a:off x="4390934" y="2962377"/>
              <a:ext cx="400415" cy="184278"/>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Raw Data</a:t>
              </a:r>
            </a:p>
          </p:txBody>
        </p:sp>
        <p:sp>
          <p:nvSpPr>
            <p:cNvPr id="134" name="Rechthoek 104"/>
            <p:cNvSpPr/>
            <p:nvPr/>
          </p:nvSpPr>
          <p:spPr>
            <a:xfrm>
              <a:off x="4389131" y="3206991"/>
              <a:ext cx="400415" cy="182356"/>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Raw Data</a:t>
              </a:r>
            </a:p>
          </p:txBody>
        </p:sp>
        <p:cxnSp>
          <p:nvCxnSpPr>
            <p:cNvPr id="135" name="Rechte verbindingslijn met pijl 112"/>
            <p:cNvCxnSpPr/>
            <p:nvPr/>
          </p:nvCxnSpPr>
          <p:spPr>
            <a:xfrm>
              <a:off x="4821167" y="3322082"/>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Rechte verbindingslijn met pijl 113"/>
            <p:cNvCxnSpPr/>
            <p:nvPr/>
          </p:nvCxnSpPr>
          <p:spPr>
            <a:xfrm>
              <a:off x="5685853" y="3049164"/>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Rechte verbindingslijn met pijl 114"/>
            <p:cNvCxnSpPr/>
            <p:nvPr/>
          </p:nvCxnSpPr>
          <p:spPr>
            <a:xfrm>
              <a:off x="5680051" y="3308302"/>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Rechthoek 137"/>
            <p:cNvSpPr/>
            <p:nvPr/>
          </p:nvSpPr>
          <p:spPr>
            <a:xfrm>
              <a:off x="3415158" y="2541100"/>
              <a:ext cx="675079" cy="181866"/>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Market</a:t>
              </a:r>
            </a:p>
          </p:txBody>
        </p:sp>
        <p:sp>
          <p:nvSpPr>
            <p:cNvPr id="139" name="Rechthoek 289"/>
            <p:cNvSpPr/>
            <p:nvPr/>
          </p:nvSpPr>
          <p:spPr>
            <a:xfrm>
              <a:off x="3415158" y="2297036"/>
              <a:ext cx="675079" cy="191465"/>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Customer</a:t>
              </a:r>
            </a:p>
          </p:txBody>
        </p:sp>
        <p:sp>
          <p:nvSpPr>
            <p:cNvPr id="140" name="Rechthoek 94"/>
            <p:cNvSpPr/>
            <p:nvPr/>
          </p:nvSpPr>
          <p:spPr>
            <a:xfrm>
              <a:off x="3409179" y="3201531"/>
              <a:ext cx="675079" cy="187296"/>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Transaction</a:t>
              </a:r>
            </a:p>
          </p:txBody>
        </p:sp>
        <p:sp>
          <p:nvSpPr>
            <p:cNvPr id="141" name="Rechthoek 95"/>
            <p:cNvSpPr/>
            <p:nvPr/>
          </p:nvSpPr>
          <p:spPr>
            <a:xfrm>
              <a:off x="3409179" y="2962898"/>
              <a:ext cx="675079" cy="183758"/>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Product</a:t>
              </a:r>
            </a:p>
          </p:txBody>
        </p:sp>
        <p:sp>
          <p:nvSpPr>
            <p:cNvPr id="142" name="Rechthoek 117"/>
            <p:cNvSpPr/>
            <p:nvPr/>
          </p:nvSpPr>
          <p:spPr>
            <a:xfrm>
              <a:off x="3409179" y="3856766"/>
              <a:ext cx="675079" cy="187297"/>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a:t>
              </a:r>
            </a:p>
          </p:txBody>
        </p:sp>
        <p:sp>
          <p:nvSpPr>
            <p:cNvPr id="143" name="Rechthoek 118"/>
            <p:cNvSpPr/>
            <p:nvPr/>
          </p:nvSpPr>
          <p:spPr>
            <a:xfrm>
              <a:off x="3409179" y="3618132"/>
              <a:ext cx="675079" cy="183758"/>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External</a:t>
              </a:r>
            </a:p>
          </p:txBody>
        </p:sp>
        <p:sp>
          <p:nvSpPr>
            <p:cNvPr id="144" name="Rechthoek 120"/>
            <p:cNvSpPr/>
            <p:nvPr/>
          </p:nvSpPr>
          <p:spPr>
            <a:xfrm>
              <a:off x="5859092" y="3862225"/>
              <a:ext cx="522871" cy="191352"/>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0" rIns="0" bIns="0"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Defined Data</a:t>
              </a:r>
            </a:p>
          </p:txBody>
        </p:sp>
        <p:sp>
          <p:nvSpPr>
            <p:cNvPr id="145" name="Rechthoek 121"/>
            <p:cNvSpPr/>
            <p:nvPr/>
          </p:nvSpPr>
          <p:spPr>
            <a:xfrm>
              <a:off x="5859360" y="3615975"/>
              <a:ext cx="522871" cy="191352"/>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0" rIns="0" bIns="0"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Defined Data</a:t>
              </a:r>
            </a:p>
          </p:txBody>
        </p:sp>
        <p:cxnSp>
          <p:nvCxnSpPr>
            <p:cNvPr id="146" name="Rechte verbindingslijn met pijl 122"/>
            <p:cNvCxnSpPr/>
            <p:nvPr/>
          </p:nvCxnSpPr>
          <p:spPr>
            <a:xfrm>
              <a:off x="4821167" y="3704293"/>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7" name="Rechthoek 123"/>
            <p:cNvSpPr/>
            <p:nvPr/>
          </p:nvSpPr>
          <p:spPr>
            <a:xfrm>
              <a:off x="4384539" y="3617614"/>
              <a:ext cx="400415" cy="184277"/>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Raw Data</a:t>
              </a:r>
            </a:p>
          </p:txBody>
        </p:sp>
        <p:sp>
          <p:nvSpPr>
            <p:cNvPr id="148" name="Rechthoek 126"/>
            <p:cNvSpPr/>
            <p:nvPr/>
          </p:nvSpPr>
          <p:spPr>
            <a:xfrm>
              <a:off x="4385956" y="3862225"/>
              <a:ext cx="400415" cy="182355"/>
            </a:xfrm>
            <a:prstGeom prst="rect">
              <a:avLst/>
            </a:prstGeom>
            <a:solidFill>
              <a:srgbClr val="99CCFF"/>
            </a:solidFill>
            <a:ln w="3175" cap="flat" cmpd="sng" algn="ctr">
              <a:solidFill>
                <a:schemeClr val="accent5">
                  <a:lumMod val="20000"/>
                  <a:lumOff val="80000"/>
                </a:schemeClr>
              </a:solid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700" kern="0">
                  <a:solidFill>
                    <a:srgbClr val="000099"/>
                  </a:solidFill>
                  <a:cs typeface="Arial" pitchFamily="34" charset="0"/>
                </a:rPr>
                <a:t>Raw Data</a:t>
              </a:r>
            </a:p>
          </p:txBody>
        </p:sp>
        <p:cxnSp>
          <p:nvCxnSpPr>
            <p:cNvPr id="149" name="Rechte verbindingslijn met pijl 129"/>
            <p:cNvCxnSpPr/>
            <p:nvPr/>
          </p:nvCxnSpPr>
          <p:spPr>
            <a:xfrm>
              <a:off x="4821167" y="3977317"/>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Rechte verbindingslijn met pijl 130"/>
            <p:cNvCxnSpPr/>
            <p:nvPr/>
          </p:nvCxnSpPr>
          <p:spPr>
            <a:xfrm>
              <a:off x="5685853" y="3704400"/>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1" name="Rechte verbindingslijn met pijl 131"/>
            <p:cNvCxnSpPr/>
            <p:nvPr/>
          </p:nvCxnSpPr>
          <p:spPr>
            <a:xfrm>
              <a:off x="5680051" y="3963538"/>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2" name="Rechte verbindingslijn met pijl 186"/>
            <p:cNvCxnSpPr/>
            <p:nvPr/>
          </p:nvCxnSpPr>
          <p:spPr>
            <a:xfrm>
              <a:off x="4113618" y="2377870"/>
              <a:ext cx="271622"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3" name="Rechte verbindingslijn met pijl 68"/>
            <p:cNvCxnSpPr/>
            <p:nvPr/>
          </p:nvCxnSpPr>
          <p:spPr>
            <a:xfrm>
              <a:off x="4113618" y="2650894"/>
              <a:ext cx="271622"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4" name="Rechte verbindingslijn met pijl 99"/>
            <p:cNvCxnSpPr/>
            <p:nvPr/>
          </p:nvCxnSpPr>
          <p:spPr>
            <a:xfrm>
              <a:off x="4107639" y="3043732"/>
              <a:ext cx="271622"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5" name="Rechte verbindingslijn met pijl 112"/>
            <p:cNvCxnSpPr/>
            <p:nvPr/>
          </p:nvCxnSpPr>
          <p:spPr>
            <a:xfrm>
              <a:off x="4107639" y="3316756"/>
              <a:ext cx="271622"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6" name="Rechte verbindingslijn met pijl 122"/>
            <p:cNvCxnSpPr/>
            <p:nvPr/>
          </p:nvCxnSpPr>
          <p:spPr>
            <a:xfrm>
              <a:off x="4107639" y="3698967"/>
              <a:ext cx="271622"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7" name="Rechte verbindingslijn met pijl 129"/>
            <p:cNvCxnSpPr/>
            <p:nvPr/>
          </p:nvCxnSpPr>
          <p:spPr>
            <a:xfrm>
              <a:off x="4107639" y="3971991"/>
              <a:ext cx="271622"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8" name="Rechthoek 152"/>
            <p:cNvSpPr/>
            <p:nvPr/>
          </p:nvSpPr>
          <p:spPr>
            <a:xfrm>
              <a:off x="6857854" y="4639161"/>
              <a:ext cx="1961495" cy="289166"/>
            </a:xfrm>
            <a:prstGeom prst="rect">
              <a:avLst/>
            </a:prstGeom>
            <a:solidFill>
              <a:srgbClr val="BFBFBF"/>
            </a:solidFill>
            <a:ln w="25400" cap="flat" cmpd="sng" algn="ctr">
              <a:noFill/>
              <a:prstDash val="solid"/>
            </a:ln>
            <a:effectLst>
              <a:outerShdw blurRad="50800" dist="38100" dir="2700000" algn="tl" rotWithShape="0">
                <a:prstClr val="black">
                  <a:alpha val="40000"/>
                </a:prstClr>
              </a:outerShdw>
            </a:effectLst>
          </p:spPr>
          <p:txBody>
            <a:bodyPr lIns="91436" tIns="45718" rIns="91436" bIns="45718"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r>
                <a:rPr lang="en-GB" sz="800" b="1" err="1">
                  <a:solidFill>
                    <a:schemeClr val="bg1"/>
                  </a:solidFill>
                </a:rPr>
                <a:t>One!Lab</a:t>
              </a:r>
              <a:endParaRPr lang="en-GB" sz="800" b="1">
                <a:solidFill>
                  <a:schemeClr val="bg1"/>
                </a:solidFill>
              </a:endParaRPr>
            </a:p>
          </p:txBody>
        </p:sp>
        <p:cxnSp>
          <p:nvCxnSpPr>
            <p:cNvPr id="159" name="Rechte verbindingslijn met pijl 83"/>
            <p:cNvCxnSpPr>
              <a:stCxn id="196" idx="3"/>
            </p:cNvCxnSpPr>
            <p:nvPr/>
          </p:nvCxnSpPr>
          <p:spPr>
            <a:xfrm>
              <a:off x="4101149" y="1946215"/>
              <a:ext cx="3552064" cy="7609"/>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0" name="Rechte verbindingslijn met pijl 83"/>
            <p:cNvCxnSpPr/>
            <p:nvPr/>
          </p:nvCxnSpPr>
          <p:spPr>
            <a:xfrm>
              <a:off x="7108052" y="1954631"/>
              <a:ext cx="0" cy="260674"/>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1" name="TextBox 265"/>
            <p:cNvSpPr txBox="1"/>
            <p:nvPr/>
          </p:nvSpPr>
          <p:spPr>
            <a:xfrm rot="16200000">
              <a:off x="3005882" y="2385585"/>
              <a:ext cx="563905" cy="230832"/>
            </a:xfrm>
            <a:prstGeom prst="rect">
              <a:avLst/>
            </a:prstGeom>
            <a:noFill/>
            <a:ln w="12700">
              <a:noFill/>
            </a:ln>
          </p:spPr>
          <p:txBody>
            <a:bodyPr wrap="square" lIns="0" rIns="0" rtlCol="0" anchor="t" anchorCtr="0">
              <a:spAutoFit/>
            </a:bodyP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900">
                  <a:solidFill>
                    <a:schemeClr val="bg1"/>
                  </a:solidFill>
                </a:rPr>
                <a:t>Value Chain</a:t>
              </a:r>
            </a:p>
          </p:txBody>
        </p:sp>
        <p:sp>
          <p:nvSpPr>
            <p:cNvPr id="162" name="TextBox 266"/>
            <p:cNvSpPr txBox="1"/>
            <p:nvPr/>
          </p:nvSpPr>
          <p:spPr>
            <a:xfrm rot="16200000">
              <a:off x="2987655" y="3047703"/>
              <a:ext cx="563905" cy="230832"/>
            </a:xfrm>
            <a:prstGeom prst="rect">
              <a:avLst/>
            </a:prstGeom>
            <a:noFill/>
            <a:ln w="12700">
              <a:noFill/>
            </a:ln>
          </p:spPr>
          <p:txBody>
            <a:bodyPr wrap="square" lIns="0" rIns="0" rtlCol="0" anchor="t" anchorCtr="0">
              <a:spAutoFit/>
            </a:bodyP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900">
                  <a:solidFill>
                    <a:schemeClr val="bg1"/>
                  </a:solidFill>
                </a:rPr>
                <a:t>Value Chain</a:t>
              </a:r>
            </a:p>
          </p:txBody>
        </p:sp>
        <p:sp>
          <p:nvSpPr>
            <p:cNvPr id="163" name="TextBox 267"/>
            <p:cNvSpPr txBox="1"/>
            <p:nvPr/>
          </p:nvSpPr>
          <p:spPr>
            <a:xfrm rot="16200000">
              <a:off x="2986971" y="3702938"/>
              <a:ext cx="563905" cy="230832"/>
            </a:xfrm>
            <a:prstGeom prst="rect">
              <a:avLst/>
            </a:prstGeom>
            <a:noFill/>
            <a:ln w="12700">
              <a:noFill/>
            </a:ln>
          </p:spPr>
          <p:txBody>
            <a:bodyPr wrap="square" lIns="0" rIns="0" rtlCol="0" anchor="t" anchorCtr="0">
              <a:spAutoFit/>
            </a:bodyP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a:r>
                <a:rPr lang="en-GB" sz="900">
                  <a:solidFill>
                    <a:schemeClr val="bg1"/>
                  </a:solidFill>
                </a:rPr>
                <a:t>Value Chain</a:t>
              </a:r>
            </a:p>
          </p:txBody>
        </p:sp>
        <p:sp>
          <p:nvSpPr>
            <p:cNvPr id="164" name="Rechthoek 136"/>
            <p:cNvSpPr/>
            <p:nvPr/>
          </p:nvSpPr>
          <p:spPr>
            <a:xfrm>
              <a:off x="5026911" y="2971456"/>
              <a:ext cx="664921" cy="460149"/>
            </a:xfrm>
            <a:prstGeom prst="rect">
              <a:avLst/>
            </a:prstGeom>
            <a:solidFill>
              <a:srgbClr val="FD6400"/>
            </a:solidFill>
            <a:ln w="25400" cap="flat" cmpd="sng" algn="ctr">
              <a:noFill/>
              <a:prstDash val="solid"/>
            </a:ln>
            <a:effectLst>
              <a:outerShdw blurRad="50800" dist="38100" dir="2700000" algn="tl" rotWithShape="0">
                <a:prstClr val="black">
                  <a:alpha val="40000"/>
                </a:prstClr>
              </a:outerShdw>
            </a:effectLst>
          </p:spPr>
          <p:txBody>
            <a:bodyPr lIns="36000" tIns="45718" rIns="3600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kern="0">
                  <a:solidFill>
                    <a:prstClr val="white"/>
                  </a:solidFill>
                  <a:cs typeface="Arial" pitchFamily="34" charset="0"/>
                </a:rPr>
                <a:t>Defining &amp; Curating data</a:t>
              </a:r>
            </a:p>
          </p:txBody>
        </p:sp>
        <p:sp>
          <p:nvSpPr>
            <p:cNvPr id="165" name="Rechthoek 136"/>
            <p:cNvSpPr/>
            <p:nvPr/>
          </p:nvSpPr>
          <p:spPr>
            <a:xfrm>
              <a:off x="5021226" y="3607798"/>
              <a:ext cx="664921" cy="460149"/>
            </a:xfrm>
            <a:prstGeom prst="rect">
              <a:avLst/>
            </a:prstGeom>
            <a:solidFill>
              <a:srgbClr val="FD6400"/>
            </a:solidFill>
            <a:ln w="25400" cap="flat" cmpd="sng" algn="ctr">
              <a:noFill/>
              <a:prstDash val="solid"/>
            </a:ln>
            <a:effectLst>
              <a:outerShdw blurRad="50800" dist="38100" dir="2700000" algn="tl" rotWithShape="0">
                <a:prstClr val="black">
                  <a:alpha val="40000"/>
                </a:prstClr>
              </a:outerShdw>
            </a:effectLst>
          </p:spPr>
          <p:txBody>
            <a:bodyPr lIns="36000" tIns="45718" rIns="3600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kern="0">
                  <a:solidFill>
                    <a:prstClr val="white"/>
                  </a:solidFill>
                  <a:cs typeface="Arial" pitchFamily="34" charset="0"/>
                </a:rPr>
                <a:t>Defining &amp; Curating data</a:t>
              </a:r>
            </a:p>
          </p:txBody>
        </p:sp>
        <p:cxnSp>
          <p:nvCxnSpPr>
            <p:cNvPr id="166" name="Rechte verbindingslijn met pijl 77"/>
            <p:cNvCxnSpPr/>
            <p:nvPr/>
          </p:nvCxnSpPr>
          <p:spPr>
            <a:xfrm>
              <a:off x="6476137" y="3295179"/>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Rechte verbindingslijn met pijl 78"/>
            <p:cNvCxnSpPr/>
            <p:nvPr/>
          </p:nvCxnSpPr>
          <p:spPr>
            <a:xfrm>
              <a:off x="6469520" y="3066490"/>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Rechte verbindingslijn met pijl 77"/>
            <p:cNvCxnSpPr/>
            <p:nvPr/>
          </p:nvCxnSpPr>
          <p:spPr>
            <a:xfrm>
              <a:off x="6476137" y="3957339"/>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Rechte verbindingslijn met pijl 78"/>
            <p:cNvCxnSpPr/>
            <p:nvPr/>
          </p:nvCxnSpPr>
          <p:spPr>
            <a:xfrm>
              <a:off x="6469520" y="3728650"/>
              <a:ext cx="168655" cy="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0" name="Rechthoek 98"/>
            <p:cNvSpPr/>
            <p:nvPr/>
          </p:nvSpPr>
          <p:spPr>
            <a:xfrm>
              <a:off x="7660346" y="3609749"/>
              <a:ext cx="1159003" cy="399788"/>
            </a:xfrm>
            <a:prstGeom prst="rect">
              <a:avLst/>
            </a:prstGeom>
            <a:solidFill>
              <a:srgbClr val="BD92DE"/>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b="1" i="1">
                  <a:latin typeface="Calibri" panose="020F0502020204030204" pitchFamily="34" charset="0"/>
                  <a:cs typeface="Calibri" panose="020F0502020204030204" pitchFamily="34" charset="0"/>
                </a:rPr>
                <a:t>CAS</a:t>
              </a:r>
              <a:endParaRPr lang="en-GB" sz="800" b="1" kern="0">
                <a:solidFill>
                  <a:prstClr val="white"/>
                </a:solidFill>
                <a:cs typeface="Arial" pitchFamily="34" charset="0"/>
              </a:endParaRPr>
            </a:p>
          </p:txBody>
        </p:sp>
        <p:sp>
          <p:nvSpPr>
            <p:cNvPr id="171" name="Rechthoek 152"/>
            <p:cNvSpPr/>
            <p:nvPr/>
          </p:nvSpPr>
          <p:spPr>
            <a:xfrm>
              <a:off x="4321025" y="4644095"/>
              <a:ext cx="1227436" cy="289166"/>
            </a:xfrm>
            <a:prstGeom prst="rect">
              <a:avLst/>
            </a:prstGeom>
            <a:solidFill>
              <a:schemeClr val="bg1">
                <a:lumMod val="85000"/>
              </a:schemeClr>
            </a:solidFill>
            <a:ln w="25400" cap="flat" cmpd="sng" algn="ctr">
              <a:noFill/>
              <a:prstDash val="solid"/>
            </a:ln>
            <a:effectLst>
              <a:outerShdw blurRad="50800" dist="38100" dir="2700000" algn="tl" rotWithShape="0">
                <a:prstClr val="black">
                  <a:alpha val="40000"/>
                </a:prstClr>
              </a:outerShdw>
            </a:effectLst>
          </p:spPr>
          <p:txBody>
            <a:bodyPr lIns="91436" tIns="45718" rIns="91436" bIns="45718"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700" kern="0">
                  <a:solidFill>
                    <a:schemeClr val="bg1"/>
                  </a:solidFill>
                  <a:cs typeface="Arial" pitchFamily="34" charset="0"/>
                </a:rPr>
                <a:t>Advanced Analytics &amp; Intelligence (Data Research)</a:t>
              </a:r>
            </a:p>
          </p:txBody>
        </p:sp>
        <p:sp>
          <p:nvSpPr>
            <p:cNvPr id="172" name="Rechthoek 152"/>
            <p:cNvSpPr/>
            <p:nvPr/>
          </p:nvSpPr>
          <p:spPr>
            <a:xfrm>
              <a:off x="5601024" y="4644095"/>
              <a:ext cx="1204268" cy="289166"/>
            </a:xfrm>
            <a:prstGeom prst="rect">
              <a:avLst/>
            </a:prstGeom>
            <a:solidFill>
              <a:schemeClr val="bg1">
                <a:lumMod val="85000"/>
              </a:schemeClr>
            </a:solidFill>
            <a:ln w="25400" cap="flat" cmpd="sng" algn="ctr">
              <a:noFill/>
              <a:prstDash val="solid"/>
            </a:ln>
            <a:effectLst>
              <a:outerShdw blurRad="50800" dist="38100" dir="2700000" algn="tl" rotWithShape="0">
                <a:prstClr val="black">
                  <a:alpha val="40000"/>
                </a:prstClr>
              </a:outerShdw>
            </a:effectLst>
          </p:spPr>
          <p:txBody>
            <a:bodyPr lIns="91436" tIns="45718" rIns="91436" bIns="45718"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700">
                  <a:solidFill>
                    <a:schemeClr val="bg1"/>
                  </a:solidFill>
                </a:rPr>
                <a:t>Development of Data- &amp; Information Products</a:t>
              </a:r>
              <a:endParaRPr lang="en-GB" sz="700" kern="0">
                <a:solidFill>
                  <a:schemeClr val="bg1"/>
                </a:solidFill>
                <a:cs typeface="Arial" pitchFamily="34" charset="0"/>
              </a:endParaRPr>
            </a:p>
          </p:txBody>
        </p:sp>
        <p:sp>
          <p:nvSpPr>
            <p:cNvPr id="173" name="Rechthoek 152"/>
            <p:cNvSpPr/>
            <p:nvPr/>
          </p:nvSpPr>
          <p:spPr>
            <a:xfrm>
              <a:off x="4305382" y="2124556"/>
              <a:ext cx="2193187" cy="2069417"/>
            </a:xfrm>
            <a:prstGeom prst="rect">
              <a:avLst/>
            </a:prstGeom>
            <a:solidFill>
              <a:srgbClr val="BFBFBF">
                <a:alpha val="80000"/>
              </a:srgbClr>
            </a:solidFill>
            <a:ln w="25400" cap="flat" cmpd="sng" algn="ctr">
              <a:noFill/>
              <a:prstDash val="solid"/>
            </a:ln>
            <a:effectLst/>
          </p:spPr>
          <p:txBody>
            <a:bodyPr lIns="91436" tIns="45718" rIns="91436" bIns="45718"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endParaRPr lang="en-GB" sz="700" kern="0">
                <a:solidFill>
                  <a:prstClr val="black">
                    <a:lumMod val="85000"/>
                    <a:lumOff val="15000"/>
                  </a:prstClr>
                </a:solidFill>
                <a:cs typeface="Arial" pitchFamily="34" charset="0"/>
              </a:endParaRPr>
            </a:p>
          </p:txBody>
        </p:sp>
        <p:sp>
          <p:nvSpPr>
            <p:cNvPr id="174" name="Rechthoek 139"/>
            <p:cNvSpPr/>
            <p:nvPr/>
          </p:nvSpPr>
          <p:spPr>
            <a:xfrm>
              <a:off x="6719433" y="2236071"/>
              <a:ext cx="654814" cy="486895"/>
            </a:xfrm>
            <a:prstGeom prst="rect">
              <a:avLst/>
            </a:prstGeom>
            <a:solidFill>
              <a:srgbClr val="99CCFF"/>
            </a:solidFill>
            <a:ln w="3175" cap="flat" cmpd="sng" algn="ctr">
              <a:no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65" fontAlgn="base">
                <a:spcBef>
                  <a:spcPct val="0"/>
                </a:spcBef>
                <a:spcAft>
                  <a:spcPct val="0"/>
                </a:spcAft>
              </a:pPr>
              <a:r>
                <a:rPr lang="en-GB" sz="600" b="1" kern="0">
                  <a:solidFill>
                    <a:srgbClr val="000099"/>
                  </a:solidFill>
                  <a:cs typeface="Arial" pitchFamily="34" charset="0"/>
                </a:rPr>
                <a:t>EDA:</a:t>
              </a:r>
            </a:p>
            <a:p>
              <a:pPr algn="ctr" defTabSz="456965" fontAlgn="base">
                <a:spcBef>
                  <a:spcPct val="0"/>
                </a:spcBef>
                <a:spcAft>
                  <a:spcPct val="0"/>
                </a:spcAft>
              </a:pPr>
              <a:r>
                <a:rPr lang="en-GB" sz="600" kern="0">
                  <a:solidFill>
                    <a:srgbClr val="000099"/>
                  </a:solidFill>
                  <a:cs typeface="Arial" pitchFamily="34" charset="0"/>
                </a:rPr>
                <a:t>Any Type of Structured &amp; Unstructured data</a:t>
              </a:r>
            </a:p>
          </p:txBody>
        </p:sp>
        <p:sp>
          <p:nvSpPr>
            <p:cNvPr id="175" name="Rechthoek 142"/>
            <p:cNvSpPr/>
            <p:nvPr/>
          </p:nvSpPr>
          <p:spPr>
            <a:xfrm>
              <a:off x="6719105" y="2916800"/>
              <a:ext cx="654159" cy="486895"/>
            </a:xfrm>
            <a:prstGeom prst="rect">
              <a:avLst/>
            </a:prstGeom>
            <a:solidFill>
              <a:srgbClr val="99CCFF"/>
            </a:solidFill>
            <a:ln w="3175" cap="flat" cmpd="sng" algn="ctr">
              <a:no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77" fontAlgn="base">
                <a:spcBef>
                  <a:spcPct val="0"/>
                </a:spcBef>
                <a:spcAft>
                  <a:spcPct val="0"/>
                </a:spcAft>
              </a:pPr>
              <a:r>
                <a:rPr lang="en-GB" sz="600" b="1" kern="0">
                  <a:solidFill>
                    <a:srgbClr val="000099"/>
                  </a:solidFill>
                  <a:cs typeface="Arial" pitchFamily="34" charset="0"/>
                </a:rPr>
                <a:t>GRFD:</a:t>
              </a:r>
            </a:p>
            <a:p>
              <a:pPr algn="ctr" defTabSz="456977" fontAlgn="base">
                <a:spcBef>
                  <a:spcPct val="0"/>
                </a:spcBef>
                <a:spcAft>
                  <a:spcPct val="0"/>
                </a:spcAft>
              </a:pPr>
              <a:r>
                <a:rPr lang="en-GB" sz="600" kern="0">
                  <a:solidFill>
                    <a:srgbClr val="000099"/>
                  </a:solidFill>
                  <a:cs typeface="Arial" pitchFamily="34" charset="0"/>
                </a:rPr>
                <a:t>Fully Validated Structured Data</a:t>
              </a:r>
            </a:p>
          </p:txBody>
        </p:sp>
        <p:sp>
          <p:nvSpPr>
            <p:cNvPr id="176" name="Rechthoek 142">
              <a:extLst>
                <a:ext uri="{FF2B5EF4-FFF2-40B4-BE49-F238E27FC236}">
                  <a16:creationId xmlns:a16="http://schemas.microsoft.com/office/drawing/2014/main" id="{FBC48C51-7D3A-6F4A-B91F-A85B037B0C55}"/>
                </a:ext>
              </a:extLst>
            </p:cNvPr>
            <p:cNvSpPr/>
            <p:nvPr/>
          </p:nvSpPr>
          <p:spPr>
            <a:xfrm>
              <a:off x="6719433" y="3597787"/>
              <a:ext cx="653831" cy="490618"/>
            </a:xfrm>
            <a:prstGeom prst="rect">
              <a:avLst/>
            </a:prstGeom>
            <a:solidFill>
              <a:srgbClr val="99CCFF"/>
            </a:solidFill>
            <a:ln w="3175" cap="flat" cmpd="sng" algn="ctr">
              <a:noFill/>
              <a:prstDash val="solid"/>
            </a:ln>
            <a:effectLst>
              <a:outerShdw blurRad="50800" dist="38100" dir="2700000" algn="tl" rotWithShape="0">
                <a:prstClr val="black">
                  <a:alpha val="40000"/>
                </a:prstClr>
              </a:outerShdw>
            </a:effectLst>
          </p:spPr>
          <p:txBody>
            <a:bodyPr lIns="0" tIns="45718" rIns="0" bIns="45718" rtlCol="0" anchor="ctr"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6977" fontAlgn="base">
                <a:spcBef>
                  <a:spcPct val="0"/>
                </a:spcBef>
                <a:spcAft>
                  <a:spcPct val="0"/>
                </a:spcAft>
              </a:pPr>
              <a:r>
                <a:rPr lang="en-GB" sz="600" b="1" kern="0">
                  <a:solidFill>
                    <a:srgbClr val="000099"/>
                  </a:solidFill>
                  <a:cs typeface="Arial" pitchFamily="34" charset="0"/>
                </a:rPr>
                <a:t>HISDA:</a:t>
              </a:r>
            </a:p>
            <a:p>
              <a:pPr algn="ctr" defTabSz="456977" fontAlgn="base">
                <a:spcBef>
                  <a:spcPct val="0"/>
                </a:spcBef>
                <a:spcAft>
                  <a:spcPct val="0"/>
                </a:spcAft>
              </a:pPr>
              <a:r>
                <a:rPr lang="en-GB" sz="600" kern="0">
                  <a:solidFill>
                    <a:srgbClr val="000099"/>
                  </a:solidFill>
                  <a:cs typeface="Arial" pitchFamily="34" charset="0"/>
                </a:rPr>
                <a:t>Strictly Protected (historical) Data</a:t>
              </a:r>
            </a:p>
          </p:txBody>
        </p:sp>
        <p:sp>
          <p:nvSpPr>
            <p:cNvPr id="178" name="Rechthoek 98"/>
            <p:cNvSpPr/>
            <p:nvPr/>
          </p:nvSpPr>
          <p:spPr>
            <a:xfrm>
              <a:off x="7941065" y="2686222"/>
              <a:ext cx="944683" cy="448766"/>
            </a:xfrm>
            <a:prstGeom prst="rect">
              <a:avLst/>
            </a:prstGeom>
            <a:solidFill>
              <a:srgbClr val="FFFF93"/>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i="1">
                  <a:latin typeface="Calibri" panose="020F0502020204030204" pitchFamily="34" charset="0"/>
                  <a:cs typeface="Calibri" panose="020F0502020204030204" pitchFamily="34" charset="0"/>
                </a:rPr>
                <a:t>Information Factories Risk</a:t>
              </a:r>
              <a:endParaRPr lang="en-GB" sz="800" kern="0">
                <a:solidFill>
                  <a:prstClr val="white"/>
                </a:solidFill>
                <a:cs typeface="Arial" pitchFamily="34" charset="0"/>
              </a:endParaRPr>
            </a:p>
          </p:txBody>
        </p:sp>
        <p:sp>
          <p:nvSpPr>
            <p:cNvPr id="179" name="Rechthoek 98"/>
            <p:cNvSpPr/>
            <p:nvPr/>
          </p:nvSpPr>
          <p:spPr>
            <a:xfrm>
              <a:off x="7798586" y="2620572"/>
              <a:ext cx="944683" cy="448766"/>
            </a:xfrm>
            <a:prstGeom prst="rect">
              <a:avLst/>
            </a:prstGeom>
            <a:solidFill>
              <a:srgbClr val="FFFF93"/>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i="1">
                  <a:latin typeface="Calibri" panose="020F0502020204030204" pitchFamily="34" charset="0"/>
                  <a:cs typeface="Calibri" panose="020F0502020204030204" pitchFamily="34" charset="0"/>
                </a:rPr>
                <a:t>Information Factories Risk</a:t>
              </a:r>
              <a:endParaRPr lang="en-GB" sz="800" kern="0">
                <a:solidFill>
                  <a:prstClr val="white"/>
                </a:solidFill>
                <a:cs typeface="Arial" pitchFamily="34" charset="0"/>
              </a:endParaRPr>
            </a:p>
          </p:txBody>
        </p:sp>
        <p:grpSp>
          <p:nvGrpSpPr>
            <p:cNvPr id="180" name="Groep 160"/>
            <p:cNvGrpSpPr/>
            <p:nvPr/>
          </p:nvGrpSpPr>
          <p:grpSpPr>
            <a:xfrm>
              <a:off x="4600242" y="4233337"/>
              <a:ext cx="3977887" cy="232874"/>
              <a:chOff x="4600242" y="4233337"/>
              <a:chExt cx="3977887" cy="129223"/>
            </a:xfrm>
          </p:grpSpPr>
          <p:cxnSp>
            <p:nvCxnSpPr>
              <p:cNvPr id="181" name="Rechte verbindingslijn met pijl 144"/>
              <p:cNvCxnSpPr/>
              <p:nvPr/>
            </p:nvCxnSpPr>
            <p:spPr>
              <a:xfrm>
                <a:off x="4600242" y="4236609"/>
                <a:ext cx="1372" cy="125951"/>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2" name="Rechte verbindingslijn met pijl 145"/>
              <p:cNvCxnSpPr/>
              <p:nvPr/>
            </p:nvCxnSpPr>
            <p:spPr>
              <a:xfrm>
                <a:off x="6134574" y="4236608"/>
                <a:ext cx="1372" cy="119799"/>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Rechte verbindingslijn met pijl 146"/>
              <p:cNvCxnSpPr/>
              <p:nvPr/>
            </p:nvCxnSpPr>
            <p:spPr>
              <a:xfrm>
                <a:off x="7055421" y="4236609"/>
                <a:ext cx="1372" cy="120950"/>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4" name="Rechte verbindingslijn met pijl 146"/>
              <p:cNvCxnSpPr/>
              <p:nvPr/>
            </p:nvCxnSpPr>
            <p:spPr>
              <a:xfrm>
                <a:off x="8039364" y="4236609"/>
                <a:ext cx="1372" cy="125951"/>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5" name="Rechte verbindingslijn met pijl 144"/>
              <p:cNvCxnSpPr/>
              <p:nvPr/>
            </p:nvCxnSpPr>
            <p:spPr>
              <a:xfrm flipH="1" flipV="1">
                <a:off x="8578128" y="4233337"/>
                <a:ext cx="1" cy="122414"/>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Rechte verbindingslijn met pijl 144">
                <a:extLst>
                  <a:ext uri="{FF2B5EF4-FFF2-40B4-BE49-F238E27FC236}">
                    <a16:creationId xmlns:a16="http://schemas.microsoft.com/office/drawing/2014/main" id="{82C20AFA-A183-ED42-9954-BF577EA6173B}"/>
                  </a:ext>
                </a:extLst>
              </p:cNvPr>
              <p:cNvCxnSpPr/>
              <p:nvPr/>
            </p:nvCxnSpPr>
            <p:spPr>
              <a:xfrm flipH="1" flipV="1">
                <a:off x="5336913" y="4235212"/>
                <a:ext cx="1" cy="122414"/>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87" name="Rechte verbindingslijn met pijl 83"/>
            <p:cNvCxnSpPr>
              <a:stCxn id="111" idx="3"/>
              <a:endCxn id="191" idx="1"/>
            </p:cNvCxnSpPr>
            <p:nvPr/>
          </p:nvCxnSpPr>
          <p:spPr>
            <a:xfrm flipV="1">
              <a:off x="7450290" y="2780738"/>
              <a:ext cx="210056" cy="201824"/>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Rechte verbindingslijn met pijl 83"/>
            <p:cNvCxnSpPr/>
            <p:nvPr/>
          </p:nvCxnSpPr>
          <p:spPr>
            <a:xfrm flipV="1">
              <a:off x="7450290" y="2206072"/>
              <a:ext cx="210056" cy="765311"/>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Rechte verbindingslijn met pijl 83"/>
            <p:cNvCxnSpPr/>
            <p:nvPr/>
          </p:nvCxnSpPr>
          <p:spPr>
            <a:xfrm flipV="1">
              <a:off x="8029791" y="3005121"/>
              <a:ext cx="15838" cy="613011"/>
            </a:xfrm>
            <a:prstGeom prst="straightConnector1">
              <a:avLst/>
            </a:prstGeom>
            <a:ln w="3175">
              <a:solidFill>
                <a:schemeClr val="tx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Rechthoek 98"/>
            <p:cNvSpPr/>
            <p:nvPr/>
          </p:nvSpPr>
          <p:spPr>
            <a:xfrm>
              <a:off x="7660346" y="2556355"/>
              <a:ext cx="938223" cy="448766"/>
            </a:xfrm>
            <a:prstGeom prst="rect">
              <a:avLst/>
            </a:prstGeom>
            <a:solidFill>
              <a:srgbClr val="FFFF93"/>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455602" fontAlgn="base">
                <a:spcBef>
                  <a:spcPct val="0"/>
                </a:spcBef>
                <a:spcAft>
                  <a:spcPct val="0"/>
                </a:spcAft>
                <a:defRPr/>
              </a:pPr>
              <a:r>
                <a:rPr lang="en-GB" sz="800" i="1">
                  <a:latin typeface="Calibri" panose="020F0502020204030204" pitchFamily="34" charset="0"/>
                  <a:cs typeface="Calibri" panose="020F0502020204030204" pitchFamily="34" charset="0"/>
                </a:rPr>
                <a:t>Information Factories using Risk Models</a:t>
              </a:r>
              <a:endParaRPr lang="en-GB" sz="800" kern="0">
                <a:solidFill>
                  <a:prstClr val="white"/>
                </a:solidFill>
                <a:cs typeface="Arial" pitchFamily="34" charset="0"/>
              </a:endParaRPr>
            </a:p>
          </p:txBody>
        </p:sp>
        <p:cxnSp>
          <p:nvCxnSpPr>
            <p:cNvPr id="192" name="Elbow Connector 191"/>
            <p:cNvCxnSpPr>
              <a:stCxn id="195" idx="3"/>
              <a:endCxn id="170" idx="3"/>
            </p:cNvCxnSpPr>
            <p:nvPr/>
          </p:nvCxnSpPr>
          <p:spPr>
            <a:xfrm>
              <a:off x="4101148" y="1759903"/>
              <a:ext cx="4718201" cy="2049740"/>
            </a:xfrm>
            <a:prstGeom prst="bentConnector3">
              <a:avLst>
                <a:gd name="adj1" fmla="val 104845"/>
              </a:avLst>
            </a:prstGeom>
            <a:ln w="3175">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4" name="Rechte verbindingslijn met pijl 83"/>
            <p:cNvCxnSpPr>
              <a:stCxn id="111" idx="3"/>
              <a:endCxn id="170" idx="1"/>
            </p:cNvCxnSpPr>
            <p:nvPr/>
          </p:nvCxnSpPr>
          <p:spPr>
            <a:xfrm>
              <a:off x="7450290" y="2982562"/>
              <a:ext cx="210056" cy="827081"/>
            </a:xfrm>
            <a:prstGeom prst="straightConnector1">
              <a:avLst/>
            </a:prstGeom>
            <a:ln w="31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5" name="Rechthoek 289"/>
            <p:cNvSpPr/>
            <p:nvPr/>
          </p:nvSpPr>
          <p:spPr>
            <a:xfrm>
              <a:off x="3426069" y="1673741"/>
              <a:ext cx="675079" cy="172323"/>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lIns="0" rIns="0"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i="1" kern="0">
                  <a:solidFill>
                    <a:sysClr val="window" lastClr="FFFFFF"/>
                  </a:solidFill>
                </a:rPr>
                <a:t>Actual Data</a:t>
              </a:r>
            </a:p>
          </p:txBody>
        </p:sp>
        <p:sp>
          <p:nvSpPr>
            <p:cNvPr id="196" name="Rechthoek 289"/>
            <p:cNvSpPr/>
            <p:nvPr/>
          </p:nvSpPr>
          <p:spPr>
            <a:xfrm>
              <a:off x="3426070" y="1860053"/>
              <a:ext cx="675079" cy="172323"/>
            </a:xfrm>
            <a:prstGeom prst="rect">
              <a:avLst/>
            </a:prstGeom>
            <a:solidFill>
              <a:srgbClr val="F79646"/>
            </a:solidFill>
            <a:ln w="25400" cap="flat" cmpd="sng" algn="ctr">
              <a:noFill/>
              <a:prstDash val="solid"/>
            </a:ln>
            <a:effectLst>
              <a:outerShdw blurRad="50800" dist="38100" dir="2700000" algn="tl" rotWithShape="0">
                <a:prstClr val="black">
                  <a:alpha val="40000"/>
                </a:prstClr>
              </a:outerShdw>
            </a:effectLst>
          </p:spPr>
          <p:txBody>
            <a:bodyPr lIns="0" rIns="0" rtlCol="0" anchor="ctr"/>
            <a:lstStyle>
              <a:defPPr>
                <a:defRPr lang="nl-NL"/>
              </a:defPPr>
              <a:lvl1pPr marL="0" algn="l" defTabSz="456999" rtl="0" eaLnBrk="1" latinLnBrk="0" hangingPunct="1">
                <a:defRPr sz="1800" kern="1200">
                  <a:solidFill>
                    <a:schemeClr val="tx1"/>
                  </a:solidFill>
                  <a:latin typeface="+mn-lt"/>
                  <a:ea typeface="+mn-ea"/>
                  <a:cs typeface="+mn-cs"/>
                </a:defRPr>
              </a:lvl1pPr>
              <a:lvl2pPr marL="456999" algn="l" defTabSz="456999" rtl="0" eaLnBrk="1" latinLnBrk="0" hangingPunct="1">
                <a:defRPr sz="1800" kern="1200">
                  <a:solidFill>
                    <a:schemeClr val="tx1"/>
                  </a:solidFill>
                  <a:latin typeface="+mn-lt"/>
                  <a:ea typeface="+mn-ea"/>
                  <a:cs typeface="+mn-cs"/>
                </a:defRPr>
              </a:lvl2pPr>
              <a:lvl3pPr marL="913999" algn="l" defTabSz="456999" rtl="0" eaLnBrk="1" latinLnBrk="0" hangingPunct="1">
                <a:defRPr sz="1800" kern="1200">
                  <a:solidFill>
                    <a:schemeClr val="tx1"/>
                  </a:solidFill>
                  <a:latin typeface="+mn-lt"/>
                  <a:ea typeface="+mn-ea"/>
                  <a:cs typeface="+mn-cs"/>
                </a:defRPr>
              </a:lvl3pPr>
              <a:lvl4pPr marL="1370998" algn="l" defTabSz="456999" rtl="0" eaLnBrk="1" latinLnBrk="0" hangingPunct="1">
                <a:defRPr sz="1800" kern="1200">
                  <a:solidFill>
                    <a:schemeClr val="tx1"/>
                  </a:solidFill>
                  <a:latin typeface="+mn-lt"/>
                  <a:ea typeface="+mn-ea"/>
                  <a:cs typeface="+mn-cs"/>
                </a:defRPr>
              </a:lvl4pPr>
              <a:lvl5pPr marL="1827997" algn="l" defTabSz="456999" rtl="0" eaLnBrk="1" latinLnBrk="0" hangingPunct="1">
                <a:defRPr sz="1800" kern="1200">
                  <a:solidFill>
                    <a:schemeClr val="tx1"/>
                  </a:solidFill>
                  <a:latin typeface="+mn-lt"/>
                  <a:ea typeface="+mn-ea"/>
                  <a:cs typeface="+mn-cs"/>
                </a:defRPr>
              </a:lvl5pPr>
              <a:lvl6pPr marL="2284997" algn="l" defTabSz="456999" rtl="0" eaLnBrk="1" latinLnBrk="0" hangingPunct="1">
                <a:defRPr sz="1800" kern="1200">
                  <a:solidFill>
                    <a:schemeClr val="tx1"/>
                  </a:solidFill>
                  <a:latin typeface="+mn-lt"/>
                  <a:ea typeface="+mn-ea"/>
                  <a:cs typeface="+mn-cs"/>
                </a:defRPr>
              </a:lvl6pPr>
              <a:lvl7pPr marL="2741997" algn="l" defTabSz="456999" rtl="0" eaLnBrk="1" latinLnBrk="0" hangingPunct="1">
                <a:defRPr sz="1800" kern="1200">
                  <a:solidFill>
                    <a:schemeClr val="tx1"/>
                  </a:solidFill>
                  <a:latin typeface="+mn-lt"/>
                  <a:ea typeface="+mn-ea"/>
                  <a:cs typeface="+mn-cs"/>
                </a:defRPr>
              </a:lvl7pPr>
              <a:lvl8pPr marL="3198995" algn="l" defTabSz="456999" rtl="0" eaLnBrk="1" latinLnBrk="0" hangingPunct="1">
                <a:defRPr sz="1800" kern="1200">
                  <a:solidFill>
                    <a:schemeClr val="tx1"/>
                  </a:solidFill>
                  <a:latin typeface="+mn-lt"/>
                  <a:ea typeface="+mn-ea"/>
                  <a:cs typeface="+mn-cs"/>
                </a:defRPr>
              </a:lvl8pPr>
              <a:lvl9pPr marL="3655995" algn="l" defTabSz="456999" rtl="0" eaLnBrk="1" latinLnBrk="0" hangingPunct="1">
                <a:defRPr sz="1800" kern="1200">
                  <a:solidFill>
                    <a:schemeClr val="tx1"/>
                  </a:solidFill>
                  <a:latin typeface="+mn-lt"/>
                  <a:ea typeface="+mn-ea"/>
                  <a:cs typeface="+mn-cs"/>
                </a:defRPr>
              </a:lvl9pPr>
            </a:lstStyle>
            <a:p>
              <a:pPr algn="ctr" defTabSz="914378" fontAlgn="base">
                <a:spcBef>
                  <a:spcPct val="0"/>
                </a:spcBef>
                <a:spcAft>
                  <a:spcPct val="0"/>
                </a:spcAft>
                <a:defRPr/>
              </a:pPr>
              <a:r>
                <a:rPr lang="en-GB" sz="700" kern="0">
                  <a:solidFill>
                    <a:sysClr val="window" lastClr="FFFFFF"/>
                  </a:solidFill>
                </a:rPr>
                <a:t>Streaming Data</a:t>
              </a:r>
            </a:p>
          </p:txBody>
        </p:sp>
        <p:sp>
          <p:nvSpPr>
            <p:cNvPr id="177" name="Rechthoek 98"/>
            <p:cNvSpPr/>
            <p:nvPr/>
          </p:nvSpPr>
          <p:spPr>
            <a:xfrm>
              <a:off x="7660346" y="1849141"/>
              <a:ext cx="1149505" cy="424851"/>
            </a:xfrm>
            <a:prstGeom prst="rect">
              <a:avLst/>
            </a:prstGeom>
            <a:solidFill>
              <a:srgbClr val="B6927A"/>
            </a:solidFill>
            <a:ln w="3175" cap="flat" cmpd="sng" algn="ctr">
              <a:noFill/>
              <a:prstDash val="solid"/>
            </a:ln>
            <a:effectLst>
              <a:outerShdw blurRad="50800" dist="38100" dir="2700000" algn="tl" rotWithShape="0">
                <a:prstClr val="black">
                  <a:alpha val="40000"/>
                </a:prstClr>
              </a:outerShdw>
            </a:effectLst>
          </p:spPr>
          <p:txBody>
            <a:bodyPr lIns="91436" tIns="45718" rIns="91436" bIns="45718" rtlCol="0" anchor="t" anchorCtr="0"/>
            <a:lstStyle/>
            <a:p>
              <a:pPr algn="ctr" defTabSz="455602" fontAlgn="base">
                <a:spcBef>
                  <a:spcPct val="0"/>
                </a:spcBef>
                <a:spcAft>
                  <a:spcPct val="0"/>
                </a:spcAft>
              </a:pPr>
              <a:r>
                <a:rPr lang="en-GB" sz="800" kern="0">
                  <a:solidFill>
                    <a:prstClr val="white"/>
                  </a:solidFill>
                  <a:cs typeface="Arial" pitchFamily="34" charset="0"/>
                </a:rPr>
                <a:t>Other Information Factories</a:t>
              </a:r>
            </a:p>
          </p:txBody>
        </p:sp>
      </p:grpSp>
      <p:cxnSp>
        <p:nvCxnSpPr>
          <p:cNvPr id="106" name="Straight Arrow Connector 105"/>
          <p:cNvCxnSpPr>
            <a:endCxn id="179" idx="3"/>
          </p:cNvCxnSpPr>
          <p:nvPr/>
        </p:nvCxnSpPr>
        <p:spPr>
          <a:xfrm flipH="1">
            <a:off x="6452354" y="2410548"/>
            <a:ext cx="621634" cy="209810"/>
          </a:xfrm>
          <a:prstGeom prst="straightConnector1">
            <a:avLst/>
          </a:prstGeom>
          <a:ln w="57150">
            <a:solidFill>
              <a:srgbClr val="000099"/>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flipH="1">
                <a:off x="6984721" y="922166"/>
                <a:ext cx="1910238" cy="3647152"/>
              </a:xfrm>
              <a:prstGeom prst="rect">
                <a:avLst/>
              </a:prstGeom>
              <a:noFill/>
              <a:ln w="12700">
                <a:noFill/>
              </a:ln>
            </p:spPr>
            <p:txBody>
              <a:bodyPr wrap="square" lIns="0" rIns="0" rtlCol="0" anchor="t" anchorCtr="0">
                <a:spAutoFit/>
              </a:bodyPr>
              <a:lstStyle/>
              <a:p>
                <a:pPr marL="285750" indent="-285750">
                  <a:buFont typeface="Arial" panose="020B0604020202020204" pitchFamily="34" charset="0"/>
                  <a:buChar char="•"/>
                </a:pPr>
                <a14:m>
                  <m:oMath xmlns:m="http://schemas.openxmlformats.org/officeDocument/2006/math">
                    <m:r>
                      <m:rPr>
                        <m:sty m:val="p"/>
                      </m:rPr>
                      <a:rPr lang="en-GB" sz="1100" smtClean="0">
                        <a:solidFill>
                          <a:srgbClr val="5E6A71"/>
                        </a:solidFill>
                        <a:latin typeface="Cambria Math" panose="02040503050406030204" pitchFamily="18" charset="0"/>
                      </a:rPr>
                      <m:t>nBIF</m:t>
                    </m:r>
                  </m:oMath>
                </a14:m>
                <a:r>
                  <a:rPr lang="en-GB" sz="1100">
                    <a:solidFill>
                      <a:srgbClr val="5E6A71"/>
                    </a:solidFill>
                  </a:rPr>
                  <a:t> is positioned in the Enterprise Data Architecture as an information factory on top of the defined archive (GRFD)</a:t>
                </a:r>
              </a:p>
              <a:p>
                <a:pPr marL="285750" indent="-285750">
                  <a:buFont typeface="Arial" panose="020B0604020202020204" pitchFamily="34" charset="0"/>
                  <a:buChar char="•"/>
                </a:pPr>
                <a:endParaRPr lang="en-GB" sz="1100">
                  <a:solidFill>
                    <a:srgbClr val="5E6A71"/>
                  </a:solidFill>
                </a:endParaRPr>
              </a:p>
              <a:p>
                <a:pPr marL="285750" indent="-285750">
                  <a:buFont typeface="Arial" panose="020B0604020202020204" pitchFamily="34" charset="0"/>
                  <a:buChar char="•"/>
                </a:pPr>
                <a:endParaRPr lang="en-GB" sz="1100">
                  <a:solidFill>
                    <a:srgbClr val="5E6A71"/>
                  </a:solidFill>
                </a:endParaRPr>
              </a:p>
              <a:p>
                <a:pPr marL="285750" indent="-285750">
                  <a:buFont typeface="Arial" panose="020B0604020202020204" pitchFamily="34" charset="0"/>
                  <a:buChar char="•"/>
                </a:pPr>
                <a:endParaRPr lang="en-GB" sz="1100">
                  <a:solidFill>
                    <a:srgbClr val="5E6A71"/>
                  </a:solidFill>
                </a:endParaRPr>
              </a:p>
              <a:p>
                <a:pPr marL="285750" indent="-285750">
                  <a:buFont typeface="Arial" panose="020B0604020202020204" pitchFamily="34" charset="0"/>
                  <a:buChar char="•"/>
                </a:pPr>
                <a:endParaRPr lang="en-GB" sz="1100">
                  <a:solidFill>
                    <a:srgbClr val="5E6A71"/>
                  </a:solidFill>
                </a:endParaRPr>
              </a:p>
              <a:p>
                <a:pPr marL="285750" indent="-285750">
                  <a:buFont typeface="Arial" panose="020B0604020202020204" pitchFamily="34" charset="0"/>
                  <a:buChar char="•"/>
                </a:pPr>
                <a:endParaRPr lang="en-GB" sz="1100">
                  <a:solidFill>
                    <a:srgbClr val="5E6A71"/>
                  </a:solidFill>
                </a:endParaRPr>
              </a:p>
              <a:p>
                <a:pPr marL="285750" indent="-285750">
                  <a:buFont typeface="Arial" panose="020B0604020202020204" pitchFamily="34" charset="0"/>
                  <a:buChar char="•"/>
                </a:pPr>
                <a:endParaRPr lang="en-GB" sz="1100">
                  <a:solidFill>
                    <a:srgbClr val="5E6A71"/>
                  </a:solidFill>
                </a:endParaRPr>
              </a:p>
              <a:p>
                <a:pPr marL="285750" indent="-285750">
                  <a:buFont typeface="Arial" panose="020B0604020202020204" pitchFamily="34" charset="0"/>
                  <a:buChar char="•"/>
                </a:pPr>
                <a14:m>
                  <m:oMath xmlns:m="http://schemas.openxmlformats.org/officeDocument/2006/math">
                    <m:r>
                      <m:rPr>
                        <m:sty m:val="p"/>
                      </m:rPr>
                      <a:rPr lang="en-GB" sz="1100" smtClean="0">
                        <a:solidFill>
                          <a:srgbClr val="5E6A71"/>
                        </a:solidFill>
                        <a:latin typeface="Cambria Math" panose="02040503050406030204" pitchFamily="18" charset="0"/>
                      </a:rPr>
                      <m:t>nBIF</m:t>
                    </m:r>
                  </m:oMath>
                </a14:m>
                <a:r>
                  <a:rPr lang="en-GB" sz="1100">
                    <a:solidFill>
                      <a:srgbClr val="5E6A71"/>
                    </a:solidFill>
                  </a:rPr>
                  <a:t> is also allowed to interact with other information, because it makes use of their service (specifically CAS wherein </a:t>
                </a:r>
                <a14:m>
                  <m:oMath xmlns:m="http://schemas.openxmlformats.org/officeDocument/2006/math">
                    <m:r>
                      <m:rPr>
                        <m:sty m:val="p"/>
                      </m:rPr>
                      <a:rPr lang="en-GB" sz="1100" smtClean="0">
                        <a:solidFill>
                          <a:srgbClr val="5E6A71"/>
                        </a:solidFill>
                        <a:latin typeface="Cambria Math" panose="02040503050406030204" pitchFamily="18" charset="0"/>
                      </a:rPr>
                      <m:t>nBIF</m:t>
                    </m:r>
                  </m:oMath>
                </a14:m>
                <a:r>
                  <a:rPr lang="en-GB" sz="1100">
                    <a:solidFill>
                      <a:srgbClr val="5E6A71"/>
                    </a:solidFill>
                  </a:rPr>
                  <a:t> uses CAS service to invoke a model calculator execution).</a:t>
                </a:r>
              </a:p>
              <a:p>
                <a:pPr marL="285750" indent="-285750">
                  <a:buFont typeface="Arial" panose="020B0604020202020204" pitchFamily="34" charset="0"/>
                  <a:buChar char="•"/>
                </a:pPr>
                <a:endParaRPr lang="en-GB" sz="1100">
                  <a:solidFill>
                    <a:srgbClr val="5E6A7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flipH="1">
                <a:off x="6984721" y="922166"/>
                <a:ext cx="1910238" cy="3647152"/>
              </a:xfrm>
              <a:prstGeom prst="rect">
                <a:avLst/>
              </a:prstGeom>
              <a:blipFill>
                <a:blip r:embed="rId4"/>
                <a:stretch>
                  <a:fillRect l="-4473" r="-958"/>
                </a:stretch>
              </a:blipFill>
              <a:ln w="12700">
                <a:noFill/>
              </a:ln>
            </p:spPr>
            <p:txBody>
              <a:bodyPr/>
              <a:lstStyle/>
              <a:p>
                <a:r>
                  <a:rPr lang="en-US">
                    <a:noFill/>
                  </a:rPr>
                  <a:t> </a:t>
                </a:r>
              </a:p>
            </p:txBody>
          </p:sp>
        </mc:Fallback>
      </mc:AlternateContent>
      <p:cxnSp>
        <p:nvCxnSpPr>
          <p:cNvPr id="14" name="Straight Arrow Connector 13"/>
          <p:cNvCxnSpPr>
            <a:stCxn id="191" idx="0"/>
            <a:endCxn id="173" idx="1"/>
          </p:cNvCxnSpPr>
          <p:nvPr/>
        </p:nvCxnSpPr>
        <p:spPr>
          <a:xfrm rot="16200000" flipH="1" flipV="1">
            <a:off x="3625050" y="721175"/>
            <a:ext cx="602910" cy="3824076"/>
          </a:xfrm>
          <a:prstGeom prst="bentConnector4">
            <a:avLst>
              <a:gd name="adj1" fmla="val -263463"/>
              <a:gd name="adj2" fmla="val 139526"/>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sp>
        <p:nvSpPr>
          <p:cNvPr id="98" name="Rounded Rectangle 10">
            <a:hlinkClick r:id="rId5" action="ppaction://hlinksldjump"/>
          </p:cNvPr>
          <p:cNvSpPr/>
          <p:nvPr/>
        </p:nvSpPr>
        <p:spPr>
          <a:xfrm>
            <a:off x="938158"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427456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5814" y="191293"/>
            <a:ext cx="7464026" cy="616430"/>
          </a:xfrm>
        </p:spPr>
        <p:txBody>
          <a:bodyPr/>
          <a:lstStyle/>
          <a:p>
            <a:r>
              <a:rPr lang="en-GB"/>
              <a:t>2.2 High level business requirements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15</a:t>
            </a:fld>
            <a:endParaRPr lang="en-GB"/>
          </a:p>
        </p:txBody>
      </p:sp>
      <p:sp>
        <p:nvSpPr>
          <p:cNvPr id="19" name="Tijdelijke aanduiding voor tekst 18"/>
          <p:cNvSpPr>
            <a:spLocks noGrp="1"/>
          </p:cNvSpPr>
          <p:nvPr>
            <p:ph type="body" sz="quarter" idx="13"/>
          </p:nvPr>
        </p:nvSpPr>
        <p:spPr/>
        <p:txBody>
          <a:bodyPr/>
          <a:lstStyle/>
          <a:p>
            <a:pPr marL="0" lvl="0" indent="0" defTabSz="456999">
              <a:spcBef>
                <a:spcPts val="0"/>
              </a:spcBef>
              <a:buClrTx/>
              <a:buSzTx/>
            </a:pPr>
            <a:r>
              <a:rPr lang="nl-NL"/>
              <a:t> </a:t>
            </a:r>
            <a:r>
              <a:rPr lang="en-GB" sz="1050"/>
              <a:t>Taken as-is from </a:t>
            </a:r>
            <a:r>
              <a:rPr lang="en-GB" sz="1050" u="sng">
                <a:solidFill>
                  <a:srgbClr val="FF0000"/>
                </a:solidFill>
              </a:rPr>
              <a:t>BRD </a:t>
            </a:r>
            <a:r>
              <a:rPr lang="en-GB" sz="1050" u="sng" err="1">
                <a:solidFill>
                  <a:srgbClr val="FF0000"/>
                </a:solidFill>
              </a:rPr>
              <a:t>nBridge</a:t>
            </a:r>
            <a:r>
              <a:rPr lang="en-GB" sz="1050" u="sng">
                <a:solidFill>
                  <a:srgbClr val="FF0000"/>
                </a:solidFill>
              </a:rPr>
              <a:t> Information Factory  v1.0</a:t>
            </a:r>
          </a:p>
        </p:txBody>
      </p:sp>
      <p:sp>
        <p:nvSpPr>
          <p:cNvPr id="17410" name="Rectangle 2"/>
          <p:cNvSpPr>
            <a:spLocks noChangeArrowheads="1"/>
          </p:cNvSpPr>
          <p:nvPr/>
        </p:nvSpPr>
        <p:spPr bwMode="auto">
          <a:xfrm>
            <a:off x="4"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solidFill>
                <a:prstClr val="black"/>
              </a:solidFill>
            </a:endParaRPr>
          </a:p>
        </p:txBody>
      </p:sp>
      <p:sp>
        <p:nvSpPr>
          <p:cNvPr id="30" name="Rounded Rectangle 10">
            <a:hlinkClick r:id="rId3" action="ppaction://hlinksldjump"/>
          </p:cNvPr>
          <p:cNvSpPr/>
          <p:nvPr/>
        </p:nvSpPr>
        <p:spPr>
          <a:xfrm>
            <a:off x="938158"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10" name="Rectangle 9"/>
          <p:cNvSpPr/>
          <p:nvPr/>
        </p:nvSpPr>
        <p:spPr>
          <a:xfrm>
            <a:off x="355128" y="869020"/>
            <a:ext cx="8411732" cy="3730928"/>
          </a:xfrm>
          <a:prstGeom prst="rect">
            <a:avLst/>
          </a:prstGeom>
        </p:spPr>
        <p:style>
          <a:lnRef idx="2">
            <a:schemeClr val="accent6"/>
          </a:lnRef>
          <a:fillRef idx="1">
            <a:schemeClr val="lt1"/>
          </a:fillRef>
          <a:effectRef idx="0">
            <a:schemeClr val="accent6"/>
          </a:effectRef>
          <a:fontRef idx="minor">
            <a:schemeClr val="dk1"/>
          </a:fontRef>
        </p:style>
        <p:txBody>
          <a:bodyPr wrap="square" numCol="2">
            <a:noAutofit/>
          </a:bodyPr>
          <a:lstStyle/>
          <a:p>
            <a:pPr marL="44534" lvl="1" indent="-171446" defTabSz="685800">
              <a:spcBef>
                <a:spcPts val="450"/>
              </a:spcBef>
              <a:buClr>
                <a:srgbClr val="FD6400"/>
              </a:buClr>
              <a:buFont typeface="Arial" panose="020B0604020202020204" pitchFamily="34" charset="0"/>
              <a:buChar char="•"/>
            </a:pPr>
            <a:r>
              <a:rPr lang="en-GB" sz="1050" b="1">
                <a:solidFill>
                  <a:prstClr val="black"/>
                </a:solidFill>
                <a:latin typeface="Corbel"/>
                <a:sym typeface="Wingdings" panose="05000000000000000000" pitchFamily="2" charset="2"/>
              </a:rPr>
              <a:t>Allocate roles and responsibilities where they belong</a:t>
            </a:r>
            <a:r>
              <a:rPr lang="en-GB" sz="1050" b="1">
                <a:solidFill>
                  <a:prstClr val="black"/>
                </a:solidFill>
                <a:latin typeface="Corbel"/>
                <a:cs typeface="Arial" panose="020B0604020202020204" pitchFamily="34" charset="0"/>
              </a:rPr>
              <a:t> </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sym typeface="Wingdings" panose="05000000000000000000" pitchFamily="2" charset="2"/>
              </a:rPr>
              <a:t>GRFD focusses on data warehousing; </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sym typeface="Wingdings" panose="05000000000000000000" pitchFamily="2" charset="2"/>
              </a:rPr>
              <a:t>Model Management takes responsibility for the orchestration and data logistics between use tests; </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sym typeface="Wingdings" panose="05000000000000000000" pitchFamily="2" charset="2"/>
              </a:rPr>
              <a:t>CAS performs model calculations </a:t>
            </a:r>
          </a:p>
          <a:p>
            <a:pPr marL="44534" lvl="1" indent="-171446" defTabSz="685800">
              <a:spcBef>
                <a:spcPts val="450"/>
              </a:spcBef>
              <a:buClr>
                <a:srgbClr val="FD6400"/>
              </a:buClr>
              <a:buFont typeface="Arial" panose="020B0604020202020204" pitchFamily="34" charset="0"/>
              <a:buChar char="•"/>
            </a:pPr>
            <a:r>
              <a:rPr lang="en-GB" sz="1050" b="1">
                <a:solidFill>
                  <a:prstClr val="black"/>
                </a:solidFill>
                <a:latin typeface="Corbel"/>
              </a:rPr>
              <a:t>Support </a:t>
            </a:r>
            <a:r>
              <a:rPr lang="en-GB" sz="1050" b="1" err="1">
                <a:solidFill>
                  <a:prstClr val="black"/>
                </a:solidFill>
                <a:latin typeface="Corbel"/>
              </a:rPr>
              <a:t>RtC</a:t>
            </a:r>
            <a:r>
              <a:rPr lang="en-GB" sz="1050" b="1">
                <a:solidFill>
                  <a:prstClr val="black"/>
                </a:solidFill>
                <a:latin typeface="Corbel"/>
              </a:rPr>
              <a:t> roadmap implementation</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The roadmap must always be aligned with </a:t>
            </a:r>
            <a:r>
              <a:rPr lang="en-GB" sz="1050" b="1" err="1">
                <a:solidFill>
                  <a:prstClr val="black"/>
                </a:solidFill>
                <a:latin typeface="Corbel"/>
                <a:cs typeface="Arial" panose="020B0604020202020204" pitchFamily="34" charset="0"/>
              </a:rPr>
              <a:t>RtC</a:t>
            </a:r>
            <a:r>
              <a:rPr lang="en-GB" sz="1050">
                <a:solidFill>
                  <a:prstClr val="black"/>
                </a:solidFill>
                <a:latin typeface="Corbel"/>
                <a:cs typeface="Arial" panose="020B0604020202020204" pitchFamily="34" charset="0"/>
              </a:rPr>
              <a:t> plan.</a:t>
            </a:r>
          </a:p>
          <a:p>
            <a:pPr marL="44534" lvl="1" indent="-171446" defTabSz="685800">
              <a:spcBef>
                <a:spcPts val="450"/>
              </a:spcBef>
              <a:buClr>
                <a:srgbClr val="FD6400"/>
              </a:buClr>
              <a:buFont typeface="Arial" panose="020B0604020202020204" pitchFamily="34" charset="0"/>
              <a:buChar char="•"/>
            </a:pPr>
            <a:r>
              <a:rPr lang="en-GB" sz="1050" b="1">
                <a:solidFill>
                  <a:prstClr val="black"/>
                </a:solidFill>
                <a:latin typeface="Corbel"/>
                <a:cs typeface="Arial" panose="020B0604020202020204" pitchFamily="34" charset="0"/>
              </a:rPr>
              <a:t>Simple, modern &amp; future-proof credit risk model landscape</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Solution must be modular by design. </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Model dependencies are defined at the orchestration layer instead of having it baked-inside the application.</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De-coupled data workspace for each bridge/FT</a:t>
            </a:r>
          </a:p>
          <a:p>
            <a:pPr marL="44534" lvl="1" indent="-171446" defTabSz="685800">
              <a:spcBef>
                <a:spcPts val="450"/>
              </a:spcBef>
              <a:buClr>
                <a:srgbClr val="FD6400"/>
              </a:buClr>
              <a:buFont typeface="Arial" panose="020B0604020202020204" pitchFamily="34" charset="0"/>
              <a:buChar char="•"/>
            </a:pPr>
            <a:r>
              <a:rPr lang="en-US" sz="1050" b="1">
                <a:solidFill>
                  <a:prstClr val="black"/>
                </a:solidFill>
                <a:latin typeface="Corbel"/>
                <a:cs typeface="Arial" panose="020B0604020202020204" pitchFamily="34" charset="0"/>
              </a:rPr>
              <a:t>Improved alignment and consistency across bridges </a:t>
            </a:r>
          </a:p>
          <a:p>
            <a:pPr marL="387434" lvl="2" indent="-171446"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Methodological changes assessed over all use tests before release to production </a:t>
            </a:r>
            <a:endParaRPr lang="en-GB" sz="1050">
              <a:solidFill>
                <a:prstClr val="black"/>
              </a:solidFill>
              <a:latin typeface="Corbel"/>
              <a:sym typeface="Wingdings" panose="05000000000000000000" pitchFamily="2" charset="2"/>
            </a:endParaRPr>
          </a:p>
          <a:p>
            <a:pPr marL="44534" lvl="1" indent="-171446" defTabSz="685800">
              <a:spcBef>
                <a:spcPts val="450"/>
              </a:spcBef>
              <a:buClr>
                <a:srgbClr val="FD6400"/>
              </a:buClr>
              <a:buFont typeface="Arial" panose="020B0604020202020204" pitchFamily="34" charset="0"/>
              <a:buChar char="•"/>
            </a:pPr>
            <a:r>
              <a:rPr lang="en-GB" sz="1050" b="1">
                <a:solidFill>
                  <a:prstClr val="black"/>
                </a:solidFill>
                <a:latin typeface="Corbel"/>
                <a:cs typeface="Arial" panose="020B0604020202020204" pitchFamily="34" charset="0"/>
              </a:rPr>
              <a:t>Standard approach &amp; solution for approval</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Single platform for all signoffs</a:t>
            </a:r>
            <a:endParaRPr lang="en-GB" sz="1050">
              <a:solidFill>
                <a:prstClr val="black"/>
              </a:solidFill>
              <a:latin typeface="Corbel"/>
            </a:endParaRPr>
          </a:p>
          <a:p>
            <a:pPr marL="387434" lvl="2" indent="-171446" defTabSz="685800">
              <a:spcBef>
                <a:spcPts val="450"/>
              </a:spcBef>
              <a:buClr>
                <a:srgbClr val="FD6400"/>
              </a:buClr>
              <a:buFont typeface="Arial" panose="020B0604020202020204" pitchFamily="34" charset="0"/>
              <a:buChar char="•"/>
            </a:pPr>
            <a:endParaRPr lang="en-GB" sz="1050">
              <a:solidFill>
                <a:prstClr val="black"/>
              </a:solidFill>
              <a:latin typeface="Corbel"/>
            </a:endParaRPr>
          </a:p>
          <a:p>
            <a:pPr marL="44534" lvl="1" indent="-171446" defTabSz="685800">
              <a:spcBef>
                <a:spcPts val="450"/>
              </a:spcBef>
              <a:buClr>
                <a:srgbClr val="FD6400"/>
              </a:buClr>
              <a:buFont typeface="Arial" panose="020B0604020202020204" pitchFamily="34" charset="0"/>
              <a:buChar char="•"/>
            </a:pPr>
            <a:r>
              <a:rPr lang="en-US" sz="1050" b="1">
                <a:solidFill>
                  <a:prstClr val="black"/>
                </a:solidFill>
                <a:latin typeface="Corbel"/>
                <a:cs typeface="Arial" panose="020B0604020202020204" pitchFamily="34" charset="0"/>
              </a:rPr>
              <a:t>Improve [run] performance </a:t>
            </a:r>
          </a:p>
          <a:p>
            <a:pPr marL="387434" lvl="2" indent="-171446"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a</a:t>
            </a:r>
            <a:r>
              <a:rPr lang="en-GB" sz="1050">
                <a:solidFill>
                  <a:prstClr val="black"/>
                </a:solidFill>
                <a:latin typeface="Corbel"/>
              </a:rPr>
              <a:t>long with IRB and IFRS9 calculations, ST baseline calculations shall be performed monthly.</a:t>
            </a:r>
          </a:p>
          <a:p>
            <a:pPr marL="387434" lvl="2" indent="-171446" defTabSz="685800">
              <a:spcBef>
                <a:spcPts val="450"/>
              </a:spcBef>
              <a:buClr>
                <a:srgbClr val="FD6400"/>
              </a:buClr>
              <a:buFont typeface="Arial" panose="020B0604020202020204" pitchFamily="34" charset="0"/>
              <a:buChar char="•"/>
            </a:pPr>
            <a:r>
              <a:rPr lang="en-US" sz="1050">
                <a:solidFill>
                  <a:prstClr val="black"/>
                </a:solidFill>
                <a:latin typeface="Corbel"/>
                <a:cs typeface="Myriad Pro Light" pitchFamily="34" charset="0"/>
              </a:rPr>
              <a:t>Multiple Use Tests must be able to run batch jobs simultaneously</a:t>
            </a:r>
            <a:r>
              <a:rPr lang="en-GB" sz="1050">
                <a:solidFill>
                  <a:prstClr val="black"/>
                </a:solidFill>
                <a:latin typeface="Corbel"/>
                <a:cs typeface="Myriad Pro Light" pitchFamily="34" charset="0"/>
              </a:rPr>
              <a:t>.</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Reduction of multiple system interconnects (e.g., </a:t>
            </a:r>
            <a:r>
              <a:rPr lang="en-GB" sz="1050" err="1">
                <a:solidFill>
                  <a:prstClr val="black"/>
                </a:solidFill>
                <a:latin typeface="Corbel"/>
                <a:cs typeface="Arial" panose="020B0604020202020204" pitchFamily="34" charset="0"/>
              </a:rPr>
              <a:t>grfd</a:t>
            </a:r>
            <a:r>
              <a:rPr lang="en-GB" sz="1050">
                <a:solidFill>
                  <a:prstClr val="black"/>
                </a:solidFill>
                <a:latin typeface="Corbel"/>
                <a:cs typeface="Arial" panose="020B0604020202020204" pitchFamily="34" charset="0"/>
              </a:rPr>
              <a:t> to </a:t>
            </a:r>
            <a:r>
              <a:rPr lang="en-GB" sz="1050" err="1">
                <a:solidFill>
                  <a:prstClr val="black"/>
                </a:solidFill>
                <a:latin typeface="Corbel"/>
                <a:cs typeface="Arial" panose="020B0604020202020204" pitchFamily="34" charset="0"/>
              </a:rPr>
              <a:t>cas</a:t>
            </a:r>
            <a:r>
              <a:rPr lang="en-GB" sz="1050">
                <a:solidFill>
                  <a:prstClr val="black"/>
                </a:solidFill>
                <a:latin typeface="Corbel"/>
                <a:cs typeface="Arial" panose="020B0604020202020204" pitchFamily="34" charset="0"/>
              </a:rPr>
              <a:t> to </a:t>
            </a:r>
            <a:r>
              <a:rPr lang="en-GB" sz="1050" err="1">
                <a:solidFill>
                  <a:prstClr val="black"/>
                </a:solidFill>
                <a:latin typeface="Corbel"/>
                <a:cs typeface="Arial" panose="020B0604020202020204" pitchFamily="34" charset="0"/>
              </a:rPr>
              <a:t>grfd</a:t>
            </a:r>
            <a:r>
              <a:rPr lang="en-GB" sz="1050">
                <a:solidFill>
                  <a:prstClr val="black"/>
                </a:solidFill>
                <a:latin typeface="Corbel"/>
                <a:cs typeface="Arial" panose="020B0604020202020204" pitchFamily="34" charset="0"/>
              </a:rPr>
              <a:t> to </a:t>
            </a:r>
            <a:r>
              <a:rPr lang="en-GB" sz="1050" err="1">
                <a:solidFill>
                  <a:prstClr val="black"/>
                </a:solidFill>
                <a:latin typeface="Corbel"/>
                <a:cs typeface="Arial" panose="020B0604020202020204" pitchFamily="34" charset="0"/>
              </a:rPr>
              <a:t>cas</a:t>
            </a:r>
            <a:r>
              <a:rPr lang="en-GB" sz="1050">
                <a:solidFill>
                  <a:prstClr val="black"/>
                </a:solidFill>
                <a:latin typeface="Corbel"/>
                <a:cs typeface="Arial" panose="020B0604020202020204" pitchFamily="34" charset="0"/>
              </a:rPr>
              <a:t> to </a:t>
            </a:r>
            <a:r>
              <a:rPr lang="en-GB" sz="1050" err="1">
                <a:solidFill>
                  <a:prstClr val="black"/>
                </a:solidFill>
                <a:latin typeface="Corbel"/>
                <a:cs typeface="Arial" panose="020B0604020202020204" pitchFamily="34" charset="0"/>
              </a:rPr>
              <a:t>grfd</a:t>
            </a:r>
            <a:r>
              <a:rPr lang="en-GB" sz="1050">
                <a:solidFill>
                  <a:prstClr val="black"/>
                </a:solidFill>
                <a:latin typeface="Corbel"/>
                <a:cs typeface="Arial" panose="020B0604020202020204" pitchFamily="34" charset="0"/>
              </a:rPr>
              <a:t> …) to reduce data checks and transfer delays.</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Prevent unnecessary calls and data transfers </a:t>
            </a:r>
          </a:p>
          <a:p>
            <a:pPr marL="44534" lvl="1" indent="-171446" defTabSz="685800">
              <a:spcBef>
                <a:spcPts val="450"/>
              </a:spcBef>
              <a:buClr>
                <a:srgbClr val="FD6400"/>
              </a:buClr>
              <a:buFont typeface="Arial" panose="020B0604020202020204" pitchFamily="34" charset="0"/>
              <a:buChar char="•"/>
            </a:pPr>
            <a:r>
              <a:rPr lang="en-US" sz="1050" b="1">
                <a:solidFill>
                  <a:prstClr val="black"/>
                </a:solidFill>
                <a:latin typeface="Corbel"/>
                <a:cs typeface="Arial" panose="020B0604020202020204" pitchFamily="34" charset="0"/>
              </a:rPr>
              <a:t>Faster response to changing requirements </a:t>
            </a:r>
          </a:p>
          <a:p>
            <a:pPr marL="387434" lvl="2" indent="-171446"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Having data closer to the calculators.</a:t>
            </a:r>
          </a:p>
          <a:p>
            <a:pPr marL="387434" lvl="2" indent="-171446"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Models should be modular.</a:t>
            </a:r>
          </a:p>
          <a:p>
            <a:pPr marL="44534" lvl="1" indent="-171446" defTabSz="685800">
              <a:spcBef>
                <a:spcPts val="450"/>
              </a:spcBef>
              <a:buClr>
                <a:srgbClr val="FD6400"/>
              </a:buClr>
              <a:buFont typeface="Arial" panose="020B0604020202020204" pitchFamily="34" charset="0"/>
              <a:buChar char="•"/>
            </a:pPr>
            <a:r>
              <a:rPr lang="en-GB" sz="1050" b="1">
                <a:solidFill>
                  <a:prstClr val="black"/>
                </a:solidFill>
                <a:latin typeface="Corbel"/>
                <a:cs typeface="Arial" panose="020B0604020202020204" pitchFamily="34" charset="0"/>
              </a:rPr>
              <a:t>Design with Future in mind</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New Tactical solutions shall be avoided at all cost. </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cs typeface="Arial" panose="020B0604020202020204" pitchFamily="34" charset="0"/>
              </a:rPr>
              <a:t>The design constructs can be leveraged in future to realise self-service kind of impact analysis. </a:t>
            </a:r>
          </a:p>
          <a:p>
            <a:pPr marL="44534" lvl="1" indent="-171446" defTabSz="685800">
              <a:spcBef>
                <a:spcPts val="450"/>
              </a:spcBef>
              <a:buClr>
                <a:srgbClr val="FD6400"/>
              </a:buClr>
              <a:buFont typeface="Arial" panose="020B0604020202020204" pitchFamily="34" charset="0"/>
              <a:buChar char="•"/>
            </a:pPr>
            <a:r>
              <a:rPr lang="en-GB" sz="1050" b="1">
                <a:solidFill>
                  <a:prstClr val="black"/>
                </a:solidFill>
                <a:latin typeface="Corbel"/>
                <a:cs typeface="Arial" panose="020B0604020202020204" pitchFamily="34" charset="0"/>
              </a:rPr>
              <a:t>Reduce dependencies on data chain </a:t>
            </a:r>
          </a:p>
          <a:p>
            <a:pPr marL="387434" lvl="2" indent="-171446" defTabSz="685800">
              <a:spcBef>
                <a:spcPts val="450"/>
              </a:spcBef>
              <a:buClr>
                <a:srgbClr val="FD6400"/>
              </a:buClr>
              <a:buFont typeface="Arial" panose="020B0604020202020204" pitchFamily="34" charset="0"/>
              <a:buChar char="•"/>
            </a:pPr>
            <a:r>
              <a:rPr lang="en-GB" sz="1050">
                <a:solidFill>
                  <a:prstClr val="black"/>
                </a:solidFill>
                <a:latin typeface="Corbel"/>
              </a:rPr>
              <a:t>reconciled dataset over all bridges (by design) and improvement of data lineage</a:t>
            </a:r>
          </a:p>
          <a:p>
            <a:pPr marL="387434" lvl="2" indent="-171446" defTabSz="685800">
              <a:spcBef>
                <a:spcPts val="450"/>
              </a:spcBef>
              <a:buClr>
                <a:srgbClr val="FD6400"/>
              </a:buClr>
              <a:buFont typeface="Arial" panose="020B0604020202020204" pitchFamily="34" charset="0"/>
              <a:buChar char="•"/>
            </a:pPr>
            <a:endParaRPr lang="en-US" sz="1350" b="1">
              <a:solidFill>
                <a:prstClr val="black"/>
              </a:solidFill>
              <a:latin typeface="Corbel"/>
              <a:cs typeface="Myriad Pro Light" pitchFamily="34" charset="0"/>
            </a:endParaRPr>
          </a:p>
        </p:txBody>
      </p:sp>
    </p:spTree>
    <p:extLst>
      <p:ext uri="{BB962C8B-B14F-4D97-AF65-F5344CB8AC3E}">
        <p14:creationId xmlns:p14="http://schemas.microsoft.com/office/powerpoint/2010/main" val="3886707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3F9001-EF60-5D8C-4E9F-CAA02934221B}"/>
              </a:ext>
            </a:extLst>
          </p:cNvPr>
          <p:cNvSpPr>
            <a:spLocks noGrp="1"/>
          </p:cNvSpPr>
          <p:nvPr>
            <p:ph type="sldNum" sz="quarter" idx="10"/>
          </p:nvPr>
        </p:nvSpPr>
        <p:spPr/>
        <p:txBody>
          <a:bodyPr/>
          <a:lstStyle/>
          <a:p>
            <a:fld id="{4821C4A5-98F2-7545-875B-39B2F4500447}" type="slidenum">
              <a:rPr lang="en-GB" noProof="0" smtClean="0"/>
              <a:pPr/>
              <a:t>16</a:t>
            </a:fld>
            <a:endParaRPr lang="en-GB" noProof="0"/>
          </a:p>
        </p:txBody>
      </p:sp>
      <p:grpSp>
        <p:nvGrpSpPr>
          <p:cNvPr id="500" name="Group 499">
            <a:extLst>
              <a:ext uri="{FF2B5EF4-FFF2-40B4-BE49-F238E27FC236}">
                <a16:creationId xmlns:a16="http://schemas.microsoft.com/office/drawing/2014/main" id="{7427A9F3-83C6-D520-9904-C2F39A47896E}"/>
              </a:ext>
            </a:extLst>
          </p:cNvPr>
          <p:cNvGrpSpPr/>
          <p:nvPr/>
        </p:nvGrpSpPr>
        <p:grpSpPr>
          <a:xfrm>
            <a:off x="478847" y="911849"/>
            <a:ext cx="8291800" cy="3053392"/>
            <a:chOff x="1073888" y="1215798"/>
            <a:chExt cx="11055733" cy="4071189"/>
          </a:xfrm>
        </p:grpSpPr>
        <p:sp>
          <p:nvSpPr>
            <p:cNvPr id="18" name="Rectangle 17">
              <a:extLst>
                <a:ext uri="{FF2B5EF4-FFF2-40B4-BE49-F238E27FC236}">
                  <a16:creationId xmlns:a16="http://schemas.microsoft.com/office/drawing/2014/main" id="{BD285E35-A2D8-0140-AD45-BC1424D12358}"/>
                </a:ext>
              </a:extLst>
            </p:cNvPr>
            <p:cNvSpPr/>
            <p:nvPr/>
          </p:nvSpPr>
          <p:spPr>
            <a:xfrm>
              <a:off x="1073888" y="1215798"/>
              <a:ext cx="11055733" cy="4071189"/>
            </a:xfrm>
            <a:prstGeom prst="rect">
              <a:avLst/>
            </a:prstGeom>
            <a:solidFill>
              <a:schemeClr val="accent3">
                <a:lumMod val="20000"/>
                <a:lumOff val="80000"/>
              </a:schemeClr>
            </a:solidFill>
            <a:ln w="12700" cap="rnd" cmpd="sng" algn="ctr">
              <a:solidFill>
                <a:srgbClr val="EAEAEA"/>
              </a:solidFill>
              <a:prstDash val="solid"/>
            </a:ln>
            <a:effectLst/>
          </p:spPr>
          <p:txBody>
            <a:bodyPr rtlCol="0" anchor="ctr"/>
            <a:lstStyle/>
            <a:p>
              <a:pPr algn="ctr"/>
              <a:endParaRPr lang="LID4096">
                <a:solidFill>
                  <a:srgbClr val="5E6A71"/>
                </a:solidFill>
              </a:endParaRPr>
            </a:p>
          </p:txBody>
        </p:sp>
        <p:sp>
          <p:nvSpPr>
            <p:cNvPr id="11" name="Arrow: Down 10">
              <a:extLst>
                <a:ext uri="{FF2B5EF4-FFF2-40B4-BE49-F238E27FC236}">
                  <a16:creationId xmlns:a16="http://schemas.microsoft.com/office/drawing/2014/main" id="{4F6D0C6A-4C82-D242-13B2-5B09B9A7F7F6}"/>
                </a:ext>
              </a:extLst>
            </p:cNvPr>
            <p:cNvSpPr/>
            <p:nvPr/>
          </p:nvSpPr>
          <p:spPr>
            <a:xfrm>
              <a:off x="8173694" y="4431030"/>
              <a:ext cx="1743035" cy="385113"/>
            </a:xfrm>
            <a:prstGeom prst="downArrow">
              <a:avLst>
                <a:gd name="adj1" fmla="val 80418"/>
                <a:gd name="adj2" fmla="val 33181"/>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378"/>
              <a:r>
                <a:rPr lang="en-NL" sz="700" b="1" kern="0">
                  <a:latin typeface="+mj-lt"/>
                </a:rPr>
                <a:t>Deliver </a:t>
              </a:r>
            </a:p>
            <a:p>
              <a:pPr algn="ctr" defTabSz="914378"/>
              <a:r>
                <a:rPr lang="en-NL" sz="700" b="1" kern="0">
                  <a:latin typeface="+mj-lt"/>
                </a:rPr>
                <a:t>Verified Risk Metrics</a:t>
              </a:r>
            </a:p>
          </p:txBody>
        </p:sp>
        <p:sp>
          <p:nvSpPr>
            <p:cNvPr id="7" name="Flowchart: Process 6">
              <a:extLst>
                <a:ext uri="{FF2B5EF4-FFF2-40B4-BE49-F238E27FC236}">
                  <a16:creationId xmlns:a16="http://schemas.microsoft.com/office/drawing/2014/main" id="{5390E333-2303-3594-11C8-A4E9938F45F7}"/>
                </a:ext>
              </a:extLst>
            </p:cNvPr>
            <p:cNvSpPr/>
            <p:nvPr/>
          </p:nvSpPr>
          <p:spPr>
            <a:xfrm>
              <a:off x="4698456" y="2907578"/>
              <a:ext cx="5046061" cy="1482921"/>
            </a:xfrm>
            <a:prstGeom prst="flowChartProcess">
              <a:avLst/>
            </a:prstGeom>
            <a:solidFill>
              <a:srgbClr val="92D050"/>
            </a:solidFill>
            <a:ln w="12700" cap="flat" cmpd="sng" algn="ctr">
              <a:solidFill>
                <a:srgbClr val="0058FF">
                  <a:shade val="50000"/>
                </a:srgbClr>
              </a:solidFill>
              <a:prstDash val="solid"/>
              <a:miter lim="800000"/>
            </a:ln>
            <a:effectLst/>
          </p:spPr>
          <p:txBody>
            <a:bodyPr rtlCol="0" anchor="b"/>
            <a:lstStyle/>
            <a:p>
              <a:pPr defTabSz="914378"/>
              <a:r>
                <a:rPr lang="en-US" sz="800" kern="0">
                  <a:solidFill>
                    <a:srgbClr val="363A3B"/>
                  </a:solidFill>
                  <a:latin typeface="Myriad for Rabobank"/>
                </a:rPr>
                <a:t>Orchestration Platform (nBIF platform)</a:t>
              </a:r>
              <a:endParaRPr lang="en-NL" sz="800" kern="0">
                <a:solidFill>
                  <a:srgbClr val="363A3B"/>
                </a:solidFill>
                <a:latin typeface="Myriad for Rabobank"/>
              </a:endParaRPr>
            </a:p>
          </p:txBody>
        </p:sp>
        <p:sp>
          <p:nvSpPr>
            <p:cNvPr id="361" name="Rectangle 360">
              <a:extLst>
                <a:ext uri="{FF2B5EF4-FFF2-40B4-BE49-F238E27FC236}">
                  <a16:creationId xmlns:a16="http://schemas.microsoft.com/office/drawing/2014/main" id="{1BB4CFBC-6EF2-B882-4A21-0A5DB2A7E8CC}"/>
                </a:ext>
              </a:extLst>
            </p:cNvPr>
            <p:cNvSpPr/>
            <p:nvPr/>
          </p:nvSpPr>
          <p:spPr>
            <a:xfrm>
              <a:off x="4947654" y="3156705"/>
              <a:ext cx="3691316" cy="963203"/>
            </a:xfrm>
            <a:prstGeom prst="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378"/>
              <a:r>
                <a:rPr lang="en-US" sz="800" kern="0">
                  <a:latin typeface="+mj-lt"/>
                </a:rPr>
                <a:t>n-Bridge Information Factory (nBIF)</a:t>
              </a:r>
            </a:p>
          </p:txBody>
        </p:sp>
        <p:sp>
          <p:nvSpPr>
            <p:cNvPr id="362" name="Rectangle 361">
              <a:extLst>
                <a:ext uri="{FF2B5EF4-FFF2-40B4-BE49-F238E27FC236}">
                  <a16:creationId xmlns:a16="http://schemas.microsoft.com/office/drawing/2014/main" id="{B40DBA99-FE53-4F34-1573-9BC392728C07}"/>
                </a:ext>
              </a:extLst>
            </p:cNvPr>
            <p:cNvSpPr/>
            <p:nvPr/>
          </p:nvSpPr>
          <p:spPr>
            <a:xfrm>
              <a:off x="3814400" y="2907578"/>
              <a:ext cx="745764" cy="1482920"/>
            </a:xfrm>
            <a:prstGeom prst="rect">
              <a:avLst/>
            </a:prstGeom>
            <a:solidFill>
              <a:srgbClr val="0058FF">
                <a:lumMod val="20000"/>
                <a:lumOff val="80000"/>
              </a:srgbClr>
            </a:solidFill>
            <a:ln w="12700" cap="flat" cmpd="sng" algn="ctr">
              <a:solidFill>
                <a:srgbClr val="000099">
                  <a:shade val="50000"/>
                </a:srgbClr>
              </a:solidFill>
              <a:prstDash val="solid"/>
            </a:ln>
            <a:effectLst/>
          </p:spPr>
          <p:txBody>
            <a:bodyPr lIns="36000" rtlCol="0" anchor="t"/>
            <a:lstStyle/>
            <a:p>
              <a:pPr algn="ctr" defTabSz="456977">
                <a:defRPr/>
              </a:pPr>
              <a:r>
                <a:rPr lang="en-US" sz="800" kern="0">
                  <a:solidFill>
                    <a:srgbClr val="363A3B"/>
                  </a:solidFill>
                  <a:latin typeface="Myriad for Rabobank It"/>
                </a:rPr>
                <a:t>CADDI </a:t>
              </a:r>
            </a:p>
            <a:p>
              <a:pPr algn="ctr" defTabSz="456977">
                <a:defRPr/>
              </a:pPr>
              <a:r>
                <a:rPr lang="en-US" sz="600" kern="0">
                  <a:solidFill>
                    <a:srgbClr val="363A3B"/>
                  </a:solidFill>
                  <a:latin typeface="Calibri" panose="020F0502020204030204" pitchFamily="34" charset="0"/>
                  <a:cs typeface="Calibri" panose="020F0502020204030204" pitchFamily="34" charset="0"/>
                </a:rPr>
                <a:t>(Credit Analytics Data Disclosure)</a:t>
              </a:r>
            </a:p>
          </p:txBody>
        </p:sp>
        <p:sp>
          <p:nvSpPr>
            <p:cNvPr id="369" name="Rectangle 368">
              <a:extLst>
                <a:ext uri="{FF2B5EF4-FFF2-40B4-BE49-F238E27FC236}">
                  <a16:creationId xmlns:a16="http://schemas.microsoft.com/office/drawing/2014/main" id="{196C1CF4-76DA-F0D0-D25C-EDDCB0FE37B0}"/>
                </a:ext>
              </a:extLst>
            </p:cNvPr>
            <p:cNvSpPr/>
            <p:nvPr/>
          </p:nvSpPr>
          <p:spPr>
            <a:xfrm>
              <a:off x="4832228" y="3051530"/>
              <a:ext cx="3686036" cy="963203"/>
            </a:xfrm>
            <a:prstGeom prst="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t"/>
            <a:lstStyle/>
            <a:p>
              <a:pPr algn="ctr" defTabSz="914378"/>
              <a:r>
                <a:rPr lang="en-US" sz="800" b="1" kern="0">
                  <a:latin typeface="+mj-lt"/>
                </a:rPr>
                <a:t>nBIF (n-Bridge Information Factory) Instance</a:t>
              </a:r>
            </a:p>
          </p:txBody>
        </p:sp>
        <p:sp>
          <p:nvSpPr>
            <p:cNvPr id="376" name="Rectangle 375">
              <a:extLst>
                <a:ext uri="{FF2B5EF4-FFF2-40B4-BE49-F238E27FC236}">
                  <a16:creationId xmlns:a16="http://schemas.microsoft.com/office/drawing/2014/main" id="{9E4B4EB3-ABB3-11E8-C752-8B571FB74CEA}"/>
                </a:ext>
              </a:extLst>
            </p:cNvPr>
            <p:cNvSpPr/>
            <p:nvPr/>
          </p:nvSpPr>
          <p:spPr>
            <a:xfrm>
              <a:off x="5122437" y="3418027"/>
              <a:ext cx="3187843" cy="150987"/>
            </a:xfrm>
            <a:prstGeom prst="rect">
              <a:avLst/>
            </a:prstGeom>
            <a:solidFill>
              <a:schemeClr val="bg1"/>
            </a:solidFill>
            <a:ln w="12700" cap="flat" cmpd="sng" algn="ctr">
              <a:solidFill>
                <a:srgbClr val="000099">
                  <a:shade val="50000"/>
                </a:srgbClr>
              </a:solidFill>
              <a:prstDash val="solid"/>
            </a:ln>
            <a:effectLst/>
          </p:spPr>
          <p:txBody>
            <a:bodyPr rtlCol="0" anchor="ctr"/>
            <a:lstStyle/>
            <a:p>
              <a:pPr algn="ctr" defTabSz="456977">
                <a:defRPr/>
              </a:pPr>
              <a:r>
                <a:rPr lang="en-US" sz="700" kern="0">
                  <a:latin typeface="Calibri" panose="020F0502020204030204" pitchFamily="34" charset="0"/>
                  <a:cs typeface="Calibri" panose="020F0502020204030204" pitchFamily="34" charset="0"/>
                </a:rPr>
                <a:t>Orchestrate/workflow/schedule</a:t>
              </a:r>
            </a:p>
          </p:txBody>
        </p:sp>
        <p:sp>
          <p:nvSpPr>
            <p:cNvPr id="377" name="Flowchart: Magnetic Disk 36">
              <a:extLst>
                <a:ext uri="{FF2B5EF4-FFF2-40B4-BE49-F238E27FC236}">
                  <a16:creationId xmlns:a16="http://schemas.microsoft.com/office/drawing/2014/main" id="{F925A04A-E7E4-3871-1A18-35B3383C75F8}"/>
                </a:ext>
              </a:extLst>
            </p:cNvPr>
            <p:cNvSpPr/>
            <p:nvPr/>
          </p:nvSpPr>
          <p:spPr>
            <a:xfrm>
              <a:off x="5112661" y="3657707"/>
              <a:ext cx="2122451" cy="233035"/>
            </a:xfrm>
            <a:prstGeom prst="flowChartMagneticDisk">
              <a:avLst/>
            </a:prstGeom>
            <a:solidFill>
              <a:schemeClr val="bg1"/>
            </a:solidFill>
            <a:ln w="12700" cap="flat" cmpd="sng" algn="ctr">
              <a:solidFill>
                <a:srgbClr val="000099">
                  <a:shade val="50000"/>
                </a:srgbClr>
              </a:solidFill>
              <a:prstDash val="solid"/>
            </a:ln>
            <a:effectLst/>
          </p:spPr>
          <p:txBody>
            <a:bodyPr rtlCol="0" anchor="ctr"/>
            <a:lstStyle/>
            <a:p>
              <a:pPr algn="ctr" defTabSz="456977">
                <a:defRPr/>
              </a:pPr>
              <a:r>
                <a:rPr lang="en-US" sz="700" kern="0">
                  <a:latin typeface="Calibri" panose="020F0502020204030204" pitchFamily="34" charset="0"/>
                  <a:cs typeface="Calibri" panose="020F0502020204030204" pitchFamily="34" charset="0"/>
                </a:rPr>
                <a:t>STI, Work DB and I/O DBs</a:t>
              </a:r>
            </a:p>
          </p:txBody>
        </p:sp>
        <p:sp>
          <p:nvSpPr>
            <p:cNvPr id="383" name="Rectangle 382">
              <a:extLst>
                <a:ext uri="{FF2B5EF4-FFF2-40B4-BE49-F238E27FC236}">
                  <a16:creationId xmlns:a16="http://schemas.microsoft.com/office/drawing/2014/main" id="{824B1450-F9B7-C0EA-3927-5D4466478AAF}"/>
                </a:ext>
              </a:extLst>
            </p:cNvPr>
            <p:cNvSpPr/>
            <p:nvPr/>
          </p:nvSpPr>
          <p:spPr>
            <a:xfrm>
              <a:off x="7903626" y="3668918"/>
              <a:ext cx="346168" cy="182295"/>
            </a:xfrm>
            <a:prstGeom prst="rect">
              <a:avLst/>
            </a:prstGeom>
            <a:solidFill>
              <a:schemeClr val="bg1"/>
            </a:solidFill>
            <a:ln w="12700" cap="flat" cmpd="sng" algn="ctr">
              <a:solidFill>
                <a:srgbClr val="000099">
                  <a:shade val="50000"/>
                </a:srgbClr>
              </a:solidFill>
              <a:prstDash val="solid"/>
            </a:ln>
            <a:effectLst/>
          </p:spPr>
          <p:txBody>
            <a:bodyPr lIns="36000" rIns="36000" rtlCol="0" anchor="ctr"/>
            <a:lstStyle/>
            <a:p>
              <a:pPr algn="ctr" defTabSz="456977">
                <a:defRPr/>
              </a:pPr>
              <a:r>
                <a:rPr lang="en-US" sz="700" kern="0">
                  <a:latin typeface="Calibri" panose="020F0502020204030204" pitchFamily="34" charset="0"/>
                  <a:cs typeface="Calibri" panose="020F0502020204030204" pitchFamily="34" charset="0"/>
                </a:rPr>
                <a:t>E(T)L</a:t>
              </a:r>
            </a:p>
          </p:txBody>
        </p:sp>
        <p:sp>
          <p:nvSpPr>
            <p:cNvPr id="398" name="Rectangle 397">
              <a:extLst>
                <a:ext uri="{FF2B5EF4-FFF2-40B4-BE49-F238E27FC236}">
                  <a16:creationId xmlns:a16="http://schemas.microsoft.com/office/drawing/2014/main" id="{18812675-2EF8-69C7-F8C8-47F417F3B006}"/>
                </a:ext>
              </a:extLst>
            </p:cNvPr>
            <p:cNvSpPr/>
            <p:nvPr/>
          </p:nvSpPr>
          <p:spPr>
            <a:xfrm>
              <a:off x="1199205" y="2165768"/>
              <a:ext cx="2237077" cy="2046640"/>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t"/>
            <a:lstStyle/>
            <a:p>
              <a:pPr defTabSz="914378"/>
              <a:r>
                <a:rPr lang="en-US" sz="800" kern="0">
                  <a:solidFill>
                    <a:srgbClr val="363A3B"/>
                  </a:solidFill>
                  <a:latin typeface="Myriad for Rabobank It"/>
                </a:rPr>
                <a:t>Tribe Data Foundation (GRFD)</a:t>
              </a:r>
            </a:p>
          </p:txBody>
        </p:sp>
        <p:cxnSp>
          <p:nvCxnSpPr>
            <p:cNvPr id="399" name="Straight Arrow Connector 398">
              <a:extLst>
                <a:ext uri="{FF2B5EF4-FFF2-40B4-BE49-F238E27FC236}">
                  <a16:creationId xmlns:a16="http://schemas.microsoft.com/office/drawing/2014/main" id="{BC664DD3-B45B-16E3-981C-AC710192FE95}"/>
                </a:ext>
              </a:extLst>
            </p:cNvPr>
            <p:cNvCxnSpPr>
              <a:cxnSpLocks/>
              <a:stCxn id="400" idx="3"/>
              <a:endCxn id="377" idx="2"/>
            </p:cNvCxnSpPr>
            <p:nvPr/>
          </p:nvCxnSpPr>
          <p:spPr>
            <a:xfrm flipV="1">
              <a:off x="4454530" y="3774224"/>
              <a:ext cx="658131" cy="14404"/>
            </a:xfrm>
            <a:prstGeom prst="straightConnector1">
              <a:avLst/>
            </a:prstGeom>
            <a:noFill/>
            <a:ln w="9525" cap="flat" cmpd="sng" algn="ctr">
              <a:solidFill>
                <a:sysClr val="windowText" lastClr="000000"/>
              </a:solidFill>
              <a:prstDash val="solid"/>
              <a:tailEnd type="triangle"/>
            </a:ln>
            <a:effectLst/>
          </p:spPr>
        </p:cxnSp>
        <p:sp>
          <p:nvSpPr>
            <p:cNvPr id="400" name="Rectangle 399">
              <a:extLst>
                <a:ext uri="{FF2B5EF4-FFF2-40B4-BE49-F238E27FC236}">
                  <a16:creationId xmlns:a16="http://schemas.microsoft.com/office/drawing/2014/main" id="{63383B75-3D31-6358-4736-F7D21F64C35D}"/>
                </a:ext>
              </a:extLst>
            </p:cNvPr>
            <p:cNvSpPr/>
            <p:nvPr/>
          </p:nvSpPr>
          <p:spPr>
            <a:xfrm>
              <a:off x="3984026" y="3670194"/>
              <a:ext cx="470504" cy="236869"/>
            </a:xfrm>
            <a:prstGeom prst="rect">
              <a:avLst/>
            </a:prstGeom>
            <a:solidFill>
              <a:schemeClr val="bg1"/>
            </a:solidFill>
            <a:ln w="12700" cap="flat" cmpd="sng" algn="ctr">
              <a:solidFill>
                <a:srgbClr val="000099">
                  <a:shade val="50000"/>
                </a:srgbClr>
              </a:solidFill>
              <a:prstDash val="solid"/>
            </a:ln>
            <a:effectLst/>
          </p:spPr>
          <p:txBody>
            <a:bodyPr rtlCol="0" anchor="ctr"/>
            <a:lstStyle/>
            <a:p>
              <a:pPr algn="ctr" defTabSz="456977"/>
              <a:r>
                <a:rPr lang="en-GB" sz="700" kern="0">
                  <a:latin typeface="Calibri" panose="020F0502020204030204" pitchFamily="34" charset="0"/>
                  <a:cs typeface="Calibri" panose="020F0502020204030204" pitchFamily="34" charset="0"/>
                </a:rPr>
                <a:t>STO</a:t>
              </a:r>
            </a:p>
          </p:txBody>
        </p:sp>
        <p:cxnSp>
          <p:nvCxnSpPr>
            <p:cNvPr id="423" name="Straight Connector 422">
              <a:extLst>
                <a:ext uri="{FF2B5EF4-FFF2-40B4-BE49-F238E27FC236}">
                  <a16:creationId xmlns:a16="http://schemas.microsoft.com/office/drawing/2014/main" id="{3107B2BE-6E05-C1BE-3988-5443D6468248}"/>
                </a:ext>
              </a:extLst>
            </p:cNvPr>
            <p:cNvCxnSpPr>
              <a:cxnSpLocks/>
              <a:endCxn id="400" idx="1"/>
            </p:cNvCxnSpPr>
            <p:nvPr/>
          </p:nvCxnSpPr>
          <p:spPr>
            <a:xfrm flipV="1">
              <a:off x="3138573" y="3788628"/>
              <a:ext cx="845453" cy="46655"/>
            </a:xfrm>
            <a:prstGeom prst="line">
              <a:avLst/>
            </a:prstGeom>
            <a:noFill/>
            <a:ln w="12700" cap="rnd" cmpd="sng" algn="ctr">
              <a:solidFill>
                <a:srgbClr val="7E0063"/>
              </a:solidFill>
              <a:prstDash val="solid"/>
              <a:tailEnd type="none"/>
            </a:ln>
            <a:effectLst/>
          </p:spPr>
        </p:cxnSp>
        <p:sp>
          <p:nvSpPr>
            <p:cNvPr id="454" name="Rectangle 453">
              <a:extLst>
                <a:ext uri="{FF2B5EF4-FFF2-40B4-BE49-F238E27FC236}">
                  <a16:creationId xmlns:a16="http://schemas.microsoft.com/office/drawing/2014/main" id="{2E8B1E57-E91D-4D27-5ACA-1D67803F8D6D}"/>
                </a:ext>
              </a:extLst>
            </p:cNvPr>
            <p:cNvSpPr/>
            <p:nvPr/>
          </p:nvSpPr>
          <p:spPr>
            <a:xfrm>
              <a:off x="10780710" y="2996938"/>
              <a:ext cx="1191337" cy="572075"/>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378">
                <a:defRPr/>
              </a:pPr>
              <a:r>
                <a:rPr lang="en-IN" sz="700" kern="0">
                  <a:solidFill>
                    <a:srgbClr val="363A3B"/>
                  </a:solidFill>
                  <a:latin typeface="Myriad for Rabobank It"/>
                </a:rPr>
                <a:t>Tribe </a:t>
              </a:r>
              <a:r>
                <a:rPr lang="en-NL" sz="700" kern="0">
                  <a:solidFill>
                    <a:srgbClr val="363A3B"/>
                  </a:solidFill>
                  <a:latin typeface="Myriad for Rabobank It"/>
                </a:rPr>
                <a:t>Credit Core</a:t>
              </a:r>
              <a:endParaRPr lang="en-IN" sz="700" kern="0">
                <a:solidFill>
                  <a:srgbClr val="363A3B"/>
                </a:solidFill>
                <a:latin typeface="Myriad for Rabobank It"/>
              </a:endParaRPr>
            </a:p>
            <a:p>
              <a:pPr algn="ctr" defTabSz="914378">
                <a:defRPr/>
              </a:pPr>
              <a:r>
                <a:rPr lang="en-IN" sz="700" kern="0">
                  <a:solidFill>
                    <a:srgbClr val="363A3B"/>
                  </a:solidFill>
                  <a:latin typeface="Myriad for Rabobank It"/>
                </a:rPr>
                <a:t>(CRPR)</a:t>
              </a:r>
              <a:endParaRPr lang="en-NL" sz="700" kern="0">
                <a:solidFill>
                  <a:srgbClr val="363A3B"/>
                </a:solidFill>
                <a:latin typeface="Myriad for Rabobank It"/>
              </a:endParaRPr>
            </a:p>
          </p:txBody>
        </p:sp>
        <p:sp>
          <p:nvSpPr>
            <p:cNvPr id="455" name="Rectangle 454">
              <a:extLst>
                <a:ext uri="{FF2B5EF4-FFF2-40B4-BE49-F238E27FC236}">
                  <a16:creationId xmlns:a16="http://schemas.microsoft.com/office/drawing/2014/main" id="{13215677-F5EF-FDEE-60E3-3BFDE749B08F}"/>
                </a:ext>
              </a:extLst>
            </p:cNvPr>
            <p:cNvSpPr/>
            <p:nvPr/>
          </p:nvSpPr>
          <p:spPr>
            <a:xfrm>
              <a:off x="10780709" y="3624611"/>
              <a:ext cx="1191339" cy="590724"/>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378">
                <a:defRPr/>
              </a:pPr>
              <a:r>
                <a:rPr lang="en-IN" sz="700" kern="0">
                  <a:solidFill>
                    <a:srgbClr val="363A3B"/>
                  </a:solidFill>
                  <a:latin typeface="Myriad for Rabobank It"/>
                </a:rPr>
                <a:t>Tribe Data Foundation</a:t>
              </a:r>
              <a:endParaRPr lang="en-NL" sz="700" kern="0">
                <a:solidFill>
                  <a:srgbClr val="363A3B"/>
                </a:solidFill>
                <a:latin typeface="Myriad for Rabobank It"/>
              </a:endParaRPr>
            </a:p>
            <a:p>
              <a:pPr algn="ctr" defTabSz="914378">
                <a:defRPr/>
              </a:pPr>
              <a:r>
                <a:rPr lang="en-NL" sz="700" kern="0">
                  <a:solidFill>
                    <a:srgbClr val="363A3B"/>
                  </a:solidFill>
                  <a:latin typeface="Myriad for Rabobank It"/>
                </a:rPr>
                <a:t>(</a:t>
              </a:r>
              <a:r>
                <a:rPr lang="en-IN" sz="700" kern="0">
                  <a:solidFill>
                    <a:srgbClr val="363A3B"/>
                  </a:solidFill>
                  <a:latin typeface="Myriad for Rabobank It"/>
                </a:rPr>
                <a:t>to </a:t>
              </a:r>
              <a:r>
                <a:rPr lang="en-NL" sz="700" kern="0">
                  <a:solidFill>
                    <a:srgbClr val="363A3B"/>
                  </a:solidFill>
                  <a:latin typeface="Myriad for Rabobank It"/>
                </a:rPr>
                <a:t>GRFD </a:t>
              </a:r>
              <a:r>
                <a:rPr lang="en-IN" sz="700" kern="0">
                  <a:solidFill>
                    <a:srgbClr val="363A3B"/>
                  </a:solidFill>
                  <a:latin typeface="Myriad for Rabobank It"/>
                </a:rPr>
                <a:t> </a:t>
              </a:r>
            </a:p>
            <a:p>
              <a:pPr algn="ctr" defTabSz="914378">
                <a:defRPr/>
              </a:pPr>
              <a:r>
                <a:rPr lang="en-NL" sz="700" kern="0">
                  <a:solidFill>
                    <a:srgbClr val="363A3B"/>
                  </a:solidFill>
                  <a:latin typeface="Myriad for Rabobank It"/>
                </a:rPr>
                <a:t>via </a:t>
              </a:r>
              <a:r>
                <a:rPr lang="en-IN" sz="700" kern="0">
                  <a:solidFill>
                    <a:srgbClr val="363A3B"/>
                  </a:solidFill>
                  <a:latin typeface="Myriad for Rabobank It"/>
                </a:rPr>
                <a:t>CFO-Hub</a:t>
              </a:r>
              <a:r>
                <a:rPr lang="en-NL" sz="700" kern="0">
                  <a:solidFill>
                    <a:srgbClr val="363A3B"/>
                  </a:solidFill>
                  <a:latin typeface="Myriad for Rabobank It"/>
                </a:rPr>
                <a:t>)</a:t>
              </a:r>
            </a:p>
          </p:txBody>
        </p:sp>
        <p:sp>
          <p:nvSpPr>
            <p:cNvPr id="456" name="Rectangle 455">
              <a:extLst>
                <a:ext uri="{FF2B5EF4-FFF2-40B4-BE49-F238E27FC236}">
                  <a16:creationId xmlns:a16="http://schemas.microsoft.com/office/drawing/2014/main" id="{FE6E89F3-B3FA-5544-9DC3-EDA4B32252EF}"/>
                </a:ext>
              </a:extLst>
            </p:cNvPr>
            <p:cNvSpPr/>
            <p:nvPr/>
          </p:nvSpPr>
          <p:spPr>
            <a:xfrm>
              <a:off x="2454112" y="4748327"/>
              <a:ext cx="928249" cy="357915"/>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378">
                <a:defRPr/>
              </a:pPr>
              <a:r>
                <a:rPr lang="en-IN" sz="800" kern="0">
                  <a:solidFill>
                    <a:srgbClr val="363A3B"/>
                  </a:solidFill>
                  <a:latin typeface="Myriad for Rabobank It"/>
                </a:rPr>
                <a:t>Tribe External </a:t>
              </a:r>
              <a:r>
                <a:rPr lang="en-NL" sz="800" kern="0">
                  <a:solidFill>
                    <a:srgbClr val="363A3B"/>
                  </a:solidFill>
                  <a:latin typeface="Myriad for Rabobank It"/>
                </a:rPr>
                <a:t>Reporting</a:t>
              </a:r>
            </a:p>
          </p:txBody>
        </p:sp>
        <p:sp>
          <p:nvSpPr>
            <p:cNvPr id="457" name="Double Bracket 456">
              <a:extLst>
                <a:ext uri="{FF2B5EF4-FFF2-40B4-BE49-F238E27FC236}">
                  <a16:creationId xmlns:a16="http://schemas.microsoft.com/office/drawing/2014/main" id="{FC8EF33E-C31B-E14C-9406-4AEFCBB1265E}"/>
                </a:ext>
              </a:extLst>
            </p:cNvPr>
            <p:cNvSpPr/>
            <p:nvPr/>
          </p:nvSpPr>
          <p:spPr>
            <a:xfrm>
              <a:off x="3514600" y="1252705"/>
              <a:ext cx="7149435" cy="3995209"/>
            </a:xfrm>
            <a:prstGeom prst="bracketPair">
              <a:avLst>
                <a:gd name="adj" fmla="val 0"/>
              </a:avLst>
            </a:prstGeom>
            <a:noFill/>
            <a:ln w="19050" cap="flat" cmpd="sng" algn="ctr">
              <a:solidFill>
                <a:schemeClr val="accent2"/>
              </a:solidFill>
              <a:prstDash val="solid"/>
              <a:miter lim="800000"/>
            </a:ln>
            <a:effectLst/>
          </p:spPr>
          <p:txBody>
            <a:bodyPr tIns="0" bIns="0" rtlCol="0" anchor="t"/>
            <a:lstStyle/>
            <a:p>
              <a:pPr algn="ctr" defTabSz="914378">
                <a:defRPr/>
              </a:pPr>
              <a:r>
                <a:rPr lang="en-IN" sz="1400" b="1" kern="0">
                  <a:solidFill>
                    <a:schemeClr val="accent2"/>
                  </a:solidFill>
                  <a:latin typeface="Myriad for Rabobank"/>
                </a:rPr>
                <a:t>&lt;------------------- </a:t>
              </a:r>
              <a:r>
                <a:rPr lang="en-NL" sz="1400" b="1" kern="0">
                  <a:solidFill>
                    <a:schemeClr val="accent2"/>
                  </a:solidFill>
                  <a:latin typeface="Myriad for Rabobank"/>
                </a:rPr>
                <a:t>T</a:t>
              </a:r>
              <a:r>
                <a:rPr lang="en-GB" sz="1400" b="1" kern="0">
                  <a:solidFill>
                    <a:schemeClr val="accent2"/>
                  </a:solidFill>
                  <a:latin typeface="Myriad for Rabobank"/>
                </a:rPr>
                <a:t>r</a:t>
              </a:r>
              <a:r>
                <a:rPr lang="en-NL" sz="1400" b="1" kern="0">
                  <a:solidFill>
                    <a:schemeClr val="accent2"/>
                  </a:solidFill>
                  <a:latin typeface="Myriad for Rabobank"/>
                </a:rPr>
                <a:t>ibe Credit Analytics</a:t>
              </a:r>
              <a:r>
                <a:rPr lang="en-IN" sz="1400" b="1" kern="0">
                  <a:solidFill>
                    <a:schemeClr val="accent2"/>
                  </a:solidFill>
                  <a:latin typeface="Myriad for Rabobank"/>
                </a:rPr>
                <a:t> -------------------&gt; </a:t>
              </a:r>
              <a:endParaRPr lang="en-NL" sz="1400" b="1" kern="0">
                <a:solidFill>
                  <a:schemeClr val="accent2"/>
                </a:solidFill>
                <a:latin typeface="Myriad for Rabobank"/>
              </a:endParaRPr>
            </a:p>
          </p:txBody>
        </p:sp>
        <p:sp>
          <p:nvSpPr>
            <p:cNvPr id="458" name="Right Arrow 459">
              <a:extLst>
                <a:ext uri="{FF2B5EF4-FFF2-40B4-BE49-F238E27FC236}">
                  <a16:creationId xmlns:a16="http://schemas.microsoft.com/office/drawing/2014/main" id="{EDF52A0F-6568-4FCB-C5A8-3BB12CE9EC39}"/>
                </a:ext>
              </a:extLst>
            </p:cNvPr>
            <p:cNvSpPr/>
            <p:nvPr/>
          </p:nvSpPr>
          <p:spPr>
            <a:xfrm>
              <a:off x="9821285" y="2524097"/>
              <a:ext cx="763713" cy="2067473"/>
            </a:xfrm>
            <a:prstGeom prst="rightArrow">
              <a:avLst>
                <a:gd name="adj1" fmla="val 50000"/>
                <a:gd name="adj2" fmla="val 29138"/>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378"/>
              <a:r>
                <a:rPr lang="en-NL" sz="700" b="1" kern="0">
                  <a:latin typeface="+mj-lt"/>
                </a:rPr>
                <a:t>Deliver</a:t>
              </a:r>
            </a:p>
            <a:p>
              <a:pPr algn="ctr" defTabSz="914378"/>
              <a:r>
                <a:rPr lang="en-NL" sz="700" b="1" kern="0">
                  <a:latin typeface="+mj-lt"/>
                </a:rPr>
                <a:t>Verified Risk Metrics</a:t>
              </a:r>
            </a:p>
          </p:txBody>
        </p:sp>
        <p:sp>
          <p:nvSpPr>
            <p:cNvPr id="363" name="Rectangle 362">
              <a:extLst>
                <a:ext uri="{FF2B5EF4-FFF2-40B4-BE49-F238E27FC236}">
                  <a16:creationId xmlns:a16="http://schemas.microsoft.com/office/drawing/2014/main" id="{1770D9F9-E357-6CD7-1D9F-27400D8E6576}"/>
                </a:ext>
              </a:extLst>
            </p:cNvPr>
            <p:cNvSpPr/>
            <p:nvPr/>
          </p:nvSpPr>
          <p:spPr>
            <a:xfrm>
              <a:off x="4698457" y="1840734"/>
              <a:ext cx="3822481" cy="842271"/>
            </a:xfrm>
            <a:prstGeom prst="rect">
              <a:avLst/>
            </a:prstGeom>
            <a:solidFill>
              <a:srgbClr val="7030A0"/>
            </a:solidFill>
            <a:ln w="12700" cap="flat" cmpd="sng" algn="ctr">
              <a:solidFill>
                <a:srgbClr val="0058FF">
                  <a:shade val="50000"/>
                </a:srgbClr>
              </a:solidFill>
              <a:prstDash val="solid"/>
              <a:miter lim="800000"/>
            </a:ln>
            <a:effectLst/>
          </p:spPr>
          <p:txBody>
            <a:bodyPr rtlCol="0" anchor="t"/>
            <a:lstStyle/>
            <a:p>
              <a:pPr defTabSz="914378">
                <a:defRPr/>
              </a:pPr>
              <a:r>
                <a:rPr lang="en-US" sz="800" kern="0">
                  <a:solidFill>
                    <a:schemeClr val="bg1"/>
                  </a:solidFill>
                  <a:latin typeface="Myriad for Rabobank"/>
                </a:rPr>
                <a:t>Calculation Platform (CAS)</a:t>
              </a:r>
            </a:p>
          </p:txBody>
        </p:sp>
        <p:sp>
          <p:nvSpPr>
            <p:cNvPr id="364" name="Rectangle 363">
              <a:extLst>
                <a:ext uri="{FF2B5EF4-FFF2-40B4-BE49-F238E27FC236}">
                  <a16:creationId xmlns:a16="http://schemas.microsoft.com/office/drawing/2014/main" id="{24B7637A-BDBB-FD9F-8A27-8CAEE2E7B560}"/>
                </a:ext>
              </a:extLst>
            </p:cNvPr>
            <p:cNvSpPr/>
            <p:nvPr/>
          </p:nvSpPr>
          <p:spPr>
            <a:xfrm>
              <a:off x="4937052" y="2135817"/>
              <a:ext cx="870191" cy="429049"/>
            </a:xfrm>
            <a:prstGeom prst="rect">
              <a:avLst/>
            </a:prstGeom>
            <a:solidFill>
              <a:srgbClr val="FFC000"/>
            </a:solidFill>
            <a:ln w="12700" cap="flat" cmpd="sng" algn="ctr">
              <a:solidFill>
                <a:srgbClr val="000099">
                  <a:shade val="50000"/>
                </a:srgbClr>
              </a:solidFill>
              <a:prstDash val="solid"/>
            </a:ln>
            <a:effectLst/>
          </p:spPr>
          <p:txBody>
            <a:bodyPr rtlCol="0" anchor="t"/>
            <a:lstStyle/>
            <a:p>
              <a:pPr algn="ctr" defTabSz="456977">
                <a:defRPr/>
              </a:pPr>
              <a:r>
                <a:rPr lang="en-US" sz="500" kern="0">
                  <a:latin typeface="Calibri" panose="020F0502020204030204" pitchFamily="34" charset="0"/>
                  <a:cs typeface="Calibri" panose="020F0502020204030204" pitchFamily="34" charset="0"/>
                </a:rPr>
                <a:t>Model Calculator 1</a:t>
              </a:r>
            </a:p>
          </p:txBody>
        </p:sp>
        <p:sp>
          <p:nvSpPr>
            <p:cNvPr id="370" name="Rectangle 369">
              <a:extLst>
                <a:ext uri="{FF2B5EF4-FFF2-40B4-BE49-F238E27FC236}">
                  <a16:creationId xmlns:a16="http://schemas.microsoft.com/office/drawing/2014/main" id="{F22F460A-A672-22B3-05A9-1C94058B0968}"/>
                </a:ext>
              </a:extLst>
            </p:cNvPr>
            <p:cNvSpPr/>
            <p:nvPr/>
          </p:nvSpPr>
          <p:spPr>
            <a:xfrm>
              <a:off x="5114018" y="2361235"/>
              <a:ext cx="413825" cy="158395"/>
            </a:xfrm>
            <a:prstGeom prst="rect">
              <a:avLst/>
            </a:prstGeom>
            <a:solidFill>
              <a:schemeClr val="bg1"/>
            </a:solidFill>
            <a:ln w="12700" cap="flat" cmpd="sng" algn="ctr">
              <a:solidFill>
                <a:srgbClr val="000099">
                  <a:shade val="50000"/>
                </a:srgbClr>
              </a:solidFill>
              <a:prstDash val="solid"/>
            </a:ln>
            <a:effectLst/>
          </p:spPr>
          <p:txBody>
            <a:bodyPr lIns="0" rIns="0" rtlCol="0" anchor="ctr"/>
            <a:lstStyle/>
            <a:p>
              <a:pPr algn="ctr" defTabSz="456977">
                <a:defRPr/>
              </a:pPr>
              <a:r>
                <a:rPr lang="en-US" sz="600" kern="0" err="1">
                  <a:latin typeface="Calibri" panose="020F0502020204030204" pitchFamily="34" charset="0"/>
                  <a:cs typeface="Calibri" panose="020F0502020204030204" pitchFamily="34" charset="0"/>
                </a:rPr>
                <a:t>irb</a:t>
              </a:r>
              <a:endParaRPr lang="en-US" sz="600" kern="0">
                <a:latin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B56B5CFF-7518-4292-61E2-43FBF6657F5D}"/>
                </a:ext>
              </a:extLst>
            </p:cNvPr>
            <p:cNvGrpSpPr/>
            <p:nvPr/>
          </p:nvGrpSpPr>
          <p:grpSpPr>
            <a:xfrm>
              <a:off x="5167422" y="2675995"/>
              <a:ext cx="3067224" cy="375791"/>
              <a:chOff x="3389170" y="2649212"/>
              <a:chExt cx="2416364" cy="298800"/>
            </a:xfrm>
          </p:grpSpPr>
          <p:cxnSp>
            <p:nvCxnSpPr>
              <p:cNvPr id="384" name="Straight Arrow Connector 383">
                <a:extLst>
                  <a:ext uri="{FF2B5EF4-FFF2-40B4-BE49-F238E27FC236}">
                    <a16:creationId xmlns:a16="http://schemas.microsoft.com/office/drawing/2014/main" id="{2C6DA16C-D4D9-E5BE-0DD7-CB270F28365E}"/>
                  </a:ext>
                </a:extLst>
              </p:cNvPr>
              <p:cNvCxnSpPr>
                <a:cxnSpLocks/>
              </p:cNvCxnSpPr>
              <p:nvPr/>
            </p:nvCxnSpPr>
            <p:spPr>
              <a:xfrm flipV="1">
                <a:off x="3389170" y="2649212"/>
                <a:ext cx="6768" cy="298800"/>
              </a:xfrm>
              <a:prstGeom prst="straightConnector1">
                <a:avLst/>
              </a:prstGeom>
              <a:noFill/>
              <a:ln w="9525" cap="flat" cmpd="sng" algn="ctr">
                <a:solidFill>
                  <a:sysClr val="windowText" lastClr="000000"/>
                </a:solidFill>
                <a:prstDash val="solid"/>
                <a:tailEnd type="triangle"/>
              </a:ln>
              <a:effectLst/>
            </p:spPr>
          </p:cxnSp>
          <p:cxnSp>
            <p:nvCxnSpPr>
              <p:cNvPr id="385" name="Straight Arrow Connector 384">
                <a:extLst>
                  <a:ext uri="{FF2B5EF4-FFF2-40B4-BE49-F238E27FC236}">
                    <a16:creationId xmlns:a16="http://schemas.microsoft.com/office/drawing/2014/main" id="{62779669-406B-22EE-A129-F5332755ABB5}"/>
                  </a:ext>
                </a:extLst>
              </p:cNvPr>
              <p:cNvCxnSpPr>
                <a:cxnSpLocks/>
              </p:cNvCxnSpPr>
              <p:nvPr/>
            </p:nvCxnSpPr>
            <p:spPr>
              <a:xfrm>
                <a:off x="3607705" y="2649212"/>
                <a:ext cx="1097" cy="298800"/>
              </a:xfrm>
              <a:prstGeom prst="straightConnector1">
                <a:avLst/>
              </a:prstGeom>
              <a:noFill/>
              <a:ln w="9525" cap="flat" cmpd="sng" algn="ctr">
                <a:solidFill>
                  <a:sysClr val="windowText" lastClr="000000"/>
                </a:solidFill>
                <a:prstDash val="solid"/>
                <a:tailEnd type="triangle"/>
              </a:ln>
              <a:effectLst/>
            </p:spPr>
          </p:cxnSp>
          <p:cxnSp>
            <p:nvCxnSpPr>
              <p:cNvPr id="386" name="Straight Arrow Connector 385">
                <a:extLst>
                  <a:ext uri="{FF2B5EF4-FFF2-40B4-BE49-F238E27FC236}">
                    <a16:creationId xmlns:a16="http://schemas.microsoft.com/office/drawing/2014/main" id="{9196E285-69EE-6C37-FEC0-2F910D5DD5EE}"/>
                  </a:ext>
                </a:extLst>
              </p:cNvPr>
              <p:cNvCxnSpPr>
                <a:cxnSpLocks/>
              </p:cNvCxnSpPr>
              <p:nvPr/>
            </p:nvCxnSpPr>
            <p:spPr>
              <a:xfrm flipV="1">
                <a:off x="4075649" y="2649212"/>
                <a:ext cx="2106" cy="298800"/>
              </a:xfrm>
              <a:prstGeom prst="straightConnector1">
                <a:avLst/>
              </a:prstGeom>
              <a:noFill/>
              <a:ln w="9525" cap="flat" cmpd="sng" algn="ctr">
                <a:solidFill>
                  <a:sysClr val="windowText" lastClr="000000"/>
                </a:solidFill>
                <a:prstDash val="solid"/>
                <a:tailEnd type="triangle"/>
              </a:ln>
              <a:effectLst/>
            </p:spPr>
          </p:cxnSp>
          <p:cxnSp>
            <p:nvCxnSpPr>
              <p:cNvPr id="387" name="Straight Arrow Connector 386">
                <a:extLst>
                  <a:ext uri="{FF2B5EF4-FFF2-40B4-BE49-F238E27FC236}">
                    <a16:creationId xmlns:a16="http://schemas.microsoft.com/office/drawing/2014/main" id="{BC29BF05-71D7-0238-3750-42A821B3AA95}"/>
                  </a:ext>
                </a:extLst>
              </p:cNvPr>
              <p:cNvCxnSpPr>
                <a:cxnSpLocks/>
              </p:cNvCxnSpPr>
              <p:nvPr/>
            </p:nvCxnSpPr>
            <p:spPr>
              <a:xfrm>
                <a:off x="4231532" y="2649212"/>
                <a:ext cx="4244" cy="298800"/>
              </a:xfrm>
              <a:prstGeom prst="straightConnector1">
                <a:avLst/>
              </a:prstGeom>
              <a:noFill/>
              <a:ln w="9525" cap="flat" cmpd="sng" algn="ctr">
                <a:solidFill>
                  <a:sysClr val="windowText" lastClr="000000"/>
                </a:solidFill>
                <a:prstDash val="solid"/>
                <a:tailEnd type="triangle"/>
              </a:ln>
              <a:effectLst/>
            </p:spPr>
          </p:cxnSp>
          <p:cxnSp>
            <p:nvCxnSpPr>
              <p:cNvPr id="388" name="Straight Arrow Connector 387">
                <a:extLst>
                  <a:ext uri="{FF2B5EF4-FFF2-40B4-BE49-F238E27FC236}">
                    <a16:creationId xmlns:a16="http://schemas.microsoft.com/office/drawing/2014/main" id="{F4940C83-BBC7-059A-9DDF-2315F35CF0EB}"/>
                  </a:ext>
                </a:extLst>
              </p:cNvPr>
              <p:cNvCxnSpPr>
                <a:cxnSpLocks/>
              </p:cNvCxnSpPr>
              <p:nvPr/>
            </p:nvCxnSpPr>
            <p:spPr>
              <a:xfrm flipV="1">
                <a:off x="4571193" y="2649212"/>
                <a:ext cx="0" cy="298800"/>
              </a:xfrm>
              <a:prstGeom prst="straightConnector1">
                <a:avLst/>
              </a:prstGeom>
              <a:noFill/>
              <a:ln w="9525" cap="flat" cmpd="sng" algn="ctr">
                <a:solidFill>
                  <a:sysClr val="windowText" lastClr="000000"/>
                </a:solidFill>
                <a:prstDash val="solid"/>
                <a:tailEnd type="triangle"/>
              </a:ln>
              <a:effectLst/>
            </p:spPr>
          </p:cxnSp>
          <p:cxnSp>
            <p:nvCxnSpPr>
              <p:cNvPr id="389" name="Straight Arrow Connector 388">
                <a:extLst>
                  <a:ext uri="{FF2B5EF4-FFF2-40B4-BE49-F238E27FC236}">
                    <a16:creationId xmlns:a16="http://schemas.microsoft.com/office/drawing/2014/main" id="{29055BAD-9F3F-A551-A4A1-578ACE704FE1}"/>
                  </a:ext>
                </a:extLst>
              </p:cNvPr>
              <p:cNvCxnSpPr>
                <a:cxnSpLocks/>
              </p:cNvCxnSpPr>
              <p:nvPr/>
            </p:nvCxnSpPr>
            <p:spPr>
              <a:xfrm>
                <a:off x="4755666" y="2649212"/>
                <a:ext cx="0" cy="298800"/>
              </a:xfrm>
              <a:prstGeom prst="straightConnector1">
                <a:avLst/>
              </a:prstGeom>
              <a:noFill/>
              <a:ln w="9525" cap="flat" cmpd="sng" algn="ctr">
                <a:solidFill>
                  <a:sysClr val="windowText" lastClr="000000"/>
                </a:solidFill>
                <a:prstDash val="solid"/>
                <a:tailEnd type="triangle"/>
              </a:ln>
              <a:effectLst/>
            </p:spPr>
          </p:cxnSp>
          <p:cxnSp>
            <p:nvCxnSpPr>
              <p:cNvPr id="390" name="Straight Arrow Connector 389">
                <a:extLst>
                  <a:ext uri="{FF2B5EF4-FFF2-40B4-BE49-F238E27FC236}">
                    <a16:creationId xmlns:a16="http://schemas.microsoft.com/office/drawing/2014/main" id="{A12B6F8E-5638-0F0F-8964-9B4A9284010A}"/>
                  </a:ext>
                </a:extLst>
              </p:cNvPr>
              <p:cNvCxnSpPr>
                <a:cxnSpLocks/>
              </p:cNvCxnSpPr>
              <p:nvPr/>
            </p:nvCxnSpPr>
            <p:spPr>
              <a:xfrm flipV="1">
                <a:off x="5063031" y="2649212"/>
                <a:ext cx="0" cy="298800"/>
              </a:xfrm>
              <a:prstGeom prst="straightConnector1">
                <a:avLst/>
              </a:prstGeom>
              <a:noFill/>
              <a:ln w="9525" cap="flat" cmpd="sng" algn="ctr">
                <a:solidFill>
                  <a:sysClr val="windowText" lastClr="000000"/>
                </a:solidFill>
                <a:prstDash val="solid"/>
                <a:tailEnd type="triangle"/>
              </a:ln>
              <a:effectLst/>
            </p:spPr>
          </p:cxnSp>
          <p:cxnSp>
            <p:nvCxnSpPr>
              <p:cNvPr id="391" name="Straight Arrow Connector 390">
                <a:extLst>
                  <a:ext uri="{FF2B5EF4-FFF2-40B4-BE49-F238E27FC236}">
                    <a16:creationId xmlns:a16="http://schemas.microsoft.com/office/drawing/2014/main" id="{E8BFAD42-CDB7-3ECE-B01B-3B25651CDA4B}"/>
                  </a:ext>
                </a:extLst>
              </p:cNvPr>
              <p:cNvCxnSpPr>
                <a:cxnSpLocks/>
              </p:cNvCxnSpPr>
              <p:nvPr/>
            </p:nvCxnSpPr>
            <p:spPr>
              <a:xfrm>
                <a:off x="5254372" y="2649212"/>
                <a:ext cx="0" cy="298800"/>
              </a:xfrm>
              <a:prstGeom prst="straightConnector1">
                <a:avLst/>
              </a:prstGeom>
              <a:noFill/>
              <a:ln w="9525" cap="flat" cmpd="sng" algn="ctr">
                <a:solidFill>
                  <a:sysClr val="windowText" lastClr="000000"/>
                </a:solidFill>
                <a:prstDash val="solid"/>
                <a:tailEnd type="triangle"/>
              </a:ln>
              <a:effectLst/>
            </p:spPr>
          </p:cxnSp>
          <p:cxnSp>
            <p:nvCxnSpPr>
              <p:cNvPr id="392" name="Straight Arrow Connector 391">
                <a:extLst>
                  <a:ext uri="{FF2B5EF4-FFF2-40B4-BE49-F238E27FC236}">
                    <a16:creationId xmlns:a16="http://schemas.microsoft.com/office/drawing/2014/main" id="{DBCCE0B7-D387-8A5F-2E93-AA611A046EBC}"/>
                  </a:ext>
                </a:extLst>
              </p:cNvPr>
              <p:cNvCxnSpPr>
                <a:cxnSpLocks/>
              </p:cNvCxnSpPr>
              <p:nvPr/>
            </p:nvCxnSpPr>
            <p:spPr>
              <a:xfrm flipV="1">
                <a:off x="5572870" y="2649212"/>
                <a:ext cx="0" cy="298800"/>
              </a:xfrm>
              <a:prstGeom prst="straightConnector1">
                <a:avLst/>
              </a:prstGeom>
              <a:noFill/>
              <a:ln w="9525" cap="flat" cmpd="sng" algn="ctr">
                <a:solidFill>
                  <a:sysClr val="windowText" lastClr="000000"/>
                </a:solidFill>
                <a:prstDash val="solid"/>
                <a:tailEnd type="triangle"/>
              </a:ln>
              <a:effectLst/>
            </p:spPr>
          </p:cxnSp>
          <p:cxnSp>
            <p:nvCxnSpPr>
              <p:cNvPr id="393" name="Straight Arrow Connector 392">
                <a:extLst>
                  <a:ext uri="{FF2B5EF4-FFF2-40B4-BE49-F238E27FC236}">
                    <a16:creationId xmlns:a16="http://schemas.microsoft.com/office/drawing/2014/main" id="{49E67017-6814-FC71-D8FF-738BFE909B9C}"/>
                  </a:ext>
                </a:extLst>
              </p:cNvPr>
              <p:cNvCxnSpPr>
                <a:cxnSpLocks/>
              </p:cNvCxnSpPr>
              <p:nvPr/>
            </p:nvCxnSpPr>
            <p:spPr>
              <a:xfrm>
                <a:off x="5805534" y="2649212"/>
                <a:ext cx="0" cy="298800"/>
              </a:xfrm>
              <a:prstGeom prst="straightConnector1">
                <a:avLst/>
              </a:prstGeom>
              <a:noFill/>
              <a:ln w="9525" cap="flat" cmpd="sng" algn="ctr">
                <a:solidFill>
                  <a:sysClr val="windowText" lastClr="000000"/>
                </a:solidFill>
                <a:prstDash val="solid"/>
                <a:tailEnd type="triangle"/>
              </a:ln>
              <a:effectLst/>
            </p:spPr>
          </p:cxnSp>
        </p:grpSp>
        <p:sp>
          <p:nvSpPr>
            <p:cNvPr id="471" name="Rectangle 470">
              <a:extLst>
                <a:ext uri="{FF2B5EF4-FFF2-40B4-BE49-F238E27FC236}">
                  <a16:creationId xmlns:a16="http://schemas.microsoft.com/office/drawing/2014/main" id="{D3E4BFA5-8135-3E8C-FDF2-A086269EC0F7}"/>
                </a:ext>
              </a:extLst>
            </p:cNvPr>
            <p:cNvSpPr/>
            <p:nvPr/>
          </p:nvSpPr>
          <p:spPr>
            <a:xfrm>
              <a:off x="5928188" y="2135817"/>
              <a:ext cx="458223" cy="426536"/>
            </a:xfrm>
            <a:prstGeom prst="rect">
              <a:avLst/>
            </a:prstGeom>
            <a:solidFill>
              <a:srgbClr val="FFC000"/>
            </a:solidFill>
            <a:ln w="12700" cap="flat" cmpd="sng" algn="ctr">
              <a:solidFill>
                <a:srgbClr val="000099">
                  <a:shade val="50000"/>
                </a:srgbClr>
              </a:solidFill>
              <a:prstDash val="solid"/>
            </a:ln>
            <a:effectLst/>
          </p:spPr>
          <p:txBody>
            <a:bodyPr rtlCol="0" anchor="t"/>
            <a:lstStyle/>
            <a:p>
              <a:pPr algn="ctr" defTabSz="456977">
                <a:defRPr/>
              </a:pPr>
              <a:r>
                <a:rPr lang="en-US" sz="500" kern="0">
                  <a:latin typeface="Calibri" panose="020F0502020204030204" pitchFamily="34" charset="0"/>
                  <a:cs typeface="Calibri" panose="020F0502020204030204" pitchFamily="34" charset="0"/>
                </a:rPr>
                <a:t>MC 2</a:t>
              </a:r>
            </a:p>
          </p:txBody>
        </p:sp>
        <p:sp>
          <p:nvSpPr>
            <p:cNvPr id="472" name="Rectangle 471">
              <a:extLst>
                <a:ext uri="{FF2B5EF4-FFF2-40B4-BE49-F238E27FC236}">
                  <a16:creationId xmlns:a16="http://schemas.microsoft.com/office/drawing/2014/main" id="{D0A8E38C-8F5E-473A-6C61-286DB693841B}"/>
                </a:ext>
              </a:extLst>
            </p:cNvPr>
            <p:cNvSpPr/>
            <p:nvPr/>
          </p:nvSpPr>
          <p:spPr>
            <a:xfrm>
              <a:off x="6001613" y="2327035"/>
              <a:ext cx="314299" cy="190081"/>
            </a:xfrm>
            <a:prstGeom prst="rect">
              <a:avLst/>
            </a:prstGeom>
            <a:solidFill>
              <a:schemeClr val="bg1"/>
            </a:solidFill>
            <a:ln w="12700" cap="flat" cmpd="sng" algn="ctr">
              <a:solidFill>
                <a:srgbClr val="000099">
                  <a:shade val="50000"/>
                </a:srgbClr>
              </a:solidFill>
              <a:prstDash val="solid"/>
            </a:ln>
            <a:effectLst/>
          </p:spPr>
          <p:txBody>
            <a:bodyPr lIns="0" rIns="0" rtlCol="0" anchor="ctr"/>
            <a:lstStyle/>
            <a:p>
              <a:pPr algn="ctr" defTabSz="456977">
                <a:defRPr/>
              </a:pPr>
              <a:r>
                <a:rPr lang="en-US" sz="600" kern="0">
                  <a:latin typeface="Calibri" panose="020F0502020204030204" pitchFamily="34" charset="0"/>
                  <a:cs typeface="Calibri" panose="020F0502020204030204" pitchFamily="34" charset="0"/>
                </a:rPr>
                <a:t>ECL</a:t>
              </a:r>
            </a:p>
          </p:txBody>
        </p:sp>
        <p:sp>
          <p:nvSpPr>
            <p:cNvPr id="473" name="Rectangle 472">
              <a:extLst>
                <a:ext uri="{FF2B5EF4-FFF2-40B4-BE49-F238E27FC236}">
                  <a16:creationId xmlns:a16="http://schemas.microsoft.com/office/drawing/2014/main" id="{2152E18F-D8B2-653F-3933-9732A8BF87C8}"/>
                </a:ext>
              </a:extLst>
            </p:cNvPr>
            <p:cNvSpPr/>
            <p:nvPr/>
          </p:nvSpPr>
          <p:spPr>
            <a:xfrm>
              <a:off x="6473113" y="2138331"/>
              <a:ext cx="482777" cy="426536"/>
            </a:xfrm>
            <a:prstGeom prst="rect">
              <a:avLst/>
            </a:prstGeom>
            <a:solidFill>
              <a:srgbClr val="FFC000"/>
            </a:solidFill>
            <a:ln w="12700" cap="flat" cmpd="sng" algn="ctr">
              <a:solidFill>
                <a:srgbClr val="000099">
                  <a:shade val="50000"/>
                </a:srgbClr>
              </a:solidFill>
              <a:prstDash val="solid"/>
            </a:ln>
            <a:effectLst/>
          </p:spPr>
          <p:txBody>
            <a:bodyPr rtlCol="0" anchor="t"/>
            <a:lstStyle/>
            <a:p>
              <a:pPr algn="ctr" defTabSz="456977">
                <a:defRPr/>
              </a:pPr>
              <a:r>
                <a:rPr lang="en-US" sz="500" kern="0">
                  <a:latin typeface="Calibri" panose="020F0502020204030204" pitchFamily="34" charset="0"/>
                  <a:cs typeface="Calibri" panose="020F0502020204030204" pitchFamily="34" charset="0"/>
                </a:rPr>
                <a:t>MC 2</a:t>
              </a:r>
            </a:p>
          </p:txBody>
        </p:sp>
        <p:sp>
          <p:nvSpPr>
            <p:cNvPr id="474" name="Rectangle 473">
              <a:extLst>
                <a:ext uri="{FF2B5EF4-FFF2-40B4-BE49-F238E27FC236}">
                  <a16:creationId xmlns:a16="http://schemas.microsoft.com/office/drawing/2014/main" id="{7012ACAE-C9BA-1EDA-5E0F-B6B8CC74F34B}"/>
                </a:ext>
              </a:extLst>
            </p:cNvPr>
            <p:cNvSpPr/>
            <p:nvPr/>
          </p:nvSpPr>
          <p:spPr>
            <a:xfrm>
              <a:off x="6549556" y="2329550"/>
              <a:ext cx="317119" cy="190081"/>
            </a:xfrm>
            <a:prstGeom prst="rect">
              <a:avLst/>
            </a:prstGeom>
            <a:solidFill>
              <a:schemeClr val="bg1"/>
            </a:solidFill>
            <a:ln w="12700" cap="flat" cmpd="sng" algn="ctr">
              <a:solidFill>
                <a:srgbClr val="000099">
                  <a:shade val="50000"/>
                </a:srgbClr>
              </a:solidFill>
              <a:prstDash val="solid"/>
            </a:ln>
            <a:effectLst/>
          </p:spPr>
          <p:txBody>
            <a:bodyPr lIns="0" rIns="0" rtlCol="0" anchor="ctr"/>
            <a:lstStyle/>
            <a:p>
              <a:pPr algn="ctr" defTabSz="456977">
                <a:defRPr/>
              </a:pPr>
              <a:r>
                <a:rPr lang="en-US" sz="600" kern="0">
                  <a:latin typeface="Calibri" panose="020F0502020204030204" pitchFamily="34" charset="0"/>
                  <a:cs typeface="Calibri" panose="020F0502020204030204" pitchFamily="34" charset="0"/>
                </a:rPr>
                <a:t>RWA</a:t>
              </a:r>
            </a:p>
          </p:txBody>
        </p:sp>
        <p:sp>
          <p:nvSpPr>
            <p:cNvPr id="475" name="Rectangle 474">
              <a:extLst>
                <a:ext uri="{FF2B5EF4-FFF2-40B4-BE49-F238E27FC236}">
                  <a16:creationId xmlns:a16="http://schemas.microsoft.com/office/drawing/2014/main" id="{F2A4B42B-BDD8-8725-186D-CC43055C2393}"/>
                </a:ext>
              </a:extLst>
            </p:cNvPr>
            <p:cNvSpPr/>
            <p:nvPr/>
          </p:nvSpPr>
          <p:spPr>
            <a:xfrm>
              <a:off x="7110220" y="2138331"/>
              <a:ext cx="532827" cy="426536"/>
            </a:xfrm>
            <a:prstGeom prst="rect">
              <a:avLst/>
            </a:prstGeom>
            <a:solidFill>
              <a:srgbClr val="FFC000"/>
            </a:solidFill>
            <a:ln w="12700" cap="flat" cmpd="sng" algn="ctr">
              <a:solidFill>
                <a:srgbClr val="000099">
                  <a:shade val="50000"/>
                </a:srgbClr>
              </a:solidFill>
              <a:prstDash val="solid"/>
            </a:ln>
            <a:effectLst/>
          </p:spPr>
          <p:txBody>
            <a:bodyPr rtlCol="0" anchor="t"/>
            <a:lstStyle/>
            <a:p>
              <a:pPr algn="ctr" defTabSz="456977">
                <a:defRPr/>
              </a:pPr>
              <a:r>
                <a:rPr lang="en-US" sz="500" kern="0">
                  <a:latin typeface="Calibri" panose="020F0502020204030204" pitchFamily="34" charset="0"/>
                  <a:cs typeface="Calibri" panose="020F0502020204030204" pitchFamily="34" charset="0"/>
                </a:rPr>
                <a:t>MC 2</a:t>
              </a:r>
            </a:p>
          </p:txBody>
        </p:sp>
        <p:sp>
          <p:nvSpPr>
            <p:cNvPr id="476" name="Rectangle 475">
              <a:extLst>
                <a:ext uri="{FF2B5EF4-FFF2-40B4-BE49-F238E27FC236}">
                  <a16:creationId xmlns:a16="http://schemas.microsoft.com/office/drawing/2014/main" id="{82D56754-2855-1124-12C7-22A69AAA016F}"/>
                </a:ext>
              </a:extLst>
            </p:cNvPr>
            <p:cNvSpPr/>
            <p:nvPr/>
          </p:nvSpPr>
          <p:spPr>
            <a:xfrm>
              <a:off x="7175144" y="2329550"/>
              <a:ext cx="388256" cy="190081"/>
            </a:xfrm>
            <a:prstGeom prst="rect">
              <a:avLst/>
            </a:prstGeom>
            <a:solidFill>
              <a:schemeClr val="bg1"/>
            </a:solidFill>
            <a:ln w="12700" cap="flat" cmpd="sng" algn="ctr">
              <a:solidFill>
                <a:srgbClr val="000099">
                  <a:shade val="50000"/>
                </a:srgbClr>
              </a:solidFill>
              <a:prstDash val="solid"/>
            </a:ln>
            <a:effectLst/>
          </p:spPr>
          <p:txBody>
            <a:bodyPr lIns="0" rIns="0" rtlCol="0" anchor="ctr"/>
            <a:lstStyle/>
            <a:p>
              <a:pPr algn="ctr" defTabSz="456977">
                <a:defRPr/>
              </a:pPr>
              <a:r>
                <a:rPr lang="en-US" sz="600" kern="0">
                  <a:latin typeface="Calibri" panose="020F0502020204030204" pitchFamily="34" charset="0"/>
                  <a:cs typeface="Calibri" panose="020F0502020204030204" pitchFamily="34" charset="0"/>
                </a:rPr>
                <a:t>RAROC</a:t>
              </a:r>
            </a:p>
          </p:txBody>
        </p:sp>
        <p:sp>
          <p:nvSpPr>
            <p:cNvPr id="477" name="Rectangle 476">
              <a:extLst>
                <a:ext uri="{FF2B5EF4-FFF2-40B4-BE49-F238E27FC236}">
                  <a16:creationId xmlns:a16="http://schemas.microsoft.com/office/drawing/2014/main" id="{F8CB4BEE-51B0-04DA-C799-AE69CD3A9AE6}"/>
                </a:ext>
              </a:extLst>
            </p:cNvPr>
            <p:cNvSpPr/>
            <p:nvPr/>
          </p:nvSpPr>
          <p:spPr>
            <a:xfrm>
              <a:off x="7777452" y="2138331"/>
              <a:ext cx="532827" cy="426536"/>
            </a:xfrm>
            <a:prstGeom prst="rect">
              <a:avLst/>
            </a:prstGeom>
            <a:solidFill>
              <a:srgbClr val="FFC000"/>
            </a:solidFill>
            <a:ln w="12700" cap="flat" cmpd="sng" algn="ctr">
              <a:solidFill>
                <a:srgbClr val="000099">
                  <a:shade val="50000"/>
                </a:srgbClr>
              </a:solidFill>
              <a:prstDash val="solid"/>
            </a:ln>
            <a:effectLst/>
          </p:spPr>
          <p:txBody>
            <a:bodyPr rtlCol="0" anchor="t"/>
            <a:lstStyle/>
            <a:p>
              <a:pPr algn="ctr" defTabSz="456977">
                <a:defRPr/>
              </a:pPr>
              <a:r>
                <a:rPr lang="en-US" sz="500" kern="0">
                  <a:latin typeface="Calibri" panose="020F0502020204030204" pitchFamily="34" charset="0"/>
                  <a:cs typeface="Calibri" panose="020F0502020204030204" pitchFamily="34" charset="0"/>
                </a:rPr>
                <a:t>MC 2</a:t>
              </a:r>
            </a:p>
          </p:txBody>
        </p:sp>
        <p:sp>
          <p:nvSpPr>
            <p:cNvPr id="478" name="Rectangle 477">
              <a:extLst>
                <a:ext uri="{FF2B5EF4-FFF2-40B4-BE49-F238E27FC236}">
                  <a16:creationId xmlns:a16="http://schemas.microsoft.com/office/drawing/2014/main" id="{EAA1472C-5BE5-776C-BF4D-22594EDBA098}"/>
                </a:ext>
              </a:extLst>
            </p:cNvPr>
            <p:cNvSpPr/>
            <p:nvPr/>
          </p:nvSpPr>
          <p:spPr>
            <a:xfrm>
              <a:off x="7912950" y="2338814"/>
              <a:ext cx="278651" cy="190081"/>
            </a:xfrm>
            <a:prstGeom prst="rect">
              <a:avLst/>
            </a:prstGeom>
            <a:solidFill>
              <a:schemeClr val="bg1"/>
            </a:solidFill>
            <a:ln w="12700" cap="flat" cmpd="sng" algn="ctr">
              <a:solidFill>
                <a:srgbClr val="000099">
                  <a:shade val="50000"/>
                </a:srgbClr>
              </a:solidFill>
              <a:prstDash val="solid"/>
            </a:ln>
            <a:effectLst/>
          </p:spPr>
          <p:txBody>
            <a:bodyPr lIns="0" rIns="0" rtlCol="0" anchor="ctr"/>
            <a:lstStyle/>
            <a:p>
              <a:pPr algn="ctr" defTabSz="456977">
                <a:defRPr/>
              </a:pPr>
              <a:r>
                <a:rPr lang="en-US" sz="600" kern="0">
                  <a:latin typeface="Calibri" panose="020F0502020204030204" pitchFamily="34" charset="0"/>
                  <a:cs typeface="Calibri" panose="020F0502020204030204" pitchFamily="34" charset="0"/>
                </a:rPr>
                <a:t>ST</a:t>
              </a:r>
            </a:p>
          </p:txBody>
        </p:sp>
        <p:sp>
          <p:nvSpPr>
            <p:cNvPr id="479" name="Rectangle 478">
              <a:extLst>
                <a:ext uri="{FF2B5EF4-FFF2-40B4-BE49-F238E27FC236}">
                  <a16:creationId xmlns:a16="http://schemas.microsoft.com/office/drawing/2014/main" id="{CEC1D270-8446-A862-5943-C3A5EB640C8A}"/>
                </a:ext>
              </a:extLst>
            </p:cNvPr>
            <p:cNvSpPr/>
            <p:nvPr/>
          </p:nvSpPr>
          <p:spPr>
            <a:xfrm>
              <a:off x="7361746" y="3665426"/>
              <a:ext cx="346168" cy="182293"/>
            </a:xfrm>
            <a:prstGeom prst="rect">
              <a:avLst/>
            </a:prstGeom>
            <a:solidFill>
              <a:schemeClr val="bg1"/>
            </a:solidFill>
            <a:ln w="12700" cap="flat" cmpd="sng" algn="ctr">
              <a:solidFill>
                <a:srgbClr val="000099">
                  <a:shade val="50000"/>
                </a:srgbClr>
              </a:solidFill>
              <a:prstDash val="solid"/>
            </a:ln>
            <a:effectLst/>
          </p:spPr>
          <p:txBody>
            <a:bodyPr lIns="36000" rIns="36000" rtlCol="0" anchor="ctr"/>
            <a:lstStyle/>
            <a:p>
              <a:pPr algn="ctr" defTabSz="456977">
                <a:defRPr/>
              </a:pPr>
              <a:r>
                <a:rPr lang="en-US" sz="700" kern="0">
                  <a:latin typeface="Calibri" panose="020F0502020204030204" pitchFamily="34" charset="0"/>
                  <a:cs typeface="Calibri" panose="020F0502020204030204" pitchFamily="34" charset="0"/>
                </a:rPr>
                <a:t>E(T)L</a:t>
              </a:r>
            </a:p>
          </p:txBody>
        </p:sp>
        <p:sp>
          <p:nvSpPr>
            <p:cNvPr id="585" name="Rectangle 584">
              <a:extLst>
                <a:ext uri="{FF2B5EF4-FFF2-40B4-BE49-F238E27FC236}">
                  <a16:creationId xmlns:a16="http://schemas.microsoft.com/office/drawing/2014/main" id="{97C728C0-DF2C-E315-AAF3-7BC32596D7C1}"/>
                </a:ext>
              </a:extLst>
            </p:cNvPr>
            <p:cNvSpPr/>
            <p:nvPr/>
          </p:nvSpPr>
          <p:spPr>
            <a:xfrm>
              <a:off x="8722285" y="3031669"/>
              <a:ext cx="956013" cy="1051295"/>
            </a:xfrm>
            <a:prstGeom prst="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b"/>
            <a:lstStyle/>
            <a:p>
              <a:pPr algn="ctr" defTabSz="914378"/>
              <a:r>
                <a:rPr lang="en-IN" sz="800" b="1" kern="0">
                  <a:latin typeface="+mj-lt"/>
                </a:rPr>
                <a:t>nBIF 365</a:t>
              </a:r>
            </a:p>
          </p:txBody>
        </p:sp>
        <p:sp>
          <p:nvSpPr>
            <p:cNvPr id="378" name="Rectangle 377">
              <a:extLst>
                <a:ext uri="{FF2B5EF4-FFF2-40B4-BE49-F238E27FC236}">
                  <a16:creationId xmlns:a16="http://schemas.microsoft.com/office/drawing/2014/main" id="{ADB28BCB-013F-BB74-FF1A-B694FE5B9796}"/>
                </a:ext>
              </a:extLst>
            </p:cNvPr>
            <p:cNvSpPr/>
            <p:nvPr/>
          </p:nvSpPr>
          <p:spPr>
            <a:xfrm>
              <a:off x="8830578" y="3105810"/>
              <a:ext cx="768924" cy="137292"/>
            </a:xfrm>
            <a:prstGeom prst="rect">
              <a:avLst/>
            </a:prstGeom>
            <a:solidFill>
              <a:schemeClr val="bg1"/>
            </a:solidFill>
            <a:ln w="12700" cap="flat" cmpd="sng" algn="ctr">
              <a:solidFill>
                <a:srgbClr val="000099">
                  <a:shade val="50000"/>
                </a:srgbClr>
              </a:solidFill>
              <a:prstDash val="solid"/>
            </a:ln>
            <a:effectLst/>
          </p:spPr>
          <p:txBody>
            <a:bodyPr rtlCol="0" anchor="ctr"/>
            <a:lstStyle/>
            <a:p>
              <a:pPr algn="ctr" defTabSz="456977">
                <a:defRPr/>
              </a:pPr>
              <a:r>
                <a:rPr lang="en-US" sz="600" kern="0">
                  <a:latin typeface="Calibri" panose="020F0502020204030204" pitchFamily="34" charset="0"/>
                  <a:cs typeface="Calibri" panose="020F0502020204030204" pitchFamily="34" charset="0"/>
                </a:rPr>
                <a:t>Inspect (bi)</a:t>
              </a:r>
            </a:p>
          </p:txBody>
        </p:sp>
        <p:sp>
          <p:nvSpPr>
            <p:cNvPr id="379" name="Rectangle 378">
              <a:extLst>
                <a:ext uri="{FF2B5EF4-FFF2-40B4-BE49-F238E27FC236}">
                  <a16:creationId xmlns:a16="http://schemas.microsoft.com/office/drawing/2014/main" id="{569F2BA7-2112-79A0-463C-9BA6FB534E45}"/>
                </a:ext>
              </a:extLst>
            </p:cNvPr>
            <p:cNvSpPr/>
            <p:nvPr/>
          </p:nvSpPr>
          <p:spPr>
            <a:xfrm>
              <a:off x="8830578" y="3249223"/>
              <a:ext cx="768924" cy="137292"/>
            </a:xfrm>
            <a:prstGeom prst="rect">
              <a:avLst/>
            </a:prstGeom>
            <a:solidFill>
              <a:schemeClr val="bg1"/>
            </a:solidFill>
            <a:ln w="12700" cap="flat" cmpd="sng" algn="ctr">
              <a:solidFill>
                <a:srgbClr val="000099">
                  <a:shade val="50000"/>
                </a:srgbClr>
              </a:solidFill>
              <a:prstDash val="solid"/>
            </a:ln>
            <a:effectLst/>
          </p:spPr>
          <p:txBody>
            <a:bodyPr rtlCol="0" anchor="ctr"/>
            <a:lstStyle/>
            <a:p>
              <a:pPr algn="ctr" defTabSz="456977">
                <a:defRPr/>
              </a:pPr>
              <a:r>
                <a:rPr lang="en-US" sz="600" kern="0">
                  <a:latin typeface="Calibri" panose="020F0502020204030204" pitchFamily="34" charset="0"/>
                  <a:cs typeface="Calibri" panose="020F0502020204030204" pitchFamily="34" charset="0"/>
                </a:rPr>
                <a:t>Correct</a:t>
              </a:r>
            </a:p>
          </p:txBody>
        </p:sp>
        <p:sp>
          <p:nvSpPr>
            <p:cNvPr id="380" name="Rectangle 379">
              <a:extLst>
                <a:ext uri="{FF2B5EF4-FFF2-40B4-BE49-F238E27FC236}">
                  <a16:creationId xmlns:a16="http://schemas.microsoft.com/office/drawing/2014/main" id="{F621CCE1-F7A5-6DDF-C6EC-754E79394771}"/>
                </a:ext>
              </a:extLst>
            </p:cNvPr>
            <p:cNvSpPr/>
            <p:nvPr/>
          </p:nvSpPr>
          <p:spPr>
            <a:xfrm>
              <a:off x="8830578" y="3391512"/>
              <a:ext cx="768924" cy="149664"/>
            </a:xfrm>
            <a:prstGeom prst="rect">
              <a:avLst/>
            </a:prstGeom>
            <a:solidFill>
              <a:schemeClr val="bg1"/>
            </a:solidFill>
            <a:ln w="12700" cap="flat" cmpd="sng" algn="ctr">
              <a:solidFill>
                <a:srgbClr val="000099">
                  <a:shade val="50000"/>
                </a:srgbClr>
              </a:solidFill>
              <a:prstDash val="solid"/>
            </a:ln>
            <a:effectLst/>
          </p:spPr>
          <p:txBody>
            <a:bodyPr rtlCol="0" anchor="ctr"/>
            <a:lstStyle/>
            <a:p>
              <a:pPr algn="ctr" defTabSz="456977">
                <a:defRPr/>
              </a:pPr>
              <a:r>
                <a:rPr lang="en-US" sz="600" kern="0">
                  <a:latin typeface="Calibri" panose="020F0502020204030204" pitchFamily="34" charset="0"/>
                  <a:cs typeface="Calibri" panose="020F0502020204030204" pitchFamily="34" charset="0"/>
                </a:rPr>
                <a:t>Approve</a:t>
              </a:r>
            </a:p>
          </p:txBody>
        </p:sp>
        <p:pic>
          <p:nvPicPr>
            <p:cNvPr id="396" name="Picture 6" descr="258,506 BEST Person Clipart IMAGES, STOCK PHOTOS &amp; VECTORS | Adobe Stock">
              <a:extLst>
                <a:ext uri="{FF2B5EF4-FFF2-40B4-BE49-F238E27FC236}">
                  <a16:creationId xmlns:a16="http://schemas.microsoft.com/office/drawing/2014/main" id="{805F596B-D3E4-75B7-0633-2F6935901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0341" y="1851709"/>
              <a:ext cx="623169" cy="509352"/>
            </a:xfrm>
            <a:prstGeom prst="rect">
              <a:avLst/>
            </a:prstGeom>
            <a:gradFill flip="none" rotWithShape="1">
              <a:gsLst>
                <a:gs pos="0">
                  <a:srgbClr val="FF99CC"/>
                </a:gs>
                <a:gs pos="0">
                  <a:srgbClr val="FF66CC"/>
                </a:gs>
                <a:gs pos="100000">
                  <a:srgbClr val="FFCCFF"/>
                </a:gs>
              </a:gsLst>
              <a:lin ang="16200000" scaled="1"/>
              <a:tileRect/>
            </a:gradFill>
            <a:ln w="12700" cap="rnd" cmpd="sng" algn="ctr">
              <a:solidFill>
                <a:schemeClr val="tx1"/>
              </a:solidFill>
              <a:prstDash val="solid"/>
            </a:ln>
            <a:effectLst/>
          </p:spPr>
        </p:pic>
        <p:cxnSp>
          <p:nvCxnSpPr>
            <p:cNvPr id="397" name="Straight Arrow Connector 396">
              <a:extLst>
                <a:ext uri="{FF2B5EF4-FFF2-40B4-BE49-F238E27FC236}">
                  <a16:creationId xmlns:a16="http://schemas.microsoft.com/office/drawing/2014/main" id="{F20E2410-3941-76AC-AE7B-DA592B1F91BB}"/>
                </a:ext>
              </a:extLst>
            </p:cNvPr>
            <p:cNvCxnSpPr>
              <a:cxnSpLocks/>
              <a:stCxn id="396" idx="2"/>
              <a:endCxn id="378" idx="0"/>
            </p:cNvCxnSpPr>
            <p:nvPr/>
          </p:nvCxnSpPr>
          <p:spPr>
            <a:xfrm>
              <a:off x="9211926" y="2361061"/>
              <a:ext cx="3115" cy="744749"/>
            </a:xfrm>
            <a:prstGeom prst="straightConnector1">
              <a:avLst/>
            </a:prstGeom>
            <a:noFill/>
            <a:ln w="12700" cap="rnd" cmpd="sng" algn="ctr">
              <a:solidFill>
                <a:srgbClr val="000099"/>
              </a:solidFill>
              <a:prstDash val="sysDot"/>
              <a:headEnd type="arrow" w="med" len="med"/>
              <a:tailEnd type="arrow" w="med" len="med"/>
            </a:ln>
            <a:effectLst/>
          </p:spPr>
        </p:cxnSp>
        <p:sp>
          <p:nvSpPr>
            <p:cNvPr id="453" name="TextBox 452">
              <a:extLst>
                <a:ext uri="{FF2B5EF4-FFF2-40B4-BE49-F238E27FC236}">
                  <a16:creationId xmlns:a16="http://schemas.microsoft.com/office/drawing/2014/main" id="{4C579F00-5245-672C-C969-D8AB8D53C543}"/>
                </a:ext>
              </a:extLst>
            </p:cNvPr>
            <p:cNvSpPr txBox="1"/>
            <p:nvPr/>
          </p:nvSpPr>
          <p:spPr>
            <a:xfrm>
              <a:off x="8798364" y="2440617"/>
              <a:ext cx="885063" cy="410369"/>
            </a:xfrm>
            <a:prstGeom prst="rect">
              <a:avLst/>
            </a:prstGeom>
            <a:noFill/>
          </p:spPr>
          <p:txBody>
            <a:bodyPr wrap="square" rtlCol="0">
              <a:spAutoFit/>
            </a:bodyPr>
            <a:lstStyle/>
            <a:p>
              <a:pPr algn="ctr" defTabSz="914378">
                <a:defRPr/>
              </a:pPr>
              <a:r>
                <a:rPr lang="en-NL" sz="700" kern="0">
                  <a:solidFill>
                    <a:srgbClr val="363A3B"/>
                  </a:solidFill>
                  <a:latin typeface="Myriad for Rabobank"/>
                </a:rPr>
                <a:t>Business User</a:t>
              </a:r>
            </a:p>
          </p:txBody>
        </p:sp>
        <p:sp>
          <p:nvSpPr>
            <p:cNvPr id="586" name="Rectangle 585">
              <a:extLst>
                <a:ext uri="{FF2B5EF4-FFF2-40B4-BE49-F238E27FC236}">
                  <a16:creationId xmlns:a16="http://schemas.microsoft.com/office/drawing/2014/main" id="{3B5F5E27-9DCB-A50A-E6D5-0073C0BBEC4D}"/>
                </a:ext>
              </a:extLst>
            </p:cNvPr>
            <p:cNvSpPr/>
            <p:nvPr/>
          </p:nvSpPr>
          <p:spPr>
            <a:xfrm>
              <a:off x="8830578" y="3551171"/>
              <a:ext cx="768924" cy="149664"/>
            </a:xfrm>
            <a:prstGeom prst="rect">
              <a:avLst/>
            </a:prstGeom>
            <a:solidFill>
              <a:schemeClr val="bg1"/>
            </a:solidFill>
            <a:ln w="12700" cap="flat" cmpd="sng" algn="ctr">
              <a:solidFill>
                <a:srgbClr val="000099">
                  <a:shade val="50000"/>
                </a:srgbClr>
              </a:solidFill>
              <a:prstDash val="solid"/>
            </a:ln>
            <a:effectLst/>
          </p:spPr>
          <p:txBody>
            <a:bodyPr rtlCol="0" anchor="ctr"/>
            <a:lstStyle/>
            <a:p>
              <a:pPr algn="ctr" defTabSz="456977">
                <a:defRPr/>
              </a:pPr>
              <a:r>
                <a:rPr lang="en-US" sz="600" kern="0">
                  <a:latin typeface="Calibri" panose="020F0502020204030204" pitchFamily="34" charset="0"/>
                  <a:cs typeface="Calibri" panose="020F0502020204030204" pitchFamily="34" charset="0"/>
                </a:rPr>
                <a:t>Ad-Hoc run</a:t>
              </a:r>
            </a:p>
          </p:txBody>
        </p:sp>
        <p:sp>
          <p:nvSpPr>
            <p:cNvPr id="9" name="Rectangle 8">
              <a:extLst>
                <a:ext uri="{FF2B5EF4-FFF2-40B4-BE49-F238E27FC236}">
                  <a16:creationId xmlns:a16="http://schemas.microsoft.com/office/drawing/2014/main" id="{9ECB698D-80C8-BE2E-75BC-0F794CD40F94}"/>
                </a:ext>
              </a:extLst>
            </p:cNvPr>
            <p:cNvSpPr/>
            <p:nvPr/>
          </p:nvSpPr>
          <p:spPr>
            <a:xfrm>
              <a:off x="8455494" y="4853048"/>
              <a:ext cx="1179435" cy="404860"/>
            </a:xfrm>
            <a:prstGeom prst="rect">
              <a:avLst/>
            </a:prstGeom>
            <a:solidFill>
              <a:srgbClr val="0058FF">
                <a:lumMod val="20000"/>
                <a:lumOff val="80000"/>
              </a:srgbClr>
            </a:solidFill>
            <a:ln w="12700" cap="flat" cmpd="sng" algn="ctr">
              <a:solidFill>
                <a:srgbClr val="000099">
                  <a:shade val="50000"/>
                </a:srgbClr>
              </a:solidFill>
              <a:prstDash val="solid"/>
            </a:ln>
            <a:effectLst/>
          </p:spPr>
          <p:txBody>
            <a:bodyPr lIns="36000" rtlCol="0" anchor="t"/>
            <a:lstStyle/>
            <a:p>
              <a:pPr algn="ctr" defTabSz="456977"/>
              <a:r>
                <a:rPr lang="en-IN" sz="700" kern="0">
                  <a:solidFill>
                    <a:srgbClr val="363A3B"/>
                  </a:solidFill>
                  <a:latin typeface="Myriad for Rabobank It"/>
                </a:rPr>
                <a:t>Model Monitoring</a:t>
              </a:r>
            </a:p>
            <a:p>
              <a:pPr algn="ctr" defTabSz="456977"/>
              <a:r>
                <a:rPr lang="en-IN" sz="700" kern="0">
                  <a:solidFill>
                    <a:srgbClr val="363A3B"/>
                  </a:solidFill>
                  <a:latin typeface="Myriad for Rabobank It"/>
                </a:rPr>
                <a:t>(MM Store)</a:t>
              </a:r>
              <a:endParaRPr lang="en-NL" sz="700" kern="0">
                <a:solidFill>
                  <a:srgbClr val="363A3B"/>
                </a:solidFill>
                <a:latin typeface="Myriad for Rabobank It"/>
              </a:endParaRPr>
            </a:p>
          </p:txBody>
        </p:sp>
        <p:sp>
          <p:nvSpPr>
            <p:cNvPr id="14" name="Arrow: Down 13">
              <a:extLst>
                <a:ext uri="{FF2B5EF4-FFF2-40B4-BE49-F238E27FC236}">
                  <a16:creationId xmlns:a16="http://schemas.microsoft.com/office/drawing/2014/main" id="{A3854A0B-5E43-9FE2-5B21-6137E4130801}"/>
                </a:ext>
              </a:extLst>
            </p:cNvPr>
            <p:cNvSpPr/>
            <p:nvPr/>
          </p:nvSpPr>
          <p:spPr>
            <a:xfrm>
              <a:off x="1877277" y="4310128"/>
              <a:ext cx="1013516" cy="360135"/>
            </a:xfrm>
            <a:prstGeom prst="downArrow">
              <a:avLst>
                <a:gd name="adj1" fmla="val 72417"/>
                <a:gd name="adj2" fmla="val 50741"/>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378"/>
              <a:r>
                <a:rPr lang="en-IN" sz="600" kern="0">
                  <a:solidFill>
                    <a:srgbClr val="363A3B"/>
                  </a:solidFill>
                  <a:latin typeface="Myriad for Rabobank It"/>
                </a:rPr>
                <a:t>Via </a:t>
              </a:r>
            </a:p>
            <a:p>
              <a:pPr algn="ctr" defTabSz="914378"/>
              <a:r>
                <a:rPr lang="en-IN" sz="600" kern="0">
                  <a:solidFill>
                    <a:srgbClr val="363A3B"/>
                  </a:solidFill>
                  <a:latin typeface="Myriad for Rabobank It"/>
                </a:rPr>
                <a:t>Respective STO</a:t>
              </a:r>
              <a:endParaRPr lang="en-NL" sz="600" kern="0">
                <a:solidFill>
                  <a:srgbClr val="363A3B"/>
                </a:solidFill>
                <a:latin typeface="Myriad for Rabobank It"/>
              </a:endParaRPr>
            </a:p>
          </p:txBody>
        </p:sp>
        <p:sp>
          <p:nvSpPr>
            <p:cNvPr id="16" name="Rectangle 15">
              <a:extLst>
                <a:ext uri="{FF2B5EF4-FFF2-40B4-BE49-F238E27FC236}">
                  <a16:creationId xmlns:a16="http://schemas.microsoft.com/office/drawing/2014/main" id="{C9D0F31B-A8AC-925C-DE3B-C81E2484F278}"/>
                </a:ext>
              </a:extLst>
            </p:cNvPr>
            <p:cNvSpPr/>
            <p:nvPr/>
          </p:nvSpPr>
          <p:spPr>
            <a:xfrm>
              <a:off x="1434878" y="4748326"/>
              <a:ext cx="899931" cy="360136"/>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378">
                <a:defRPr/>
              </a:pPr>
              <a:r>
                <a:rPr lang="en-IN" sz="800" kern="0">
                  <a:solidFill>
                    <a:srgbClr val="363A3B"/>
                  </a:solidFill>
                  <a:latin typeface="Myriad for Rabobank It"/>
                </a:rPr>
                <a:t>Tribe Internal Reporting</a:t>
              </a:r>
              <a:endParaRPr lang="en-NL" sz="800" kern="0">
                <a:solidFill>
                  <a:srgbClr val="363A3B"/>
                </a:solidFill>
                <a:latin typeface="Myriad for Rabobank It"/>
              </a:endParaRPr>
            </a:p>
          </p:txBody>
        </p:sp>
        <p:sp>
          <p:nvSpPr>
            <p:cNvPr id="26" name="Rectangle 25">
              <a:extLst>
                <a:ext uri="{FF2B5EF4-FFF2-40B4-BE49-F238E27FC236}">
                  <a16:creationId xmlns:a16="http://schemas.microsoft.com/office/drawing/2014/main" id="{92470576-70E8-740E-A957-7ADECBF841BD}"/>
                </a:ext>
              </a:extLst>
            </p:cNvPr>
            <p:cNvSpPr/>
            <p:nvPr/>
          </p:nvSpPr>
          <p:spPr>
            <a:xfrm>
              <a:off x="1268410" y="3606639"/>
              <a:ext cx="1388156" cy="523943"/>
            </a:xfrm>
            <a:prstGeom prst="rect">
              <a:avLst/>
            </a:prstGeom>
            <a:solidFill>
              <a:schemeClr val="bg2"/>
            </a:solidFill>
            <a:ln w="12700" cap="flat" cmpd="sng" algn="ctr">
              <a:solidFill>
                <a:srgbClr val="000099">
                  <a:shade val="50000"/>
                </a:srgbClr>
              </a:solidFill>
              <a:prstDash val="solid"/>
            </a:ln>
            <a:effectLst/>
          </p:spPr>
          <p:txBody>
            <a:bodyPr rtlCol="0" anchor="b"/>
            <a:lstStyle/>
            <a:p>
              <a:pPr defTabSz="456977"/>
              <a:r>
                <a:rPr lang="en-GB" sz="675" b="1" kern="0">
                  <a:latin typeface="Calibri" panose="020F0502020204030204" pitchFamily="34" charset="0"/>
                  <a:cs typeface="Calibri" panose="020F0502020204030204" pitchFamily="34" charset="0"/>
                </a:rPr>
                <a:t>BDV</a:t>
              </a:r>
              <a:endParaRPr lang="en-GB" sz="600" b="1" kern="0">
                <a:latin typeface="Calibri" panose="020F0502020204030204" pitchFamily="34" charset="0"/>
                <a:cs typeface="Calibri" panose="020F0502020204030204" pitchFamily="34" charset="0"/>
              </a:endParaRPr>
            </a:p>
            <a:p>
              <a:pPr defTabSz="456977"/>
              <a:r>
                <a:rPr lang="en-GB" sz="600" kern="0">
                  <a:latin typeface="Calibri" panose="020F0502020204030204" pitchFamily="34" charset="0"/>
                  <a:cs typeface="Calibri" panose="020F0502020204030204" pitchFamily="34" charset="0"/>
                </a:rPr>
                <a:t>Business Data Vault</a:t>
              </a:r>
            </a:p>
          </p:txBody>
        </p:sp>
        <p:sp>
          <p:nvSpPr>
            <p:cNvPr id="27" name="Rectangle 26">
              <a:extLst>
                <a:ext uri="{FF2B5EF4-FFF2-40B4-BE49-F238E27FC236}">
                  <a16:creationId xmlns:a16="http://schemas.microsoft.com/office/drawing/2014/main" id="{7A9DA9FE-C909-C3DA-974C-9BAABBB36D41}"/>
                </a:ext>
              </a:extLst>
            </p:cNvPr>
            <p:cNvSpPr/>
            <p:nvPr/>
          </p:nvSpPr>
          <p:spPr>
            <a:xfrm>
              <a:off x="1268410" y="2973157"/>
              <a:ext cx="1384193" cy="506859"/>
            </a:xfrm>
            <a:prstGeom prst="rect">
              <a:avLst/>
            </a:prstGeom>
            <a:solidFill>
              <a:schemeClr val="bg2"/>
            </a:solidFill>
            <a:ln w="12700" cap="flat" cmpd="sng" algn="ctr">
              <a:solidFill>
                <a:srgbClr val="000099">
                  <a:shade val="50000"/>
                </a:srgbClr>
              </a:solidFill>
              <a:prstDash val="solid"/>
            </a:ln>
            <a:effectLst/>
          </p:spPr>
          <p:txBody>
            <a:bodyPr rtlCol="0" anchor="b"/>
            <a:lstStyle/>
            <a:p>
              <a:pPr defTabSz="456977"/>
              <a:r>
                <a:rPr lang="en-GB" sz="675" b="1" kern="0">
                  <a:latin typeface="Calibri" panose="020F0502020204030204" pitchFamily="34" charset="0"/>
                  <a:cs typeface="Calibri" panose="020F0502020204030204" pitchFamily="34" charset="0"/>
                </a:rPr>
                <a:t>RDV</a:t>
              </a:r>
              <a:endParaRPr lang="en-GB" sz="600" b="1" kern="0">
                <a:latin typeface="Calibri" panose="020F0502020204030204" pitchFamily="34" charset="0"/>
                <a:cs typeface="Calibri" panose="020F0502020204030204" pitchFamily="34" charset="0"/>
              </a:endParaRPr>
            </a:p>
            <a:p>
              <a:pPr defTabSz="456977"/>
              <a:r>
                <a:rPr lang="en-GB" sz="600" kern="0">
                  <a:latin typeface="Calibri" panose="020F0502020204030204" pitchFamily="34" charset="0"/>
                  <a:cs typeface="Calibri" panose="020F0502020204030204" pitchFamily="34" charset="0"/>
                </a:rPr>
                <a:t>Raw Data Vault</a:t>
              </a:r>
            </a:p>
          </p:txBody>
        </p:sp>
        <p:sp>
          <p:nvSpPr>
            <p:cNvPr id="28" name="Rectangle 27">
              <a:extLst>
                <a:ext uri="{FF2B5EF4-FFF2-40B4-BE49-F238E27FC236}">
                  <a16:creationId xmlns:a16="http://schemas.microsoft.com/office/drawing/2014/main" id="{2ACFDFDD-B9F3-4B3D-C7C5-AB2B005064F7}"/>
                </a:ext>
              </a:extLst>
            </p:cNvPr>
            <p:cNvSpPr/>
            <p:nvPr/>
          </p:nvSpPr>
          <p:spPr>
            <a:xfrm>
              <a:off x="1263281" y="2489952"/>
              <a:ext cx="1384194" cy="392817"/>
            </a:xfrm>
            <a:prstGeom prst="rect">
              <a:avLst/>
            </a:prstGeom>
            <a:solidFill>
              <a:schemeClr val="bg2"/>
            </a:solidFill>
            <a:ln w="12700" cap="flat" cmpd="sng" algn="ctr">
              <a:solidFill>
                <a:srgbClr val="000099">
                  <a:shade val="50000"/>
                </a:srgbClr>
              </a:solidFill>
              <a:prstDash val="solid"/>
            </a:ln>
            <a:effectLst/>
          </p:spPr>
          <p:txBody>
            <a:bodyPr rtlCol="0" anchor="b"/>
            <a:lstStyle/>
            <a:p>
              <a:pPr defTabSz="456977"/>
              <a:r>
                <a:rPr lang="en-GB" sz="675" b="1" kern="0">
                  <a:latin typeface="Calibri" panose="020F0502020204030204" pitchFamily="34" charset="0"/>
                  <a:cs typeface="Calibri" panose="020F0502020204030204" pitchFamily="34" charset="0"/>
                </a:rPr>
                <a:t>STI</a:t>
              </a:r>
              <a:endParaRPr lang="en-GB" sz="600" b="1" kern="0">
                <a:latin typeface="Calibri" panose="020F0502020204030204" pitchFamily="34" charset="0"/>
                <a:cs typeface="Calibri" panose="020F0502020204030204" pitchFamily="34" charset="0"/>
              </a:endParaRPr>
            </a:p>
            <a:p>
              <a:pPr defTabSz="456977"/>
              <a:r>
                <a:rPr lang="en-GB" sz="600" kern="0">
                  <a:latin typeface="Calibri" panose="020F0502020204030204" pitchFamily="34" charset="0"/>
                  <a:cs typeface="Calibri" panose="020F0502020204030204" pitchFamily="34" charset="0"/>
                </a:rPr>
                <a:t>Staging In</a:t>
              </a:r>
            </a:p>
          </p:txBody>
        </p:sp>
        <p:sp>
          <p:nvSpPr>
            <p:cNvPr id="50" name="Rectangle 49">
              <a:extLst>
                <a:ext uri="{FF2B5EF4-FFF2-40B4-BE49-F238E27FC236}">
                  <a16:creationId xmlns:a16="http://schemas.microsoft.com/office/drawing/2014/main" id="{B3549612-8E23-25FF-8B02-8B5A8FE8DF84}"/>
                </a:ext>
              </a:extLst>
            </p:cNvPr>
            <p:cNvSpPr/>
            <p:nvPr/>
          </p:nvSpPr>
          <p:spPr>
            <a:xfrm>
              <a:off x="1725036" y="2562107"/>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51" name="Rectangle 50">
              <a:extLst>
                <a:ext uri="{FF2B5EF4-FFF2-40B4-BE49-F238E27FC236}">
                  <a16:creationId xmlns:a16="http://schemas.microsoft.com/office/drawing/2014/main" id="{2352D29C-FF3C-9240-E77D-58018CB61895}"/>
                </a:ext>
              </a:extLst>
            </p:cNvPr>
            <p:cNvSpPr/>
            <p:nvPr/>
          </p:nvSpPr>
          <p:spPr>
            <a:xfrm>
              <a:off x="1912073" y="2562107"/>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52" name="Rectangle 51">
              <a:extLst>
                <a:ext uri="{FF2B5EF4-FFF2-40B4-BE49-F238E27FC236}">
                  <a16:creationId xmlns:a16="http://schemas.microsoft.com/office/drawing/2014/main" id="{75203974-3F52-56C1-D1C0-F0DB60D63BF4}"/>
                </a:ext>
              </a:extLst>
            </p:cNvPr>
            <p:cNvSpPr/>
            <p:nvPr/>
          </p:nvSpPr>
          <p:spPr>
            <a:xfrm>
              <a:off x="2091947" y="2562107"/>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53" name="Rectangle 52">
              <a:extLst>
                <a:ext uri="{FF2B5EF4-FFF2-40B4-BE49-F238E27FC236}">
                  <a16:creationId xmlns:a16="http://schemas.microsoft.com/office/drawing/2014/main" id="{1DAFF8CF-DFB0-1340-B7AA-6EC008DD32EA}"/>
                </a:ext>
              </a:extLst>
            </p:cNvPr>
            <p:cNvSpPr/>
            <p:nvPr/>
          </p:nvSpPr>
          <p:spPr>
            <a:xfrm>
              <a:off x="2287129" y="2562107"/>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cxnSp>
          <p:nvCxnSpPr>
            <p:cNvPr id="56" name="Straight Connector 55">
              <a:extLst>
                <a:ext uri="{FF2B5EF4-FFF2-40B4-BE49-F238E27FC236}">
                  <a16:creationId xmlns:a16="http://schemas.microsoft.com/office/drawing/2014/main" id="{CB71B182-47A1-5E82-D408-6491F52A38BE}"/>
                </a:ext>
              </a:extLst>
            </p:cNvPr>
            <p:cNvCxnSpPr>
              <a:stCxn id="50" idx="2"/>
              <a:endCxn id="37" idx="0"/>
            </p:cNvCxnSpPr>
            <p:nvPr/>
          </p:nvCxnSpPr>
          <p:spPr>
            <a:xfrm>
              <a:off x="1797036" y="2706107"/>
              <a:ext cx="10459" cy="364638"/>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384A4A92-9BA8-C474-7394-28B38C890740}"/>
                </a:ext>
              </a:extLst>
            </p:cNvPr>
            <p:cNvCxnSpPr>
              <a:cxnSpLocks/>
              <a:stCxn id="51" idx="2"/>
              <a:endCxn id="38" idx="0"/>
            </p:cNvCxnSpPr>
            <p:nvPr/>
          </p:nvCxnSpPr>
          <p:spPr>
            <a:xfrm>
              <a:off x="1984073" y="2706107"/>
              <a:ext cx="10459" cy="436025"/>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8B38A2B-D5D2-7B72-890B-DE2FA4F7E9B5}"/>
                </a:ext>
              </a:extLst>
            </p:cNvPr>
            <p:cNvCxnSpPr>
              <a:cxnSpLocks/>
              <a:stCxn id="52" idx="2"/>
              <a:endCxn id="39" idx="0"/>
            </p:cNvCxnSpPr>
            <p:nvPr/>
          </p:nvCxnSpPr>
          <p:spPr>
            <a:xfrm>
              <a:off x="2163947" y="2706107"/>
              <a:ext cx="10459" cy="591613"/>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872DCAA1-8A29-ED51-5618-3DDB11872FDA}"/>
                </a:ext>
              </a:extLst>
            </p:cNvPr>
            <p:cNvCxnSpPr>
              <a:stCxn id="53" idx="2"/>
              <a:endCxn id="40" idx="0"/>
            </p:cNvCxnSpPr>
            <p:nvPr/>
          </p:nvCxnSpPr>
          <p:spPr>
            <a:xfrm>
              <a:off x="2359129" y="2706107"/>
              <a:ext cx="10459" cy="364638"/>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48ED686B-3204-B422-D7C4-ED42A33D7534}"/>
                </a:ext>
              </a:extLst>
            </p:cNvPr>
            <p:cNvSpPr/>
            <p:nvPr/>
          </p:nvSpPr>
          <p:spPr>
            <a:xfrm>
              <a:off x="1199205" y="1573840"/>
              <a:ext cx="1799376" cy="439216"/>
            </a:xfrm>
            <a:prstGeom prst="rect">
              <a:avLst/>
            </a:prstGeom>
            <a:solidFill>
              <a:schemeClr val="accent6">
                <a:lumMod val="20000"/>
                <a:lumOff val="80000"/>
              </a:schemeClr>
            </a:solidFill>
            <a:ln w="12700" cap="rnd" cmpd="sng" algn="ctr">
              <a:solidFill>
                <a:schemeClr val="tx1"/>
              </a:solidFill>
              <a:prstDash val="solid"/>
            </a:ln>
            <a:effectLst/>
          </p:spPr>
          <p:txBody>
            <a:bodyPr rtlCol="0" anchor="t"/>
            <a:lstStyle/>
            <a:p>
              <a:r>
                <a:rPr lang="en-GB" sz="750"/>
                <a:t>Golden Sources</a:t>
              </a:r>
              <a:endParaRPr lang="en-GB" sz="1350"/>
            </a:p>
          </p:txBody>
        </p:sp>
        <p:sp>
          <p:nvSpPr>
            <p:cNvPr id="448" name="Rectangle 447">
              <a:extLst>
                <a:ext uri="{FF2B5EF4-FFF2-40B4-BE49-F238E27FC236}">
                  <a16:creationId xmlns:a16="http://schemas.microsoft.com/office/drawing/2014/main" id="{9D4E3A59-A877-DB8E-4907-1516EC947000}"/>
                </a:ext>
              </a:extLst>
            </p:cNvPr>
            <p:cNvSpPr/>
            <p:nvPr/>
          </p:nvSpPr>
          <p:spPr>
            <a:xfrm>
              <a:off x="1739250" y="1770864"/>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49" name="Rectangle 448">
              <a:extLst>
                <a:ext uri="{FF2B5EF4-FFF2-40B4-BE49-F238E27FC236}">
                  <a16:creationId xmlns:a16="http://schemas.microsoft.com/office/drawing/2014/main" id="{CF926A82-21DA-60F4-A8BA-4BA409AF6F65}"/>
                </a:ext>
              </a:extLst>
            </p:cNvPr>
            <p:cNvSpPr/>
            <p:nvPr/>
          </p:nvSpPr>
          <p:spPr>
            <a:xfrm>
              <a:off x="1926287" y="1770864"/>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50" name="Rectangle 449">
              <a:extLst>
                <a:ext uri="{FF2B5EF4-FFF2-40B4-BE49-F238E27FC236}">
                  <a16:creationId xmlns:a16="http://schemas.microsoft.com/office/drawing/2014/main" id="{33EA600B-99A6-558A-AC3B-5BDB4DD45FFD}"/>
                </a:ext>
              </a:extLst>
            </p:cNvPr>
            <p:cNvSpPr/>
            <p:nvPr/>
          </p:nvSpPr>
          <p:spPr>
            <a:xfrm>
              <a:off x="2106161" y="1770864"/>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51" name="Rectangle 450">
              <a:extLst>
                <a:ext uri="{FF2B5EF4-FFF2-40B4-BE49-F238E27FC236}">
                  <a16:creationId xmlns:a16="http://schemas.microsoft.com/office/drawing/2014/main" id="{B5F69EB3-8E93-A82C-3EEE-FF8407BF158D}"/>
                </a:ext>
              </a:extLst>
            </p:cNvPr>
            <p:cNvSpPr/>
            <p:nvPr/>
          </p:nvSpPr>
          <p:spPr>
            <a:xfrm>
              <a:off x="2301343" y="1770864"/>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cxnSp>
          <p:nvCxnSpPr>
            <p:cNvPr id="460" name="Straight Connector 459">
              <a:extLst>
                <a:ext uri="{FF2B5EF4-FFF2-40B4-BE49-F238E27FC236}">
                  <a16:creationId xmlns:a16="http://schemas.microsoft.com/office/drawing/2014/main" id="{AD4D615B-B292-58AA-FA92-61D41B20AA3E}"/>
                </a:ext>
              </a:extLst>
            </p:cNvPr>
            <p:cNvCxnSpPr>
              <a:stCxn id="448" idx="2"/>
              <a:endCxn id="50" idx="0"/>
            </p:cNvCxnSpPr>
            <p:nvPr/>
          </p:nvCxnSpPr>
          <p:spPr>
            <a:xfrm flipH="1">
              <a:off x="1797036" y="1914864"/>
              <a:ext cx="14214" cy="647243"/>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BBF63262-B3EE-E709-121B-3DCB131F84C9}"/>
                </a:ext>
              </a:extLst>
            </p:cNvPr>
            <p:cNvCxnSpPr>
              <a:stCxn id="449" idx="2"/>
              <a:endCxn id="51" idx="0"/>
            </p:cNvCxnSpPr>
            <p:nvPr/>
          </p:nvCxnSpPr>
          <p:spPr>
            <a:xfrm flipH="1">
              <a:off x="1984073" y="1914864"/>
              <a:ext cx="14214" cy="647243"/>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2" name="Straight Connector 461">
              <a:extLst>
                <a:ext uri="{FF2B5EF4-FFF2-40B4-BE49-F238E27FC236}">
                  <a16:creationId xmlns:a16="http://schemas.microsoft.com/office/drawing/2014/main" id="{5BEE129B-25A6-7F26-F394-B8656BDA77C4}"/>
                </a:ext>
              </a:extLst>
            </p:cNvPr>
            <p:cNvCxnSpPr>
              <a:stCxn id="450" idx="2"/>
              <a:endCxn id="52" idx="0"/>
            </p:cNvCxnSpPr>
            <p:nvPr/>
          </p:nvCxnSpPr>
          <p:spPr>
            <a:xfrm flipH="1">
              <a:off x="2163947" y="1914864"/>
              <a:ext cx="14214" cy="647243"/>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3" name="Straight Connector 462">
              <a:extLst>
                <a:ext uri="{FF2B5EF4-FFF2-40B4-BE49-F238E27FC236}">
                  <a16:creationId xmlns:a16="http://schemas.microsoft.com/office/drawing/2014/main" id="{FA7BB278-808C-C7E5-5A86-66A14BAE8C4E}"/>
                </a:ext>
              </a:extLst>
            </p:cNvPr>
            <p:cNvCxnSpPr>
              <a:stCxn id="451" idx="2"/>
              <a:endCxn id="53" idx="0"/>
            </p:cNvCxnSpPr>
            <p:nvPr/>
          </p:nvCxnSpPr>
          <p:spPr>
            <a:xfrm flipH="1">
              <a:off x="2359129" y="1914864"/>
              <a:ext cx="14214" cy="647243"/>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sp>
          <p:nvSpPr>
            <p:cNvPr id="470" name="Rectangle 469">
              <a:extLst>
                <a:ext uri="{FF2B5EF4-FFF2-40B4-BE49-F238E27FC236}">
                  <a16:creationId xmlns:a16="http://schemas.microsoft.com/office/drawing/2014/main" id="{485F7CC1-3DE0-318E-96A7-816CC421D616}"/>
                </a:ext>
              </a:extLst>
            </p:cNvPr>
            <p:cNvSpPr/>
            <p:nvPr/>
          </p:nvSpPr>
          <p:spPr>
            <a:xfrm>
              <a:off x="2741135" y="2489952"/>
              <a:ext cx="608760" cy="1640631"/>
            </a:xfrm>
            <a:prstGeom prst="rect">
              <a:avLst/>
            </a:prstGeom>
            <a:solidFill>
              <a:schemeClr val="bg2"/>
            </a:solidFill>
            <a:ln w="12700" cap="flat" cmpd="sng" algn="ctr">
              <a:solidFill>
                <a:srgbClr val="000099">
                  <a:shade val="50000"/>
                </a:srgbClr>
              </a:solidFill>
              <a:prstDash val="solid"/>
            </a:ln>
            <a:effectLst/>
          </p:spPr>
          <p:txBody>
            <a:bodyPr rtlCol="0" anchor="t"/>
            <a:lstStyle/>
            <a:p>
              <a:pPr defTabSz="456977"/>
              <a:r>
                <a:rPr lang="en-GB" sz="675" b="1" kern="0">
                  <a:latin typeface="Calibri" panose="020F0502020204030204" pitchFamily="34" charset="0"/>
                  <a:cs typeface="Calibri" panose="020F0502020204030204" pitchFamily="34" charset="0"/>
                </a:rPr>
                <a:t>DAL</a:t>
              </a:r>
              <a:r>
                <a:rPr lang="en-GB" sz="600" kern="0">
                  <a:latin typeface="Calibri" panose="020F0502020204030204" pitchFamily="34" charset="0"/>
                  <a:cs typeface="Calibri" panose="020F0502020204030204" pitchFamily="34" charset="0"/>
                </a:rPr>
                <a:t> </a:t>
              </a:r>
            </a:p>
            <a:p>
              <a:pPr marL="2381" defTabSz="456977"/>
              <a:r>
                <a:rPr lang="en-GB" sz="600" kern="0">
                  <a:latin typeface="Calibri" panose="020F0502020204030204" pitchFamily="34" charset="0"/>
                  <a:cs typeface="Calibri" panose="020F0502020204030204" pitchFamily="34" charset="0"/>
                </a:rPr>
                <a:t>(Data Access Layer)</a:t>
              </a:r>
            </a:p>
          </p:txBody>
        </p:sp>
        <p:sp>
          <p:nvSpPr>
            <p:cNvPr id="29" name="Rectangle 28">
              <a:extLst>
                <a:ext uri="{FF2B5EF4-FFF2-40B4-BE49-F238E27FC236}">
                  <a16:creationId xmlns:a16="http://schemas.microsoft.com/office/drawing/2014/main" id="{AA84069B-36DB-4FFD-9373-01501B2E89DF}"/>
                </a:ext>
              </a:extLst>
            </p:cNvPr>
            <p:cNvSpPr/>
            <p:nvPr/>
          </p:nvSpPr>
          <p:spPr>
            <a:xfrm>
              <a:off x="2142653" y="3681261"/>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lIns="0" rIns="0" rtlCol="0" anchor="ctr"/>
            <a:lstStyle/>
            <a:p>
              <a:pPr algn="ctr"/>
              <a:r>
                <a:rPr lang="en-GB" sz="375">
                  <a:solidFill>
                    <a:schemeClr val="bg1"/>
                  </a:solidFill>
                </a:rPr>
                <a:t>F(x)</a:t>
              </a:r>
            </a:p>
          </p:txBody>
        </p:sp>
        <p:sp>
          <p:nvSpPr>
            <p:cNvPr id="31" name="Rectangle 30">
              <a:extLst>
                <a:ext uri="{FF2B5EF4-FFF2-40B4-BE49-F238E27FC236}">
                  <a16:creationId xmlns:a16="http://schemas.microsoft.com/office/drawing/2014/main" id="{EB267DF9-126F-0347-1F64-F59A6D2E287C}"/>
                </a:ext>
              </a:extLst>
            </p:cNvPr>
            <p:cNvSpPr/>
            <p:nvPr/>
          </p:nvSpPr>
          <p:spPr>
            <a:xfrm>
              <a:off x="2415209" y="3698790"/>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lIns="0" rIns="0" rtlCol="0" anchor="ctr"/>
            <a:lstStyle/>
            <a:p>
              <a:pPr algn="ctr"/>
              <a:r>
                <a:rPr lang="en-GB" sz="375">
                  <a:solidFill>
                    <a:schemeClr val="bg1"/>
                  </a:solidFill>
                </a:rPr>
                <a:t>F(x)</a:t>
              </a:r>
            </a:p>
          </p:txBody>
        </p:sp>
        <p:sp>
          <p:nvSpPr>
            <p:cNvPr id="32" name="Rectangle 31">
              <a:extLst>
                <a:ext uri="{FF2B5EF4-FFF2-40B4-BE49-F238E27FC236}">
                  <a16:creationId xmlns:a16="http://schemas.microsoft.com/office/drawing/2014/main" id="{490EBB35-B4E7-C693-0825-02D5C632A988}"/>
                </a:ext>
              </a:extLst>
            </p:cNvPr>
            <p:cNvSpPr/>
            <p:nvPr/>
          </p:nvSpPr>
          <p:spPr>
            <a:xfrm>
              <a:off x="2304570" y="3912310"/>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lIns="0" rIns="0" rtlCol="0" anchor="ctr"/>
            <a:lstStyle/>
            <a:p>
              <a:pPr algn="ctr"/>
              <a:r>
                <a:rPr lang="en-GB" sz="375">
                  <a:solidFill>
                    <a:schemeClr val="bg1"/>
                  </a:solidFill>
                </a:rPr>
                <a:t>F(x)</a:t>
              </a:r>
            </a:p>
          </p:txBody>
        </p:sp>
        <p:sp>
          <p:nvSpPr>
            <p:cNvPr id="33" name="Rectangle 32">
              <a:extLst>
                <a:ext uri="{FF2B5EF4-FFF2-40B4-BE49-F238E27FC236}">
                  <a16:creationId xmlns:a16="http://schemas.microsoft.com/office/drawing/2014/main" id="{08DC5C10-F08D-987E-F685-F14E630CBDFA}"/>
                </a:ext>
              </a:extLst>
            </p:cNvPr>
            <p:cNvSpPr/>
            <p:nvPr/>
          </p:nvSpPr>
          <p:spPr>
            <a:xfrm>
              <a:off x="1907562" y="3817706"/>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lIns="0" rIns="0" rtlCol="0" anchor="ctr"/>
            <a:lstStyle/>
            <a:p>
              <a:pPr algn="ctr"/>
              <a:r>
                <a:rPr lang="en-GB" sz="375">
                  <a:solidFill>
                    <a:schemeClr val="bg1"/>
                  </a:solidFill>
                </a:rPr>
                <a:t>F(x)</a:t>
              </a:r>
            </a:p>
          </p:txBody>
        </p:sp>
        <p:sp>
          <p:nvSpPr>
            <p:cNvPr id="34" name="Rectangle 33">
              <a:extLst>
                <a:ext uri="{FF2B5EF4-FFF2-40B4-BE49-F238E27FC236}">
                  <a16:creationId xmlns:a16="http://schemas.microsoft.com/office/drawing/2014/main" id="{E6FDDFFD-56F3-FA54-8B21-A3DA3030CCED}"/>
                </a:ext>
              </a:extLst>
            </p:cNvPr>
            <p:cNvSpPr/>
            <p:nvPr/>
          </p:nvSpPr>
          <p:spPr>
            <a:xfrm>
              <a:off x="1700548" y="3667262"/>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lIns="0" rIns="0" rtlCol="0" anchor="ctr"/>
            <a:lstStyle/>
            <a:p>
              <a:pPr algn="ctr"/>
              <a:r>
                <a:rPr lang="en-GB" sz="375">
                  <a:solidFill>
                    <a:schemeClr val="bg1"/>
                  </a:solidFill>
                </a:rPr>
                <a:t>`f(x)</a:t>
              </a:r>
            </a:p>
          </p:txBody>
        </p:sp>
        <p:sp>
          <p:nvSpPr>
            <p:cNvPr id="37" name="Rectangle 36">
              <a:extLst>
                <a:ext uri="{FF2B5EF4-FFF2-40B4-BE49-F238E27FC236}">
                  <a16:creationId xmlns:a16="http://schemas.microsoft.com/office/drawing/2014/main" id="{EFFE8659-B637-71C2-21F7-8B9A6C407E0C}"/>
                </a:ext>
              </a:extLst>
            </p:cNvPr>
            <p:cNvSpPr/>
            <p:nvPr/>
          </p:nvSpPr>
          <p:spPr>
            <a:xfrm>
              <a:off x="1735495" y="3070745"/>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38" name="Rectangle 37">
              <a:extLst>
                <a:ext uri="{FF2B5EF4-FFF2-40B4-BE49-F238E27FC236}">
                  <a16:creationId xmlns:a16="http://schemas.microsoft.com/office/drawing/2014/main" id="{2C8CFF9E-9F5B-6B46-B747-845F43713507}"/>
                </a:ext>
              </a:extLst>
            </p:cNvPr>
            <p:cNvSpPr/>
            <p:nvPr/>
          </p:nvSpPr>
          <p:spPr>
            <a:xfrm>
              <a:off x="1922532" y="3142132"/>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39" name="Rectangle 38">
              <a:extLst>
                <a:ext uri="{FF2B5EF4-FFF2-40B4-BE49-F238E27FC236}">
                  <a16:creationId xmlns:a16="http://schemas.microsoft.com/office/drawing/2014/main" id="{05D7A63B-22E1-54AD-F66F-3ABBBE58D013}"/>
                </a:ext>
              </a:extLst>
            </p:cNvPr>
            <p:cNvSpPr/>
            <p:nvPr/>
          </p:nvSpPr>
          <p:spPr>
            <a:xfrm>
              <a:off x="2102406" y="3297720"/>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0" name="Rectangle 39">
              <a:extLst>
                <a:ext uri="{FF2B5EF4-FFF2-40B4-BE49-F238E27FC236}">
                  <a16:creationId xmlns:a16="http://schemas.microsoft.com/office/drawing/2014/main" id="{F8669831-07CC-ECCB-7F49-949C5E301EA7}"/>
                </a:ext>
              </a:extLst>
            </p:cNvPr>
            <p:cNvSpPr/>
            <p:nvPr/>
          </p:nvSpPr>
          <p:spPr>
            <a:xfrm>
              <a:off x="2297588" y="3070745"/>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cxnSp>
          <p:nvCxnSpPr>
            <p:cNvPr id="43" name="Straight Connector 42">
              <a:extLst>
                <a:ext uri="{FF2B5EF4-FFF2-40B4-BE49-F238E27FC236}">
                  <a16:creationId xmlns:a16="http://schemas.microsoft.com/office/drawing/2014/main" id="{02A0A08E-C85F-8BF7-3E7A-641FE3BCE734}"/>
                </a:ext>
              </a:extLst>
            </p:cNvPr>
            <p:cNvCxnSpPr>
              <a:endCxn id="34" idx="0"/>
            </p:cNvCxnSpPr>
            <p:nvPr/>
          </p:nvCxnSpPr>
          <p:spPr>
            <a:xfrm flipH="1">
              <a:off x="1772548" y="3227210"/>
              <a:ext cx="32257" cy="440052"/>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736D018-E930-EF32-69FD-4E9F426F569E}"/>
                </a:ext>
              </a:extLst>
            </p:cNvPr>
            <p:cNvCxnSpPr>
              <a:endCxn id="33" idx="0"/>
            </p:cNvCxnSpPr>
            <p:nvPr/>
          </p:nvCxnSpPr>
          <p:spPr>
            <a:xfrm>
              <a:off x="1807034" y="3227210"/>
              <a:ext cx="172528" cy="590496"/>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DD4DCB4F-49DC-54DE-67A3-9950DDF66CE8}"/>
                </a:ext>
              </a:extLst>
            </p:cNvPr>
            <p:cNvCxnSpPr>
              <a:stCxn id="40" idx="2"/>
              <a:endCxn id="29" idx="0"/>
            </p:cNvCxnSpPr>
            <p:nvPr/>
          </p:nvCxnSpPr>
          <p:spPr>
            <a:xfrm flipH="1">
              <a:off x="2214653" y="3214745"/>
              <a:ext cx="154935" cy="466516"/>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C15887AF-2001-B829-1586-83513F5FFE60}"/>
                </a:ext>
              </a:extLst>
            </p:cNvPr>
            <p:cNvCxnSpPr>
              <a:cxnSpLocks/>
              <a:stCxn id="40" idx="2"/>
              <a:endCxn id="31" idx="0"/>
            </p:cNvCxnSpPr>
            <p:nvPr/>
          </p:nvCxnSpPr>
          <p:spPr>
            <a:xfrm>
              <a:off x="2369588" y="3214745"/>
              <a:ext cx="117621" cy="484045"/>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8429635-3AD1-61E0-7E9E-996B4A996BC3}"/>
                </a:ext>
              </a:extLst>
            </p:cNvPr>
            <p:cNvCxnSpPr>
              <a:cxnSpLocks/>
              <a:stCxn id="40" idx="2"/>
              <a:endCxn id="32" idx="0"/>
            </p:cNvCxnSpPr>
            <p:nvPr/>
          </p:nvCxnSpPr>
          <p:spPr>
            <a:xfrm>
              <a:off x="2369588" y="3214745"/>
              <a:ext cx="6982" cy="697565"/>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98320A3B-8BAC-FE54-C5B6-9B8242FD458B}"/>
                </a:ext>
              </a:extLst>
            </p:cNvPr>
            <p:cNvCxnSpPr>
              <a:cxnSpLocks/>
              <a:stCxn id="38" idx="3"/>
              <a:endCxn id="481" idx="1"/>
            </p:cNvCxnSpPr>
            <p:nvPr/>
          </p:nvCxnSpPr>
          <p:spPr>
            <a:xfrm>
              <a:off x="2066532" y="3214132"/>
              <a:ext cx="949116" cy="254846"/>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4" name="Straight Connector 463">
              <a:extLst>
                <a:ext uri="{FF2B5EF4-FFF2-40B4-BE49-F238E27FC236}">
                  <a16:creationId xmlns:a16="http://schemas.microsoft.com/office/drawing/2014/main" id="{01307351-AEEB-68E0-8A9A-B132CFCE9F87}"/>
                </a:ext>
              </a:extLst>
            </p:cNvPr>
            <p:cNvCxnSpPr>
              <a:cxnSpLocks/>
              <a:stCxn id="40" idx="3"/>
              <a:endCxn id="480" idx="1"/>
            </p:cNvCxnSpPr>
            <p:nvPr/>
          </p:nvCxnSpPr>
          <p:spPr>
            <a:xfrm>
              <a:off x="2441588" y="3142745"/>
              <a:ext cx="574060" cy="134999"/>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5" name="Straight Connector 464">
              <a:extLst>
                <a:ext uri="{FF2B5EF4-FFF2-40B4-BE49-F238E27FC236}">
                  <a16:creationId xmlns:a16="http://schemas.microsoft.com/office/drawing/2014/main" id="{6708B5AB-0471-8700-2C3B-E31D2B24C6BB}"/>
                </a:ext>
              </a:extLst>
            </p:cNvPr>
            <p:cNvCxnSpPr>
              <a:cxnSpLocks/>
              <a:stCxn id="31" idx="3"/>
              <a:endCxn id="482" idx="1"/>
            </p:cNvCxnSpPr>
            <p:nvPr/>
          </p:nvCxnSpPr>
          <p:spPr>
            <a:xfrm flipV="1">
              <a:off x="2559209" y="3711811"/>
              <a:ext cx="456439" cy="58979"/>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6" name="Straight Connector 465">
              <a:extLst>
                <a:ext uri="{FF2B5EF4-FFF2-40B4-BE49-F238E27FC236}">
                  <a16:creationId xmlns:a16="http://schemas.microsoft.com/office/drawing/2014/main" id="{9031BA6C-B280-1F68-FB9E-CBA3E8BA9EB2}"/>
                </a:ext>
              </a:extLst>
            </p:cNvPr>
            <p:cNvCxnSpPr>
              <a:cxnSpLocks/>
              <a:stCxn id="32" idx="3"/>
              <a:endCxn id="483" idx="1"/>
            </p:cNvCxnSpPr>
            <p:nvPr/>
          </p:nvCxnSpPr>
          <p:spPr>
            <a:xfrm flipV="1">
              <a:off x="2448570" y="3934963"/>
              <a:ext cx="560980" cy="49347"/>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7" name="Straight Connector 466">
              <a:extLst>
                <a:ext uri="{FF2B5EF4-FFF2-40B4-BE49-F238E27FC236}">
                  <a16:creationId xmlns:a16="http://schemas.microsoft.com/office/drawing/2014/main" id="{B464F5E2-DECE-560B-1293-6922A0645841}"/>
                </a:ext>
              </a:extLst>
            </p:cNvPr>
            <p:cNvCxnSpPr>
              <a:cxnSpLocks/>
              <a:stCxn id="34" idx="3"/>
              <a:endCxn id="483" idx="1"/>
            </p:cNvCxnSpPr>
            <p:nvPr/>
          </p:nvCxnSpPr>
          <p:spPr>
            <a:xfrm>
              <a:off x="1844548" y="3739262"/>
              <a:ext cx="1165002" cy="195701"/>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68" name="Straight Connector 467">
              <a:extLst>
                <a:ext uri="{FF2B5EF4-FFF2-40B4-BE49-F238E27FC236}">
                  <a16:creationId xmlns:a16="http://schemas.microsoft.com/office/drawing/2014/main" id="{26933808-A54F-7925-D563-E08936B166A0}"/>
                </a:ext>
              </a:extLst>
            </p:cNvPr>
            <p:cNvCxnSpPr>
              <a:cxnSpLocks/>
              <a:stCxn id="39" idx="3"/>
              <a:endCxn id="481" idx="1"/>
            </p:cNvCxnSpPr>
            <p:nvPr/>
          </p:nvCxnSpPr>
          <p:spPr>
            <a:xfrm>
              <a:off x="2246406" y="3369720"/>
              <a:ext cx="769242" cy="99258"/>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sp>
          <p:nvSpPr>
            <p:cNvPr id="480" name="Rectangle 479">
              <a:extLst>
                <a:ext uri="{FF2B5EF4-FFF2-40B4-BE49-F238E27FC236}">
                  <a16:creationId xmlns:a16="http://schemas.microsoft.com/office/drawing/2014/main" id="{BB20DCDC-EDE1-8D2F-BF10-F44DC09CE251}"/>
                </a:ext>
              </a:extLst>
            </p:cNvPr>
            <p:cNvSpPr/>
            <p:nvPr/>
          </p:nvSpPr>
          <p:spPr>
            <a:xfrm>
              <a:off x="3015648" y="3205744"/>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81" name="Rectangle 480">
              <a:extLst>
                <a:ext uri="{FF2B5EF4-FFF2-40B4-BE49-F238E27FC236}">
                  <a16:creationId xmlns:a16="http://schemas.microsoft.com/office/drawing/2014/main" id="{67D00B88-206B-2C64-26ED-9A7DF436D286}"/>
                </a:ext>
              </a:extLst>
            </p:cNvPr>
            <p:cNvSpPr/>
            <p:nvPr/>
          </p:nvSpPr>
          <p:spPr>
            <a:xfrm>
              <a:off x="3015648" y="3396978"/>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82" name="Rectangle 481">
              <a:extLst>
                <a:ext uri="{FF2B5EF4-FFF2-40B4-BE49-F238E27FC236}">
                  <a16:creationId xmlns:a16="http://schemas.microsoft.com/office/drawing/2014/main" id="{8B69BBD8-4139-2324-4161-13D82E3D830C}"/>
                </a:ext>
              </a:extLst>
            </p:cNvPr>
            <p:cNvSpPr/>
            <p:nvPr/>
          </p:nvSpPr>
          <p:spPr>
            <a:xfrm>
              <a:off x="3015648" y="3639811"/>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sp>
          <p:nvSpPr>
            <p:cNvPr id="483" name="Rectangle 482">
              <a:extLst>
                <a:ext uri="{FF2B5EF4-FFF2-40B4-BE49-F238E27FC236}">
                  <a16:creationId xmlns:a16="http://schemas.microsoft.com/office/drawing/2014/main" id="{56DF79FD-55F7-B66B-472E-784F79CA76A6}"/>
                </a:ext>
              </a:extLst>
            </p:cNvPr>
            <p:cNvSpPr/>
            <p:nvPr/>
          </p:nvSpPr>
          <p:spPr>
            <a:xfrm>
              <a:off x="3009550" y="3862963"/>
              <a:ext cx="144000" cy="144000"/>
            </a:xfrm>
            <a:prstGeom prst="rect">
              <a:avLst/>
            </a:prstGeom>
            <a:solidFill>
              <a:schemeClr val="tx2">
                <a:lumMod val="40000"/>
                <a:lumOff val="60000"/>
              </a:schemeClr>
            </a:solidFill>
            <a:ln w="12700" cap="rnd" cmpd="sng" algn="ctr">
              <a:solidFill>
                <a:srgbClr val="333333"/>
              </a:solidFill>
              <a:prstDash val="solid"/>
            </a:ln>
            <a:effectLst/>
          </p:spPr>
          <p:txBody>
            <a:bodyPr rtlCol="0" anchor="ctr"/>
            <a:lstStyle/>
            <a:p>
              <a:pPr algn="ctr"/>
              <a:endParaRPr lang="en-GB" sz="1350"/>
            </a:p>
          </p:txBody>
        </p:sp>
        <p:cxnSp>
          <p:nvCxnSpPr>
            <p:cNvPr id="484" name="Straight Connector 483">
              <a:extLst>
                <a:ext uri="{FF2B5EF4-FFF2-40B4-BE49-F238E27FC236}">
                  <a16:creationId xmlns:a16="http://schemas.microsoft.com/office/drawing/2014/main" id="{5C5A1799-994A-39FB-2B41-2B35757A6388}"/>
                </a:ext>
              </a:extLst>
            </p:cNvPr>
            <p:cNvCxnSpPr>
              <a:cxnSpLocks/>
              <a:stCxn id="29" idx="3"/>
              <a:endCxn id="482" idx="1"/>
            </p:cNvCxnSpPr>
            <p:nvPr/>
          </p:nvCxnSpPr>
          <p:spPr>
            <a:xfrm flipV="1">
              <a:off x="2286653" y="3711811"/>
              <a:ext cx="728995" cy="41450"/>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85" name="Straight Connector 484">
              <a:extLst>
                <a:ext uri="{FF2B5EF4-FFF2-40B4-BE49-F238E27FC236}">
                  <a16:creationId xmlns:a16="http://schemas.microsoft.com/office/drawing/2014/main" id="{7E626F85-3F83-574C-D4BE-50FB1F8CDF48}"/>
                </a:ext>
              </a:extLst>
            </p:cNvPr>
            <p:cNvCxnSpPr>
              <a:cxnSpLocks/>
              <a:stCxn id="40" idx="3"/>
              <a:endCxn id="481" idx="1"/>
            </p:cNvCxnSpPr>
            <p:nvPr/>
          </p:nvCxnSpPr>
          <p:spPr>
            <a:xfrm>
              <a:off x="2441588" y="3142745"/>
              <a:ext cx="574060" cy="326233"/>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86" name="Straight Connector 485">
              <a:extLst>
                <a:ext uri="{FF2B5EF4-FFF2-40B4-BE49-F238E27FC236}">
                  <a16:creationId xmlns:a16="http://schemas.microsoft.com/office/drawing/2014/main" id="{7ABC1E61-B907-2DCC-3ECC-F8AA553DC9B3}"/>
                </a:ext>
              </a:extLst>
            </p:cNvPr>
            <p:cNvCxnSpPr>
              <a:cxnSpLocks/>
              <a:stCxn id="33" idx="3"/>
              <a:endCxn id="483" idx="1"/>
            </p:cNvCxnSpPr>
            <p:nvPr/>
          </p:nvCxnSpPr>
          <p:spPr>
            <a:xfrm>
              <a:off x="2051562" y="3889706"/>
              <a:ext cx="957988" cy="45257"/>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88" name="Straight Connector 487">
              <a:extLst>
                <a:ext uri="{FF2B5EF4-FFF2-40B4-BE49-F238E27FC236}">
                  <a16:creationId xmlns:a16="http://schemas.microsoft.com/office/drawing/2014/main" id="{4B6FF2E6-9839-7F18-BF61-D0320FCFB3D6}"/>
                </a:ext>
              </a:extLst>
            </p:cNvPr>
            <p:cNvCxnSpPr>
              <a:cxnSpLocks/>
              <a:stCxn id="34" idx="3"/>
              <a:endCxn id="482" idx="1"/>
            </p:cNvCxnSpPr>
            <p:nvPr/>
          </p:nvCxnSpPr>
          <p:spPr>
            <a:xfrm flipV="1">
              <a:off x="1844548" y="3711811"/>
              <a:ext cx="1171100" cy="27451"/>
            </a:xfrm>
            <a:prstGeom prst="line">
              <a:avLst/>
            </a:prstGeom>
            <a:ln w="12700" cap="rnd">
              <a:tailEnd type="none"/>
            </a:ln>
            <a:effectLst/>
          </p:spPr>
          <p:style>
            <a:lnRef idx="2">
              <a:schemeClr val="accent1"/>
            </a:lnRef>
            <a:fillRef idx="0">
              <a:schemeClr val="accent1"/>
            </a:fillRef>
            <a:effectRef idx="1">
              <a:schemeClr val="accent1"/>
            </a:effectRef>
            <a:fontRef idx="minor">
              <a:schemeClr val="tx1"/>
            </a:fontRef>
          </p:style>
        </p:cxnSp>
        <p:cxnSp>
          <p:nvCxnSpPr>
            <p:cNvPr id="417" name="Straight Connector 416">
              <a:extLst>
                <a:ext uri="{FF2B5EF4-FFF2-40B4-BE49-F238E27FC236}">
                  <a16:creationId xmlns:a16="http://schemas.microsoft.com/office/drawing/2014/main" id="{14473DEB-3B1A-52B6-0D2F-F5ED34A72416}"/>
                </a:ext>
              </a:extLst>
            </p:cNvPr>
            <p:cNvCxnSpPr>
              <a:cxnSpLocks/>
              <a:stCxn id="480" idx="3"/>
              <a:endCxn id="400" idx="1"/>
            </p:cNvCxnSpPr>
            <p:nvPr/>
          </p:nvCxnSpPr>
          <p:spPr>
            <a:xfrm>
              <a:off x="3159648" y="3277744"/>
              <a:ext cx="824378" cy="510885"/>
            </a:xfrm>
            <a:prstGeom prst="line">
              <a:avLst/>
            </a:prstGeom>
            <a:noFill/>
            <a:ln w="12700" cap="rnd" cmpd="sng" algn="ctr">
              <a:solidFill>
                <a:srgbClr val="7E0063"/>
              </a:solidFill>
              <a:prstDash val="solid"/>
              <a:tailEnd type="none"/>
            </a:ln>
            <a:effectLst/>
          </p:spPr>
        </p:cxnSp>
        <p:cxnSp>
          <p:nvCxnSpPr>
            <p:cNvPr id="418" name="Straight Connector 417">
              <a:extLst>
                <a:ext uri="{FF2B5EF4-FFF2-40B4-BE49-F238E27FC236}">
                  <a16:creationId xmlns:a16="http://schemas.microsoft.com/office/drawing/2014/main" id="{2004AD17-76F5-D660-6950-E7A03A66CB27}"/>
                </a:ext>
              </a:extLst>
            </p:cNvPr>
            <p:cNvCxnSpPr>
              <a:cxnSpLocks/>
              <a:stCxn id="481" idx="3"/>
              <a:endCxn id="400" idx="1"/>
            </p:cNvCxnSpPr>
            <p:nvPr/>
          </p:nvCxnSpPr>
          <p:spPr>
            <a:xfrm>
              <a:off x="3159648" y="3468978"/>
              <a:ext cx="824378" cy="319651"/>
            </a:xfrm>
            <a:prstGeom prst="line">
              <a:avLst/>
            </a:prstGeom>
            <a:noFill/>
            <a:ln w="12700" cap="rnd" cmpd="sng" algn="ctr">
              <a:solidFill>
                <a:srgbClr val="7E0063"/>
              </a:solidFill>
              <a:prstDash val="solid"/>
              <a:tailEnd type="none"/>
            </a:ln>
            <a:effectLst/>
          </p:spPr>
        </p:cxnSp>
        <p:cxnSp>
          <p:nvCxnSpPr>
            <p:cNvPr id="421" name="Straight Connector 420">
              <a:extLst>
                <a:ext uri="{FF2B5EF4-FFF2-40B4-BE49-F238E27FC236}">
                  <a16:creationId xmlns:a16="http://schemas.microsoft.com/office/drawing/2014/main" id="{E968526F-83C6-23E1-E0D8-AB648E0CA535}"/>
                </a:ext>
              </a:extLst>
            </p:cNvPr>
            <p:cNvCxnSpPr>
              <a:cxnSpLocks/>
              <a:stCxn id="483" idx="3"/>
              <a:endCxn id="400" idx="1"/>
            </p:cNvCxnSpPr>
            <p:nvPr/>
          </p:nvCxnSpPr>
          <p:spPr>
            <a:xfrm flipV="1">
              <a:off x="3153550" y="3788629"/>
              <a:ext cx="830476" cy="146334"/>
            </a:xfrm>
            <a:prstGeom prst="line">
              <a:avLst/>
            </a:prstGeom>
            <a:noFill/>
            <a:ln w="12700" cap="rnd" cmpd="sng" algn="ctr">
              <a:solidFill>
                <a:srgbClr val="7E0063"/>
              </a:solidFill>
              <a:prstDash val="solid"/>
              <a:tailEnd type="none"/>
            </a:ln>
            <a:effectLst/>
          </p:spPr>
        </p:cxnSp>
        <p:cxnSp>
          <p:nvCxnSpPr>
            <p:cNvPr id="422" name="Straight Connector 421">
              <a:extLst>
                <a:ext uri="{FF2B5EF4-FFF2-40B4-BE49-F238E27FC236}">
                  <a16:creationId xmlns:a16="http://schemas.microsoft.com/office/drawing/2014/main" id="{53950407-318C-988B-3BCA-A73C6F4D7A3C}"/>
                </a:ext>
              </a:extLst>
            </p:cNvPr>
            <p:cNvCxnSpPr>
              <a:cxnSpLocks/>
              <a:stCxn id="482" idx="3"/>
              <a:endCxn id="400" idx="1"/>
            </p:cNvCxnSpPr>
            <p:nvPr/>
          </p:nvCxnSpPr>
          <p:spPr>
            <a:xfrm>
              <a:off x="3159648" y="3711811"/>
              <a:ext cx="824378" cy="76818"/>
            </a:xfrm>
            <a:prstGeom prst="line">
              <a:avLst/>
            </a:prstGeom>
            <a:noFill/>
            <a:ln w="12700" cap="rnd" cmpd="sng" algn="ctr">
              <a:solidFill>
                <a:srgbClr val="7E0063"/>
              </a:solidFill>
              <a:prstDash val="solid"/>
              <a:tailEnd type="none"/>
            </a:ln>
            <a:effectLst/>
          </p:spPr>
        </p:cxnSp>
      </p:grpSp>
      <p:sp>
        <p:nvSpPr>
          <p:cNvPr id="2" name="Title 1">
            <a:extLst>
              <a:ext uri="{FF2B5EF4-FFF2-40B4-BE49-F238E27FC236}">
                <a16:creationId xmlns:a16="http://schemas.microsoft.com/office/drawing/2014/main" id="{C189927B-826A-F4A2-70B1-05459EAE266C}"/>
              </a:ext>
            </a:extLst>
          </p:cNvPr>
          <p:cNvSpPr>
            <a:spLocks noGrp="1"/>
          </p:cNvSpPr>
          <p:nvPr>
            <p:ph type="title"/>
          </p:nvPr>
        </p:nvSpPr>
        <p:spPr>
          <a:xfrm>
            <a:off x="475814" y="121201"/>
            <a:ext cx="7464026" cy="570893"/>
          </a:xfrm>
        </p:spPr>
        <p:txBody>
          <a:bodyPr/>
          <a:lstStyle/>
          <a:p>
            <a:r>
              <a:rPr lang="en-GB"/>
              <a:t>2.3 nBIF Business Architecture</a:t>
            </a:r>
            <a:endParaRPr lang="en-IN"/>
          </a:p>
        </p:txBody>
      </p:sp>
      <p:sp>
        <p:nvSpPr>
          <p:cNvPr id="4" name="Text Placeholder 3">
            <a:extLst>
              <a:ext uri="{FF2B5EF4-FFF2-40B4-BE49-F238E27FC236}">
                <a16:creationId xmlns:a16="http://schemas.microsoft.com/office/drawing/2014/main" id="{F5A606B1-736D-5788-0E28-AEB1652523D4}"/>
              </a:ext>
            </a:extLst>
          </p:cNvPr>
          <p:cNvSpPr>
            <a:spLocks noGrp="1"/>
          </p:cNvSpPr>
          <p:nvPr>
            <p:ph type="body" sz="quarter" idx="15"/>
          </p:nvPr>
        </p:nvSpPr>
        <p:spPr>
          <a:xfrm>
            <a:off x="457399" y="622923"/>
            <a:ext cx="8389917" cy="212725"/>
          </a:xfrm>
        </p:spPr>
        <p:txBody>
          <a:bodyPr/>
          <a:lstStyle/>
          <a:p>
            <a:r>
              <a:rPr lang="en-IN"/>
              <a:t>Birds eye view on nBIF collaboration with major applications of Tribe Credit Analytics, Tribe Data Foundation &amp; Tribe Credit Core.    </a:t>
            </a:r>
          </a:p>
        </p:txBody>
      </p:sp>
      <p:sp>
        <p:nvSpPr>
          <p:cNvPr id="10" name="Text Placeholder 4">
            <a:extLst>
              <a:ext uri="{FF2B5EF4-FFF2-40B4-BE49-F238E27FC236}">
                <a16:creationId xmlns:a16="http://schemas.microsoft.com/office/drawing/2014/main" id="{49C15121-FA03-173C-D93F-647260CF8ABE}"/>
              </a:ext>
            </a:extLst>
          </p:cNvPr>
          <p:cNvSpPr>
            <a:spLocks noGrp="1"/>
          </p:cNvSpPr>
          <p:nvPr>
            <p:ph type="body" sz="quarter" idx="13"/>
          </p:nvPr>
        </p:nvSpPr>
        <p:spPr>
          <a:xfrm>
            <a:off x="457399" y="4011680"/>
            <a:ext cx="8362078" cy="757419"/>
          </a:xfrm>
          <a:noFill/>
          <a:ln>
            <a:noFill/>
          </a:ln>
        </p:spPr>
        <p:txBody>
          <a:bodyPr lIns="36000" rIns="36000"/>
          <a:lstStyle/>
          <a:p>
            <a:pPr>
              <a:buFont typeface="Arial" panose="020B0604020202020204" pitchFamily="34" charset="0"/>
              <a:buChar char="•"/>
            </a:pPr>
            <a:r>
              <a:rPr lang="en-IN" sz="900">
                <a:solidFill>
                  <a:schemeClr val="tx1"/>
                </a:solidFill>
              </a:rPr>
              <a:t>There will be multiple nBIF instances on nBIF platform. </a:t>
            </a:r>
          </a:p>
          <a:p>
            <a:pPr>
              <a:buFont typeface="Arial" panose="020B0604020202020204" pitchFamily="34" charset="0"/>
              <a:buChar char="•"/>
            </a:pPr>
            <a:r>
              <a:rPr lang="en-IN" sz="900">
                <a:solidFill>
                  <a:schemeClr val="tx1"/>
                </a:solidFill>
              </a:rPr>
              <a:t>Each nBIF instance is a separate IT application that implements an n-Bridge (orchestration chain of one or more models). </a:t>
            </a:r>
          </a:p>
          <a:p>
            <a:pPr>
              <a:buFont typeface="Arial" panose="020B0604020202020204" pitchFamily="34" charset="0"/>
              <a:buChar char="•"/>
            </a:pPr>
            <a:r>
              <a:rPr lang="en-IN" sz="900">
                <a:solidFill>
                  <a:schemeClr val="tx1"/>
                </a:solidFill>
              </a:rPr>
              <a:t>The nBIF platform (aka. orchestration Platform ) is responsible to deliver capabilities to build nBIF instances with reusable infra-as-a-code, reusable Identity and access framework, standard development framework, common data management framework, template for model orchestration. </a:t>
            </a:r>
          </a:p>
          <a:p>
            <a:pPr>
              <a:buFont typeface="Arial" panose="020B0604020202020204" pitchFamily="34" charset="0"/>
              <a:buChar char="•"/>
            </a:pPr>
            <a:r>
              <a:rPr lang="en-IN" sz="900">
                <a:solidFill>
                  <a:schemeClr val="tx1"/>
                </a:solidFill>
              </a:rPr>
              <a:t>nBIF platform also deliver products that are used by multiple nBIF instances like nBIF 365, which is a user interface for multiple capabilities including Inspection.</a:t>
            </a:r>
          </a:p>
        </p:txBody>
      </p:sp>
    </p:spTree>
    <p:extLst>
      <p:ext uri="{BB962C8B-B14F-4D97-AF65-F5344CB8AC3E}">
        <p14:creationId xmlns:p14="http://schemas.microsoft.com/office/powerpoint/2010/main" val="35725768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5813" y="191293"/>
            <a:ext cx="8228663" cy="616430"/>
          </a:xfrm>
        </p:spPr>
        <p:txBody>
          <a:bodyPr/>
          <a:lstStyle/>
          <a:p>
            <a:r>
              <a:rPr lang="en-GB" sz="2400"/>
              <a:t>2.4 Business viewpoint for Parallel development requirements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17</a:t>
            </a:fld>
            <a:endParaRPr lang="en-GB"/>
          </a:p>
        </p:txBody>
      </p:sp>
      <p:sp>
        <p:nvSpPr>
          <p:cNvPr id="17410" name="Rectangle 2"/>
          <p:cNvSpPr>
            <a:spLocks noChangeArrowheads="1"/>
          </p:cNvSpPr>
          <p:nvPr/>
        </p:nvSpPr>
        <p:spPr bwMode="auto">
          <a:xfrm>
            <a:off x="4"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solidFill>
                <a:prstClr val="black"/>
              </a:solidFill>
            </a:endParaRPr>
          </a:p>
        </p:txBody>
      </p:sp>
      <p:sp>
        <p:nvSpPr>
          <p:cNvPr id="30" name="Rounded Rectangle 10">
            <a:hlinkClick r:id="rId3" action="ppaction://hlinksldjump"/>
          </p:cNvPr>
          <p:cNvSpPr/>
          <p:nvPr/>
        </p:nvSpPr>
        <p:spPr>
          <a:xfrm>
            <a:off x="938158"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10" name="Rectangle 9"/>
          <p:cNvSpPr/>
          <p:nvPr/>
        </p:nvSpPr>
        <p:spPr>
          <a:xfrm>
            <a:off x="4656543" y="1242300"/>
            <a:ext cx="4047934" cy="3470867"/>
          </a:xfrm>
          <a:prstGeom prst="rect">
            <a:avLst/>
          </a:prstGeom>
        </p:spPr>
        <p:style>
          <a:lnRef idx="2">
            <a:schemeClr val="accent6"/>
          </a:lnRef>
          <a:fillRef idx="1">
            <a:schemeClr val="lt1"/>
          </a:fillRef>
          <a:effectRef idx="0">
            <a:schemeClr val="accent6"/>
          </a:effectRef>
          <a:fontRef idx="minor">
            <a:schemeClr val="dk1"/>
          </a:fontRef>
        </p:style>
        <p:txBody>
          <a:bodyPr wrap="square" numCol="1">
            <a:noAutofit/>
          </a:bodyPr>
          <a:lstStyle/>
          <a:p>
            <a:pPr marL="44534" lvl="1" indent="-171446" defTabSz="685800">
              <a:spcBef>
                <a:spcPts val="450"/>
              </a:spcBef>
              <a:buClr>
                <a:srgbClr val="FD6400"/>
              </a:buClr>
              <a:buFont typeface="Arial" panose="020B0604020202020204" pitchFamily="34" charset="0"/>
              <a:buChar char="•"/>
            </a:pPr>
            <a:r>
              <a:rPr lang="en-GB" sz="1050" b="1"/>
              <a:t>nBIF must have an architecture that enable multiple portfolios to build end-to-end n-Bridges concurrently &amp; independently.</a:t>
            </a:r>
            <a:endParaRPr lang="en-GB" sz="1050" b="1">
              <a:solidFill>
                <a:prstClr val="black"/>
              </a:solidFill>
              <a:latin typeface="Corbel"/>
              <a:cs typeface="Arial" panose="020B0604020202020204" pitchFamily="34" charset="0"/>
            </a:endParaRPr>
          </a:p>
          <a:p>
            <a:pPr marL="44534" lvl="1" indent="-171446" defTabSz="685800">
              <a:spcBef>
                <a:spcPts val="450"/>
              </a:spcBef>
              <a:buClr>
                <a:srgbClr val="FD6400"/>
              </a:buClr>
              <a:buFont typeface="Arial" panose="020B0604020202020204" pitchFamily="34" charset="0"/>
              <a:buChar char="•"/>
            </a:pPr>
            <a:r>
              <a:rPr lang="en-GB" sz="1050" b="1"/>
              <a:t>nBIF must also enable models to build/deploy their model specific orchestration changes independently. </a:t>
            </a:r>
          </a:p>
          <a:p>
            <a:pPr marL="44534" lvl="1" indent="-171446" defTabSz="685800">
              <a:spcBef>
                <a:spcPts val="450"/>
              </a:spcBef>
              <a:buClr>
                <a:srgbClr val="FD6400"/>
              </a:buClr>
              <a:buFont typeface="Arial" panose="020B0604020202020204" pitchFamily="34" charset="0"/>
              <a:buChar char="•"/>
            </a:pPr>
            <a:r>
              <a:rPr lang="en-IN" sz="1050" b="1">
                <a:solidFill>
                  <a:schemeClr val="accent2"/>
                </a:solidFill>
                <a:latin typeface="Corbel"/>
              </a:rPr>
              <a:t>Provide Model-Factories </a:t>
            </a:r>
          </a:p>
          <a:p>
            <a:pPr marL="844433" lvl="3" indent="-171446" defTabSz="685800">
              <a:spcBef>
                <a:spcPts val="450"/>
              </a:spcBef>
              <a:buClr>
                <a:srgbClr val="FD6400"/>
              </a:buClr>
              <a:buFont typeface="Arial" panose="020B0604020202020204" pitchFamily="34" charset="0"/>
              <a:buChar char="•"/>
            </a:pPr>
            <a:r>
              <a:rPr lang="en-US" sz="1050">
                <a:solidFill>
                  <a:prstClr val="black"/>
                </a:solidFill>
                <a:latin typeface="Corbel"/>
                <a:sym typeface="Wingdings" panose="05000000000000000000" pitchFamily="2" charset="2"/>
              </a:rPr>
              <a:t>For each bridge and portfolio combination (e.g., IRB RSME, IFRS9 RSME), there shall be an isolated implementation environment (a “Model-Factory”) that is integrated into the nBIF instance. Squads can build and deploy their respective orchestration, data management and other application processes within a model factory, independent from the developments in other model factories. </a:t>
            </a:r>
          </a:p>
          <a:p>
            <a:pPr marL="387434" lvl="2" indent="-171446" defTabSz="685800">
              <a:spcBef>
                <a:spcPts val="450"/>
              </a:spcBef>
              <a:buClr>
                <a:srgbClr val="FD6400"/>
              </a:buClr>
              <a:buFont typeface="Arial" panose="020B0604020202020204" pitchFamily="34" charset="0"/>
              <a:buChar char="•"/>
            </a:pPr>
            <a:r>
              <a:rPr lang="en-IN" sz="1050" b="1">
                <a:solidFill>
                  <a:schemeClr val="accent2"/>
                </a:solidFill>
                <a:latin typeface="Corbel"/>
              </a:rPr>
              <a:t>Standard mechanism to connect Model-Factories </a:t>
            </a:r>
          </a:p>
          <a:p>
            <a:pPr marL="844433" lvl="3" indent="-171446" defTabSz="685800">
              <a:spcBef>
                <a:spcPts val="450"/>
              </a:spcBef>
              <a:buClr>
                <a:srgbClr val="FD6400"/>
              </a:buClr>
              <a:buFont typeface="Arial" panose="020B0604020202020204" pitchFamily="34" charset="0"/>
              <a:buChar char="•"/>
            </a:pPr>
            <a:r>
              <a:rPr lang="en-US" sz="1050">
                <a:solidFill>
                  <a:prstClr val="black"/>
                </a:solidFill>
                <a:latin typeface="Corbel"/>
                <a:sym typeface="Wingdings" panose="05000000000000000000" pitchFamily="2" charset="2"/>
              </a:rPr>
              <a:t>A portfolio area should be able to implement as many bridges as possible independently (preferably all). This portfolio level mechanism shall also be responsible for connecting model factories with GRFD and other external sources/consumers</a:t>
            </a:r>
          </a:p>
        </p:txBody>
      </p:sp>
      <p:grpSp>
        <p:nvGrpSpPr>
          <p:cNvPr id="36" name="Group 35">
            <a:extLst>
              <a:ext uri="{FF2B5EF4-FFF2-40B4-BE49-F238E27FC236}">
                <a16:creationId xmlns:a16="http://schemas.microsoft.com/office/drawing/2014/main" id="{48BE4624-9DAA-EA58-A200-9F427FD1FA1A}"/>
              </a:ext>
            </a:extLst>
          </p:cNvPr>
          <p:cNvGrpSpPr/>
          <p:nvPr/>
        </p:nvGrpSpPr>
        <p:grpSpPr>
          <a:xfrm>
            <a:off x="309915" y="1254034"/>
            <a:ext cx="3962776" cy="3074126"/>
            <a:chOff x="309915" y="1254034"/>
            <a:chExt cx="3962776" cy="3074126"/>
          </a:xfrm>
        </p:grpSpPr>
        <p:sp>
          <p:nvSpPr>
            <p:cNvPr id="5" name="Rectangle: Rounded Corners 4">
              <a:extLst>
                <a:ext uri="{FF2B5EF4-FFF2-40B4-BE49-F238E27FC236}">
                  <a16:creationId xmlns:a16="http://schemas.microsoft.com/office/drawing/2014/main" id="{6692D734-F067-DEA7-38EA-056952F29001}"/>
                </a:ext>
              </a:extLst>
            </p:cNvPr>
            <p:cNvSpPr/>
            <p:nvPr/>
          </p:nvSpPr>
          <p:spPr>
            <a:xfrm>
              <a:off x="344737" y="1254034"/>
              <a:ext cx="3927954" cy="3074126"/>
            </a:xfrm>
            <a:prstGeom prst="roundRect">
              <a:avLst/>
            </a:prstGeom>
            <a:solidFill>
              <a:srgbClr val="90D1E3">
                <a:lumMod val="40000"/>
                <a:lumOff val="60000"/>
              </a:srgbClr>
            </a:solidFill>
            <a:ln w="12700" cap="rnd" cmpd="sng" algn="ctr">
              <a:solidFill>
                <a:srgbClr val="000099"/>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1200" b="1" i="0" u="none" strike="noStrike" kern="0" cap="none" spc="0" normalizeH="0" baseline="0" noProof="0">
                <a:ln>
                  <a:noFill/>
                </a:ln>
                <a:solidFill>
                  <a:srgbClr val="FD6400"/>
                </a:solidFill>
                <a:effectLst/>
                <a:uLnTx/>
                <a:uFillTx/>
                <a:latin typeface="Myriad for Rabobank Bd It"/>
              </a:endParaRPr>
            </a:p>
          </p:txBody>
        </p:sp>
        <p:grpSp>
          <p:nvGrpSpPr>
            <p:cNvPr id="61" name="Group 60">
              <a:extLst>
                <a:ext uri="{FF2B5EF4-FFF2-40B4-BE49-F238E27FC236}">
                  <a16:creationId xmlns:a16="http://schemas.microsoft.com/office/drawing/2014/main" id="{F834392E-EA13-9347-C4FB-1EA003AA0DD3}"/>
                </a:ext>
              </a:extLst>
            </p:cNvPr>
            <p:cNvGrpSpPr/>
            <p:nvPr/>
          </p:nvGrpSpPr>
          <p:grpSpPr>
            <a:xfrm>
              <a:off x="444128" y="1429526"/>
              <a:ext cx="1682156" cy="438830"/>
              <a:chOff x="4870578" y="1597875"/>
              <a:chExt cx="1733538" cy="454779"/>
            </a:xfrm>
          </p:grpSpPr>
          <p:sp>
            <p:nvSpPr>
              <p:cNvPr id="16" name="TextBox 15">
                <a:extLst>
                  <a:ext uri="{FF2B5EF4-FFF2-40B4-BE49-F238E27FC236}">
                    <a16:creationId xmlns:a16="http://schemas.microsoft.com/office/drawing/2014/main" id="{8366599A-3424-7BEE-7C36-2C3C031C5C63}"/>
                  </a:ext>
                </a:extLst>
              </p:cNvPr>
              <p:cNvSpPr txBox="1"/>
              <p:nvPr/>
            </p:nvSpPr>
            <p:spPr>
              <a:xfrm>
                <a:off x="4870578" y="1597875"/>
                <a:ext cx="1733538" cy="454779"/>
              </a:xfrm>
              <a:prstGeom prst="rect">
                <a:avLst/>
              </a:prstGeom>
              <a:noFill/>
            </p:spPr>
            <p:txBody>
              <a:bodyPr wrap="square" rtlCol="0">
                <a:spAutoFit/>
              </a:bodyPr>
              <a:lstStyle/>
              <a:p>
                <a:pPr defTabSz="914400"/>
                <a:r>
                  <a:rPr lang="en-GB">
                    <a:solidFill>
                      <a:prstClr val="black"/>
                    </a:solidFill>
                    <a:latin typeface="Calibri" panose="020F0502020204030204"/>
                  </a:rPr>
                  <a:t>Bridges</a:t>
                </a:r>
                <a:endParaRPr lang="nl-NL">
                  <a:solidFill>
                    <a:prstClr val="black"/>
                  </a:solidFill>
                  <a:latin typeface="Calibri" panose="020F0502020204030204"/>
                </a:endParaRPr>
              </a:p>
            </p:txBody>
          </p:sp>
          <p:cxnSp>
            <p:nvCxnSpPr>
              <p:cNvPr id="21" name="Straight Arrow Connector 20">
                <a:extLst>
                  <a:ext uri="{FF2B5EF4-FFF2-40B4-BE49-F238E27FC236}">
                    <a16:creationId xmlns:a16="http://schemas.microsoft.com/office/drawing/2014/main" id="{E0B5EFB3-F13A-4A7F-772D-C966A7A9AF06}"/>
                  </a:ext>
                </a:extLst>
              </p:cNvPr>
              <p:cNvCxnSpPr>
                <a:cxnSpLocks/>
              </p:cNvCxnSpPr>
              <p:nvPr/>
            </p:nvCxnSpPr>
            <p:spPr>
              <a:xfrm>
                <a:off x="5031336" y="1944649"/>
                <a:ext cx="501936" cy="0"/>
              </a:xfrm>
              <a:prstGeom prst="straightConnector1">
                <a:avLst/>
              </a:prstGeom>
              <a:noFill/>
              <a:ln w="19050" cap="flat" cmpd="sng" algn="ctr">
                <a:solidFill>
                  <a:sysClr val="windowText" lastClr="000000"/>
                </a:solidFill>
                <a:prstDash val="solid"/>
                <a:miter lim="800000"/>
                <a:tailEnd type="triangle"/>
              </a:ln>
              <a:effectLst/>
            </p:spPr>
          </p:cxnSp>
        </p:grpSp>
        <p:grpSp>
          <p:nvGrpSpPr>
            <p:cNvPr id="62" name="Group 61">
              <a:extLst>
                <a:ext uri="{FF2B5EF4-FFF2-40B4-BE49-F238E27FC236}">
                  <a16:creationId xmlns:a16="http://schemas.microsoft.com/office/drawing/2014/main" id="{D82DF50C-32F1-F112-A45D-A1FC30896526}"/>
                </a:ext>
              </a:extLst>
            </p:cNvPr>
            <p:cNvGrpSpPr/>
            <p:nvPr/>
          </p:nvGrpSpPr>
          <p:grpSpPr>
            <a:xfrm>
              <a:off x="309915" y="2218991"/>
              <a:ext cx="434790" cy="1590855"/>
              <a:chOff x="351228" y="2324937"/>
              <a:chExt cx="448071" cy="1648672"/>
            </a:xfrm>
          </p:grpSpPr>
          <p:sp>
            <p:nvSpPr>
              <p:cNvPr id="17" name="TextBox 16">
                <a:extLst>
                  <a:ext uri="{FF2B5EF4-FFF2-40B4-BE49-F238E27FC236}">
                    <a16:creationId xmlns:a16="http://schemas.microsoft.com/office/drawing/2014/main" id="{E44E55DA-CA76-C3E6-C333-1D9E0A5A9A6F}"/>
                  </a:ext>
                </a:extLst>
              </p:cNvPr>
              <p:cNvSpPr txBox="1"/>
              <p:nvPr/>
            </p:nvSpPr>
            <p:spPr>
              <a:xfrm rot="5400000">
                <a:off x="-249072" y="2925237"/>
                <a:ext cx="1648672" cy="448071"/>
              </a:xfrm>
              <a:prstGeom prst="rect">
                <a:avLst/>
              </a:prstGeom>
              <a:noFill/>
            </p:spPr>
            <p:txBody>
              <a:bodyPr wrap="square" rtlCol="0">
                <a:spAutoFit/>
              </a:bodyPr>
              <a:lstStyle/>
              <a:p>
                <a:pPr defTabSz="914400"/>
                <a:r>
                  <a:rPr lang="en-GB">
                    <a:solidFill>
                      <a:prstClr val="black"/>
                    </a:solidFill>
                    <a:latin typeface="Calibri" panose="020F0502020204030204"/>
                  </a:rPr>
                  <a:t>Portfolios </a:t>
                </a:r>
                <a:endParaRPr lang="nl-NL">
                  <a:solidFill>
                    <a:prstClr val="black"/>
                  </a:solidFill>
                  <a:latin typeface="Calibri" panose="020F0502020204030204"/>
                </a:endParaRPr>
              </a:p>
            </p:txBody>
          </p:sp>
          <p:cxnSp>
            <p:nvCxnSpPr>
              <p:cNvPr id="22" name="Straight Arrow Connector 21">
                <a:extLst>
                  <a:ext uri="{FF2B5EF4-FFF2-40B4-BE49-F238E27FC236}">
                    <a16:creationId xmlns:a16="http://schemas.microsoft.com/office/drawing/2014/main" id="{225A9E5E-D332-22A4-EF35-ACBD446EA543}"/>
                  </a:ext>
                </a:extLst>
              </p:cNvPr>
              <p:cNvCxnSpPr>
                <a:cxnSpLocks/>
              </p:cNvCxnSpPr>
              <p:nvPr/>
            </p:nvCxnSpPr>
            <p:spPr>
              <a:xfrm>
                <a:off x="591568" y="3344258"/>
                <a:ext cx="0" cy="417953"/>
              </a:xfrm>
              <a:prstGeom prst="straightConnector1">
                <a:avLst/>
              </a:prstGeom>
              <a:noFill/>
              <a:ln w="19050" cap="flat" cmpd="sng" algn="ctr">
                <a:solidFill>
                  <a:sysClr val="windowText" lastClr="000000"/>
                </a:solidFill>
                <a:prstDash val="solid"/>
                <a:miter lim="800000"/>
                <a:tailEnd type="triangle"/>
              </a:ln>
              <a:effectLst/>
            </p:spPr>
          </p:cxnSp>
        </p:grpSp>
        <p:sp>
          <p:nvSpPr>
            <p:cNvPr id="6" name="Rectangle: Rounded Corners 5">
              <a:extLst>
                <a:ext uri="{FF2B5EF4-FFF2-40B4-BE49-F238E27FC236}">
                  <a16:creationId xmlns:a16="http://schemas.microsoft.com/office/drawing/2014/main" id="{7130B792-0E58-EEE1-FF9E-96B647B158B1}"/>
                </a:ext>
              </a:extLst>
            </p:cNvPr>
            <p:cNvSpPr/>
            <p:nvPr/>
          </p:nvSpPr>
          <p:spPr>
            <a:xfrm>
              <a:off x="3417549" y="1579787"/>
              <a:ext cx="317271" cy="2408274"/>
            </a:xfrm>
            <a:prstGeom prst="round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914400">
                <a:defRPr/>
              </a:pPr>
              <a:endParaRPr lang="nl-NL" kern="0">
                <a:solidFill>
                  <a:prstClr val="white"/>
                </a:solidFill>
                <a:latin typeface="Calibri" panose="020F0502020204030204"/>
              </a:endParaRPr>
            </a:p>
          </p:txBody>
        </p:sp>
        <p:sp>
          <p:nvSpPr>
            <p:cNvPr id="7" name="Rectangle: Rounded Corners 6">
              <a:extLst>
                <a:ext uri="{FF2B5EF4-FFF2-40B4-BE49-F238E27FC236}">
                  <a16:creationId xmlns:a16="http://schemas.microsoft.com/office/drawing/2014/main" id="{B494E67B-8D93-3029-4E74-8576B6CB8A68}"/>
                </a:ext>
              </a:extLst>
            </p:cNvPr>
            <p:cNvSpPr/>
            <p:nvPr/>
          </p:nvSpPr>
          <p:spPr>
            <a:xfrm>
              <a:off x="2118953" y="1579787"/>
              <a:ext cx="317271" cy="2408274"/>
            </a:xfrm>
            <a:prstGeom prst="round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914400">
                <a:defRPr/>
              </a:pPr>
              <a:endParaRPr lang="nl-NL" kern="0">
                <a:solidFill>
                  <a:prstClr val="white"/>
                </a:solidFill>
                <a:latin typeface="Calibri" panose="020F0502020204030204"/>
              </a:endParaRPr>
            </a:p>
          </p:txBody>
        </p:sp>
        <p:sp>
          <p:nvSpPr>
            <p:cNvPr id="8" name="Rectangle: Rounded Corners 7">
              <a:extLst>
                <a:ext uri="{FF2B5EF4-FFF2-40B4-BE49-F238E27FC236}">
                  <a16:creationId xmlns:a16="http://schemas.microsoft.com/office/drawing/2014/main" id="{F95B8B9B-3B9F-85B7-C2BE-80D0F4402E95}"/>
                </a:ext>
              </a:extLst>
            </p:cNvPr>
            <p:cNvSpPr/>
            <p:nvPr/>
          </p:nvSpPr>
          <p:spPr>
            <a:xfrm>
              <a:off x="1469653" y="1579787"/>
              <a:ext cx="317271" cy="2408274"/>
            </a:xfrm>
            <a:prstGeom prst="round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914400">
                <a:defRPr/>
              </a:pPr>
              <a:endParaRPr lang="nl-NL" kern="0">
                <a:solidFill>
                  <a:prstClr val="white"/>
                </a:solidFill>
                <a:latin typeface="Calibri" panose="020F0502020204030204"/>
              </a:endParaRPr>
            </a:p>
          </p:txBody>
        </p:sp>
        <p:sp>
          <p:nvSpPr>
            <p:cNvPr id="9" name="Rectangle: Rounded Corners 8">
              <a:extLst>
                <a:ext uri="{FF2B5EF4-FFF2-40B4-BE49-F238E27FC236}">
                  <a16:creationId xmlns:a16="http://schemas.microsoft.com/office/drawing/2014/main" id="{E6178392-F394-46B1-4EE5-5E396407B58A}"/>
                </a:ext>
              </a:extLst>
            </p:cNvPr>
            <p:cNvSpPr/>
            <p:nvPr/>
          </p:nvSpPr>
          <p:spPr>
            <a:xfrm>
              <a:off x="2768251" y="1579787"/>
              <a:ext cx="317271" cy="2408274"/>
            </a:xfrm>
            <a:prstGeom prst="round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914400">
                <a:defRPr/>
              </a:pPr>
              <a:endParaRPr lang="nl-NL" kern="0">
                <a:solidFill>
                  <a:prstClr val="white"/>
                </a:solidFill>
                <a:latin typeface="Calibri" panose="020F0502020204030204"/>
              </a:endParaRPr>
            </a:p>
          </p:txBody>
        </p:sp>
        <p:sp>
          <p:nvSpPr>
            <p:cNvPr id="11" name="Rectangle: Rounded Corners 10">
              <a:extLst>
                <a:ext uri="{FF2B5EF4-FFF2-40B4-BE49-F238E27FC236}">
                  <a16:creationId xmlns:a16="http://schemas.microsoft.com/office/drawing/2014/main" id="{22905DF1-CD68-AAAA-0B61-E607171C1305}"/>
                </a:ext>
              </a:extLst>
            </p:cNvPr>
            <p:cNvSpPr/>
            <p:nvPr/>
          </p:nvSpPr>
          <p:spPr>
            <a:xfrm rot="5400000">
              <a:off x="2206232" y="363016"/>
              <a:ext cx="292735" cy="3335892"/>
            </a:xfrm>
            <a:prstGeom prst="round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400"/>
              <a:endParaRPr lang="nl-NL" kern="0">
                <a:solidFill>
                  <a:prstClr val="white"/>
                </a:solidFill>
                <a:latin typeface="Calibri" panose="020F0502020204030204"/>
              </a:endParaRPr>
            </a:p>
          </p:txBody>
        </p:sp>
        <p:sp>
          <p:nvSpPr>
            <p:cNvPr id="12" name="Rectangle: Rounded Corners 11">
              <a:extLst>
                <a:ext uri="{FF2B5EF4-FFF2-40B4-BE49-F238E27FC236}">
                  <a16:creationId xmlns:a16="http://schemas.microsoft.com/office/drawing/2014/main" id="{0C5C35A7-16F5-3F6C-BD5C-E68A763250E8}"/>
                </a:ext>
              </a:extLst>
            </p:cNvPr>
            <p:cNvSpPr/>
            <p:nvPr/>
          </p:nvSpPr>
          <p:spPr>
            <a:xfrm rot="5400000">
              <a:off x="2213509" y="743710"/>
              <a:ext cx="292735" cy="3350446"/>
            </a:xfrm>
            <a:prstGeom prst="round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400"/>
              <a:endParaRPr lang="nl-NL" kern="0">
                <a:solidFill>
                  <a:prstClr val="white"/>
                </a:solidFill>
                <a:latin typeface="Calibri" panose="020F0502020204030204"/>
              </a:endParaRPr>
            </a:p>
          </p:txBody>
        </p:sp>
        <p:sp>
          <p:nvSpPr>
            <p:cNvPr id="13" name="Rectangle: Rounded Corners 12">
              <a:extLst>
                <a:ext uri="{FF2B5EF4-FFF2-40B4-BE49-F238E27FC236}">
                  <a16:creationId xmlns:a16="http://schemas.microsoft.com/office/drawing/2014/main" id="{B5D44F16-2A27-0D3E-9FA3-41BE85810544}"/>
                </a:ext>
              </a:extLst>
            </p:cNvPr>
            <p:cNvSpPr/>
            <p:nvPr/>
          </p:nvSpPr>
          <p:spPr>
            <a:xfrm rot="5400000">
              <a:off x="2217148" y="1128043"/>
              <a:ext cx="292735" cy="3357724"/>
            </a:xfrm>
            <a:prstGeom prst="round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400"/>
              <a:endParaRPr lang="nl-NL" kern="0">
                <a:solidFill>
                  <a:prstClr val="white"/>
                </a:solidFill>
                <a:latin typeface="Calibri" panose="020F0502020204030204"/>
              </a:endParaRPr>
            </a:p>
          </p:txBody>
        </p:sp>
        <p:sp>
          <p:nvSpPr>
            <p:cNvPr id="14" name="Rectangle: Rounded Corners 13">
              <a:extLst>
                <a:ext uri="{FF2B5EF4-FFF2-40B4-BE49-F238E27FC236}">
                  <a16:creationId xmlns:a16="http://schemas.microsoft.com/office/drawing/2014/main" id="{2367C979-844C-DC7B-2AF5-C09943BAE361}"/>
                </a:ext>
              </a:extLst>
            </p:cNvPr>
            <p:cNvSpPr/>
            <p:nvPr/>
          </p:nvSpPr>
          <p:spPr>
            <a:xfrm rot="5400000">
              <a:off x="2209871" y="1523293"/>
              <a:ext cx="292735" cy="3343169"/>
            </a:xfrm>
            <a:prstGeom prst="round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400"/>
              <a:endParaRPr lang="nl-NL" kern="0">
                <a:solidFill>
                  <a:prstClr val="white"/>
                </a:solidFill>
                <a:latin typeface="Calibri" panose="020F0502020204030204"/>
              </a:endParaRPr>
            </a:p>
          </p:txBody>
        </p:sp>
        <p:sp>
          <p:nvSpPr>
            <p:cNvPr id="15" name="Rectangle: Rounded Corners 14">
              <a:extLst>
                <a:ext uri="{FF2B5EF4-FFF2-40B4-BE49-F238E27FC236}">
                  <a16:creationId xmlns:a16="http://schemas.microsoft.com/office/drawing/2014/main" id="{6286E4BF-82B2-EE86-333B-BFE17E34BA33}"/>
                </a:ext>
              </a:extLst>
            </p:cNvPr>
            <p:cNvSpPr/>
            <p:nvPr/>
          </p:nvSpPr>
          <p:spPr>
            <a:xfrm rot="5400000">
              <a:off x="2217148" y="1903987"/>
              <a:ext cx="292735" cy="3357724"/>
            </a:xfrm>
            <a:prstGeom prst="round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ctr"/>
            <a:lstStyle/>
            <a:p>
              <a:pPr algn="ctr" defTabSz="914400"/>
              <a:endParaRPr lang="nl-NL" kern="0">
                <a:solidFill>
                  <a:prstClr val="white"/>
                </a:solidFill>
                <a:latin typeface="Calibri" panose="020F0502020204030204"/>
              </a:endParaRPr>
            </a:p>
          </p:txBody>
        </p:sp>
        <p:sp>
          <p:nvSpPr>
            <p:cNvPr id="18" name="TextBox 17">
              <a:extLst>
                <a:ext uri="{FF2B5EF4-FFF2-40B4-BE49-F238E27FC236}">
                  <a16:creationId xmlns:a16="http://schemas.microsoft.com/office/drawing/2014/main" id="{DE77BF82-FF74-2879-0839-2B9F96D88947}"/>
                </a:ext>
              </a:extLst>
            </p:cNvPr>
            <p:cNvSpPr txBox="1"/>
            <p:nvPr/>
          </p:nvSpPr>
          <p:spPr>
            <a:xfrm>
              <a:off x="1469653" y="1614020"/>
              <a:ext cx="312365" cy="138499"/>
            </a:xfrm>
            <a:prstGeom prst="rect">
              <a:avLst/>
            </a:prstGeom>
            <a:noFill/>
          </p:spPr>
          <p:txBody>
            <a:bodyPr wrap="square" lIns="0" tIns="0" rIns="0" bIns="0" rtlCol="0">
              <a:spAutoFit/>
            </a:bodyPr>
            <a:lstStyle/>
            <a:p>
              <a:pPr algn="ctr" defTabSz="914400"/>
              <a:r>
                <a:rPr lang="en-GB" sz="900" b="1">
                  <a:solidFill>
                    <a:prstClr val="black"/>
                  </a:solidFill>
                  <a:latin typeface="+mj-lt"/>
                </a:rPr>
                <a:t>IRB</a:t>
              </a:r>
              <a:endParaRPr lang="nl-NL" sz="900" b="1">
                <a:solidFill>
                  <a:prstClr val="black"/>
                </a:solidFill>
                <a:latin typeface="+mj-lt"/>
              </a:endParaRPr>
            </a:p>
          </p:txBody>
        </p:sp>
        <p:sp>
          <p:nvSpPr>
            <p:cNvPr id="19" name="TextBox 18">
              <a:extLst>
                <a:ext uri="{FF2B5EF4-FFF2-40B4-BE49-F238E27FC236}">
                  <a16:creationId xmlns:a16="http://schemas.microsoft.com/office/drawing/2014/main" id="{80430DAB-1FAB-AB0A-763F-9249BA16DE39}"/>
                </a:ext>
              </a:extLst>
            </p:cNvPr>
            <p:cNvSpPr txBox="1"/>
            <p:nvPr/>
          </p:nvSpPr>
          <p:spPr>
            <a:xfrm>
              <a:off x="865928" y="1952773"/>
              <a:ext cx="709771" cy="138499"/>
            </a:xfrm>
            <a:prstGeom prst="rect">
              <a:avLst/>
            </a:prstGeom>
            <a:noFill/>
          </p:spPr>
          <p:txBody>
            <a:bodyPr wrap="square" lIns="0" tIns="0" rIns="0" bIns="0" rtlCol="0">
              <a:spAutoFit/>
            </a:bodyPr>
            <a:lstStyle/>
            <a:p>
              <a:pPr defTabSz="914400"/>
              <a:r>
                <a:rPr lang="en-GB" sz="900" b="1">
                  <a:solidFill>
                    <a:prstClr val="black"/>
                  </a:solidFill>
                  <a:latin typeface="+mj-lt"/>
                </a:rPr>
                <a:t>RSME</a:t>
              </a:r>
              <a:endParaRPr lang="nl-NL" sz="900" b="1">
                <a:solidFill>
                  <a:prstClr val="black"/>
                </a:solidFill>
                <a:latin typeface="+mj-lt"/>
              </a:endParaRPr>
            </a:p>
          </p:txBody>
        </p:sp>
        <p:sp>
          <p:nvSpPr>
            <p:cNvPr id="20" name="TextBox 19">
              <a:extLst>
                <a:ext uri="{FF2B5EF4-FFF2-40B4-BE49-F238E27FC236}">
                  <a16:creationId xmlns:a16="http://schemas.microsoft.com/office/drawing/2014/main" id="{E554E2F3-F20B-56D8-4F2B-14BEFD2D3009}"/>
                </a:ext>
              </a:extLst>
            </p:cNvPr>
            <p:cNvSpPr txBox="1"/>
            <p:nvPr/>
          </p:nvSpPr>
          <p:spPr>
            <a:xfrm>
              <a:off x="865928" y="2303641"/>
              <a:ext cx="709771" cy="138499"/>
            </a:xfrm>
            <a:prstGeom prst="rect">
              <a:avLst/>
            </a:prstGeom>
            <a:noFill/>
          </p:spPr>
          <p:txBody>
            <a:bodyPr wrap="square" lIns="0" tIns="0" rIns="0" bIns="0" rtlCol="0">
              <a:spAutoFit/>
            </a:bodyPr>
            <a:lstStyle/>
            <a:p>
              <a:pPr defTabSz="914400"/>
              <a:r>
                <a:rPr lang="en-GB" sz="900" b="1">
                  <a:solidFill>
                    <a:prstClr val="black"/>
                  </a:solidFill>
                  <a:latin typeface="+mj-lt"/>
                </a:rPr>
                <a:t>RMM</a:t>
              </a:r>
              <a:endParaRPr lang="nl-NL" sz="900" b="1">
                <a:solidFill>
                  <a:prstClr val="black"/>
                </a:solidFill>
                <a:latin typeface="+mj-lt"/>
              </a:endParaRPr>
            </a:p>
          </p:txBody>
        </p:sp>
        <p:sp>
          <p:nvSpPr>
            <p:cNvPr id="23" name="TextBox 22">
              <a:extLst>
                <a:ext uri="{FF2B5EF4-FFF2-40B4-BE49-F238E27FC236}">
                  <a16:creationId xmlns:a16="http://schemas.microsoft.com/office/drawing/2014/main" id="{27536856-DBEB-0D3F-5A5F-13A806ACA4CB}"/>
                </a:ext>
              </a:extLst>
            </p:cNvPr>
            <p:cNvSpPr txBox="1"/>
            <p:nvPr/>
          </p:nvSpPr>
          <p:spPr>
            <a:xfrm>
              <a:off x="2094251" y="1633398"/>
              <a:ext cx="371636" cy="138499"/>
            </a:xfrm>
            <a:prstGeom prst="rect">
              <a:avLst/>
            </a:prstGeom>
            <a:noFill/>
          </p:spPr>
          <p:txBody>
            <a:bodyPr wrap="square" lIns="0" tIns="0" rIns="0" bIns="0" rtlCol="0" anchor="t">
              <a:spAutoFit/>
            </a:bodyPr>
            <a:lstStyle>
              <a:defPPr>
                <a:defRPr lang="nl-NL"/>
              </a:defPPr>
              <a:lvl1pPr>
                <a:defRPr sz="800"/>
              </a:lvl1pPr>
            </a:lstStyle>
            <a:p>
              <a:pPr algn="ctr" defTabSz="914400"/>
              <a:r>
                <a:rPr lang="en-GB" sz="900" b="1">
                  <a:solidFill>
                    <a:prstClr val="black"/>
                  </a:solidFill>
                  <a:latin typeface="+mj-lt"/>
                  <a:ea typeface="Calibri"/>
                  <a:cs typeface="Calibri"/>
                </a:rPr>
                <a:t>IFRS9</a:t>
              </a:r>
            </a:p>
          </p:txBody>
        </p:sp>
        <p:sp>
          <p:nvSpPr>
            <p:cNvPr id="24" name="Rectangle 23">
              <a:extLst>
                <a:ext uri="{FF2B5EF4-FFF2-40B4-BE49-F238E27FC236}">
                  <a16:creationId xmlns:a16="http://schemas.microsoft.com/office/drawing/2014/main" id="{F1FC14EA-6162-8E2B-D2F0-962EAA765755}"/>
                </a:ext>
              </a:extLst>
            </p:cNvPr>
            <p:cNvSpPr/>
            <p:nvPr/>
          </p:nvSpPr>
          <p:spPr>
            <a:xfrm rot="19213617">
              <a:off x="1471458" y="1986081"/>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25" name="Rectangle 24">
              <a:extLst>
                <a:ext uri="{FF2B5EF4-FFF2-40B4-BE49-F238E27FC236}">
                  <a16:creationId xmlns:a16="http://schemas.microsoft.com/office/drawing/2014/main" id="{8E2286A9-B388-00D4-2D49-B8CE4E0E5937}"/>
                </a:ext>
              </a:extLst>
            </p:cNvPr>
            <p:cNvSpPr/>
            <p:nvPr/>
          </p:nvSpPr>
          <p:spPr>
            <a:xfrm rot="19213617">
              <a:off x="2137778" y="1966641"/>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26" name="Rectangle 25">
              <a:extLst>
                <a:ext uri="{FF2B5EF4-FFF2-40B4-BE49-F238E27FC236}">
                  <a16:creationId xmlns:a16="http://schemas.microsoft.com/office/drawing/2014/main" id="{12871E87-A461-BEDB-9BAF-C5F93B2A4C26}"/>
                </a:ext>
              </a:extLst>
            </p:cNvPr>
            <p:cNvSpPr/>
            <p:nvPr/>
          </p:nvSpPr>
          <p:spPr>
            <a:xfrm rot="19213617">
              <a:off x="1482348" y="2361855"/>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27" name="Rectangle 26">
              <a:extLst>
                <a:ext uri="{FF2B5EF4-FFF2-40B4-BE49-F238E27FC236}">
                  <a16:creationId xmlns:a16="http://schemas.microsoft.com/office/drawing/2014/main" id="{4F4F10FF-7AF8-D71C-5EB3-5D20816C487E}"/>
                </a:ext>
              </a:extLst>
            </p:cNvPr>
            <p:cNvSpPr/>
            <p:nvPr/>
          </p:nvSpPr>
          <p:spPr>
            <a:xfrm rot="19213617">
              <a:off x="2126040" y="2354467"/>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28" name="Rectangle 27">
              <a:extLst>
                <a:ext uri="{FF2B5EF4-FFF2-40B4-BE49-F238E27FC236}">
                  <a16:creationId xmlns:a16="http://schemas.microsoft.com/office/drawing/2014/main" id="{3F74D344-9F72-BA1D-73CB-863DEC225FF6}"/>
                </a:ext>
              </a:extLst>
            </p:cNvPr>
            <p:cNvSpPr/>
            <p:nvPr/>
          </p:nvSpPr>
          <p:spPr>
            <a:xfrm rot="19213617">
              <a:off x="1482348" y="2724424"/>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29" name="Rectangle 28">
              <a:extLst>
                <a:ext uri="{FF2B5EF4-FFF2-40B4-BE49-F238E27FC236}">
                  <a16:creationId xmlns:a16="http://schemas.microsoft.com/office/drawing/2014/main" id="{D60D6E5A-EF35-1D88-D929-95B09AB4BF81}"/>
                </a:ext>
              </a:extLst>
            </p:cNvPr>
            <p:cNvSpPr/>
            <p:nvPr/>
          </p:nvSpPr>
          <p:spPr>
            <a:xfrm rot="19213617">
              <a:off x="1492701" y="3123325"/>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31" name="TextBox 30">
              <a:extLst>
                <a:ext uri="{FF2B5EF4-FFF2-40B4-BE49-F238E27FC236}">
                  <a16:creationId xmlns:a16="http://schemas.microsoft.com/office/drawing/2014/main" id="{3ADA20A3-F753-6DA1-ABE4-FFB54644EC00}"/>
                </a:ext>
              </a:extLst>
            </p:cNvPr>
            <p:cNvSpPr txBox="1"/>
            <p:nvPr/>
          </p:nvSpPr>
          <p:spPr>
            <a:xfrm>
              <a:off x="857630" y="2718253"/>
              <a:ext cx="709771" cy="138499"/>
            </a:xfrm>
            <a:prstGeom prst="rect">
              <a:avLst/>
            </a:prstGeom>
            <a:noFill/>
          </p:spPr>
          <p:txBody>
            <a:bodyPr wrap="square" lIns="0" tIns="0" rIns="0" bIns="0" rtlCol="0">
              <a:spAutoFit/>
            </a:bodyPr>
            <a:lstStyle/>
            <a:p>
              <a:pPr defTabSz="914400"/>
              <a:r>
                <a:rPr lang="en-GB" sz="900" b="1">
                  <a:solidFill>
                    <a:prstClr val="black"/>
                  </a:solidFill>
                  <a:latin typeface="+mj-lt"/>
                </a:rPr>
                <a:t>CORP</a:t>
              </a:r>
              <a:endParaRPr lang="nl-NL" sz="900" b="1">
                <a:solidFill>
                  <a:prstClr val="black"/>
                </a:solidFill>
                <a:latin typeface="+mj-lt"/>
              </a:endParaRPr>
            </a:p>
          </p:txBody>
        </p:sp>
        <p:sp>
          <p:nvSpPr>
            <p:cNvPr id="32" name="TextBox 31">
              <a:extLst>
                <a:ext uri="{FF2B5EF4-FFF2-40B4-BE49-F238E27FC236}">
                  <a16:creationId xmlns:a16="http://schemas.microsoft.com/office/drawing/2014/main" id="{F927359D-B43F-4AE8-B550-A07C5FCA5AD1}"/>
                </a:ext>
              </a:extLst>
            </p:cNvPr>
            <p:cNvSpPr txBox="1"/>
            <p:nvPr/>
          </p:nvSpPr>
          <p:spPr>
            <a:xfrm>
              <a:off x="865928" y="3085343"/>
              <a:ext cx="709771" cy="138499"/>
            </a:xfrm>
            <a:prstGeom prst="rect">
              <a:avLst/>
            </a:prstGeom>
            <a:noFill/>
          </p:spPr>
          <p:txBody>
            <a:bodyPr wrap="square" lIns="0" tIns="0" rIns="0" bIns="0" rtlCol="0">
              <a:spAutoFit/>
            </a:bodyPr>
            <a:lstStyle/>
            <a:p>
              <a:pPr defTabSz="914400"/>
              <a:r>
                <a:rPr lang="en-GB" sz="900" b="1">
                  <a:solidFill>
                    <a:prstClr val="black"/>
                  </a:solidFill>
                  <a:latin typeface="+mj-lt"/>
                </a:rPr>
                <a:t>RURAL</a:t>
              </a:r>
              <a:endParaRPr lang="nl-NL" sz="900" b="1">
                <a:solidFill>
                  <a:prstClr val="black"/>
                </a:solidFill>
                <a:latin typeface="+mj-lt"/>
              </a:endParaRPr>
            </a:p>
          </p:txBody>
        </p:sp>
        <p:sp>
          <p:nvSpPr>
            <p:cNvPr id="33" name="Rectangle 32">
              <a:extLst>
                <a:ext uri="{FF2B5EF4-FFF2-40B4-BE49-F238E27FC236}">
                  <a16:creationId xmlns:a16="http://schemas.microsoft.com/office/drawing/2014/main" id="{CD8754C1-12D5-4182-3994-DBD84F2B9BAF}"/>
                </a:ext>
              </a:extLst>
            </p:cNvPr>
            <p:cNvSpPr/>
            <p:nvPr/>
          </p:nvSpPr>
          <p:spPr>
            <a:xfrm rot="19213617">
              <a:off x="2136525" y="2748519"/>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34" name="Rectangle 33">
              <a:extLst>
                <a:ext uri="{FF2B5EF4-FFF2-40B4-BE49-F238E27FC236}">
                  <a16:creationId xmlns:a16="http://schemas.microsoft.com/office/drawing/2014/main" id="{8CB68F14-853F-4F4F-52B9-EE03C601A42D}"/>
                </a:ext>
              </a:extLst>
            </p:cNvPr>
            <p:cNvSpPr/>
            <p:nvPr/>
          </p:nvSpPr>
          <p:spPr>
            <a:xfrm rot="19213617">
              <a:off x="2083531" y="3139918"/>
              <a:ext cx="321864" cy="147608"/>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sp>
          <p:nvSpPr>
            <p:cNvPr id="35" name="TextBox 34">
              <a:extLst>
                <a:ext uri="{FF2B5EF4-FFF2-40B4-BE49-F238E27FC236}">
                  <a16:creationId xmlns:a16="http://schemas.microsoft.com/office/drawing/2014/main" id="{8DE717D2-0BFA-5327-0B67-D0BBA033A128}"/>
                </a:ext>
              </a:extLst>
            </p:cNvPr>
            <p:cNvSpPr txBox="1"/>
            <p:nvPr/>
          </p:nvSpPr>
          <p:spPr>
            <a:xfrm>
              <a:off x="2751614" y="1612730"/>
              <a:ext cx="333907" cy="138499"/>
            </a:xfrm>
            <a:prstGeom prst="rect">
              <a:avLst/>
            </a:prstGeom>
            <a:noFill/>
          </p:spPr>
          <p:txBody>
            <a:bodyPr wrap="square" lIns="0" tIns="0" rIns="0" bIns="0" rtlCol="0" anchor="t">
              <a:spAutoFit/>
            </a:bodyPr>
            <a:lstStyle/>
            <a:p>
              <a:pPr algn="ctr" defTabSz="914400"/>
              <a:r>
                <a:rPr lang="en-US" sz="900" b="1">
                  <a:solidFill>
                    <a:prstClr val="black"/>
                  </a:solidFill>
                  <a:latin typeface="+mj-lt"/>
                </a:rPr>
                <a:t>RWA</a:t>
              </a:r>
              <a:endParaRPr lang="nl-NL" sz="2000" b="1">
                <a:solidFill>
                  <a:prstClr val="black"/>
                </a:solidFill>
                <a:latin typeface="+mj-lt"/>
              </a:endParaRPr>
            </a:p>
          </p:txBody>
        </p:sp>
        <p:sp>
          <p:nvSpPr>
            <p:cNvPr id="37" name="Rectangle 36">
              <a:extLst>
                <a:ext uri="{FF2B5EF4-FFF2-40B4-BE49-F238E27FC236}">
                  <a16:creationId xmlns:a16="http://schemas.microsoft.com/office/drawing/2014/main" id="{31711F60-09F9-FD2F-1E37-0109676A9663}"/>
                </a:ext>
              </a:extLst>
            </p:cNvPr>
            <p:cNvSpPr/>
            <p:nvPr/>
          </p:nvSpPr>
          <p:spPr>
            <a:xfrm rot="16200000">
              <a:off x="2079780" y="2734722"/>
              <a:ext cx="1723465" cy="155595"/>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grpSp>
          <p:nvGrpSpPr>
            <p:cNvPr id="38" name="Group 37">
              <a:extLst>
                <a:ext uri="{FF2B5EF4-FFF2-40B4-BE49-F238E27FC236}">
                  <a16:creationId xmlns:a16="http://schemas.microsoft.com/office/drawing/2014/main" id="{DFC15972-FBC5-0AE4-9DB0-DC7A2EC2F94A}"/>
                </a:ext>
              </a:extLst>
            </p:cNvPr>
            <p:cNvGrpSpPr/>
            <p:nvPr/>
          </p:nvGrpSpPr>
          <p:grpSpPr>
            <a:xfrm>
              <a:off x="1452262" y="1890545"/>
              <a:ext cx="1667599" cy="281079"/>
              <a:chOff x="3812369" y="345482"/>
              <a:chExt cx="1801016" cy="395100"/>
            </a:xfrm>
          </p:grpSpPr>
          <p:sp>
            <p:nvSpPr>
              <p:cNvPr id="39" name="Rectangle 38">
                <a:extLst>
                  <a:ext uri="{FF2B5EF4-FFF2-40B4-BE49-F238E27FC236}">
                    <a16:creationId xmlns:a16="http://schemas.microsoft.com/office/drawing/2014/main" id="{9C4494B4-FF51-3E4C-5B26-3B1E8CB4D8B4}"/>
                  </a:ext>
                </a:extLst>
              </p:cNvPr>
              <p:cNvSpPr/>
              <p:nvPr/>
            </p:nvSpPr>
            <p:spPr>
              <a:xfrm>
                <a:off x="5182242" y="345482"/>
                <a:ext cx="431143" cy="394680"/>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solidFill>
                    <a:srgbClr val="5E6A71"/>
                  </a:solidFill>
                  <a:effectLst/>
                  <a:uLnTx/>
                  <a:uFillTx/>
                  <a:latin typeface="Myriad for Rabobank Lt"/>
                  <a:ea typeface="+mn-ea"/>
                  <a:cs typeface="+mn-cs"/>
                </a:endParaRPr>
              </a:p>
            </p:txBody>
          </p:sp>
          <p:sp>
            <p:nvSpPr>
              <p:cNvPr id="40" name="Rectangle 39">
                <a:extLst>
                  <a:ext uri="{FF2B5EF4-FFF2-40B4-BE49-F238E27FC236}">
                    <a16:creationId xmlns:a16="http://schemas.microsoft.com/office/drawing/2014/main" id="{CE71269C-03F3-9790-201C-9BAC6F80F246}"/>
                  </a:ext>
                </a:extLst>
              </p:cNvPr>
              <p:cNvSpPr/>
              <p:nvPr/>
            </p:nvSpPr>
            <p:spPr>
              <a:xfrm>
                <a:off x="4510204" y="345902"/>
                <a:ext cx="409493" cy="394680"/>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solidFill>
                    <a:srgbClr val="5E6A71"/>
                  </a:solidFill>
                  <a:effectLst/>
                  <a:uLnTx/>
                  <a:uFillTx/>
                  <a:latin typeface="Myriad for Rabobank Lt"/>
                  <a:ea typeface="+mn-ea"/>
                  <a:cs typeface="+mn-cs"/>
                </a:endParaRPr>
              </a:p>
            </p:txBody>
          </p:sp>
          <p:sp>
            <p:nvSpPr>
              <p:cNvPr id="41" name="Rectangle 40">
                <a:extLst>
                  <a:ext uri="{FF2B5EF4-FFF2-40B4-BE49-F238E27FC236}">
                    <a16:creationId xmlns:a16="http://schemas.microsoft.com/office/drawing/2014/main" id="{A0F5383C-7C4B-A89B-FC90-86E38043D734}"/>
                  </a:ext>
                </a:extLst>
              </p:cNvPr>
              <p:cNvSpPr/>
              <p:nvPr/>
            </p:nvSpPr>
            <p:spPr>
              <a:xfrm>
                <a:off x="3812369" y="345482"/>
                <a:ext cx="411713" cy="394680"/>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solidFill>
                    <a:srgbClr val="5E6A71"/>
                  </a:solidFill>
                  <a:effectLst/>
                  <a:uLnTx/>
                  <a:uFillTx/>
                  <a:latin typeface="Myriad for Rabobank Lt"/>
                  <a:ea typeface="+mn-ea"/>
                  <a:cs typeface="+mn-cs"/>
                </a:endParaRPr>
              </a:p>
            </p:txBody>
          </p:sp>
          <p:cxnSp>
            <p:nvCxnSpPr>
              <p:cNvPr id="42" name="Straight Connector 41">
                <a:extLst>
                  <a:ext uri="{FF2B5EF4-FFF2-40B4-BE49-F238E27FC236}">
                    <a16:creationId xmlns:a16="http://schemas.microsoft.com/office/drawing/2014/main" id="{2368366A-DC3C-8058-9AC6-38C628B1D43C}"/>
                  </a:ext>
                </a:extLst>
              </p:cNvPr>
              <p:cNvCxnSpPr>
                <a:stCxn id="41" idx="3"/>
                <a:endCxn id="40" idx="1"/>
              </p:cNvCxnSpPr>
              <p:nvPr/>
            </p:nvCxnSpPr>
            <p:spPr>
              <a:xfrm>
                <a:off x="4224082" y="542822"/>
                <a:ext cx="286122" cy="420"/>
              </a:xfrm>
              <a:prstGeom prst="line">
                <a:avLst/>
              </a:prstGeom>
              <a:noFill/>
              <a:ln w="25400" cap="flat" cmpd="sng" algn="ctr">
                <a:solidFill>
                  <a:srgbClr val="FF0000"/>
                </a:solidFill>
                <a:prstDash val="sysDot"/>
                <a:tailEnd type="arrow"/>
              </a:ln>
              <a:effectLst/>
            </p:spPr>
          </p:cxnSp>
          <p:cxnSp>
            <p:nvCxnSpPr>
              <p:cNvPr id="43" name="Straight Connector 42">
                <a:extLst>
                  <a:ext uri="{FF2B5EF4-FFF2-40B4-BE49-F238E27FC236}">
                    <a16:creationId xmlns:a16="http://schemas.microsoft.com/office/drawing/2014/main" id="{EFD1A6B0-15E1-9A0F-3B8B-C2DDDB4138CF}"/>
                  </a:ext>
                </a:extLst>
              </p:cNvPr>
              <p:cNvCxnSpPr>
                <a:stCxn id="40" idx="3"/>
                <a:endCxn id="39" idx="1"/>
              </p:cNvCxnSpPr>
              <p:nvPr/>
            </p:nvCxnSpPr>
            <p:spPr>
              <a:xfrm flipV="1">
                <a:off x="4919697" y="542822"/>
                <a:ext cx="262545" cy="420"/>
              </a:xfrm>
              <a:prstGeom prst="line">
                <a:avLst/>
              </a:prstGeom>
              <a:noFill/>
              <a:ln w="25400" cap="flat" cmpd="sng" algn="ctr">
                <a:solidFill>
                  <a:srgbClr val="FF0000"/>
                </a:solidFill>
                <a:prstDash val="sysDot"/>
                <a:tailEnd type="arrow"/>
              </a:ln>
              <a:effectLst/>
            </p:spPr>
          </p:cxnSp>
        </p:grpSp>
        <p:grpSp>
          <p:nvGrpSpPr>
            <p:cNvPr id="44" name="Group 43">
              <a:extLst>
                <a:ext uri="{FF2B5EF4-FFF2-40B4-BE49-F238E27FC236}">
                  <a16:creationId xmlns:a16="http://schemas.microsoft.com/office/drawing/2014/main" id="{B828C943-0876-4C12-F3D7-C2C838A2369E}"/>
                </a:ext>
              </a:extLst>
            </p:cNvPr>
            <p:cNvGrpSpPr/>
            <p:nvPr/>
          </p:nvGrpSpPr>
          <p:grpSpPr>
            <a:xfrm>
              <a:off x="1450558" y="2279258"/>
              <a:ext cx="1674875" cy="281079"/>
              <a:chOff x="3812369" y="345482"/>
              <a:chExt cx="1808872" cy="395100"/>
            </a:xfrm>
          </p:grpSpPr>
          <p:sp>
            <p:nvSpPr>
              <p:cNvPr id="45" name="Rectangle 44">
                <a:extLst>
                  <a:ext uri="{FF2B5EF4-FFF2-40B4-BE49-F238E27FC236}">
                    <a16:creationId xmlns:a16="http://schemas.microsoft.com/office/drawing/2014/main" id="{E574CD7B-3F38-0B6C-61C7-FF1EB39CA03C}"/>
                  </a:ext>
                </a:extLst>
              </p:cNvPr>
              <p:cNvSpPr/>
              <p:nvPr/>
            </p:nvSpPr>
            <p:spPr>
              <a:xfrm>
                <a:off x="5190098" y="345482"/>
                <a:ext cx="431143" cy="394680"/>
              </a:xfrm>
              <a:prstGeom prst="rect">
                <a:avLst/>
              </a:prstGeom>
              <a:noFill/>
              <a:ln w="25400" cap="flat" cmpd="sng" algn="ctr">
                <a:solidFill>
                  <a:srgbClr val="0070C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solidFill>
                    <a:srgbClr val="5E6A71"/>
                  </a:solidFill>
                  <a:effectLst/>
                  <a:uLnTx/>
                  <a:uFillTx/>
                  <a:latin typeface="Myriad for Rabobank Lt"/>
                  <a:ea typeface="+mn-ea"/>
                  <a:cs typeface="+mn-cs"/>
                </a:endParaRPr>
              </a:p>
            </p:txBody>
          </p:sp>
          <p:sp>
            <p:nvSpPr>
              <p:cNvPr id="46" name="Rectangle 45">
                <a:extLst>
                  <a:ext uri="{FF2B5EF4-FFF2-40B4-BE49-F238E27FC236}">
                    <a16:creationId xmlns:a16="http://schemas.microsoft.com/office/drawing/2014/main" id="{15A8411D-376D-F11D-8E34-8E2038499D89}"/>
                  </a:ext>
                </a:extLst>
              </p:cNvPr>
              <p:cNvSpPr/>
              <p:nvPr/>
            </p:nvSpPr>
            <p:spPr>
              <a:xfrm>
                <a:off x="4510204" y="345902"/>
                <a:ext cx="409493" cy="394680"/>
              </a:xfrm>
              <a:prstGeom prst="rect">
                <a:avLst/>
              </a:prstGeom>
              <a:noFill/>
              <a:ln w="25400" cap="flat" cmpd="sng" algn="ctr">
                <a:solidFill>
                  <a:srgbClr val="0070C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solidFill>
                    <a:srgbClr val="5E6A71"/>
                  </a:solidFill>
                  <a:effectLst/>
                  <a:uLnTx/>
                  <a:uFillTx/>
                  <a:latin typeface="Myriad for Rabobank Lt"/>
                  <a:ea typeface="+mn-ea"/>
                  <a:cs typeface="+mn-cs"/>
                </a:endParaRPr>
              </a:p>
            </p:txBody>
          </p:sp>
          <p:sp>
            <p:nvSpPr>
              <p:cNvPr id="47" name="Rectangle 46">
                <a:extLst>
                  <a:ext uri="{FF2B5EF4-FFF2-40B4-BE49-F238E27FC236}">
                    <a16:creationId xmlns:a16="http://schemas.microsoft.com/office/drawing/2014/main" id="{9B0E3141-8DAD-2FA5-1DFC-F966CB6F7AFD}"/>
                  </a:ext>
                </a:extLst>
              </p:cNvPr>
              <p:cNvSpPr/>
              <p:nvPr/>
            </p:nvSpPr>
            <p:spPr>
              <a:xfrm>
                <a:off x="3812369" y="345482"/>
                <a:ext cx="411713" cy="394680"/>
              </a:xfrm>
              <a:prstGeom prst="rect">
                <a:avLst/>
              </a:prstGeom>
              <a:noFill/>
              <a:ln w="25400" cap="flat" cmpd="sng" algn="ctr">
                <a:solidFill>
                  <a:srgbClr val="0070C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solidFill>
                    <a:srgbClr val="5E6A71"/>
                  </a:solidFill>
                  <a:effectLst/>
                  <a:uLnTx/>
                  <a:uFillTx/>
                  <a:latin typeface="Myriad for Rabobank Lt"/>
                  <a:ea typeface="+mn-ea"/>
                  <a:cs typeface="+mn-cs"/>
                </a:endParaRPr>
              </a:p>
            </p:txBody>
          </p:sp>
          <p:cxnSp>
            <p:nvCxnSpPr>
              <p:cNvPr id="48" name="Straight Connector 47">
                <a:extLst>
                  <a:ext uri="{FF2B5EF4-FFF2-40B4-BE49-F238E27FC236}">
                    <a16:creationId xmlns:a16="http://schemas.microsoft.com/office/drawing/2014/main" id="{A566ED97-E684-D6FB-6540-4F7D5327E2C3}"/>
                  </a:ext>
                </a:extLst>
              </p:cNvPr>
              <p:cNvCxnSpPr>
                <a:stCxn id="47" idx="3"/>
                <a:endCxn id="46" idx="1"/>
              </p:cNvCxnSpPr>
              <p:nvPr/>
            </p:nvCxnSpPr>
            <p:spPr>
              <a:xfrm>
                <a:off x="4224082" y="542822"/>
                <a:ext cx="286121" cy="420"/>
              </a:xfrm>
              <a:prstGeom prst="line">
                <a:avLst/>
              </a:prstGeom>
              <a:noFill/>
              <a:ln w="25400" cap="flat" cmpd="sng" algn="ctr">
                <a:solidFill>
                  <a:srgbClr val="0070C0"/>
                </a:solidFill>
                <a:prstDash val="sysDot"/>
                <a:tailEnd type="arrow"/>
              </a:ln>
              <a:effectLst/>
            </p:spPr>
          </p:cxnSp>
          <p:cxnSp>
            <p:nvCxnSpPr>
              <p:cNvPr id="49" name="Straight Connector 48">
                <a:extLst>
                  <a:ext uri="{FF2B5EF4-FFF2-40B4-BE49-F238E27FC236}">
                    <a16:creationId xmlns:a16="http://schemas.microsoft.com/office/drawing/2014/main" id="{6A520CAE-4459-C344-C70D-BDB82DA6F418}"/>
                  </a:ext>
                </a:extLst>
              </p:cNvPr>
              <p:cNvCxnSpPr>
                <a:stCxn id="46" idx="3"/>
                <a:endCxn id="45" idx="1"/>
              </p:cNvCxnSpPr>
              <p:nvPr/>
            </p:nvCxnSpPr>
            <p:spPr>
              <a:xfrm flipV="1">
                <a:off x="4919696" y="542822"/>
                <a:ext cx="270401" cy="420"/>
              </a:xfrm>
              <a:prstGeom prst="line">
                <a:avLst/>
              </a:prstGeom>
              <a:noFill/>
              <a:ln w="25400" cap="flat" cmpd="sng" algn="ctr">
                <a:solidFill>
                  <a:srgbClr val="0070C0"/>
                </a:solidFill>
                <a:prstDash val="sysDot"/>
                <a:tailEnd type="arrow"/>
              </a:ln>
              <a:effectLst/>
            </p:spPr>
          </p:cxnSp>
        </p:grpSp>
        <p:sp>
          <p:nvSpPr>
            <p:cNvPr id="50" name="Rectangle 49">
              <a:extLst>
                <a:ext uri="{FF2B5EF4-FFF2-40B4-BE49-F238E27FC236}">
                  <a16:creationId xmlns:a16="http://schemas.microsoft.com/office/drawing/2014/main" id="{DCFAAF87-CAAF-5301-9033-8B75056E66EB}"/>
                </a:ext>
              </a:extLst>
            </p:cNvPr>
            <p:cNvSpPr/>
            <p:nvPr/>
          </p:nvSpPr>
          <p:spPr>
            <a:xfrm rot="16200000">
              <a:off x="2730049" y="2734722"/>
              <a:ext cx="1723465" cy="155595"/>
            </a:xfrm>
            <a:prstGeom prst="rect">
              <a:avLst/>
            </a:prstGeom>
            <a:solidFill>
              <a:srgbClr val="FFC000"/>
            </a:solidFill>
            <a:ln w="12700" cap="rnd" cmpd="sng" algn="ctr">
              <a:solidFill>
                <a:srgbClr val="EAEAEA"/>
              </a:solidFill>
              <a:prstDash val="solid"/>
            </a:ln>
            <a:effectLst/>
          </p:spPr>
          <p:txBody>
            <a:bodyPr rtlCol="0" anchor="ctr"/>
            <a:lstStyle/>
            <a:p>
              <a:pPr algn="ctr" defTabSz="914400">
                <a:defRPr/>
              </a:pPr>
              <a:r>
                <a:rPr lang="en-IN" sz="1100" kern="0">
                  <a:solidFill>
                    <a:srgbClr val="5E6A71"/>
                  </a:solidFill>
                  <a:latin typeface="Calibri" panose="020F0502020204030204"/>
                </a:rPr>
                <a:t>FT</a:t>
              </a:r>
            </a:p>
          </p:txBody>
        </p:sp>
        <p:cxnSp>
          <p:nvCxnSpPr>
            <p:cNvPr id="51" name="Straight Connector 50">
              <a:extLst>
                <a:ext uri="{FF2B5EF4-FFF2-40B4-BE49-F238E27FC236}">
                  <a16:creationId xmlns:a16="http://schemas.microsoft.com/office/drawing/2014/main" id="{BCCCFA7E-FD35-C5FC-D4F8-6E51105802DF}"/>
                </a:ext>
              </a:extLst>
            </p:cNvPr>
            <p:cNvCxnSpPr>
              <a:cxnSpLocks/>
            </p:cNvCxnSpPr>
            <p:nvPr/>
          </p:nvCxnSpPr>
          <p:spPr>
            <a:xfrm flipV="1">
              <a:off x="3132545" y="2030935"/>
              <a:ext cx="243096" cy="299"/>
            </a:xfrm>
            <a:prstGeom prst="line">
              <a:avLst/>
            </a:prstGeom>
            <a:noFill/>
            <a:ln w="25400" cap="flat" cmpd="sng" algn="ctr">
              <a:solidFill>
                <a:srgbClr val="FF0000"/>
              </a:solidFill>
              <a:prstDash val="sysDot"/>
              <a:tailEnd type="arrow"/>
            </a:ln>
            <a:effectLst/>
          </p:spPr>
        </p:cxnSp>
        <p:cxnSp>
          <p:nvCxnSpPr>
            <p:cNvPr id="52" name="Straight Connector 51">
              <a:extLst>
                <a:ext uri="{FF2B5EF4-FFF2-40B4-BE49-F238E27FC236}">
                  <a16:creationId xmlns:a16="http://schemas.microsoft.com/office/drawing/2014/main" id="{11E25357-4038-BCAE-BED0-CFCA85295707}"/>
                </a:ext>
              </a:extLst>
            </p:cNvPr>
            <p:cNvCxnSpPr>
              <a:cxnSpLocks/>
            </p:cNvCxnSpPr>
            <p:nvPr/>
          </p:nvCxnSpPr>
          <p:spPr>
            <a:xfrm flipV="1">
              <a:off x="3130841" y="2426363"/>
              <a:ext cx="250371" cy="299"/>
            </a:xfrm>
            <a:prstGeom prst="line">
              <a:avLst/>
            </a:prstGeom>
            <a:noFill/>
            <a:ln w="25400" cap="flat" cmpd="sng" algn="ctr">
              <a:solidFill>
                <a:srgbClr val="0070C0"/>
              </a:solidFill>
              <a:prstDash val="sysDot"/>
              <a:tailEnd type="arrow"/>
            </a:ln>
            <a:effectLst/>
          </p:spPr>
        </p:cxnSp>
        <p:sp>
          <p:nvSpPr>
            <p:cNvPr id="53" name="TextBox 52">
              <a:extLst>
                <a:ext uri="{FF2B5EF4-FFF2-40B4-BE49-F238E27FC236}">
                  <a16:creationId xmlns:a16="http://schemas.microsoft.com/office/drawing/2014/main" id="{553DA0AF-28FE-2907-A16A-793199146B68}"/>
                </a:ext>
              </a:extLst>
            </p:cNvPr>
            <p:cNvSpPr txBox="1"/>
            <p:nvPr/>
          </p:nvSpPr>
          <p:spPr>
            <a:xfrm>
              <a:off x="865928" y="3497987"/>
              <a:ext cx="340004" cy="138499"/>
            </a:xfrm>
            <a:prstGeom prst="rect">
              <a:avLst/>
            </a:prstGeom>
            <a:noFill/>
          </p:spPr>
          <p:txBody>
            <a:bodyPr wrap="square" lIns="0" tIns="0" rIns="0" bIns="0" rtlCol="0">
              <a:spAutoFit/>
            </a:bodyPr>
            <a:lstStyle/>
            <a:p>
              <a:pPr defTabSz="914400"/>
              <a:r>
                <a:rPr lang="en-GB" sz="900" b="1">
                  <a:solidFill>
                    <a:prstClr val="black"/>
                  </a:solidFill>
                  <a:latin typeface="+mj-lt"/>
                </a:rPr>
                <a:t>etc.</a:t>
              </a:r>
              <a:endParaRPr lang="nl-NL" sz="900" b="1">
                <a:solidFill>
                  <a:prstClr val="black"/>
                </a:solidFill>
                <a:latin typeface="+mj-lt"/>
              </a:endParaRPr>
            </a:p>
          </p:txBody>
        </p:sp>
        <p:sp>
          <p:nvSpPr>
            <p:cNvPr id="54" name="TextBox 53">
              <a:extLst>
                <a:ext uri="{FF2B5EF4-FFF2-40B4-BE49-F238E27FC236}">
                  <a16:creationId xmlns:a16="http://schemas.microsoft.com/office/drawing/2014/main" id="{9CBC72EA-9F81-FA31-AB89-5CB7CCAFB648}"/>
                </a:ext>
              </a:extLst>
            </p:cNvPr>
            <p:cNvSpPr txBox="1"/>
            <p:nvPr/>
          </p:nvSpPr>
          <p:spPr>
            <a:xfrm>
              <a:off x="3419040" y="1600729"/>
              <a:ext cx="324808" cy="138499"/>
            </a:xfrm>
            <a:prstGeom prst="rect">
              <a:avLst/>
            </a:prstGeom>
            <a:noFill/>
          </p:spPr>
          <p:txBody>
            <a:bodyPr wrap="square" lIns="0" tIns="0" rIns="0" bIns="0" rtlCol="0">
              <a:spAutoFit/>
            </a:bodyPr>
            <a:lstStyle/>
            <a:p>
              <a:pPr algn="ctr" defTabSz="914400"/>
              <a:r>
                <a:rPr lang="en-GB" sz="900" b="1">
                  <a:solidFill>
                    <a:prstClr val="black"/>
                  </a:solidFill>
                  <a:latin typeface="+mj-lt"/>
                </a:rPr>
                <a:t>etc.</a:t>
              </a:r>
              <a:endParaRPr lang="nl-NL" sz="900" b="1">
                <a:solidFill>
                  <a:prstClr val="black"/>
                </a:solidFill>
                <a:latin typeface="+mj-lt"/>
              </a:endParaRPr>
            </a:p>
          </p:txBody>
        </p:sp>
      </p:grpSp>
      <p:cxnSp>
        <p:nvCxnSpPr>
          <p:cNvPr id="63" name="Straight Arrow Connector 62">
            <a:extLst>
              <a:ext uri="{FF2B5EF4-FFF2-40B4-BE49-F238E27FC236}">
                <a16:creationId xmlns:a16="http://schemas.microsoft.com/office/drawing/2014/main" id="{B97ACFB8-848E-4628-06D7-9CC8C8FF7D8A}"/>
              </a:ext>
            </a:extLst>
          </p:cNvPr>
          <p:cNvCxnSpPr>
            <a:cxnSpLocks/>
          </p:cNvCxnSpPr>
          <p:nvPr/>
        </p:nvCxnSpPr>
        <p:spPr>
          <a:xfrm flipH="1" flipV="1">
            <a:off x="2920259" y="1890545"/>
            <a:ext cx="2057649" cy="161632"/>
          </a:xfrm>
          <a:prstGeom prst="straightConnector1">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cxnSp>
      <p:cxnSp>
        <p:nvCxnSpPr>
          <p:cNvPr id="17408" name="Straight Arrow Connector 17407">
            <a:extLst>
              <a:ext uri="{FF2B5EF4-FFF2-40B4-BE49-F238E27FC236}">
                <a16:creationId xmlns:a16="http://schemas.microsoft.com/office/drawing/2014/main" id="{A30ADA7A-E6E9-5B5F-C9A6-E805EC9BC1FA}"/>
              </a:ext>
            </a:extLst>
          </p:cNvPr>
          <p:cNvCxnSpPr>
            <a:cxnSpLocks/>
          </p:cNvCxnSpPr>
          <p:nvPr/>
        </p:nvCxnSpPr>
        <p:spPr>
          <a:xfrm flipH="1">
            <a:off x="2925831" y="2074973"/>
            <a:ext cx="2057649" cy="204285"/>
          </a:xfrm>
          <a:prstGeom prst="straightConnector1">
            <a:avLst/>
          </a:prstGeom>
          <a:ln w="25400" cap="rnd">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409" name="Straight Arrow Connector 17408">
            <a:extLst>
              <a:ext uri="{FF2B5EF4-FFF2-40B4-BE49-F238E27FC236}">
                <a16:creationId xmlns:a16="http://schemas.microsoft.com/office/drawing/2014/main" id="{85DABB0C-E182-64BB-5898-B8FD3315A833}"/>
              </a:ext>
            </a:extLst>
          </p:cNvPr>
          <p:cNvCxnSpPr>
            <a:cxnSpLocks/>
          </p:cNvCxnSpPr>
          <p:nvPr/>
        </p:nvCxnSpPr>
        <p:spPr>
          <a:xfrm flipH="1" flipV="1">
            <a:off x="2641016" y="2528270"/>
            <a:ext cx="2336892" cy="1118208"/>
          </a:xfrm>
          <a:prstGeom prst="straightConnector1">
            <a:avLst/>
          </a:prstGeom>
          <a:ln w="25400" cap="rnd">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 Placeholder 3">
            <a:extLst>
              <a:ext uri="{FF2B5EF4-FFF2-40B4-BE49-F238E27FC236}">
                <a16:creationId xmlns:a16="http://schemas.microsoft.com/office/drawing/2014/main" id="{48A4CDD4-9D2B-4247-F618-CDB470200A38}"/>
              </a:ext>
            </a:extLst>
          </p:cNvPr>
          <p:cNvSpPr>
            <a:spLocks noGrp="1"/>
          </p:cNvSpPr>
          <p:nvPr>
            <p:ph type="body" sz="quarter" idx="15"/>
          </p:nvPr>
        </p:nvSpPr>
        <p:spPr>
          <a:xfrm>
            <a:off x="463565" y="743856"/>
            <a:ext cx="8152493" cy="212725"/>
          </a:xfrm>
        </p:spPr>
        <p:txBody>
          <a:bodyPr/>
          <a:lstStyle/>
          <a:p>
            <a:r>
              <a:rPr lang="en-GB"/>
              <a:t>Supporting multiple portfolio’s to be able to build their nBIF at the same time independently.</a:t>
            </a:r>
          </a:p>
        </p:txBody>
      </p:sp>
    </p:spTree>
    <p:extLst>
      <p:ext uri="{BB962C8B-B14F-4D97-AF65-F5344CB8AC3E}">
        <p14:creationId xmlns:p14="http://schemas.microsoft.com/office/powerpoint/2010/main" val="2950593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40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5814" y="191293"/>
            <a:ext cx="7464026" cy="616430"/>
          </a:xfrm>
        </p:spPr>
        <p:txBody>
          <a:bodyPr/>
          <a:lstStyle/>
          <a:p>
            <a:r>
              <a:rPr lang="en-GB"/>
              <a:t>2.5 Business viewpoint for ad-hoc production runs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18</a:t>
            </a:fld>
            <a:endParaRPr lang="en-GB"/>
          </a:p>
        </p:txBody>
      </p:sp>
      <p:sp>
        <p:nvSpPr>
          <p:cNvPr id="17410" name="Rectangle 2"/>
          <p:cNvSpPr>
            <a:spLocks noChangeArrowheads="1"/>
          </p:cNvSpPr>
          <p:nvPr/>
        </p:nvSpPr>
        <p:spPr bwMode="auto">
          <a:xfrm>
            <a:off x="4"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solidFill>
                <a:prstClr val="black"/>
              </a:solidFill>
            </a:endParaRPr>
          </a:p>
        </p:txBody>
      </p:sp>
      <p:sp>
        <p:nvSpPr>
          <p:cNvPr id="30" name="Rounded Rectangle 10">
            <a:hlinkClick r:id="rId3" action="ppaction://hlinksldjump"/>
          </p:cNvPr>
          <p:cNvSpPr/>
          <p:nvPr/>
        </p:nvSpPr>
        <p:spPr>
          <a:xfrm>
            <a:off x="938158"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10" name="Rectangle 9"/>
          <p:cNvSpPr/>
          <p:nvPr/>
        </p:nvSpPr>
        <p:spPr>
          <a:xfrm>
            <a:off x="475814" y="935064"/>
            <a:ext cx="2486723" cy="2310539"/>
          </a:xfrm>
          <a:prstGeom prst="rect">
            <a:avLst/>
          </a:prstGeom>
          <a:noFill/>
          <a:ln w="12700">
            <a:solidFill>
              <a:schemeClr val="accent6">
                <a:lumMod val="75000"/>
              </a:schemeClr>
            </a:solidFill>
          </a:ln>
        </p:spPr>
        <p:txBody>
          <a:bodyPr wrap="square">
            <a:noAutofit/>
          </a:bodyPr>
          <a:lstStyle/>
          <a:p>
            <a:pPr marL="171450" lvl="1" indent="-171450"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In addition to monthly factory run, there is a need to support multiple other n-Bridge runs with production data (hereafter, </a:t>
            </a:r>
            <a:r>
              <a:rPr lang="en-US" sz="1050" b="1">
                <a:solidFill>
                  <a:prstClr val="black"/>
                </a:solidFill>
                <a:latin typeface="Corbel"/>
                <a:cs typeface="Arial" panose="020B0604020202020204" pitchFamily="34" charset="0"/>
              </a:rPr>
              <a:t>ad-hoc production runs</a:t>
            </a:r>
            <a:r>
              <a:rPr lang="en-US" sz="1050">
                <a:solidFill>
                  <a:prstClr val="black"/>
                </a:solidFill>
                <a:latin typeface="Corbel"/>
                <a:cs typeface="Arial" panose="020B0604020202020204" pitchFamily="34" charset="0"/>
              </a:rPr>
              <a:t>). </a:t>
            </a:r>
          </a:p>
          <a:p>
            <a:pPr marL="171450" lvl="1" indent="-171450"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To support such runs, separate nBIF instances will be built within production environment of nBIF platform. </a:t>
            </a:r>
          </a:p>
          <a:p>
            <a:pPr marL="171450" lvl="1" indent="-171450" defTabSz="685800">
              <a:spcBef>
                <a:spcPts val="450"/>
              </a:spcBef>
              <a:buClr>
                <a:srgbClr val="FD6400"/>
              </a:buClr>
              <a:buFont typeface="Arial" panose="020B0604020202020204" pitchFamily="34" charset="0"/>
              <a:buChar char="•"/>
            </a:pPr>
            <a:r>
              <a:rPr lang="en-US" sz="1050">
                <a:solidFill>
                  <a:prstClr val="black"/>
                </a:solidFill>
                <a:latin typeface="Corbel"/>
                <a:cs typeface="Arial" panose="020B0604020202020204" pitchFamily="34" charset="0"/>
              </a:rPr>
              <a:t>The number of such nBIF instances can be different for different portfolio depending upon their needs.</a:t>
            </a:r>
          </a:p>
        </p:txBody>
      </p:sp>
      <p:sp>
        <p:nvSpPr>
          <p:cNvPr id="50" name="TextBox 49">
            <a:extLst>
              <a:ext uri="{FF2B5EF4-FFF2-40B4-BE49-F238E27FC236}">
                <a16:creationId xmlns:a16="http://schemas.microsoft.com/office/drawing/2014/main" id="{97F37EFA-2F55-0033-2E75-E375FCF4506C}"/>
              </a:ext>
            </a:extLst>
          </p:cNvPr>
          <p:cNvSpPr txBox="1"/>
          <p:nvPr/>
        </p:nvSpPr>
        <p:spPr>
          <a:xfrm>
            <a:off x="475814" y="3245604"/>
            <a:ext cx="7969578" cy="1523494"/>
          </a:xfrm>
          <a:prstGeom prst="rect">
            <a:avLst/>
          </a:prstGeom>
          <a:noFill/>
          <a:ln w="12700">
            <a:solidFill>
              <a:schemeClr val="accent6">
                <a:lumMod val="75000"/>
              </a:schemeClr>
            </a:solidFill>
          </a:ln>
        </p:spPr>
        <p:txBody>
          <a:bodyPr wrap="square">
            <a:spAutoFit/>
          </a:bodyPr>
          <a:lstStyle/>
          <a:p>
            <a:pPr marL="0" marR="0" lvl="1" algn="l" defTabSz="685800" rtl="0" eaLnBrk="1" fontAlgn="auto" latinLnBrk="0" hangingPunct="1">
              <a:lnSpc>
                <a:spcPct val="100000"/>
              </a:lnSpc>
              <a:spcBef>
                <a:spcPts val="450"/>
              </a:spcBef>
              <a:spcAft>
                <a:spcPts val="0"/>
              </a:spcAft>
              <a:buClr>
                <a:srgbClr val="FD6400"/>
              </a:buClr>
              <a:buSzTx/>
              <a:tabLst/>
              <a:defRPr/>
            </a:pPr>
            <a:r>
              <a:rPr kumimoji="0" lang="en-US" sz="1000" i="0" u="none" strike="noStrike" kern="1200" cap="none" spc="0" normalizeH="0" baseline="0" noProof="0">
                <a:ln>
                  <a:noFill/>
                </a:ln>
                <a:solidFill>
                  <a:prstClr val="black"/>
                </a:solidFill>
                <a:effectLst/>
                <a:uLnTx/>
                <a:uFillTx/>
                <a:latin typeface="Corbel"/>
                <a:ea typeface="+mn-ea"/>
                <a:cs typeface="Arial" panose="020B0604020202020204" pitchFamily="34" charset="0"/>
              </a:rPr>
              <a:t>Examples of </a:t>
            </a:r>
            <a:r>
              <a:rPr kumimoji="0" lang="en-US" sz="1050" i="0" u="none" strike="noStrike" kern="1200" cap="none" spc="0" normalizeH="0" baseline="0" noProof="0">
                <a:ln>
                  <a:noFill/>
                </a:ln>
                <a:solidFill>
                  <a:prstClr val="black"/>
                </a:solidFill>
                <a:effectLst/>
                <a:uLnTx/>
                <a:uFillTx/>
                <a:latin typeface="Corbel"/>
                <a:ea typeface="+mn-ea"/>
                <a:cs typeface="Arial" panose="020B0604020202020204" pitchFamily="34" charset="0"/>
              </a:rPr>
              <a:t>ad-hoc production runs</a:t>
            </a:r>
            <a:endParaRPr kumimoji="0" lang="en-US" sz="1050" i="0" u="none" strike="noStrike" kern="1200" cap="none" spc="0" normalizeH="0" baseline="0" noProof="0">
              <a:ln>
                <a:noFill/>
              </a:ln>
              <a:solidFill>
                <a:prstClr val="black"/>
              </a:solidFill>
              <a:effectLst/>
              <a:uLnTx/>
              <a:uFillTx/>
              <a:latin typeface="Corbel"/>
              <a:ea typeface="+mn-ea"/>
              <a:cs typeface="+mn-cs"/>
            </a:endParaRPr>
          </a:p>
          <a:p>
            <a:pPr marL="358775" marR="0" lvl="2" indent="-182563" algn="l" defTabSz="685800" rtl="0" eaLnBrk="1" fontAlgn="auto" latinLnBrk="0" hangingPunct="1">
              <a:lnSpc>
                <a:spcPct val="100000"/>
              </a:lnSpc>
              <a:spcBef>
                <a:spcPts val="450"/>
              </a:spcBef>
              <a:spcAft>
                <a:spcPts val="0"/>
              </a:spcAft>
              <a:buClr>
                <a:srgbClr val="FD6400"/>
              </a:buClr>
              <a:buSzTx/>
              <a:buFont typeface="Arial" panose="020B0604020202020204" pitchFamily="34" charset="0"/>
              <a:buChar char="•"/>
              <a:tabLst/>
              <a:defRPr/>
            </a:pPr>
            <a:r>
              <a:rPr kumimoji="0" lang="en-US" sz="1000" b="1" i="0" u="none" strike="noStrike" kern="1200" cap="none" spc="0" normalizeH="0" baseline="0" noProof="0">
                <a:ln>
                  <a:noFill/>
                </a:ln>
                <a:solidFill>
                  <a:srgbClr val="FD6400"/>
                </a:solidFill>
                <a:effectLst/>
                <a:uLnTx/>
                <a:uFillTx/>
                <a:latin typeface="Corbel"/>
                <a:ea typeface="+mn-ea"/>
                <a:cs typeface="+mn-cs"/>
              </a:rPr>
              <a:t>Ad-hoc production run of candidate models</a:t>
            </a:r>
          </a:p>
          <a:p>
            <a:pPr marL="530225" marR="0" lvl="3" indent="-171450" algn="l" defTabSz="685800" rtl="0" eaLnBrk="1" fontAlgn="auto" latinLnBrk="0" hangingPunct="1">
              <a:lnSpc>
                <a:spcPct val="100000"/>
              </a:lnSpc>
              <a:spcBef>
                <a:spcPts val="450"/>
              </a:spcBef>
              <a:spcAft>
                <a:spcPts val="0"/>
              </a:spcAft>
              <a:buClr>
                <a:srgbClr val="FD640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orbel"/>
                <a:ea typeface="+mn-ea"/>
                <a:cs typeface="+mn-cs"/>
              </a:rPr>
              <a:t>Ability to execute candidate models with production data for impact analysis before promoting as a model for monthly runs </a:t>
            </a:r>
            <a:r>
              <a:rPr kumimoji="0" lang="en-GB" sz="900" b="0" i="0" u="none" strike="noStrike" kern="1200" cap="none" spc="0" normalizeH="0" baseline="0" noProof="0">
                <a:ln>
                  <a:noFill/>
                </a:ln>
                <a:solidFill>
                  <a:prstClr val="black"/>
                </a:solidFill>
                <a:effectLst/>
                <a:uLnTx/>
                <a:uFillTx/>
                <a:latin typeface="Corbel"/>
                <a:ea typeface="+mn-ea"/>
                <a:cs typeface="+mn-cs"/>
              </a:rPr>
              <a:t>to be used for reporting</a:t>
            </a:r>
            <a:r>
              <a:rPr kumimoji="0" lang="en-US" sz="900" b="0" i="0" u="none" strike="noStrike" kern="1200" cap="none" spc="0" normalizeH="0" baseline="0" noProof="0">
                <a:ln>
                  <a:noFill/>
                </a:ln>
                <a:solidFill>
                  <a:prstClr val="black"/>
                </a:solidFill>
                <a:effectLst/>
                <a:uLnTx/>
                <a:uFillTx/>
                <a:latin typeface="Corbel"/>
                <a:ea typeface="+mn-ea"/>
                <a:cs typeface="+mn-cs"/>
              </a:rPr>
              <a:t>.</a:t>
            </a:r>
          </a:p>
          <a:p>
            <a:pPr marL="358775" marR="0" lvl="2" indent="-182563" algn="l" defTabSz="685800" rtl="0" eaLnBrk="1" fontAlgn="auto" latinLnBrk="0" hangingPunct="1">
              <a:lnSpc>
                <a:spcPct val="100000"/>
              </a:lnSpc>
              <a:spcBef>
                <a:spcPts val="450"/>
              </a:spcBef>
              <a:spcAft>
                <a:spcPts val="0"/>
              </a:spcAft>
              <a:buClr>
                <a:srgbClr val="FD6400"/>
              </a:buClr>
              <a:buSzTx/>
              <a:buFont typeface="Arial" panose="020B0604020202020204" pitchFamily="34" charset="0"/>
              <a:buChar char="•"/>
              <a:tabLst/>
              <a:defRPr/>
            </a:pPr>
            <a:r>
              <a:rPr kumimoji="0" lang="en-US" sz="1000" b="1" i="0" u="none" strike="noStrike" kern="1200" cap="none" spc="0" normalizeH="0" baseline="0" noProof="0">
                <a:ln>
                  <a:noFill/>
                </a:ln>
                <a:solidFill>
                  <a:srgbClr val="FD6400"/>
                </a:solidFill>
                <a:effectLst/>
                <a:uLnTx/>
                <a:uFillTx/>
                <a:latin typeface="Corbel"/>
                <a:ea typeface="+mn-ea"/>
                <a:cs typeface="+mn-cs"/>
              </a:rPr>
              <a:t>Ad-hoc production runs for regulatory needs (ex – EBA) or  periodic Stress testing needs </a:t>
            </a:r>
          </a:p>
          <a:p>
            <a:pPr marL="534988" marR="0" lvl="4" indent="-176213" algn="l" defTabSz="685800" rtl="0" eaLnBrk="1" fontAlgn="auto" latinLnBrk="0" hangingPunct="1">
              <a:lnSpc>
                <a:spcPct val="100000"/>
              </a:lnSpc>
              <a:spcBef>
                <a:spcPts val="450"/>
              </a:spcBef>
              <a:spcAft>
                <a:spcPts val="0"/>
              </a:spcAft>
              <a:buClr>
                <a:srgbClr val="FD640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orbel"/>
                <a:ea typeface="+mn-ea"/>
                <a:cs typeface="+mn-cs"/>
              </a:rPr>
              <a:t>A business owned, IT governed solution that provides ability to execute [un]modified n-Bridges with [un]modified production data.</a:t>
            </a:r>
          </a:p>
          <a:p>
            <a:pPr marL="534988" marR="0" lvl="4" indent="-176213" algn="l" defTabSz="685800" rtl="0" eaLnBrk="1" fontAlgn="auto" latinLnBrk="0" hangingPunct="1">
              <a:lnSpc>
                <a:spcPct val="100000"/>
              </a:lnSpc>
              <a:spcBef>
                <a:spcPts val="450"/>
              </a:spcBef>
              <a:spcAft>
                <a:spcPts val="0"/>
              </a:spcAft>
              <a:buClr>
                <a:srgbClr val="FD640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orbel"/>
                <a:ea typeface="+mn-ea"/>
                <a:cs typeface="+mn-cs"/>
              </a:rPr>
              <a:t>The solution shall allow executing side by side without replacing structurally implemented monthly baseline run solution.</a:t>
            </a:r>
          </a:p>
          <a:p>
            <a:pPr marL="534988" marR="0" lvl="4" indent="-176213" algn="l" defTabSz="685800" rtl="0" eaLnBrk="1" fontAlgn="auto" latinLnBrk="0" hangingPunct="1">
              <a:lnSpc>
                <a:spcPct val="100000"/>
              </a:lnSpc>
              <a:spcBef>
                <a:spcPts val="450"/>
              </a:spcBef>
              <a:spcAft>
                <a:spcPts val="0"/>
              </a:spcAft>
              <a:buClr>
                <a:srgbClr val="FD640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Corbel"/>
                <a:ea typeface="+mn-ea"/>
                <a:cs typeface="+mn-cs"/>
              </a:rPr>
              <a:t>The solution shall enable function analysts to interact with it without needing expert IT knowledges.</a:t>
            </a:r>
            <a:endParaRPr lang="en-IN"/>
          </a:p>
        </p:txBody>
      </p:sp>
      <p:grpSp>
        <p:nvGrpSpPr>
          <p:cNvPr id="6" name="Group 5">
            <a:extLst>
              <a:ext uri="{FF2B5EF4-FFF2-40B4-BE49-F238E27FC236}">
                <a16:creationId xmlns:a16="http://schemas.microsoft.com/office/drawing/2014/main" id="{04958589-FB72-BB9D-0562-7E736512EF35}"/>
              </a:ext>
            </a:extLst>
          </p:cNvPr>
          <p:cNvGrpSpPr/>
          <p:nvPr/>
        </p:nvGrpSpPr>
        <p:grpSpPr>
          <a:xfrm>
            <a:off x="3567245" y="991947"/>
            <a:ext cx="4372595" cy="1933188"/>
            <a:chOff x="3567245" y="991947"/>
            <a:chExt cx="4372595" cy="1933188"/>
          </a:xfrm>
        </p:grpSpPr>
        <p:sp>
          <p:nvSpPr>
            <p:cNvPr id="7" name="Flowchart: Process 6">
              <a:extLst>
                <a:ext uri="{FF2B5EF4-FFF2-40B4-BE49-F238E27FC236}">
                  <a16:creationId xmlns:a16="http://schemas.microsoft.com/office/drawing/2014/main" id="{7C2EB110-399A-2FDC-7353-A336183CA9F2}"/>
                </a:ext>
              </a:extLst>
            </p:cNvPr>
            <p:cNvSpPr/>
            <p:nvPr/>
          </p:nvSpPr>
          <p:spPr>
            <a:xfrm>
              <a:off x="4624064" y="991951"/>
              <a:ext cx="2713178" cy="1603720"/>
            </a:xfrm>
            <a:prstGeom prst="flowChartProcess">
              <a:avLst/>
            </a:prstGeom>
            <a:solidFill>
              <a:srgbClr val="0058FF">
                <a:lumMod val="20000"/>
                <a:lumOff val="80000"/>
              </a:srgbClr>
            </a:solidFill>
            <a:ln w="12700" cap="flat" cmpd="sng" algn="ctr">
              <a:solidFill>
                <a:srgbClr val="0058FF">
                  <a:shade val="50000"/>
                </a:srgbClr>
              </a:solidFill>
              <a:prstDash val="solid"/>
              <a:miter lim="800000"/>
            </a:ln>
            <a:effectLst/>
          </p:spPr>
          <p:txBody>
            <a:bodyPr rtlCol="0" anchor="t"/>
            <a:lstStyle/>
            <a:p>
              <a:pPr defTabSz="914400"/>
              <a:r>
                <a:rPr lang="en-US" sz="800" kern="0">
                  <a:solidFill>
                    <a:srgbClr val="363A3B"/>
                  </a:solidFill>
                  <a:latin typeface="Myriad for Rabobank"/>
                </a:rPr>
                <a:t>RSME nBIF instances – Illustrative view</a:t>
              </a:r>
            </a:p>
          </p:txBody>
        </p:sp>
        <p:sp>
          <p:nvSpPr>
            <p:cNvPr id="8" name="Rectangle 7">
              <a:extLst>
                <a:ext uri="{FF2B5EF4-FFF2-40B4-BE49-F238E27FC236}">
                  <a16:creationId xmlns:a16="http://schemas.microsoft.com/office/drawing/2014/main" id="{EA3E18FC-5F86-C48E-B228-705D2FF11A30}"/>
                </a:ext>
              </a:extLst>
            </p:cNvPr>
            <p:cNvSpPr/>
            <p:nvPr/>
          </p:nvSpPr>
          <p:spPr>
            <a:xfrm>
              <a:off x="4821769" y="2201100"/>
              <a:ext cx="2402071" cy="179432"/>
            </a:xfrm>
            <a:prstGeom prst="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b"/>
            <a:lstStyle/>
            <a:p>
              <a:pPr algn="ctr" defTabSz="914400"/>
              <a:r>
                <a:rPr lang="en-IN" sz="800" b="1">
                  <a:latin typeface="+mj-lt"/>
                </a:rPr>
                <a:t>nBIF instance for Ad-hoc stress testing runs </a:t>
              </a:r>
            </a:p>
          </p:txBody>
        </p:sp>
        <p:sp>
          <p:nvSpPr>
            <p:cNvPr id="9" name="Rectangle 8">
              <a:extLst>
                <a:ext uri="{FF2B5EF4-FFF2-40B4-BE49-F238E27FC236}">
                  <a16:creationId xmlns:a16="http://schemas.microsoft.com/office/drawing/2014/main" id="{20AC9621-26A7-3806-FDEA-EFC8CC47C29D}"/>
                </a:ext>
              </a:extLst>
            </p:cNvPr>
            <p:cNvSpPr/>
            <p:nvPr/>
          </p:nvSpPr>
          <p:spPr>
            <a:xfrm>
              <a:off x="4821769" y="1874205"/>
              <a:ext cx="2377935" cy="211295"/>
            </a:xfrm>
            <a:prstGeom prst="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b"/>
            <a:lstStyle/>
            <a:p>
              <a:pPr algn="ctr" defTabSz="914400"/>
              <a:r>
                <a:rPr lang="en-IN" sz="800" b="1">
                  <a:latin typeface="+mj-lt"/>
                </a:rPr>
                <a:t>nBIF instance for Ad-hoc candidate </a:t>
              </a:r>
              <a:r>
                <a:rPr lang="en-IN" sz="800" b="1" kern="0">
                  <a:latin typeface="+mj-lt"/>
                </a:rPr>
                <a:t>model runs</a:t>
              </a:r>
              <a:r>
                <a:rPr lang="en-IN" sz="800" b="1">
                  <a:latin typeface="+mj-lt"/>
                </a:rPr>
                <a:t> </a:t>
              </a:r>
              <a:endParaRPr lang="en-IN" sz="800" b="1" kern="0">
                <a:latin typeface="+mj-lt"/>
              </a:endParaRPr>
            </a:p>
          </p:txBody>
        </p:sp>
        <p:sp>
          <p:nvSpPr>
            <p:cNvPr id="11" name="Rectangle 10">
              <a:extLst>
                <a:ext uri="{FF2B5EF4-FFF2-40B4-BE49-F238E27FC236}">
                  <a16:creationId xmlns:a16="http://schemas.microsoft.com/office/drawing/2014/main" id="{CED3EDB9-6457-D289-305B-DA0E834D36E9}"/>
                </a:ext>
              </a:extLst>
            </p:cNvPr>
            <p:cNvSpPr/>
            <p:nvPr/>
          </p:nvSpPr>
          <p:spPr>
            <a:xfrm>
              <a:off x="4821769" y="1225189"/>
              <a:ext cx="2377935" cy="542281"/>
            </a:xfrm>
            <a:prstGeom prst="rect">
              <a:avLst/>
            </a:prstGeom>
            <a:gradFill flip="none" rotWithShape="1">
              <a:gsLst>
                <a:gs pos="58000">
                  <a:srgbClr val="FFCCFF"/>
                </a:gs>
                <a:gs pos="0">
                  <a:srgbClr val="FF99CC"/>
                </a:gs>
                <a:gs pos="0">
                  <a:srgbClr val="FF99CC"/>
                </a:gs>
                <a:gs pos="100000">
                  <a:srgbClr val="FFCCFF"/>
                </a:gs>
              </a:gsLst>
              <a:lin ang="13500000" scaled="1"/>
              <a:tileRect/>
            </a:gradFill>
            <a:ln w="12700" cap="flat" cmpd="sng" algn="ctr">
              <a:solidFill>
                <a:srgbClr val="4472C4">
                  <a:shade val="50000"/>
                </a:srgbClr>
              </a:solidFill>
              <a:prstDash val="solid"/>
              <a:miter lim="800000"/>
            </a:ln>
            <a:effectLst/>
          </p:spPr>
          <p:txBody>
            <a:bodyPr rtlCol="0" anchor="b"/>
            <a:lstStyle/>
            <a:p>
              <a:pPr algn="ctr" defTabSz="914400"/>
              <a:r>
                <a:rPr lang="en-IN" sz="800" b="1" kern="0">
                  <a:latin typeface="+mj-lt"/>
                </a:rPr>
                <a:t>nBIF instance for Factory runs</a:t>
              </a:r>
            </a:p>
          </p:txBody>
        </p:sp>
        <p:sp>
          <p:nvSpPr>
            <p:cNvPr id="12" name="Rectangle 11">
              <a:extLst>
                <a:ext uri="{FF2B5EF4-FFF2-40B4-BE49-F238E27FC236}">
                  <a16:creationId xmlns:a16="http://schemas.microsoft.com/office/drawing/2014/main" id="{3E3F6AB8-B9AA-C003-633A-14D6C7CFD4FD}"/>
                </a:ext>
              </a:extLst>
            </p:cNvPr>
            <p:cNvSpPr/>
            <p:nvPr/>
          </p:nvSpPr>
          <p:spPr>
            <a:xfrm>
              <a:off x="3567245" y="991950"/>
              <a:ext cx="293903" cy="1609114"/>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400"/>
              <a:r>
                <a:rPr lang="en-IN" sz="1400" kern="0">
                  <a:solidFill>
                    <a:srgbClr val="363A3B"/>
                  </a:solidFill>
                  <a:latin typeface="Myriad for Rabobank It"/>
                </a:rPr>
                <a:t>G</a:t>
              </a:r>
            </a:p>
            <a:p>
              <a:pPr algn="ctr" defTabSz="914400"/>
              <a:r>
                <a:rPr lang="en-IN" sz="1400" kern="0">
                  <a:solidFill>
                    <a:srgbClr val="363A3B"/>
                  </a:solidFill>
                  <a:latin typeface="Myriad for Rabobank It"/>
                </a:rPr>
                <a:t>R</a:t>
              </a:r>
            </a:p>
            <a:p>
              <a:pPr algn="ctr" defTabSz="914400"/>
              <a:r>
                <a:rPr lang="en-IN" sz="1400" kern="0">
                  <a:solidFill>
                    <a:srgbClr val="363A3B"/>
                  </a:solidFill>
                  <a:latin typeface="Myriad for Rabobank It"/>
                </a:rPr>
                <a:t>F</a:t>
              </a:r>
            </a:p>
            <a:p>
              <a:pPr algn="ctr" defTabSz="914400"/>
              <a:r>
                <a:rPr lang="en-IN" sz="1400" kern="0">
                  <a:solidFill>
                    <a:srgbClr val="363A3B"/>
                  </a:solidFill>
                  <a:latin typeface="Myriad for Rabobank It"/>
                </a:rPr>
                <a:t>D</a:t>
              </a:r>
            </a:p>
          </p:txBody>
        </p:sp>
        <p:sp>
          <p:nvSpPr>
            <p:cNvPr id="13" name="Rectangle 12">
              <a:extLst>
                <a:ext uri="{FF2B5EF4-FFF2-40B4-BE49-F238E27FC236}">
                  <a16:creationId xmlns:a16="http://schemas.microsoft.com/office/drawing/2014/main" id="{32F32975-AE66-5B93-56DE-A40E6ECD76C4}"/>
                </a:ext>
              </a:extLst>
            </p:cNvPr>
            <p:cNvSpPr/>
            <p:nvPr/>
          </p:nvSpPr>
          <p:spPr>
            <a:xfrm>
              <a:off x="4138935" y="1003754"/>
              <a:ext cx="249329" cy="1601082"/>
            </a:xfrm>
            <a:prstGeom prst="rect">
              <a:avLst/>
            </a:prstGeom>
            <a:solidFill>
              <a:srgbClr val="0058FF">
                <a:lumMod val="20000"/>
                <a:lumOff val="80000"/>
              </a:srgbClr>
            </a:solidFill>
            <a:ln w="12700" cap="flat" cmpd="sng" algn="ctr">
              <a:solidFill>
                <a:schemeClr val="accent1"/>
              </a:solidFill>
              <a:prstDash val="solid"/>
            </a:ln>
            <a:effectLst/>
          </p:spPr>
          <p:txBody>
            <a:bodyPr lIns="36000" rIns="36000" rtlCol="0" anchor="ctr"/>
            <a:lstStyle/>
            <a:p>
              <a:pPr algn="ctr" defTabSz="456988"/>
              <a:r>
                <a:rPr lang="en-IN" sz="1400" kern="0">
                  <a:solidFill>
                    <a:srgbClr val="363A3B"/>
                  </a:solidFill>
                  <a:latin typeface="Myriad for Rabobank It"/>
                </a:rPr>
                <a:t>C</a:t>
              </a:r>
            </a:p>
            <a:p>
              <a:pPr algn="ctr" defTabSz="456988"/>
              <a:r>
                <a:rPr lang="en-IN" sz="1400" kern="0">
                  <a:solidFill>
                    <a:srgbClr val="363A3B"/>
                  </a:solidFill>
                  <a:latin typeface="Myriad for Rabobank It"/>
                </a:rPr>
                <a:t>A</a:t>
              </a:r>
            </a:p>
            <a:p>
              <a:pPr algn="ctr" defTabSz="456988"/>
              <a:r>
                <a:rPr lang="en-IN" sz="1400" kern="0">
                  <a:solidFill>
                    <a:srgbClr val="363A3B"/>
                  </a:solidFill>
                  <a:latin typeface="Myriad for Rabobank It"/>
                </a:rPr>
                <a:t>D</a:t>
              </a:r>
            </a:p>
            <a:p>
              <a:pPr algn="ctr" defTabSz="456988"/>
              <a:r>
                <a:rPr lang="en-IN" sz="1400" kern="0">
                  <a:solidFill>
                    <a:srgbClr val="363A3B"/>
                  </a:solidFill>
                  <a:latin typeface="Myriad for Rabobank It"/>
                </a:rPr>
                <a:t>D</a:t>
              </a:r>
            </a:p>
            <a:p>
              <a:pPr algn="ctr" defTabSz="456988"/>
              <a:r>
                <a:rPr lang="en-IN" sz="1400" kern="0">
                  <a:solidFill>
                    <a:srgbClr val="363A3B"/>
                  </a:solidFill>
                  <a:latin typeface="Myriad for Rabobank It"/>
                </a:rPr>
                <a:t>I</a:t>
              </a:r>
            </a:p>
          </p:txBody>
        </p:sp>
        <p:grpSp>
          <p:nvGrpSpPr>
            <p:cNvPr id="14" name="Group 13">
              <a:extLst>
                <a:ext uri="{FF2B5EF4-FFF2-40B4-BE49-F238E27FC236}">
                  <a16:creationId xmlns:a16="http://schemas.microsoft.com/office/drawing/2014/main" id="{2816A6BB-4D3D-BD92-F204-9900CFDE564A}"/>
                </a:ext>
              </a:extLst>
            </p:cNvPr>
            <p:cNvGrpSpPr/>
            <p:nvPr/>
          </p:nvGrpSpPr>
          <p:grpSpPr>
            <a:xfrm>
              <a:off x="4971896" y="1297008"/>
              <a:ext cx="2082467" cy="268482"/>
              <a:chOff x="2615741" y="1951302"/>
              <a:chExt cx="2082467" cy="268482"/>
            </a:xfrm>
          </p:grpSpPr>
          <p:sp>
            <p:nvSpPr>
              <p:cNvPr id="31" name="Rectangle 30">
                <a:extLst>
                  <a:ext uri="{FF2B5EF4-FFF2-40B4-BE49-F238E27FC236}">
                    <a16:creationId xmlns:a16="http://schemas.microsoft.com/office/drawing/2014/main" id="{2415B97D-DEED-4E36-6440-9E80A679303F}"/>
                  </a:ext>
                </a:extLst>
              </p:cNvPr>
              <p:cNvSpPr/>
              <p:nvPr/>
            </p:nvSpPr>
            <p:spPr>
              <a:xfrm>
                <a:off x="2615741" y="2053888"/>
                <a:ext cx="249938" cy="160713"/>
              </a:xfrm>
              <a:prstGeom prst="rect">
                <a:avLst/>
              </a:prstGeom>
              <a:solidFill>
                <a:srgbClr val="7030A0"/>
              </a:solidFill>
              <a:ln w="12700" cap="rnd" cmpd="sng" algn="ctr">
                <a:solidFill>
                  <a:srgbClr val="EAEAEA"/>
                </a:solidFill>
                <a:prstDash val="solid"/>
              </a:ln>
              <a:effectLst/>
            </p:spPr>
            <p:txBody>
              <a:bodyPr lIns="36000" tIns="36000" rIns="36000" bIns="36000" rtlCol="0" anchor="ctr"/>
              <a:lstStyle/>
              <a:p>
                <a:pPr algn="ctr"/>
                <a:r>
                  <a:rPr lang="en-IN" sz="600">
                    <a:solidFill>
                      <a:schemeClr val="bg1"/>
                    </a:solidFill>
                  </a:rPr>
                  <a:t>IRB</a:t>
                </a:r>
              </a:p>
            </p:txBody>
          </p:sp>
          <p:sp>
            <p:nvSpPr>
              <p:cNvPr id="32" name="Rectangle 31">
                <a:extLst>
                  <a:ext uri="{FF2B5EF4-FFF2-40B4-BE49-F238E27FC236}">
                    <a16:creationId xmlns:a16="http://schemas.microsoft.com/office/drawing/2014/main" id="{3189E27A-73F1-0AE5-FE0B-FFCE345DA714}"/>
                  </a:ext>
                </a:extLst>
              </p:cNvPr>
              <p:cNvSpPr/>
              <p:nvPr/>
            </p:nvSpPr>
            <p:spPr>
              <a:xfrm>
                <a:off x="3057862" y="2053888"/>
                <a:ext cx="249938" cy="160713"/>
              </a:xfrm>
              <a:prstGeom prst="rect">
                <a:avLst/>
              </a:prstGeom>
              <a:solidFill>
                <a:srgbClr val="7030A0"/>
              </a:solidFill>
              <a:ln w="12700" cap="rnd" cmpd="sng" algn="ctr">
                <a:solidFill>
                  <a:srgbClr val="EAEAEA"/>
                </a:solidFill>
                <a:prstDash val="solid"/>
              </a:ln>
              <a:effectLst/>
            </p:spPr>
            <p:txBody>
              <a:bodyPr lIns="36000" tIns="36000" rIns="36000" bIns="36000" rtlCol="0" anchor="ctr"/>
              <a:lstStyle/>
              <a:p>
                <a:pPr algn="ctr"/>
                <a:r>
                  <a:rPr lang="en-IN" sz="600">
                    <a:solidFill>
                      <a:schemeClr val="bg1"/>
                    </a:solidFill>
                  </a:rPr>
                  <a:t>ECL</a:t>
                </a:r>
              </a:p>
            </p:txBody>
          </p:sp>
          <p:sp>
            <p:nvSpPr>
              <p:cNvPr id="33" name="Rectangle 32">
                <a:extLst>
                  <a:ext uri="{FF2B5EF4-FFF2-40B4-BE49-F238E27FC236}">
                    <a16:creationId xmlns:a16="http://schemas.microsoft.com/office/drawing/2014/main" id="{FD1D77FC-E8C7-C668-AE80-A9511F9CA260}"/>
                  </a:ext>
                </a:extLst>
              </p:cNvPr>
              <p:cNvSpPr/>
              <p:nvPr/>
            </p:nvSpPr>
            <p:spPr>
              <a:xfrm>
                <a:off x="3499983" y="2053888"/>
                <a:ext cx="249938" cy="160713"/>
              </a:xfrm>
              <a:prstGeom prst="rect">
                <a:avLst/>
              </a:prstGeom>
              <a:solidFill>
                <a:srgbClr val="7030A0"/>
              </a:solidFill>
              <a:ln w="12700" cap="rnd" cmpd="sng" algn="ctr">
                <a:solidFill>
                  <a:srgbClr val="EAEAEA"/>
                </a:solidFill>
                <a:prstDash val="solid"/>
              </a:ln>
              <a:effectLst/>
            </p:spPr>
            <p:txBody>
              <a:bodyPr lIns="36000" tIns="36000" rIns="36000" bIns="36000" rtlCol="0" anchor="ctr"/>
              <a:lstStyle/>
              <a:p>
                <a:pPr algn="ctr"/>
                <a:r>
                  <a:rPr lang="en-IN" sz="600">
                    <a:solidFill>
                      <a:schemeClr val="bg1"/>
                    </a:solidFill>
                  </a:rPr>
                  <a:t>RWA</a:t>
                </a:r>
              </a:p>
            </p:txBody>
          </p:sp>
          <p:sp>
            <p:nvSpPr>
              <p:cNvPr id="34" name="Rectangle 33">
                <a:extLst>
                  <a:ext uri="{FF2B5EF4-FFF2-40B4-BE49-F238E27FC236}">
                    <a16:creationId xmlns:a16="http://schemas.microsoft.com/office/drawing/2014/main" id="{89267C82-F3B2-6C11-E4BD-1AD71606660F}"/>
                  </a:ext>
                </a:extLst>
              </p:cNvPr>
              <p:cNvSpPr/>
              <p:nvPr/>
            </p:nvSpPr>
            <p:spPr>
              <a:xfrm>
                <a:off x="3942104" y="2057865"/>
                <a:ext cx="313981" cy="160713"/>
              </a:xfrm>
              <a:prstGeom prst="rect">
                <a:avLst/>
              </a:prstGeom>
              <a:solidFill>
                <a:srgbClr val="7030A0"/>
              </a:solidFill>
              <a:ln w="12700" cap="rnd" cmpd="sng" algn="ctr">
                <a:solidFill>
                  <a:srgbClr val="EAEAEA"/>
                </a:solidFill>
                <a:prstDash val="solid"/>
              </a:ln>
              <a:effectLst/>
            </p:spPr>
            <p:txBody>
              <a:bodyPr lIns="36000" tIns="36000" rIns="36000" bIns="36000" rtlCol="0" anchor="ctr"/>
              <a:lstStyle/>
              <a:p>
                <a:pPr algn="ctr"/>
                <a:r>
                  <a:rPr lang="en-IN" sz="700">
                    <a:solidFill>
                      <a:schemeClr val="bg1"/>
                    </a:solidFill>
                  </a:rPr>
                  <a:t>ST </a:t>
                </a:r>
                <a:r>
                  <a:rPr lang="en-IN" sz="400">
                    <a:solidFill>
                      <a:schemeClr val="bg1"/>
                    </a:solidFill>
                  </a:rPr>
                  <a:t>(Baseline)</a:t>
                </a:r>
                <a:endParaRPr lang="en-IN" sz="700">
                  <a:solidFill>
                    <a:schemeClr val="bg1"/>
                  </a:solidFill>
                </a:endParaRPr>
              </a:p>
            </p:txBody>
          </p:sp>
          <p:sp>
            <p:nvSpPr>
              <p:cNvPr id="35" name="Rectangle 34">
                <a:extLst>
                  <a:ext uri="{FF2B5EF4-FFF2-40B4-BE49-F238E27FC236}">
                    <a16:creationId xmlns:a16="http://schemas.microsoft.com/office/drawing/2014/main" id="{1872593A-880A-E11D-4B3E-4B2F6BE79020}"/>
                  </a:ext>
                </a:extLst>
              </p:cNvPr>
              <p:cNvSpPr/>
              <p:nvPr/>
            </p:nvSpPr>
            <p:spPr>
              <a:xfrm>
                <a:off x="4377361" y="2059071"/>
                <a:ext cx="320847" cy="160713"/>
              </a:xfrm>
              <a:prstGeom prst="rect">
                <a:avLst/>
              </a:prstGeom>
              <a:solidFill>
                <a:srgbClr val="7030A0"/>
              </a:solidFill>
              <a:ln w="12700" cap="rnd" cmpd="sng" algn="ctr">
                <a:solidFill>
                  <a:srgbClr val="EAEAEA"/>
                </a:solidFill>
                <a:prstDash val="solid"/>
              </a:ln>
              <a:effectLst/>
            </p:spPr>
            <p:txBody>
              <a:bodyPr lIns="36000" tIns="36000" rIns="36000" bIns="36000" rtlCol="0" anchor="ctr"/>
              <a:lstStyle/>
              <a:p>
                <a:pPr algn="ctr"/>
                <a:r>
                  <a:rPr lang="en-IN" sz="600">
                    <a:solidFill>
                      <a:schemeClr val="bg1"/>
                    </a:solidFill>
                  </a:rPr>
                  <a:t>RAROC</a:t>
                </a:r>
              </a:p>
            </p:txBody>
          </p:sp>
          <p:cxnSp>
            <p:nvCxnSpPr>
              <p:cNvPr id="36" name="Connector: Curved 35">
                <a:extLst>
                  <a:ext uri="{FF2B5EF4-FFF2-40B4-BE49-F238E27FC236}">
                    <a16:creationId xmlns:a16="http://schemas.microsoft.com/office/drawing/2014/main" id="{F8A9F022-30AA-7466-CCB9-977EA665B698}"/>
                  </a:ext>
                </a:extLst>
              </p:cNvPr>
              <p:cNvCxnSpPr>
                <a:cxnSpLocks/>
                <a:stCxn id="31" idx="0"/>
                <a:endCxn id="32" idx="0"/>
              </p:cNvCxnSpPr>
              <p:nvPr/>
            </p:nvCxnSpPr>
            <p:spPr>
              <a:xfrm rot="5400000" flipH="1" flipV="1">
                <a:off x="2961770" y="1832828"/>
                <a:ext cx="12700" cy="442121"/>
              </a:xfrm>
              <a:prstGeom prst="curvedConnector3">
                <a:avLst>
                  <a:gd name="adj1" fmla="val 911378"/>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FCA999D9-F4E4-819B-7935-C6CC16C68DE8}"/>
                  </a:ext>
                </a:extLst>
              </p:cNvPr>
              <p:cNvCxnSpPr>
                <a:cxnSpLocks/>
                <a:stCxn id="32" idx="0"/>
                <a:endCxn id="33" idx="0"/>
              </p:cNvCxnSpPr>
              <p:nvPr/>
            </p:nvCxnSpPr>
            <p:spPr>
              <a:xfrm rot="5400000" flipH="1" flipV="1">
                <a:off x="3403891" y="1832828"/>
                <a:ext cx="12700" cy="442121"/>
              </a:xfrm>
              <a:prstGeom prst="curvedConnector3">
                <a:avLst>
                  <a:gd name="adj1" fmla="val 820236"/>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Curved 37">
                <a:extLst>
                  <a:ext uri="{FF2B5EF4-FFF2-40B4-BE49-F238E27FC236}">
                    <a16:creationId xmlns:a16="http://schemas.microsoft.com/office/drawing/2014/main" id="{63D1C868-5B85-E5BB-7153-F1116C77857B}"/>
                  </a:ext>
                </a:extLst>
              </p:cNvPr>
              <p:cNvCxnSpPr>
                <a:cxnSpLocks/>
                <a:stCxn id="33" idx="0"/>
                <a:endCxn id="34" idx="0"/>
              </p:cNvCxnSpPr>
              <p:nvPr/>
            </p:nvCxnSpPr>
            <p:spPr>
              <a:xfrm rot="16200000" flipH="1">
                <a:off x="3860034" y="1818805"/>
                <a:ext cx="3977" cy="474143"/>
              </a:xfrm>
              <a:prstGeom prst="curvedConnector3">
                <a:avLst>
                  <a:gd name="adj1" fmla="val -2645109"/>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39" name="Connector: Curved 38">
                <a:extLst>
                  <a:ext uri="{FF2B5EF4-FFF2-40B4-BE49-F238E27FC236}">
                    <a16:creationId xmlns:a16="http://schemas.microsoft.com/office/drawing/2014/main" id="{CA090553-3D9F-E6E2-5E50-1A38903ED0FB}"/>
                  </a:ext>
                </a:extLst>
              </p:cNvPr>
              <p:cNvCxnSpPr>
                <a:cxnSpLocks/>
                <a:stCxn id="33" idx="0"/>
                <a:endCxn id="35" idx="0"/>
              </p:cNvCxnSpPr>
              <p:nvPr/>
            </p:nvCxnSpPr>
            <p:spPr>
              <a:xfrm rot="16200000" flipH="1">
                <a:off x="4078776" y="1600063"/>
                <a:ext cx="5183" cy="912833"/>
              </a:xfrm>
              <a:prstGeom prst="curvedConnector3">
                <a:avLst>
                  <a:gd name="adj1" fmla="val -3032279"/>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EF0FE26-C34E-EDCD-68F0-C60F72A4B5B3}"/>
                  </a:ext>
                </a:extLst>
              </p:cNvPr>
              <p:cNvSpPr txBox="1"/>
              <p:nvPr/>
            </p:nvSpPr>
            <p:spPr>
              <a:xfrm>
                <a:off x="2865679" y="1951302"/>
                <a:ext cx="164651" cy="92333"/>
              </a:xfrm>
              <a:prstGeom prst="rect">
                <a:avLst/>
              </a:prstGeom>
              <a:noFill/>
              <a:ln w="12700">
                <a:noFill/>
              </a:ln>
            </p:spPr>
            <p:txBody>
              <a:bodyPr wrap="square" lIns="0" tIns="0" rIns="0" bIns="0" rtlCol="0" anchor="t" anchorCtr="0">
                <a:spAutoFit/>
              </a:bodyPr>
              <a:lstStyle/>
              <a:p>
                <a:pPr algn="ctr"/>
                <a:r>
                  <a:rPr lang="en-IN" sz="600"/>
                  <a:t>ETL</a:t>
                </a:r>
              </a:p>
            </p:txBody>
          </p:sp>
          <p:sp>
            <p:nvSpPr>
              <p:cNvPr id="41" name="TextBox 40">
                <a:extLst>
                  <a:ext uri="{FF2B5EF4-FFF2-40B4-BE49-F238E27FC236}">
                    <a16:creationId xmlns:a16="http://schemas.microsoft.com/office/drawing/2014/main" id="{A51D2544-E6BE-06E9-4A5B-3DDABEDEBE13}"/>
                  </a:ext>
                </a:extLst>
              </p:cNvPr>
              <p:cNvSpPr txBox="1"/>
              <p:nvPr/>
            </p:nvSpPr>
            <p:spPr>
              <a:xfrm>
                <a:off x="3339162" y="1966722"/>
                <a:ext cx="164651" cy="92333"/>
              </a:xfrm>
              <a:prstGeom prst="rect">
                <a:avLst/>
              </a:prstGeom>
              <a:noFill/>
              <a:ln w="12700">
                <a:noFill/>
              </a:ln>
            </p:spPr>
            <p:txBody>
              <a:bodyPr wrap="square" lIns="0" tIns="0" rIns="0" bIns="0" rtlCol="0" anchor="t" anchorCtr="0">
                <a:spAutoFit/>
              </a:bodyPr>
              <a:lstStyle/>
              <a:p>
                <a:pPr algn="ctr"/>
                <a:r>
                  <a:rPr lang="en-IN" sz="600"/>
                  <a:t>ETL</a:t>
                </a:r>
              </a:p>
            </p:txBody>
          </p:sp>
          <p:sp>
            <p:nvSpPr>
              <p:cNvPr id="42" name="TextBox 41">
                <a:extLst>
                  <a:ext uri="{FF2B5EF4-FFF2-40B4-BE49-F238E27FC236}">
                    <a16:creationId xmlns:a16="http://schemas.microsoft.com/office/drawing/2014/main" id="{1F061355-3456-F2A1-DEA7-B3E4C7E7F5D0}"/>
                  </a:ext>
                </a:extLst>
              </p:cNvPr>
              <p:cNvSpPr txBox="1"/>
              <p:nvPr/>
            </p:nvSpPr>
            <p:spPr>
              <a:xfrm>
                <a:off x="3788293" y="1959565"/>
                <a:ext cx="164651" cy="92333"/>
              </a:xfrm>
              <a:prstGeom prst="rect">
                <a:avLst/>
              </a:prstGeom>
              <a:noFill/>
              <a:ln w="12700">
                <a:noFill/>
              </a:ln>
            </p:spPr>
            <p:txBody>
              <a:bodyPr wrap="square" lIns="0" tIns="0" rIns="0" bIns="0" rtlCol="0" anchor="t" anchorCtr="0">
                <a:spAutoFit/>
              </a:bodyPr>
              <a:lstStyle/>
              <a:p>
                <a:pPr algn="ctr"/>
                <a:r>
                  <a:rPr lang="en-IN" sz="600"/>
                  <a:t>ETL</a:t>
                </a:r>
              </a:p>
            </p:txBody>
          </p:sp>
          <p:sp>
            <p:nvSpPr>
              <p:cNvPr id="43" name="TextBox 42">
                <a:extLst>
                  <a:ext uri="{FF2B5EF4-FFF2-40B4-BE49-F238E27FC236}">
                    <a16:creationId xmlns:a16="http://schemas.microsoft.com/office/drawing/2014/main" id="{7898999B-829C-2080-D038-F15F636AA7CE}"/>
                  </a:ext>
                </a:extLst>
              </p:cNvPr>
              <p:cNvSpPr txBox="1"/>
              <p:nvPr/>
            </p:nvSpPr>
            <p:spPr>
              <a:xfrm>
                <a:off x="4274942" y="1957375"/>
                <a:ext cx="164651" cy="92333"/>
              </a:xfrm>
              <a:prstGeom prst="rect">
                <a:avLst/>
              </a:prstGeom>
              <a:noFill/>
              <a:ln w="12700">
                <a:noFill/>
              </a:ln>
            </p:spPr>
            <p:txBody>
              <a:bodyPr wrap="square" lIns="0" tIns="0" rIns="0" bIns="0" rtlCol="0" anchor="t" anchorCtr="0">
                <a:spAutoFit/>
              </a:bodyPr>
              <a:lstStyle/>
              <a:p>
                <a:pPr algn="ctr"/>
                <a:r>
                  <a:rPr lang="en-IN" sz="600"/>
                  <a:t>ETL</a:t>
                </a:r>
              </a:p>
            </p:txBody>
          </p:sp>
        </p:grpSp>
        <p:cxnSp>
          <p:nvCxnSpPr>
            <p:cNvPr id="15" name="Straight Arrow Connector 14">
              <a:extLst>
                <a:ext uri="{FF2B5EF4-FFF2-40B4-BE49-F238E27FC236}">
                  <a16:creationId xmlns:a16="http://schemas.microsoft.com/office/drawing/2014/main" id="{2C3FC91C-0750-CF1C-1BE3-084B0A2CE1AD}"/>
                </a:ext>
              </a:extLst>
            </p:cNvPr>
            <p:cNvCxnSpPr>
              <a:cxnSpLocks/>
            </p:cNvCxnSpPr>
            <p:nvPr/>
          </p:nvCxnSpPr>
          <p:spPr>
            <a:xfrm>
              <a:off x="3863705" y="1500105"/>
              <a:ext cx="262535" cy="0"/>
            </a:xfrm>
            <a:prstGeom prst="straightConnector1">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A007C55-2FB4-5682-E871-2BFC01344B23}"/>
                </a:ext>
              </a:extLst>
            </p:cNvPr>
            <p:cNvCxnSpPr>
              <a:cxnSpLocks/>
              <a:endCxn id="11" idx="1"/>
            </p:cNvCxnSpPr>
            <p:nvPr/>
          </p:nvCxnSpPr>
          <p:spPr>
            <a:xfrm>
              <a:off x="4388264" y="1496330"/>
              <a:ext cx="433505" cy="0"/>
            </a:xfrm>
            <a:prstGeom prst="straightConnector1">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65">
              <a:extLst>
                <a:ext uri="{FF2B5EF4-FFF2-40B4-BE49-F238E27FC236}">
                  <a16:creationId xmlns:a16="http://schemas.microsoft.com/office/drawing/2014/main" id="{FAAB429D-2B19-3D37-02F6-A1B5A808D94A}"/>
                </a:ext>
              </a:extLst>
            </p:cNvPr>
            <p:cNvCxnSpPr>
              <a:cxnSpLocks/>
              <a:stCxn id="7" idx="3"/>
              <a:endCxn id="25" idx="0"/>
            </p:cNvCxnSpPr>
            <p:nvPr/>
          </p:nvCxnSpPr>
          <p:spPr>
            <a:xfrm>
              <a:off x="7337242" y="1793811"/>
              <a:ext cx="270916" cy="367977"/>
            </a:xfrm>
            <a:prstGeom prst="bentConnector3">
              <a:avLst>
                <a:gd name="adj1" fmla="val 50000"/>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D288677-84DE-8A0C-21AC-E385461AD896}"/>
                </a:ext>
              </a:extLst>
            </p:cNvPr>
            <p:cNvSpPr/>
            <p:nvPr/>
          </p:nvSpPr>
          <p:spPr>
            <a:xfrm rot="16200000">
              <a:off x="7521808" y="1078297"/>
              <a:ext cx="504381" cy="331682"/>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400"/>
              <a:r>
                <a:rPr lang="en-IN" sz="1400" kern="0">
                  <a:solidFill>
                    <a:srgbClr val="363A3B"/>
                  </a:solidFill>
                  <a:latin typeface="Myriad for Rabobank It"/>
                </a:rPr>
                <a:t>CRPR</a:t>
              </a:r>
            </a:p>
          </p:txBody>
        </p:sp>
        <p:cxnSp>
          <p:nvCxnSpPr>
            <p:cNvPr id="19" name="Straight Arrow Connector 18">
              <a:extLst>
                <a:ext uri="{FF2B5EF4-FFF2-40B4-BE49-F238E27FC236}">
                  <a16:creationId xmlns:a16="http://schemas.microsoft.com/office/drawing/2014/main" id="{103D44DB-529B-EB88-244B-95466856B164}"/>
                </a:ext>
              </a:extLst>
            </p:cNvPr>
            <p:cNvCxnSpPr>
              <a:cxnSpLocks/>
            </p:cNvCxnSpPr>
            <p:nvPr/>
          </p:nvCxnSpPr>
          <p:spPr>
            <a:xfrm>
              <a:off x="3857357" y="1979852"/>
              <a:ext cx="275230" cy="0"/>
            </a:xfrm>
            <a:prstGeom prst="straightConnector1">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906A299-F4FE-93F5-CED4-F94C8DDA82A8}"/>
                </a:ext>
              </a:extLst>
            </p:cNvPr>
            <p:cNvCxnSpPr>
              <a:cxnSpLocks/>
              <a:endCxn id="9" idx="1"/>
            </p:cNvCxnSpPr>
            <p:nvPr/>
          </p:nvCxnSpPr>
          <p:spPr>
            <a:xfrm>
              <a:off x="4388264" y="1979853"/>
              <a:ext cx="433505" cy="0"/>
            </a:xfrm>
            <a:prstGeom prst="straightConnector1">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74">
              <a:extLst>
                <a:ext uri="{FF2B5EF4-FFF2-40B4-BE49-F238E27FC236}">
                  <a16:creationId xmlns:a16="http://schemas.microsoft.com/office/drawing/2014/main" id="{DC1C9836-FA7E-11EF-9432-DDE25625E5DC}"/>
                </a:ext>
              </a:extLst>
            </p:cNvPr>
            <p:cNvCxnSpPr>
              <a:cxnSpLocks/>
              <a:stCxn id="7" idx="3"/>
              <a:endCxn id="18" idx="0"/>
            </p:cNvCxnSpPr>
            <p:nvPr/>
          </p:nvCxnSpPr>
          <p:spPr>
            <a:xfrm flipV="1">
              <a:off x="7337242" y="1244138"/>
              <a:ext cx="270916" cy="549673"/>
            </a:xfrm>
            <a:prstGeom prst="bentConnector3">
              <a:avLst>
                <a:gd name="adj1" fmla="val 50000"/>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57F8280-EC46-F643-F132-12D1B102C491}"/>
                </a:ext>
              </a:extLst>
            </p:cNvPr>
            <p:cNvCxnSpPr>
              <a:cxnSpLocks/>
            </p:cNvCxnSpPr>
            <p:nvPr/>
          </p:nvCxnSpPr>
          <p:spPr>
            <a:xfrm>
              <a:off x="3873559" y="2315232"/>
              <a:ext cx="275230" cy="0"/>
            </a:xfrm>
            <a:prstGeom prst="straightConnector1">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C8387A3-8CCA-0F61-1223-856603A619B3}"/>
                </a:ext>
              </a:extLst>
            </p:cNvPr>
            <p:cNvCxnSpPr>
              <a:cxnSpLocks/>
            </p:cNvCxnSpPr>
            <p:nvPr/>
          </p:nvCxnSpPr>
          <p:spPr>
            <a:xfrm>
              <a:off x="4401719" y="2303024"/>
              <a:ext cx="420050" cy="0"/>
            </a:xfrm>
            <a:prstGeom prst="straightConnector1">
              <a:avLst/>
            </a:prstGeom>
            <a:ln w="12700" cap="rnd">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E1BE739E-158E-0A3A-4D73-3AF56A50C614}"/>
                </a:ext>
              </a:extLst>
            </p:cNvPr>
            <p:cNvSpPr/>
            <p:nvPr/>
          </p:nvSpPr>
          <p:spPr>
            <a:xfrm rot="16200000">
              <a:off x="7473025" y="1995947"/>
              <a:ext cx="601946" cy="331681"/>
            </a:xfrm>
            <a:prstGeom prst="rect">
              <a:avLst/>
            </a:prstGeom>
            <a:solidFill>
              <a:schemeClr val="bg2">
                <a:lumMod val="90000"/>
              </a:schemeClr>
            </a:solidFill>
            <a:ln w="12700" cap="flat" cmpd="sng" algn="ctr">
              <a:solidFill>
                <a:srgbClr val="0058FF">
                  <a:shade val="50000"/>
                </a:srgbClr>
              </a:solidFill>
              <a:prstDash val="solid"/>
              <a:miter lim="800000"/>
            </a:ln>
            <a:effectLst/>
          </p:spPr>
          <p:txBody>
            <a:bodyPr lIns="36000" tIns="36000" rIns="36000" bIns="36000" rtlCol="0" anchor="ctr"/>
            <a:lstStyle/>
            <a:p>
              <a:pPr algn="ctr" defTabSz="914400"/>
              <a:r>
                <a:rPr lang="en-IN" sz="1200" kern="0">
                  <a:solidFill>
                    <a:srgbClr val="363A3B"/>
                  </a:solidFill>
                  <a:latin typeface="Myriad for Rabobank It"/>
                </a:rPr>
                <a:t>GRFD</a:t>
              </a:r>
            </a:p>
            <a:p>
              <a:pPr algn="ctr" defTabSz="914400"/>
              <a:r>
                <a:rPr lang="en-IN" sz="600" kern="0">
                  <a:solidFill>
                    <a:srgbClr val="363A3B"/>
                  </a:solidFill>
                  <a:latin typeface="Myriad for Rabobank It"/>
                </a:rPr>
                <a:t>(via CFO Hub)</a:t>
              </a:r>
            </a:p>
          </p:txBody>
        </p:sp>
        <p:sp>
          <p:nvSpPr>
            <p:cNvPr id="29" name="Flowchart: Process 28">
              <a:extLst>
                <a:ext uri="{FF2B5EF4-FFF2-40B4-BE49-F238E27FC236}">
                  <a16:creationId xmlns:a16="http://schemas.microsoft.com/office/drawing/2014/main" id="{9BB7CE0F-336D-1AAE-5B36-EDDC407C7068}"/>
                </a:ext>
              </a:extLst>
            </p:cNvPr>
            <p:cNvSpPr/>
            <p:nvPr/>
          </p:nvSpPr>
          <p:spPr>
            <a:xfrm>
              <a:off x="4624064" y="2711271"/>
              <a:ext cx="2713178" cy="213864"/>
            </a:xfrm>
            <a:prstGeom prst="flowChartProcess">
              <a:avLst/>
            </a:prstGeom>
            <a:solidFill>
              <a:srgbClr val="0058FF">
                <a:lumMod val="20000"/>
                <a:lumOff val="80000"/>
              </a:srgbClr>
            </a:solidFill>
            <a:ln w="12700" cap="flat" cmpd="sng" algn="ctr">
              <a:solidFill>
                <a:srgbClr val="0058FF">
                  <a:shade val="50000"/>
                </a:srgbClr>
              </a:solidFill>
              <a:prstDash val="solid"/>
              <a:miter lim="800000"/>
            </a:ln>
            <a:effectLst/>
          </p:spPr>
          <p:txBody>
            <a:bodyPr rtlCol="0" anchor="t"/>
            <a:lstStyle/>
            <a:p>
              <a:pPr defTabSz="914400"/>
              <a:r>
                <a:rPr lang="en-US" sz="800" kern="0">
                  <a:solidFill>
                    <a:srgbClr val="363A3B"/>
                  </a:solidFill>
                  <a:latin typeface="Myriad for Rabobank"/>
                </a:rPr>
                <a:t>etc.…</a:t>
              </a:r>
            </a:p>
          </p:txBody>
        </p:sp>
        <p:cxnSp>
          <p:nvCxnSpPr>
            <p:cNvPr id="45" name="Connector: Curved 44">
              <a:extLst>
                <a:ext uri="{FF2B5EF4-FFF2-40B4-BE49-F238E27FC236}">
                  <a16:creationId xmlns:a16="http://schemas.microsoft.com/office/drawing/2014/main" id="{949030AC-6E60-B5A3-B8B4-D09F0D019A00}"/>
                </a:ext>
              </a:extLst>
            </p:cNvPr>
            <p:cNvCxnSpPr>
              <a:cxnSpLocks/>
            </p:cNvCxnSpPr>
            <p:nvPr/>
          </p:nvCxnSpPr>
          <p:spPr>
            <a:xfrm rot="16200000" flipH="1">
              <a:off x="5995129" y="943450"/>
              <a:ext cx="3977" cy="916264"/>
            </a:xfrm>
            <a:prstGeom prst="curvedConnector3">
              <a:avLst>
                <a:gd name="adj1" fmla="val -3951848"/>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53" name="Connector: Curved 52">
              <a:extLst>
                <a:ext uri="{FF2B5EF4-FFF2-40B4-BE49-F238E27FC236}">
                  <a16:creationId xmlns:a16="http://schemas.microsoft.com/office/drawing/2014/main" id="{82C3E183-9AB2-074F-389C-ED6AF79091DD}"/>
                </a:ext>
              </a:extLst>
            </p:cNvPr>
            <p:cNvCxnSpPr>
              <a:cxnSpLocks/>
            </p:cNvCxnSpPr>
            <p:nvPr/>
          </p:nvCxnSpPr>
          <p:spPr>
            <a:xfrm rot="5400000" flipH="1" flipV="1">
              <a:off x="5538986" y="957473"/>
              <a:ext cx="12700" cy="884242"/>
            </a:xfrm>
            <a:prstGeom prst="curvedConnector3">
              <a:avLst>
                <a:gd name="adj1" fmla="val 1200000"/>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95783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5814" y="191293"/>
            <a:ext cx="7969578" cy="616430"/>
          </a:xfrm>
        </p:spPr>
        <p:txBody>
          <a:bodyPr/>
          <a:lstStyle/>
          <a:p>
            <a:r>
              <a:rPr lang="en-GB"/>
              <a:t>2.6 High level business requirements for Ad-Hoc runs</a:t>
            </a:r>
          </a:p>
        </p:txBody>
      </p:sp>
      <p:sp>
        <p:nvSpPr>
          <p:cNvPr id="17410" name="Rectangle 2"/>
          <p:cNvSpPr>
            <a:spLocks noChangeArrowheads="1"/>
          </p:cNvSpPr>
          <p:nvPr/>
        </p:nvSpPr>
        <p:spPr bwMode="auto">
          <a:xfrm>
            <a:off x="4"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solidFill>
                <a:prstClr val="black"/>
              </a:solidFill>
            </a:endParaRPr>
          </a:p>
        </p:txBody>
      </p:sp>
      <p:sp>
        <p:nvSpPr>
          <p:cNvPr id="30" name="Rounded Rectangle 10">
            <a:hlinkClick r:id="rId3" action="ppaction://hlinksldjump"/>
          </p:cNvPr>
          <p:cNvSpPr/>
          <p:nvPr/>
        </p:nvSpPr>
        <p:spPr>
          <a:xfrm>
            <a:off x="938158"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2. Business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graphicFrame>
        <p:nvGraphicFramePr>
          <p:cNvPr id="6" name="Table 5">
            <a:extLst>
              <a:ext uri="{FF2B5EF4-FFF2-40B4-BE49-F238E27FC236}">
                <a16:creationId xmlns:a16="http://schemas.microsoft.com/office/drawing/2014/main" id="{FB35FE26-87B8-3EAA-AF7D-6CDC5955DFF5}"/>
              </a:ext>
            </a:extLst>
          </p:cNvPr>
          <p:cNvGraphicFramePr>
            <a:graphicFrameLocks noGrp="1"/>
          </p:cNvGraphicFramePr>
          <p:nvPr>
            <p:extLst>
              <p:ext uri="{D42A27DB-BD31-4B8C-83A1-F6EECF244321}">
                <p14:modId xmlns:p14="http://schemas.microsoft.com/office/powerpoint/2010/main" val="72752424"/>
              </p:ext>
            </p:extLst>
          </p:nvPr>
        </p:nvGraphicFramePr>
        <p:xfrm>
          <a:off x="674688" y="1349478"/>
          <a:ext cx="7689591" cy="2643804"/>
        </p:xfrm>
        <a:graphic>
          <a:graphicData uri="http://schemas.openxmlformats.org/drawingml/2006/table">
            <a:tbl>
              <a:tblPr firstRow="1">
                <a:tableStyleId>{7E9639D4-E3E2-4D34-9284-5A2195B3D0D7}</a:tableStyleId>
              </a:tblPr>
              <a:tblGrid>
                <a:gridCol w="7689591">
                  <a:extLst>
                    <a:ext uri="{9D8B030D-6E8A-4147-A177-3AD203B41FA5}">
                      <a16:colId xmlns:a16="http://schemas.microsoft.com/office/drawing/2014/main" val="3209791538"/>
                    </a:ext>
                  </a:extLst>
                </a:gridCol>
              </a:tblGrid>
              <a:tr h="185012">
                <a:tc>
                  <a:txBody>
                    <a:bodyPr/>
                    <a:lstStyle/>
                    <a:p>
                      <a:pPr algn="l" fontAlgn="base"/>
                      <a:r>
                        <a:rPr kumimoji="0" lang="en-GB" sz="700" b="1" u="none" strike="noStrike" kern="1200" cap="none" spc="0" normalizeH="0" baseline="0">
                          <a:ln>
                            <a:noFill/>
                          </a:ln>
                          <a:solidFill>
                            <a:schemeClr val="tx1"/>
                          </a:solidFill>
                          <a:effectLst/>
                          <a:uLnTx/>
                          <a:uFillTx/>
                          <a:latin typeface="+mn-lt"/>
                          <a:ea typeface="+mn-ea"/>
                          <a:cs typeface="+mn-cs"/>
                        </a:rPr>
                        <a:t>Data Sourcing​ </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chemeClr val="bg2">
                        <a:lumMod val="90000"/>
                      </a:schemeClr>
                    </a:solidFill>
                  </a:tcPr>
                </a:tc>
                <a:extLst>
                  <a:ext uri="{0D108BD9-81ED-4DB2-BD59-A6C34878D82A}">
                    <a16:rowId xmlns:a16="http://schemas.microsoft.com/office/drawing/2014/main" val="1292516057"/>
                  </a:ext>
                </a:extLst>
              </a:tr>
              <a:tr h="185012">
                <a:tc>
                  <a:txBody>
                    <a:bodyPr/>
                    <a:lstStyle/>
                    <a:p>
                      <a:pPr marL="171450" indent="-171450">
                        <a:buClr>
                          <a:schemeClr val="accent2"/>
                        </a:buClr>
                        <a:buFont typeface="Arial" panose="020B0604020202020204" pitchFamily="34" charset="0"/>
                        <a:buChar char="•"/>
                      </a:pPr>
                      <a:r>
                        <a:rPr lang="en-GB" sz="700" b="0">
                          <a:solidFill>
                            <a:srgbClr val="363A3B"/>
                          </a:solidFill>
                          <a:effectLst/>
                        </a:rPr>
                        <a:t>It should be possible to consume data from external systems on need basis e.g. EPC level data from Cal CASA​</a:t>
                      </a:r>
                      <a:endParaRPr lang="en-NL"/>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3844117880"/>
                  </a:ext>
                </a:extLst>
              </a:tr>
              <a:tr h="185012">
                <a:tc>
                  <a:txBody>
                    <a:bodyPr/>
                    <a:lstStyle/>
                    <a:p>
                      <a:pPr marL="0" marR="0" indent="0" algn="just" defTabSz="456999" rtl="0" eaLnBrk="1" fontAlgn="base" latinLnBrk="0" hangingPunct="1">
                        <a:lnSpc>
                          <a:spcPct val="100000"/>
                        </a:lnSpc>
                        <a:spcBef>
                          <a:spcPts val="0"/>
                        </a:spcBef>
                        <a:spcAft>
                          <a:spcPts val="0"/>
                        </a:spcAft>
                        <a:buClrTx/>
                        <a:buSzTx/>
                        <a:buFontTx/>
                        <a:buNone/>
                        <a:tabLst/>
                        <a:defRPr/>
                      </a:pPr>
                      <a:r>
                        <a:rPr lang="en-GB" sz="700" b="1" kern="1200">
                          <a:solidFill>
                            <a:schemeClr val="tx1"/>
                          </a:solidFill>
                          <a:effectLst/>
                        </a:rPr>
                        <a:t>Data Preparation and Data Processing </a:t>
                      </a:r>
                      <a:endParaRPr lang="en-GB" sz="700" b="1" i="0" kern="1200">
                        <a:solidFill>
                          <a:schemeClr val="tx1"/>
                        </a:solidFill>
                        <a:effectLst/>
                        <a:latin typeface="Calibri" panose="020F0502020204030204" pitchFamily="34" charset="0"/>
                        <a:ea typeface="+mn-ea"/>
                        <a:cs typeface="+mn-cs"/>
                      </a:endParaRP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chemeClr val="bg2">
                        <a:lumMod val="90000"/>
                      </a:schemeClr>
                    </a:solidFill>
                  </a:tcPr>
                </a:tc>
                <a:extLst>
                  <a:ext uri="{0D108BD9-81ED-4DB2-BD59-A6C34878D82A}">
                    <a16:rowId xmlns:a16="http://schemas.microsoft.com/office/drawing/2014/main" val="2892947805"/>
                  </a:ext>
                </a:extLst>
              </a:tr>
              <a:tr h="185012">
                <a:tc>
                  <a:txBody>
                    <a:bodyPr/>
                    <a:lstStyle/>
                    <a:p>
                      <a:pPr marL="171450" indent="-171450" algn="l" fontAlgn="base">
                        <a:buClr>
                          <a:schemeClr val="accent2"/>
                        </a:buClr>
                        <a:buFont typeface="Arial" panose="020B0604020202020204" pitchFamily="34" charset="0"/>
                        <a:buChar char="•"/>
                      </a:pPr>
                      <a:r>
                        <a:rPr lang="en-GB" sz="700" b="0" kern="1200">
                          <a:solidFill>
                            <a:srgbClr val="363A3B"/>
                          </a:solidFill>
                          <a:effectLst/>
                        </a:rPr>
                        <a:t>It must be possible to manually intervene the </a:t>
                      </a:r>
                      <a:r>
                        <a:rPr lang="en-GB" sz="700" b="0" i="0" kern="1200">
                          <a:solidFill>
                            <a:srgbClr val="363A3B"/>
                          </a:solidFill>
                          <a:effectLst/>
                          <a:latin typeface="+mn-lt"/>
                          <a:ea typeface="+mn-ea"/>
                          <a:cs typeface="+mn-cs"/>
                        </a:rPr>
                        <a:t>Stress</a:t>
                      </a:r>
                      <a:r>
                        <a:rPr lang="en-GB" sz="700" b="0" kern="1200">
                          <a:solidFill>
                            <a:srgbClr val="363A3B"/>
                          </a:solidFill>
                          <a:effectLst/>
                        </a:rPr>
                        <a:t> Test run, if required , to analyse the input/output during data preparation/processing, apply data adjustments required as per regulatory requirements.</a:t>
                      </a:r>
                      <a:endParaRPr lang="en-GB" sz="1050" b="0" i="0">
                        <a:solidFill>
                          <a:srgbClr val="363A3B"/>
                        </a:solidFill>
                        <a:effectLst/>
                      </a:endParaRP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622626184"/>
                  </a:ext>
                </a:extLst>
              </a:tr>
              <a:tr h="185012">
                <a:tc>
                  <a:txBody>
                    <a:bodyPr/>
                    <a:lstStyle/>
                    <a:p>
                      <a:pPr marL="0" marR="0" lvl="0" indent="0" algn="just" defTabSz="456999" rtl="0" eaLnBrk="1" fontAlgn="base" latinLnBrk="0" hangingPunct="1">
                        <a:lnSpc>
                          <a:spcPct val="100000"/>
                        </a:lnSpc>
                        <a:spcBef>
                          <a:spcPts val="0"/>
                        </a:spcBef>
                        <a:spcAft>
                          <a:spcPts val="0"/>
                        </a:spcAft>
                        <a:buClrTx/>
                        <a:buSzTx/>
                        <a:buFontTx/>
                        <a:buNone/>
                        <a:tabLst/>
                        <a:defRPr/>
                      </a:pPr>
                      <a:r>
                        <a:rPr lang="en-GB" sz="700" b="1" kern="1200" noProof="0">
                          <a:solidFill>
                            <a:schemeClr val="tx1"/>
                          </a:solidFill>
                          <a:effectLst/>
                        </a:rPr>
                        <a:t>Data delivery &amp; Consumption</a:t>
                      </a:r>
                      <a:endParaRPr lang="en-GB" sz="700" b="1" i="0" kern="1200" noProof="0">
                        <a:solidFill>
                          <a:schemeClr val="tx1"/>
                        </a:solidFill>
                        <a:effectLst/>
                        <a:latin typeface="Calibri" panose="020F0502020204030204" pitchFamily="34" charset="0"/>
                        <a:ea typeface="+mn-ea"/>
                        <a:cs typeface="+mn-cs"/>
                      </a:endParaRP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chemeClr val="bg2">
                        <a:lumMod val="90000"/>
                      </a:schemeClr>
                    </a:solidFill>
                  </a:tcPr>
                </a:tc>
                <a:extLst>
                  <a:ext uri="{0D108BD9-81ED-4DB2-BD59-A6C34878D82A}">
                    <a16:rowId xmlns:a16="http://schemas.microsoft.com/office/drawing/2014/main" val="1339184825"/>
                  </a:ext>
                </a:extLst>
              </a:tr>
              <a:tr h="185012">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It should be possible, when needed, to deliver the result of ad-hoc runs to production environments of downstream systems like GRFD &amp; CRPR in a controlled way.</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3572430592"/>
                  </a:ext>
                </a:extLst>
              </a:tr>
              <a:tr h="185012">
                <a:tc>
                  <a:txBody>
                    <a:bodyPr/>
                    <a:lstStyle/>
                    <a:p>
                      <a:pPr marL="0" marR="0" lvl="0" indent="0" algn="just" defTabSz="456999" rtl="0" eaLnBrk="1" fontAlgn="base" latinLnBrk="0" hangingPunct="1">
                        <a:lnSpc>
                          <a:spcPct val="100000"/>
                        </a:lnSpc>
                        <a:spcBef>
                          <a:spcPts val="0"/>
                        </a:spcBef>
                        <a:spcAft>
                          <a:spcPts val="0"/>
                        </a:spcAft>
                        <a:buClrTx/>
                        <a:buSzTx/>
                        <a:buFontTx/>
                        <a:buNone/>
                        <a:tabLst/>
                        <a:defRPr/>
                      </a:pPr>
                      <a:r>
                        <a:rPr kumimoji="0" lang="en-GB" sz="700" b="1" u="none" strike="noStrike" kern="1200" cap="none" spc="0" normalizeH="0" baseline="0" noProof="0">
                          <a:ln>
                            <a:noFill/>
                          </a:ln>
                          <a:solidFill>
                            <a:schemeClr val="tx1"/>
                          </a:solidFill>
                          <a:effectLst/>
                          <a:uLnTx/>
                          <a:uFillTx/>
                        </a:rPr>
                        <a:t>Environment</a:t>
                      </a:r>
                      <a:endParaRPr kumimoji="0" lang="en-GB" sz="700" b="1"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solidFill>
                      <a:schemeClr val="bg2">
                        <a:lumMod val="90000"/>
                      </a:schemeClr>
                    </a:solidFill>
                  </a:tcPr>
                </a:tc>
                <a:extLst>
                  <a:ext uri="{0D108BD9-81ED-4DB2-BD59-A6C34878D82A}">
                    <a16:rowId xmlns:a16="http://schemas.microsoft.com/office/drawing/2014/main" val="1350832127"/>
                  </a:ext>
                </a:extLst>
              </a:tr>
              <a:tr h="304336">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An environment in which tests can be built based on production data, where modified models (frequent changes based on regulatory/scenario requirements), several parameter settings and other modifications can be tried out (Data Analyses, Model Analyses, Inputs and Results).​</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2809416376"/>
                  </a:ext>
                </a:extLst>
              </a:tr>
              <a:tr h="185012">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An environment where outcomes are published, where slicing and dicing can be done, and in which sufficient information on used data inputs and models is available.​</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3723562110"/>
                  </a:ext>
                </a:extLst>
              </a:tr>
              <a:tr h="185012">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An environment with secured/restricted access to store outcomes of production runs prior to publication (KPI/Insiders compliance)​</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288324290"/>
                  </a:ext>
                </a:extLst>
              </a:tr>
              <a:tr h="185012">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An environments to enable research/LAB activities including use of non-approved model parameters, scenarios and other testing inputs using production data.​</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333681060"/>
                  </a:ext>
                </a:extLst>
              </a:tr>
              <a:tr h="185012">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An environment should support running different model versions of ST Calculator ((frequent changes based on regulatory/scenario requirements).​</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tcPr>
                </a:tc>
                <a:extLst>
                  <a:ext uri="{0D108BD9-81ED-4DB2-BD59-A6C34878D82A}">
                    <a16:rowId xmlns:a16="http://schemas.microsoft.com/office/drawing/2014/main" val="3763193592"/>
                  </a:ext>
                </a:extLst>
              </a:tr>
              <a:tr h="304336">
                <a:tc>
                  <a:txBody>
                    <a:bodyPr/>
                    <a:lstStyle/>
                    <a:p>
                      <a:pPr marL="171450" indent="-171450" algn="l" defTabSz="456999" rtl="0" eaLnBrk="1" fontAlgn="base" latinLnBrk="0" hangingPunct="1">
                        <a:buClr>
                          <a:schemeClr val="accent2"/>
                        </a:buClr>
                        <a:buFont typeface="Arial" panose="020B0604020202020204" pitchFamily="34" charset="0"/>
                        <a:buChar char="•"/>
                      </a:pPr>
                      <a:r>
                        <a:rPr lang="en-GB" sz="700" b="0" i="0" kern="1200">
                          <a:solidFill>
                            <a:srgbClr val="363A3B"/>
                          </a:solidFill>
                          <a:effectLst/>
                          <a:latin typeface="+mn-lt"/>
                          <a:ea typeface="+mn-ea"/>
                          <a:cs typeface="+mn-cs"/>
                        </a:rPr>
                        <a:t>The non-ST calculators (IRB/IFRS 9/ RWA/Prudential Backstop) are owned by respective model teams. They may undergo changes due to business and architecture requirements. It is possible that a particular ST scenario, during development/test runs, may use the specific version of non-ST calculator considering business/data requirements and model stability. </a:t>
                      </a:r>
                    </a:p>
                  </a:txBody>
                  <a:tcPr marL="58729" marR="58729" marT="29364" marB="2936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B w="12700"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2641456837"/>
                  </a:ext>
                </a:extLst>
              </a:tr>
            </a:tbl>
          </a:graphicData>
        </a:graphic>
      </p:graphicFrame>
      <p:sp>
        <p:nvSpPr>
          <p:cNvPr id="7" name="Rectangle 1">
            <a:extLst>
              <a:ext uri="{FF2B5EF4-FFF2-40B4-BE49-F238E27FC236}">
                <a16:creationId xmlns:a16="http://schemas.microsoft.com/office/drawing/2014/main" id="{E8421E11-168C-1EBE-3DC6-69DBD58DB0EB}"/>
              </a:ext>
            </a:extLst>
          </p:cNvPr>
          <p:cNvSpPr>
            <a:spLocks noChangeArrowheads="1"/>
          </p:cNvSpPr>
          <p:nvPr/>
        </p:nvSpPr>
        <p:spPr bwMode="auto">
          <a:xfrm>
            <a:off x="674688" y="965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a:ln>
                  <a:noFill/>
                </a:ln>
                <a:solidFill>
                  <a:srgbClr val="000000"/>
                </a:solidFill>
                <a:effectLst/>
                <a:latin typeface="Times"/>
              </a:rPr>
              <a:t> </a:t>
            </a:r>
            <a:endParaRPr kumimoji="0" lang="en-NL" altLang="en-NL"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1A48017-5166-C129-8849-04AB098B1346}"/>
              </a:ext>
            </a:extLst>
          </p:cNvPr>
          <p:cNvSpPr txBox="1"/>
          <p:nvPr/>
        </p:nvSpPr>
        <p:spPr>
          <a:xfrm>
            <a:off x="475814" y="767227"/>
            <a:ext cx="8107958" cy="415498"/>
          </a:xfrm>
          <a:prstGeom prst="rect">
            <a:avLst/>
          </a:prstGeom>
          <a:noFill/>
          <a:ln w="12700">
            <a:noFill/>
          </a:ln>
        </p:spPr>
        <p:txBody>
          <a:bodyPr wrap="square" lIns="0" rIns="0" rtlCol="0" anchor="t" anchorCtr="0">
            <a:spAutoFit/>
          </a:bodyPr>
          <a:lstStyle/>
          <a:p>
            <a:r>
              <a:rPr lang="en-NL" sz="1050">
                <a:solidFill>
                  <a:srgbClr val="5E6A71"/>
                </a:solidFill>
              </a:rPr>
              <a:t>Stress Testing </a:t>
            </a:r>
            <a:r>
              <a:rPr lang="en-IN" sz="1050">
                <a:solidFill>
                  <a:srgbClr val="5E6A71"/>
                </a:solidFill>
              </a:rPr>
              <a:t>has most recurring </a:t>
            </a:r>
            <a:r>
              <a:rPr lang="en-NL" sz="1050">
                <a:solidFill>
                  <a:srgbClr val="5E6A71"/>
                </a:solidFill>
              </a:rPr>
              <a:t>ad-hoc</a:t>
            </a:r>
            <a:r>
              <a:rPr lang="en-IN" sz="1050">
                <a:solidFill>
                  <a:srgbClr val="5E6A71"/>
                </a:solidFill>
              </a:rPr>
              <a:t> run requirement</a:t>
            </a:r>
            <a:r>
              <a:rPr lang="en-NL" sz="1050">
                <a:solidFill>
                  <a:srgbClr val="5E6A71"/>
                </a:solidFill>
              </a:rPr>
              <a:t>. Since these ad-hoc runs has the most extreme end of business requirements, they are used as the basis to deliver </a:t>
            </a:r>
            <a:r>
              <a:rPr lang="en-IN" sz="1050">
                <a:solidFill>
                  <a:srgbClr val="5E6A71"/>
                </a:solidFill>
              </a:rPr>
              <a:t>nBIF</a:t>
            </a:r>
            <a:r>
              <a:rPr lang="en-NL" sz="1050">
                <a:solidFill>
                  <a:srgbClr val="5E6A71"/>
                </a:solidFill>
              </a:rPr>
              <a:t> ad-hoc run environment.  By doing so, ad-hoc run requirements of other models shall also be covered.</a:t>
            </a:r>
          </a:p>
        </p:txBody>
      </p:sp>
      <p:sp>
        <p:nvSpPr>
          <p:cNvPr id="9" name="Tijdelijke aanduiding voor tekst 18">
            <a:extLst>
              <a:ext uri="{FF2B5EF4-FFF2-40B4-BE49-F238E27FC236}">
                <a16:creationId xmlns:a16="http://schemas.microsoft.com/office/drawing/2014/main" id="{A12EAEFE-33B6-F7CA-851E-921AB2F5D96D}"/>
              </a:ext>
            </a:extLst>
          </p:cNvPr>
          <p:cNvSpPr txBox="1">
            <a:spLocks/>
          </p:cNvSpPr>
          <p:nvPr/>
        </p:nvSpPr>
        <p:spPr>
          <a:xfrm>
            <a:off x="558528" y="4121679"/>
            <a:ext cx="7804150" cy="204787"/>
          </a:xfrm>
          <a:prstGeom prst="rect">
            <a:avLst/>
          </a:prstGeom>
        </p:spPr>
        <p:txBody>
          <a:bodyPr vert="horz" lIns="0" tIns="45720" rIns="0" bIns="45720" rtlCol="0" anchor="ctr">
            <a:noAutofit/>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None/>
              <a:tabLst/>
              <a:defRPr kumimoji="0" lang="nl-NL" sz="1200" b="0" i="0" u="none" strike="noStrike" kern="1200" cap="none" spc="0" normalizeH="0" baseline="0" noProof="0" smtClean="0">
                <a:ln>
                  <a:noFill/>
                </a:ln>
                <a:solidFill>
                  <a:srgbClr val="5E6A71"/>
                </a:solidFill>
                <a:effectLst/>
                <a:uLnTx/>
                <a:uFillTx/>
                <a:latin typeface="+mn-lt"/>
                <a:ea typeface="+mn-ea"/>
                <a:cs typeface="+mn-cs"/>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smtClean="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smtClean="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smtClean="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456999">
              <a:spcBef>
                <a:spcPts val="0"/>
              </a:spcBef>
              <a:buClrTx/>
              <a:buSzTx/>
            </a:pPr>
            <a:r>
              <a:rPr lang="en-GB" sz="1050"/>
              <a:t>Requirements derived from </a:t>
            </a:r>
            <a:r>
              <a:rPr lang="en-GB" sz="1050">
                <a:solidFill>
                  <a:schemeClr val="tx2"/>
                </a:solidFill>
                <a:hlinkClick r:id="rId4">
                  <a:extLst>
                    <a:ext uri="{A12FA001-AC4F-418D-AE19-62706E023703}">
                      <ahyp:hlinkClr xmlns:ahyp="http://schemas.microsoft.com/office/drawing/2018/hyperlinkcolor" val="tx"/>
                    </a:ext>
                  </a:extLst>
                </a:hlinkClick>
              </a:rPr>
              <a:t>Stress Testing - Target State on nBIF.pptx</a:t>
            </a:r>
            <a:r>
              <a:rPr lang="en-GB" sz="1050">
                <a:solidFill>
                  <a:schemeClr val="tx2"/>
                </a:solidFill>
              </a:rPr>
              <a:t> </a:t>
            </a:r>
            <a:r>
              <a:rPr lang="en-GB" sz="1050"/>
              <a:t>section 2.2 with ST scenario type - “External/Adverse ST Runs”</a:t>
            </a:r>
            <a:endParaRPr lang="en-GB" sz="1050" u="sng">
              <a:solidFill>
                <a:srgbClr val="FF0000"/>
              </a:solidFill>
            </a:endParaRPr>
          </a:p>
        </p:txBody>
      </p:sp>
      <p:sp>
        <p:nvSpPr>
          <p:cNvPr id="2" name="TextBox 1">
            <a:extLst>
              <a:ext uri="{FF2B5EF4-FFF2-40B4-BE49-F238E27FC236}">
                <a16:creationId xmlns:a16="http://schemas.microsoft.com/office/drawing/2014/main" id="{BF3AEC46-F257-F2AA-1F1A-BEF221825BA2}"/>
              </a:ext>
            </a:extLst>
          </p:cNvPr>
          <p:cNvSpPr txBox="1"/>
          <p:nvPr/>
        </p:nvSpPr>
        <p:spPr>
          <a:xfrm>
            <a:off x="558528" y="4376273"/>
            <a:ext cx="7804150" cy="369332"/>
          </a:xfrm>
          <a:prstGeom prst="rect">
            <a:avLst/>
          </a:prstGeom>
          <a:noFill/>
          <a:ln w="12700">
            <a:noFill/>
          </a:ln>
        </p:spPr>
        <p:txBody>
          <a:bodyPr wrap="square" lIns="0" rIns="0" rtlCol="0" anchor="t" anchorCtr="0">
            <a:spAutoFit/>
          </a:bodyPr>
          <a:lstStyle/>
          <a:p>
            <a:r>
              <a:rPr lang="en-NL" sz="900">
                <a:solidFill>
                  <a:srgbClr val="5E6A71"/>
                </a:solidFill>
              </a:rPr>
              <a:t>Note- In contrary to widespread assumption that adverse scenario runs must happen at once for every portfolios, ST stakeholdes confirm portfolio wise ad-hoc runs are sufficient. ST will implement sep</a:t>
            </a:r>
            <a:r>
              <a:rPr lang="en-GB" sz="900">
                <a:solidFill>
                  <a:srgbClr val="5E6A71"/>
                </a:solidFill>
              </a:rPr>
              <a:t>a</a:t>
            </a:r>
            <a:r>
              <a:rPr lang="en-NL" sz="900">
                <a:solidFill>
                  <a:srgbClr val="5E6A71"/>
                </a:solidFill>
              </a:rPr>
              <a:t>rate  solution to collate results of different portfolio for the purpose of consolidated reporting. </a:t>
            </a:r>
          </a:p>
        </p:txBody>
      </p:sp>
    </p:spTree>
    <p:extLst>
      <p:ext uri="{BB962C8B-B14F-4D97-AF65-F5344CB8AC3E}">
        <p14:creationId xmlns:p14="http://schemas.microsoft.com/office/powerpoint/2010/main" val="538606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effectLst/>
        </p:spPr>
        <p:txBody>
          <a:bodyPr vert="horz" lIns="0" tIns="0" rIns="0" bIns="0" rtlCol="0" anchor="b">
            <a:spAutoFit/>
          </a:bodyPr>
          <a:lstStyle/>
          <a:p>
            <a:r>
              <a:rPr lang="en-GB"/>
              <a:t>Process Architecture</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7" name="Rounded Rectangle 10">
            <a:hlinkClick r:id="rId2" action="ppaction://hlinksldjump"/>
          </p:cNvPr>
          <p:cNvSpPr/>
          <p:nvPr/>
        </p:nvSpPr>
        <p:spPr>
          <a:xfrm>
            <a:off x="1855060"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3. Process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305407634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12DDC3E-3484-DEF0-3E9B-97EABDB23BD3}"/>
              </a:ext>
            </a:extLst>
          </p:cNvPr>
          <p:cNvPicPr>
            <a:picLocks noChangeAspect="1"/>
          </p:cNvPicPr>
          <p:nvPr/>
        </p:nvPicPr>
        <p:blipFill>
          <a:blip r:embed="rId3"/>
          <a:stretch>
            <a:fillRect/>
          </a:stretch>
        </p:blipFill>
        <p:spPr>
          <a:xfrm>
            <a:off x="475812" y="649930"/>
            <a:ext cx="6466473" cy="3416344"/>
          </a:xfrm>
          <a:prstGeom prst="rect">
            <a:avLst/>
          </a:prstGeom>
        </p:spPr>
      </p:pic>
      <p:sp>
        <p:nvSpPr>
          <p:cNvPr id="3" name="Title 2"/>
          <p:cNvSpPr>
            <a:spLocks noGrp="1"/>
          </p:cNvSpPr>
          <p:nvPr>
            <p:ph type="title"/>
          </p:nvPr>
        </p:nvSpPr>
        <p:spPr/>
        <p:txBody>
          <a:bodyPr/>
          <a:lstStyle/>
          <a:p>
            <a:r>
              <a:rPr lang="en-GB" sz="2400"/>
              <a:t>3.1 n-Bridge </a:t>
            </a:r>
            <a:r>
              <a:rPr lang="en-US" sz="2400"/>
              <a:t>Monthly run - </a:t>
            </a:r>
            <a:r>
              <a:rPr lang="en-GB" sz="2400"/>
              <a:t>Target Business process view</a:t>
            </a:r>
          </a:p>
        </p:txBody>
      </p:sp>
      <p:sp>
        <p:nvSpPr>
          <p:cNvPr id="6" name="Tijdelijke aanduiding voor tekst 5"/>
          <p:cNvSpPr>
            <a:spLocks noGrp="1"/>
          </p:cNvSpPr>
          <p:nvPr>
            <p:ph type="body" sz="quarter" idx="12"/>
          </p:nvPr>
        </p:nvSpPr>
        <p:spPr/>
        <p:txBody>
          <a:bodyPr/>
          <a:lstStyle/>
          <a:p>
            <a:r>
              <a:rPr lang="nl-NL"/>
              <a:t> </a:t>
            </a:r>
          </a:p>
        </p:txBody>
      </p:sp>
      <p:sp>
        <p:nvSpPr>
          <p:cNvPr id="17410" name="Rectangle 2"/>
          <p:cNvSpPr>
            <a:spLocks noChangeArrowheads="1"/>
          </p:cNvSpPr>
          <p:nvPr/>
        </p:nvSpPr>
        <p:spPr bwMode="auto">
          <a:xfrm>
            <a:off x="4" y="-184665"/>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456988"/>
            <a:endParaRPr lang="en-GB">
              <a:solidFill>
                <a:prstClr val="black"/>
              </a:solidFill>
              <a:latin typeface="Corbel"/>
            </a:endParaRPr>
          </a:p>
        </p:txBody>
      </p:sp>
      <p:sp>
        <p:nvSpPr>
          <p:cNvPr id="21" name="Rounded Rectangle 10">
            <a:hlinkClick r:id="" action="ppaction://noaction"/>
          </p:cNvPr>
          <p:cNvSpPr/>
          <p:nvPr/>
        </p:nvSpPr>
        <p:spPr>
          <a:xfrm>
            <a:off x="1855061" y="4881344"/>
            <a:ext cx="891335" cy="28795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algn="ctr" defTabSz="914378">
              <a:lnSpc>
                <a:spcPct val="110000"/>
              </a:lnSpc>
            </a:pPr>
            <a:r>
              <a:rPr lang="en-GB" sz="800" b="1" kern="0">
                <a:solidFill>
                  <a:prstClr val="white"/>
                </a:solidFill>
                <a:latin typeface="Myriad Pro"/>
                <a:cs typeface="Myriad Pro"/>
              </a:rPr>
              <a:t>3. Process</a:t>
            </a:r>
          </a:p>
          <a:p>
            <a:pPr algn="ctr" defTabSz="914378">
              <a:lnSpc>
                <a:spcPct val="110000"/>
              </a:lnSpc>
            </a:pPr>
            <a:endParaRPr lang="en-GB" sz="800" b="1" kern="0">
              <a:solidFill>
                <a:prstClr val="white"/>
              </a:solidFill>
              <a:latin typeface="Myriad Pro"/>
              <a:cs typeface="Myriad Pro"/>
            </a:endParaRPr>
          </a:p>
        </p:txBody>
      </p:sp>
      <p:sp>
        <p:nvSpPr>
          <p:cNvPr id="13" name="Line Callout 1 12"/>
          <p:cNvSpPr/>
          <p:nvPr/>
        </p:nvSpPr>
        <p:spPr>
          <a:xfrm>
            <a:off x="8026401" y="1121079"/>
            <a:ext cx="792548" cy="711200"/>
          </a:xfrm>
          <a:prstGeom prst="borderCallout1">
            <a:avLst>
              <a:gd name="adj1" fmla="val 18750"/>
              <a:gd name="adj2" fmla="val -8333"/>
              <a:gd name="adj3" fmla="val 41835"/>
              <a:gd name="adj4" fmla="val -139973"/>
            </a:avLst>
          </a:prstGeom>
          <a:noFill/>
          <a:ln w="28575" cap="rnd" cmpd="sng" algn="ctr">
            <a:solidFill>
              <a:srgbClr val="C00000"/>
            </a:solidFill>
            <a:prstDash val="solid"/>
          </a:ln>
          <a:effectLst/>
        </p:spPr>
        <p:txBody>
          <a:bodyPr rtlCol="0" anchor="ctr"/>
          <a:lstStyle/>
          <a:p>
            <a:pPr algn="ctr" defTabSz="456988"/>
            <a:r>
              <a:rPr lang="en-GB" sz="1100">
                <a:solidFill>
                  <a:srgbClr val="5E6A71"/>
                </a:solidFill>
                <a:latin typeface="Corbel"/>
              </a:rPr>
              <a:t>Scope of this PSA</a:t>
            </a:r>
            <a:endParaRPr lang="en-US" sz="1100">
              <a:solidFill>
                <a:srgbClr val="5E6A71"/>
              </a:solidFill>
              <a:latin typeface="Corbel"/>
            </a:endParaRPr>
          </a:p>
        </p:txBody>
      </p:sp>
      <p:sp>
        <p:nvSpPr>
          <p:cNvPr id="9" name="Freeform: Shape 8">
            <a:extLst>
              <a:ext uri="{FF2B5EF4-FFF2-40B4-BE49-F238E27FC236}">
                <a16:creationId xmlns:a16="http://schemas.microsoft.com/office/drawing/2014/main" id="{46574C79-742D-8380-6D46-43B0979314BA}"/>
              </a:ext>
            </a:extLst>
          </p:cNvPr>
          <p:cNvSpPr/>
          <p:nvPr/>
        </p:nvSpPr>
        <p:spPr>
          <a:xfrm>
            <a:off x="2305051" y="940323"/>
            <a:ext cx="4580732" cy="2125070"/>
          </a:xfrm>
          <a:custGeom>
            <a:avLst/>
            <a:gdLst>
              <a:gd name="connsiteX0" fmla="*/ 0 w 6006153"/>
              <a:gd name="connsiteY0" fmla="*/ 0 h 2833426"/>
              <a:gd name="connsiteX1" fmla="*/ 3624543 w 6006153"/>
              <a:gd name="connsiteY1" fmla="*/ 0 h 2833426"/>
              <a:gd name="connsiteX2" fmla="*/ 3624543 w 6006153"/>
              <a:gd name="connsiteY2" fmla="*/ 624881 h 2833426"/>
              <a:gd name="connsiteX3" fmla="*/ 6006153 w 6006153"/>
              <a:gd name="connsiteY3" fmla="*/ 624881 h 2833426"/>
              <a:gd name="connsiteX4" fmla="*/ 6006153 w 6006153"/>
              <a:gd name="connsiteY4" fmla="*/ 2833426 h 2833426"/>
              <a:gd name="connsiteX5" fmla="*/ 3624543 w 6006153"/>
              <a:gd name="connsiteY5" fmla="*/ 2833426 h 2833426"/>
              <a:gd name="connsiteX6" fmla="*/ 0 w 6006153"/>
              <a:gd name="connsiteY6" fmla="*/ 2833426 h 283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6153" h="2833426">
                <a:moveTo>
                  <a:pt x="0" y="0"/>
                </a:moveTo>
                <a:lnTo>
                  <a:pt x="3624543" y="0"/>
                </a:lnTo>
                <a:lnTo>
                  <a:pt x="3624543" y="624881"/>
                </a:lnTo>
                <a:lnTo>
                  <a:pt x="6006153" y="624881"/>
                </a:lnTo>
                <a:lnTo>
                  <a:pt x="6006153" y="2833426"/>
                </a:lnTo>
                <a:lnTo>
                  <a:pt x="3624543" y="2833426"/>
                </a:lnTo>
                <a:lnTo>
                  <a:pt x="0" y="2833426"/>
                </a:lnTo>
                <a:close/>
              </a:path>
            </a:pathLst>
          </a:custGeom>
          <a:noFill/>
          <a:ln w="28575" cap="rnd" cmpd="sng" algn="ctr">
            <a:solidFill>
              <a:srgbClr val="C00000"/>
            </a:solidFill>
            <a:prstDash val="solid"/>
          </a:ln>
          <a:effectLst/>
        </p:spPr>
        <p:txBody>
          <a:bodyPr wrap="square" rtlCol="0" anchor="ctr">
            <a:noAutofit/>
          </a:bodyPr>
          <a:lstStyle/>
          <a:p>
            <a:pPr algn="ctr" defTabSz="456988"/>
            <a:endParaRPr lang="en-IN" sz="1100">
              <a:solidFill>
                <a:srgbClr val="5E6A71"/>
              </a:solidFill>
              <a:latin typeface="Corbel"/>
            </a:endParaRPr>
          </a:p>
        </p:txBody>
      </p:sp>
      <p:sp>
        <p:nvSpPr>
          <p:cNvPr id="5" name="Rectangle 4">
            <a:extLst>
              <a:ext uri="{FF2B5EF4-FFF2-40B4-BE49-F238E27FC236}">
                <a16:creationId xmlns:a16="http://schemas.microsoft.com/office/drawing/2014/main" id="{D71AA4E2-9BA4-1391-54CD-237E68D888A3}"/>
              </a:ext>
            </a:extLst>
          </p:cNvPr>
          <p:cNvSpPr/>
          <p:nvPr/>
        </p:nvSpPr>
        <p:spPr>
          <a:xfrm>
            <a:off x="7023101" y="2747893"/>
            <a:ext cx="2006600" cy="1962076"/>
          </a:xfrm>
          <a:prstGeom prst="rect">
            <a:avLst/>
          </a:prstGeom>
          <a:ln>
            <a:solidFill>
              <a:schemeClr val="bg1">
                <a:lumMod val="75000"/>
              </a:schemeClr>
            </a:solidFill>
          </a:ln>
        </p:spPr>
        <p:txBody>
          <a:bodyPr wrap="square">
            <a:spAutoFit/>
          </a:bodyPr>
          <a:lstStyle/>
          <a:p>
            <a:pPr defTabSz="456988"/>
            <a:r>
              <a:rPr lang="en-US" sz="1050">
                <a:solidFill>
                  <a:srgbClr val="5E6A71"/>
                </a:solidFill>
                <a:latin typeface="Corbel"/>
              </a:rPr>
              <a:t>In this view the following target Business Functions have been included:</a:t>
            </a:r>
          </a:p>
          <a:p>
            <a:pPr marL="171446" indent="-171446" defTabSz="456988">
              <a:buFontTx/>
              <a:buChar char="-"/>
            </a:pPr>
            <a:r>
              <a:rPr lang="en-US" sz="1050" b="1">
                <a:solidFill>
                  <a:srgbClr val="5E6A71"/>
                </a:solidFill>
                <a:latin typeface="Corbel"/>
              </a:rPr>
              <a:t>Defined Data Management: </a:t>
            </a:r>
            <a:r>
              <a:rPr lang="en-US" sz="800" b="1">
                <a:solidFill>
                  <a:prstClr val="white">
                    <a:lumMod val="50000"/>
                  </a:prstClr>
                </a:solidFill>
                <a:latin typeface="Corbel"/>
              </a:rPr>
              <a:t>Providing complete defined data</a:t>
            </a:r>
          </a:p>
          <a:p>
            <a:pPr marL="171446" indent="-171446" defTabSz="456988">
              <a:buFontTx/>
              <a:buChar char="-"/>
            </a:pPr>
            <a:r>
              <a:rPr lang="en-GB" sz="1050" b="1">
                <a:solidFill>
                  <a:srgbClr val="5E6A71"/>
                </a:solidFill>
                <a:latin typeface="Corbel"/>
              </a:rPr>
              <a:t>Model Execution</a:t>
            </a:r>
            <a:r>
              <a:rPr lang="en-US" sz="1050" b="1">
                <a:solidFill>
                  <a:srgbClr val="5E6A71"/>
                </a:solidFill>
                <a:latin typeface="Corbel"/>
              </a:rPr>
              <a:t>: </a:t>
            </a:r>
            <a:r>
              <a:rPr lang="en-US" sz="800" b="1">
                <a:solidFill>
                  <a:prstClr val="white">
                    <a:lumMod val="50000"/>
                  </a:prstClr>
                </a:solidFill>
                <a:latin typeface="Corbel"/>
              </a:rPr>
              <a:t>Responsible to Execute Risk models </a:t>
            </a:r>
          </a:p>
          <a:p>
            <a:pPr marL="171446" indent="-171446" defTabSz="456988">
              <a:buFontTx/>
              <a:buChar char="-"/>
            </a:pPr>
            <a:r>
              <a:rPr lang="en-US" sz="1050" b="1">
                <a:solidFill>
                  <a:srgbClr val="5E6A71"/>
                </a:solidFill>
                <a:latin typeface="Corbel"/>
              </a:rPr>
              <a:t>Data disclosure: </a:t>
            </a:r>
            <a:r>
              <a:rPr lang="en-US" sz="800" b="1">
                <a:solidFill>
                  <a:prstClr val="white">
                    <a:lumMod val="50000"/>
                  </a:prstClr>
                </a:solidFill>
                <a:latin typeface="Corbel"/>
              </a:rPr>
              <a:t>Responsible to execute data acquisition</a:t>
            </a:r>
          </a:p>
          <a:p>
            <a:pPr marL="171446" indent="-171446" defTabSz="456988">
              <a:buFontTx/>
              <a:buChar char="-"/>
            </a:pPr>
            <a:r>
              <a:rPr lang="en-US" sz="1050" b="1">
                <a:solidFill>
                  <a:srgbClr val="5E6A71"/>
                </a:solidFill>
                <a:latin typeface="Corbel"/>
              </a:rPr>
              <a:t>Model Orchestration: </a:t>
            </a:r>
            <a:r>
              <a:rPr lang="en-US" sz="800" b="1">
                <a:solidFill>
                  <a:prstClr val="white">
                    <a:lumMod val="50000"/>
                  </a:prstClr>
                </a:solidFill>
                <a:latin typeface="Corbel"/>
              </a:rPr>
              <a:t>Responsible for Data management of Model i/o data And Providing verified risk metrics</a:t>
            </a:r>
          </a:p>
        </p:txBody>
      </p:sp>
      <p:pic>
        <p:nvPicPr>
          <p:cNvPr id="12" name="Picture 11">
            <a:extLst>
              <a:ext uri="{FF2B5EF4-FFF2-40B4-BE49-F238E27FC236}">
                <a16:creationId xmlns:a16="http://schemas.microsoft.com/office/drawing/2014/main" id="{C2BD82E1-9DD8-42E0-4EB5-FE674F2D696F}"/>
              </a:ext>
            </a:extLst>
          </p:cNvPr>
          <p:cNvPicPr>
            <a:picLocks noChangeAspect="1"/>
          </p:cNvPicPr>
          <p:nvPr/>
        </p:nvPicPr>
        <p:blipFill>
          <a:blip r:embed="rId4"/>
          <a:stretch>
            <a:fillRect/>
          </a:stretch>
        </p:blipFill>
        <p:spPr>
          <a:xfrm>
            <a:off x="7076593" y="796138"/>
            <a:ext cx="792549" cy="1877731"/>
          </a:xfrm>
          <a:prstGeom prst="rect">
            <a:avLst/>
          </a:prstGeom>
        </p:spPr>
      </p:pic>
    </p:spTree>
    <p:extLst>
      <p:ext uri="{BB962C8B-B14F-4D97-AF65-F5344CB8AC3E}">
        <p14:creationId xmlns:p14="http://schemas.microsoft.com/office/powerpoint/2010/main" val="32308548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9869DF-FDDB-71A2-EB22-13478E4F09E2}"/>
              </a:ext>
            </a:extLst>
          </p:cNvPr>
          <p:cNvPicPr>
            <a:picLocks noChangeAspect="1"/>
          </p:cNvPicPr>
          <p:nvPr/>
        </p:nvPicPr>
        <p:blipFill>
          <a:blip r:embed="rId3"/>
          <a:stretch>
            <a:fillRect/>
          </a:stretch>
        </p:blipFill>
        <p:spPr>
          <a:xfrm>
            <a:off x="501649" y="921149"/>
            <a:ext cx="6467107" cy="3145754"/>
          </a:xfrm>
          <a:prstGeom prst="rect">
            <a:avLst/>
          </a:prstGeom>
        </p:spPr>
      </p:pic>
      <p:sp>
        <p:nvSpPr>
          <p:cNvPr id="3" name="Title 2"/>
          <p:cNvSpPr>
            <a:spLocks noGrp="1"/>
          </p:cNvSpPr>
          <p:nvPr>
            <p:ph type="title"/>
          </p:nvPr>
        </p:nvSpPr>
        <p:spPr>
          <a:xfrm>
            <a:off x="475813" y="121201"/>
            <a:ext cx="7804149" cy="570893"/>
          </a:xfrm>
        </p:spPr>
        <p:txBody>
          <a:bodyPr/>
          <a:lstStyle/>
          <a:p>
            <a:r>
              <a:rPr lang="en-GB" sz="2400"/>
              <a:t>3.2 n-Bridge </a:t>
            </a:r>
            <a:r>
              <a:rPr lang="en-US" sz="2400"/>
              <a:t>Monthly run - </a:t>
            </a:r>
            <a:r>
              <a:rPr lang="en-GB" sz="2400"/>
              <a:t>Tactical Business process view</a:t>
            </a:r>
            <a:r>
              <a:rPr lang="en-US" sz="2400"/>
              <a:t> </a:t>
            </a:r>
            <a:endParaRPr lang="en-GB" sz="2400"/>
          </a:p>
        </p:txBody>
      </p:sp>
      <p:sp>
        <p:nvSpPr>
          <p:cNvPr id="6" name="Tijdelijke aanduiding voor tekst 5"/>
          <p:cNvSpPr>
            <a:spLocks noGrp="1"/>
          </p:cNvSpPr>
          <p:nvPr>
            <p:ph type="body" sz="quarter" idx="12"/>
          </p:nvPr>
        </p:nvSpPr>
        <p:spPr/>
        <p:txBody>
          <a:bodyPr/>
          <a:lstStyle/>
          <a:p>
            <a:r>
              <a:rPr lang="nl-NL"/>
              <a:t> </a:t>
            </a:r>
          </a:p>
        </p:txBody>
      </p:sp>
      <p:sp>
        <p:nvSpPr>
          <p:cNvPr id="17410" name="Rectangle 2"/>
          <p:cNvSpPr>
            <a:spLocks noChangeArrowheads="1"/>
          </p:cNvSpPr>
          <p:nvPr/>
        </p:nvSpPr>
        <p:spPr bwMode="auto">
          <a:xfrm>
            <a:off x="4" y="-184665"/>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456988"/>
            <a:endParaRPr lang="en-GB">
              <a:solidFill>
                <a:prstClr val="black"/>
              </a:solidFill>
              <a:latin typeface="Corbel"/>
            </a:endParaRPr>
          </a:p>
        </p:txBody>
      </p:sp>
      <p:sp>
        <p:nvSpPr>
          <p:cNvPr id="21" name="Rounded Rectangle 10">
            <a:hlinkClick r:id="" action="ppaction://noaction"/>
          </p:cNvPr>
          <p:cNvSpPr/>
          <p:nvPr/>
        </p:nvSpPr>
        <p:spPr>
          <a:xfrm>
            <a:off x="1855061" y="4881344"/>
            <a:ext cx="891335" cy="28795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algn="ctr" defTabSz="914378">
              <a:lnSpc>
                <a:spcPct val="110000"/>
              </a:lnSpc>
            </a:pPr>
            <a:r>
              <a:rPr lang="en-GB" sz="800" b="1" kern="0">
                <a:solidFill>
                  <a:prstClr val="white"/>
                </a:solidFill>
                <a:latin typeface="Myriad Pro"/>
                <a:cs typeface="Myriad Pro"/>
              </a:rPr>
              <a:t>3. Process</a:t>
            </a:r>
          </a:p>
          <a:p>
            <a:pPr algn="ctr" defTabSz="914378">
              <a:lnSpc>
                <a:spcPct val="110000"/>
              </a:lnSpc>
            </a:pPr>
            <a:endParaRPr lang="en-GB" sz="800" b="1" kern="0">
              <a:solidFill>
                <a:prstClr val="white"/>
              </a:solidFill>
              <a:latin typeface="Myriad Pro"/>
              <a:cs typeface="Myriad Pro"/>
            </a:endParaRPr>
          </a:p>
        </p:txBody>
      </p:sp>
      <p:sp>
        <p:nvSpPr>
          <p:cNvPr id="16" name="Rectangle 15"/>
          <p:cNvSpPr/>
          <p:nvPr/>
        </p:nvSpPr>
        <p:spPr>
          <a:xfrm>
            <a:off x="7086601" y="3065393"/>
            <a:ext cx="2006600" cy="1677382"/>
          </a:xfrm>
          <a:prstGeom prst="rect">
            <a:avLst/>
          </a:prstGeom>
          <a:ln>
            <a:solidFill>
              <a:schemeClr val="bg1">
                <a:lumMod val="75000"/>
              </a:schemeClr>
            </a:solidFill>
          </a:ln>
        </p:spPr>
        <p:txBody>
          <a:bodyPr wrap="square">
            <a:spAutoFit/>
          </a:bodyPr>
          <a:lstStyle/>
          <a:p>
            <a:pPr defTabSz="456988"/>
            <a:r>
              <a:rPr lang="en-US" sz="1050">
                <a:solidFill>
                  <a:srgbClr val="5E6A71"/>
                </a:solidFill>
                <a:latin typeface="Corbel"/>
              </a:rPr>
              <a:t>In this view the following target Business Functions have been included:</a:t>
            </a:r>
          </a:p>
          <a:p>
            <a:pPr marL="171446" indent="-171446" defTabSz="456988">
              <a:buFontTx/>
              <a:buChar char="-"/>
            </a:pPr>
            <a:r>
              <a:rPr lang="en-US" sz="1050" b="1">
                <a:solidFill>
                  <a:srgbClr val="5E6A71"/>
                </a:solidFill>
                <a:latin typeface="Corbel"/>
              </a:rPr>
              <a:t>Defined Data Management: </a:t>
            </a:r>
            <a:r>
              <a:rPr lang="en-US" sz="800" b="1">
                <a:solidFill>
                  <a:prstClr val="white">
                    <a:lumMod val="50000"/>
                  </a:prstClr>
                </a:solidFill>
                <a:latin typeface="Corbel"/>
              </a:rPr>
              <a:t>Providing verified model input data</a:t>
            </a:r>
          </a:p>
          <a:p>
            <a:pPr marL="171446" indent="-171446" defTabSz="456988">
              <a:buFontTx/>
              <a:buChar char="-"/>
            </a:pPr>
            <a:r>
              <a:rPr lang="en-GB" sz="1050" b="1">
                <a:solidFill>
                  <a:srgbClr val="5E6A71"/>
                </a:solidFill>
                <a:latin typeface="Corbel"/>
              </a:rPr>
              <a:t>Model Execution</a:t>
            </a:r>
            <a:r>
              <a:rPr lang="en-US" sz="1050" b="1">
                <a:solidFill>
                  <a:srgbClr val="5E6A71"/>
                </a:solidFill>
                <a:latin typeface="Corbel"/>
              </a:rPr>
              <a:t>: </a:t>
            </a:r>
            <a:r>
              <a:rPr lang="en-US" sz="800" b="1">
                <a:solidFill>
                  <a:prstClr val="white">
                    <a:lumMod val="50000"/>
                  </a:prstClr>
                </a:solidFill>
                <a:latin typeface="Corbel"/>
              </a:rPr>
              <a:t>Responsible to Execute Risk models </a:t>
            </a:r>
          </a:p>
          <a:p>
            <a:pPr marL="171446" indent="-171446" defTabSz="456988">
              <a:buFontTx/>
              <a:buChar char="-"/>
            </a:pPr>
            <a:r>
              <a:rPr lang="en-US" sz="1050" b="1">
                <a:solidFill>
                  <a:srgbClr val="5E6A71"/>
                </a:solidFill>
                <a:latin typeface="Corbel"/>
              </a:rPr>
              <a:t>Model Orchestration: </a:t>
            </a:r>
            <a:r>
              <a:rPr lang="en-US" sz="800" b="1">
                <a:solidFill>
                  <a:prstClr val="white">
                    <a:lumMod val="50000"/>
                  </a:prstClr>
                </a:solidFill>
                <a:latin typeface="Corbel"/>
              </a:rPr>
              <a:t>Responsible for Data management of Model i/o data And Providing verified risk metrics</a:t>
            </a:r>
          </a:p>
        </p:txBody>
      </p:sp>
      <p:sp>
        <p:nvSpPr>
          <p:cNvPr id="13" name="Line Callout 1 12"/>
          <p:cNvSpPr/>
          <p:nvPr/>
        </p:nvSpPr>
        <p:spPr>
          <a:xfrm>
            <a:off x="8164287" y="958162"/>
            <a:ext cx="706949" cy="711200"/>
          </a:xfrm>
          <a:prstGeom prst="borderCallout1">
            <a:avLst>
              <a:gd name="adj1" fmla="val 18750"/>
              <a:gd name="adj2" fmla="val -8333"/>
              <a:gd name="adj3" fmla="val 103442"/>
              <a:gd name="adj4" fmla="val -178901"/>
            </a:avLst>
          </a:prstGeom>
          <a:noFill/>
          <a:ln w="28575" cap="rnd" cmpd="sng" algn="ctr">
            <a:solidFill>
              <a:srgbClr val="C00000"/>
            </a:solidFill>
            <a:prstDash val="solid"/>
          </a:ln>
          <a:effectLst/>
        </p:spPr>
        <p:txBody>
          <a:bodyPr rtlCol="0" anchor="ctr"/>
          <a:lstStyle/>
          <a:p>
            <a:pPr algn="ctr" defTabSz="456988"/>
            <a:r>
              <a:rPr lang="en-GB" sz="1100">
                <a:solidFill>
                  <a:srgbClr val="5E6A71"/>
                </a:solidFill>
                <a:latin typeface="Corbel"/>
              </a:rPr>
              <a:t>Scope of this PSA</a:t>
            </a:r>
            <a:endParaRPr lang="en-US" sz="1100">
              <a:solidFill>
                <a:srgbClr val="5E6A71"/>
              </a:solidFill>
              <a:latin typeface="Corbel"/>
            </a:endParaRPr>
          </a:p>
        </p:txBody>
      </p:sp>
      <p:sp>
        <p:nvSpPr>
          <p:cNvPr id="11" name="Freeform: Shape 10">
            <a:extLst>
              <a:ext uri="{FF2B5EF4-FFF2-40B4-BE49-F238E27FC236}">
                <a16:creationId xmlns:a16="http://schemas.microsoft.com/office/drawing/2014/main" id="{D2A70263-27C8-E261-2574-00CA20C98B43}"/>
              </a:ext>
            </a:extLst>
          </p:cNvPr>
          <p:cNvSpPr/>
          <p:nvPr/>
        </p:nvSpPr>
        <p:spPr>
          <a:xfrm>
            <a:off x="2914651" y="1077456"/>
            <a:ext cx="3997135" cy="2316619"/>
          </a:xfrm>
          <a:custGeom>
            <a:avLst/>
            <a:gdLst>
              <a:gd name="connsiteX0" fmla="*/ 0 w 3997135"/>
              <a:gd name="connsiteY0" fmla="*/ 0 h 2316619"/>
              <a:gd name="connsiteX1" fmla="*/ 2793818 w 3997135"/>
              <a:gd name="connsiteY1" fmla="*/ 0 h 2316619"/>
              <a:gd name="connsiteX2" fmla="*/ 2793818 w 3997135"/>
              <a:gd name="connsiteY2" fmla="*/ 598709 h 2316619"/>
              <a:gd name="connsiteX3" fmla="*/ 3997135 w 3997135"/>
              <a:gd name="connsiteY3" fmla="*/ 598709 h 2316619"/>
              <a:gd name="connsiteX4" fmla="*/ 3997135 w 3997135"/>
              <a:gd name="connsiteY4" fmla="*/ 2316619 h 2316619"/>
              <a:gd name="connsiteX5" fmla="*/ 2793818 w 3997135"/>
              <a:gd name="connsiteY5" fmla="*/ 2316619 h 2316619"/>
              <a:gd name="connsiteX6" fmla="*/ 952236 w 3997135"/>
              <a:gd name="connsiteY6" fmla="*/ 2316619 h 2316619"/>
              <a:gd name="connsiteX7" fmla="*/ 0 w 3997135"/>
              <a:gd name="connsiteY7" fmla="*/ 2316619 h 231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7135" h="2316619">
                <a:moveTo>
                  <a:pt x="0" y="0"/>
                </a:moveTo>
                <a:lnTo>
                  <a:pt x="2793818" y="0"/>
                </a:lnTo>
                <a:lnTo>
                  <a:pt x="2793818" y="598709"/>
                </a:lnTo>
                <a:lnTo>
                  <a:pt x="3997135" y="598709"/>
                </a:lnTo>
                <a:lnTo>
                  <a:pt x="3997135" y="2316619"/>
                </a:lnTo>
                <a:lnTo>
                  <a:pt x="2793818" y="2316619"/>
                </a:lnTo>
                <a:lnTo>
                  <a:pt x="952236" y="2316619"/>
                </a:lnTo>
                <a:lnTo>
                  <a:pt x="0" y="2316619"/>
                </a:lnTo>
                <a:close/>
              </a:path>
            </a:pathLst>
          </a:custGeom>
          <a:noFill/>
          <a:ln w="28575" cap="rnd" cmpd="sng" algn="ctr">
            <a:solidFill>
              <a:srgbClr val="C00000"/>
            </a:solidFill>
            <a:prstDash val="solid"/>
          </a:ln>
          <a:effectLst/>
        </p:spPr>
        <p:txBody>
          <a:bodyPr wrap="square" rtlCol="0" anchor="ctr">
            <a:noAutofit/>
          </a:bodyPr>
          <a:lstStyle/>
          <a:p>
            <a:pPr algn="ctr" defTabSz="456988"/>
            <a:endParaRPr lang="en-IN" sz="1100">
              <a:solidFill>
                <a:srgbClr val="5E6A71"/>
              </a:solidFill>
              <a:latin typeface="Corbel"/>
            </a:endParaRPr>
          </a:p>
        </p:txBody>
      </p:sp>
      <p:sp>
        <p:nvSpPr>
          <p:cNvPr id="12" name="Rectangle 11">
            <a:extLst>
              <a:ext uri="{FF2B5EF4-FFF2-40B4-BE49-F238E27FC236}">
                <a16:creationId xmlns:a16="http://schemas.microsoft.com/office/drawing/2014/main" id="{4E868A7F-3BD3-CB50-EB8D-F32E7FCDE246}"/>
              </a:ext>
            </a:extLst>
          </p:cNvPr>
          <p:cNvSpPr/>
          <p:nvPr/>
        </p:nvSpPr>
        <p:spPr>
          <a:xfrm>
            <a:off x="475144" y="566833"/>
            <a:ext cx="8167207" cy="276999"/>
          </a:xfrm>
          <a:prstGeom prst="rect">
            <a:avLst/>
          </a:prstGeom>
        </p:spPr>
        <p:txBody>
          <a:bodyPr wrap="square">
            <a:spAutoFit/>
          </a:bodyPr>
          <a:lstStyle/>
          <a:p>
            <a:r>
              <a:rPr lang="en-GB" sz="1200">
                <a:solidFill>
                  <a:schemeClr val="accent2"/>
                </a:solidFill>
              </a:rPr>
              <a:t>GRFD1 being the provider of STO | Applicable to RSME &amp; RMM</a:t>
            </a:r>
          </a:p>
        </p:txBody>
      </p:sp>
      <p:pic>
        <p:nvPicPr>
          <p:cNvPr id="8" name="Picture 7">
            <a:extLst>
              <a:ext uri="{FF2B5EF4-FFF2-40B4-BE49-F238E27FC236}">
                <a16:creationId xmlns:a16="http://schemas.microsoft.com/office/drawing/2014/main" id="{1730CEF2-0FD6-7DC8-E4D6-8E03C3ACE68C}"/>
              </a:ext>
            </a:extLst>
          </p:cNvPr>
          <p:cNvPicPr>
            <a:picLocks noChangeAspect="1"/>
          </p:cNvPicPr>
          <p:nvPr/>
        </p:nvPicPr>
        <p:blipFill>
          <a:blip r:embed="rId4"/>
          <a:stretch>
            <a:fillRect/>
          </a:stretch>
        </p:blipFill>
        <p:spPr>
          <a:xfrm>
            <a:off x="7086601" y="1077456"/>
            <a:ext cx="790616" cy="1880247"/>
          </a:xfrm>
          <a:prstGeom prst="rect">
            <a:avLst/>
          </a:prstGeom>
        </p:spPr>
      </p:pic>
    </p:spTree>
    <p:extLst>
      <p:ext uri="{BB962C8B-B14F-4D97-AF65-F5344CB8AC3E}">
        <p14:creationId xmlns:p14="http://schemas.microsoft.com/office/powerpoint/2010/main" val="1117515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52BC25-D499-53C8-332B-7BEFBB658939}"/>
              </a:ext>
            </a:extLst>
          </p:cNvPr>
          <p:cNvPicPr>
            <a:picLocks noChangeAspect="1"/>
          </p:cNvPicPr>
          <p:nvPr/>
        </p:nvPicPr>
        <p:blipFill>
          <a:blip r:embed="rId3"/>
          <a:stretch>
            <a:fillRect/>
          </a:stretch>
        </p:blipFill>
        <p:spPr>
          <a:xfrm>
            <a:off x="501649" y="878863"/>
            <a:ext cx="6484926" cy="3350629"/>
          </a:xfrm>
          <a:prstGeom prst="rect">
            <a:avLst/>
          </a:prstGeom>
        </p:spPr>
      </p:pic>
      <p:sp>
        <p:nvSpPr>
          <p:cNvPr id="3" name="Title 2"/>
          <p:cNvSpPr>
            <a:spLocks noGrp="1"/>
          </p:cNvSpPr>
          <p:nvPr>
            <p:ph type="title"/>
          </p:nvPr>
        </p:nvSpPr>
        <p:spPr>
          <a:xfrm>
            <a:off x="475813" y="121201"/>
            <a:ext cx="7804149" cy="570893"/>
          </a:xfrm>
        </p:spPr>
        <p:txBody>
          <a:bodyPr/>
          <a:lstStyle/>
          <a:p>
            <a:r>
              <a:rPr lang="en-GB" sz="2400"/>
              <a:t>3.2 n-Bridge </a:t>
            </a:r>
            <a:r>
              <a:rPr lang="en-US" sz="2400"/>
              <a:t>Monthly run - </a:t>
            </a:r>
            <a:r>
              <a:rPr lang="en-GB" sz="2400"/>
              <a:t>Tactical Business process view</a:t>
            </a:r>
            <a:r>
              <a:rPr lang="en-US" sz="2400"/>
              <a:t> </a:t>
            </a:r>
            <a:endParaRPr lang="en-GB" sz="2400"/>
          </a:p>
        </p:txBody>
      </p:sp>
      <p:sp>
        <p:nvSpPr>
          <p:cNvPr id="6" name="Tijdelijke aanduiding voor tekst 5"/>
          <p:cNvSpPr>
            <a:spLocks noGrp="1"/>
          </p:cNvSpPr>
          <p:nvPr>
            <p:ph type="body" sz="quarter" idx="12"/>
          </p:nvPr>
        </p:nvSpPr>
        <p:spPr/>
        <p:txBody>
          <a:bodyPr/>
          <a:lstStyle/>
          <a:p>
            <a:r>
              <a:rPr lang="nl-NL"/>
              <a:t> </a:t>
            </a:r>
          </a:p>
        </p:txBody>
      </p:sp>
      <p:sp>
        <p:nvSpPr>
          <p:cNvPr id="17410" name="Rectangle 2"/>
          <p:cNvSpPr>
            <a:spLocks noChangeArrowheads="1"/>
          </p:cNvSpPr>
          <p:nvPr/>
        </p:nvSpPr>
        <p:spPr bwMode="auto">
          <a:xfrm>
            <a:off x="4" y="-184665"/>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456988"/>
            <a:endParaRPr lang="en-GB">
              <a:solidFill>
                <a:prstClr val="black"/>
              </a:solidFill>
              <a:latin typeface="Corbel"/>
            </a:endParaRPr>
          </a:p>
        </p:txBody>
      </p:sp>
      <p:sp>
        <p:nvSpPr>
          <p:cNvPr id="21" name="Rounded Rectangle 10">
            <a:hlinkClick r:id="" action="ppaction://noaction"/>
          </p:cNvPr>
          <p:cNvSpPr/>
          <p:nvPr/>
        </p:nvSpPr>
        <p:spPr>
          <a:xfrm>
            <a:off x="1855061" y="4881344"/>
            <a:ext cx="891335" cy="28795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algn="ctr" defTabSz="914378">
              <a:lnSpc>
                <a:spcPct val="110000"/>
              </a:lnSpc>
            </a:pPr>
            <a:r>
              <a:rPr lang="en-GB" sz="800" b="1" kern="0">
                <a:solidFill>
                  <a:prstClr val="white"/>
                </a:solidFill>
                <a:latin typeface="Myriad Pro"/>
                <a:cs typeface="Myriad Pro"/>
              </a:rPr>
              <a:t>3. Process</a:t>
            </a:r>
          </a:p>
          <a:p>
            <a:pPr algn="ctr" defTabSz="914378">
              <a:lnSpc>
                <a:spcPct val="110000"/>
              </a:lnSpc>
            </a:pPr>
            <a:endParaRPr lang="en-GB" sz="800" b="1" kern="0">
              <a:solidFill>
                <a:prstClr val="white"/>
              </a:solidFill>
              <a:latin typeface="Myriad Pro"/>
              <a:cs typeface="Myriad Pro"/>
            </a:endParaRPr>
          </a:p>
        </p:txBody>
      </p:sp>
      <p:sp>
        <p:nvSpPr>
          <p:cNvPr id="16" name="Rectangle 15"/>
          <p:cNvSpPr/>
          <p:nvPr/>
        </p:nvSpPr>
        <p:spPr>
          <a:xfrm>
            <a:off x="7086601" y="3065393"/>
            <a:ext cx="2006600" cy="1677382"/>
          </a:xfrm>
          <a:prstGeom prst="rect">
            <a:avLst/>
          </a:prstGeom>
          <a:ln>
            <a:solidFill>
              <a:schemeClr val="bg1">
                <a:lumMod val="75000"/>
              </a:schemeClr>
            </a:solidFill>
          </a:ln>
        </p:spPr>
        <p:txBody>
          <a:bodyPr wrap="square">
            <a:spAutoFit/>
          </a:bodyPr>
          <a:lstStyle/>
          <a:p>
            <a:pPr defTabSz="456988"/>
            <a:r>
              <a:rPr lang="en-US" sz="1050">
                <a:solidFill>
                  <a:srgbClr val="5E6A71"/>
                </a:solidFill>
                <a:latin typeface="Corbel"/>
              </a:rPr>
              <a:t>In this view the following target Business Functions have been included:</a:t>
            </a:r>
          </a:p>
          <a:p>
            <a:pPr marL="171446" indent="-171446" defTabSz="456988">
              <a:buFontTx/>
              <a:buChar char="-"/>
            </a:pPr>
            <a:r>
              <a:rPr lang="en-US" sz="1050" b="1">
                <a:solidFill>
                  <a:srgbClr val="5E6A71"/>
                </a:solidFill>
                <a:latin typeface="Corbel"/>
              </a:rPr>
              <a:t>Defined Data Management: </a:t>
            </a:r>
            <a:r>
              <a:rPr lang="en-US" sz="800" b="1">
                <a:solidFill>
                  <a:prstClr val="white">
                    <a:lumMod val="50000"/>
                  </a:prstClr>
                </a:solidFill>
                <a:latin typeface="Corbel"/>
              </a:rPr>
              <a:t>Providing verified model input data</a:t>
            </a:r>
          </a:p>
          <a:p>
            <a:pPr marL="171446" indent="-171446" defTabSz="456988">
              <a:buFontTx/>
              <a:buChar char="-"/>
            </a:pPr>
            <a:r>
              <a:rPr lang="en-GB" sz="1050" b="1">
                <a:solidFill>
                  <a:srgbClr val="5E6A71"/>
                </a:solidFill>
                <a:latin typeface="Corbel"/>
              </a:rPr>
              <a:t>Model Execution</a:t>
            </a:r>
            <a:r>
              <a:rPr lang="en-US" sz="1050" b="1">
                <a:solidFill>
                  <a:srgbClr val="5E6A71"/>
                </a:solidFill>
                <a:latin typeface="Corbel"/>
              </a:rPr>
              <a:t>: </a:t>
            </a:r>
            <a:r>
              <a:rPr lang="en-US" sz="800" b="1">
                <a:solidFill>
                  <a:prstClr val="white">
                    <a:lumMod val="50000"/>
                  </a:prstClr>
                </a:solidFill>
                <a:latin typeface="Corbel"/>
              </a:rPr>
              <a:t>Responsible to Execute Risk models </a:t>
            </a:r>
          </a:p>
          <a:p>
            <a:pPr marL="171446" indent="-171446" defTabSz="456988">
              <a:buFontTx/>
              <a:buChar char="-"/>
            </a:pPr>
            <a:r>
              <a:rPr lang="en-US" sz="1050" b="1">
                <a:solidFill>
                  <a:srgbClr val="5E6A71"/>
                </a:solidFill>
                <a:latin typeface="Corbel"/>
              </a:rPr>
              <a:t>Model Orchestration: </a:t>
            </a:r>
            <a:r>
              <a:rPr lang="en-US" sz="800" b="1">
                <a:solidFill>
                  <a:prstClr val="white">
                    <a:lumMod val="50000"/>
                  </a:prstClr>
                </a:solidFill>
                <a:latin typeface="Corbel"/>
              </a:rPr>
              <a:t>Responsible for Data management of Model </a:t>
            </a:r>
            <a:r>
              <a:rPr lang="en-US" sz="800" b="1" err="1">
                <a:solidFill>
                  <a:prstClr val="white">
                    <a:lumMod val="50000"/>
                  </a:prstClr>
                </a:solidFill>
                <a:latin typeface="Corbel"/>
              </a:rPr>
              <a:t>i</a:t>
            </a:r>
            <a:r>
              <a:rPr lang="en-US" sz="800" b="1">
                <a:solidFill>
                  <a:prstClr val="white">
                    <a:lumMod val="50000"/>
                  </a:prstClr>
                </a:solidFill>
                <a:latin typeface="Corbel"/>
              </a:rPr>
              <a:t>/o data And Providing verified risk metrics</a:t>
            </a:r>
          </a:p>
        </p:txBody>
      </p:sp>
      <p:sp>
        <p:nvSpPr>
          <p:cNvPr id="13" name="Line Callout 1 12"/>
          <p:cNvSpPr/>
          <p:nvPr/>
        </p:nvSpPr>
        <p:spPr>
          <a:xfrm>
            <a:off x="8132233" y="1289464"/>
            <a:ext cx="876310" cy="711200"/>
          </a:xfrm>
          <a:prstGeom prst="borderCallout1">
            <a:avLst>
              <a:gd name="adj1" fmla="val 18750"/>
              <a:gd name="adj2" fmla="val -8333"/>
              <a:gd name="adj3" fmla="val 67665"/>
              <a:gd name="adj4" fmla="val -134848"/>
            </a:avLst>
          </a:prstGeom>
          <a:noFill/>
          <a:ln w="28575" cap="rnd" cmpd="sng" algn="ctr">
            <a:solidFill>
              <a:srgbClr val="C00000"/>
            </a:solidFill>
            <a:prstDash val="solid"/>
          </a:ln>
          <a:effectLst/>
        </p:spPr>
        <p:txBody>
          <a:bodyPr rtlCol="0" anchor="ctr"/>
          <a:lstStyle/>
          <a:p>
            <a:pPr algn="ctr" defTabSz="456988"/>
            <a:r>
              <a:rPr lang="en-GB" sz="1100">
                <a:solidFill>
                  <a:srgbClr val="5E6A71"/>
                </a:solidFill>
                <a:latin typeface="Corbel"/>
              </a:rPr>
              <a:t>Scope of this PSA</a:t>
            </a:r>
            <a:endParaRPr lang="en-US" sz="1100">
              <a:solidFill>
                <a:srgbClr val="5E6A71"/>
              </a:solidFill>
              <a:latin typeface="Corbel"/>
            </a:endParaRPr>
          </a:p>
        </p:txBody>
      </p:sp>
      <p:sp>
        <p:nvSpPr>
          <p:cNvPr id="15" name="Freeform: Shape 14">
            <a:extLst>
              <a:ext uri="{FF2B5EF4-FFF2-40B4-BE49-F238E27FC236}">
                <a16:creationId xmlns:a16="http://schemas.microsoft.com/office/drawing/2014/main" id="{53F99EC7-7E16-0AE5-632F-1D242417A9DE}"/>
              </a:ext>
            </a:extLst>
          </p:cNvPr>
          <p:cNvSpPr/>
          <p:nvPr/>
        </p:nvSpPr>
        <p:spPr>
          <a:xfrm>
            <a:off x="2935438" y="1077456"/>
            <a:ext cx="3997158" cy="2093265"/>
          </a:xfrm>
          <a:custGeom>
            <a:avLst/>
            <a:gdLst>
              <a:gd name="connsiteX0" fmla="*/ 0 w 3997158"/>
              <a:gd name="connsiteY0" fmla="*/ 0 h 2093265"/>
              <a:gd name="connsiteX1" fmla="*/ 2006600 w 3997158"/>
              <a:gd name="connsiteY1" fmla="*/ 0 h 2093265"/>
              <a:gd name="connsiteX2" fmla="*/ 2006600 w 3997158"/>
              <a:gd name="connsiteY2" fmla="*/ 598087 h 2093265"/>
              <a:gd name="connsiteX3" fmla="*/ 3997158 w 3997158"/>
              <a:gd name="connsiteY3" fmla="*/ 598087 h 2093265"/>
              <a:gd name="connsiteX4" fmla="*/ 3997158 w 3997158"/>
              <a:gd name="connsiteY4" fmla="*/ 2093264 h 2093265"/>
              <a:gd name="connsiteX5" fmla="*/ 2006600 w 3997158"/>
              <a:gd name="connsiteY5" fmla="*/ 2093264 h 2093265"/>
              <a:gd name="connsiteX6" fmla="*/ 2006600 w 3997158"/>
              <a:gd name="connsiteY6" fmla="*/ 2093265 h 2093265"/>
              <a:gd name="connsiteX7" fmla="*/ 0 w 3997158"/>
              <a:gd name="connsiteY7" fmla="*/ 2093265 h 209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7158" h="2093265">
                <a:moveTo>
                  <a:pt x="0" y="0"/>
                </a:moveTo>
                <a:lnTo>
                  <a:pt x="2006600" y="0"/>
                </a:lnTo>
                <a:lnTo>
                  <a:pt x="2006600" y="598087"/>
                </a:lnTo>
                <a:lnTo>
                  <a:pt x="3997158" y="598087"/>
                </a:lnTo>
                <a:lnTo>
                  <a:pt x="3997158" y="2093264"/>
                </a:lnTo>
                <a:lnTo>
                  <a:pt x="2006600" y="2093264"/>
                </a:lnTo>
                <a:lnTo>
                  <a:pt x="2006600" y="2093265"/>
                </a:lnTo>
                <a:lnTo>
                  <a:pt x="0" y="2093265"/>
                </a:lnTo>
                <a:close/>
              </a:path>
            </a:pathLst>
          </a:custGeom>
          <a:noFill/>
          <a:ln w="28575" cap="rnd" cmpd="sng" algn="ctr">
            <a:solidFill>
              <a:srgbClr val="C00000"/>
            </a:solidFill>
            <a:prstDash val="solid"/>
          </a:ln>
          <a:effectLst/>
        </p:spPr>
        <p:txBody>
          <a:bodyPr wrap="square" rtlCol="0" anchor="ctr">
            <a:noAutofit/>
          </a:bodyPr>
          <a:lstStyle/>
          <a:p>
            <a:pPr algn="ctr" defTabSz="456988"/>
            <a:endParaRPr lang="LID4096" sz="1100">
              <a:solidFill>
                <a:srgbClr val="5E6A71"/>
              </a:solidFill>
              <a:latin typeface="Corbel"/>
            </a:endParaRPr>
          </a:p>
        </p:txBody>
      </p:sp>
      <p:sp>
        <p:nvSpPr>
          <p:cNvPr id="17" name="Rectangle 16">
            <a:extLst>
              <a:ext uri="{FF2B5EF4-FFF2-40B4-BE49-F238E27FC236}">
                <a16:creationId xmlns:a16="http://schemas.microsoft.com/office/drawing/2014/main" id="{EFB4BE6E-5857-957A-DAE5-C2D2AF6F795C}"/>
              </a:ext>
            </a:extLst>
          </p:cNvPr>
          <p:cNvSpPr/>
          <p:nvPr/>
        </p:nvSpPr>
        <p:spPr>
          <a:xfrm>
            <a:off x="475144" y="566833"/>
            <a:ext cx="8167207" cy="276999"/>
          </a:xfrm>
          <a:prstGeom prst="rect">
            <a:avLst/>
          </a:prstGeom>
        </p:spPr>
        <p:txBody>
          <a:bodyPr wrap="square">
            <a:spAutoFit/>
          </a:bodyPr>
          <a:lstStyle/>
          <a:p>
            <a:r>
              <a:rPr lang="en-GB" sz="1200">
                <a:solidFill>
                  <a:schemeClr val="accent2"/>
                </a:solidFill>
              </a:rPr>
              <a:t>GRFD2 being the provider of STO || Currently applicable to CF, Rural, FS and SL&amp;I portfolios</a:t>
            </a:r>
          </a:p>
        </p:txBody>
      </p:sp>
      <p:pic>
        <p:nvPicPr>
          <p:cNvPr id="7" name="Picture 6">
            <a:extLst>
              <a:ext uri="{FF2B5EF4-FFF2-40B4-BE49-F238E27FC236}">
                <a16:creationId xmlns:a16="http://schemas.microsoft.com/office/drawing/2014/main" id="{A72F297A-ADFF-39DE-0E16-41E14C21A104}"/>
              </a:ext>
            </a:extLst>
          </p:cNvPr>
          <p:cNvPicPr>
            <a:picLocks noChangeAspect="1"/>
          </p:cNvPicPr>
          <p:nvPr/>
        </p:nvPicPr>
        <p:blipFill>
          <a:blip r:embed="rId4"/>
          <a:stretch>
            <a:fillRect/>
          </a:stretch>
        </p:blipFill>
        <p:spPr>
          <a:xfrm>
            <a:off x="7086601" y="992547"/>
            <a:ext cx="790616" cy="1880247"/>
          </a:xfrm>
          <a:prstGeom prst="rect">
            <a:avLst/>
          </a:prstGeom>
        </p:spPr>
      </p:pic>
    </p:spTree>
    <p:extLst>
      <p:ext uri="{BB962C8B-B14F-4D97-AF65-F5344CB8AC3E}">
        <p14:creationId xmlns:p14="http://schemas.microsoft.com/office/powerpoint/2010/main" val="27149904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322F06-4CCE-6E05-7EA7-06702BEFFB74}"/>
              </a:ext>
            </a:extLst>
          </p:cNvPr>
          <p:cNvPicPr>
            <a:picLocks noChangeAspect="1"/>
          </p:cNvPicPr>
          <p:nvPr/>
        </p:nvPicPr>
        <p:blipFill>
          <a:blip r:embed="rId3"/>
          <a:stretch>
            <a:fillRect/>
          </a:stretch>
        </p:blipFill>
        <p:spPr>
          <a:xfrm>
            <a:off x="436471" y="575130"/>
            <a:ext cx="6110812" cy="4195101"/>
          </a:xfrm>
          <a:prstGeom prst="rect">
            <a:avLst/>
          </a:prstGeom>
        </p:spPr>
      </p:pic>
      <p:sp>
        <p:nvSpPr>
          <p:cNvPr id="3" name="Title 2"/>
          <p:cNvSpPr>
            <a:spLocks noGrp="1"/>
          </p:cNvSpPr>
          <p:nvPr>
            <p:ph type="title"/>
          </p:nvPr>
        </p:nvSpPr>
        <p:spPr>
          <a:xfrm>
            <a:off x="475813" y="121201"/>
            <a:ext cx="7804149" cy="570893"/>
          </a:xfrm>
        </p:spPr>
        <p:txBody>
          <a:bodyPr/>
          <a:lstStyle/>
          <a:p>
            <a:r>
              <a:rPr lang="en-GB" sz="2400"/>
              <a:t>3.2 n-Bridge </a:t>
            </a:r>
            <a:r>
              <a:rPr lang="en-US" sz="2400"/>
              <a:t>Ad-Hoc run – </a:t>
            </a:r>
            <a:r>
              <a:rPr lang="en-US" sz="2000" i="1" u="sng"/>
              <a:t>Indicative</a:t>
            </a:r>
            <a:r>
              <a:rPr lang="en-US" sz="2000"/>
              <a:t> Target </a:t>
            </a:r>
            <a:r>
              <a:rPr lang="en-GB" sz="2000"/>
              <a:t>Business process view</a:t>
            </a:r>
            <a:r>
              <a:rPr lang="en-US" sz="2000"/>
              <a:t> </a:t>
            </a:r>
            <a:endParaRPr lang="en-GB" sz="2400"/>
          </a:p>
        </p:txBody>
      </p:sp>
      <p:sp>
        <p:nvSpPr>
          <p:cNvPr id="6" name="Tijdelijke aanduiding voor tekst 5"/>
          <p:cNvSpPr>
            <a:spLocks noGrp="1"/>
          </p:cNvSpPr>
          <p:nvPr>
            <p:ph type="body" sz="quarter" idx="12"/>
          </p:nvPr>
        </p:nvSpPr>
        <p:spPr/>
        <p:txBody>
          <a:bodyPr/>
          <a:lstStyle/>
          <a:p>
            <a:r>
              <a:rPr lang="nl-NL"/>
              <a:t> </a:t>
            </a:r>
          </a:p>
        </p:txBody>
      </p:sp>
      <p:sp>
        <p:nvSpPr>
          <p:cNvPr id="17410" name="Rectangle 2"/>
          <p:cNvSpPr>
            <a:spLocks noChangeArrowheads="1"/>
          </p:cNvSpPr>
          <p:nvPr/>
        </p:nvSpPr>
        <p:spPr bwMode="auto">
          <a:xfrm>
            <a:off x="4" y="-184665"/>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defTabSz="456988"/>
            <a:endParaRPr lang="en-GB">
              <a:solidFill>
                <a:prstClr val="black"/>
              </a:solidFill>
              <a:latin typeface="Corbel"/>
            </a:endParaRPr>
          </a:p>
        </p:txBody>
      </p:sp>
      <p:sp>
        <p:nvSpPr>
          <p:cNvPr id="21" name="Rounded Rectangle 10">
            <a:hlinkClick r:id="" action="ppaction://noaction"/>
          </p:cNvPr>
          <p:cNvSpPr/>
          <p:nvPr/>
        </p:nvSpPr>
        <p:spPr>
          <a:xfrm>
            <a:off x="1855061" y="4881344"/>
            <a:ext cx="891335" cy="28795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algn="ctr" defTabSz="914378">
              <a:lnSpc>
                <a:spcPct val="110000"/>
              </a:lnSpc>
            </a:pPr>
            <a:r>
              <a:rPr lang="en-GB" sz="800" b="1" kern="0">
                <a:solidFill>
                  <a:prstClr val="white"/>
                </a:solidFill>
                <a:latin typeface="Myriad Pro"/>
                <a:cs typeface="Myriad Pro"/>
              </a:rPr>
              <a:t>3. Process</a:t>
            </a:r>
          </a:p>
          <a:p>
            <a:pPr algn="ctr" defTabSz="914378">
              <a:lnSpc>
                <a:spcPct val="110000"/>
              </a:lnSpc>
            </a:pPr>
            <a:endParaRPr lang="en-GB" sz="800" b="1" kern="0">
              <a:solidFill>
                <a:prstClr val="white"/>
              </a:solidFill>
              <a:latin typeface="Myriad Pro"/>
              <a:cs typeface="Myriad Pro"/>
            </a:endParaRPr>
          </a:p>
        </p:txBody>
      </p:sp>
      <p:sp>
        <p:nvSpPr>
          <p:cNvPr id="14" name="Freeform: Shape 13">
            <a:extLst>
              <a:ext uri="{FF2B5EF4-FFF2-40B4-BE49-F238E27FC236}">
                <a16:creationId xmlns:a16="http://schemas.microsoft.com/office/drawing/2014/main" id="{83E1148B-3F6F-528B-BB33-F0B96DA8F6C1}"/>
              </a:ext>
            </a:extLst>
          </p:cNvPr>
          <p:cNvSpPr/>
          <p:nvPr/>
        </p:nvSpPr>
        <p:spPr>
          <a:xfrm>
            <a:off x="2331721" y="813294"/>
            <a:ext cx="4215564" cy="2795815"/>
          </a:xfrm>
          <a:custGeom>
            <a:avLst/>
            <a:gdLst>
              <a:gd name="connsiteX0" fmla="*/ 0 w 5165890"/>
              <a:gd name="connsiteY0" fmla="*/ 0 h 3278909"/>
              <a:gd name="connsiteX1" fmla="*/ 3186260 w 5165890"/>
              <a:gd name="connsiteY1" fmla="*/ 0 h 3278909"/>
              <a:gd name="connsiteX2" fmla="*/ 3186260 w 5165890"/>
              <a:gd name="connsiteY2" fmla="*/ 1012758 h 3278909"/>
              <a:gd name="connsiteX3" fmla="*/ 5165890 w 5165890"/>
              <a:gd name="connsiteY3" fmla="*/ 1012758 h 3278909"/>
              <a:gd name="connsiteX4" fmla="*/ 5165890 w 5165890"/>
              <a:gd name="connsiteY4" fmla="*/ 3278909 h 3278909"/>
              <a:gd name="connsiteX5" fmla="*/ 3186260 w 5165890"/>
              <a:gd name="connsiteY5" fmla="*/ 3278909 h 3278909"/>
              <a:gd name="connsiteX6" fmla="*/ 1721678 w 5165890"/>
              <a:gd name="connsiteY6" fmla="*/ 3278909 h 3278909"/>
              <a:gd name="connsiteX7" fmla="*/ 0 w 5165890"/>
              <a:gd name="connsiteY7" fmla="*/ 3278909 h 327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5890" h="3278909">
                <a:moveTo>
                  <a:pt x="0" y="0"/>
                </a:moveTo>
                <a:lnTo>
                  <a:pt x="3186260" y="0"/>
                </a:lnTo>
                <a:lnTo>
                  <a:pt x="3186260" y="1012758"/>
                </a:lnTo>
                <a:lnTo>
                  <a:pt x="5165890" y="1012758"/>
                </a:lnTo>
                <a:lnTo>
                  <a:pt x="5165890" y="3278909"/>
                </a:lnTo>
                <a:lnTo>
                  <a:pt x="3186260" y="3278909"/>
                </a:lnTo>
                <a:lnTo>
                  <a:pt x="1721678" y="3278909"/>
                </a:lnTo>
                <a:lnTo>
                  <a:pt x="0" y="3278909"/>
                </a:lnTo>
                <a:close/>
              </a:path>
            </a:pathLst>
          </a:custGeom>
          <a:noFill/>
          <a:ln w="28575" cap="rnd" cmpd="sng" algn="ctr">
            <a:solidFill>
              <a:srgbClr val="C00000"/>
            </a:solidFill>
            <a:prstDash val="solid"/>
          </a:ln>
          <a:effectLst/>
        </p:spPr>
        <p:txBody>
          <a:bodyPr wrap="square" rtlCol="0" anchor="ctr">
            <a:noAutofit/>
          </a:bodyPr>
          <a:lstStyle/>
          <a:p>
            <a:pPr algn="ctr" defTabSz="456988"/>
            <a:endParaRPr lang="en-IN" sz="1100">
              <a:solidFill>
                <a:srgbClr val="5E6A71"/>
              </a:solidFill>
              <a:latin typeface="Corbel"/>
            </a:endParaRPr>
          </a:p>
        </p:txBody>
      </p:sp>
      <p:sp>
        <p:nvSpPr>
          <p:cNvPr id="12" name="Rectangle 11">
            <a:extLst>
              <a:ext uri="{FF2B5EF4-FFF2-40B4-BE49-F238E27FC236}">
                <a16:creationId xmlns:a16="http://schemas.microsoft.com/office/drawing/2014/main" id="{F3679DDB-6CF7-9F22-560B-D2C675082EE2}"/>
              </a:ext>
            </a:extLst>
          </p:cNvPr>
          <p:cNvSpPr/>
          <p:nvPr/>
        </p:nvSpPr>
        <p:spPr>
          <a:xfrm>
            <a:off x="6761878" y="3146880"/>
            <a:ext cx="2268259" cy="1631216"/>
          </a:xfrm>
          <a:prstGeom prst="rect">
            <a:avLst/>
          </a:prstGeom>
          <a:ln>
            <a:solidFill>
              <a:schemeClr val="bg1">
                <a:lumMod val="75000"/>
              </a:schemeClr>
            </a:solidFill>
          </a:ln>
        </p:spPr>
        <p:txBody>
          <a:bodyPr wrap="square">
            <a:spAutoFit/>
          </a:bodyPr>
          <a:lstStyle/>
          <a:p>
            <a:pPr defTabSz="456988"/>
            <a:r>
              <a:rPr lang="en-US" sz="900">
                <a:solidFill>
                  <a:srgbClr val="5E6A71"/>
                </a:solidFill>
                <a:latin typeface="Corbel"/>
              </a:rPr>
              <a:t>In this view the following target Business Functions have been included:</a:t>
            </a:r>
          </a:p>
          <a:p>
            <a:pPr marL="171446" indent="-171446" defTabSz="456988">
              <a:buFontTx/>
              <a:buChar char="-"/>
            </a:pPr>
            <a:r>
              <a:rPr lang="en-US" sz="900" b="1">
                <a:solidFill>
                  <a:srgbClr val="5E6A71"/>
                </a:solidFill>
                <a:latin typeface="Corbel"/>
              </a:rPr>
              <a:t>Defined Data Management: </a:t>
            </a:r>
            <a:r>
              <a:rPr lang="en-US" sz="700" b="1">
                <a:solidFill>
                  <a:prstClr val="white">
                    <a:lumMod val="50000"/>
                  </a:prstClr>
                </a:solidFill>
                <a:latin typeface="Corbel"/>
              </a:rPr>
              <a:t>Providing complete defined data</a:t>
            </a:r>
          </a:p>
          <a:p>
            <a:pPr marL="171446" indent="-171446" defTabSz="456988">
              <a:buFontTx/>
              <a:buChar char="-"/>
            </a:pPr>
            <a:r>
              <a:rPr lang="en-GB" sz="900" b="1">
                <a:solidFill>
                  <a:srgbClr val="5E6A71"/>
                </a:solidFill>
                <a:latin typeface="Corbel"/>
              </a:rPr>
              <a:t>Model Execution</a:t>
            </a:r>
            <a:r>
              <a:rPr lang="en-US" sz="900" b="1">
                <a:solidFill>
                  <a:srgbClr val="5E6A71"/>
                </a:solidFill>
                <a:latin typeface="Corbel"/>
              </a:rPr>
              <a:t>: </a:t>
            </a:r>
            <a:r>
              <a:rPr lang="en-US" sz="700" b="1">
                <a:solidFill>
                  <a:prstClr val="white">
                    <a:lumMod val="50000"/>
                  </a:prstClr>
                </a:solidFill>
                <a:latin typeface="Corbel"/>
              </a:rPr>
              <a:t>Responsible to Execute Risk models </a:t>
            </a:r>
          </a:p>
          <a:p>
            <a:pPr marL="171446" indent="-171446" defTabSz="456988">
              <a:buFontTx/>
              <a:buChar char="-"/>
            </a:pPr>
            <a:r>
              <a:rPr lang="en-US" sz="900" b="1">
                <a:solidFill>
                  <a:srgbClr val="5E6A71"/>
                </a:solidFill>
                <a:latin typeface="Corbel"/>
              </a:rPr>
              <a:t>Data disclosure: </a:t>
            </a:r>
            <a:r>
              <a:rPr lang="en-US" sz="700" b="1">
                <a:solidFill>
                  <a:prstClr val="white">
                    <a:lumMod val="50000"/>
                  </a:prstClr>
                </a:solidFill>
                <a:latin typeface="Corbel"/>
              </a:rPr>
              <a:t>Responsible to execute data acquisition</a:t>
            </a:r>
          </a:p>
          <a:p>
            <a:pPr marL="171446" indent="-171446" defTabSz="456988">
              <a:buFontTx/>
              <a:buChar char="-"/>
            </a:pPr>
            <a:r>
              <a:rPr lang="en-US" sz="900" b="1">
                <a:solidFill>
                  <a:srgbClr val="5E6A71"/>
                </a:solidFill>
                <a:latin typeface="Corbel"/>
              </a:rPr>
              <a:t>Model Orchestration: </a:t>
            </a:r>
            <a:r>
              <a:rPr lang="en-US" sz="700" b="1">
                <a:solidFill>
                  <a:prstClr val="white">
                    <a:lumMod val="50000"/>
                  </a:prstClr>
                </a:solidFill>
                <a:latin typeface="Corbel"/>
              </a:rPr>
              <a:t>Responsible for configuring ad-hoc n-Bridge run, Data management of Model i/o data, And Providing verified risk metrics</a:t>
            </a:r>
          </a:p>
        </p:txBody>
      </p:sp>
      <p:sp>
        <p:nvSpPr>
          <p:cNvPr id="13" name="Line Callout 1 12"/>
          <p:cNvSpPr/>
          <p:nvPr/>
        </p:nvSpPr>
        <p:spPr>
          <a:xfrm>
            <a:off x="863600" y="862162"/>
            <a:ext cx="966034" cy="570893"/>
          </a:xfrm>
          <a:prstGeom prst="borderCallout1">
            <a:avLst>
              <a:gd name="adj1" fmla="val 35767"/>
              <a:gd name="adj2" fmla="val 101994"/>
              <a:gd name="adj3" fmla="val 74877"/>
              <a:gd name="adj4" fmla="val 141088"/>
            </a:avLst>
          </a:prstGeom>
          <a:noFill/>
          <a:ln w="28575" cap="rnd" cmpd="sng" algn="ctr">
            <a:solidFill>
              <a:srgbClr val="C00000"/>
            </a:solidFill>
            <a:prstDash val="solid"/>
          </a:ln>
          <a:effectLst/>
        </p:spPr>
        <p:txBody>
          <a:bodyPr rtlCol="0" anchor="ctr"/>
          <a:lstStyle/>
          <a:p>
            <a:pPr algn="ctr" defTabSz="456988"/>
            <a:r>
              <a:rPr lang="en-GB" sz="1100">
                <a:solidFill>
                  <a:srgbClr val="5E6A71"/>
                </a:solidFill>
                <a:latin typeface="Corbel"/>
              </a:rPr>
              <a:t>Scope of this PSA</a:t>
            </a:r>
            <a:endParaRPr lang="en-US" sz="1100">
              <a:solidFill>
                <a:srgbClr val="5E6A71"/>
              </a:solidFill>
              <a:latin typeface="Corbel"/>
            </a:endParaRPr>
          </a:p>
        </p:txBody>
      </p:sp>
      <p:pic>
        <p:nvPicPr>
          <p:cNvPr id="8" name="Picture 7">
            <a:extLst>
              <a:ext uri="{FF2B5EF4-FFF2-40B4-BE49-F238E27FC236}">
                <a16:creationId xmlns:a16="http://schemas.microsoft.com/office/drawing/2014/main" id="{EE4F178F-E086-FEF7-7246-652ED40DF881}"/>
              </a:ext>
            </a:extLst>
          </p:cNvPr>
          <p:cNvPicPr>
            <a:picLocks noChangeAspect="1"/>
          </p:cNvPicPr>
          <p:nvPr/>
        </p:nvPicPr>
        <p:blipFill>
          <a:blip r:embed="rId4"/>
          <a:stretch>
            <a:fillRect/>
          </a:stretch>
        </p:blipFill>
        <p:spPr>
          <a:xfrm>
            <a:off x="7049370" y="692094"/>
            <a:ext cx="790616" cy="1880247"/>
          </a:xfrm>
          <a:prstGeom prst="rect">
            <a:avLst/>
          </a:prstGeom>
        </p:spPr>
      </p:pic>
    </p:spTree>
    <p:extLst>
      <p:ext uri="{BB962C8B-B14F-4D97-AF65-F5344CB8AC3E}">
        <p14:creationId xmlns:p14="http://schemas.microsoft.com/office/powerpoint/2010/main" val="10781586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3.2 Special points and/or impact on data/secondary processes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25</a:t>
            </a:fld>
            <a:endParaRPr lang="en-GB"/>
          </a:p>
        </p:txBody>
      </p:sp>
      <p:sp>
        <p:nvSpPr>
          <p:cNvPr id="9" name="Tijdelijke aanduiding voor tekst 8"/>
          <p:cNvSpPr>
            <a:spLocks noGrp="1"/>
          </p:cNvSpPr>
          <p:nvPr>
            <p:ph type="body" sz="quarter" idx="15"/>
          </p:nvPr>
        </p:nvSpPr>
        <p:spPr/>
        <p:txBody>
          <a:bodyPr/>
          <a:lstStyle/>
          <a:p>
            <a:r>
              <a:rPr lang="nl-NL"/>
              <a:t> </a:t>
            </a:r>
          </a:p>
        </p:txBody>
      </p:sp>
      <p:sp>
        <p:nvSpPr>
          <p:cNvPr id="14" name="Tijdelijke aanduiding voor tekst 13"/>
          <p:cNvSpPr>
            <a:spLocks noGrp="1"/>
          </p:cNvSpPr>
          <p:nvPr>
            <p:ph type="body" sz="quarter" idx="13"/>
          </p:nvPr>
        </p:nvSpPr>
        <p:spPr/>
        <p:txBody>
          <a:bodyPr/>
          <a:lstStyle/>
          <a:p>
            <a:r>
              <a:rPr lang="nl-NL"/>
              <a:t> </a:t>
            </a:r>
          </a:p>
        </p:txBody>
      </p:sp>
      <p:sp>
        <p:nvSpPr>
          <p:cNvPr id="17410" name="Rectangle 2"/>
          <p:cNvSpPr>
            <a:spLocks noChangeArrowheads="1"/>
          </p:cNvSpPr>
          <p:nvPr/>
        </p:nvSpPr>
        <p:spPr bwMode="auto">
          <a:xfrm>
            <a:off x="4"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solidFill>
                <a:prstClr val="black"/>
              </a:solidFill>
            </a:endParaRPr>
          </a:p>
        </p:txBody>
      </p:sp>
      <p:graphicFrame>
        <p:nvGraphicFramePr>
          <p:cNvPr id="8" name="Tabel 7"/>
          <p:cNvGraphicFramePr>
            <a:graphicFrameLocks noGrp="1"/>
          </p:cNvGraphicFramePr>
          <p:nvPr>
            <p:extLst>
              <p:ext uri="{D42A27DB-BD31-4B8C-83A1-F6EECF244321}">
                <p14:modId xmlns:p14="http://schemas.microsoft.com/office/powerpoint/2010/main" val="365207596"/>
              </p:ext>
            </p:extLst>
          </p:nvPr>
        </p:nvGraphicFramePr>
        <p:xfrm>
          <a:off x="472085" y="1290384"/>
          <a:ext cx="8091173" cy="3317240"/>
        </p:xfrm>
        <a:graphic>
          <a:graphicData uri="http://schemas.openxmlformats.org/drawingml/2006/table">
            <a:tbl>
              <a:tblPr firstRow="1" bandRow="1">
                <a:tableStyleId>{17292A2E-F333-43FB-9621-5CBBE7FDCDCB}</a:tableStyleId>
              </a:tblPr>
              <a:tblGrid>
                <a:gridCol w="1310640">
                  <a:extLst>
                    <a:ext uri="{9D8B030D-6E8A-4147-A177-3AD203B41FA5}">
                      <a16:colId xmlns:a16="http://schemas.microsoft.com/office/drawing/2014/main" val="20000"/>
                    </a:ext>
                  </a:extLst>
                </a:gridCol>
                <a:gridCol w="3074165">
                  <a:extLst>
                    <a:ext uri="{9D8B030D-6E8A-4147-A177-3AD203B41FA5}">
                      <a16:colId xmlns:a16="http://schemas.microsoft.com/office/drawing/2014/main" val="20001"/>
                    </a:ext>
                  </a:extLst>
                </a:gridCol>
                <a:gridCol w="3706368">
                  <a:extLst>
                    <a:ext uri="{9D8B030D-6E8A-4147-A177-3AD203B41FA5}">
                      <a16:colId xmlns:a16="http://schemas.microsoft.com/office/drawing/2014/main" val="20002"/>
                    </a:ext>
                  </a:extLst>
                </a:gridCol>
              </a:tblGrid>
              <a:tr h="183274">
                <a:tc>
                  <a:txBody>
                    <a:bodyPr/>
                    <a:lstStyle/>
                    <a:p>
                      <a:pPr algn="l" fontAlgn="b"/>
                      <a:r>
                        <a:rPr lang="en-US" sz="1200" i="1" u="none" strike="noStrike" noProof="0">
                          <a:solidFill>
                            <a:schemeClr val="tx1"/>
                          </a:solidFill>
                          <a:effectLst/>
                        </a:rPr>
                        <a:t>Secondary process</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kumimoji="0" lang="en-US" sz="1200" b="1" u="none" strike="noStrike" kern="1200" cap="none" normalizeH="0" baseline="0">
                          <a:ln>
                            <a:noFill/>
                          </a:ln>
                          <a:solidFill>
                            <a:schemeClr val="tx1"/>
                          </a:solidFill>
                          <a:effectLst/>
                          <a:latin typeface="+mn-lt"/>
                          <a:ea typeface="+mn-ea"/>
                          <a:cs typeface="+mn-cs"/>
                        </a:rPr>
                        <a:t>Business object</a:t>
                      </a:r>
                      <a:endParaRPr lang="en-US" sz="1200" b="1" i="1" u="none" strike="noStrike" noProof="0">
                        <a:solidFill>
                          <a:schemeClr val="tx1"/>
                        </a:solidFill>
                        <a:effectLst/>
                        <a:latin typeface="Corbel"/>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Impact</a:t>
                      </a:r>
                      <a:endParaRPr lang="en-US" sz="1200" b="1" i="1" u="none" strike="noStrike" noProof="0">
                        <a:solidFill>
                          <a:schemeClr val="tx1"/>
                        </a:solidFill>
                        <a:effectLst/>
                        <a:latin typeface="Corbel"/>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Compliance monitoring</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&lt; Concerns the (continuity of the) connection with </a:t>
                      </a:r>
                      <a:r>
                        <a:rPr lang="en-US" sz="800">
                          <a:solidFill>
                            <a:schemeClr val="tx1"/>
                          </a:solidFill>
                          <a:effectLst/>
                        </a:rPr>
                        <a:t>the mandatory compliance monitoring process</a:t>
                      </a:r>
                      <a:r>
                        <a:rPr kumimoji="0" lang="en-US" sz="800" b="0" i="0" u="none" strike="noStrike" cap="none" normalizeH="0" baseline="0">
                          <a:ln>
                            <a:noFill/>
                          </a:ln>
                          <a:solidFill>
                            <a:schemeClr val="tx1"/>
                          </a:solidFill>
                          <a:effectLst/>
                          <a:latin typeface="+mn-lt"/>
                        </a:rPr>
                        <a:t>. Overthink all the compliance theme’s: Fraud, Sanction, CDD scanning, Anti Money Laundering,  Market Abuse and Conflicts of Interest. &gt;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Data Logistics and Management Information</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700" b="0" i="0" u="none" strike="noStrike" cap="none" normalizeH="0" baseline="0">
                          <a:ln>
                            <a:noFill/>
                          </a:ln>
                          <a:solidFill>
                            <a:schemeClr val="tx1"/>
                          </a:solidFill>
                          <a:effectLst/>
                          <a:latin typeface="+mn-lt"/>
                        </a:rPr>
                        <a:t>Credit Risk Metrics  -- IRB EAD, LGD, PD, IRB RWA, SA RWA, ECL, RAROC &amp; Stress Testing.</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nBIF  will become responsible for delivering credit risk metrics to the Risk &amp; Finance landscape including CRPR, GRFD(via CFO Hub) etc.</a:t>
                      </a: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3274">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Business Activity Monitoring</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7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&lt; Concerns the (continuity of the) connection with the business activity monitoring process. Overthink this primarily from the  view of a transaction flow. &gt;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3274">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Provide billing information</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endParaRPr kumimoji="0" lang="en-US" sz="800" b="0" i="0" u="none" strike="noStrike" cap="none" normalizeH="0" baseline="0">
                        <a:ln>
                          <a:noFill/>
                        </a:ln>
                        <a:solidFill>
                          <a:srgbClr val="FF0000"/>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&lt; </a:t>
                      </a:r>
                      <a:r>
                        <a:rPr kumimoji="0" lang="en-US" sz="800" b="0" i="0" u="none" strike="noStrike" cap="none" normalizeH="0" baseline="0">
                          <a:ln>
                            <a:noFill/>
                          </a:ln>
                          <a:solidFill>
                            <a:schemeClr val="tx1"/>
                          </a:solidFill>
                          <a:effectLst/>
                          <a:latin typeface="+mn-lt"/>
                        </a:rPr>
                        <a:t>Overthink and argument </a:t>
                      </a:r>
                      <a:r>
                        <a:rPr kumimoji="0" lang="en-US" sz="800" b="0" i="0" u="none" strike="noStrike" kern="1200" cap="none" normalizeH="0" baseline="0">
                          <a:ln>
                            <a:noFill/>
                          </a:ln>
                          <a:solidFill>
                            <a:schemeClr val="tx1"/>
                          </a:solidFill>
                          <a:effectLst/>
                          <a:latin typeface="+mn-lt"/>
                          <a:ea typeface="+mn-ea"/>
                          <a:cs typeface="+mn-cs"/>
                        </a:rPr>
                        <a:t>if you have to feed the client billing application with appropriate data. Define and tune the interface with the owner of the billing application. &gt;</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3274">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Product claims / exception handling</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&lt; Overthink and argument if you need to change or build an interface with a (workflow) system for handling complaints. &gt;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3274">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Financial </a:t>
                      </a:r>
                      <a:r>
                        <a:rPr kumimoji="0" lang="en-US" sz="800" b="0" i="0" u="none" strike="noStrike" cap="none" normalizeH="0" baseline="0" noProof="0">
                          <a:ln>
                            <a:noFill/>
                          </a:ln>
                          <a:solidFill>
                            <a:schemeClr val="tx1"/>
                          </a:solidFill>
                          <a:effectLst/>
                          <a:latin typeface="+mn-lt"/>
                        </a:rPr>
                        <a:t>administration</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&lt; CRG requires to feed the ledgers via the new </a:t>
                      </a:r>
                      <a:r>
                        <a:rPr lang="en-US" sz="800">
                          <a:solidFill>
                            <a:schemeClr val="tx1"/>
                          </a:solidFill>
                          <a:effectLst/>
                        </a:rPr>
                        <a:t>data logistics infrastructure. Follow the approach as by ‘</a:t>
                      </a:r>
                      <a:r>
                        <a:rPr kumimoji="0" lang="en-US" sz="800" b="0" i="0" u="none" strike="noStrike" cap="none" normalizeH="0" baseline="0">
                          <a:ln>
                            <a:noFill/>
                          </a:ln>
                          <a:solidFill>
                            <a:schemeClr val="tx1"/>
                          </a:solidFill>
                          <a:effectLst/>
                          <a:latin typeface="+mn-lt"/>
                        </a:rPr>
                        <a:t>Data Logistics and Management Information’ &gt;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noProof="0">
                          <a:ln>
                            <a:noFill/>
                          </a:ln>
                          <a:solidFill>
                            <a:schemeClr val="tx1"/>
                          </a:solidFill>
                          <a:effectLst/>
                          <a:latin typeface="+mn-lt"/>
                        </a:rPr>
                        <a:t>Compliancy to the </a:t>
                      </a:r>
                      <a:r>
                        <a:rPr lang="en-US" sz="800"/>
                        <a:t>financial framework</a:t>
                      </a:r>
                      <a:endParaRPr kumimoji="0" lang="en-US" sz="800" b="0" i="0" u="none" strike="noStrike" cap="none" normalizeH="0" baseline="0" noProof="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kern="1200">
                          <a:solidFill>
                            <a:schemeClr val="tx1"/>
                          </a:solidFill>
                          <a:effectLst/>
                          <a:latin typeface="+mn-lt"/>
                          <a:ea typeface="+mn-ea"/>
                          <a:cs typeface="+mn-cs"/>
                        </a:rPr>
                        <a:t>&lt; Describe the impact and get your approvement</a:t>
                      </a:r>
                      <a:r>
                        <a:rPr lang="en-US" sz="800" kern="1200" baseline="0">
                          <a:solidFill>
                            <a:schemeClr val="tx1"/>
                          </a:solidFill>
                          <a:effectLst/>
                          <a:latin typeface="+mn-lt"/>
                          <a:ea typeface="+mn-ea"/>
                          <a:cs typeface="+mn-cs"/>
                        </a:rPr>
                        <a:t> from </a:t>
                      </a:r>
                      <a:r>
                        <a:rPr lang="en-US" sz="800" kern="1200">
                          <a:solidFill>
                            <a:schemeClr val="tx1"/>
                          </a:solidFill>
                          <a:effectLst/>
                          <a:latin typeface="+mn-lt"/>
                          <a:ea typeface="+mn-ea"/>
                          <a:cs typeface="+mn-cs"/>
                        </a:rPr>
                        <a:t>the financial architects</a:t>
                      </a:r>
                      <a:r>
                        <a:rPr lang="en-US" sz="800" kern="1200" baseline="0">
                          <a:solidFill>
                            <a:schemeClr val="tx1"/>
                          </a:solidFill>
                          <a:effectLst/>
                          <a:latin typeface="+mn-lt"/>
                          <a:ea typeface="+mn-ea"/>
                          <a:cs typeface="+mn-cs"/>
                        </a:rPr>
                        <a:t> &gt;</a:t>
                      </a:r>
                      <a:endParaRPr lang="en-US" sz="800" kern="1200">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3274">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noProof="0">
                          <a:ln>
                            <a:noFill/>
                          </a:ln>
                          <a:solidFill>
                            <a:schemeClr val="tx1"/>
                          </a:solidFill>
                          <a:effectLst/>
                          <a:latin typeface="+mn-lt"/>
                        </a:rPr>
                        <a:t>Sox-compliancy</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nBIF  Component</a:t>
                      </a:r>
                    </a:p>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Credit Risk Metrics  -- IRB EAD, LGD, PD, IRB RWA, SA RWA, ECL, RAROC</a:t>
                      </a:r>
                      <a:r>
                        <a:rPr kumimoji="0" lang="en-US" sz="800" b="0" i="0" u="none" strike="noStrike" cap="none" normalizeH="0" baseline="0">
                          <a:ln>
                            <a:noFill/>
                          </a:ln>
                          <a:solidFill>
                            <a:srgbClr val="C8009C"/>
                          </a:solidFill>
                          <a:effectLst/>
                          <a:latin typeface="+mn-lt"/>
                        </a:rPr>
                        <a:t> </a:t>
                      </a:r>
                      <a:r>
                        <a:rPr kumimoji="0" lang="en-US" sz="800" b="0" i="0" u="none" strike="noStrike" cap="none" normalizeH="0" baseline="0">
                          <a:ln>
                            <a:noFill/>
                          </a:ln>
                          <a:solidFill>
                            <a:schemeClr val="tx1"/>
                          </a:solidFill>
                          <a:effectLst/>
                          <a:latin typeface="+mn-lt"/>
                        </a:rPr>
                        <a:t>&amp; Stress Testing.</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1" i="0" u="none" strike="noStrike" cap="none" normalizeH="0" baseline="0">
                          <a:ln>
                            <a:noFill/>
                          </a:ln>
                          <a:solidFill>
                            <a:schemeClr val="tx1"/>
                          </a:solidFill>
                          <a:effectLst/>
                          <a:latin typeface="+mn-lt"/>
                        </a:rPr>
                        <a:t>TOM/Control Framework</a:t>
                      </a:r>
                      <a:r>
                        <a:rPr kumimoji="0" lang="en-US" sz="800" b="0" i="0" u="none" strike="noStrike" cap="none" normalizeH="0" baseline="0">
                          <a:ln>
                            <a:noFill/>
                          </a:ln>
                          <a:solidFill>
                            <a:schemeClr val="tx1"/>
                          </a:solidFill>
                          <a:effectLst/>
                          <a:latin typeface="+mn-lt"/>
                        </a:rPr>
                        <a:t>:  nBIF  components need to be added to the control framework. e.g. Bookmarks, archer controls</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12" name="Rounded Rectangle 10">
            <a:hlinkClick r:id="rId3" action="ppaction://hlinksldjump"/>
          </p:cNvPr>
          <p:cNvSpPr/>
          <p:nvPr/>
        </p:nvSpPr>
        <p:spPr>
          <a:xfrm>
            <a:off x="1855060"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3. Process</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2" name="Rectangle 1"/>
          <p:cNvSpPr/>
          <p:nvPr/>
        </p:nvSpPr>
        <p:spPr>
          <a:xfrm>
            <a:off x="472085" y="1569720"/>
            <a:ext cx="8091173" cy="449580"/>
          </a:xfrm>
          <a:prstGeom prst="rect">
            <a:avLst/>
          </a:prstGeom>
          <a:solidFill>
            <a:srgbClr val="EAEAEA">
              <a:alpha val="73000"/>
            </a:srgbClr>
          </a:solidFill>
          <a:ln w="12700" cap="rnd" cmpd="sng" algn="ctr">
            <a:solidFill>
              <a:srgbClr val="EAEAEA"/>
            </a:solidFill>
            <a:prstDash val="solid"/>
          </a:ln>
          <a:effectLst/>
        </p:spPr>
        <p:txBody>
          <a:bodyPr rtlCol="0" anchor="ctr"/>
          <a:lstStyle/>
          <a:p>
            <a:pPr algn="ctr"/>
            <a:endParaRPr lang="en-GB">
              <a:solidFill>
                <a:srgbClr val="5E6A71"/>
              </a:solidFill>
            </a:endParaRPr>
          </a:p>
        </p:txBody>
      </p:sp>
      <p:sp>
        <p:nvSpPr>
          <p:cNvPr id="10" name="Rectangle 9"/>
          <p:cNvSpPr/>
          <p:nvPr/>
        </p:nvSpPr>
        <p:spPr>
          <a:xfrm>
            <a:off x="472084" y="2385060"/>
            <a:ext cx="8091173" cy="1813560"/>
          </a:xfrm>
          <a:prstGeom prst="rect">
            <a:avLst/>
          </a:prstGeom>
          <a:solidFill>
            <a:srgbClr val="EAEAEA">
              <a:alpha val="73000"/>
            </a:srgbClr>
          </a:solidFill>
          <a:ln w="12700" cap="rnd" cmpd="sng" algn="ctr">
            <a:solidFill>
              <a:srgbClr val="EAEAEA"/>
            </a:solidFill>
            <a:prstDash val="solid"/>
          </a:ln>
          <a:effectLst/>
        </p:spPr>
        <p:txBody>
          <a:bodyPr rtlCol="0" anchor="ctr"/>
          <a:lstStyle/>
          <a:p>
            <a:pPr algn="ctr"/>
            <a:endParaRPr lang="en-GB">
              <a:solidFill>
                <a:srgbClr val="5E6A71"/>
              </a:solidFill>
            </a:endParaRPr>
          </a:p>
        </p:txBody>
      </p:sp>
    </p:spTree>
    <p:extLst>
      <p:ext uri="{BB962C8B-B14F-4D97-AF65-F5344CB8AC3E}">
        <p14:creationId xmlns:p14="http://schemas.microsoft.com/office/powerpoint/2010/main" val="2875872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effectLst/>
        </p:spPr>
        <p:txBody>
          <a:bodyPr vert="horz" lIns="0" tIns="0" rIns="0" bIns="0" rtlCol="0" anchor="b">
            <a:spAutoFit/>
          </a:bodyPr>
          <a:lstStyle/>
          <a:p>
            <a:r>
              <a:rPr lang="en-GB"/>
              <a:t>Information Architecture</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8" name="Rounded Rectangle 10">
            <a:hlinkClick r:id="rId2"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132742173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974A53C-7A46-8D26-5229-0ACA623F70B3}"/>
              </a:ext>
            </a:extLst>
          </p:cNvPr>
          <p:cNvPicPr>
            <a:picLocks noChangeAspect="1"/>
          </p:cNvPicPr>
          <p:nvPr/>
        </p:nvPicPr>
        <p:blipFill rotWithShape="1">
          <a:blip r:embed="rId3"/>
          <a:srcRect r="21716" b="11999"/>
          <a:stretch/>
        </p:blipFill>
        <p:spPr>
          <a:xfrm>
            <a:off x="425118" y="1332844"/>
            <a:ext cx="6737552" cy="3402841"/>
          </a:xfrm>
          <a:prstGeom prst="rect">
            <a:avLst/>
          </a:prstGeom>
        </p:spPr>
      </p:pic>
      <p:sp>
        <p:nvSpPr>
          <p:cNvPr id="3" name="Title 2"/>
          <p:cNvSpPr>
            <a:spLocks noGrp="1"/>
          </p:cNvSpPr>
          <p:nvPr>
            <p:ph type="title"/>
          </p:nvPr>
        </p:nvSpPr>
        <p:spPr/>
        <p:txBody>
          <a:bodyPr/>
          <a:lstStyle/>
          <a:p>
            <a:r>
              <a:rPr lang="en-US"/>
              <a:t>4.1 Data architecture (1/3)</a:t>
            </a:r>
          </a:p>
        </p:txBody>
      </p:sp>
      <p:sp>
        <p:nvSpPr>
          <p:cNvPr id="4" name="Slide Number Placeholder 3"/>
          <p:cNvSpPr>
            <a:spLocks noGrp="1"/>
          </p:cNvSpPr>
          <p:nvPr>
            <p:ph type="sldNum" sz="quarter" idx="10"/>
          </p:nvPr>
        </p:nvSpPr>
        <p:spPr/>
        <p:txBody>
          <a:bodyPr/>
          <a:lstStyle/>
          <a:p>
            <a:fld id="{9C7F1ACC-2CE8-4B5A-AF9E-0D67538731EE}" type="slidenum">
              <a:rPr lang="en-US" smtClean="0"/>
              <a:pPr/>
              <a:t>27</a:t>
            </a:fld>
            <a:endParaRPr lang="en-US"/>
          </a:p>
        </p:txBody>
      </p:sp>
      <p:sp>
        <p:nvSpPr>
          <p:cNvPr id="13" name="Rounded Rectangle 10">
            <a:hlinkClick r:id="rId4"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graphicFrame>
        <p:nvGraphicFramePr>
          <p:cNvPr id="8" name="Tabel 11"/>
          <p:cNvGraphicFramePr>
            <a:graphicFrameLocks noGrp="1"/>
          </p:cNvGraphicFramePr>
          <p:nvPr>
            <p:extLst>
              <p:ext uri="{D42A27DB-BD31-4B8C-83A1-F6EECF244321}">
                <p14:modId xmlns:p14="http://schemas.microsoft.com/office/powerpoint/2010/main" val="4095832239"/>
              </p:ext>
            </p:extLst>
          </p:nvPr>
        </p:nvGraphicFramePr>
        <p:xfrm>
          <a:off x="475812" y="668750"/>
          <a:ext cx="8178329" cy="602489"/>
        </p:xfrm>
        <a:graphic>
          <a:graphicData uri="http://schemas.openxmlformats.org/drawingml/2006/table">
            <a:tbl>
              <a:tblPr firstRow="1" bandRow="1">
                <a:tableStyleId>{17292A2E-F333-43FB-9621-5CBBE7FDCDCB}</a:tableStyleId>
              </a:tblPr>
              <a:tblGrid>
                <a:gridCol w="1846472">
                  <a:extLst>
                    <a:ext uri="{9D8B030D-6E8A-4147-A177-3AD203B41FA5}">
                      <a16:colId xmlns:a16="http://schemas.microsoft.com/office/drawing/2014/main" val="20000"/>
                    </a:ext>
                  </a:extLst>
                </a:gridCol>
                <a:gridCol w="6331857">
                  <a:extLst>
                    <a:ext uri="{9D8B030D-6E8A-4147-A177-3AD203B41FA5}">
                      <a16:colId xmlns:a16="http://schemas.microsoft.com/office/drawing/2014/main" val="20001"/>
                    </a:ext>
                  </a:extLst>
                </a:gridCol>
              </a:tblGrid>
              <a:tr h="244361">
                <a:tc>
                  <a:txBody>
                    <a:bodyPr/>
                    <a:lstStyle/>
                    <a:p>
                      <a:pPr marL="0" indent="0" algn="l" fontAlgn="b">
                        <a:buFont typeface="Arial" panose="020B0604020202020204" pitchFamily="34" charset="0"/>
                        <a:buNone/>
                      </a:pPr>
                      <a:r>
                        <a:rPr lang="en-GB" sz="1100" i="1" u="none" strike="noStrike" noProof="0">
                          <a:solidFill>
                            <a:schemeClr val="tx1"/>
                          </a:solidFill>
                          <a:effectLst/>
                        </a:rPr>
                        <a:t>Data Governance Aspect</a:t>
                      </a:r>
                    </a:p>
                  </a:txBody>
                  <a:tcPr marL="49530" marR="49530" marT="49530" marB="4953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marL="0" indent="0" algn="l" fontAlgn="b">
                        <a:buFont typeface="Arial" panose="020B0604020202020204" pitchFamily="34" charset="0"/>
                        <a:buNone/>
                      </a:pPr>
                      <a:r>
                        <a:rPr kumimoji="0" lang="en-GB" sz="1100" b="1" i="1" u="none" strike="noStrike" kern="1200" cap="none" normalizeH="0" baseline="0" noProof="0">
                          <a:ln>
                            <a:noFill/>
                          </a:ln>
                          <a:solidFill>
                            <a:schemeClr val="tx1"/>
                          </a:solidFill>
                          <a:effectLst/>
                          <a:latin typeface="+mn-lt"/>
                          <a:ea typeface="+mn-ea"/>
                          <a:cs typeface="+mn-cs"/>
                        </a:rPr>
                        <a:t>Project impact</a:t>
                      </a:r>
                      <a:endParaRPr lang="en-GB" sz="1100" b="1" i="1" u="none" strike="noStrike" noProof="0">
                        <a:solidFill>
                          <a:schemeClr val="tx1"/>
                        </a:solidFill>
                        <a:effectLst/>
                        <a:latin typeface="Corbel"/>
                      </a:endParaRPr>
                    </a:p>
                  </a:txBody>
                  <a:tcPr marL="49530" marR="49530" marT="49530" marB="4953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26532">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u="none" strike="noStrike" kern="1200" cap="none" normalizeH="0" baseline="0" noProof="0">
                          <a:ln>
                            <a:noFill/>
                          </a:ln>
                          <a:effectLst/>
                        </a:rPr>
                        <a:t>Metadata: Data model &amp; Definitions</a:t>
                      </a:r>
                      <a:endParaRPr kumimoji="0" lang="en-GB" sz="800" b="0" i="0" u="none" strike="noStrike" kern="1200" cap="none" normalizeH="0" baseline="0" noProof="0">
                        <a:ln>
                          <a:noFill/>
                        </a:ln>
                        <a:solidFill>
                          <a:schemeClr val="tx1"/>
                        </a:solidFill>
                        <a:effectLst/>
                        <a:latin typeface="+mn-lt"/>
                        <a:ea typeface="+mn-ea"/>
                        <a:cs typeface="+mn-cs"/>
                      </a:endParaRP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lang="en-GB" sz="800" noProof="0">
                          <a:effectLst/>
                        </a:rPr>
                        <a:t>Business metadata  that include Data model and Data definition of every dataset present on nBIF is defined and published in Collibra using the concepts  (CRR – Consumer Requirement repository, LDD – Logical Data Dictionary &amp; PDD-Physical data dictionary). See below for more info.</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9" name="Text Placeholder 8">
            <a:extLst>
              <a:ext uri="{FF2B5EF4-FFF2-40B4-BE49-F238E27FC236}">
                <a16:creationId xmlns:a16="http://schemas.microsoft.com/office/drawing/2014/main" id="{FD88DB57-F5C6-E9F8-F4BD-F0201C1FF4CF}"/>
              </a:ext>
            </a:extLst>
          </p:cNvPr>
          <p:cNvSpPr>
            <a:spLocks noGrp="1"/>
          </p:cNvSpPr>
          <p:nvPr>
            <p:ph type="body" sz="quarter" idx="13"/>
          </p:nvPr>
        </p:nvSpPr>
        <p:spPr>
          <a:xfrm>
            <a:off x="475812" y="2366963"/>
            <a:ext cx="561960" cy="2107787"/>
          </a:xfrm>
        </p:spPr>
        <p:txBody>
          <a:bodyPr/>
          <a:lstStyle/>
          <a:p>
            <a:pPr marL="0" indent="0"/>
            <a:r>
              <a:rPr lang="en-GB" sz="700" b="1"/>
              <a:t>Find more detailed guidelines at</a:t>
            </a:r>
          </a:p>
          <a:p>
            <a:pPr marL="0" indent="0"/>
            <a:endParaRPr lang="en-GB" sz="700" b="1"/>
          </a:p>
          <a:p>
            <a:pPr marL="0" indent="0"/>
            <a:r>
              <a:rPr lang="en-GB" sz="700">
                <a:hlinkClick r:id="rId5"/>
              </a:rPr>
              <a:t>Credit Analytics - Data Lineage and Collibra - Tribe Credit Analytics - Confluence (rabobank.nl)</a:t>
            </a:r>
            <a:endParaRPr lang="LID4096" sz="700"/>
          </a:p>
        </p:txBody>
      </p:sp>
      <p:pic>
        <p:nvPicPr>
          <p:cNvPr id="20" name="Picture 19">
            <a:extLst>
              <a:ext uri="{FF2B5EF4-FFF2-40B4-BE49-F238E27FC236}">
                <a16:creationId xmlns:a16="http://schemas.microsoft.com/office/drawing/2014/main" id="{D4919E26-AAC3-4AF4-DCD7-5458D03511A0}"/>
              </a:ext>
            </a:extLst>
          </p:cNvPr>
          <p:cNvPicPr>
            <a:picLocks noChangeAspect="1"/>
          </p:cNvPicPr>
          <p:nvPr/>
        </p:nvPicPr>
        <p:blipFill rotWithShape="1">
          <a:blip r:embed="rId3"/>
          <a:srcRect l="78194"/>
          <a:stretch/>
        </p:blipFill>
        <p:spPr>
          <a:xfrm>
            <a:off x="7128479" y="1347497"/>
            <a:ext cx="1622721" cy="3343454"/>
          </a:xfrm>
          <a:prstGeom prst="rect">
            <a:avLst/>
          </a:prstGeom>
        </p:spPr>
      </p:pic>
    </p:spTree>
    <p:extLst>
      <p:ext uri="{BB962C8B-B14F-4D97-AF65-F5344CB8AC3E}">
        <p14:creationId xmlns:p14="http://schemas.microsoft.com/office/powerpoint/2010/main" val="40078079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005CDE1-8044-6C40-372E-EDDE6CE6E381}"/>
              </a:ext>
            </a:extLst>
          </p:cNvPr>
          <p:cNvPicPr>
            <a:picLocks noChangeAspect="1"/>
          </p:cNvPicPr>
          <p:nvPr/>
        </p:nvPicPr>
        <p:blipFill rotWithShape="1">
          <a:blip r:embed="rId3"/>
          <a:srcRect r="33309" b="33560"/>
          <a:stretch/>
        </p:blipFill>
        <p:spPr>
          <a:xfrm>
            <a:off x="4201882" y="1663348"/>
            <a:ext cx="3933374" cy="2338092"/>
          </a:xfrm>
          <a:prstGeom prst="rect">
            <a:avLst/>
          </a:prstGeom>
        </p:spPr>
      </p:pic>
      <p:sp>
        <p:nvSpPr>
          <p:cNvPr id="3" name="Title 2"/>
          <p:cNvSpPr>
            <a:spLocks noGrp="1"/>
          </p:cNvSpPr>
          <p:nvPr>
            <p:ph type="title"/>
          </p:nvPr>
        </p:nvSpPr>
        <p:spPr/>
        <p:txBody>
          <a:bodyPr/>
          <a:lstStyle/>
          <a:p>
            <a:r>
              <a:rPr lang="en-US"/>
              <a:t>4.1 Data architecture (2/3)</a:t>
            </a:r>
          </a:p>
        </p:txBody>
      </p:sp>
      <p:sp>
        <p:nvSpPr>
          <p:cNvPr id="4" name="Slide Number Placeholder 3"/>
          <p:cNvSpPr>
            <a:spLocks noGrp="1"/>
          </p:cNvSpPr>
          <p:nvPr>
            <p:ph type="sldNum" sz="quarter" idx="10"/>
          </p:nvPr>
        </p:nvSpPr>
        <p:spPr/>
        <p:txBody>
          <a:bodyPr/>
          <a:lstStyle/>
          <a:p>
            <a:fld id="{9C7F1ACC-2CE8-4B5A-AF9E-0D67538731EE}" type="slidenum">
              <a:rPr lang="en-US" smtClean="0"/>
              <a:pPr/>
              <a:t>28</a:t>
            </a:fld>
            <a:endParaRPr lang="en-US"/>
          </a:p>
        </p:txBody>
      </p:sp>
      <p:sp>
        <p:nvSpPr>
          <p:cNvPr id="13" name="Rounded Rectangle 10">
            <a:hlinkClick r:id="rId4"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graphicFrame>
        <p:nvGraphicFramePr>
          <p:cNvPr id="2" name="Tabel 11">
            <a:extLst>
              <a:ext uri="{FF2B5EF4-FFF2-40B4-BE49-F238E27FC236}">
                <a16:creationId xmlns:a16="http://schemas.microsoft.com/office/drawing/2014/main" id="{38D0B70D-2269-E188-21B1-21FB74C9BE2B}"/>
              </a:ext>
            </a:extLst>
          </p:cNvPr>
          <p:cNvGraphicFramePr>
            <a:graphicFrameLocks noGrp="1"/>
          </p:cNvGraphicFramePr>
          <p:nvPr>
            <p:extLst>
              <p:ext uri="{D42A27DB-BD31-4B8C-83A1-F6EECF244321}">
                <p14:modId xmlns:p14="http://schemas.microsoft.com/office/powerpoint/2010/main" val="4132676751"/>
              </p:ext>
            </p:extLst>
          </p:nvPr>
        </p:nvGraphicFramePr>
        <p:xfrm>
          <a:off x="475814" y="668749"/>
          <a:ext cx="8178327" cy="3802623"/>
        </p:xfrm>
        <a:graphic>
          <a:graphicData uri="http://schemas.openxmlformats.org/drawingml/2006/table">
            <a:tbl>
              <a:tblPr firstRow="1" bandRow="1">
                <a:tableStyleId>{17292A2E-F333-43FB-9621-5CBBE7FDCDCB}</a:tableStyleId>
              </a:tblPr>
              <a:tblGrid>
                <a:gridCol w="1266359">
                  <a:extLst>
                    <a:ext uri="{9D8B030D-6E8A-4147-A177-3AD203B41FA5}">
                      <a16:colId xmlns:a16="http://schemas.microsoft.com/office/drawing/2014/main" val="20000"/>
                    </a:ext>
                  </a:extLst>
                </a:gridCol>
                <a:gridCol w="6911968">
                  <a:extLst>
                    <a:ext uri="{9D8B030D-6E8A-4147-A177-3AD203B41FA5}">
                      <a16:colId xmlns:a16="http://schemas.microsoft.com/office/drawing/2014/main" val="20001"/>
                    </a:ext>
                  </a:extLst>
                </a:gridCol>
              </a:tblGrid>
              <a:tr h="419425">
                <a:tc>
                  <a:txBody>
                    <a:bodyPr/>
                    <a:lstStyle/>
                    <a:p>
                      <a:pPr marL="0" indent="0" algn="l" fontAlgn="b">
                        <a:buFont typeface="Arial" panose="020B0604020202020204" pitchFamily="34" charset="0"/>
                        <a:buNone/>
                      </a:pPr>
                      <a:r>
                        <a:rPr lang="en-GB" sz="1100" i="1" u="none" strike="noStrike" noProof="0">
                          <a:solidFill>
                            <a:schemeClr val="tx1"/>
                          </a:solidFill>
                          <a:effectLst/>
                        </a:rPr>
                        <a:t>Data Governance Aspect</a:t>
                      </a:r>
                    </a:p>
                  </a:txBody>
                  <a:tcPr marL="49530" marR="49530" marT="49530" marB="4953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marL="0" indent="0" algn="l" fontAlgn="b">
                        <a:buFont typeface="Arial" panose="020B0604020202020204" pitchFamily="34" charset="0"/>
                        <a:buNone/>
                      </a:pPr>
                      <a:r>
                        <a:rPr kumimoji="0" lang="en-GB" sz="1100" b="1" i="1" u="none" strike="noStrike" kern="1200" cap="none" normalizeH="0" baseline="0" noProof="0">
                          <a:ln>
                            <a:noFill/>
                          </a:ln>
                          <a:solidFill>
                            <a:schemeClr val="tx1"/>
                          </a:solidFill>
                          <a:effectLst/>
                          <a:latin typeface="+mn-lt"/>
                          <a:ea typeface="+mn-ea"/>
                          <a:cs typeface="+mn-cs"/>
                        </a:rPr>
                        <a:t>Project impact</a:t>
                      </a:r>
                      <a:endParaRPr lang="en-GB" sz="1100" b="1" i="1" u="none" strike="noStrike" noProof="0">
                        <a:solidFill>
                          <a:schemeClr val="tx1"/>
                        </a:solidFill>
                        <a:effectLst/>
                        <a:latin typeface="Corbel"/>
                      </a:endParaRPr>
                    </a:p>
                  </a:txBody>
                  <a:tcPr marL="49530" marR="49530" marT="49530" marB="4953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368283">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kern="1200" cap="none" normalizeH="0" baseline="0" noProof="0">
                          <a:ln>
                            <a:noFill/>
                          </a:ln>
                          <a:solidFill>
                            <a:schemeClr val="tx1"/>
                          </a:solidFill>
                          <a:effectLst/>
                          <a:latin typeface="+mn-lt"/>
                          <a:ea typeface="+mn-ea"/>
                          <a:cs typeface="+mn-cs"/>
                        </a:rPr>
                        <a:t>Data Lineage / ETL / Data Delivery</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1" i="0" u="sng" strike="noStrike" kern="1200" baseline="0" noProof="0">
                          <a:solidFill>
                            <a:schemeClr val="tx1"/>
                          </a:solidFill>
                          <a:effectLst/>
                          <a:latin typeface="+mn-lt"/>
                          <a:ea typeface="+mn-ea"/>
                          <a:cs typeface="+mn-cs"/>
                        </a:rPr>
                        <a:t>Technical Data Lineage </a:t>
                      </a:r>
                      <a:r>
                        <a:rPr lang="en-GB" sz="800" b="0" i="0" u="none" strike="noStrike" kern="1200" baseline="0" noProof="0">
                          <a:solidFill>
                            <a:schemeClr val="tx1"/>
                          </a:solidFill>
                          <a:effectLst/>
                          <a:latin typeface="+mn-lt"/>
                          <a:ea typeface="+mn-ea"/>
                          <a:cs typeface="+mn-cs"/>
                        </a:rPr>
                        <a:t>–  nBIF will be integrated with Informatica Enterprise Data Catalogue (EDC) to capture end to end technical data lineage. This will be a periodic interface wherein, EDC will read the nBIF codebase to derive &amp; store the technical lineage within EDCs data repository. The derived lineage will be available for access through their web portal. </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noProof="0">
                        <a:effectLst/>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1" u="sng" noProof="0">
                          <a:effectLst/>
                        </a:rPr>
                        <a:t>Operational Data Lineage (Process Lineage)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noProof="0">
                          <a:effectLst/>
                        </a:rPr>
                        <a:t>–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noProof="0">
                          <a:effectLst/>
                        </a:rPr>
                        <a:t>Entire nBIF workflow is driven using a structured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noProof="0">
                          <a:effectLst/>
                        </a:rPr>
                        <a:t>metadata framework (MDF) which captures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noProof="0">
                          <a:effectLst/>
                        </a:rPr>
                        <a:t>operational metadata (data volume, timing,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noProof="0">
                          <a:effectLst/>
                        </a:rPr>
                        <a:t>process step etc) in a dedicated database. </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i="0" u="none" strike="noStrike" kern="1200" baseline="0" noProof="0">
                        <a:solidFill>
                          <a:schemeClr val="tx1"/>
                        </a:solidFill>
                        <a:effectLst/>
                        <a:latin typeface="+mn-lt"/>
                        <a:ea typeface="+mn-ea"/>
                        <a:cs typeface="+mn-cs"/>
                      </a:endParaRPr>
                    </a:p>
                    <a:p>
                      <a:endParaRPr lang="en-GB" sz="800" b="0" i="0" u="none" strike="noStrike" kern="1200" baseline="0" noProof="0">
                        <a:solidFill>
                          <a:schemeClr val="tx1"/>
                        </a:solidFill>
                        <a:effectLst/>
                        <a:latin typeface="+mn-lt"/>
                        <a:ea typeface="+mn-ea"/>
                        <a:cs typeface="+mn-cs"/>
                      </a:endParaRPr>
                    </a:p>
                    <a:p>
                      <a:endParaRPr lang="en-GB" sz="800" b="0" i="0" u="none" strike="noStrike" kern="1200" baseline="0" noProof="0">
                        <a:solidFill>
                          <a:schemeClr val="tx1"/>
                        </a:solidFill>
                        <a:effectLst/>
                        <a:latin typeface="+mn-lt"/>
                        <a:ea typeface="+mn-ea"/>
                        <a:cs typeface="+mn-cs"/>
                      </a:endParaRPr>
                    </a:p>
                    <a:p>
                      <a:r>
                        <a:rPr lang="en-GB" sz="800" b="1" i="0" u="sng" strike="noStrike" kern="1200" baseline="0" noProof="0">
                          <a:solidFill>
                            <a:schemeClr val="tx1"/>
                          </a:solidFill>
                          <a:effectLst/>
                          <a:latin typeface="+mn-lt"/>
                          <a:ea typeface="+mn-ea"/>
                          <a:cs typeface="+mn-cs"/>
                        </a:rPr>
                        <a:t>Data Delivery </a:t>
                      </a:r>
                      <a:r>
                        <a:rPr lang="en-GB" sz="800" b="0" i="0" u="none" strike="noStrike" kern="1200" baseline="0" noProof="0">
                          <a:solidFill>
                            <a:schemeClr val="tx1"/>
                          </a:solidFill>
                          <a:effectLst/>
                          <a:latin typeface="+mn-lt"/>
                          <a:ea typeface="+mn-ea"/>
                          <a:cs typeface="+mn-cs"/>
                        </a:rPr>
                        <a:t>- All source applications in scope are SOX compliant for data exchanges. Meaning for all data movement, logging information will be in place and technically we make sure data delivery is ensured. See Inbound/Outbound interface section for measures specific to each interface.</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93840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4.1 Data architecture (3/3)</a:t>
            </a:r>
          </a:p>
        </p:txBody>
      </p:sp>
      <p:sp>
        <p:nvSpPr>
          <p:cNvPr id="4" name="Slide Number Placeholder 3"/>
          <p:cNvSpPr>
            <a:spLocks noGrp="1"/>
          </p:cNvSpPr>
          <p:nvPr>
            <p:ph type="sldNum" sz="quarter" idx="10"/>
          </p:nvPr>
        </p:nvSpPr>
        <p:spPr/>
        <p:txBody>
          <a:bodyPr/>
          <a:lstStyle/>
          <a:p>
            <a:fld id="{9C7F1ACC-2CE8-4B5A-AF9E-0D67538731EE}" type="slidenum">
              <a:rPr lang="en-US" smtClean="0"/>
              <a:pPr/>
              <a:t>29</a:t>
            </a:fld>
            <a:endParaRPr lang="en-US"/>
          </a:p>
        </p:txBody>
      </p:sp>
      <p:sp>
        <p:nvSpPr>
          <p:cNvPr id="6" name="Tijdelijke aanduiding voor tekst 5"/>
          <p:cNvSpPr>
            <a:spLocks noGrp="1"/>
          </p:cNvSpPr>
          <p:nvPr>
            <p:ph type="body" sz="quarter" idx="15"/>
          </p:nvPr>
        </p:nvSpPr>
        <p:spPr/>
        <p:txBody>
          <a:bodyPr/>
          <a:lstStyle/>
          <a:p>
            <a:r>
              <a:rPr lang="en-US"/>
              <a:t>Key data governance aspects*</a:t>
            </a:r>
          </a:p>
        </p:txBody>
      </p:sp>
      <p:sp>
        <p:nvSpPr>
          <p:cNvPr id="14" name="Tijdelijke aanduiding voor tekst 13"/>
          <p:cNvSpPr>
            <a:spLocks noGrp="1"/>
          </p:cNvSpPr>
          <p:nvPr>
            <p:ph type="body" sz="quarter" idx="13"/>
          </p:nvPr>
        </p:nvSpPr>
        <p:spPr>
          <a:xfrm>
            <a:off x="401016" y="4560319"/>
            <a:ext cx="7804150" cy="204787"/>
          </a:xfrm>
        </p:spPr>
        <p:txBody>
          <a:bodyPr/>
          <a:lstStyle/>
          <a:p>
            <a:r>
              <a:rPr lang="en-US"/>
              <a:t>*) For more information see 10.3 General references; link to the Data Management Program</a:t>
            </a:r>
          </a:p>
        </p:txBody>
      </p:sp>
      <p:sp>
        <p:nvSpPr>
          <p:cNvPr id="13"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4. Information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graphicFrame>
        <p:nvGraphicFramePr>
          <p:cNvPr id="8" name="Tabel 11"/>
          <p:cNvGraphicFramePr>
            <a:graphicFrameLocks noGrp="1"/>
          </p:cNvGraphicFramePr>
          <p:nvPr>
            <p:extLst>
              <p:ext uri="{D42A27DB-BD31-4B8C-83A1-F6EECF244321}">
                <p14:modId xmlns:p14="http://schemas.microsoft.com/office/powerpoint/2010/main" val="2979950261"/>
              </p:ext>
            </p:extLst>
          </p:nvPr>
        </p:nvGraphicFramePr>
        <p:xfrm>
          <a:off x="476254" y="1363326"/>
          <a:ext cx="8069869" cy="2749300"/>
        </p:xfrm>
        <a:graphic>
          <a:graphicData uri="http://schemas.openxmlformats.org/drawingml/2006/table">
            <a:tbl>
              <a:tblPr firstRow="1" bandRow="1">
                <a:tableStyleId>{17292A2E-F333-43FB-9621-5CBBE7FDCDCB}</a:tableStyleId>
              </a:tblPr>
              <a:tblGrid>
                <a:gridCol w="1384094">
                  <a:extLst>
                    <a:ext uri="{9D8B030D-6E8A-4147-A177-3AD203B41FA5}">
                      <a16:colId xmlns:a16="http://schemas.microsoft.com/office/drawing/2014/main" val="20000"/>
                    </a:ext>
                  </a:extLst>
                </a:gridCol>
                <a:gridCol w="6685775">
                  <a:extLst>
                    <a:ext uri="{9D8B030D-6E8A-4147-A177-3AD203B41FA5}">
                      <a16:colId xmlns:a16="http://schemas.microsoft.com/office/drawing/2014/main" val="20001"/>
                    </a:ext>
                  </a:extLst>
                </a:gridCol>
              </a:tblGrid>
              <a:tr h="297180">
                <a:tc>
                  <a:txBody>
                    <a:bodyPr/>
                    <a:lstStyle/>
                    <a:p>
                      <a:pPr marL="0" indent="0" algn="l" fontAlgn="b">
                        <a:buFont typeface="Arial" panose="020B0604020202020204" pitchFamily="34" charset="0"/>
                        <a:buNone/>
                      </a:pPr>
                      <a:r>
                        <a:rPr lang="en-GB" sz="1200" i="1" u="none" strike="noStrike" noProof="0">
                          <a:solidFill>
                            <a:schemeClr val="tx1"/>
                          </a:solidFill>
                          <a:effectLst/>
                        </a:rPr>
                        <a:t>Aspect</a:t>
                      </a:r>
                    </a:p>
                  </a:txBody>
                  <a:tcPr marL="49530" marR="49530" marT="49530" marB="4953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marL="0" indent="0" algn="l" fontAlgn="b">
                        <a:buFont typeface="Arial" panose="020B0604020202020204" pitchFamily="34" charset="0"/>
                        <a:buNone/>
                      </a:pPr>
                      <a:r>
                        <a:rPr kumimoji="0" lang="en-GB" sz="1200" b="1" i="1" u="none" strike="noStrike" kern="1200" cap="none" normalizeH="0" baseline="0" noProof="0">
                          <a:ln>
                            <a:noFill/>
                          </a:ln>
                          <a:solidFill>
                            <a:schemeClr val="tx1"/>
                          </a:solidFill>
                          <a:effectLst/>
                          <a:latin typeface="+mn-lt"/>
                          <a:ea typeface="+mn-ea"/>
                          <a:cs typeface="+mn-cs"/>
                        </a:rPr>
                        <a:t>Project impact</a:t>
                      </a:r>
                      <a:endParaRPr lang="en-GB" sz="1200" b="1" i="1" u="none" strike="noStrike" noProof="0">
                        <a:solidFill>
                          <a:schemeClr val="tx1"/>
                        </a:solidFill>
                        <a:effectLst/>
                        <a:latin typeface="Corbel"/>
                      </a:endParaRPr>
                    </a:p>
                  </a:txBody>
                  <a:tcPr marL="49530" marR="49530" marT="49530" marB="4953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207637">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u="none" strike="noStrike" kern="1200" cap="none" normalizeH="0" baseline="0" noProof="0">
                          <a:ln>
                            <a:noFill/>
                          </a:ln>
                          <a:effectLst/>
                        </a:rPr>
                        <a:t>Data Quality Impact</a:t>
                      </a:r>
                      <a:endParaRPr kumimoji="0" lang="en-GB" sz="800" b="0" i="0" u="none" strike="noStrike" kern="1200" cap="none" normalizeH="0" baseline="0" noProof="0">
                        <a:ln>
                          <a:noFill/>
                        </a:ln>
                        <a:solidFill>
                          <a:schemeClr val="tx1"/>
                        </a:solidFill>
                        <a:effectLst/>
                        <a:latin typeface="+mn-lt"/>
                        <a:ea typeface="+mn-ea"/>
                        <a:cs typeface="+mn-cs"/>
                      </a:endParaRP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lang="en-GB" sz="800" noProof="0">
                          <a:effectLst/>
                        </a:rPr>
                        <a:t>Data repair actions might be needed to use the data properly for Model calculations. Current guideline is to position only Consuming business rules in Information factory. CAS calculators are preferred place for model specific rules. nBIF can fill-in where the rules affect multiple models or if there are significant performance reasons.</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19583">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Data Quality Monitoring</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Data Quality Control Framework (IDQ) will be extended to nBIF. The DQ report of Critical Data Elements of CAS calculators will be done using data from nBIF. </a:t>
                      </a:r>
                    </a:p>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This mean, Informatica IDQ will have interface with each nBIF Instance that is used for monthly production runs. IDQ will connect to nBIF databases to consume all the input data that is used by models and all the model results that are delivered by nBIF. IDQ will perform profiling on these datasets to create DQ report of Critical data elements.</a:t>
                      </a:r>
                    </a:p>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endParaRPr kumimoji="0" lang="en-GB" sz="800" b="0" i="0" u="none" strike="noStrike" cap="none" normalizeH="0" baseline="0" noProof="0">
                        <a:ln>
                          <a:noFill/>
                        </a:ln>
                        <a:solidFill>
                          <a:schemeClr val="tx1"/>
                        </a:solidFill>
                        <a:effectLst/>
                        <a:latin typeface="+mn-lt"/>
                      </a:endParaRPr>
                    </a:p>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Additional DQ rules can be implemented via Azure Data Factory and can be reported on for monthly run inspection purposes.​</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19583">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Record Keeping</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pPr>
                      <a:r>
                        <a:rPr kumimoji="0" lang="en-GB" sz="800" b="0" i="0" u="none" strike="noStrike" cap="none" normalizeH="0" baseline="0" noProof="0">
                          <a:ln>
                            <a:noFill/>
                          </a:ln>
                          <a:solidFill>
                            <a:schemeClr val="tx1"/>
                          </a:solidFill>
                          <a:effectLst/>
                          <a:latin typeface="+mn-lt"/>
                        </a:rPr>
                        <a:t>nBIF  is an operational system and not a  data archive. Limited data history will be maintained within nBIF to support its internal application processes. Ex-  Model Inspection step would require operational history.  Metadata &amp; log tables will also store history. </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19583">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Data Delivery agreements</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pPr>
                      <a:r>
                        <a:rPr kumimoji="0" lang="en-GB" sz="800" b="0" i="0" u="none" strike="noStrike" cap="none" normalizeH="0" baseline="0" noProof="0">
                          <a:ln>
                            <a:noFill/>
                          </a:ln>
                          <a:solidFill>
                            <a:schemeClr val="tx1"/>
                          </a:solidFill>
                          <a:effectLst/>
                          <a:latin typeface="+mn-lt"/>
                        </a:rPr>
                        <a:t>As a result of TOM changes , Data delivery Agreements shall be drawn up between nBIF  and impacted systems of this PSA.</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17136">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u="none" strike="noStrike" kern="1200" cap="none" normalizeH="0" baseline="0" noProof="0">
                          <a:ln>
                            <a:noFill/>
                          </a:ln>
                          <a:effectLst/>
                        </a:rPr>
                        <a:t>Golden Source &amp; Customer Master Data Management</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kumimoji="0" lang="en-GB" sz="800" b="0" i="0" u="none" strike="noStrike" kern="1200" cap="none" normalizeH="0" baseline="0">
                          <a:ln>
                            <a:noFill/>
                          </a:ln>
                          <a:solidFill>
                            <a:schemeClr val="tx1"/>
                          </a:solidFill>
                          <a:effectLst/>
                          <a:latin typeface="+mn-lt"/>
                          <a:ea typeface="+mn-ea"/>
                          <a:cs typeface="+mn-cs"/>
                        </a:rPr>
                        <a:t>GRFD will be the golden source for nBIF with some deviations that may occur in intermediate situation.</a:t>
                      </a:r>
                    </a:p>
                    <a:p>
                      <a:pPr algn="l" rtl="0" fontAlgn="base"/>
                      <a:r>
                        <a:rPr kumimoji="0" lang="en-GB" sz="800" b="0" i="0" u="none" strike="noStrike" kern="1200" cap="none" normalizeH="0" baseline="0">
                          <a:ln>
                            <a:noFill/>
                          </a:ln>
                          <a:solidFill>
                            <a:schemeClr val="tx1"/>
                          </a:solidFill>
                          <a:effectLst/>
                          <a:latin typeface="+mn-lt"/>
                          <a:ea typeface="+mn-ea"/>
                          <a:cs typeface="+mn-cs"/>
                        </a:rPr>
                        <a:t>For Macro Economic Scenarios – MEISTER will remain the golden source for model calculators.</a:t>
                      </a: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19583">
                <a:tc>
                  <a:txBody>
                    <a:bodyPr/>
                    <a:lstStyle/>
                    <a:p>
                      <a:pPr marL="0" marR="0" lvl="0" indent="0" algn="l" defTabSz="914400" rtl="0" eaLnBrk="1" fontAlgn="base" latinLnBrk="0" hangingPunct="1">
                        <a:lnSpc>
                          <a:spcPct val="110000"/>
                        </a:lnSpc>
                        <a:spcBef>
                          <a:spcPct val="0"/>
                        </a:spcBef>
                        <a:spcAft>
                          <a:spcPct val="0"/>
                        </a:spcAft>
                        <a:buClrTx/>
                        <a:buSzPct val="100000"/>
                        <a:buFont typeface="Arial" panose="020B0604020202020204" pitchFamily="34" charset="0"/>
                        <a:buNone/>
                        <a:tabLst/>
                        <a:defRPr/>
                      </a:pPr>
                      <a:r>
                        <a:rPr kumimoji="0" lang="en-GB" sz="800" b="0" i="0" u="none" strike="noStrike" cap="none" normalizeH="0" baseline="0" noProof="0">
                          <a:ln>
                            <a:noFill/>
                          </a:ln>
                          <a:solidFill>
                            <a:schemeClr val="tx1"/>
                          </a:solidFill>
                          <a:effectLst/>
                          <a:latin typeface="+mn-lt"/>
                        </a:rPr>
                        <a:t>Data Lake / Warehouse</a:t>
                      </a:r>
                    </a:p>
                  </a:txBody>
                  <a:tcPr marL="49530" marR="49530" marT="37148" marB="37148"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kumimoji="0" lang="en-GB" sz="800" b="0" i="0" u="none" strike="noStrike" kern="1200" cap="none" normalizeH="0" baseline="0">
                          <a:ln>
                            <a:noFill/>
                          </a:ln>
                          <a:solidFill>
                            <a:schemeClr val="tx1"/>
                          </a:solidFill>
                          <a:effectLst/>
                          <a:latin typeface="+mn-lt"/>
                          <a:ea typeface="+mn-ea"/>
                          <a:cs typeface="+mn-cs"/>
                        </a:rPr>
                        <a:t>Data should be sourced from GRFD/CAS. Data will be stored in Azure based </a:t>
                      </a:r>
                      <a:r>
                        <a:rPr kumimoji="0" lang="en-GB" sz="800" b="0" i="0" u="none" strike="noStrike" kern="1200" cap="none" normalizeH="0" baseline="0" err="1">
                          <a:ln>
                            <a:noFill/>
                          </a:ln>
                          <a:solidFill>
                            <a:schemeClr val="tx1"/>
                          </a:solidFill>
                          <a:effectLst/>
                          <a:latin typeface="+mn-lt"/>
                          <a:ea typeface="+mn-ea"/>
                          <a:cs typeface="+mn-cs"/>
                        </a:rPr>
                        <a:t>nBIF’s</a:t>
                      </a:r>
                      <a:r>
                        <a:rPr kumimoji="0" lang="en-GB" sz="800" b="0" i="0" u="none" strike="noStrike" kern="1200" cap="none" normalizeH="0" baseline="0">
                          <a:ln>
                            <a:noFill/>
                          </a:ln>
                          <a:solidFill>
                            <a:schemeClr val="tx1"/>
                          </a:solidFill>
                          <a:effectLst/>
                          <a:latin typeface="+mn-lt"/>
                          <a:ea typeface="+mn-ea"/>
                          <a:cs typeface="+mn-cs"/>
                        </a:rPr>
                        <a:t> Data stores.</a:t>
                      </a: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25250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10" name="Title 1"/>
          <p:cNvSpPr>
            <a:spLocks noGrp="1"/>
          </p:cNvSpPr>
          <p:nvPr>
            <p:ph type="title"/>
          </p:nvPr>
        </p:nvSpPr>
        <p:spPr>
          <a:xfrm>
            <a:off x="475814" y="-40765"/>
            <a:ext cx="7464026" cy="875509"/>
          </a:xfrm>
        </p:spPr>
        <p:txBody>
          <a:bodyPr/>
          <a:lstStyle/>
          <a:p>
            <a:r>
              <a:rPr lang="en-GB"/>
              <a:t>4.2 Information Architecture decisions</a:t>
            </a:r>
          </a:p>
        </p:txBody>
      </p:sp>
      <p:sp>
        <p:nvSpPr>
          <p:cNvPr id="11" name="Tijdelijke aanduiding voor tekst 6"/>
          <p:cNvSpPr>
            <a:spLocks noGrp="1"/>
          </p:cNvSpPr>
          <p:nvPr>
            <p:ph type="body" sz="quarter" idx="15"/>
          </p:nvPr>
        </p:nvSpPr>
        <p:spPr>
          <a:xfrm>
            <a:off x="476250" y="1077456"/>
            <a:ext cx="7804150" cy="212725"/>
          </a:xfrm>
        </p:spPr>
        <p:txBody>
          <a:bodyPr/>
          <a:lstStyle/>
          <a:p>
            <a:r>
              <a:rPr lang="nl-NL"/>
              <a:t> </a:t>
            </a:r>
          </a:p>
        </p:txBody>
      </p:sp>
      <p:graphicFrame>
        <p:nvGraphicFramePr>
          <p:cNvPr id="12" name="Tabel 9"/>
          <p:cNvGraphicFramePr>
            <a:graphicFrameLocks noGrp="1"/>
          </p:cNvGraphicFramePr>
          <p:nvPr>
            <p:extLst>
              <p:ext uri="{D42A27DB-BD31-4B8C-83A1-F6EECF244321}">
                <p14:modId xmlns:p14="http://schemas.microsoft.com/office/powerpoint/2010/main" val="378590717"/>
              </p:ext>
            </p:extLst>
          </p:nvPr>
        </p:nvGraphicFramePr>
        <p:xfrm>
          <a:off x="475814" y="663535"/>
          <a:ext cx="8342168" cy="4211956"/>
        </p:xfrm>
        <a:graphic>
          <a:graphicData uri="http://schemas.openxmlformats.org/drawingml/2006/table">
            <a:tbl>
              <a:tblPr firstRow="1" bandRow="1">
                <a:tableStyleId>{17292A2E-F333-43FB-9621-5CBBE7FDCDCB}</a:tableStyleId>
              </a:tblPr>
              <a:tblGrid>
                <a:gridCol w="514786">
                  <a:extLst>
                    <a:ext uri="{9D8B030D-6E8A-4147-A177-3AD203B41FA5}">
                      <a16:colId xmlns:a16="http://schemas.microsoft.com/office/drawing/2014/main" val="20000"/>
                    </a:ext>
                  </a:extLst>
                </a:gridCol>
                <a:gridCol w="6157909">
                  <a:extLst>
                    <a:ext uri="{9D8B030D-6E8A-4147-A177-3AD203B41FA5}">
                      <a16:colId xmlns:a16="http://schemas.microsoft.com/office/drawing/2014/main" val="20001"/>
                    </a:ext>
                  </a:extLst>
                </a:gridCol>
                <a:gridCol w="1669473">
                  <a:extLst>
                    <a:ext uri="{9D8B030D-6E8A-4147-A177-3AD203B41FA5}">
                      <a16:colId xmlns:a16="http://schemas.microsoft.com/office/drawing/2014/main" val="1469119644"/>
                    </a:ext>
                  </a:extLst>
                </a:gridCol>
              </a:tblGrid>
              <a:tr h="156640">
                <a:tc>
                  <a:txBody>
                    <a:bodyPr/>
                    <a:lstStyle/>
                    <a:p>
                      <a:pPr algn="l" fontAlgn="b"/>
                      <a:r>
                        <a:rPr lang="en-GB" sz="1100" i="1" u="none" strike="noStrike" noProof="0">
                          <a:solidFill>
                            <a:schemeClr val="tx1"/>
                          </a:solidFill>
                          <a:effectLst/>
                        </a:rPr>
                        <a:t>Nr</a:t>
                      </a:r>
                    </a:p>
                  </a:txBody>
                  <a:tcPr marL="0" marR="0" marT="0" marB="0" anchor="ctr">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ctr" fontAlgn="b"/>
                      <a:r>
                        <a:rPr lang="en-GB" sz="1100" b="1" i="1" u="none" strike="noStrike" noProof="0">
                          <a:solidFill>
                            <a:schemeClr val="tx1"/>
                          </a:solidFill>
                          <a:effectLst/>
                          <a:latin typeface="+mn-lt"/>
                        </a:rPr>
                        <a:t>Description</a:t>
                      </a:r>
                      <a:endParaRPr lang="en-GB" sz="1100" b="1" i="1" u="none" strike="noStrike" noProof="0">
                        <a:solidFill>
                          <a:schemeClr val="tx1"/>
                        </a:solidFill>
                        <a:effectLst/>
                        <a:latin typeface="Corbel"/>
                      </a:endParaRPr>
                    </a:p>
                  </a:txBody>
                  <a:tcPr marL="0" marR="0" marT="0" marB="0" anchor="ctr">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ctr" fontAlgn="b"/>
                      <a:r>
                        <a:rPr lang="en-GB" sz="1100" b="1" i="1" u="none" strike="noStrike" noProof="0">
                          <a:solidFill>
                            <a:schemeClr val="tx1"/>
                          </a:solidFill>
                          <a:effectLst/>
                          <a:latin typeface="Corbel"/>
                        </a:rPr>
                        <a:t>Relevance</a:t>
                      </a:r>
                    </a:p>
                  </a:txBody>
                  <a:tcPr marL="0" marR="0" marT="0" marB="0" anchor="ctr">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9935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4" action="ppaction://hlinksldjump"/>
                        </a:rPr>
                        <a:t>IAD-1</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kern="1200">
                          <a:solidFill>
                            <a:schemeClr val="tx1"/>
                          </a:solidFill>
                          <a:latin typeface="+mn-lt"/>
                          <a:ea typeface="+mn-ea"/>
                          <a:cs typeface="+mn-cs"/>
                        </a:rPr>
                        <a:t>nBIF implementations are always done portfolio-specific. Single nBIF instance does not calculate credit risk metrics for more that one portfolio.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 – Ad-hoc &amp; Monthly run</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4001898"/>
                  </a:ext>
                </a:extLst>
              </a:tr>
              <a:tr h="19935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5" action="ppaction://hlinksldjump"/>
                        </a:rPr>
                        <a:t>IAD-2</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Data output from nBIF is done per portfolio (and not for all portfolio's at once)</a:t>
                      </a:r>
                      <a:endParaRPr lang="en-GB" sz="800" b="0" kern="120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 – Ad-hoc &amp; Monthly run</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1414141"/>
                  </a:ext>
                </a:extLst>
              </a:tr>
              <a:tr h="313279">
                <a:tc>
                  <a:txBody>
                    <a:bodyPr/>
                    <a:lstStyle/>
                    <a:p>
                      <a:pPr marL="0" algn="l" defTabSz="456999" rtl="0" eaLnBrk="1" fontAlgn="b" latinLnBrk="0" hangingPunct="1"/>
                      <a:r>
                        <a:rPr lang="en-US" sz="800" b="0" i="0" u="none" strike="noStrike" kern="1200" noProof="0">
                          <a:solidFill>
                            <a:srgbClr val="000000"/>
                          </a:solidFill>
                          <a:effectLst/>
                          <a:latin typeface="+mn-lt"/>
                          <a:ea typeface="+mn-ea"/>
                          <a:cs typeface="+mn-cs"/>
                          <a:hlinkClick r:id="rId6" action="ppaction://hlinksldjump"/>
                        </a:rPr>
                        <a:t>IAD-3</a:t>
                      </a:r>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Multiple nBIF production instances will be created for a portfolio to support business needs that require ad-hoc run of their n-bridges with production data.. Each such instance is treated as a separate application.</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 – Ad-hoc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8103398"/>
                  </a:ext>
                </a:extLst>
              </a:tr>
              <a:tr h="313279">
                <a:tc>
                  <a:txBody>
                    <a:bodyPr/>
                    <a:lstStyle/>
                    <a:p>
                      <a:pPr marL="0" algn="l" defTabSz="456999" rtl="0" eaLnBrk="1" fontAlgn="b" latinLnBrk="0" hangingPunct="1"/>
                      <a:r>
                        <a:rPr lang="en-US" sz="800" b="0" i="0" u="none" strike="noStrike" kern="1200" noProof="0">
                          <a:solidFill>
                            <a:srgbClr val="000000"/>
                          </a:solidFill>
                          <a:effectLst/>
                          <a:latin typeface="+mn-lt"/>
                          <a:ea typeface="+mn-ea"/>
                          <a:cs typeface="+mn-cs"/>
                          <a:hlinkClick r:id="rId7" action="ppaction://hlinksldjump"/>
                        </a:rPr>
                        <a:t>IAD-4</a:t>
                      </a:r>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kern="1200" baseline="0" noProof="0">
                          <a:solidFill>
                            <a:schemeClr val="tx1"/>
                          </a:solidFill>
                          <a:latin typeface="+mn-lt"/>
                          <a:ea typeface="+mn-ea"/>
                          <a:cs typeface="+mn-cs"/>
                        </a:rPr>
                        <a:t>nBIF </a:t>
                      </a:r>
                      <a:r>
                        <a:rPr lang="en-GB" sz="800" b="0" kern="1200" baseline="0">
                          <a:solidFill>
                            <a:schemeClr val="tx1"/>
                          </a:solidFill>
                          <a:latin typeface="+mn-lt"/>
                          <a:ea typeface="+mn-ea"/>
                          <a:cs typeface="+mn-cs"/>
                        </a:rPr>
                        <a:t>will be the provider of model calculator results to CRPR directly for IRB, RWA &amp; RAROC calculations. GRFD will receive these credit risk metrics through after traversing via CRPR -&gt;CDM-&gt;CFO Hub.</a:t>
                      </a:r>
                      <a:endParaRPr lang="en-GB" sz="800" b="0" kern="1200" baseline="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0" i="0" u="none" strike="noStrike" noProof="0">
                          <a:solidFill>
                            <a:srgbClr val="000000"/>
                          </a:solidFill>
                          <a:effectLst/>
                          <a:latin typeface="+mn-lt"/>
                        </a:rPr>
                        <a:t>All portfolio –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327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8" action="ppaction://hlinksldjump"/>
                        </a:rPr>
                        <a:t>IAD-5</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For each nBIF instance that uses GRFD1 to source input data, There will be a single STO in GRFD1  for the consolidated data needs of all the models (bridges) on nBIF.</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9414241"/>
                  </a:ext>
                </a:extLst>
              </a:tr>
              <a:tr h="313279">
                <a:tc>
                  <a:txBody>
                    <a:bodyPr/>
                    <a:lstStyle/>
                    <a:p>
                      <a:pPr marL="0" algn="l" defTabSz="456999" rtl="0" eaLnBrk="1" fontAlgn="b" latinLnBrk="0" hangingPunct="1"/>
                      <a:r>
                        <a:rPr lang="en-US" sz="800" b="0" i="0" u="none" strike="noStrike" kern="1200" noProof="0">
                          <a:solidFill>
                            <a:srgbClr val="000000"/>
                          </a:solidFill>
                          <a:effectLst/>
                          <a:latin typeface="+mn-lt"/>
                          <a:ea typeface="+mn-ea"/>
                          <a:cs typeface="+mn-cs"/>
                          <a:hlinkClick r:id="rId9" action="ppaction://hlinksldjump"/>
                        </a:rPr>
                        <a:t>IAD-6</a:t>
                      </a:r>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For each nBIF instance that uses GRFD2 to source input data, There will be a single STO created on CADDI for the consolidated data needs of all the models (bridges) on nBIF.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7513050"/>
                  </a:ext>
                </a:extLst>
              </a:tr>
              <a:tr h="31327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10" action="ppaction://hlinksldjump"/>
                        </a:rPr>
                        <a:t>IAD-7</a:t>
                      </a:r>
                      <a:endParaRPr lang="en-US" sz="800" b="0" i="0" u="none" strike="noStrike" kern="1200" noProof="0">
                        <a:solidFill>
                          <a:srgbClr val="000000"/>
                        </a:solidFill>
                        <a:effectLst/>
                        <a:latin typeface="+mn-lt"/>
                        <a:ea typeface="+mn-ea"/>
                        <a:cs typeface="+mn-cs"/>
                      </a:endParaRPr>
                    </a:p>
                    <a:p>
                      <a:pPr marL="0" algn="l" defTabSz="456999" rtl="0" eaLnBrk="1" fontAlgn="b" latinLnBrk="0" hangingPunct="1"/>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For each nBIF instance for which STO is created by TCA using CADDI, The Input data validation step will be done on nBIF. This will be a consolidated validation for all the bridges.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990031"/>
                  </a:ext>
                </a:extLst>
              </a:tr>
              <a:tr h="275900">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11" action="ppaction://hlinksldjump"/>
                        </a:rPr>
                        <a:t>IAD-8</a:t>
                      </a:r>
                      <a:endParaRPr lang="en-US" sz="800" b="0" i="0" u="none" strike="noStrike" kern="1200" noProof="0">
                        <a:solidFill>
                          <a:srgbClr val="000000"/>
                        </a:solidFill>
                        <a:effectLst/>
                        <a:latin typeface="+mn-lt"/>
                        <a:ea typeface="+mn-ea"/>
                        <a:cs typeface="+mn-cs"/>
                      </a:endParaRPr>
                    </a:p>
                    <a:p>
                      <a:pPr marL="0" algn="l" defTabSz="456999" rtl="0" eaLnBrk="1" fontAlgn="b" latinLnBrk="0" hangingPunct="1"/>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kern="1200" noProof="0">
                          <a:solidFill>
                            <a:srgbClr val="000000"/>
                          </a:solidFill>
                          <a:effectLst/>
                          <a:latin typeface="+mn-lt"/>
                          <a:ea typeface="+mn-ea"/>
                          <a:cs typeface="+mn-cs"/>
                        </a:rPr>
                        <a:t>The calculator results are delivered to downstream consumers only after the result of last bridge of the respective nBIF is inspected and approved</a:t>
                      </a:r>
                      <a:endParaRPr lang="en-GB" sz="800" b="0" i="0" u="none" strike="sngStrike" kern="1200">
                        <a:solidFill>
                          <a:srgbClr val="000000"/>
                        </a:solidFill>
                        <a:effectLst/>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 –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99359">
                <a:tc>
                  <a:txBody>
                    <a:bodyPr/>
                    <a:lstStyle/>
                    <a:p>
                      <a:pPr marL="0" algn="l" defTabSz="456999" rtl="0" eaLnBrk="1" fontAlgn="b" latinLnBrk="0" hangingPunct="1"/>
                      <a:r>
                        <a:rPr lang="en-US" sz="800" b="0" i="0" u="none" strike="noStrike" kern="1200" noProof="0">
                          <a:solidFill>
                            <a:srgbClr val="000000"/>
                          </a:solidFill>
                          <a:effectLst/>
                          <a:latin typeface="+mn-lt"/>
                          <a:ea typeface="+mn-ea"/>
                          <a:cs typeface="+mn-cs"/>
                          <a:hlinkClick r:id="rId12" action="ppaction://hlinksldjump"/>
                        </a:rPr>
                        <a:t>IAD-9</a:t>
                      </a:r>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kern="1200">
                          <a:solidFill>
                            <a:schemeClr val="tx1"/>
                          </a:solidFill>
                          <a:latin typeface="+mn-lt"/>
                          <a:ea typeface="+mn-ea"/>
                          <a:cs typeface="+mn-cs"/>
                        </a:rPr>
                        <a:t>nBIF will store operational history of all the data that is needed to perform Input/Output plausibility checks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6861795"/>
                  </a:ext>
                </a:extLst>
              </a:tr>
              <a:tr h="19935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13" action="ppaction://hlinksldjump"/>
                        </a:rPr>
                        <a:t>IAD-10</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During intermediate situation, nBIF instances may interface directly with data sources other than GRFD (GRFD2).</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5930386"/>
                  </a:ext>
                </a:extLst>
              </a:tr>
              <a:tr h="31327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6" action="ppaction://hlinksldjump"/>
                        </a:rPr>
                        <a:t>IAD-11</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noProof="0">
                          <a:solidFill>
                            <a:schemeClr val="tx1"/>
                          </a:solidFill>
                          <a:effectLst/>
                          <a:latin typeface="+mn-lt"/>
                        </a:rPr>
                        <a:t>nBIF can only expose model outputs (not intermediates) to its data consumers (includes credit core, GRFD, model monitoring, or next bridge in the chain).</a:t>
                      </a:r>
                      <a:endParaRPr lang="en-GB" sz="800" b="0" i="0" kern="120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8423779"/>
                  </a:ext>
                </a:extLst>
              </a:tr>
              <a:tr h="19935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14" action="ppaction://hlinksldjump"/>
                        </a:rPr>
                        <a:t>IAD-12</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a:solidFill>
                            <a:srgbClr val="000000"/>
                          </a:solidFill>
                          <a:effectLst/>
                          <a:latin typeface="+mn-lt"/>
                        </a:rPr>
                        <a:t>CADDI will always be used in-between GRFD2 &amp; nBIF.  This will also include the situations when STO tables are created in GRFD2.</a:t>
                      </a:r>
                      <a:endParaRPr lang="en-GB" sz="800" b="0" kern="1200" baseline="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6045670"/>
                  </a:ext>
                </a:extLst>
              </a:tr>
              <a:tr h="31327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4" action="ppaction://hlinksldjump"/>
                        </a:rPr>
                        <a:t>IAD-13</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n-lt"/>
                          <a:ea typeface="+mn-ea"/>
                          <a:cs typeface="+mn-cs"/>
                        </a:rPr>
                        <a:t>For the portfolios where behavioural Risk drivers calculated by UT5 (Batch) is required by UT1, A direct interface between nBIF  and EMI will be established.</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kern="1200" noProof="0">
                          <a:solidFill>
                            <a:srgbClr val="000000"/>
                          </a:solidFill>
                          <a:effectLst/>
                          <a:latin typeface="+mn-lt"/>
                          <a:ea typeface="+mn-ea"/>
                          <a:cs typeface="+mn-cs"/>
                        </a:rPr>
                        <a:t>All portfolio’s having BRDD needs –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5669549"/>
                  </a:ext>
                </a:extLst>
              </a:tr>
              <a:tr h="313279">
                <a:tc>
                  <a:txBody>
                    <a:bodyPr/>
                    <a:lstStyle/>
                    <a:p>
                      <a:pPr marL="0" algn="l" defTabSz="456999" rtl="0" eaLnBrk="1" fontAlgn="b" latinLnBrk="0" hangingPunct="1"/>
                      <a:r>
                        <a:rPr lang="en-US" sz="800" b="0" i="0" u="none" strike="noStrike" kern="1200" noProof="0">
                          <a:solidFill>
                            <a:srgbClr val="000000"/>
                          </a:solidFill>
                          <a:effectLst/>
                          <a:latin typeface="+mn-lt"/>
                          <a:ea typeface="+mn-ea"/>
                          <a:cs typeface="+mn-cs"/>
                          <a:hlinkClick r:id="rId15" action="ppaction://hlinksldjump"/>
                        </a:rPr>
                        <a:t>IAD-14</a:t>
                      </a:r>
                      <a:endParaRPr lang="en-US" sz="800" b="0" i="0" u="none" strike="noStrike" kern="1200" noProof="0">
                        <a:solidFill>
                          <a:srgbClr val="000000"/>
                        </a:solidFill>
                        <a:effectLst/>
                        <a:latin typeface="Corbel"/>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kern="1200">
                          <a:solidFill>
                            <a:schemeClr val="tx1"/>
                          </a:solidFill>
                          <a:latin typeface="+mn-lt"/>
                          <a:ea typeface="+mn-ea"/>
                          <a:cs typeface="+mn-cs"/>
                        </a:rPr>
                        <a:t>nBIF will ingest monthly increment of Transactions and Balance data and store up to 24 months history of </a:t>
                      </a:r>
                      <a:r>
                        <a:rPr lang="en-GB" sz="800" b="0" kern="1200" err="1">
                          <a:solidFill>
                            <a:schemeClr val="tx1"/>
                          </a:solidFill>
                          <a:latin typeface="+mn-lt"/>
                          <a:ea typeface="+mn-ea"/>
                          <a:cs typeface="+mn-cs"/>
                        </a:rPr>
                        <a:t>Txn</a:t>
                      </a:r>
                      <a:r>
                        <a:rPr lang="en-GB" sz="800" b="0" kern="1200">
                          <a:solidFill>
                            <a:schemeClr val="tx1"/>
                          </a:solidFill>
                          <a:latin typeface="+mn-lt"/>
                          <a:ea typeface="+mn-ea"/>
                          <a:cs typeface="+mn-cs"/>
                        </a:rPr>
                        <a:t> and Balance data that is needed for BRDD calculations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63843942"/>
                  </a:ext>
                </a:extLst>
              </a:tr>
            </a:tbl>
          </a:graphicData>
        </a:graphic>
      </p:graphicFrame>
    </p:spTree>
    <p:extLst>
      <p:ext uri="{BB962C8B-B14F-4D97-AF65-F5344CB8AC3E}">
        <p14:creationId xmlns:p14="http://schemas.microsoft.com/office/powerpoint/2010/main" val="2017679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4.2.1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4204590468"/>
              </p:ext>
            </p:extLst>
          </p:nvPr>
        </p:nvGraphicFramePr>
        <p:xfrm>
          <a:off x="472084" y="1052087"/>
          <a:ext cx="7808316" cy="3638693"/>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401659">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b="1" i="0" u="none" strike="noStrike" kern="1200" noProof="0">
                          <a:solidFill>
                            <a:schemeClr val="tx1"/>
                          </a:solidFill>
                          <a:effectLst/>
                          <a:latin typeface="+mn-lt"/>
                          <a:ea typeface="+mn-ea"/>
                          <a:cs typeface="+mn-cs"/>
                        </a:rPr>
                        <a:t>IAD-1. </a:t>
                      </a:r>
                      <a:r>
                        <a:rPr lang="en-GB" sz="1200" b="1" i="0" u="none" strike="noStrike" kern="1200" noProof="0">
                          <a:solidFill>
                            <a:schemeClr val="tx1"/>
                          </a:solidFill>
                          <a:effectLst/>
                          <a:latin typeface="+mn-lt"/>
                          <a:ea typeface="+mn-ea"/>
                          <a:cs typeface="+mn-cs"/>
                        </a:rPr>
                        <a:t>nBIF implementations are always done portfolio-specific. Single nBIF instance does not calculate credit risk metrics for more that one portfolio. </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00781">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1" i="0" u="none" strike="noStrike" kern="1200" noProof="0">
                          <a:solidFill>
                            <a:schemeClr val="tx1"/>
                          </a:solidFill>
                          <a:effectLst/>
                          <a:latin typeface="+mn-lt"/>
                          <a:ea typeface="+mn-ea"/>
                          <a:cs typeface="+mn-cs"/>
                        </a:rPr>
                        <a:t>nBIF implementations are always done portfolio-specific.  Here, portfolio means TCA rating systems, which are (CF, RMM, RSME, Corporate, IPRE, PF, SOV, FI, RURAL &amp; COSAS )" Single nBIF instance does not calculate credit risk metrics for more that one portfolio.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1" i="0" u="none" strike="noStrike" kern="1200" noProof="0">
                          <a:solidFill>
                            <a:schemeClr val="tx1"/>
                          </a:solidFill>
                          <a:effectLst/>
                          <a:latin typeface="+mn-lt"/>
                          <a:ea typeface="+mn-ea"/>
                          <a:cs typeface="+mn-cs"/>
                        </a:rPr>
                        <a:t>For ex- RSME’s nBIF instance(s) execute n-Bridge only for RSME.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61658">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By having portfolio wise separation, 	</a:t>
                      </a:r>
                    </a:p>
                    <a:p>
                      <a:pPr marL="628449" marR="0" lvl="1"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The nBIF implementation is democratized and fast-tracked.	</a:t>
                      </a:r>
                    </a:p>
                    <a:p>
                      <a:pPr marL="628449" marR="0" lvl="1"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Multiple </a:t>
                      </a:r>
                      <a:r>
                        <a:rPr lang="en-GB" sz="800" b="0" baseline="0" err="1"/>
                        <a:t>nBIF's</a:t>
                      </a:r>
                      <a:r>
                        <a:rPr lang="en-GB" sz="800" b="0" baseline="0"/>
                        <a:t> can be built &amp; run in-parallel. 	</a:t>
                      </a:r>
                    </a:p>
                    <a:p>
                      <a:pPr marL="628449" marR="0" lvl="1"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Portfolio specific nuances can be handled independently with more flexibility.	</a:t>
                      </a:r>
                    </a:p>
                    <a:p>
                      <a:pPr marL="628449" marR="0" lvl="1"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Portfolio squads are made responsible for their IT and to deliver verified risk metrics for their portfolio	</a:t>
                      </a:r>
                    </a:p>
                    <a:p>
                      <a:pPr marL="628449" marR="0" lvl="1"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Help in decommissioning of legacy systems as incremental modernization is more practical &amp; less disruptive.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92589">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92589">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1. There are models like IFRS9, Stress Testing which is traditionally executed once for all portfolios. These models shall support portfolio wise execution.</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2. There are few application processes (like STIB data pipelines, ST report etc) which is traditionally executed once for all portfolios. They shall be refactored to be portfolio wise.</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3. There are business processes that require cross portfolio execution – such business needs will require execution of multiple nBIF instances.</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4. Some IT work will be duplicate across portfolios.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58223">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Having single nBIF implementations that can execute n-Bridge for all portfolio :   The scope of single portfolio’s n-Bridge implementation is already very large &amp; complex. Extending it further will make it so much monolithic that it will become unmanageable.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92589">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69212">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indent="-228600">
                        <a:buAutoNum type="arabicPeriod"/>
                      </a:pPr>
                      <a:r>
                        <a:rPr lang="en-GB" sz="800" b="0" kern="1200" noProof="0">
                          <a:solidFill>
                            <a:schemeClr val="tx1"/>
                          </a:solidFill>
                          <a:latin typeface="+mn-lt"/>
                          <a:ea typeface="+mn-ea"/>
                          <a:cs typeface="+mn-cs"/>
                        </a:rPr>
                        <a:t>IFRS9 &amp; Stress testing has already adopted portfolio approach to (re)build their calculators. </a:t>
                      </a:r>
                    </a:p>
                    <a:p>
                      <a:pPr marL="228600" indent="-228600">
                        <a:buAutoNum type="arabicPeriod"/>
                      </a:pPr>
                      <a:r>
                        <a:rPr lang="en-GB" sz="800" b="0" kern="1200" noProof="0">
                          <a:solidFill>
                            <a:schemeClr val="tx1"/>
                          </a:solidFill>
                          <a:latin typeface="+mn-lt"/>
                          <a:ea typeface="+mn-ea"/>
                          <a:cs typeface="+mn-cs"/>
                        </a:rPr>
                        <a:t>A lot of monolithic application processes are redundant with structural solution using GRFD – nBIF – CASCADE</a:t>
                      </a:r>
                    </a:p>
                    <a:p>
                      <a:pPr marL="228600" indent="-228600">
                        <a:buAutoNum type="arabicPeriod"/>
                      </a:pPr>
                      <a:r>
                        <a:rPr lang="en-GB" sz="800" b="0" kern="1200" noProof="0">
                          <a:solidFill>
                            <a:schemeClr val="tx1"/>
                          </a:solidFill>
                          <a:latin typeface="+mn-lt"/>
                          <a:ea typeface="+mn-ea"/>
                          <a:cs typeface="+mn-cs"/>
                        </a:rPr>
                        <a:t>-</a:t>
                      </a:r>
                    </a:p>
                    <a:p>
                      <a:pPr marL="228600" indent="-228600">
                        <a:buAutoNum type="arabicPeriod"/>
                      </a:pPr>
                      <a:r>
                        <a:rPr lang="en-GB" sz="800" b="0" kern="1200" noProof="0">
                          <a:solidFill>
                            <a:schemeClr val="tx1"/>
                          </a:solidFill>
                          <a:latin typeface="+mn-lt"/>
                          <a:ea typeface="+mn-ea"/>
                          <a:cs typeface="+mn-cs"/>
                        </a:rPr>
                        <a:t>nBIF platform will build mechanism to reuse duplicate functionalities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889C7C0C-DE36-501A-70D0-D7A09C315F38}"/>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15441078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4.2.2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1791438255"/>
              </p:ext>
            </p:extLst>
          </p:nvPr>
        </p:nvGraphicFramePr>
        <p:xfrm>
          <a:off x="472084" y="1052087"/>
          <a:ext cx="7808316" cy="2934505"/>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401659">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b="1" i="0" u="none" strike="noStrike" kern="1200" noProof="0">
                          <a:solidFill>
                            <a:schemeClr val="tx1"/>
                          </a:solidFill>
                          <a:effectLst/>
                          <a:latin typeface="+mn-lt"/>
                          <a:ea typeface="+mn-ea"/>
                          <a:cs typeface="+mn-cs"/>
                        </a:rPr>
                        <a:t>IAD-2. </a:t>
                      </a:r>
                      <a:r>
                        <a:rPr lang="en-GB" sz="1200" b="1" i="0" u="none" strike="noStrike" kern="1200" noProof="0">
                          <a:solidFill>
                            <a:schemeClr val="tx1"/>
                          </a:solidFill>
                          <a:effectLst/>
                          <a:latin typeface="+mn-lt"/>
                          <a:ea typeface="+mn-ea"/>
                          <a:cs typeface="+mn-cs"/>
                        </a:rPr>
                        <a:t>Data output from nBIF is done per portfolio (and not for all portfolio's at once)</a:t>
                      </a:r>
                      <a:endParaRPr lang="en-GB" sz="1200" b="1" i="0" u="none" strike="noStrike" kern="1200">
                        <a:solidFill>
                          <a:schemeClr val="tx1"/>
                        </a:solidFill>
                        <a:effectLst/>
                        <a:latin typeface="+mn-lt"/>
                        <a:ea typeface="+mn-ea"/>
                        <a:cs typeface="+mn-cs"/>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00781">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1" i="0" u="none" strike="noStrike" kern="1200" noProof="0">
                          <a:solidFill>
                            <a:schemeClr val="tx1"/>
                          </a:solidFill>
                          <a:effectLst/>
                          <a:latin typeface="+mn-lt"/>
                          <a:ea typeface="+mn-ea"/>
                          <a:cs typeface="+mn-cs"/>
                        </a:rPr>
                        <a:t>Data output from nBIF is done per portfolio (and not for all portfolio's at once)</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1" i="0" u="none" strike="noStrike" kern="120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If a business processes require consolidation of validated credit risk metrics across multiple portfolio, The consolidation shall be done at downstream systems like CRPR, GRFD, RRP.</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61658">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Keep nBIF manageable</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Push responsibility where it belong.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92589">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92589">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There are certain use cases that require consolidation of credit risk metrics across all portfolio. An intermediate solution will be needed to support such needs. </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41096">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455613" marR="0" lvl="1" indent="-455613"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Have a data layer on nBIF  platform that can be used to store results of individual portfolio </a:t>
                      </a:r>
                      <a:r>
                        <a:rPr lang="en-GB" sz="800" b="0" kern="1200" noProof="0" err="1">
                          <a:solidFill>
                            <a:schemeClr val="tx1"/>
                          </a:solidFill>
                          <a:latin typeface="+mn-lt"/>
                          <a:ea typeface="+mn-ea"/>
                          <a:cs typeface="+mn-cs"/>
                        </a:rPr>
                        <a:t>nBIFs</a:t>
                      </a:r>
                      <a:r>
                        <a:rPr lang="en-GB" sz="800" b="0" kern="1200" noProof="0">
                          <a:solidFill>
                            <a:schemeClr val="tx1"/>
                          </a:solidFill>
                          <a:latin typeface="+mn-lt"/>
                          <a:ea typeface="+mn-ea"/>
                          <a:cs typeface="+mn-cs"/>
                        </a:rPr>
                        <a:t>. Perhaps Common data cache can be that data layer.</a:t>
                      </a:r>
                    </a:p>
                    <a:p>
                      <a:pPr marL="455613" marR="0" lvl="1" indent="-455613" algn="l" defTabSz="456999" rtl="0" eaLnBrk="1" fontAlgn="auto" latinLnBrk="0" hangingPunct="1">
                        <a:lnSpc>
                          <a:spcPct val="100000"/>
                        </a:lnSpc>
                        <a:spcBef>
                          <a:spcPts val="0"/>
                        </a:spcBef>
                        <a:spcAft>
                          <a:spcPts val="0"/>
                        </a:spcAft>
                        <a:buClrTx/>
                        <a:buSzTx/>
                        <a:buFontTx/>
                        <a:buNone/>
                        <a:tabLst/>
                        <a:defRPr/>
                      </a:pPr>
                      <a:endParaRPr lang="en-GB" sz="800" b="0" kern="1200" noProof="0">
                        <a:solidFill>
                          <a:schemeClr val="tx1"/>
                        </a:solidFill>
                        <a:latin typeface="+mn-lt"/>
                        <a:ea typeface="+mn-ea"/>
                        <a:cs typeface="+mn-cs"/>
                      </a:endParaRPr>
                    </a:p>
                    <a:p>
                      <a:pPr marL="455613" marR="0" lvl="1" indent="-455613"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It is discarded as it doesn’t fit with TCA’s organizational setup and doesn’t compliment target situation.</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92589">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69212">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kern="1200" noProof="0">
                          <a:solidFill>
                            <a:schemeClr val="tx1"/>
                          </a:solidFill>
                          <a:latin typeface="+mn-lt"/>
                          <a:ea typeface="+mn-ea"/>
                          <a:cs typeface="+mn-cs"/>
                        </a:rPr>
                        <a:t>To support these requirements, IFRS9 &amp; Stress testing will build  two tactical solutions “IFRS9 Information Factory” &amp;  “Stress Testing Information Factory” respectively.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889C7C0C-DE36-501A-70D0-D7A09C315F38}"/>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1213422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4.2.3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graphicFrame>
        <p:nvGraphicFramePr>
          <p:cNvPr id="8" name="Tabel 7"/>
          <p:cNvGraphicFramePr>
            <a:graphicFrameLocks noGrp="1"/>
          </p:cNvGraphicFramePr>
          <p:nvPr>
            <p:extLst>
              <p:ext uri="{D42A27DB-BD31-4B8C-83A1-F6EECF244321}">
                <p14:modId xmlns:p14="http://schemas.microsoft.com/office/powerpoint/2010/main" val="953911976"/>
              </p:ext>
            </p:extLst>
          </p:nvPr>
        </p:nvGraphicFramePr>
        <p:xfrm>
          <a:off x="502260" y="692094"/>
          <a:ext cx="8286140" cy="4017791"/>
        </p:xfrm>
        <a:graphic>
          <a:graphicData uri="http://schemas.openxmlformats.org/drawingml/2006/table">
            <a:tbl>
              <a:tblPr firstRow="1" bandRow="1">
                <a:tableStyleId>{17292A2E-F333-43FB-9621-5CBBE7FDCDCB}</a:tableStyleId>
              </a:tblPr>
              <a:tblGrid>
                <a:gridCol w="876598">
                  <a:extLst>
                    <a:ext uri="{9D8B030D-6E8A-4147-A177-3AD203B41FA5}">
                      <a16:colId xmlns:a16="http://schemas.microsoft.com/office/drawing/2014/main" val="20000"/>
                    </a:ext>
                  </a:extLst>
                </a:gridCol>
                <a:gridCol w="3583908">
                  <a:extLst>
                    <a:ext uri="{9D8B030D-6E8A-4147-A177-3AD203B41FA5}">
                      <a16:colId xmlns:a16="http://schemas.microsoft.com/office/drawing/2014/main" val="20001"/>
                    </a:ext>
                  </a:extLst>
                </a:gridCol>
                <a:gridCol w="3825634">
                  <a:extLst>
                    <a:ext uri="{9D8B030D-6E8A-4147-A177-3AD203B41FA5}">
                      <a16:colId xmlns:a16="http://schemas.microsoft.com/office/drawing/2014/main" val="316694446"/>
                    </a:ext>
                  </a:extLst>
                </a:gridCol>
              </a:tblGrid>
              <a:tr h="441344">
                <a:tc gridSpan="3">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100" b="1" i="0" u="none" strike="noStrike" noProof="0">
                          <a:solidFill>
                            <a:schemeClr val="tx1"/>
                          </a:solidFill>
                          <a:effectLst/>
                        </a:rPr>
                        <a:t>IAD-3. </a:t>
                      </a:r>
                      <a:r>
                        <a:rPr lang="en-GB" sz="1100" b="1" i="0" u="none" strike="noStrike" noProof="0">
                          <a:solidFill>
                            <a:schemeClr val="tx1"/>
                          </a:solidFill>
                          <a:effectLst/>
                        </a:rPr>
                        <a:t>Multiple nBIF production instances will be created for a portfolio to support business needs that require ad-hoc run of their n-bridges with production data.</a:t>
                      </a:r>
                      <a:r>
                        <a:rPr lang="en-GB" sz="1100" b="1" i="0" kern="1200">
                          <a:solidFill>
                            <a:schemeClr val="tx1"/>
                          </a:solidFill>
                          <a:latin typeface="+mn-lt"/>
                          <a:ea typeface="+mn-ea"/>
                          <a:cs typeface="+mn-cs"/>
                        </a:rPr>
                        <a:t>. </a:t>
                      </a:r>
                      <a:r>
                        <a:rPr lang="en-GB" sz="1100" b="1" kern="1200" baseline="0">
                          <a:solidFill>
                            <a:schemeClr val="tx1"/>
                          </a:solidFill>
                          <a:latin typeface="+mn-lt"/>
                          <a:ea typeface="+mn-ea"/>
                          <a:cs typeface="+mn-cs"/>
                        </a:rPr>
                        <a:t>Each</a:t>
                      </a:r>
                      <a:r>
                        <a:rPr lang="en-GB" sz="1100" b="1" i="0" kern="1200">
                          <a:solidFill>
                            <a:schemeClr val="tx1"/>
                          </a:solidFill>
                          <a:latin typeface="+mn-lt"/>
                          <a:ea typeface="+mn-ea"/>
                          <a:cs typeface="+mn-cs"/>
                        </a:rPr>
                        <a:t> such instance is treated as a separate application.</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marL="0" marR="0" lvl="0" indent="0" algn="l" defTabSz="456999" rtl="0" eaLnBrk="1" fontAlgn="b" latinLnBrk="0" hangingPunct="1">
                        <a:lnSpc>
                          <a:spcPct val="100000"/>
                        </a:lnSpc>
                        <a:spcBef>
                          <a:spcPts val="0"/>
                        </a:spcBef>
                        <a:spcAft>
                          <a:spcPts val="0"/>
                        </a:spcAft>
                        <a:buClrTx/>
                        <a:buSzTx/>
                        <a:buFontTx/>
                        <a:buNone/>
                        <a:tabLst/>
                        <a:defRPr/>
                      </a:pPr>
                      <a:endParaRPr lang="en-GB" sz="1050" b="1" kern="1200">
                        <a:solidFill>
                          <a:schemeClr val="tx1"/>
                        </a:solidFill>
                        <a:latin typeface="+mn-lt"/>
                        <a:ea typeface="+mn-ea"/>
                        <a:cs typeface="+mn-cs"/>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725192">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US" sz="800"/>
                        <a:t>While there will always be an </a:t>
                      </a:r>
                      <a:r>
                        <a:rPr lang="en-GB" sz="800" b="0" baseline="0"/>
                        <a:t>Monthly Factory Run instance whose outcome is used for monthly reporting, multiple other nBIF production instances can be created for a portfolio to support business needs </a:t>
                      </a:r>
                      <a:r>
                        <a:rPr lang="en-US" sz="800" b="0" baseline="0"/>
                        <a:t>that require ad-hoc run of</a:t>
                      </a:r>
                      <a:r>
                        <a:rPr lang="en-US" sz="800" b="0" kern="1200" baseline="0">
                          <a:solidFill>
                            <a:schemeClr val="tx1"/>
                          </a:solidFill>
                          <a:latin typeface="+mn-lt"/>
                          <a:ea typeface="+mn-ea"/>
                          <a:cs typeface="+mn-cs"/>
                        </a:rPr>
                        <a:t> their n-bridges with production data.</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baseline="0">
                          <a:solidFill>
                            <a:schemeClr val="tx1"/>
                          </a:solidFill>
                          <a:latin typeface="+mn-lt"/>
                          <a:ea typeface="+mn-ea"/>
                          <a:cs typeface="+mn-cs"/>
                        </a:rPr>
                        <a:t>Each nBIF instance in this approach will be treated as separate application.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kern="1200" baseline="0">
                        <a:solidFill>
                          <a:schemeClr val="tx1"/>
                        </a:solidFill>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76028">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Monthly Factory Run instance, whose outcome is used for monthly reporting, must always be kept </a:t>
                      </a:r>
                      <a:r>
                        <a:rPr lang="en-US" sz="800"/>
                        <a:t>unaffected of ad-hoc run requirements.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The approach is scalable to support varying parallel run requirements.</a:t>
                      </a:r>
                    </a:p>
                    <a:p>
                      <a:pPr marL="0" marR="0" lvl="0" indent="0" algn="l" defTabSz="456999" rtl="0" eaLnBrk="1" fontAlgn="auto" latinLnBrk="0" hangingPunct="1">
                        <a:lnSpc>
                          <a:spcPct val="100000"/>
                        </a:lnSpc>
                        <a:spcBef>
                          <a:spcPts val="0"/>
                        </a:spcBef>
                        <a:spcAft>
                          <a:spcPts val="0"/>
                        </a:spcAft>
                        <a:buClrTx/>
                        <a:buSzTx/>
                        <a:buFontTx/>
                        <a:buNone/>
                        <a:tabLst/>
                        <a:defRPr/>
                      </a:pPr>
                      <a:endParaRPr lang="nl-NL" sz="800"/>
                    </a:p>
                    <a:p>
                      <a:pPr marL="0" marR="0" lvl="0" indent="0" algn="l" defTabSz="456999" rtl="0" eaLnBrk="1" fontAlgn="auto" latinLnBrk="0" hangingPunct="1">
                        <a:lnSpc>
                          <a:spcPct val="100000"/>
                        </a:lnSpc>
                        <a:spcBef>
                          <a:spcPts val="0"/>
                        </a:spcBef>
                        <a:spcAft>
                          <a:spcPts val="0"/>
                        </a:spcAft>
                        <a:buClrTx/>
                        <a:buSzTx/>
                        <a:buFontTx/>
                        <a:buNone/>
                        <a:tabLst/>
                        <a:defRPr/>
                      </a:pPr>
                      <a:r>
                        <a:rPr lang="nl-NL" sz="800"/>
                        <a:t>see </a:t>
                      </a:r>
                      <a:r>
                        <a:rPr lang="en-GB" sz="800">
                          <a:hlinkClick r:id="rId3"/>
                        </a:rPr>
                        <a:t>nBIF Test &amp; Parallel production run strategy.pptx</a:t>
                      </a:r>
                      <a:r>
                        <a:rPr lang="en-GB" sz="800"/>
                        <a:t> &amp; </a:t>
                      </a:r>
                      <a:r>
                        <a:rPr lang="en-GB" sz="800">
                          <a:hlinkClick r:id="rId4"/>
                        </a:rPr>
                        <a:t>nBIF solution options for Parallel production run.pptx</a:t>
                      </a:r>
                      <a:r>
                        <a:rPr lang="en-GB" sz="800"/>
                        <a:t> for more detailed study</a:t>
                      </a:r>
                      <a:endParaRPr lang="en-GB" sz="800" b="0" baseline="0"/>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baseline="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baseline="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35554">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kern="1200">
                        <a:solidFill>
                          <a:schemeClr val="tx1"/>
                        </a:solidFill>
                        <a:latin typeface="+mn-lt"/>
                        <a:ea typeface="Verdana" panose="020B0604030504040204" pitchFamily="34" charset="0"/>
                        <a:cs typeface="Verdana" panose="020B0604030504040204" pitchFamily="34" charset="0"/>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17271">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Parallel instances may drift from the Monthly Factory Run instance.</a:t>
                      </a:r>
                      <a:endParaRPr lang="en-GB" sz="800" b="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767955">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a:t>1.</a:t>
                      </a:r>
                      <a:r>
                        <a:rPr lang="en-GB" sz="800" b="1"/>
                        <a:t>Enable running multiple versions of n-Bridge from within the current nBIF instance</a:t>
                      </a:r>
                      <a:r>
                        <a:rPr lang="en-GB" sz="800"/>
                        <a:t>: </a:t>
                      </a: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Extremely tedious to maintain varying changes within same Monthly Production Run workflow. </a:t>
                      </a:r>
                    </a:p>
                    <a:p>
                      <a:pPr marL="0" marR="0" lvl="0" indent="92075" algn="l" defTabSz="456999"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a:t>2. </a:t>
                      </a:r>
                      <a:r>
                        <a:rPr lang="en-GB" sz="800" b="1"/>
                        <a:t>Enable running multiple versions of n-Bridge from current nBIF production environment:</a:t>
                      </a:r>
                      <a:r>
                        <a:rPr lang="en-GB" sz="800"/>
                        <a:t> </a:t>
                      </a:r>
                      <a:r>
                        <a:rPr kumimoji="0" lang="en-US" sz="800" b="0" i="0" u="none" strike="noStrike" kern="1200" cap="none" spc="0" normalizeH="0" baseline="0" noProof="0">
                          <a:ln>
                            <a:noFill/>
                          </a:ln>
                          <a:solidFill>
                            <a:prstClr val="black"/>
                          </a:solidFill>
                          <a:effectLst/>
                          <a:uLnTx/>
                          <a:uFillTx/>
                          <a:latin typeface="Calibri" panose="020F0502020204030204"/>
                          <a:ea typeface="+mn-ea"/>
                          <a:cs typeface="+mn-cs"/>
                        </a:rPr>
                        <a:t>Difficult to manage sanity of monthly production run Environment. Prone to operational challenges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09">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sz="800" b="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5538">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To ensure parallel instances remain close to factory instance, they will be short lived. They will be instantiated on-demand through a template-based setup with possibility to  sync DB components of Factory environment.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baseline="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5"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pic>
        <p:nvPicPr>
          <p:cNvPr id="19" name="Picture 18">
            <a:extLst>
              <a:ext uri="{FF2B5EF4-FFF2-40B4-BE49-F238E27FC236}">
                <a16:creationId xmlns:a16="http://schemas.microsoft.com/office/drawing/2014/main" id="{CFD17301-241E-67FF-EC65-B2456438A438}"/>
              </a:ext>
            </a:extLst>
          </p:cNvPr>
          <p:cNvPicPr>
            <a:picLocks noChangeAspect="1"/>
          </p:cNvPicPr>
          <p:nvPr/>
        </p:nvPicPr>
        <p:blipFill>
          <a:blip r:embed="rId6"/>
          <a:stretch>
            <a:fillRect/>
          </a:stretch>
        </p:blipFill>
        <p:spPr>
          <a:xfrm>
            <a:off x="5030718" y="1369340"/>
            <a:ext cx="3736142" cy="1251631"/>
          </a:xfrm>
          <a:prstGeom prst="rect">
            <a:avLst/>
          </a:prstGeom>
          <a:solidFill>
            <a:schemeClr val="bg1"/>
          </a:solidFill>
        </p:spPr>
      </p:pic>
      <p:sp>
        <p:nvSpPr>
          <p:cNvPr id="5" name="TextBox 4">
            <a:extLst>
              <a:ext uri="{FF2B5EF4-FFF2-40B4-BE49-F238E27FC236}">
                <a16:creationId xmlns:a16="http://schemas.microsoft.com/office/drawing/2014/main" id="{82408531-57D5-89E8-9549-60DA4DB4B092}"/>
              </a:ext>
            </a:extLst>
          </p:cNvPr>
          <p:cNvSpPr txBox="1"/>
          <p:nvPr/>
        </p:nvSpPr>
        <p:spPr>
          <a:xfrm>
            <a:off x="5209682" y="22174"/>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5"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2625513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4.2.4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a:xfrm>
            <a:off x="479978" y="4072216"/>
            <a:ext cx="7804150" cy="204787"/>
          </a:xfrm>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180610734"/>
              </p:ext>
            </p:extLst>
          </p:nvPr>
        </p:nvGraphicFramePr>
        <p:xfrm>
          <a:off x="475814" y="1018901"/>
          <a:ext cx="7808316" cy="3051822"/>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18327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IAD-4. </a:t>
                      </a:r>
                      <a:r>
                        <a:rPr lang="en-GB" sz="1200" b="1" i="0" kern="1200" baseline="0" noProof="0">
                          <a:solidFill>
                            <a:schemeClr val="tx1"/>
                          </a:solidFill>
                          <a:latin typeface="+mn-lt"/>
                          <a:ea typeface="+mn-ea"/>
                          <a:cs typeface="+mn-cs"/>
                        </a:rPr>
                        <a:t>nBIF </a:t>
                      </a:r>
                      <a:r>
                        <a:rPr lang="en-GB" sz="1200" b="1" i="0" kern="1200" baseline="0">
                          <a:solidFill>
                            <a:schemeClr val="tx1"/>
                          </a:solidFill>
                          <a:latin typeface="+mn-lt"/>
                          <a:ea typeface="+mn-ea"/>
                          <a:cs typeface="+mn-cs"/>
                        </a:rPr>
                        <a:t>provides all model calculator results to GRFD except those provided to CRPR that are needed for operational purposes</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GB" sz="800" b="1" kern="1200" baseline="0" noProof="0">
                          <a:solidFill>
                            <a:schemeClr val="tx1"/>
                          </a:solidFill>
                          <a:latin typeface="+mn-lt"/>
                          <a:ea typeface="+mn-ea"/>
                          <a:cs typeface="+mn-cs"/>
                        </a:rPr>
                        <a:t>nBIF </a:t>
                      </a:r>
                      <a:r>
                        <a:rPr lang="en-GB" sz="800" b="1" kern="1200" baseline="0">
                          <a:solidFill>
                            <a:schemeClr val="tx1"/>
                          </a:solidFill>
                          <a:latin typeface="+mn-lt"/>
                          <a:ea typeface="+mn-ea"/>
                          <a:cs typeface="+mn-cs"/>
                        </a:rPr>
                        <a:t>will provide all model calculator results to GRFD except the ones that are need for operational purposes will be provided to CRPR only. </a:t>
                      </a:r>
                    </a:p>
                    <a:p>
                      <a:pPr algn="l" fontAlgn="b"/>
                      <a:r>
                        <a:rPr lang="en-GB" sz="800" b="1" kern="1200" baseline="0" noProof="0">
                          <a:solidFill>
                            <a:schemeClr val="tx1"/>
                          </a:solidFill>
                          <a:latin typeface="+mn-lt"/>
                          <a:ea typeface="+mn-ea"/>
                          <a:cs typeface="+mn-cs"/>
                        </a:rPr>
                        <a:t>nBIF </a:t>
                      </a:r>
                      <a:r>
                        <a:rPr lang="en-GB" sz="800" b="1" kern="1200" baseline="0">
                          <a:solidFill>
                            <a:schemeClr val="tx1"/>
                          </a:solidFill>
                          <a:latin typeface="+mn-lt"/>
                          <a:ea typeface="+mn-ea"/>
                          <a:cs typeface="+mn-cs"/>
                        </a:rPr>
                        <a:t>will provide results of IRB, RWA &amp; RAROC batch calculations to CRPR only. Credit core will cascade it to GRFD via CDM &amp; CFO-Hub. </a:t>
                      </a:r>
                      <a:endParaRPr lang="en-GB" sz="800" b="1" kern="1200" baseline="0" noProof="0">
                        <a:solidFill>
                          <a:schemeClr val="tx1"/>
                        </a:solidFill>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CRPR is the golden source for Credit Risk Metrics used by front office (IRB, RWA, RAROC) . </a:t>
                      </a:r>
                      <a:endParaRPr lang="en-GB" sz="800" b="0" i="0" u="none" strike="noStrike" noProof="0">
                        <a:solidFill>
                          <a:srgbClr val="000000"/>
                        </a:solidFill>
                        <a:effectLst/>
                        <a:latin typeface="+mn-lt"/>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3274">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3274">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indent="-228600">
                        <a:buAutoNum type="arabicPeriod"/>
                      </a:pPr>
                      <a:r>
                        <a:rPr lang="en-GB" sz="800" b="0" baseline="0"/>
                        <a:t>Unlike current situation where CRPR consumes only attributes that are necessary for front office purposes, CRPR must consume &amp; cascade forward entire model output result. </a:t>
                      </a:r>
                    </a:p>
                    <a:p>
                      <a:pPr marL="228600" indent="-228600">
                        <a:buAutoNum type="arabicPeriod"/>
                      </a:pPr>
                      <a:r>
                        <a:rPr lang="en-GB" sz="800" b="0" baseline="0"/>
                        <a:t> In the target CRPR will have two sources for IRB, RWA &amp; RAROC Risk Parameters: CAM for online ; nBIF for batch.</a:t>
                      </a:r>
                    </a:p>
                    <a:p>
                      <a:pPr marL="228600" indent="-228600">
                        <a:buAutoNum type="arabicPeriod"/>
                      </a:pPr>
                      <a:r>
                        <a:rPr lang="en-GB" sz="800" b="0" baseline="0"/>
                        <a:t>In the intermediate state, CAM will also be the source for models not yet implemented using nBIF (Rural)</a:t>
                      </a:r>
                    </a:p>
                    <a:p>
                      <a:pPr marL="228600" indent="-228600">
                        <a:buFontTx/>
                        <a:buAutoNum type="arabicPeriod" startAt="4"/>
                      </a:pPr>
                      <a:r>
                        <a:rPr lang="en-GB" sz="800" b="0" baseline="0"/>
                        <a:t>The current implementation timelines for nBIF CF, nBIF RMM and Corporate nBIF may get impacted.</a:t>
                      </a:r>
                    </a:p>
                    <a:p>
                      <a:pPr marL="228600" marR="0" lvl="0" indent="-228600" algn="l" defTabSz="456999" rtl="0" eaLnBrk="1" fontAlgn="auto" latinLnBrk="0" hangingPunct="1">
                        <a:lnSpc>
                          <a:spcPct val="100000"/>
                        </a:lnSpc>
                        <a:spcBef>
                          <a:spcPts val="0"/>
                        </a:spcBef>
                        <a:spcAft>
                          <a:spcPts val="0"/>
                        </a:spcAft>
                        <a:buClrTx/>
                        <a:buSzTx/>
                        <a:buFontTx/>
                        <a:buAutoNum type="arabicPeriod" startAt="4"/>
                        <a:tabLst/>
                        <a:defRPr/>
                      </a:pPr>
                      <a:r>
                        <a:rPr lang="en-GB" sz="800" b="0" baseline="0"/>
                        <a:t>CFO Hub and GRFD will need to change interface when nBIF stops sending IRB, RWA results for already implemented portfolios RSME.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3274">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indent="-228600">
                        <a:buAutoNum type="arabicPeriod"/>
                      </a:pPr>
                      <a:r>
                        <a:rPr lang="en-GB" sz="800" b="0" baseline="0"/>
                        <a:t>nBIF continues sending only selection of output to CRPR and entire output to GRFD – This would mean GRFD must do matching once Credit core sends these risk parameters after enriching. </a:t>
                      </a:r>
                    </a:p>
                    <a:p>
                      <a:pPr marL="228600" marR="0" lvl="0" indent="-228600" algn="l" defTabSz="456999" rtl="0" eaLnBrk="1" fontAlgn="auto" latinLnBrk="0" hangingPunct="1">
                        <a:lnSpc>
                          <a:spcPct val="100000"/>
                        </a:lnSpc>
                        <a:spcBef>
                          <a:spcPts val="0"/>
                        </a:spcBef>
                        <a:spcAft>
                          <a:spcPts val="0"/>
                        </a:spcAft>
                        <a:buClrTx/>
                        <a:buSzTx/>
                        <a:buFontTx/>
                        <a:buAutoNum type="arabicPeriod"/>
                        <a:tabLst/>
                        <a:defRPr/>
                      </a:pPr>
                      <a:r>
                        <a:rPr lang="en-GB" sz="800" b="0" baseline="0"/>
                        <a:t>nBIF sends every result to GRFD &amp; GRFD tells CRPR which Risk Parameters have been used for (Common) Reporting. This would position GRFD as source of Verified Risk Parameters, rather then </a:t>
                      </a:r>
                      <a:r>
                        <a:rPr lang="en-GB" sz="800" b="0"/>
                        <a:t>nBIF.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3274">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For go live of RMM nBIF UT5, implement sending results to GRFD via CFO-Hub</a:t>
                      </a:r>
                    </a:p>
                    <a:p>
                      <a:r>
                        <a:rPr lang="en-GB" sz="800" b="0"/>
                        <a:t>For go live of Corporate DRB UT5, CRPR route will be fast-tracked</a:t>
                      </a:r>
                    </a:p>
                    <a:p>
                      <a:r>
                        <a:rPr lang="en-GB" sz="800" b="0"/>
                        <a:t>For go live of CF nBIF RWA STD, implement sending results to GRFD via CFO-Hub</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93336920-0189-9C45-36C3-9C465E22996C}"/>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93520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4.2.5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968048505"/>
              </p:ext>
            </p:extLst>
          </p:nvPr>
        </p:nvGraphicFramePr>
        <p:xfrm>
          <a:off x="475814" y="1072642"/>
          <a:ext cx="7808316" cy="2449576"/>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18327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IAD-5. </a:t>
                      </a:r>
                      <a:r>
                        <a:rPr lang="en-GB" sz="1200" b="1" i="0" kern="1200" baseline="0" noProof="0">
                          <a:solidFill>
                            <a:schemeClr val="tx1"/>
                          </a:solidFill>
                          <a:latin typeface="+mn-lt"/>
                          <a:ea typeface="+mn-ea"/>
                          <a:cs typeface="+mn-cs"/>
                        </a:rPr>
                        <a:t>For each nBIF instance that uses GRFD1 to source input data, There will be a single STO in GRFD1  for the consolidated data needs of all the models (bridges) on nBIF.</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For each nBIF instance that uses GRFD1 to source input data, there will be a single STO &amp; single bookmarking control on GRFD1  for the consolidated data needs of all the models (bridges) on nBIF.</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nBIF is positioned to run end-to-end n-Bridge as one single business process. </a:t>
                      </a:r>
                      <a:r>
                        <a:rPr lang="en-GB" sz="800" b="0" baseline="0"/>
                        <a:t>This will bring significant performance improvement in the end-to-end model calculation process for UT5, UT8, UT9.  It will also make the control process at GRFD simple. </a:t>
                      </a:r>
                      <a:endParaRPr lang="en-GB" sz="800" b="0" i="0" u="none" strike="noStrike" noProof="0">
                        <a:solidFill>
                          <a:srgbClr val="000000"/>
                        </a:solidFill>
                        <a:effectLst/>
                        <a:latin typeface="+mn-lt"/>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3274">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3274">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GB" sz="800" b="0" baseline="0"/>
                        <a:t>GRFD must extend the STO incrementally whenever there is new bridge being integrated on nBIF.</a:t>
                      </a:r>
                    </a:p>
                    <a:p>
                      <a:pPr marL="0" indent="0">
                        <a:buNone/>
                      </a:pPr>
                      <a:r>
                        <a:rPr lang="en-GB" sz="800" b="0" baseline="0"/>
                        <a:t>Bookmarking step for IRB (control C2 IRB), RWA (Control C2 RWA) &amp; IFRS9 &amp; ST will have to be combined on GRFD1.</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Current GRFD process to update</a:t>
                      </a:r>
                      <a:r>
                        <a:rPr lang="en-GB" sz="800" b="0" baseline="0"/>
                        <a:t> RWA SBV’s will be redundant/impacted</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RWA Input Data Contract between GRFD and CAS will be redundant</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IFRS9 &amp; ST Input Data Contract between GRFD and STIB will be redundant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3274">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GB" sz="800" b="0" baseline="0"/>
                        <a:t>nBIF receives input for new bridges separately – This is the legacy setup which causes process delay, data inconsistency, cost in-effective.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3274">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EB2C8DA9-5F2E-6FCA-A89B-9809A1FF358B}"/>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1923864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4.2.6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196722678"/>
              </p:ext>
            </p:extLst>
          </p:nvPr>
        </p:nvGraphicFramePr>
        <p:xfrm>
          <a:off x="475814" y="1072642"/>
          <a:ext cx="7808316" cy="1969250"/>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18327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IAD-6. </a:t>
                      </a:r>
                      <a:r>
                        <a:rPr lang="en-GB" sz="1200" b="1" i="0" kern="1200" baseline="0" noProof="0">
                          <a:solidFill>
                            <a:schemeClr val="tx1"/>
                          </a:solidFill>
                          <a:latin typeface="+mn-lt"/>
                          <a:ea typeface="+mn-ea"/>
                          <a:cs typeface="+mn-cs"/>
                        </a:rPr>
                        <a:t>For each nBIF instance that uses GRFD2 to source input data, there will be a single STO created on CADDI for the consolidated data needs of all the models (bridges) on nBIF. </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For each nBIF instance that uses GRFD2 to source input data, There will be a single STO created on CADDI for the consolidated data needs of all the models (bridges) on nBIF.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nBIF is positioned to run end-to-end n-Bridge as one single business process. Single data delivery is vital to avoid multiple loops with GRFD.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3274">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3274">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GB" sz="800" b="0" baseline="0"/>
                        <a:t>Each nBIF portfolio must extend the SQLs used to extract data from  incrementally whenever there is new bridge being integrated on nBIF.</a:t>
                      </a:r>
                    </a:p>
                    <a:p>
                      <a:pPr marL="0" indent="0">
                        <a:buNone/>
                      </a:pPr>
                      <a:endParaRPr lang="en-GB" sz="800" b="0" baseline="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3274">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GB" sz="800" b="0" baseline="0"/>
                        <a:t>nBIF receives input for different models separately – This is the legacy setup which causes process delay, data inconsistency, cost in-effective.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3274">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EFA4F3C0-166C-2199-521D-7D201275B854}"/>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3974553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4.2.7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1967337797"/>
              </p:ext>
            </p:extLst>
          </p:nvPr>
        </p:nvGraphicFramePr>
        <p:xfrm>
          <a:off x="475814" y="1072642"/>
          <a:ext cx="7808316" cy="3353715"/>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517539">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IAD-7. </a:t>
                      </a:r>
                      <a:r>
                        <a:rPr lang="en-GB" sz="1200" b="1" i="0" kern="1200" baseline="0" noProof="0">
                          <a:solidFill>
                            <a:schemeClr val="tx1"/>
                          </a:solidFill>
                          <a:latin typeface="+mn-lt"/>
                          <a:ea typeface="+mn-ea"/>
                          <a:cs typeface="+mn-cs"/>
                        </a:rPr>
                        <a:t>For each nBIF instance for which STO is created by TCA using CADDI, The Input data validation step will be done on nBIF. This will be a consolidated validation for all the bridges. </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475157">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For each nBIF instance for which STO is created by TCA using CADDI, an Input data validation step will be done on nBIF. </a:t>
                      </a:r>
                    </a:p>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This will be a consolidated validation for all the bridges. </a:t>
                      </a:r>
                    </a:p>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Individual bridges shall not have stand-alone input data validation step.</a:t>
                      </a:r>
                    </a:p>
                    <a:p>
                      <a:pPr marL="0" marR="0" lvl="0" indent="0" algn="l" defTabSz="456999" rtl="0" eaLnBrk="1" fontAlgn="b" latinLnBrk="0" hangingPunct="1">
                        <a:lnSpc>
                          <a:spcPct val="100000"/>
                        </a:lnSpc>
                        <a:spcBef>
                          <a:spcPts val="0"/>
                        </a:spcBef>
                        <a:spcAft>
                          <a:spcPts val="0"/>
                        </a:spcAft>
                        <a:buClrTx/>
                        <a:buSzTx/>
                        <a:buFontTx/>
                        <a:buNone/>
                        <a:tabLst/>
                        <a:defRPr/>
                      </a:pPr>
                      <a:endParaRPr lang="en-GB" sz="800" b="1" kern="1200" baseline="0" noProof="0">
                        <a:solidFill>
                          <a:schemeClr val="tx1"/>
                        </a:solidFill>
                        <a:latin typeface="+mn-lt"/>
                        <a:ea typeface="+mn-ea"/>
                        <a:cs typeface="+mn-cs"/>
                      </a:endParaRPr>
                    </a:p>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In Target state, every nBIF instance will follow this pattern. In current state, there are instances that get data from GRFD1 STO or GRFD2 STO – They will have their input data validation step (bookmarking in GRFD terms) done by GRFD.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37147">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Since nBIF will take control of extracting its model input dataset (via CADDI) on the fly using SQL queries, GRFD will have no awareness of what data is staged-in by nBIF.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07461">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37147">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GB" sz="800" b="0" baseline="0"/>
                        <a:t>Each nBIF instance must build their input data plausibility report. This input plausibility report shall unify KPIs/KRIs captured similarly to the Input bookmarking step at GRFD1, the IFRS9 input plausibility report on STIB Factory and the ST input plausibility on STIB Assembly. </a:t>
                      </a:r>
                    </a:p>
                    <a:p>
                      <a:pPr marL="171450" indent="-171450">
                        <a:buFont typeface="Arial" panose="020B0604020202020204" pitchFamily="34" charset="0"/>
                        <a:buChar char="•"/>
                      </a:pPr>
                      <a:r>
                        <a:rPr lang="en-GB" sz="800" b="0" baseline="0"/>
                        <a:t>There shall be a process to approve/reject these reports.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07461">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r>
                        <a:rPr lang="en-GB" sz="800" b="0" baseline="0"/>
                        <a:t>nBIF receives input for different models separately – This is the legacy setup which causes process delay, data inconsistency, cost in-effective.</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Automate all input plausibility checks as part of portfolio specific data pipeline – We aim to have standard data ingestion pipeline. This mean customized process for each portfolio. And the results are not transparently accessible to business users. </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Skip Input plausibility and rely on output plausibility alone – This will not allow bridges to fail fast.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07461">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37147">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b="0" baseline="0"/>
                        <a:t>nBIF inspection module will provide a standard process to approve/disapprove input data validation using input plausibility report.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47E65827-8A17-3255-FC1D-F3D1173806C9}"/>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3195191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4.2.8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graphicFrame>
        <p:nvGraphicFramePr>
          <p:cNvPr id="5" name="Table 4">
            <a:extLst>
              <a:ext uri="{FF2B5EF4-FFF2-40B4-BE49-F238E27FC236}">
                <a16:creationId xmlns:a16="http://schemas.microsoft.com/office/drawing/2014/main" id="{2552112E-4269-73B6-BFF4-9F1AAACB8A03}"/>
              </a:ext>
            </a:extLst>
          </p:cNvPr>
          <p:cNvGraphicFramePr>
            <a:graphicFrameLocks noGrp="1"/>
          </p:cNvGraphicFramePr>
          <p:nvPr>
            <p:extLst>
              <p:ext uri="{D42A27DB-BD31-4B8C-83A1-F6EECF244321}">
                <p14:modId xmlns:p14="http://schemas.microsoft.com/office/powerpoint/2010/main" val="4283858982"/>
              </p:ext>
            </p:extLst>
          </p:nvPr>
        </p:nvGraphicFramePr>
        <p:xfrm>
          <a:off x="476250" y="1099920"/>
          <a:ext cx="8192550" cy="3262932"/>
        </p:xfrm>
        <a:graphic>
          <a:graphicData uri="http://schemas.openxmlformats.org/drawingml/2006/table">
            <a:tbl>
              <a:tblPr/>
              <a:tblGrid>
                <a:gridCol w="1008607">
                  <a:extLst>
                    <a:ext uri="{9D8B030D-6E8A-4147-A177-3AD203B41FA5}">
                      <a16:colId xmlns:a16="http://schemas.microsoft.com/office/drawing/2014/main" val="3459451793"/>
                    </a:ext>
                  </a:extLst>
                </a:gridCol>
                <a:gridCol w="7183943">
                  <a:extLst>
                    <a:ext uri="{9D8B030D-6E8A-4147-A177-3AD203B41FA5}">
                      <a16:colId xmlns:a16="http://schemas.microsoft.com/office/drawing/2014/main" val="3402156970"/>
                    </a:ext>
                  </a:extLst>
                </a:gridCol>
              </a:tblGrid>
              <a:tr h="563127">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1200" b="1" kern="1200" baseline="0" noProof="0">
                          <a:solidFill>
                            <a:schemeClr val="tx1"/>
                          </a:solidFill>
                          <a:latin typeface="+mn-lt"/>
                          <a:ea typeface="+mn-ea"/>
                          <a:cs typeface="+mn-cs"/>
                        </a:rPr>
                        <a:t>IAD 8. IRB, RWA, &amp; ECL results are delivered to consumers only after all three are inspected and approved in nBIF.</a:t>
                      </a:r>
                    </a:p>
                  </a:txBody>
                  <a:tcPr marL="87015" marR="87015" marT="43507" marB="43507" anchor="b">
                    <a:lnL w="11849" cap="flat" cmpd="sng" algn="ctr">
                      <a:solidFill>
                        <a:srgbClr val="DCDDDE"/>
                      </a:solidFill>
                      <a:prstDash val="solid"/>
                      <a:round/>
                      <a:headEnd type="none" w="med" len="med"/>
                      <a:tailEnd type="none" w="med" len="med"/>
                    </a:lnL>
                    <a:lnR w="11849" cap="flat" cmpd="sng" algn="ctr">
                      <a:solidFill>
                        <a:srgbClr val="DCDDDE"/>
                      </a:solidFill>
                      <a:prstDash val="solid"/>
                      <a:round/>
                      <a:headEnd type="none" w="med" len="med"/>
                      <a:tailEnd type="none" w="med" len="med"/>
                    </a:lnR>
                    <a:lnT w="53340" cap="flat" cmpd="sng" algn="ctr">
                      <a:solidFill>
                        <a:srgbClr val="FD6400"/>
                      </a:solidFill>
                      <a:prstDash val="solid"/>
                      <a:round/>
                      <a:headEnd type="none" w="med" len="med"/>
                      <a:tailEnd type="none" w="med" len="med"/>
                    </a:lnT>
                    <a:lnB w="11849" cap="flat" cmpd="sng" algn="ctr">
                      <a:solidFill>
                        <a:srgbClr val="D3D3D3"/>
                      </a:solidFill>
                      <a:prstDash val="solid"/>
                      <a:round/>
                      <a:headEnd type="none" w="med" len="med"/>
                      <a:tailEnd type="none" w="med" len="med"/>
                    </a:lnB>
                    <a:solidFill>
                      <a:srgbClr val="DCDDDE"/>
                    </a:solidFill>
                  </a:tcPr>
                </a:tc>
                <a:tc hMerge="1">
                  <a:txBody>
                    <a:bodyPr/>
                    <a:lstStyle/>
                    <a:p>
                      <a:endParaRPr lang="en-NL"/>
                    </a:p>
                  </a:txBody>
                  <a:tcPr/>
                </a:tc>
                <a:extLst>
                  <a:ext uri="{0D108BD9-81ED-4DB2-BD59-A6C34878D82A}">
                    <a16:rowId xmlns:a16="http://schemas.microsoft.com/office/drawing/2014/main" val="2256097466"/>
                  </a:ext>
                </a:extLst>
              </a:tr>
              <a:tr h="360743">
                <a:tc>
                  <a:txBody>
                    <a:bodyPr/>
                    <a:lstStyle/>
                    <a:p>
                      <a:pPr algn="l" fontAlgn="base"/>
                      <a:r>
                        <a:rPr lang="en-GB" sz="700" b="0" i="0">
                          <a:solidFill>
                            <a:schemeClr val="tx1"/>
                          </a:solidFill>
                          <a:effectLst/>
                          <a:latin typeface="+mn-lt"/>
                        </a:rPr>
                        <a:t>Decision​</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GB" sz="800" b="1" kern="1200" baseline="0" noProof="0">
                          <a:solidFill>
                            <a:schemeClr val="tx1"/>
                          </a:solidFill>
                          <a:latin typeface="+mn-lt"/>
                          <a:ea typeface="+mn-ea"/>
                          <a:cs typeface="+mn-cs"/>
                        </a:rPr>
                        <a:t>IRB, ECL, &amp; RWA results are delivered to consumers only after all three are inspected and approved in nBIF.</a:t>
                      </a:r>
                    </a:p>
                    <a:p>
                      <a:pPr marL="171450" marR="0" lvl="0" indent="-171450" algn="l" defTabSz="456999"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GB" sz="800" b="0" kern="1200">
                          <a:solidFill>
                            <a:schemeClr val="tx1"/>
                          </a:solidFill>
                          <a:latin typeface="+mn-lt"/>
                          <a:ea typeface="+mn-ea"/>
                          <a:cs typeface="+mn-cs"/>
                        </a:rPr>
                        <a:t>The key control KC2a (IRB &amp; RDD &amp; RWA), that is done on </a:t>
                      </a:r>
                      <a:r>
                        <a:rPr lang="en-GB" sz="800" b="0" kern="1200" baseline="0" noProof="0">
                          <a:solidFill>
                            <a:schemeClr val="tx1"/>
                          </a:solidFill>
                          <a:latin typeface="+mn-lt"/>
                          <a:ea typeface="+mn-ea"/>
                          <a:cs typeface="+mn-cs"/>
                        </a:rPr>
                        <a:t>nBIF for portfolios where UT5 is implemented on nBIF, will be extended to include </a:t>
                      </a:r>
                      <a:r>
                        <a:rPr lang="en-GB" sz="800" b="0" kern="1200">
                          <a:solidFill>
                            <a:schemeClr val="tx1"/>
                          </a:solidFill>
                          <a:latin typeface="+mn-lt"/>
                          <a:ea typeface="+mn-ea"/>
                          <a:cs typeface="+mn-cs"/>
                        </a:rPr>
                        <a:t>(IRB &amp; RDD &amp; IFRS9 &amp; RWA) </a:t>
                      </a:r>
                      <a:endParaRPr lang="en-GB" sz="800" b="1" kern="1200" baseline="0" noProof="0">
                        <a:solidFill>
                          <a:schemeClr val="tx1"/>
                        </a:solidFill>
                        <a:latin typeface="+mn-lt"/>
                        <a:ea typeface="+mn-ea"/>
                        <a:cs typeface="+mn-cs"/>
                      </a:endParaRPr>
                    </a:p>
                    <a:p>
                      <a:pPr marL="0" marR="0" lvl="0" indent="0" algn="l" defTabSz="456999" rtl="0" eaLnBrk="1" fontAlgn="base"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ST baseline &amp; RAROC post deal runs are in the end of the chain. Their results will be delivered to consumers as soon as they are inspected &amp; approved.</a:t>
                      </a:r>
                    </a:p>
                    <a:p>
                      <a:pPr algn="l" fontAlgn="base"/>
                      <a:endParaRPr lang="en-GB" sz="800" b="1" kern="1200" baseline="0" noProof="0">
                        <a:solidFill>
                          <a:schemeClr val="tx1"/>
                        </a:solidFill>
                        <a:latin typeface="+mn-lt"/>
                        <a:ea typeface="+mn-ea"/>
                        <a:cs typeface="+mn-cs"/>
                      </a:endParaRPr>
                    </a:p>
                    <a:p>
                      <a:pPr marL="0" marR="0" lvl="0" indent="0" algn="l" defTabSz="456999" rtl="0" eaLnBrk="1" fontAlgn="base"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In intermediate situation, when ECL is not onboarded to nBIF, IRB &amp; RWA results are delivered to consumers once both are inspected and approved in nBIF.</a:t>
                      </a:r>
                      <a:endParaRPr lang="en-GB" sz="800" b="1" i="0" u="none" strike="noStrike" kern="1200" noProof="0">
                        <a:solidFill>
                          <a:schemeClr val="tx1"/>
                        </a:solidFill>
                        <a:effectLst/>
                        <a:latin typeface="+mn-lt"/>
                        <a:ea typeface="+mn-ea"/>
                        <a:cs typeface="+mn-cs"/>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832012406"/>
                  </a:ext>
                </a:extLst>
              </a:tr>
              <a:tr h="259857">
                <a:tc>
                  <a:txBody>
                    <a:bodyPr/>
                    <a:lstStyle/>
                    <a:p>
                      <a:pPr algn="l" fontAlgn="base"/>
                      <a:r>
                        <a:rPr lang="en-GB" sz="700" b="0" i="0">
                          <a:solidFill>
                            <a:schemeClr val="tx1"/>
                          </a:solidFill>
                          <a:effectLst/>
                          <a:latin typeface="+mn-lt"/>
                        </a:rPr>
                        <a:t>Rationale​</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marL="0" indent="0" algn="l" fontAlgn="base">
                        <a:buFont typeface="Arial" panose="020B0604020202020204" pitchFamily="34" charset="0"/>
                        <a:buNone/>
                      </a:pPr>
                      <a:r>
                        <a:rPr lang="en-GB" sz="800" b="0" i="0" u="none" strike="noStrike" kern="1200" baseline="0" noProof="0">
                          <a:solidFill>
                            <a:schemeClr val="tx1"/>
                          </a:solidFill>
                          <a:effectLst/>
                          <a:latin typeface="+mn-lt"/>
                          <a:ea typeface="+mn-ea"/>
                          <a:cs typeface="+mn-cs"/>
                        </a:rPr>
                        <a:t>There is likelihood that later bridges (in nBIF)  disapprove their result even though the result of initial bridges is approved during inspection. Such situations may require rerun of the entire n-Bridge. This decision is made to handle all such non-happy situation. </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477409392"/>
                  </a:ext>
                </a:extLst>
              </a:tr>
              <a:tr h="240902">
                <a:tc>
                  <a:txBody>
                    <a:bodyPr/>
                    <a:lstStyle/>
                    <a:p>
                      <a:pPr algn="l" fontAlgn="base"/>
                      <a:r>
                        <a:rPr lang="en-GB" sz="700" b="0" i="0">
                          <a:solidFill>
                            <a:schemeClr val="tx1"/>
                          </a:solidFill>
                          <a:effectLst/>
                          <a:latin typeface="+mn-lt"/>
                        </a:rPr>
                        <a:t>Related IT-principle​</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GB" sz="700" b="0" i="0">
                          <a:solidFill>
                            <a:schemeClr val="tx1"/>
                          </a:solidFill>
                          <a:effectLst/>
                          <a:latin typeface="+mn-lt"/>
                        </a:rPr>
                        <a:t>Keep IT Simple​</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704209823"/>
                  </a:ext>
                </a:extLst>
              </a:tr>
              <a:tr h="313977">
                <a:tc>
                  <a:txBody>
                    <a:bodyPr/>
                    <a:lstStyle/>
                    <a:p>
                      <a:pPr algn="l" fontAlgn="base"/>
                      <a:r>
                        <a:rPr lang="en-GB" sz="700" b="0" i="0">
                          <a:solidFill>
                            <a:schemeClr val="tx1"/>
                          </a:solidFill>
                          <a:effectLst/>
                          <a:latin typeface="+mn-lt"/>
                        </a:rPr>
                        <a:t>Consequences​</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marL="171450" marR="0" lvl="0" indent="-171450" algn="l" defTabSz="456999" rtl="0" eaLnBrk="1" fontAlgn="base" latinLnBrk="0" hangingPunct="1">
                        <a:lnSpc>
                          <a:spcPct val="100000"/>
                        </a:lnSpc>
                        <a:spcBef>
                          <a:spcPts val="0"/>
                        </a:spcBef>
                        <a:spcAft>
                          <a:spcPts val="0"/>
                        </a:spcAft>
                        <a:buClrTx/>
                        <a:buSzTx/>
                        <a:buFontTx/>
                        <a:buChar char="-"/>
                        <a:tabLst/>
                        <a:defRPr/>
                      </a:pPr>
                      <a:r>
                        <a:rPr lang="en-US" sz="700" b="0" i="0" kern="1200">
                          <a:solidFill>
                            <a:schemeClr val="tx1"/>
                          </a:solidFill>
                          <a:effectLst/>
                          <a:latin typeface="+mn-lt"/>
                          <a:ea typeface="+mn-ea"/>
                          <a:cs typeface="+mn-cs"/>
                        </a:rPr>
                        <a:t>For the nBIF implementations with IRB &amp; RWA bridge, IRB results cannot be delivered until monthly RWA model results are also approved.</a:t>
                      </a:r>
                    </a:p>
                    <a:p>
                      <a:pPr marL="171450" indent="-171450" algn="l" fontAlgn="base">
                        <a:buFontTx/>
                        <a:buChar char="-"/>
                      </a:pPr>
                      <a:r>
                        <a:rPr lang="en-US" sz="700" b="0" i="0" kern="1200">
                          <a:solidFill>
                            <a:schemeClr val="tx1"/>
                          </a:solidFill>
                          <a:effectLst/>
                          <a:latin typeface="+mn-lt"/>
                          <a:ea typeface="+mn-ea"/>
                          <a:cs typeface="+mn-cs"/>
                        </a:rPr>
                        <a:t>For the nBIF implementations with IRB, RWA &amp; IFRS9 bridge, IRB &amp; RWA results cannot be delivered until monthly ECL model results are also approved.</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191447325"/>
                  </a:ext>
                </a:extLst>
              </a:tr>
              <a:tr h="506264">
                <a:tc>
                  <a:txBody>
                    <a:bodyPr/>
                    <a:lstStyle/>
                    <a:p>
                      <a:pPr algn="l" fontAlgn="base"/>
                      <a:r>
                        <a:rPr lang="en-GB" sz="900" b="0" i="0">
                          <a:solidFill>
                            <a:schemeClr val="tx1"/>
                          </a:solidFill>
                          <a:effectLst/>
                          <a:latin typeface="+mn-lt"/>
                        </a:rPr>
                        <a:t>Alternatives​</a:t>
                      </a:r>
                      <a:endParaRPr lang="en-GB" sz="20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buFont typeface="+mj-lt"/>
                        <a:buNone/>
                      </a:pPr>
                      <a:r>
                        <a:rPr lang="en-GB" sz="700" b="0" i="0">
                          <a:solidFill>
                            <a:schemeClr val="tx1"/>
                          </a:solidFill>
                          <a:effectLst/>
                          <a:latin typeface="+mn-lt"/>
                        </a:rPr>
                        <a:t>Deliver each bridge result as soon as it is inspected &amp; signed-off within nBIF  --</a:t>
                      </a:r>
                    </a:p>
                    <a:p>
                      <a:pPr marL="268288" marR="0" lvl="0" indent="-87313" algn="l" defTabSz="456999"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GB" sz="700" b="0" i="0">
                          <a:solidFill>
                            <a:schemeClr val="tx1"/>
                          </a:solidFill>
                          <a:effectLst/>
                          <a:latin typeface="+mn-lt"/>
                        </a:rPr>
                        <a:t>If an issue is found only during the inspection of later bridge result leading to a complete chain rerun, the previous bridge result would have already cascaded to GRFD and potentially to RRP. This will lead to various data consistency challenges.  For example, In situations when IFRS9 results are not approved due to an underlying issue in source data or in the IRB/RWA results, IFRS9 may require to rerun the chain. In such situation COREP and FINREP will have differences.</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651731487"/>
                  </a:ext>
                </a:extLst>
              </a:tr>
              <a:tr h="240902">
                <a:tc>
                  <a:txBody>
                    <a:bodyPr/>
                    <a:lstStyle/>
                    <a:p>
                      <a:pPr algn="l" fontAlgn="base"/>
                      <a:r>
                        <a:rPr lang="en-GB" sz="700" b="0" i="0">
                          <a:solidFill>
                            <a:schemeClr val="tx1"/>
                          </a:solidFill>
                          <a:effectLst/>
                          <a:latin typeface="+mn-lt"/>
                        </a:rPr>
                        <a:t>Architectural Fit​</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GB" sz="700" b="0" i="0">
                          <a:solidFill>
                            <a:schemeClr val="tx1"/>
                          </a:solidFill>
                          <a:effectLst/>
                          <a:latin typeface="+mn-lt"/>
                        </a:rPr>
                        <a:t>Good​</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180510979"/>
                  </a:ext>
                </a:extLst>
              </a:tr>
              <a:tr h="240902">
                <a:tc>
                  <a:txBody>
                    <a:bodyPr/>
                    <a:lstStyle/>
                    <a:p>
                      <a:pPr algn="l" fontAlgn="base"/>
                      <a:r>
                        <a:rPr lang="en-GB" sz="700" b="0" i="0">
                          <a:solidFill>
                            <a:schemeClr val="tx1"/>
                          </a:solidFill>
                          <a:effectLst/>
                          <a:latin typeface="+mn-lt"/>
                        </a:rPr>
                        <a:t>Mitigations​</a:t>
                      </a:r>
                      <a:endParaRPr lang="en-GB" sz="1700" b="0" i="0">
                        <a:solidFill>
                          <a:schemeClr val="tx1"/>
                        </a:solidFill>
                        <a:effectLst/>
                        <a:latin typeface="+mn-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auto"/>
                      <a:r>
                        <a:rPr lang="en-GB" sz="700" b="1" i="0">
                          <a:solidFill>
                            <a:schemeClr val="tx1"/>
                          </a:solidFill>
                          <a:effectLst/>
                          <a:latin typeface="+mn-lt"/>
                        </a:rPr>
                        <a:t>​-</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667084553"/>
                  </a:ext>
                </a:extLst>
              </a:tr>
            </a:tbl>
          </a:graphicData>
        </a:graphic>
      </p:graphicFrame>
      <p:sp>
        <p:nvSpPr>
          <p:cNvPr id="7" name="TextBox 6">
            <a:extLst>
              <a:ext uri="{FF2B5EF4-FFF2-40B4-BE49-F238E27FC236}">
                <a16:creationId xmlns:a16="http://schemas.microsoft.com/office/drawing/2014/main" id="{0706D67A-1BC0-EAB3-50A9-9C034FE31B2A}"/>
              </a:ext>
            </a:extLst>
          </p:cNvPr>
          <p:cNvSpPr txBox="1"/>
          <p:nvPr/>
        </p:nvSpPr>
        <p:spPr>
          <a:xfrm>
            <a:off x="5207845" y="606982"/>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43474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4.2.9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2400597084"/>
              </p:ext>
            </p:extLst>
          </p:nvPr>
        </p:nvGraphicFramePr>
        <p:xfrm>
          <a:off x="475814" y="1059928"/>
          <a:ext cx="7808316" cy="2775470"/>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43249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IAD-9. </a:t>
                      </a:r>
                      <a:r>
                        <a:rPr lang="en-GB" sz="1200" b="1" i="0" kern="1200">
                          <a:solidFill>
                            <a:schemeClr val="tx1"/>
                          </a:solidFill>
                          <a:latin typeface="+mn-lt"/>
                          <a:ea typeface="+mn-ea"/>
                          <a:cs typeface="+mn-cs"/>
                        </a:rPr>
                        <a:t>nBIF will store operational history of all the data that is needed to perform Input/Output plausibility checks</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288950">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1" kern="1200">
                          <a:solidFill>
                            <a:schemeClr val="tx1"/>
                          </a:solidFill>
                          <a:latin typeface="+mn-lt"/>
                          <a:ea typeface="+mn-ea"/>
                          <a:cs typeface="+mn-cs"/>
                        </a:rPr>
                        <a:t>nBIF instance will store operational history of all the data that is needed to perform Input/Output plausibility checks.</a:t>
                      </a:r>
                    </a:p>
                    <a:p>
                      <a:r>
                        <a:rPr lang="en-GB" sz="800" b="1" kern="1200">
                          <a:solidFill>
                            <a:schemeClr val="tx1"/>
                          </a:solidFill>
                          <a:latin typeface="+mn-lt"/>
                          <a:ea typeface="+mn-ea"/>
                          <a:cs typeface="+mn-cs"/>
                        </a:rPr>
                        <a:t>As a rule of thumb, nBIF will store 12 months of input data history and 12 months of model result history.</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8950">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nBIF is positioned to be the single place for inspection and Sign-off, it must have ability to validate its inputs/outputs without needing to go to other systems. The inspection is done based on Plausibility reports. These reports, in general, provide a trend analysis of Inputs and Outputs. To generate the trend different portfolios, use different ranges of data history. It usually ranges between 6 months to 12 months of history data.</a:t>
                      </a:r>
                      <a:endParaRPr lang="en-GB" sz="800" b="0" baseline="0"/>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88950">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88950">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NA</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69576">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Calculation Archive – It is a flexible environment that is targeted towards model engineers for ad-hoc analysis. It contains data in file format (sometimes in JSON with no metadata &amp; in some recent models in parquet). For Plausibility reporting, if Calculation archive is used then we need to load this data to a database before </a:t>
                      </a:r>
                      <a:r>
                        <a:rPr lang="en-GB" sz="800" b="0" kern="1200" baseline="0" noProof="0" err="1">
                          <a:solidFill>
                            <a:schemeClr val="tx1"/>
                          </a:solidFill>
                          <a:latin typeface="+mn-lt"/>
                          <a:ea typeface="+mn-ea"/>
                          <a:cs typeface="+mn-cs"/>
                        </a:rPr>
                        <a:t>PowerBI</a:t>
                      </a:r>
                      <a:r>
                        <a:rPr lang="en-GB" sz="800" b="0" kern="1200" baseline="0" noProof="0">
                          <a:solidFill>
                            <a:schemeClr val="tx1"/>
                          </a:solidFill>
                          <a:latin typeface="+mn-lt"/>
                          <a:ea typeface="+mn-ea"/>
                          <a:cs typeface="+mn-cs"/>
                        </a:rPr>
                        <a:t> can consume it.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88950">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8950">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baseline="0"/>
                        <a:t>NA</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5" name="TextBox 4">
            <a:extLst>
              <a:ext uri="{FF2B5EF4-FFF2-40B4-BE49-F238E27FC236}">
                <a16:creationId xmlns:a16="http://schemas.microsoft.com/office/drawing/2014/main" id="{33A536DD-C88F-4FD0-CE9D-7853794F78FF}"/>
              </a:ext>
            </a:extLst>
          </p:cNvPr>
          <p:cNvSpPr txBox="1"/>
          <p:nvPr/>
        </p:nvSpPr>
        <p:spPr>
          <a:xfrm>
            <a:off x="5209682" y="606935"/>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2228248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4.2.10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1144004392"/>
              </p:ext>
            </p:extLst>
          </p:nvPr>
        </p:nvGraphicFramePr>
        <p:xfrm>
          <a:off x="472086" y="1352028"/>
          <a:ext cx="7808316" cy="2647164"/>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18327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IAD-10. In intermediate situation, </a:t>
                      </a:r>
                      <a:r>
                        <a:rPr lang="en-GB" sz="1200" i="0" u="none" strike="noStrike" noProof="0">
                          <a:solidFill>
                            <a:schemeClr val="tx1"/>
                          </a:solidFill>
                          <a:effectLst/>
                        </a:rPr>
                        <a:t>nBIF may source data directly from data sources other than GRFD.</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i="1" u="none" strike="noStrike" noProof="0">
                          <a:solidFill>
                            <a:schemeClr val="tx1"/>
                          </a:solidFill>
                          <a:effectLst/>
                        </a:rPr>
                        <a:t>In intermediate situation, nBIF may source data directly from data sources other than GRFD (GRFD2).</a:t>
                      </a:r>
                      <a:endParaRPr lang="en-GB" sz="800" b="0" kern="1200">
                        <a:solidFill>
                          <a:srgbClr val="C8009C"/>
                        </a:solidFill>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05517">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Although it is highly desired to source every input dataset through our structural data source GRFD (via CADDI), for certain cases the data needs to be sourced from elsewhere</a:t>
                      </a:r>
                      <a:r>
                        <a:rPr lang="en-GB" sz="800" b="0" baseline="0">
                          <a:sym typeface="Wingdings" panose="05000000000000000000" pitchFamily="2" charset="2"/>
                        </a:rPr>
                        <a:t>.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sym typeface="Wingdings" panose="05000000000000000000" pitchFamily="2" charset="2"/>
                        </a:rPr>
                        <a:t>This is more relevant when IFRS9 &amp; ST are being onboarded because they require input  data from data sources that are not planned to be on GRFD in near term.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This is also relevant for </a:t>
                      </a:r>
                      <a:r>
                        <a:rPr lang="en-GB" sz="800" b="0" baseline="0" err="1"/>
                        <a:t>Obvion</a:t>
                      </a:r>
                      <a:r>
                        <a:rPr lang="en-GB" sz="800" b="0" baseline="0"/>
                        <a:t> which is not onboarded to GRFD. Still, it needs to be onboarded to nBIF . </a:t>
                      </a:r>
                      <a:endParaRPr lang="en-GB" sz="800" b="0" baseline="0">
                        <a:sym typeface="Wingdings" panose="05000000000000000000" pitchFamily="2" charset="2"/>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baseline="0">
                        <a:sym typeface="Wingdings" panose="05000000000000000000" pitchFamily="2" charset="2"/>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sym typeface="Wingdings" panose="05000000000000000000" pitchFamily="2" charset="2"/>
                        </a:rPr>
                        <a:t>For such scenarios, in the intermediate situation, It is not a limitation on </a:t>
                      </a:r>
                      <a:r>
                        <a:rPr lang="en-GB" sz="800" b="0" i="0" baseline="0">
                          <a:sym typeface="Wingdings" panose="05000000000000000000" pitchFamily="2" charset="2"/>
                        </a:rPr>
                        <a:t>nBIF</a:t>
                      </a:r>
                      <a:r>
                        <a:rPr lang="en-GB" sz="800" b="0" baseline="0">
                          <a:sym typeface="Wingdings" panose="05000000000000000000" pitchFamily="2" charset="2"/>
                        </a:rPr>
                        <a:t> to source the data directly.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sym typeface="Wingdings" panose="05000000000000000000" pitchFamily="2" charset="2"/>
                        </a:rPr>
                        <a:t>This is because,</a:t>
                      </a:r>
                    </a:p>
                    <a:p>
                      <a:pPr marL="138113" marR="0" lvl="0" indent="42863"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Waiting for GRFD to onboard such data will be limiting to our time to market.</a:t>
                      </a:r>
                    </a:p>
                    <a:p>
                      <a:pPr marL="138113" marR="0" lvl="0" indent="42863"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Using another IT system (like CADDI) to source such data and make it available to nBIF just creates another hop of data. </a:t>
                      </a:r>
                      <a:endParaRPr lang="en-GB" sz="800" b="0" baseline="0">
                        <a:sym typeface="Wingdings" panose="05000000000000000000" pitchFamily="2" charset="2"/>
                      </a:endParaRP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baseline="0">
                        <a:sym typeface="Wingdings" panose="05000000000000000000" pitchFamily="2" charset="2"/>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3274">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3274">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nBIF to have one off interfaces with non-structural sources.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3274">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NA</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3274">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baseline="0"/>
                        <a:t>NA</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9" name="TextBox 8">
            <a:extLst>
              <a:ext uri="{FF2B5EF4-FFF2-40B4-BE49-F238E27FC236}">
                <a16:creationId xmlns:a16="http://schemas.microsoft.com/office/drawing/2014/main" id="{76026B44-D1DF-1B91-A141-EE0C8473C35C}"/>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2659724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4.2.11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3000605897"/>
              </p:ext>
            </p:extLst>
          </p:nvPr>
        </p:nvGraphicFramePr>
        <p:xfrm>
          <a:off x="472086" y="1049008"/>
          <a:ext cx="7808316" cy="2908071"/>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531699">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0" u="none" strike="noStrike" noProof="0">
                          <a:solidFill>
                            <a:schemeClr val="tx1"/>
                          </a:solidFill>
                          <a:effectLst/>
                        </a:rPr>
                        <a:t>IAD-11. nBIF can only expose model outputs (not intermediates) to its data consumers (includes credit core, GRFD, model monitoring, or next bridge in the chain).</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490400">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i="1" u="none" strike="noStrike" noProof="0">
                          <a:solidFill>
                            <a:schemeClr val="tx1"/>
                          </a:solidFill>
                          <a:effectLst/>
                        </a:rPr>
                        <a:t>nBIF can only expose model outputs (not intermediates)  to its data consumers (includes credit core, GRFD, model monitoring, or next bridge in the chain).</a:t>
                      </a:r>
                    </a:p>
                    <a:p>
                      <a:endParaRPr lang="en-US" sz="800" i="1" u="none" strike="noStrike" noProof="0">
                        <a:solidFill>
                          <a:schemeClr val="tx1"/>
                        </a:solidFill>
                        <a:effectLst/>
                      </a:endParaRPr>
                    </a:p>
                    <a:p>
                      <a:r>
                        <a:rPr lang="en-US" sz="800" i="1" u="none" strike="noStrike" noProof="0">
                          <a:solidFill>
                            <a:schemeClr val="tx1"/>
                          </a:solidFill>
                          <a:effectLst/>
                        </a:rPr>
                        <a:t>If model intermediate results are required by a data consumer, nBIF will recognize those intermediates as model output and expect to be captured in MDR, Collibra and SIS. </a:t>
                      </a:r>
                      <a:endParaRPr lang="en-GB" sz="800" b="0" kern="1200">
                        <a:solidFill>
                          <a:srgbClr val="C8009C"/>
                        </a:solidFill>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1765">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In-Control</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BCBS 239</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1765">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01765">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Sometimes plausibility reports are based on intermediate results. These intermediate results are not needed by any other purpose than plausibility. If squads must capture details about such intermediate results in MDR, it is a significant additional effort for them.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01765">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NA</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25867">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1765">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baseline="0"/>
                        <a:t>The intermediates that are required for run purposes only (like plausibility report) and doesn’t require to flow outside nBIF (to any consumers) will be allowed to be created on nBIF by calculator.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81CB3F59-725B-F615-3256-FA16E4A82D97}"/>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7433478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4.2.12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9" name="Text Placeholder 8">
            <a:extLst>
              <a:ext uri="{FF2B5EF4-FFF2-40B4-BE49-F238E27FC236}">
                <a16:creationId xmlns:a16="http://schemas.microsoft.com/office/drawing/2014/main" id="{3B3B00C9-5F26-A848-AC18-AC83B410B295}"/>
              </a:ext>
            </a:extLst>
          </p:cNvPr>
          <p:cNvSpPr>
            <a:spLocks noGrp="1"/>
          </p:cNvSpPr>
          <p:nvPr>
            <p:ph type="body" sz="quarter" idx="13"/>
          </p:nvPr>
        </p:nvSpPr>
        <p:spPr/>
        <p:txBody>
          <a:bodyPr/>
          <a:lstStyle/>
          <a:p>
            <a:endParaRPr lang="LID4096"/>
          </a:p>
        </p:txBody>
      </p:sp>
      <p:graphicFrame>
        <p:nvGraphicFramePr>
          <p:cNvPr id="10" name="Table 9">
            <a:extLst>
              <a:ext uri="{FF2B5EF4-FFF2-40B4-BE49-F238E27FC236}">
                <a16:creationId xmlns:a16="http://schemas.microsoft.com/office/drawing/2014/main" id="{9D0A0A8B-8321-BE93-83E0-C696DE3E0624}"/>
              </a:ext>
            </a:extLst>
          </p:cNvPr>
          <p:cNvGraphicFramePr>
            <a:graphicFrameLocks noGrp="1"/>
          </p:cNvGraphicFramePr>
          <p:nvPr>
            <p:extLst>
              <p:ext uri="{D42A27DB-BD31-4B8C-83A1-F6EECF244321}">
                <p14:modId xmlns:p14="http://schemas.microsoft.com/office/powerpoint/2010/main" val="1424973315"/>
              </p:ext>
            </p:extLst>
          </p:nvPr>
        </p:nvGraphicFramePr>
        <p:xfrm>
          <a:off x="476250" y="1110166"/>
          <a:ext cx="7804150" cy="3125593"/>
        </p:xfrm>
        <a:graphic>
          <a:graphicData uri="http://schemas.openxmlformats.org/drawingml/2006/table">
            <a:tbl>
              <a:tblPr/>
              <a:tblGrid>
                <a:gridCol w="960790">
                  <a:extLst>
                    <a:ext uri="{9D8B030D-6E8A-4147-A177-3AD203B41FA5}">
                      <a16:colId xmlns:a16="http://schemas.microsoft.com/office/drawing/2014/main" val="498734253"/>
                    </a:ext>
                  </a:extLst>
                </a:gridCol>
                <a:gridCol w="6843360">
                  <a:extLst>
                    <a:ext uri="{9D8B030D-6E8A-4147-A177-3AD203B41FA5}">
                      <a16:colId xmlns:a16="http://schemas.microsoft.com/office/drawing/2014/main" val="3100041448"/>
                    </a:ext>
                  </a:extLst>
                </a:gridCol>
              </a:tblGrid>
              <a:tr h="286361">
                <a:tc gridSpan="2">
                  <a:txBody>
                    <a:bodyPr/>
                    <a:lstStyle/>
                    <a:p>
                      <a:pPr marL="0" marR="0" lvl="0" indent="0" algn="l" defTabSz="456999" rtl="0" eaLnBrk="1" fontAlgn="base" latinLnBrk="0" hangingPunct="1">
                        <a:lnSpc>
                          <a:spcPct val="100000"/>
                        </a:lnSpc>
                        <a:spcBef>
                          <a:spcPts val="0"/>
                        </a:spcBef>
                        <a:spcAft>
                          <a:spcPts val="0"/>
                        </a:spcAft>
                        <a:buClrTx/>
                        <a:buSzTx/>
                        <a:buFontTx/>
                        <a:buNone/>
                        <a:tabLst/>
                        <a:defRPr/>
                      </a:pPr>
                      <a:r>
                        <a:rPr lang="en-US" sz="1200" b="1" i="0" u="none" strike="noStrike" kern="1200" noProof="0">
                          <a:solidFill>
                            <a:schemeClr val="tx1"/>
                          </a:solidFill>
                          <a:effectLst/>
                          <a:latin typeface="+mn-lt"/>
                          <a:ea typeface="+mn-ea"/>
                          <a:cs typeface="+mn-cs"/>
                        </a:rPr>
                        <a:t>IAD-12. </a:t>
                      </a:r>
                      <a:r>
                        <a:rPr lang="en-GB" sz="1200" b="1" i="0" u="none" strike="noStrike" kern="1200">
                          <a:solidFill>
                            <a:schemeClr val="tx1"/>
                          </a:solidFill>
                          <a:effectLst/>
                          <a:latin typeface="+mn-lt"/>
                          <a:ea typeface="+mn-ea"/>
                          <a:cs typeface="+mn-cs"/>
                        </a:rPr>
                        <a:t>CADDI will always be used in-between GRFD2 &amp; nBIF.  This will also include the situations when STO tables are created in GRFD2.</a:t>
                      </a:r>
                    </a:p>
                  </a:txBody>
                  <a:tcPr marL="87015" marR="87015" marT="43507" marB="43507" anchor="b">
                    <a:lnL w="23012" cap="flat" cmpd="sng" algn="ctr">
                      <a:solidFill>
                        <a:srgbClr val="DCDDDE"/>
                      </a:solidFill>
                      <a:prstDash val="solid"/>
                      <a:round/>
                      <a:headEnd type="none" w="med" len="med"/>
                      <a:tailEnd type="none" w="med" len="med"/>
                    </a:lnL>
                    <a:lnR w="23012" cap="flat" cmpd="sng" algn="ctr">
                      <a:solidFill>
                        <a:srgbClr val="DCDDDE"/>
                      </a:solidFill>
                      <a:prstDash val="solid"/>
                      <a:round/>
                      <a:headEnd type="none" w="med" len="med"/>
                      <a:tailEnd type="none" w="med" len="med"/>
                    </a:lnR>
                    <a:lnT w="103584" cap="flat" cmpd="sng" algn="ctr">
                      <a:solidFill>
                        <a:srgbClr val="FD6400"/>
                      </a:solidFill>
                      <a:prstDash val="solid"/>
                      <a:round/>
                      <a:headEnd type="none" w="med" len="med"/>
                      <a:tailEnd type="none" w="med" len="med"/>
                    </a:lnT>
                    <a:lnB w="23012" cap="flat" cmpd="sng" algn="ctr">
                      <a:solidFill>
                        <a:srgbClr val="D3D3D3"/>
                      </a:solidFill>
                      <a:prstDash val="solid"/>
                      <a:round/>
                      <a:headEnd type="none" w="med" len="med"/>
                      <a:tailEnd type="none" w="med" len="med"/>
                    </a:lnB>
                    <a:solidFill>
                      <a:srgbClr val="DCDDDE"/>
                    </a:solidFill>
                  </a:tcPr>
                </a:tc>
                <a:tc hMerge="1">
                  <a:txBody>
                    <a:bodyPr/>
                    <a:lstStyle/>
                    <a:p>
                      <a:endParaRPr lang="LID4096"/>
                    </a:p>
                  </a:txBody>
                  <a:tcPr/>
                </a:tc>
                <a:extLst>
                  <a:ext uri="{0D108BD9-81ED-4DB2-BD59-A6C34878D82A}">
                    <a16:rowId xmlns:a16="http://schemas.microsoft.com/office/drawing/2014/main" val="3052939683"/>
                  </a:ext>
                </a:extLst>
              </a:tr>
              <a:tr h="336896">
                <a:tc>
                  <a:txBody>
                    <a:bodyPr/>
                    <a:lstStyle/>
                    <a:p>
                      <a:pPr algn="l" fontAlgn="base"/>
                      <a:r>
                        <a:rPr lang="en-GB" sz="600" b="0" i="0" kern="1200">
                          <a:solidFill>
                            <a:srgbClr val="000000"/>
                          </a:solidFill>
                          <a:effectLst/>
                          <a:latin typeface="+mn-lt"/>
                          <a:ea typeface="+mn-ea"/>
                          <a:cs typeface="+mn-cs"/>
                        </a:rPr>
                        <a:t>Decision​</a:t>
                      </a: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marL="0" marR="0" indent="0" algn="l" defTabSz="456999" rtl="0" eaLnBrk="1" fontAlgn="base" latinLnBrk="0" hangingPunct="1">
                        <a:lnSpc>
                          <a:spcPct val="100000"/>
                        </a:lnSpc>
                        <a:spcBef>
                          <a:spcPts val="0"/>
                        </a:spcBef>
                        <a:spcAft>
                          <a:spcPts val="0"/>
                        </a:spcAft>
                        <a:buClrTx/>
                        <a:buSzTx/>
                        <a:buFontTx/>
                        <a:buNone/>
                        <a:tabLst/>
                        <a:defRPr/>
                      </a:pPr>
                      <a:r>
                        <a:rPr lang="en-GB" sz="700" b="0" i="0" kern="1200">
                          <a:solidFill>
                            <a:srgbClr val="000000"/>
                          </a:solidFill>
                          <a:effectLst/>
                          <a:latin typeface="+mn-lt"/>
                          <a:ea typeface="+mn-ea"/>
                          <a:cs typeface="+mn-cs"/>
                        </a:rPr>
                        <a:t>Even for the situations when STO tables are created in GRFD2, Use CADDI in-between GRFD2 &amp; nBIF. </a:t>
                      </a: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235238004"/>
                  </a:ext>
                </a:extLst>
              </a:tr>
              <a:tr h="632109">
                <a:tc>
                  <a:txBody>
                    <a:bodyPr/>
                    <a:lstStyle/>
                    <a:p>
                      <a:pPr algn="l" fontAlgn="base"/>
                      <a:r>
                        <a:rPr lang="en-GB" sz="700" b="0" i="0">
                          <a:solidFill>
                            <a:srgbClr val="000000"/>
                          </a:solidFill>
                          <a:effectLst/>
                          <a:latin typeface="+mn-lt"/>
                        </a:rPr>
                        <a:t>Rationale​</a:t>
                      </a:r>
                      <a:endParaRPr lang="en-GB" sz="17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marL="171450" indent="-171450" algn="l" fontAlgn="base">
                        <a:buFont typeface="Arial" panose="020B0604020202020204" pitchFamily="34" charset="0"/>
                        <a:buChar char="•"/>
                      </a:pPr>
                      <a:r>
                        <a:rPr lang="en-GB" sz="700" b="0" i="0" kern="1200">
                          <a:solidFill>
                            <a:srgbClr val="000000"/>
                          </a:solidFill>
                          <a:effectLst/>
                          <a:latin typeface="+mn-lt"/>
                          <a:ea typeface="+mn-ea"/>
                          <a:cs typeface="+mn-cs"/>
                        </a:rPr>
                        <a:t>The STO at GRFD2 is expected to be temporary and sooner be replaced with Credit STO. By having CADDI in between, we are closer to the target state architecture.</a:t>
                      </a:r>
                    </a:p>
                    <a:p>
                      <a:pPr marL="171450" indent="-171450" algn="l" fontAlgn="base">
                        <a:buFont typeface="Arial" panose="020B0604020202020204" pitchFamily="34" charset="0"/>
                        <a:buChar char="•"/>
                      </a:pPr>
                      <a:r>
                        <a:rPr lang="en-GB" sz="700" b="0" i="0" kern="1200">
                          <a:solidFill>
                            <a:srgbClr val="000000"/>
                          </a:solidFill>
                          <a:effectLst/>
                          <a:latin typeface="+mn-lt"/>
                          <a:ea typeface="+mn-ea"/>
                          <a:cs typeface="+mn-cs"/>
                        </a:rPr>
                        <a:t>We are building CADDI as a stateless compute unit that respond to the passed SQL query. In the situation when GRFD has built STO table, we run a simple “select * from table” like query to fetch data while when GRFD doesn’t build STO, we run complex SQL query.  Bottomline is, in both situation we need to send a query to GRFD. So CADDI doesn’t need more effort in supporting this scenario.</a:t>
                      </a:r>
                    </a:p>
                    <a:p>
                      <a:pPr marL="171450" indent="-171450" algn="l" fontAlgn="base">
                        <a:buFont typeface="Arial" panose="020B0604020202020204" pitchFamily="34" charset="0"/>
                        <a:buChar char="•"/>
                      </a:pPr>
                      <a:r>
                        <a:rPr lang="en-GB" sz="700" b="0" i="0" kern="1200">
                          <a:solidFill>
                            <a:srgbClr val="000000"/>
                          </a:solidFill>
                          <a:effectLst/>
                          <a:latin typeface="+mn-lt"/>
                          <a:ea typeface="+mn-ea"/>
                          <a:cs typeface="+mn-cs"/>
                        </a:rPr>
                        <a:t>nBIF can reuse the Corporate nBIF pattern so doesn’t require extra effort as well.</a:t>
                      </a:r>
                    </a:p>
                    <a:p>
                      <a:pPr marL="171450" indent="-171450" algn="l" fontAlgn="base">
                        <a:buFont typeface="Arial" panose="020B0604020202020204" pitchFamily="34" charset="0"/>
                        <a:buChar char="•"/>
                      </a:pPr>
                      <a:r>
                        <a:rPr lang="en-GB" sz="700" b="0" i="0" kern="1200">
                          <a:solidFill>
                            <a:srgbClr val="000000"/>
                          </a:solidFill>
                          <a:effectLst/>
                          <a:latin typeface="+mn-lt"/>
                          <a:ea typeface="+mn-ea"/>
                          <a:cs typeface="+mn-cs"/>
                        </a:rPr>
                        <a:t>In target state, when we move to take over STO, We will only require to replace the simple query with complex query.</a:t>
                      </a: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40256624"/>
                  </a:ext>
                </a:extLst>
              </a:tr>
              <a:tr h="224977">
                <a:tc>
                  <a:txBody>
                    <a:bodyPr/>
                    <a:lstStyle/>
                    <a:p>
                      <a:pPr algn="l" fontAlgn="base"/>
                      <a:r>
                        <a:rPr lang="en-GB" sz="700" b="0" i="0">
                          <a:solidFill>
                            <a:srgbClr val="000000"/>
                          </a:solidFill>
                          <a:effectLst/>
                          <a:latin typeface="+mn-lt"/>
                        </a:rPr>
                        <a:t>Related IT-principle​</a:t>
                      </a:r>
                      <a:endParaRPr lang="en-GB" sz="17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algn="l" fontAlgn="base"/>
                      <a:r>
                        <a:rPr lang="en-GB" sz="700" b="0" i="0">
                          <a:solidFill>
                            <a:srgbClr val="000000"/>
                          </a:solidFill>
                          <a:effectLst/>
                          <a:latin typeface="+mn-lt"/>
                        </a:rPr>
                        <a:t>Keep IT Simple​</a:t>
                      </a:r>
                      <a:endParaRPr lang="en-GB" sz="18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733689898"/>
                  </a:ext>
                </a:extLst>
              </a:tr>
              <a:tr h="525901">
                <a:tc>
                  <a:txBody>
                    <a:bodyPr/>
                    <a:lstStyle/>
                    <a:p>
                      <a:pPr algn="l" fontAlgn="base"/>
                      <a:r>
                        <a:rPr lang="en-GB" sz="700" b="0" i="0">
                          <a:solidFill>
                            <a:srgbClr val="000000"/>
                          </a:solidFill>
                          <a:effectLst/>
                          <a:latin typeface="+mn-lt"/>
                        </a:rPr>
                        <a:t>Consequences​</a:t>
                      </a:r>
                      <a:endParaRPr lang="en-GB" sz="17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marL="171450" indent="-171450" algn="l" fontAlgn="base">
                        <a:buFont typeface="Arial" panose="020B0604020202020204" pitchFamily="34" charset="0"/>
                        <a:buChar char="•"/>
                      </a:pPr>
                      <a:r>
                        <a:rPr lang="en-GB" sz="700" b="0" i="0" kern="1200">
                          <a:solidFill>
                            <a:srgbClr val="000000"/>
                          </a:solidFill>
                          <a:effectLst/>
                          <a:latin typeface="+mn-lt"/>
                          <a:ea typeface="+mn-ea"/>
                          <a:cs typeface="+mn-cs"/>
                        </a:rPr>
                        <a:t>The first implementation of Credit STO, by CaDDi, is yet to be proven with Corporate Portfolio. In case of Non-happy outcome, Credit STO approach may have to change. That means, every implementation through CADDI may also have impact.</a:t>
                      </a:r>
                    </a:p>
                    <a:p>
                      <a:pPr marL="171450" indent="-171450" algn="l" fontAlgn="base">
                        <a:buFont typeface="Arial" panose="020B0604020202020204" pitchFamily="34" charset="0"/>
                        <a:buChar char="•"/>
                      </a:pPr>
                      <a:r>
                        <a:rPr lang="en-GB" sz="700" b="0" i="0" kern="1200">
                          <a:solidFill>
                            <a:srgbClr val="000000"/>
                          </a:solidFill>
                          <a:effectLst/>
                          <a:latin typeface="+mn-lt"/>
                          <a:ea typeface="+mn-ea"/>
                          <a:cs typeface="+mn-cs"/>
                        </a:rPr>
                        <a:t>nBIF will have to implement additional data acquisition pattern[#3 in the following list].  1. For RSME &amp; RMM - nBIF uses the simple SBV SQL of GRFD1 and directly acquire data; 2. For Corporate, Data Factory Squad defines STO(equivalent to GRFD1 SBV) in the form of SQL. nBIF uses that SQL to acquire data via CADDI; 3. For this new situation, nBIF will use the simple SBV SQL of GRFD2 (like in #1 above) but instead of directly acquiring data, it acquires via CADDI (like #2 above).</a:t>
                      </a: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863076940"/>
                  </a:ext>
                </a:extLst>
              </a:tr>
              <a:tr h="313484">
                <a:tc>
                  <a:txBody>
                    <a:bodyPr/>
                    <a:lstStyle/>
                    <a:p>
                      <a:pPr algn="l" fontAlgn="base"/>
                      <a:r>
                        <a:rPr lang="en-GB" sz="700" b="0" i="0">
                          <a:solidFill>
                            <a:srgbClr val="000000"/>
                          </a:solidFill>
                          <a:effectLst/>
                          <a:latin typeface="+mn-lt"/>
                        </a:rPr>
                        <a:t>Alternatives​</a:t>
                      </a:r>
                      <a:endParaRPr lang="en-GB" sz="17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marL="228600" indent="-228600">
                        <a:buAutoNum type="arabicPeriod"/>
                      </a:pPr>
                      <a:r>
                        <a:rPr lang="en-GB" sz="700" b="0" i="0" kern="1200">
                          <a:solidFill>
                            <a:srgbClr val="000000"/>
                          </a:solidFill>
                          <a:effectLst/>
                          <a:latin typeface="+mn-lt"/>
                          <a:ea typeface="+mn-ea"/>
                          <a:cs typeface="+mn-cs"/>
                        </a:rPr>
                        <a:t>Directly from GRFD2 to nBIF  -- It would be reuse of existing GRFD1-nBIF pattern. But this will require nBIF to have interface with GRFD2. </a:t>
                      </a:r>
                      <a:endParaRPr lang="LID4096" sz="700" b="0" i="0" kern="1200">
                        <a:solidFill>
                          <a:srgbClr val="000000"/>
                        </a:solidFill>
                        <a:effectLst/>
                        <a:latin typeface="+mn-lt"/>
                        <a:ea typeface="+mn-ea"/>
                        <a:cs typeface="+mn-cs"/>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577299619"/>
                  </a:ext>
                </a:extLst>
              </a:tr>
              <a:tr h="224977">
                <a:tc>
                  <a:txBody>
                    <a:bodyPr/>
                    <a:lstStyle/>
                    <a:p>
                      <a:pPr algn="l" fontAlgn="base"/>
                      <a:r>
                        <a:rPr lang="en-GB" sz="700" b="0" i="0">
                          <a:solidFill>
                            <a:srgbClr val="000000"/>
                          </a:solidFill>
                          <a:effectLst/>
                          <a:latin typeface="+mn-lt"/>
                        </a:rPr>
                        <a:t>Architectural Fit​</a:t>
                      </a:r>
                      <a:endParaRPr lang="en-GB" sz="17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algn="l" fontAlgn="base"/>
                      <a:r>
                        <a:rPr lang="en-GB" sz="800" b="0" i="0">
                          <a:solidFill>
                            <a:srgbClr val="000000"/>
                          </a:solidFill>
                          <a:effectLst/>
                          <a:latin typeface="+mn-lt"/>
                        </a:rPr>
                        <a:t>Good​</a:t>
                      </a:r>
                      <a:endParaRPr lang="en-GB" sz="18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903758638"/>
                  </a:ext>
                </a:extLst>
              </a:tr>
              <a:tr h="224977">
                <a:tc>
                  <a:txBody>
                    <a:bodyPr/>
                    <a:lstStyle/>
                    <a:p>
                      <a:pPr algn="l" fontAlgn="base"/>
                      <a:r>
                        <a:rPr lang="en-GB" sz="700" b="0" i="0">
                          <a:solidFill>
                            <a:srgbClr val="000000"/>
                          </a:solidFill>
                          <a:effectLst/>
                          <a:latin typeface="+mn-lt"/>
                        </a:rPr>
                        <a:t>Mitigations​</a:t>
                      </a:r>
                      <a:endParaRPr lang="en-GB" sz="1700" b="0" i="0">
                        <a:solidFill>
                          <a:srgbClr val="000000"/>
                        </a:solidFill>
                        <a:effectLst/>
                        <a:latin typeface="+mn-lt"/>
                      </a:endParaRP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tc>
                  <a:txBody>
                    <a:bodyPr/>
                    <a:lstStyle/>
                    <a:p>
                      <a:pPr algn="l" fontAlgn="auto"/>
                      <a:r>
                        <a:rPr lang="en-GB" sz="800" b="1" i="0">
                          <a:solidFill>
                            <a:srgbClr val="000000"/>
                          </a:solidFill>
                          <a:effectLst/>
                          <a:latin typeface="+mn-lt"/>
                        </a:rPr>
                        <a:t>​-</a:t>
                      </a:r>
                    </a:p>
                  </a:txBody>
                  <a:tcPr marL="87015" marR="87015" marT="43507" marB="43507">
                    <a:lnL w="23012" cap="flat" cmpd="sng" algn="ctr">
                      <a:solidFill>
                        <a:srgbClr val="D3D3D3"/>
                      </a:solidFill>
                      <a:prstDash val="solid"/>
                      <a:round/>
                      <a:headEnd type="none" w="med" len="med"/>
                      <a:tailEnd type="none" w="med" len="med"/>
                    </a:lnL>
                    <a:lnR w="23012" cap="flat" cmpd="sng" algn="ctr">
                      <a:solidFill>
                        <a:srgbClr val="D3D3D3"/>
                      </a:solidFill>
                      <a:prstDash val="solid"/>
                      <a:round/>
                      <a:headEnd type="none" w="med" len="med"/>
                      <a:tailEnd type="none" w="med" len="med"/>
                    </a:lnR>
                    <a:lnT w="23012" cap="flat" cmpd="sng" algn="ctr">
                      <a:solidFill>
                        <a:srgbClr val="D3D3D3"/>
                      </a:solidFill>
                      <a:prstDash val="solid"/>
                      <a:round/>
                      <a:headEnd type="none" w="med" len="med"/>
                      <a:tailEnd type="none" w="med" len="med"/>
                    </a:lnT>
                    <a:lnB w="23012"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828730776"/>
                  </a:ext>
                </a:extLst>
              </a:tr>
            </a:tbl>
          </a:graphicData>
        </a:graphic>
      </p:graphicFrame>
      <p:sp>
        <p:nvSpPr>
          <p:cNvPr id="11" name="Rectangle 1">
            <a:extLst>
              <a:ext uri="{FF2B5EF4-FFF2-40B4-BE49-F238E27FC236}">
                <a16:creationId xmlns:a16="http://schemas.microsoft.com/office/drawing/2014/main" id="{968C8926-02B5-E469-F376-3F52338D9EE2}"/>
              </a:ext>
            </a:extLst>
          </p:cNvPr>
          <p:cNvSpPr>
            <a:spLocks noChangeArrowheads="1"/>
          </p:cNvSpPr>
          <p:nvPr/>
        </p:nvSpPr>
        <p:spPr bwMode="auto">
          <a:xfrm flipV="1">
            <a:off x="476250" y="787002"/>
            <a:ext cx="76880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LID4096" altLang="LID4096"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B8AC9B4-AB4B-3F89-7D51-1698E2388752}"/>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16198256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4.2.13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9" name="Text Placeholder 8">
            <a:extLst>
              <a:ext uri="{FF2B5EF4-FFF2-40B4-BE49-F238E27FC236}">
                <a16:creationId xmlns:a16="http://schemas.microsoft.com/office/drawing/2014/main" id="{3B3B00C9-5F26-A848-AC18-AC83B410B295}"/>
              </a:ext>
            </a:extLst>
          </p:cNvPr>
          <p:cNvSpPr>
            <a:spLocks noGrp="1"/>
          </p:cNvSpPr>
          <p:nvPr>
            <p:ph type="body" sz="quarter" idx="13"/>
          </p:nvPr>
        </p:nvSpPr>
        <p:spPr/>
        <p:txBody>
          <a:bodyPr/>
          <a:lstStyle/>
          <a:p>
            <a:endParaRPr lang="LID4096"/>
          </a:p>
        </p:txBody>
      </p:sp>
      <p:sp>
        <p:nvSpPr>
          <p:cNvPr id="11" name="Rectangle 1">
            <a:extLst>
              <a:ext uri="{FF2B5EF4-FFF2-40B4-BE49-F238E27FC236}">
                <a16:creationId xmlns:a16="http://schemas.microsoft.com/office/drawing/2014/main" id="{968C8926-02B5-E469-F376-3F52338D9EE2}"/>
              </a:ext>
            </a:extLst>
          </p:cNvPr>
          <p:cNvSpPr>
            <a:spLocks noChangeArrowheads="1"/>
          </p:cNvSpPr>
          <p:nvPr/>
        </p:nvSpPr>
        <p:spPr bwMode="auto">
          <a:xfrm flipV="1">
            <a:off x="476250" y="787002"/>
            <a:ext cx="76880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LID4096" altLang="LID4096"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BAEFBE6B-F6EE-D5C7-C5CD-5B7440411EB1}"/>
              </a:ext>
            </a:extLst>
          </p:cNvPr>
          <p:cNvGraphicFramePr>
            <a:graphicFrameLocks noGrp="1"/>
          </p:cNvGraphicFramePr>
          <p:nvPr>
            <p:extLst>
              <p:ext uri="{D42A27DB-BD31-4B8C-83A1-F6EECF244321}">
                <p14:modId xmlns:p14="http://schemas.microsoft.com/office/powerpoint/2010/main" val="2782651041"/>
              </p:ext>
            </p:extLst>
          </p:nvPr>
        </p:nvGraphicFramePr>
        <p:xfrm>
          <a:off x="525869" y="1118806"/>
          <a:ext cx="7804150" cy="2343811"/>
        </p:xfrm>
        <a:graphic>
          <a:graphicData uri="http://schemas.openxmlformats.org/drawingml/2006/table">
            <a:tbl>
              <a:tblPr/>
              <a:tblGrid>
                <a:gridCol w="960790">
                  <a:extLst>
                    <a:ext uri="{9D8B030D-6E8A-4147-A177-3AD203B41FA5}">
                      <a16:colId xmlns:a16="http://schemas.microsoft.com/office/drawing/2014/main" val="930921427"/>
                    </a:ext>
                  </a:extLst>
                </a:gridCol>
                <a:gridCol w="6843360">
                  <a:extLst>
                    <a:ext uri="{9D8B030D-6E8A-4147-A177-3AD203B41FA5}">
                      <a16:colId xmlns:a16="http://schemas.microsoft.com/office/drawing/2014/main" val="2803183698"/>
                    </a:ext>
                  </a:extLst>
                </a:gridCol>
              </a:tblGrid>
              <a:tr h="246542">
                <a:tc gridSpan="2">
                  <a:txBody>
                    <a:bodyPr/>
                    <a:lstStyle/>
                    <a:p>
                      <a:pPr marL="0" marR="0" indent="0" algn="l" defTabSz="456999" rtl="0" eaLnBrk="1" fontAlgn="base"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n-lt"/>
                          <a:ea typeface="+mn-ea"/>
                          <a:cs typeface="+mn-cs"/>
                        </a:rPr>
                        <a:t>IAD-13</a:t>
                      </a:r>
                      <a:r>
                        <a:rPr lang="en-GB" sz="1200" b="1" i="0" u="none" strike="noStrike" kern="1200">
                          <a:solidFill>
                            <a:schemeClr val="tx1"/>
                          </a:solidFill>
                          <a:effectLst/>
                          <a:latin typeface="+mn-lt"/>
                          <a:ea typeface="+mn-ea"/>
                          <a:cs typeface="+mn-cs"/>
                        </a:rPr>
                        <a:t>. For the portfolios where behavioural Risk drivers calculated by UT5 (Batch) is required by UT1, A direct interface between nBIF  and EMI will be established.</a:t>
                      </a:r>
                    </a:p>
                  </a:txBody>
                  <a:tcPr marL="87015" marR="87015" marT="43507" marB="43507" anchor="b">
                    <a:lnL w="11211" cap="flat" cmpd="sng" algn="ctr">
                      <a:solidFill>
                        <a:srgbClr val="DCDDDE"/>
                      </a:solidFill>
                      <a:prstDash val="solid"/>
                      <a:round/>
                      <a:headEnd type="none" w="med" len="med"/>
                      <a:tailEnd type="none" w="med" len="med"/>
                    </a:lnL>
                    <a:lnR w="11211" cap="flat" cmpd="sng" algn="ctr">
                      <a:solidFill>
                        <a:srgbClr val="DCDDDE"/>
                      </a:solidFill>
                      <a:prstDash val="solid"/>
                      <a:round/>
                      <a:headEnd type="none" w="med" len="med"/>
                      <a:tailEnd type="none" w="med" len="med"/>
                    </a:lnR>
                    <a:lnT w="50483" cap="flat" cmpd="sng" algn="ctr">
                      <a:solidFill>
                        <a:srgbClr val="FD6400"/>
                      </a:solidFill>
                      <a:prstDash val="solid"/>
                      <a:round/>
                      <a:headEnd type="none" w="med" len="med"/>
                      <a:tailEnd type="none" w="med" len="med"/>
                    </a:lnT>
                    <a:lnB w="11211" cap="flat" cmpd="sng" algn="ctr">
                      <a:solidFill>
                        <a:srgbClr val="D3D3D3"/>
                      </a:solidFill>
                      <a:prstDash val="solid"/>
                      <a:round/>
                      <a:headEnd type="none" w="med" len="med"/>
                      <a:tailEnd type="none" w="med" len="med"/>
                    </a:lnB>
                    <a:solidFill>
                      <a:srgbClr val="DCDDDE"/>
                    </a:solidFill>
                  </a:tcPr>
                </a:tc>
                <a:tc hMerge="1">
                  <a:txBody>
                    <a:bodyPr/>
                    <a:lstStyle/>
                    <a:p>
                      <a:endParaRPr lang="en-NL"/>
                    </a:p>
                  </a:txBody>
                  <a:tcPr/>
                </a:tc>
                <a:extLst>
                  <a:ext uri="{0D108BD9-81ED-4DB2-BD59-A6C34878D82A}">
                    <a16:rowId xmlns:a16="http://schemas.microsoft.com/office/drawing/2014/main" val="2183839077"/>
                  </a:ext>
                </a:extLst>
              </a:tr>
              <a:tr h="290050">
                <a:tc>
                  <a:txBody>
                    <a:bodyPr/>
                    <a:lstStyle/>
                    <a:p>
                      <a:pPr algn="l" fontAlgn="base"/>
                      <a:r>
                        <a:rPr lang="en-GB" sz="700" b="0" i="0">
                          <a:solidFill>
                            <a:srgbClr val="000000"/>
                          </a:solidFill>
                          <a:effectLst/>
                          <a:latin typeface="+mn-lt"/>
                        </a:rPr>
                        <a:t>Decision​</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algn="l" fontAlgn="base"/>
                      <a:r>
                        <a:rPr lang="en-US" sz="700" b="0" i="0">
                          <a:solidFill>
                            <a:srgbClr val="000000"/>
                          </a:solidFill>
                          <a:effectLst/>
                          <a:latin typeface="+mn-lt"/>
                        </a:rPr>
                        <a:t>1. nBIF will deliver B-RDD  to EMI </a:t>
                      </a:r>
                    </a:p>
                    <a:p>
                      <a:pPr algn="l" fontAlgn="base"/>
                      <a:r>
                        <a:rPr lang="en-US" sz="700" b="0" i="0">
                          <a:solidFill>
                            <a:srgbClr val="000000"/>
                          </a:solidFill>
                          <a:effectLst/>
                          <a:latin typeface="+mn-lt"/>
                        </a:rPr>
                        <a:t>2. The data delivery will be asynchronous (EMI will not call nBIF to fetch the data during online call).​​</a:t>
                      </a:r>
                      <a:endParaRPr lang="en-US"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741747602"/>
                  </a:ext>
                </a:extLst>
              </a:tr>
              <a:tr h="188532">
                <a:tc>
                  <a:txBody>
                    <a:bodyPr/>
                    <a:lstStyle/>
                    <a:p>
                      <a:pPr algn="l" fontAlgn="base"/>
                      <a:r>
                        <a:rPr lang="en-GB" sz="700" b="0" i="0">
                          <a:solidFill>
                            <a:srgbClr val="000000"/>
                          </a:solidFill>
                          <a:effectLst/>
                          <a:latin typeface="+mn-lt"/>
                        </a:rPr>
                        <a:t>Rationale​</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marL="228600" indent="-228600" algn="l" fontAlgn="base">
                        <a:buAutoNum type="arabicPeriod"/>
                      </a:pPr>
                      <a:r>
                        <a:rPr lang="en-US" sz="700" b="0" i="0">
                          <a:solidFill>
                            <a:srgbClr val="000000"/>
                          </a:solidFill>
                          <a:effectLst/>
                          <a:latin typeface="+mn-lt"/>
                        </a:rPr>
                        <a:t>Having nBIF &amp; EMI both cloud solutions of Tribe credit analytics, it is optimum (from sustainability but also time taken) to exchange B-RDD data directly between these two.​ </a:t>
                      </a:r>
                    </a:p>
                    <a:p>
                      <a:pPr marL="228600" indent="-228600" algn="l" fontAlgn="base">
                        <a:buAutoNum type="arabicPeriod"/>
                      </a:pPr>
                      <a:r>
                        <a:rPr lang="en-US" sz="700" b="0" i="0" kern="1200">
                          <a:solidFill>
                            <a:srgbClr val="000000"/>
                          </a:solidFill>
                          <a:effectLst/>
                          <a:latin typeface="+mn-lt"/>
                          <a:ea typeface="+mn-ea"/>
                          <a:cs typeface="+mn-cs"/>
                        </a:rPr>
                        <a:t>2. nBIF is not a 24x7 available system unlike EMI. If it allows synchronous data requests  from EMI, nBIF will need to fulfill Recovery and availability objectives of UT1. </a:t>
                      </a: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538189118"/>
                  </a:ext>
                </a:extLst>
              </a:tr>
              <a:tr h="290050">
                <a:tc>
                  <a:txBody>
                    <a:bodyPr/>
                    <a:lstStyle/>
                    <a:p>
                      <a:pPr algn="l" fontAlgn="base"/>
                      <a:r>
                        <a:rPr lang="en-GB" sz="700" b="0" i="0">
                          <a:solidFill>
                            <a:srgbClr val="000000"/>
                          </a:solidFill>
                          <a:effectLst/>
                          <a:latin typeface="+mn-lt"/>
                        </a:rPr>
                        <a:t>Related IT-principle​</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algn="l" fontAlgn="base"/>
                      <a:r>
                        <a:rPr lang="en-GB" sz="700" b="0" i="0">
                          <a:solidFill>
                            <a:srgbClr val="000000"/>
                          </a:solidFill>
                          <a:effectLst/>
                          <a:latin typeface="+mn-lt"/>
                        </a:rPr>
                        <a:t>Keep It simple. ​</a:t>
                      </a:r>
                      <a:endParaRPr lang="en-GB" sz="1700" b="0" i="0">
                        <a:solidFill>
                          <a:srgbClr val="000000"/>
                        </a:solidFill>
                        <a:effectLst/>
                        <a:latin typeface="+mn-lt"/>
                      </a:endParaRPr>
                    </a:p>
                    <a:p>
                      <a:pPr algn="l" fontAlgn="base"/>
                      <a:r>
                        <a:rPr lang="en-GB" sz="700" b="0" i="0">
                          <a:solidFill>
                            <a:srgbClr val="000000"/>
                          </a:solidFill>
                          <a:effectLst/>
                          <a:latin typeface="+mn-lt"/>
                        </a:rPr>
                        <a:t>Sustainable IT​</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561126443"/>
                  </a:ext>
                </a:extLst>
              </a:tr>
              <a:tr h="302153">
                <a:tc>
                  <a:txBody>
                    <a:bodyPr/>
                    <a:lstStyle/>
                    <a:p>
                      <a:pPr algn="l" fontAlgn="base"/>
                      <a:r>
                        <a:rPr lang="en-GB" sz="700" b="0" i="0">
                          <a:solidFill>
                            <a:srgbClr val="000000"/>
                          </a:solidFill>
                          <a:effectLst/>
                          <a:latin typeface="+mn-lt"/>
                        </a:rPr>
                        <a:t>Consequences​</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algn="l" fontAlgn="base"/>
                      <a:r>
                        <a:rPr lang="en-US" sz="700" b="0" i="0">
                          <a:solidFill>
                            <a:srgbClr val="000000"/>
                          </a:solidFill>
                          <a:effectLst/>
                          <a:latin typeface="+mn-lt"/>
                        </a:rPr>
                        <a:t>New interface b/w nBIF &amp; EMI​</a:t>
                      </a:r>
                      <a:endParaRPr lang="en-US"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850322450"/>
                  </a:ext>
                </a:extLst>
              </a:tr>
              <a:tr h="290050">
                <a:tc>
                  <a:txBody>
                    <a:bodyPr/>
                    <a:lstStyle/>
                    <a:p>
                      <a:pPr algn="l" fontAlgn="base"/>
                      <a:r>
                        <a:rPr lang="en-GB" sz="700" b="0" i="0">
                          <a:solidFill>
                            <a:srgbClr val="000000"/>
                          </a:solidFill>
                          <a:effectLst/>
                          <a:latin typeface="+mn-lt"/>
                        </a:rPr>
                        <a:t>Alternatives​</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algn="l" fontAlgn="base">
                        <a:buFont typeface="+mj-lt"/>
                        <a:buNone/>
                      </a:pPr>
                      <a:r>
                        <a:rPr lang="en-GB" sz="700" b="0" i="0">
                          <a:solidFill>
                            <a:srgbClr val="000000"/>
                          </a:solidFill>
                          <a:effectLst/>
                          <a:latin typeface="+mn-lt"/>
                        </a:rPr>
                        <a:t>1a. Use GRFD for BRDD data delivery.  EMI copies data from GRFD in batch and keep it available for online calls. nBIF --&gt; CRPR --&gt; CDM --&gt; CFO-HUB --&gt; GRFD --&gt; CADDI --&gt; EMI  ​</a:t>
                      </a:r>
                      <a:endParaRPr lang="en-GB" sz="500" b="0" i="0" u="none" strike="noStrike">
                        <a:solidFill>
                          <a:srgbClr val="000000"/>
                        </a:solidFill>
                        <a:effectLst/>
                        <a:latin typeface="+mn-lt"/>
                      </a:endParaRPr>
                    </a:p>
                    <a:p>
                      <a:pPr algn="l" fontAlgn="base">
                        <a:buFont typeface="+mj-lt"/>
                        <a:buNone/>
                      </a:pPr>
                      <a:r>
                        <a:rPr lang="en-GB" sz="500" b="0" i="0" u="none" strike="noStrike">
                          <a:solidFill>
                            <a:srgbClr val="000000"/>
                          </a:solidFill>
                          <a:effectLst/>
                          <a:latin typeface="+mn-lt"/>
                        </a:rPr>
                        <a:t>1b. </a:t>
                      </a:r>
                      <a:r>
                        <a:rPr lang="en-GB" sz="700" b="0" i="0" u="none" strike="noStrike">
                          <a:solidFill>
                            <a:srgbClr val="000000"/>
                          </a:solidFill>
                          <a:effectLst/>
                          <a:latin typeface="+mn-lt"/>
                        </a:rPr>
                        <a:t>Calculator gets BRDD data by having an EMI pass through call to CRPR.   Frontend --&gt; CAM --&gt; CAS &lt;-- EMI &lt;-- CRPR (online call)  ;</a:t>
                      </a:r>
                      <a:r>
                        <a:rPr lang="en-GB" sz="700" b="0" i="0">
                          <a:solidFill>
                            <a:srgbClr val="000000"/>
                          </a:solidFill>
                          <a:effectLst/>
                          <a:latin typeface="+mn-lt"/>
                        </a:rPr>
                        <a:t>​</a:t>
                      </a:r>
                      <a:endParaRPr lang="en-GB" sz="5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665676261"/>
                  </a:ext>
                </a:extLst>
              </a:tr>
              <a:tr h="188532">
                <a:tc>
                  <a:txBody>
                    <a:bodyPr/>
                    <a:lstStyle/>
                    <a:p>
                      <a:pPr algn="l" fontAlgn="base"/>
                      <a:r>
                        <a:rPr lang="en-GB" sz="700" b="0" i="0">
                          <a:solidFill>
                            <a:srgbClr val="000000"/>
                          </a:solidFill>
                          <a:effectLst/>
                          <a:latin typeface="+mn-lt"/>
                        </a:rPr>
                        <a:t>Architectural Fit​</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algn="l" fontAlgn="base"/>
                      <a:r>
                        <a:rPr lang="en-GB" sz="700" b="0" i="0">
                          <a:solidFill>
                            <a:srgbClr val="000000"/>
                          </a:solidFill>
                          <a:effectLst/>
                          <a:latin typeface="+mn-lt"/>
                        </a:rPr>
                        <a:t>Good​</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816596022"/>
                  </a:ext>
                </a:extLst>
              </a:tr>
              <a:tr h="188532">
                <a:tc>
                  <a:txBody>
                    <a:bodyPr/>
                    <a:lstStyle/>
                    <a:p>
                      <a:pPr algn="l" fontAlgn="base"/>
                      <a:r>
                        <a:rPr lang="en-GB" sz="700" b="0" i="0">
                          <a:solidFill>
                            <a:srgbClr val="000000"/>
                          </a:solidFill>
                          <a:effectLst/>
                          <a:latin typeface="+mn-lt"/>
                        </a:rPr>
                        <a:t>Mitigations​</a:t>
                      </a:r>
                      <a:endParaRPr lang="en-GB" sz="1700" b="0" i="0">
                        <a:solidFill>
                          <a:srgbClr val="000000"/>
                        </a:solidFill>
                        <a:effectLst/>
                        <a:latin typeface="+mn-lt"/>
                      </a:endParaRP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tc>
                  <a:txBody>
                    <a:bodyPr/>
                    <a:lstStyle/>
                    <a:p>
                      <a:pPr algn="l" fontAlgn="auto"/>
                      <a:r>
                        <a:rPr lang="en-GB" sz="700" b="1" i="0">
                          <a:solidFill>
                            <a:srgbClr val="000000"/>
                          </a:solidFill>
                          <a:effectLst/>
                          <a:latin typeface="+mn-lt"/>
                        </a:rPr>
                        <a:t>​</a:t>
                      </a:r>
                    </a:p>
                  </a:txBody>
                  <a:tcPr marL="87015" marR="87015" marT="43507" marB="43507">
                    <a:lnL w="11211" cap="flat" cmpd="sng" algn="ctr">
                      <a:solidFill>
                        <a:srgbClr val="D3D3D3"/>
                      </a:solidFill>
                      <a:prstDash val="solid"/>
                      <a:round/>
                      <a:headEnd type="none" w="med" len="med"/>
                      <a:tailEnd type="none" w="med" len="med"/>
                    </a:lnL>
                    <a:lnR w="11211" cap="flat" cmpd="sng" algn="ctr">
                      <a:solidFill>
                        <a:srgbClr val="D3D3D3"/>
                      </a:solidFill>
                      <a:prstDash val="solid"/>
                      <a:round/>
                      <a:headEnd type="none" w="med" len="med"/>
                      <a:tailEnd type="none" w="med" len="med"/>
                    </a:lnR>
                    <a:lnT w="11211" cap="flat" cmpd="sng" algn="ctr">
                      <a:solidFill>
                        <a:srgbClr val="D3D3D3"/>
                      </a:solidFill>
                      <a:prstDash val="solid"/>
                      <a:round/>
                      <a:headEnd type="none" w="med" len="med"/>
                      <a:tailEnd type="none" w="med" len="med"/>
                    </a:lnT>
                    <a:lnB w="11211"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613468627"/>
                  </a:ext>
                </a:extLst>
              </a:tr>
            </a:tbl>
          </a:graphicData>
        </a:graphic>
      </p:graphicFrame>
      <p:sp>
        <p:nvSpPr>
          <p:cNvPr id="6" name="Rectangle 1">
            <a:extLst>
              <a:ext uri="{FF2B5EF4-FFF2-40B4-BE49-F238E27FC236}">
                <a16:creationId xmlns:a16="http://schemas.microsoft.com/office/drawing/2014/main" id="{D6CCEC44-205B-CC25-3818-07481963B79D}"/>
              </a:ext>
            </a:extLst>
          </p:cNvPr>
          <p:cNvSpPr>
            <a:spLocks noChangeArrowheads="1"/>
          </p:cNvSpPr>
          <p:nvPr/>
        </p:nvSpPr>
        <p:spPr bwMode="auto">
          <a:xfrm>
            <a:off x="476250" y="1724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a:ln>
                  <a:noFill/>
                </a:ln>
                <a:solidFill>
                  <a:srgbClr val="000000"/>
                </a:solidFill>
                <a:effectLst/>
                <a:latin typeface="Times"/>
              </a:rPr>
              <a:t> </a:t>
            </a:r>
            <a:endParaRPr kumimoji="0" lang="en-NL" altLang="en-NL"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911A9255-5343-661F-C9FA-EC9B02E9A1E0}"/>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3"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931834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4.2.14 Information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1735876498"/>
              </p:ext>
            </p:extLst>
          </p:nvPr>
        </p:nvGraphicFramePr>
        <p:xfrm>
          <a:off x="472084" y="1052087"/>
          <a:ext cx="7808316" cy="3110240"/>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401659">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b="1" i="0" u="none" strike="noStrike" kern="1200" noProof="0">
                          <a:solidFill>
                            <a:schemeClr val="tx1"/>
                          </a:solidFill>
                          <a:effectLst/>
                          <a:latin typeface="+mn-lt"/>
                          <a:ea typeface="+mn-ea"/>
                          <a:cs typeface="+mn-cs"/>
                        </a:rPr>
                        <a:t>IAD-14. </a:t>
                      </a:r>
                      <a:r>
                        <a:rPr lang="en-GB" sz="1200" b="1" i="0" u="none" strike="noStrike" kern="1200">
                          <a:solidFill>
                            <a:schemeClr val="tx1"/>
                          </a:solidFill>
                          <a:effectLst/>
                          <a:latin typeface="+mn-lt"/>
                          <a:ea typeface="+mn-ea"/>
                          <a:cs typeface="+mn-cs"/>
                        </a:rPr>
                        <a:t>nBIF will ingest monthly increment of Transactions and Balance data and store up to 24 months history of </a:t>
                      </a:r>
                      <a:r>
                        <a:rPr lang="en-GB" sz="1200" b="1" i="0" u="none" strike="noStrike" kern="1200" err="1">
                          <a:solidFill>
                            <a:schemeClr val="tx1"/>
                          </a:solidFill>
                          <a:effectLst/>
                          <a:latin typeface="+mn-lt"/>
                          <a:ea typeface="+mn-ea"/>
                          <a:cs typeface="+mn-cs"/>
                        </a:rPr>
                        <a:t>Txn</a:t>
                      </a:r>
                      <a:r>
                        <a:rPr lang="en-GB" sz="1200" b="1" i="0" u="none" strike="noStrike" kern="1200">
                          <a:solidFill>
                            <a:schemeClr val="tx1"/>
                          </a:solidFill>
                          <a:effectLst/>
                          <a:latin typeface="+mn-lt"/>
                          <a:ea typeface="+mn-ea"/>
                          <a:cs typeface="+mn-cs"/>
                        </a:rPr>
                        <a:t> and Balance data that is needed for BRDD calculations</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300781">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mn-ea"/>
                          <a:cs typeface="+mn-cs"/>
                        </a:rPr>
                        <a:t>nBIF will ingest monthly increment of Transactions and Balance data and store up to 24 months history of </a:t>
                      </a:r>
                      <a:r>
                        <a:rPr lang="en-GB" sz="800" b="0" kern="1200" err="1">
                          <a:solidFill>
                            <a:schemeClr val="tx1"/>
                          </a:solidFill>
                          <a:latin typeface="+mn-lt"/>
                          <a:ea typeface="+mn-ea"/>
                          <a:cs typeface="+mn-cs"/>
                        </a:rPr>
                        <a:t>Txn</a:t>
                      </a:r>
                      <a:r>
                        <a:rPr lang="en-GB" sz="800" b="0" kern="1200">
                          <a:solidFill>
                            <a:schemeClr val="tx1"/>
                          </a:solidFill>
                          <a:latin typeface="+mn-lt"/>
                          <a:ea typeface="+mn-ea"/>
                          <a:cs typeface="+mn-cs"/>
                        </a:rPr>
                        <a:t> and Balance data that is needed for BRDD calculations.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61658">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Do not move large dataset from on-premise to cloud multiple times.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Ingest only the monthly data and reuse previously ingested datasets to build necessary history.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92589">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Sustainable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92589">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41096">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456999" rtl="0" eaLnBrk="1" fontAlgn="auto" latinLnBrk="0" hangingPunct="1">
                        <a:lnSpc>
                          <a:spcPct val="100000"/>
                        </a:lnSpc>
                        <a:spcBef>
                          <a:spcPts val="0"/>
                        </a:spcBef>
                        <a:spcAft>
                          <a:spcPts val="0"/>
                        </a:spcAft>
                        <a:buClrTx/>
                        <a:buSzTx/>
                        <a:buFontTx/>
                        <a:buAutoNum type="arabicPeriod"/>
                        <a:tabLst/>
                        <a:defRPr/>
                      </a:pPr>
                      <a:r>
                        <a:rPr lang="en-GB" sz="800" b="0" kern="1200" noProof="0">
                          <a:solidFill>
                            <a:schemeClr val="tx1"/>
                          </a:solidFill>
                          <a:latin typeface="+mn-lt"/>
                          <a:ea typeface="+mn-ea"/>
                          <a:cs typeface="+mn-cs"/>
                        </a:rPr>
                        <a:t>Every time pull complete history of Transactions and balance data from GRFD: This will be take long time and consume significant IT resources and cost high .</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kern="1200" noProof="0">
                        <a:solidFill>
                          <a:schemeClr val="tx1"/>
                        </a:solidFill>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2. Ingest monthly increment but store history in CADDI and let calculator directly connect to CADDI : CADDIs role is to be of Credit STO. It ingest the data in parquet format and let the consumers take it forward. It is consumers who need to maintain any history that is needed by their use case. References </a:t>
                      </a:r>
                      <a:r>
                        <a:rPr lang="en-GB" sz="800" b="0" kern="1200" noProof="0">
                          <a:solidFill>
                            <a:schemeClr val="tx1"/>
                          </a:solidFill>
                          <a:latin typeface="+mn-lt"/>
                          <a:ea typeface="+mn-ea"/>
                          <a:cs typeface="+mn-cs"/>
                          <a:hlinkClick r:id="rId3"/>
                        </a:rPr>
                        <a:t>–</a:t>
                      </a:r>
                      <a:r>
                        <a:rPr lang="en-GB" sz="800" b="0" kern="1200" noProof="0">
                          <a:solidFill>
                            <a:schemeClr val="tx1"/>
                          </a:solidFill>
                          <a:latin typeface="+mn-lt"/>
                          <a:ea typeface="+mn-ea"/>
                          <a:cs typeface="+mn-cs"/>
                        </a:rPr>
                        <a:t> </a:t>
                      </a:r>
                    </a:p>
                    <a:p>
                      <a:pPr marL="456999" marR="0" lvl="1" indent="0" algn="l" defTabSz="456999" rtl="0" eaLnBrk="1" fontAlgn="auto" latinLnBrk="0" hangingPunct="1">
                        <a:lnSpc>
                          <a:spcPct val="100000"/>
                        </a:lnSpc>
                        <a:spcBef>
                          <a:spcPts val="0"/>
                        </a:spcBef>
                        <a:spcAft>
                          <a:spcPts val="0"/>
                        </a:spcAft>
                        <a:buClrTx/>
                        <a:buSzTx/>
                        <a:buFontTx/>
                        <a:buNone/>
                        <a:tabLst/>
                        <a:defRPr/>
                      </a:pPr>
                      <a:r>
                        <a:rPr lang="en-IN" sz="800">
                          <a:hlinkClick r:id="rId3"/>
                        </a:rPr>
                        <a:t>BRDD scenarios Corporate Model v0.99.pptx</a:t>
                      </a:r>
                      <a:endParaRPr lang="en-IN" sz="800"/>
                    </a:p>
                    <a:p>
                      <a:pPr marL="456999" marR="0" lvl="1" indent="0" algn="l" defTabSz="456999" rtl="0" eaLnBrk="1" fontAlgn="auto" latinLnBrk="0" hangingPunct="1">
                        <a:lnSpc>
                          <a:spcPct val="100000"/>
                        </a:lnSpc>
                        <a:spcBef>
                          <a:spcPts val="0"/>
                        </a:spcBef>
                        <a:spcAft>
                          <a:spcPts val="0"/>
                        </a:spcAft>
                        <a:buClrTx/>
                        <a:buSzTx/>
                        <a:buFontTx/>
                        <a:buNone/>
                        <a:tabLst/>
                        <a:defRPr/>
                      </a:pPr>
                      <a:endParaRPr lang="en-IN" sz="800"/>
                    </a:p>
                    <a:p>
                      <a:pPr marL="456999" marR="0" lvl="1" indent="0" algn="l" defTabSz="456999" rtl="0" eaLnBrk="1" fontAlgn="auto" latinLnBrk="0" hangingPunct="1">
                        <a:lnSpc>
                          <a:spcPct val="100000"/>
                        </a:lnSpc>
                        <a:spcBef>
                          <a:spcPts val="0"/>
                        </a:spcBef>
                        <a:spcAft>
                          <a:spcPts val="0"/>
                        </a:spcAft>
                        <a:buClrTx/>
                        <a:buSzTx/>
                        <a:buFontTx/>
                        <a:buNone/>
                        <a:tabLst/>
                        <a:defRPr/>
                      </a:pPr>
                      <a:endParaRPr lang="en-GB" sz="800" b="0" kern="1200" noProof="0">
                        <a:solidFill>
                          <a:schemeClr val="tx1"/>
                        </a:solidFill>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92589">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69212">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kern="1200" noProof="0">
                          <a:solidFill>
                            <a:schemeClr val="tx1"/>
                          </a:solidFill>
                          <a:latin typeface="+mn-lt"/>
                          <a:ea typeface="+mn-ea"/>
                          <a:cs typeface="+mn-cs"/>
                        </a:rPr>
                        <a: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4"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889C7C0C-DE36-501A-70D0-D7A09C315F38}"/>
              </a:ext>
            </a:extLst>
          </p:cNvPr>
          <p:cNvSpPr txBox="1"/>
          <p:nvPr/>
        </p:nvSpPr>
        <p:spPr>
          <a:xfrm>
            <a:off x="5096540" y="645351"/>
            <a:ext cx="2956441"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GB" sz="1000">
                <a:hlinkClick r:id="rId4" action="ppaction://hlinksldjump"/>
              </a:rPr>
              <a:t>Information Architecture decisions List</a:t>
            </a:r>
            <a:endParaRPr lang="LID4096" sz="1000">
              <a:solidFill>
                <a:srgbClr val="5E6A71"/>
              </a:solidFill>
            </a:endParaRPr>
          </a:p>
        </p:txBody>
      </p:sp>
    </p:spTree>
    <p:extLst>
      <p:ext uri="{BB962C8B-B14F-4D97-AF65-F5344CB8AC3E}">
        <p14:creationId xmlns:p14="http://schemas.microsoft.com/office/powerpoint/2010/main" val="3741320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effectLst/>
        </p:spPr>
        <p:txBody>
          <a:bodyPr vert="horz" lIns="0" tIns="0" rIns="0" bIns="0" rtlCol="0" anchor="b">
            <a:spAutoFit/>
          </a:bodyPr>
          <a:lstStyle/>
          <a:p>
            <a:r>
              <a:rPr lang="en-GB"/>
              <a:t>Application Architecture</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7" name="Rounded Rectangle 10">
            <a:hlinkClick r:id="rId2"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310454929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1"/>
          <p:cNvSpPr>
            <a:spLocks noGrp="1"/>
          </p:cNvSpPr>
          <p:nvPr>
            <p:ph type="title"/>
          </p:nvPr>
        </p:nvSpPr>
        <p:spPr>
          <a:xfrm>
            <a:off x="475814" y="191292"/>
            <a:ext cx="7464026" cy="875509"/>
          </a:xfrm>
        </p:spPr>
        <p:txBody>
          <a:bodyPr/>
          <a:lstStyle/>
          <a:p>
            <a:r>
              <a:rPr lang="en-GB"/>
              <a:t>5.1 Application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1" name="Tijdelijke aanduiding voor tekst 6"/>
          <p:cNvSpPr>
            <a:spLocks noGrp="1"/>
          </p:cNvSpPr>
          <p:nvPr>
            <p:ph type="body" sz="quarter" idx="13"/>
          </p:nvPr>
        </p:nvSpPr>
        <p:spPr/>
        <p:txBody>
          <a:bodyPr/>
          <a:lstStyle/>
          <a:p>
            <a:r>
              <a:rPr lang="nl-NL"/>
              <a:t> </a:t>
            </a:r>
          </a:p>
        </p:txBody>
      </p:sp>
      <p:sp>
        <p:nvSpPr>
          <p:cNvPr id="28" name="Rounded Rectangle 10">
            <a:hlinkClick r:id="rId4"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graphicFrame>
        <p:nvGraphicFramePr>
          <p:cNvPr id="12" name="Tabel 9"/>
          <p:cNvGraphicFramePr>
            <a:graphicFrameLocks noGrp="1"/>
          </p:cNvGraphicFramePr>
          <p:nvPr>
            <p:extLst>
              <p:ext uri="{D42A27DB-BD31-4B8C-83A1-F6EECF244321}">
                <p14:modId xmlns:p14="http://schemas.microsoft.com/office/powerpoint/2010/main" val="921069362"/>
              </p:ext>
            </p:extLst>
          </p:nvPr>
        </p:nvGraphicFramePr>
        <p:xfrm>
          <a:off x="476250" y="996898"/>
          <a:ext cx="7969578" cy="2002573"/>
        </p:xfrm>
        <a:graphic>
          <a:graphicData uri="http://schemas.openxmlformats.org/drawingml/2006/table">
            <a:tbl>
              <a:tblPr firstRow="1" bandRow="1">
                <a:tableStyleId>{17292A2E-F333-43FB-9621-5CBBE7FDCDCB}</a:tableStyleId>
              </a:tblPr>
              <a:tblGrid>
                <a:gridCol w="528205">
                  <a:extLst>
                    <a:ext uri="{9D8B030D-6E8A-4147-A177-3AD203B41FA5}">
                      <a16:colId xmlns:a16="http://schemas.microsoft.com/office/drawing/2014/main" val="20000"/>
                    </a:ext>
                  </a:extLst>
                </a:gridCol>
                <a:gridCol w="5430212">
                  <a:extLst>
                    <a:ext uri="{9D8B030D-6E8A-4147-A177-3AD203B41FA5}">
                      <a16:colId xmlns:a16="http://schemas.microsoft.com/office/drawing/2014/main" val="20001"/>
                    </a:ext>
                  </a:extLst>
                </a:gridCol>
                <a:gridCol w="2011161">
                  <a:extLst>
                    <a:ext uri="{9D8B030D-6E8A-4147-A177-3AD203B41FA5}">
                      <a16:colId xmlns:a16="http://schemas.microsoft.com/office/drawing/2014/main" val="1469119644"/>
                    </a:ext>
                  </a:extLst>
                </a:gridCol>
              </a:tblGrid>
              <a:tr h="257531">
                <a:tc>
                  <a:txBody>
                    <a:bodyPr/>
                    <a:lstStyle/>
                    <a:p>
                      <a:pPr algn="l" fontAlgn="b"/>
                      <a:r>
                        <a:rPr lang="en-GB" sz="1100" i="1" u="none" strike="noStrike" noProof="0">
                          <a:solidFill>
                            <a:schemeClr val="tx1"/>
                          </a:solidFill>
                          <a:effectLst/>
                        </a:rPr>
                        <a:t>Nr</a:t>
                      </a:r>
                    </a:p>
                  </a:txBody>
                  <a:tcPr marL="0" marR="0" marT="0" marB="0" anchor="ctr">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ctr" fontAlgn="b"/>
                      <a:r>
                        <a:rPr lang="en-GB" sz="1100" b="1" i="1" u="none" strike="noStrike" noProof="0">
                          <a:solidFill>
                            <a:schemeClr val="tx1"/>
                          </a:solidFill>
                          <a:effectLst/>
                          <a:latin typeface="+mn-lt"/>
                        </a:rPr>
                        <a:t>Description</a:t>
                      </a:r>
                      <a:endParaRPr lang="en-GB" sz="1100" b="1" i="1" u="none" strike="noStrike" noProof="0">
                        <a:solidFill>
                          <a:schemeClr val="tx1"/>
                        </a:solidFill>
                        <a:effectLst/>
                        <a:latin typeface="Corbel"/>
                      </a:endParaRPr>
                    </a:p>
                  </a:txBody>
                  <a:tcPr marL="0" marR="0" marT="0" marB="0" anchor="ctr">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ctr" fontAlgn="b"/>
                      <a:r>
                        <a:rPr lang="en-GB" sz="1100" b="1" i="1" u="none" strike="noStrike" noProof="0">
                          <a:solidFill>
                            <a:schemeClr val="tx1"/>
                          </a:solidFill>
                          <a:effectLst/>
                          <a:latin typeface="Corbel"/>
                        </a:rPr>
                        <a:t>Relevance</a:t>
                      </a:r>
                    </a:p>
                  </a:txBody>
                  <a:tcPr marL="0" marR="0" marT="0" marB="0" anchor="ctr">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291999">
                <a:tc>
                  <a:txBody>
                    <a:bodyPr/>
                    <a:lstStyle/>
                    <a:p>
                      <a:pPr marL="0" algn="l" defTabSz="456999" rtl="0" eaLnBrk="1" fontAlgn="b" latinLnBrk="0" hangingPunct="1"/>
                      <a:r>
                        <a:rPr lang="en-US" sz="800" b="0" i="0" u="none" strike="noStrike" kern="1200" noProof="0">
                          <a:solidFill>
                            <a:srgbClr val="000000"/>
                          </a:solidFill>
                          <a:effectLst/>
                          <a:latin typeface="+mn-lt"/>
                          <a:ea typeface="+mn-ea"/>
                          <a:cs typeface="+mn-cs"/>
                          <a:hlinkClick r:id="rId5" action="ppaction://hlinksldjump"/>
                        </a:rPr>
                        <a:t>AAD-1</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nBIF will deliver(push) model output dataset to CRPR in Batch manner (not through CRPR’s online API).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3175037"/>
                  </a:ext>
                </a:extLst>
              </a:tr>
              <a:tr h="291999">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6" action="ppaction://hlinksldjump"/>
                        </a:rPr>
                        <a:t>AAD-2</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nBIF will directly write model output to CFO-Hub database without using RFTM route.</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All portfolios– Monthly Factory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7162121"/>
                  </a:ext>
                </a:extLst>
              </a:tr>
              <a:tr h="269280">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7" action="ppaction://hlinksldjump"/>
                        </a:rPr>
                        <a:t>AAD-3</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The SQLs to acquire data from GRFD to nBIF shall not apply any business rules – they can only do joins and filters. When a business rule (harmonization) is a must-have and it neither fit in GRFD nor in the calculator, nBIF will be used to implement them as last resort. </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All portfolio – Monthly Factory runs</a:t>
                      </a:r>
                    </a:p>
                    <a:p>
                      <a:pPr marL="0" marR="0" lvl="0" indent="0" algn="l" defTabSz="456999" rtl="0" eaLnBrk="1" fontAlgn="b" latinLnBrk="0" hangingPunct="1">
                        <a:lnSpc>
                          <a:spcPct val="100000"/>
                        </a:lnSpc>
                        <a:spcBef>
                          <a:spcPts val="0"/>
                        </a:spcBef>
                        <a:spcAft>
                          <a:spcPts val="0"/>
                        </a:spcAft>
                        <a:buClrTx/>
                        <a:buSzTx/>
                        <a:buFontTx/>
                        <a:buNone/>
                        <a:tabLst/>
                        <a:defRPr/>
                      </a:pPr>
                      <a:endParaRPr lang="en-GB" sz="800" b="0" kern="1200" baseline="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0538363"/>
                  </a:ext>
                </a:extLst>
              </a:tr>
              <a:tr h="351922">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i="0" u="none" strike="noStrike" kern="1200" noProof="0">
                          <a:solidFill>
                            <a:srgbClr val="000000"/>
                          </a:solidFill>
                          <a:effectLst/>
                          <a:latin typeface="+mn-lt"/>
                          <a:ea typeface="+mn-ea"/>
                          <a:cs typeface="+mn-cs"/>
                          <a:hlinkClick r:id="rId8" action="ppaction://hlinksldjump"/>
                        </a:rPr>
                        <a:t>AAD-4</a:t>
                      </a: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800" b="0" kern="1200" baseline="0" noProof="0">
                          <a:solidFill>
                            <a:schemeClr val="tx1"/>
                          </a:solidFill>
                          <a:latin typeface="+mn-lt"/>
                          <a:ea typeface="+mn-ea"/>
                          <a:cs typeface="+mn-cs"/>
                        </a:rPr>
                        <a:t>A common Data Cache is introduced to enable hosting data files that are reused by multiple portfolio </a:t>
                      </a:r>
                      <a:r>
                        <a:rPr lang="en-US" sz="800" b="0" kern="1200" baseline="0" noProof="0" err="1">
                          <a:solidFill>
                            <a:schemeClr val="tx1"/>
                          </a:solidFill>
                          <a:latin typeface="+mn-lt"/>
                          <a:ea typeface="+mn-ea"/>
                          <a:cs typeface="+mn-cs"/>
                        </a:rPr>
                        <a:t>nBIF’s</a:t>
                      </a:r>
                      <a:endParaRPr lang="en-GB" sz="800" b="0" kern="1200" baseline="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0" kern="1200" baseline="0" noProof="0">
                          <a:solidFill>
                            <a:schemeClr val="tx1"/>
                          </a:solidFill>
                          <a:latin typeface="+mn-lt"/>
                          <a:ea typeface="+mn-ea"/>
                          <a:cs typeface="+mn-cs"/>
                        </a:rPr>
                        <a:t>All portfolio – Monthly Factory runs + Ad-hoc runs</a:t>
                      </a: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51922">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endParaRPr lang="en-US" sz="800" b="0" i="0" u="none" strike="noStrike" kern="1200" noProof="0">
                        <a:solidFill>
                          <a:srgbClr val="000000"/>
                        </a:solidFill>
                        <a:effectLst/>
                        <a:latin typeface="+mn-lt"/>
                        <a:ea typeface="+mn-ea"/>
                        <a:cs typeface="+mn-cs"/>
                      </a:endParaRPr>
                    </a:p>
                  </a:txBody>
                  <a:tcPr marL="90936" marR="90936"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endParaRPr lang="en-GB" sz="800" b="0" kern="1200" baseline="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endParaRPr lang="en-GB" sz="800" b="0" kern="1200" baseline="0" noProof="0">
                        <a:solidFill>
                          <a:schemeClr val="tx1"/>
                        </a:solidFill>
                        <a:latin typeface="+mn-lt"/>
                        <a:ea typeface="+mn-ea"/>
                        <a:cs typeface="+mn-cs"/>
                      </a:endParaRPr>
                    </a:p>
                  </a:txBody>
                  <a:tcPr marL="45720" marR="4572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910350"/>
                  </a:ext>
                </a:extLst>
              </a:tr>
            </a:tbl>
          </a:graphicData>
        </a:graphic>
      </p:graphicFrame>
    </p:spTree>
    <p:extLst>
      <p:ext uri="{BB962C8B-B14F-4D97-AF65-F5344CB8AC3E}">
        <p14:creationId xmlns:p14="http://schemas.microsoft.com/office/powerpoint/2010/main" val="39760372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 7">
            <a:extLst>
              <a:ext uri="{FF2B5EF4-FFF2-40B4-BE49-F238E27FC236}">
                <a16:creationId xmlns:a16="http://schemas.microsoft.com/office/drawing/2014/main" id="{DBA49AC7-8E04-925B-158A-6EB6E77AEFCC}"/>
              </a:ext>
            </a:extLst>
          </p:cNvPr>
          <p:cNvGraphicFramePr>
            <a:graphicFrameLocks noGrp="1"/>
          </p:cNvGraphicFramePr>
          <p:nvPr>
            <p:extLst>
              <p:ext uri="{D42A27DB-BD31-4B8C-83A1-F6EECF244321}">
                <p14:modId xmlns:p14="http://schemas.microsoft.com/office/powerpoint/2010/main" val="3916122944"/>
              </p:ext>
            </p:extLst>
          </p:nvPr>
        </p:nvGraphicFramePr>
        <p:xfrm>
          <a:off x="475814" y="775421"/>
          <a:ext cx="7851757" cy="3826946"/>
        </p:xfrm>
        <a:graphic>
          <a:graphicData uri="http://schemas.openxmlformats.org/drawingml/2006/table">
            <a:tbl>
              <a:tblPr firstRow="1" bandRow="1">
                <a:tableStyleId>{17292A2E-F333-43FB-9621-5CBBE7FDCDCB}</a:tableStyleId>
              </a:tblPr>
              <a:tblGrid>
                <a:gridCol w="926712">
                  <a:extLst>
                    <a:ext uri="{9D8B030D-6E8A-4147-A177-3AD203B41FA5}">
                      <a16:colId xmlns:a16="http://schemas.microsoft.com/office/drawing/2014/main" val="20000"/>
                    </a:ext>
                  </a:extLst>
                </a:gridCol>
                <a:gridCol w="6925045">
                  <a:extLst>
                    <a:ext uri="{9D8B030D-6E8A-4147-A177-3AD203B41FA5}">
                      <a16:colId xmlns:a16="http://schemas.microsoft.com/office/drawing/2014/main" val="20001"/>
                    </a:ext>
                  </a:extLst>
                </a:gridCol>
              </a:tblGrid>
              <a:tr h="356261">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100" i="1" u="none" strike="noStrike" noProof="0">
                          <a:solidFill>
                            <a:schemeClr val="tx1"/>
                          </a:solidFill>
                          <a:effectLst/>
                        </a:rPr>
                        <a:t>AAD-1. </a:t>
                      </a:r>
                      <a:r>
                        <a:rPr lang="en-GB" sz="1100" b="1" kern="1200" baseline="0" noProof="0">
                          <a:solidFill>
                            <a:schemeClr val="tx1"/>
                          </a:solidFill>
                          <a:latin typeface="+mn-lt"/>
                          <a:ea typeface="+mn-ea"/>
                          <a:cs typeface="+mn-cs"/>
                        </a:rPr>
                        <a:t>nBIF will deliver(push) model output dataset to CRPR in Batch manner (not through CRPR’s online API). </a:t>
                      </a:r>
                    </a:p>
                  </a:txBody>
                  <a:tcPr marL="60960" marR="60960" marT="60960" marB="6096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243139">
                <a:tc>
                  <a:txBody>
                    <a:bodyPr/>
                    <a:lstStyle/>
                    <a:p>
                      <a:r>
                        <a:rPr lang="en-GB" sz="900"/>
                        <a:t>Decision</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1" u="none" strike="noStrike" noProof="0">
                          <a:solidFill>
                            <a:schemeClr val="tx1"/>
                          </a:solidFill>
                          <a:effectLst/>
                        </a:rPr>
                        <a:t>nBIF will deliver(push) model output dataset to CRPR in Batch manner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i="1" u="none" strike="noStrike" noProof="0">
                          <a:solidFill>
                            <a:schemeClr val="tx1"/>
                          </a:solidFill>
                          <a:effectLst/>
                        </a:rPr>
                        <a:t> (not through CRPR’s online API). Credit Core will take responsibility to load this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i="1" u="none" strike="noStrike" noProof="0">
                          <a:solidFill>
                            <a:schemeClr val="tx1"/>
                          </a:solidFill>
                          <a:effectLst/>
                        </a:rPr>
                        <a:t>batch dataset to CRPR.</a:t>
                      </a:r>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12514">
                <a:tc>
                  <a:txBody>
                    <a:bodyPr/>
                    <a:lstStyle/>
                    <a:p>
                      <a:r>
                        <a:rPr lang="en-GB" sz="900"/>
                        <a:t>Rationale</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t>CRPR’s online API which uses micro-batching is not fit for Batch run purposes.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t>This approach decouples nBIF and CRPR from the hard dependencies on each other.. </a:t>
                      </a:r>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62022">
                <a:tc>
                  <a:txBody>
                    <a:bodyPr/>
                    <a:lstStyle/>
                    <a:p>
                      <a:r>
                        <a:rPr lang="en-GB" sz="900"/>
                        <a:t>Related IT-principle</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1"/>
                        <a:t>Ensure Manageability</a:t>
                      </a:r>
                    </a:p>
                    <a:p>
                      <a:r>
                        <a:rPr lang="en-GB" sz="900" b="1"/>
                        <a:t>Design for stability</a:t>
                      </a:r>
                    </a:p>
                    <a:p>
                      <a:r>
                        <a:rPr lang="en-GB" sz="900" b="1"/>
                        <a:t>Segregate to reduce Impact</a:t>
                      </a:r>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96703">
                <a:tc>
                  <a:txBody>
                    <a:bodyPr/>
                    <a:lstStyle/>
                    <a:p>
                      <a:r>
                        <a:rPr lang="en-GB" sz="900"/>
                        <a:t>Consequences</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indent="-228600">
                        <a:buFont typeface="+mj-lt"/>
                        <a:buAutoNum type="arabicPeriod"/>
                      </a:pPr>
                      <a:r>
                        <a:rPr lang="en-NL" sz="900"/>
                        <a:t>CRPR need to build additional functionalities</a:t>
                      </a:r>
                      <a:r>
                        <a:rPr lang="en-IN" sz="900"/>
                        <a:t> to accept and load batch data.</a:t>
                      </a:r>
                      <a:endParaRPr lang="en-NL" sz="900"/>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02580">
                <a:tc>
                  <a:txBody>
                    <a:bodyPr/>
                    <a:lstStyle/>
                    <a:p>
                      <a:r>
                        <a:rPr lang="en-GB" sz="900"/>
                        <a:t>Alternatives</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NL" sz="900"/>
                        <a:t>Stay with </a:t>
                      </a:r>
                      <a:r>
                        <a:rPr lang="en-IN" sz="900"/>
                        <a:t>CPPR’s API</a:t>
                      </a:r>
                      <a:r>
                        <a:rPr lang="en-NL" sz="900"/>
                        <a:t> solution</a:t>
                      </a:r>
                      <a:r>
                        <a:rPr lang="en-IN" sz="900"/>
                        <a:t> - </a:t>
                      </a:r>
                      <a:r>
                        <a:rPr lang="en-GB" sz="900" kern="0">
                          <a:latin typeface="+mn-lt"/>
                        </a:rPr>
                        <a:t>This solution was built with online use tests </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900" kern="0">
                          <a:latin typeface="+mn-lt"/>
                        </a:rPr>
                        <a:t>in mind and isn’t well suited for batch.</a:t>
                      </a:r>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96703">
                <a:tc>
                  <a:txBody>
                    <a:bodyPr/>
                    <a:lstStyle/>
                    <a:p>
                      <a:r>
                        <a:rPr lang="en-GB" sz="900"/>
                        <a:t>Architectural Fit</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1"/>
                        <a:t>Good</a:t>
                      </a:r>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816683">
                <a:tc>
                  <a:txBody>
                    <a:bodyPr/>
                    <a:lstStyle/>
                    <a:p>
                      <a:r>
                        <a:rPr lang="en-GB" sz="900"/>
                        <a:t>Mitigations</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801"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sz="900" b="1" kern="1200">
                          <a:solidFill>
                            <a:schemeClr val="tx1"/>
                          </a:solidFill>
                          <a:latin typeface="+mn-lt"/>
                          <a:ea typeface="+mn-ea"/>
                          <a:cs typeface="+mn-cs"/>
                        </a:rPr>
                        <a:t>The </a:t>
                      </a:r>
                      <a:r>
                        <a:rPr lang="en-NL" sz="900" b="1" kern="1200">
                          <a:solidFill>
                            <a:schemeClr val="tx1"/>
                          </a:solidFill>
                          <a:latin typeface="+mn-lt"/>
                          <a:ea typeface="+mn-ea"/>
                          <a:cs typeface="+mn-cs"/>
                        </a:rPr>
                        <a:t>batch Data </a:t>
                      </a:r>
                      <a:r>
                        <a:rPr lang="en-IN" sz="900" b="1" kern="1200">
                          <a:solidFill>
                            <a:schemeClr val="tx1"/>
                          </a:solidFill>
                          <a:latin typeface="+mn-lt"/>
                          <a:ea typeface="+mn-ea"/>
                          <a:cs typeface="+mn-cs"/>
                        </a:rPr>
                        <a:t>load process</a:t>
                      </a:r>
                      <a:r>
                        <a:rPr lang="en-NL" sz="900" b="1" kern="1200">
                          <a:solidFill>
                            <a:schemeClr val="tx1"/>
                          </a:solidFill>
                          <a:latin typeface="+mn-lt"/>
                          <a:ea typeface="+mn-ea"/>
                          <a:cs typeface="+mn-cs"/>
                        </a:rPr>
                        <a:t> from blob store with </a:t>
                      </a:r>
                      <a:r>
                        <a:rPr lang="en-GB" sz="900" b="1" kern="1200">
                          <a:solidFill>
                            <a:schemeClr val="tx1"/>
                          </a:solidFill>
                          <a:latin typeface="+mn-lt"/>
                          <a:ea typeface="+mn-ea"/>
                          <a:cs typeface="+mn-cs"/>
                        </a:rPr>
                        <a:t>required transformation to map current calculator output to multiple versions of Generic model output.</a:t>
                      </a:r>
                    </a:p>
                    <a:p>
                      <a:pPr marL="6860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b="1" kern="1200">
                          <a:solidFill>
                            <a:schemeClr val="tx1"/>
                          </a:solidFill>
                          <a:latin typeface="+mn-lt"/>
                          <a:ea typeface="+mn-ea"/>
                          <a:cs typeface="+mn-cs"/>
                        </a:rPr>
                        <a:t>The business (transformation) rules applied for batch will be exactly same as in the WebApp. </a:t>
                      </a:r>
                      <a:endParaRPr lang="en-GB" sz="900" b="1"/>
                    </a:p>
                  </a:txBody>
                  <a:tcPr marL="48000" marR="48000" marT="36000" marB="36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3" name="Rectangle 22">
            <a:extLst>
              <a:ext uri="{FF2B5EF4-FFF2-40B4-BE49-F238E27FC236}">
                <a16:creationId xmlns:a16="http://schemas.microsoft.com/office/drawing/2014/main" id="{FA889FB8-4908-AD71-B1E7-1D421D8C33B8}"/>
              </a:ext>
            </a:extLst>
          </p:cNvPr>
          <p:cNvSpPr/>
          <p:nvPr/>
        </p:nvSpPr>
        <p:spPr>
          <a:xfrm>
            <a:off x="5545183" y="1127204"/>
            <a:ext cx="2782388" cy="1662112"/>
          </a:xfrm>
          <a:prstGeom prst="rect">
            <a:avLst/>
          </a:prstGeom>
          <a:solidFill>
            <a:schemeClr val="bg1"/>
          </a:solidFill>
          <a:ln w="12700" cap="rnd" cmpd="sng" algn="ctr">
            <a:solidFill>
              <a:srgbClr val="EAEAEA"/>
            </a:solidFill>
            <a:prstDash val="solid"/>
          </a:ln>
          <a:effectLst/>
        </p:spPr>
        <p:txBody>
          <a:bodyPr rtlCol="0" anchor="ctr"/>
          <a:lstStyle/>
          <a:p>
            <a:pPr algn="ctr"/>
            <a:endParaRPr lang="en-IN">
              <a:solidFill>
                <a:srgbClr val="5E6A71"/>
              </a:solidFill>
            </a:endParaRPr>
          </a:p>
          <a:p>
            <a:pPr algn="ctr"/>
            <a:endParaRPr lang="en-IN">
              <a:solidFill>
                <a:srgbClr val="5E6A71"/>
              </a:solidFill>
            </a:endParaRPr>
          </a:p>
          <a:p>
            <a:pPr algn="ctr"/>
            <a:endParaRPr lang="en-IN">
              <a:solidFill>
                <a:srgbClr val="5E6A71"/>
              </a:solidFill>
            </a:endParaRPr>
          </a:p>
        </p:txBody>
      </p:sp>
      <p:sp>
        <p:nvSpPr>
          <p:cNvPr id="3" name="Title 2"/>
          <p:cNvSpPr>
            <a:spLocks noGrp="1"/>
          </p:cNvSpPr>
          <p:nvPr>
            <p:ph type="title"/>
          </p:nvPr>
        </p:nvSpPr>
        <p:spPr/>
        <p:txBody>
          <a:bodyPr/>
          <a:lstStyle/>
          <a:p>
            <a:r>
              <a:rPr lang="en-GB"/>
              <a:t>5.1.1 Application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pic>
        <p:nvPicPr>
          <p:cNvPr id="21" name="Picture 20">
            <a:extLst>
              <a:ext uri="{FF2B5EF4-FFF2-40B4-BE49-F238E27FC236}">
                <a16:creationId xmlns:a16="http://schemas.microsoft.com/office/drawing/2014/main" id="{33CD9BDC-61B4-C075-0B0C-8688431E5E9F}"/>
              </a:ext>
            </a:extLst>
          </p:cNvPr>
          <p:cNvPicPr>
            <a:picLocks noChangeAspect="1"/>
          </p:cNvPicPr>
          <p:nvPr/>
        </p:nvPicPr>
        <p:blipFill>
          <a:blip r:embed="rId4"/>
          <a:stretch>
            <a:fillRect/>
          </a:stretch>
        </p:blipFill>
        <p:spPr>
          <a:xfrm>
            <a:off x="5668481" y="1266808"/>
            <a:ext cx="2578536" cy="1429395"/>
          </a:xfrm>
          <a:prstGeom prst="rect">
            <a:avLst/>
          </a:prstGeom>
          <a:solidFill>
            <a:schemeClr val="bg1"/>
          </a:solidFill>
        </p:spPr>
      </p:pic>
      <p:sp>
        <p:nvSpPr>
          <p:cNvPr id="7" name="TextBox 6">
            <a:extLst>
              <a:ext uri="{FF2B5EF4-FFF2-40B4-BE49-F238E27FC236}">
                <a16:creationId xmlns:a16="http://schemas.microsoft.com/office/drawing/2014/main" id="{1CC9937A-DA9D-1447-7448-4B2603025BC3}"/>
              </a:ext>
            </a:extLst>
          </p:cNvPr>
          <p:cNvSpPr txBox="1"/>
          <p:nvPr/>
        </p:nvSpPr>
        <p:spPr>
          <a:xfrm>
            <a:off x="5198894" y="512469"/>
            <a:ext cx="3081506"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IN" sz="1000">
                <a:solidFill>
                  <a:srgbClr val="C8009C"/>
                </a:solidFill>
                <a:hlinkClick r:id="rId5" action="ppaction://hlinksldjump"/>
              </a:rPr>
              <a:t>Application </a:t>
            </a:r>
            <a:r>
              <a:rPr lang="en-GB" sz="1000">
                <a:hlinkClick r:id="rId5" action="ppaction://hlinksldjump"/>
              </a:rPr>
              <a:t>Architecture decisions List</a:t>
            </a:r>
            <a:endParaRPr lang="LID4096" sz="1000">
              <a:solidFill>
                <a:srgbClr val="5E6A71"/>
              </a:solidFill>
            </a:endParaRPr>
          </a:p>
        </p:txBody>
      </p:sp>
    </p:spTree>
    <p:extLst>
      <p:ext uri="{BB962C8B-B14F-4D97-AF65-F5344CB8AC3E}">
        <p14:creationId xmlns:p14="http://schemas.microsoft.com/office/powerpoint/2010/main" val="136997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5.1.2 Application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2179083943"/>
              </p:ext>
            </p:extLst>
          </p:nvPr>
        </p:nvGraphicFramePr>
        <p:xfrm>
          <a:off x="475814" y="1072642"/>
          <a:ext cx="7808316" cy="2137422"/>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18327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200" i="1" u="none" strike="noStrike" noProof="0">
                          <a:solidFill>
                            <a:schemeClr val="tx1"/>
                          </a:solidFill>
                          <a:effectLst/>
                        </a:rPr>
                        <a:t>AAD-2. </a:t>
                      </a:r>
                      <a:r>
                        <a:rPr lang="en-GB" sz="1200" b="1" kern="1200" baseline="0" noProof="0">
                          <a:solidFill>
                            <a:schemeClr val="tx1"/>
                          </a:solidFill>
                          <a:latin typeface="+mn-lt"/>
                          <a:ea typeface="+mn-ea"/>
                          <a:cs typeface="+mn-cs"/>
                        </a:rPr>
                        <a:t>nBIF will directly write model output to CFO-Hub database without using RFTM route.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nBIF will directly write model output to CFO-Hub database without using RFTM route.  </a:t>
                      </a:r>
                    </a:p>
                    <a:p>
                      <a:pPr marL="0" marR="0" lvl="0" indent="0" algn="l" defTabSz="456999" rtl="0" eaLnBrk="1" fontAlgn="b" latinLnBrk="0" hangingPunct="1">
                        <a:lnSpc>
                          <a:spcPct val="100000"/>
                        </a:lnSpc>
                        <a:spcBef>
                          <a:spcPts val="0"/>
                        </a:spcBef>
                        <a:spcAft>
                          <a:spcPts val="0"/>
                        </a:spcAft>
                        <a:buClrTx/>
                        <a:buSzTx/>
                        <a:buFontTx/>
                        <a:buNone/>
                        <a:tabLst/>
                        <a:defRPr/>
                      </a:pPr>
                      <a:r>
                        <a:rPr lang="en-GB" sz="800" b="1" kern="1200" baseline="0" noProof="0">
                          <a:solidFill>
                            <a:schemeClr val="tx1"/>
                          </a:solidFill>
                          <a:latin typeface="+mn-lt"/>
                          <a:ea typeface="+mn-ea"/>
                          <a:cs typeface="+mn-cs"/>
                        </a:rPr>
                        <a:t>The new setup will use Azure data factory &amp; the central SHIR (Shared hosted integrated runtime) for TCA that is managed by CAS core.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i="0" u="none" strike="noStrike" noProof="0">
                          <a:solidFill>
                            <a:srgbClr val="000000"/>
                          </a:solidFill>
                          <a:effectLst/>
                          <a:latin typeface="+mn-lt"/>
                        </a:rPr>
                        <a:t>Since both applications are based on MS SQL server, It is more operationally efficient for CFO-Hub &amp; nBIF. It avoids need to serialize model output into a file and then de-serialize. It also avoids, need to do additional validation at CFO Hub.</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3274">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3274">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GB" sz="800" b="0" baseline="0"/>
                        <a:t>CFO-Hub need to expose its staging-in layer for write.</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nBIF needs to build the data pipeline.</a:t>
                      </a:r>
                    </a:p>
                    <a:p>
                      <a:pPr marL="0" indent="0">
                        <a:buNone/>
                      </a:pPr>
                      <a:r>
                        <a:rPr lang="en-GB" sz="800" b="0" baseline="0"/>
                        <a:t>nBIF needs to build mechanism to trigger subsequent CFO-Hub workflow on TSW z/</a:t>
                      </a:r>
                      <a:r>
                        <a:rPr lang="en-GB" sz="800" b="0" baseline="0" err="1"/>
                        <a:t>os</a:t>
                      </a:r>
                      <a:r>
                        <a:rPr lang="en-GB" sz="800" b="0" baseline="0"/>
                        <a:t>.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3274">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None/>
                      </a:pPr>
                      <a:r>
                        <a:rPr lang="en-GB" sz="800" b="0" baseline="0"/>
                        <a:t>Continue generating the extract of model output and send it via RFTM –  when data provider and data consumer are on same technology, a more effective solution is to write directly using Azure data factory,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3274">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3274">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TWS z/OS schedule is exposed as rest </a:t>
                      </a:r>
                      <a:r>
                        <a:rPr lang="en-GB" sz="800" b="0" err="1"/>
                        <a:t>api</a:t>
                      </a:r>
                      <a:r>
                        <a:rPr lang="en-GB" sz="800" b="0"/>
                        <a:t> through Kong API gateway. nBIF will call TWS’s Rest API upon completion of successful data write.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9" name="TextBox 8">
            <a:extLst>
              <a:ext uri="{FF2B5EF4-FFF2-40B4-BE49-F238E27FC236}">
                <a16:creationId xmlns:a16="http://schemas.microsoft.com/office/drawing/2014/main" id="{3B45A63F-18D6-C421-2434-14A79D8A5AEE}"/>
              </a:ext>
            </a:extLst>
          </p:cNvPr>
          <p:cNvSpPr txBox="1"/>
          <p:nvPr/>
        </p:nvSpPr>
        <p:spPr>
          <a:xfrm>
            <a:off x="5084617" y="636287"/>
            <a:ext cx="3081506"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IN" sz="1000">
                <a:solidFill>
                  <a:srgbClr val="C8009C"/>
                </a:solidFill>
                <a:hlinkClick r:id="rId4" action="ppaction://hlinksldjump"/>
              </a:rPr>
              <a:t>Application </a:t>
            </a:r>
            <a:r>
              <a:rPr lang="en-GB" sz="1000">
                <a:hlinkClick r:id="rId4" action="ppaction://hlinksldjump"/>
              </a:rPr>
              <a:t>Architecture decisions List</a:t>
            </a:r>
            <a:endParaRPr lang="LID4096" sz="1000">
              <a:solidFill>
                <a:srgbClr val="5E6A71"/>
              </a:solidFill>
            </a:endParaRPr>
          </a:p>
        </p:txBody>
      </p:sp>
    </p:spTree>
    <p:extLst>
      <p:ext uri="{BB962C8B-B14F-4D97-AF65-F5344CB8AC3E}">
        <p14:creationId xmlns:p14="http://schemas.microsoft.com/office/powerpoint/2010/main" val="984059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5.1.3 Application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9" name="Text Placeholder 8">
            <a:extLst>
              <a:ext uri="{FF2B5EF4-FFF2-40B4-BE49-F238E27FC236}">
                <a16:creationId xmlns:a16="http://schemas.microsoft.com/office/drawing/2014/main" id="{3B3B00C9-5F26-A848-AC18-AC83B410B295}"/>
              </a:ext>
            </a:extLst>
          </p:cNvPr>
          <p:cNvSpPr>
            <a:spLocks noGrp="1"/>
          </p:cNvSpPr>
          <p:nvPr>
            <p:ph type="body" sz="quarter" idx="13"/>
          </p:nvPr>
        </p:nvSpPr>
        <p:spPr/>
        <p:txBody>
          <a:bodyPr/>
          <a:lstStyle/>
          <a:p>
            <a:endParaRPr lang="LID4096"/>
          </a:p>
        </p:txBody>
      </p:sp>
      <p:sp>
        <p:nvSpPr>
          <p:cNvPr id="11" name="Rectangle 1">
            <a:extLst>
              <a:ext uri="{FF2B5EF4-FFF2-40B4-BE49-F238E27FC236}">
                <a16:creationId xmlns:a16="http://schemas.microsoft.com/office/drawing/2014/main" id="{968C8926-02B5-E469-F376-3F52338D9EE2}"/>
              </a:ext>
            </a:extLst>
          </p:cNvPr>
          <p:cNvSpPr>
            <a:spLocks noChangeArrowheads="1"/>
          </p:cNvSpPr>
          <p:nvPr/>
        </p:nvSpPr>
        <p:spPr bwMode="auto">
          <a:xfrm flipV="1">
            <a:off x="476250" y="787002"/>
            <a:ext cx="76880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LID4096" altLang="LID4096"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D6CCEC44-205B-CC25-3818-07481963B79D}"/>
              </a:ext>
            </a:extLst>
          </p:cNvPr>
          <p:cNvSpPr>
            <a:spLocks noChangeArrowheads="1"/>
          </p:cNvSpPr>
          <p:nvPr/>
        </p:nvSpPr>
        <p:spPr bwMode="auto">
          <a:xfrm>
            <a:off x="476250" y="1724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a:ln>
                  <a:noFill/>
                </a:ln>
                <a:solidFill>
                  <a:srgbClr val="000000"/>
                </a:solidFill>
                <a:effectLst/>
                <a:latin typeface="Times"/>
              </a:rPr>
              <a:t> </a:t>
            </a:r>
            <a:endParaRPr kumimoji="0" lang="en-NL" altLang="en-NL"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EB459248-291A-B5C6-D15B-3D5EF1B2F7D6}"/>
              </a:ext>
            </a:extLst>
          </p:cNvPr>
          <p:cNvGraphicFramePr>
            <a:graphicFrameLocks noGrp="1"/>
          </p:cNvGraphicFramePr>
          <p:nvPr>
            <p:extLst>
              <p:ext uri="{D42A27DB-BD31-4B8C-83A1-F6EECF244321}">
                <p14:modId xmlns:p14="http://schemas.microsoft.com/office/powerpoint/2010/main" val="2840224449"/>
              </p:ext>
            </p:extLst>
          </p:nvPr>
        </p:nvGraphicFramePr>
        <p:xfrm>
          <a:off x="476250" y="805191"/>
          <a:ext cx="7804150" cy="3414147"/>
        </p:xfrm>
        <a:graphic>
          <a:graphicData uri="http://schemas.openxmlformats.org/drawingml/2006/table">
            <a:tbl>
              <a:tblPr/>
              <a:tblGrid>
                <a:gridCol w="960790">
                  <a:extLst>
                    <a:ext uri="{9D8B030D-6E8A-4147-A177-3AD203B41FA5}">
                      <a16:colId xmlns:a16="http://schemas.microsoft.com/office/drawing/2014/main" val="3459451793"/>
                    </a:ext>
                  </a:extLst>
                </a:gridCol>
                <a:gridCol w="6843360">
                  <a:extLst>
                    <a:ext uri="{9D8B030D-6E8A-4147-A177-3AD203B41FA5}">
                      <a16:colId xmlns:a16="http://schemas.microsoft.com/office/drawing/2014/main" val="3402156970"/>
                    </a:ext>
                  </a:extLst>
                </a:gridCol>
              </a:tblGrid>
              <a:tr h="246542">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GB" sz="1100" b="1" kern="1200" baseline="0" noProof="0">
                          <a:solidFill>
                            <a:schemeClr val="tx1"/>
                          </a:solidFill>
                          <a:latin typeface="+mn-lt"/>
                          <a:ea typeface="+mn-ea"/>
                          <a:cs typeface="+mn-cs"/>
                        </a:rPr>
                        <a:t>AAD 3. The SQLs to acquire data from GRFD to nBIF shall not apply any business rules – they can only do joins and filters. </a:t>
                      </a:r>
                    </a:p>
                  </a:txBody>
                  <a:tcPr marL="87015" marR="87015" marT="43507" marB="43507" anchor="b">
                    <a:lnL w="11849" cap="flat" cmpd="sng" algn="ctr">
                      <a:solidFill>
                        <a:srgbClr val="DCDDDE"/>
                      </a:solidFill>
                      <a:prstDash val="solid"/>
                      <a:round/>
                      <a:headEnd type="none" w="med" len="med"/>
                      <a:tailEnd type="none" w="med" len="med"/>
                    </a:lnL>
                    <a:lnR w="11849" cap="flat" cmpd="sng" algn="ctr">
                      <a:solidFill>
                        <a:srgbClr val="DCDDDE"/>
                      </a:solidFill>
                      <a:prstDash val="solid"/>
                      <a:round/>
                      <a:headEnd type="none" w="med" len="med"/>
                      <a:tailEnd type="none" w="med" len="med"/>
                    </a:lnR>
                    <a:lnT w="53340" cap="flat" cmpd="sng" algn="ctr">
                      <a:solidFill>
                        <a:srgbClr val="FD6400"/>
                      </a:solidFill>
                      <a:prstDash val="solid"/>
                      <a:round/>
                      <a:headEnd type="none" w="med" len="med"/>
                      <a:tailEnd type="none" w="med" len="med"/>
                    </a:lnT>
                    <a:lnB w="11849" cap="flat" cmpd="sng" algn="ctr">
                      <a:solidFill>
                        <a:srgbClr val="D3D3D3"/>
                      </a:solidFill>
                      <a:prstDash val="solid"/>
                      <a:round/>
                      <a:headEnd type="none" w="med" len="med"/>
                      <a:tailEnd type="none" w="med" len="med"/>
                    </a:lnB>
                    <a:solidFill>
                      <a:srgbClr val="DCDDDE"/>
                    </a:solidFill>
                  </a:tcPr>
                </a:tc>
                <a:tc hMerge="1">
                  <a:txBody>
                    <a:bodyPr/>
                    <a:lstStyle/>
                    <a:p>
                      <a:endParaRPr lang="en-NL"/>
                    </a:p>
                  </a:txBody>
                  <a:tcPr/>
                </a:tc>
                <a:extLst>
                  <a:ext uri="{0D108BD9-81ED-4DB2-BD59-A6C34878D82A}">
                    <a16:rowId xmlns:a16="http://schemas.microsoft.com/office/drawing/2014/main" val="2256097466"/>
                  </a:ext>
                </a:extLst>
              </a:tr>
              <a:tr h="290050">
                <a:tc>
                  <a:txBody>
                    <a:bodyPr/>
                    <a:lstStyle/>
                    <a:p>
                      <a:pPr algn="l" fontAlgn="base"/>
                      <a:r>
                        <a:rPr lang="en-GB" sz="700" b="0" i="0">
                          <a:solidFill>
                            <a:srgbClr val="000000"/>
                          </a:solidFill>
                          <a:effectLst/>
                          <a:latin typeface="+mj-lt"/>
                        </a:rPr>
                        <a:t>Decision​</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GB" sz="800" b="0" i="0" u="none" strike="noStrike" kern="1200" noProof="0">
                          <a:solidFill>
                            <a:srgbClr val="000000"/>
                          </a:solidFill>
                          <a:effectLst/>
                          <a:latin typeface="+mj-lt"/>
                          <a:ea typeface="+mn-ea"/>
                          <a:cs typeface="+mn-cs"/>
                        </a:rPr>
                        <a:t>The SQLs to acquire data from GRFD to nBIF shall not apply any business rules, they can only do joins and filters. </a:t>
                      </a:r>
                    </a:p>
                    <a:p>
                      <a:pPr marL="0" indent="0" algn="l" fontAlgn="base">
                        <a:buFont typeface="Arial" panose="020B0604020202020204" pitchFamily="34" charset="0"/>
                        <a:buNone/>
                      </a:pPr>
                      <a:r>
                        <a:rPr lang="en-GB" sz="800" b="0" i="0" u="none" strike="noStrike" kern="1200" baseline="0" noProof="0">
                          <a:solidFill>
                            <a:srgbClr val="000000"/>
                          </a:solidFill>
                          <a:effectLst/>
                          <a:latin typeface="+mj-lt"/>
                          <a:ea typeface="+mn-ea"/>
                          <a:cs typeface="+mn-cs"/>
                        </a:rPr>
                        <a:t>nBIF Staging data store is its raw data zone, there the column name and underlying values shall be kept exactly as in GRFD.  </a:t>
                      </a:r>
                    </a:p>
                    <a:p>
                      <a:pPr marL="0" indent="0" algn="l" fontAlgn="base">
                        <a:buFont typeface="Arial" panose="020B0604020202020204" pitchFamily="34" charset="0"/>
                        <a:buNone/>
                      </a:pPr>
                      <a:r>
                        <a:rPr lang="en-GB" sz="800" b="0" i="0" u="none" strike="noStrike" kern="1200" noProof="0">
                          <a:solidFill>
                            <a:srgbClr val="000000"/>
                          </a:solidFill>
                          <a:effectLst/>
                          <a:latin typeface="+mj-lt"/>
                          <a:ea typeface="+mn-ea"/>
                          <a:cs typeface="+mn-cs"/>
                        </a:rPr>
                        <a:t>When a business rule (harmonization) is a must-have and it neither fits in GRFD nor in the calculator, nBIF will be used to implement them as last resort. Within nBIF these harmonisations shall be done as part of data preparation step of the models. </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832012406"/>
                  </a:ext>
                </a:extLst>
              </a:tr>
              <a:tr h="188532">
                <a:tc>
                  <a:txBody>
                    <a:bodyPr/>
                    <a:lstStyle/>
                    <a:p>
                      <a:pPr algn="l" fontAlgn="base"/>
                      <a:r>
                        <a:rPr lang="en-GB" sz="700" b="0" i="0">
                          <a:solidFill>
                            <a:srgbClr val="000000"/>
                          </a:solidFill>
                          <a:effectLst/>
                          <a:latin typeface="+mj-lt"/>
                        </a:rPr>
                        <a:t>Rationale​</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marL="171450" indent="-171450" algn="l" fontAlgn="base">
                        <a:buFont typeface="Arial" panose="020B0604020202020204" pitchFamily="34" charset="0"/>
                        <a:buChar char="•"/>
                      </a:pPr>
                      <a:r>
                        <a:rPr lang="en-GB" sz="800" b="0" i="0" u="none" strike="noStrike" kern="1200" baseline="0" noProof="0">
                          <a:solidFill>
                            <a:srgbClr val="000000"/>
                          </a:solidFill>
                          <a:effectLst/>
                          <a:latin typeface="+mj-lt"/>
                          <a:ea typeface="+mn-ea"/>
                          <a:cs typeface="+mn-cs"/>
                        </a:rPr>
                        <a:t>As part of the Recalibrated Architecture of GRFD (GO2) the function of harmonization in the chain is significantly reduced within GRFD. Also, As IFRS9 &amp; Stress testing move to nBIF, certain harmonization that is currently been done in STIB shall also relocate. </a:t>
                      </a:r>
                    </a:p>
                    <a:p>
                      <a:pPr marL="628449" lvl="1" indent="-171450" algn="l" fontAlgn="base">
                        <a:buFont typeface="Arial" panose="020B0604020202020204" pitchFamily="34" charset="0"/>
                        <a:buChar char="•"/>
                      </a:pPr>
                      <a:r>
                        <a:rPr lang="en-GB" sz="800" b="0" i="0" u="none" strike="noStrike" kern="1200" baseline="0" noProof="0">
                          <a:solidFill>
                            <a:srgbClr val="000000"/>
                          </a:solidFill>
                          <a:effectLst/>
                          <a:latin typeface="+mj-lt"/>
                          <a:ea typeface="+mn-ea"/>
                          <a:cs typeface="+mn-cs"/>
                        </a:rPr>
                        <a:t>Priority will be to do the harmonization in GRFD or in the Model but when both option doesn’t suit, nBIF can be used to apply those harmonization as third most suited place.</a:t>
                      </a:r>
                    </a:p>
                    <a:p>
                      <a:pPr marL="171450" indent="-171450" algn="l" fontAlgn="base">
                        <a:buFont typeface="Arial" panose="020B0604020202020204" pitchFamily="34" charset="0"/>
                        <a:buChar char="•"/>
                      </a:pPr>
                      <a:r>
                        <a:rPr lang="en-GB" sz="800" b="0" i="0" u="none" strike="noStrike" kern="1200" baseline="0" noProof="0">
                          <a:solidFill>
                            <a:srgbClr val="000000"/>
                          </a:solidFill>
                          <a:effectLst/>
                          <a:latin typeface="+mj-lt"/>
                          <a:ea typeface="+mn-ea"/>
                          <a:cs typeface="+mn-cs"/>
                        </a:rPr>
                        <a:t>When a very high amount of data is used to lookup to extract small amount of data, for ex – corporate transaction data lookup based on Siebel id, It may bring significant performance benefit if such operations are done in-db than in-model.</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477409392"/>
                  </a:ext>
                </a:extLst>
              </a:tr>
              <a:tr h="188532">
                <a:tc>
                  <a:txBody>
                    <a:bodyPr/>
                    <a:lstStyle/>
                    <a:p>
                      <a:pPr algn="l" fontAlgn="base"/>
                      <a:r>
                        <a:rPr lang="en-GB" sz="700" b="0" i="0">
                          <a:solidFill>
                            <a:srgbClr val="000000"/>
                          </a:solidFill>
                          <a:effectLst/>
                          <a:latin typeface="+mj-lt"/>
                        </a:rPr>
                        <a:t>Related IT-principle​</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GB" sz="700" b="0" i="0">
                          <a:solidFill>
                            <a:srgbClr val="000000"/>
                          </a:solidFill>
                          <a:effectLst/>
                          <a:latin typeface="+mj-lt"/>
                        </a:rPr>
                        <a:t>Keep IT Simple​</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704209823"/>
                  </a:ext>
                </a:extLst>
              </a:tr>
              <a:tr h="244729">
                <a:tc>
                  <a:txBody>
                    <a:bodyPr/>
                    <a:lstStyle/>
                    <a:p>
                      <a:pPr algn="l" fontAlgn="base"/>
                      <a:r>
                        <a:rPr lang="en-GB" sz="700" b="0" i="0">
                          <a:solidFill>
                            <a:srgbClr val="000000"/>
                          </a:solidFill>
                          <a:effectLst/>
                          <a:latin typeface="+mj-lt"/>
                        </a:rPr>
                        <a:t>Consequences​</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US" sz="700" b="0" i="0">
                          <a:solidFill>
                            <a:srgbClr val="000000"/>
                          </a:solidFill>
                          <a:effectLst/>
                          <a:latin typeface="+mj-lt"/>
                        </a:rPr>
                        <a:t>-</a:t>
                      </a:r>
                      <a:endParaRPr lang="en-US"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191447325"/>
                  </a:ext>
                </a:extLst>
              </a:tr>
              <a:tr h="594602">
                <a:tc>
                  <a:txBody>
                    <a:bodyPr/>
                    <a:lstStyle/>
                    <a:p>
                      <a:pPr algn="l" fontAlgn="base"/>
                      <a:r>
                        <a:rPr lang="en-GB" sz="700" b="0" i="0">
                          <a:solidFill>
                            <a:srgbClr val="000000"/>
                          </a:solidFill>
                          <a:effectLst/>
                          <a:latin typeface="+mj-lt"/>
                        </a:rPr>
                        <a:t>Alternatives​</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buFont typeface="+mj-lt"/>
                        <a:buAutoNum type="arabicPeriod"/>
                      </a:pPr>
                      <a:r>
                        <a:rPr lang="en-GB" sz="800" b="1" i="0">
                          <a:solidFill>
                            <a:srgbClr val="000000"/>
                          </a:solidFill>
                          <a:effectLst/>
                          <a:latin typeface="+mj-lt"/>
                        </a:rPr>
                        <a:t>all</a:t>
                      </a:r>
                      <a:r>
                        <a:rPr lang="en-GB" sz="800" b="0" i="0">
                          <a:solidFill>
                            <a:srgbClr val="000000"/>
                          </a:solidFill>
                          <a:effectLst/>
                          <a:latin typeface="+mj-lt"/>
                        </a:rPr>
                        <a:t> harmonization, that are not good fit in CAS, must be done in GRFD – It doesn’t align with recalibrated architecture of GRFD2. Also, harmonization between 2 models in the n-Bridge can’t be done outside nBIF &amp; CAS duo</a:t>
                      </a:r>
                    </a:p>
                    <a:p>
                      <a:pPr algn="l" fontAlgn="base">
                        <a:buFont typeface="+mj-lt"/>
                        <a:buAutoNum type="arabicPeriod"/>
                      </a:pPr>
                      <a:r>
                        <a:rPr lang="en-GB" sz="800" b="1" i="0">
                          <a:solidFill>
                            <a:srgbClr val="000000"/>
                          </a:solidFill>
                          <a:effectLst/>
                          <a:latin typeface="+mj-lt"/>
                        </a:rPr>
                        <a:t>all</a:t>
                      </a:r>
                      <a:r>
                        <a:rPr lang="en-GB" sz="800" b="0" i="0">
                          <a:solidFill>
                            <a:srgbClr val="000000"/>
                          </a:solidFill>
                          <a:effectLst/>
                          <a:latin typeface="+mj-lt"/>
                        </a:rPr>
                        <a:t> harmonization,  that are not done in GRFD, must be done in CAS – Certain harmonisations are much more performant when done in-db. Some harmonization may be portfolio specific while the related model could be central. For ex- Basel IV model require different harmonization across portfolios. </a:t>
                      </a:r>
                    </a:p>
                    <a:p>
                      <a:pPr marL="0" marR="0" lvl="0" indent="0" algn="l" defTabSz="456999" rtl="0" eaLnBrk="1" fontAlgn="base" latinLnBrk="0" hangingPunct="1">
                        <a:lnSpc>
                          <a:spcPct val="100000"/>
                        </a:lnSpc>
                        <a:spcBef>
                          <a:spcPts val="0"/>
                        </a:spcBef>
                        <a:spcAft>
                          <a:spcPts val="0"/>
                        </a:spcAft>
                        <a:buClrTx/>
                        <a:buSzTx/>
                        <a:buFont typeface="+mj-lt"/>
                        <a:buAutoNum type="arabicPeriod"/>
                        <a:tabLst/>
                        <a:defRPr/>
                      </a:pPr>
                      <a:r>
                        <a:rPr lang="en-GB" sz="800" b="1" i="0">
                          <a:solidFill>
                            <a:srgbClr val="000000"/>
                          </a:solidFill>
                          <a:effectLst/>
                          <a:latin typeface="+mj-lt"/>
                        </a:rPr>
                        <a:t>all</a:t>
                      </a:r>
                      <a:r>
                        <a:rPr lang="en-GB" sz="800" b="0" i="0">
                          <a:solidFill>
                            <a:srgbClr val="000000"/>
                          </a:solidFill>
                          <a:effectLst/>
                          <a:latin typeface="+mj-lt"/>
                        </a:rPr>
                        <a:t> harmonization, that are not done in GRFD or CAS, must be done in CADDI – CADDI is our data retrieval platform that work as stateless compute. It isn’t a place to apply any business logic. Also, harmonization b/w 2 models in the n-Bridge can’t be done outside nBIF &amp; CAS duo</a:t>
                      </a:r>
                    </a:p>
                    <a:p>
                      <a:pPr algn="l" fontAlgn="base">
                        <a:buFont typeface="+mj-lt"/>
                        <a:buAutoNum type="arabicPeriod"/>
                      </a:pPr>
                      <a:endParaRPr lang="en-GB" sz="8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651731487"/>
                  </a:ext>
                </a:extLst>
              </a:tr>
              <a:tr h="188532">
                <a:tc>
                  <a:txBody>
                    <a:bodyPr/>
                    <a:lstStyle/>
                    <a:p>
                      <a:pPr algn="l" fontAlgn="base"/>
                      <a:r>
                        <a:rPr lang="en-GB" sz="700" b="0" i="0">
                          <a:solidFill>
                            <a:srgbClr val="000000"/>
                          </a:solidFill>
                          <a:effectLst/>
                          <a:latin typeface="+mj-lt"/>
                        </a:rPr>
                        <a:t>Architectural Fit​</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base"/>
                      <a:r>
                        <a:rPr lang="en-GB" sz="700" b="0" i="0">
                          <a:solidFill>
                            <a:srgbClr val="000000"/>
                          </a:solidFill>
                          <a:effectLst/>
                          <a:latin typeface="+mj-lt"/>
                        </a:rPr>
                        <a:t>Good​</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2180510979"/>
                  </a:ext>
                </a:extLst>
              </a:tr>
              <a:tr h="188532">
                <a:tc>
                  <a:txBody>
                    <a:bodyPr/>
                    <a:lstStyle/>
                    <a:p>
                      <a:pPr algn="l" fontAlgn="base"/>
                      <a:r>
                        <a:rPr lang="en-GB" sz="700" b="0" i="0">
                          <a:solidFill>
                            <a:srgbClr val="000000"/>
                          </a:solidFill>
                          <a:effectLst/>
                          <a:latin typeface="+mj-lt"/>
                        </a:rPr>
                        <a:t>Mitigations​</a:t>
                      </a:r>
                      <a:endParaRPr lang="en-GB" sz="1700" b="0" i="0">
                        <a:solidFill>
                          <a:srgbClr val="000000"/>
                        </a:solidFill>
                        <a:effectLst/>
                        <a:latin typeface="+mj-lt"/>
                      </a:endParaRP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tc>
                  <a:txBody>
                    <a:bodyPr/>
                    <a:lstStyle/>
                    <a:p>
                      <a:pPr algn="l" fontAlgn="auto"/>
                      <a:r>
                        <a:rPr lang="en-GB" sz="700" b="1" i="0">
                          <a:solidFill>
                            <a:srgbClr val="000000"/>
                          </a:solidFill>
                          <a:effectLst/>
                          <a:latin typeface="+mj-lt"/>
                        </a:rPr>
                        <a:t>​</a:t>
                      </a:r>
                    </a:p>
                  </a:txBody>
                  <a:tcPr marL="87015" marR="87015" marT="43507" marB="43507">
                    <a:lnL w="11849" cap="flat" cmpd="sng" algn="ctr">
                      <a:solidFill>
                        <a:srgbClr val="D3D3D3"/>
                      </a:solidFill>
                      <a:prstDash val="solid"/>
                      <a:round/>
                      <a:headEnd type="none" w="med" len="med"/>
                      <a:tailEnd type="none" w="med" len="med"/>
                    </a:lnL>
                    <a:lnR w="11849" cap="flat" cmpd="sng" algn="ctr">
                      <a:solidFill>
                        <a:srgbClr val="D3D3D3"/>
                      </a:solidFill>
                      <a:prstDash val="solid"/>
                      <a:round/>
                      <a:headEnd type="none" w="med" len="med"/>
                      <a:tailEnd type="none" w="med" len="med"/>
                    </a:lnR>
                    <a:lnT w="11849" cap="flat" cmpd="sng" algn="ctr">
                      <a:solidFill>
                        <a:srgbClr val="D3D3D3"/>
                      </a:solidFill>
                      <a:prstDash val="solid"/>
                      <a:round/>
                      <a:headEnd type="none" w="med" len="med"/>
                      <a:tailEnd type="none" w="med" len="med"/>
                    </a:lnT>
                    <a:lnB w="11849"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3667084553"/>
                  </a:ext>
                </a:extLst>
              </a:tr>
            </a:tbl>
          </a:graphicData>
        </a:graphic>
      </p:graphicFrame>
      <p:sp>
        <p:nvSpPr>
          <p:cNvPr id="8" name="Rectangle 1">
            <a:extLst>
              <a:ext uri="{FF2B5EF4-FFF2-40B4-BE49-F238E27FC236}">
                <a16:creationId xmlns:a16="http://schemas.microsoft.com/office/drawing/2014/main" id="{71D45104-B99D-1C5F-CBD1-702B0BB69F4F}"/>
              </a:ext>
            </a:extLst>
          </p:cNvPr>
          <p:cNvSpPr>
            <a:spLocks noChangeArrowheads="1"/>
          </p:cNvSpPr>
          <p:nvPr/>
        </p:nvSpPr>
        <p:spPr bwMode="auto">
          <a:xfrm>
            <a:off x="476250" y="1617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a:ln>
                  <a:noFill/>
                </a:ln>
                <a:solidFill>
                  <a:srgbClr val="000000"/>
                </a:solidFill>
                <a:effectLst/>
                <a:latin typeface="Times"/>
              </a:rPr>
              <a:t> </a:t>
            </a:r>
            <a:endParaRPr kumimoji="0" lang="en-NL" altLang="en-NL"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B01FF76B-A837-B74F-1347-50D876ECD1E7}"/>
              </a:ext>
            </a:extLst>
          </p:cNvPr>
          <p:cNvSpPr txBox="1"/>
          <p:nvPr/>
        </p:nvSpPr>
        <p:spPr>
          <a:xfrm>
            <a:off x="5082781" y="552234"/>
            <a:ext cx="3081506"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IN" sz="1000">
                <a:solidFill>
                  <a:srgbClr val="C8009C"/>
                </a:solidFill>
                <a:hlinkClick r:id="rId4" action="ppaction://hlinksldjump"/>
              </a:rPr>
              <a:t>Application </a:t>
            </a:r>
            <a:r>
              <a:rPr lang="en-GB" sz="1000">
                <a:hlinkClick r:id="rId4" action="ppaction://hlinksldjump"/>
              </a:rPr>
              <a:t>Architecture decisions List</a:t>
            </a:r>
            <a:endParaRPr lang="LID4096" sz="1000">
              <a:solidFill>
                <a:srgbClr val="5E6A71"/>
              </a:solidFill>
            </a:endParaRPr>
          </a:p>
        </p:txBody>
      </p:sp>
    </p:spTree>
    <p:extLst>
      <p:ext uri="{BB962C8B-B14F-4D97-AF65-F5344CB8AC3E}">
        <p14:creationId xmlns:p14="http://schemas.microsoft.com/office/powerpoint/2010/main" val="1235374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5.1.4 Application Architecture decisions</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32" name="Tijdelijke aanduiding voor tekst 31"/>
          <p:cNvSpPr>
            <a:spLocks noGrp="1"/>
          </p:cNvSpPr>
          <p:nvPr>
            <p:ph type="body" sz="quarter" idx="13"/>
          </p:nvPr>
        </p:nvSpPr>
        <p:spPr/>
        <p:txBody>
          <a:bodyPr/>
          <a:lstStyle/>
          <a:p>
            <a:r>
              <a:rPr lang="nl-NL"/>
              <a:t> </a:t>
            </a:r>
          </a:p>
        </p:txBody>
      </p:sp>
      <p:graphicFrame>
        <p:nvGraphicFramePr>
          <p:cNvPr id="8" name="Tabel 7"/>
          <p:cNvGraphicFramePr>
            <a:graphicFrameLocks noGrp="1"/>
          </p:cNvGraphicFramePr>
          <p:nvPr>
            <p:extLst>
              <p:ext uri="{D42A27DB-BD31-4B8C-83A1-F6EECF244321}">
                <p14:modId xmlns:p14="http://schemas.microsoft.com/office/powerpoint/2010/main" val="985107587"/>
              </p:ext>
            </p:extLst>
          </p:nvPr>
        </p:nvGraphicFramePr>
        <p:xfrm>
          <a:off x="472084" y="1052087"/>
          <a:ext cx="7808316" cy="3341076"/>
        </p:xfrm>
        <a:graphic>
          <a:graphicData uri="http://schemas.openxmlformats.org/drawingml/2006/table">
            <a:tbl>
              <a:tblPr firstRow="1" bandRow="1">
                <a:tableStyleId>{17292A2E-F333-43FB-9621-5CBBE7FDCDCB}</a:tableStyleId>
              </a:tblPr>
              <a:tblGrid>
                <a:gridCol w="921586">
                  <a:extLst>
                    <a:ext uri="{9D8B030D-6E8A-4147-A177-3AD203B41FA5}">
                      <a16:colId xmlns:a16="http://schemas.microsoft.com/office/drawing/2014/main" val="20000"/>
                    </a:ext>
                  </a:extLst>
                </a:gridCol>
                <a:gridCol w="6886730">
                  <a:extLst>
                    <a:ext uri="{9D8B030D-6E8A-4147-A177-3AD203B41FA5}">
                      <a16:colId xmlns:a16="http://schemas.microsoft.com/office/drawing/2014/main" val="20001"/>
                    </a:ext>
                  </a:extLst>
                </a:gridCol>
              </a:tblGrid>
              <a:tr h="328124">
                <a:tc gridSpan="2">
                  <a:txBody>
                    <a:bodyPr/>
                    <a:lstStyle/>
                    <a:p>
                      <a:pPr marL="0" marR="0" lvl="0" indent="0" algn="l" defTabSz="456999" rtl="0" eaLnBrk="1" fontAlgn="b" latinLnBrk="0" hangingPunct="1">
                        <a:lnSpc>
                          <a:spcPct val="100000"/>
                        </a:lnSpc>
                        <a:spcBef>
                          <a:spcPts val="0"/>
                        </a:spcBef>
                        <a:spcAft>
                          <a:spcPts val="0"/>
                        </a:spcAft>
                        <a:buClrTx/>
                        <a:buSzTx/>
                        <a:buFontTx/>
                        <a:buNone/>
                        <a:tabLst/>
                        <a:defRPr/>
                      </a:pPr>
                      <a:r>
                        <a:rPr lang="en-US" sz="1100" b="1" kern="1200" baseline="0" noProof="0">
                          <a:solidFill>
                            <a:schemeClr val="tx1"/>
                          </a:solidFill>
                          <a:latin typeface="+mn-lt"/>
                          <a:ea typeface="+mn-ea"/>
                          <a:cs typeface="+mn-cs"/>
                        </a:rPr>
                        <a:t>AAD-4. A common Data Cache is introduced to enable hosting data files that are reused by multiple nBIF instances</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hMerge="1">
                  <a:txBody>
                    <a:bodyPr/>
                    <a:lstStyle/>
                    <a:p>
                      <a:pPr algn="l" fontAlgn="b"/>
                      <a:endParaRPr lang="en-US" sz="1200" i="1" u="none" strike="noStrike" noProof="0">
                        <a:solidFill>
                          <a:schemeClr val="tx1"/>
                        </a:solidFill>
                        <a:effectLst/>
                      </a:endParaRP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502090">
                <a:tc>
                  <a:txBody>
                    <a:bodyPr/>
                    <a:lstStyle/>
                    <a:p>
                      <a:r>
                        <a:rPr lang="en-GB" sz="800"/>
                        <a:t>Decision</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i="1" u="none" strike="noStrike" noProof="0">
                          <a:solidFill>
                            <a:schemeClr val="tx1"/>
                          </a:solidFill>
                          <a:effectLst/>
                        </a:rPr>
                        <a:t>nBIF common Data Cache will allow hosting datasets that are used by multiple portfolios instances of nBIF</a:t>
                      </a:r>
                    </a:p>
                    <a:p>
                      <a:pPr marL="0" marR="0" lvl="0" indent="0" algn="l" defTabSz="456999" rtl="0" eaLnBrk="1" fontAlgn="auto" latinLnBrk="0" hangingPunct="1">
                        <a:lnSpc>
                          <a:spcPct val="100000"/>
                        </a:lnSpc>
                        <a:spcBef>
                          <a:spcPts val="0"/>
                        </a:spcBef>
                        <a:spcAft>
                          <a:spcPts val="0"/>
                        </a:spcAft>
                        <a:buClrTx/>
                        <a:buSzTx/>
                        <a:buFontTx/>
                        <a:buNone/>
                        <a:tabLst/>
                        <a:defRPr/>
                      </a:pPr>
                      <a:r>
                        <a:rPr lang="en-US" sz="800" b="0" i="1" u="none" strike="noStrike" kern="1200" noProof="0">
                          <a:solidFill>
                            <a:schemeClr val="tx1"/>
                          </a:solidFill>
                          <a:effectLst/>
                          <a:latin typeface="+mn-lt"/>
                          <a:ea typeface="+mn-ea"/>
                          <a:cs typeface="+mn-cs"/>
                        </a:rPr>
                        <a:t>In a nutshell, it is same as “Staging layer” of a specific nBIF, with main difference is that this will be readable by every nBIF instance on nBIF platform. </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US" sz="800" b="0" i="1" u="none" strike="noStrike" kern="1200" noProof="0">
                        <a:solidFill>
                          <a:schemeClr val="tx1"/>
                        </a:solidFill>
                        <a:effectLst/>
                        <a:latin typeface="+mn-lt"/>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US" sz="800" b="0" i="1" u="none" strike="noStrike" kern="1200" noProof="0">
                          <a:solidFill>
                            <a:schemeClr val="tx1"/>
                          </a:solidFill>
                          <a:effectLst/>
                          <a:latin typeface="+mn-lt"/>
                          <a:ea typeface="+mn-ea"/>
                          <a:cs typeface="+mn-cs"/>
                        </a:rPr>
                        <a:t>Which dataset to be stored in the Common data cache will be decided case-by-case.</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Scenario Packages (that is used by ST for each portfolio) can be a good example.</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i="1" u="none" strike="noStrike" kern="1200" noProof="0">
                          <a:solidFill>
                            <a:schemeClr val="tx1"/>
                          </a:solidFill>
                          <a:effectLst/>
                          <a:latin typeface="+mn-lt"/>
                          <a:ea typeface="+mn-ea"/>
                          <a:cs typeface="+mn-cs"/>
                        </a:rPr>
                        <a:t>Another good example could be </a:t>
                      </a:r>
                      <a:r>
                        <a:rPr lang="en-GB" sz="800" b="0" i="1" u="none" strike="noStrike" kern="1200" noProof="0" err="1">
                          <a:solidFill>
                            <a:schemeClr val="tx1"/>
                          </a:solidFill>
                          <a:effectLst/>
                          <a:latin typeface="+mn-lt"/>
                          <a:ea typeface="+mn-ea"/>
                          <a:cs typeface="+mn-cs"/>
                        </a:rPr>
                        <a:t>Txn</a:t>
                      </a:r>
                      <a:r>
                        <a:rPr lang="en-GB" sz="800" b="0" i="1" u="none" strike="noStrike" kern="1200" noProof="0">
                          <a:solidFill>
                            <a:schemeClr val="tx1"/>
                          </a:solidFill>
                          <a:effectLst/>
                          <a:latin typeface="+mn-lt"/>
                          <a:ea typeface="+mn-ea"/>
                          <a:cs typeface="+mn-cs"/>
                        </a:rPr>
                        <a:t> &amp; Balances data which is ingested once and used by multiple portfolios. </a:t>
                      </a:r>
                      <a:endParaRPr lang="en-US" sz="800" b="0" i="1" u="none" strike="noStrike" kern="1200" noProof="0">
                        <a:solidFill>
                          <a:schemeClr val="tx1"/>
                        </a:solidFill>
                        <a:effectLst/>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19220">
                <a:tc>
                  <a:txBody>
                    <a:bodyPr/>
                    <a:lstStyle/>
                    <a:p>
                      <a:r>
                        <a:rPr lang="en-GB" sz="800"/>
                        <a:t>Rationale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Do not move large dataset to many systems, Ingest once, store once, Read by multiple applications</a:t>
                      </a:r>
                    </a:p>
                    <a:p>
                      <a:pPr marL="0" marR="0" lvl="0" indent="0" algn="l" defTabSz="456999" rtl="0" eaLnBrk="1" fontAlgn="auto" latinLnBrk="0" hangingPunct="1">
                        <a:lnSpc>
                          <a:spcPct val="100000"/>
                        </a:lnSpc>
                        <a:spcBef>
                          <a:spcPts val="0"/>
                        </a:spcBef>
                        <a:spcAft>
                          <a:spcPts val="0"/>
                        </a:spcAft>
                        <a:buClrTx/>
                        <a:buSzTx/>
                        <a:buFontTx/>
                        <a:buNone/>
                        <a:tabLst/>
                        <a:defRPr/>
                      </a:pPr>
                      <a:r>
                        <a:rPr lang="en-US" sz="800" b="0" i="1" u="none" strike="noStrike" kern="1200" noProof="0">
                          <a:solidFill>
                            <a:schemeClr val="tx1"/>
                          </a:solidFill>
                          <a:effectLst/>
                          <a:latin typeface="+mn-lt"/>
                          <a:ea typeface="+mn-ea"/>
                          <a:cs typeface="+mn-cs"/>
                        </a:rPr>
                        <a:t>IFRS9 and ST reuse multiple input data across different portfolios</a:t>
                      </a:r>
                      <a:endParaRPr lang="en-GB" sz="800" b="0" baseline="0"/>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baseline="0"/>
                        <a:t>RSME &amp; Corporate both require same set of </a:t>
                      </a:r>
                      <a:r>
                        <a:rPr lang="en-GB" sz="800" b="0" baseline="0" err="1"/>
                        <a:t>Txn</a:t>
                      </a:r>
                      <a:r>
                        <a:rPr lang="en-GB" sz="800" b="0" baseline="0"/>
                        <a:t> &amp; Balance data which is quite heavy in size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19220">
                <a:tc>
                  <a:txBody>
                    <a:bodyPr/>
                    <a:lstStyle/>
                    <a:p>
                      <a:r>
                        <a:rPr lang="en-GB" sz="800"/>
                        <a:t>Related IT-principle</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a:solidFill>
                            <a:schemeClr val="tx1"/>
                          </a:solidFill>
                          <a:latin typeface="+mn-lt"/>
                          <a:ea typeface="Verdana" panose="020B0604030504040204" pitchFamily="34" charset="0"/>
                          <a:cs typeface="Verdana" panose="020B0604030504040204" pitchFamily="34" charset="0"/>
                        </a:rPr>
                        <a:t>Keep IT simple</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19220">
                <a:tc>
                  <a:txBody>
                    <a:bodyPr/>
                    <a:lstStyle/>
                    <a:p>
                      <a:r>
                        <a:rPr lang="en-GB" sz="800"/>
                        <a:t>Consequences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a:t>Introduction of cross portfolio component which may become a bottleneck. </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02090">
                <a:tc>
                  <a:txBody>
                    <a:bodyPr/>
                    <a:lstStyle/>
                    <a:p>
                      <a:r>
                        <a:rPr lang="en-GB" sz="800"/>
                        <a:t>Alternatives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0" kern="1200" noProof="0">
                          <a:solidFill>
                            <a:schemeClr val="tx1"/>
                          </a:solidFill>
                          <a:latin typeface="+mn-lt"/>
                          <a:ea typeface="+mn-ea"/>
                          <a:cs typeface="+mn-cs"/>
                        </a:rPr>
                        <a:t>Portfolio specific </a:t>
                      </a:r>
                      <a:r>
                        <a:rPr lang="en-GB" sz="800" b="0" kern="1200" noProof="0" err="1">
                          <a:solidFill>
                            <a:schemeClr val="tx1"/>
                          </a:solidFill>
                          <a:latin typeface="+mn-lt"/>
                          <a:ea typeface="+mn-ea"/>
                          <a:cs typeface="+mn-cs"/>
                        </a:rPr>
                        <a:t>nBIFs</a:t>
                      </a:r>
                      <a:r>
                        <a:rPr lang="en-GB" sz="800" b="0" kern="1200" noProof="0">
                          <a:solidFill>
                            <a:schemeClr val="tx1"/>
                          </a:solidFill>
                          <a:latin typeface="+mn-lt"/>
                          <a:ea typeface="+mn-ea"/>
                          <a:cs typeface="+mn-cs"/>
                        </a:rPr>
                        <a:t>  – Since the dataset like Macro Economic Scenarios are quite high in size and since it is reused by each portfolio, by centralizing, we optimize on data management &amp; on effort of integration with Meister by each portfolio implementation. </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800" b="0" kern="1200" noProof="0">
                        <a:solidFill>
                          <a:schemeClr val="tx1"/>
                        </a:solidFill>
                        <a:latin typeface="+mn-lt"/>
                        <a:ea typeface="+mn-ea"/>
                        <a:cs typeface="+mn-cs"/>
                      </a:endParaRP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19220">
                <a:tc>
                  <a:txBody>
                    <a:bodyPr/>
                    <a:lstStyle/>
                    <a:p>
                      <a:r>
                        <a:rPr lang="en-GB" sz="800"/>
                        <a:t>Architectural Fit</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Good</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47922">
                <a:tc>
                  <a:txBody>
                    <a:bodyPr/>
                    <a:lstStyle/>
                    <a:p>
                      <a:r>
                        <a:rPr lang="en-GB" sz="800"/>
                        <a:t>Mitigations</a:t>
                      </a:r>
                      <a:endParaRPr lang="en-GB" sz="800" b="1"/>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kern="1200" noProof="0">
                          <a:solidFill>
                            <a:schemeClr val="tx1"/>
                          </a:solidFill>
                          <a:latin typeface="+mn-lt"/>
                          <a:ea typeface="+mn-ea"/>
                          <a:cs typeface="+mn-cs"/>
                        </a:rPr>
                        <a:t>Only the infrastructure layer of common data cache will be managed by nBIF platform squad.</a:t>
                      </a:r>
                    </a:p>
                    <a:p>
                      <a:r>
                        <a:rPr lang="en-GB" sz="800" b="0" kern="1200" noProof="0">
                          <a:solidFill>
                            <a:schemeClr val="tx1"/>
                          </a:solidFill>
                          <a:latin typeface="+mn-lt"/>
                          <a:ea typeface="+mn-ea"/>
                          <a:cs typeface="+mn-cs"/>
                        </a:rPr>
                        <a:t>The Cache will be extended to each portfolio nBIF implementation. </a:t>
                      </a:r>
                    </a:p>
                    <a:p>
                      <a:r>
                        <a:rPr lang="en-GB" sz="800" b="0" kern="1200" noProof="0">
                          <a:solidFill>
                            <a:schemeClr val="tx1"/>
                          </a:solidFill>
                          <a:latin typeface="+mn-lt"/>
                          <a:ea typeface="+mn-ea"/>
                          <a:cs typeface="+mn-cs"/>
                        </a:rPr>
                        <a:t>The nBIF  instance that build data ingestion to this Common data cache will have the ownership to that data. Depending upon the need, All other portfolio </a:t>
                      </a:r>
                      <a:r>
                        <a:rPr lang="en-GB" sz="800" b="0" kern="1200" noProof="0" err="1">
                          <a:solidFill>
                            <a:schemeClr val="tx1"/>
                          </a:solidFill>
                          <a:latin typeface="+mn-lt"/>
                          <a:ea typeface="+mn-ea"/>
                          <a:cs typeface="+mn-cs"/>
                        </a:rPr>
                        <a:t>nBIFs</a:t>
                      </a:r>
                      <a:r>
                        <a:rPr lang="en-GB" sz="800" b="0" kern="1200" noProof="0">
                          <a:solidFill>
                            <a:schemeClr val="tx1"/>
                          </a:solidFill>
                          <a:latin typeface="+mn-lt"/>
                          <a:ea typeface="+mn-ea"/>
                          <a:cs typeface="+mn-cs"/>
                        </a:rPr>
                        <a:t> will have limited access.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8" name="Rounded Rectangle 10">
            <a:hlinkClick r:id="rId3" action="ppaction://hlinksldjump"/>
          </p:cNvPr>
          <p:cNvSpPr/>
          <p:nvPr/>
        </p:nvSpPr>
        <p:spPr>
          <a:xfrm>
            <a:off x="2771137"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4. Information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7" name="TextBox 6">
            <a:extLst>
              <a:ext uri="{FF2B5EF4-FFF2-40B4-BE49-F238E27FC236}">
                <a16:creationId xmlns:a16="http://schemas.microsoft.com/office/drawing/2014/main" id="{889C7C0C-DE36-501A-70D0-D7A09C315F38}"/>
              </a:ext>
            </a:extLst>
          </p:cNvPr>
          <p:cNvSpPr txBox="1"/>
          <p:nvPr/>
        </p:nvSpPr>
        <p:spPr>
          <a:xfrm>
            <a:off x="5084617" y="636287"/>
            <a:ext cx="3081506" cy="246221"/>
          </a:xfrm>
          <a:prstGeom prst="rect">
            <a:avLst/>
          </a:prstGeom>
          <a:noFill/>
          <a:ln w="12700">
            <a:noFill/>
          </a:ln>
        </p:spPr>
        <p:txBody>
          <a:bodyPr wrap="square" lIns="0" rIns="0" rtlCol="0" anchor="t" anchorCtr="0">
            <a:spAutoFit/>
          </a:bodyPr>
          <a:lstStyle/>
          <a:p>
            <a:r>
              <a:rPr lang="en-IN" sz="1000">
                <a:solidFill>
                  <a:srgbClr val="C8009C"/>
                </a:solidFill>
              </a:rPr>
              <a:t>Go back to the </a:t>
            </a:r>
            <a:r>
              <a:rPr lang="en-IN" sz="1000">
                <a:solidFill>
                  <a:srgbClr val="C8009C"/>
                </a:solidFill>
                <a:hlinkClick r:id="rId4" action="ppaction://hlinksldjump"/>
              </a:rPr>
              <a:t>Application </a:t>
            </a:r>
            <a:r>
              <a:rPr lang="en-GB" sz="1000">
                <a:hlinkClick r:id="rId4" action="ppaction://hlinksldjump"/>
              </a:rPr>
              <a:t>Architecture decisions List</a:t>
            </a:r>
            <a:endParaRPr lang="LID4096" sz="1000">
              <a:solidFill>
                <a:srgbClr val="5E6A71"/>
              </a:solidFill>
            </a:endParaRPr>
          </a:p>
        </p:txBody>
      </p:sp>
    </p:spTree>
    <p:extLst>
      <p:ext uri="{BB962C8B-B14F-4D97-AF65-F5344CB8AC3E}">
        <p14:creationId xmlns:p14="http://schemas.microsoft.com/office/powerpoint/2010/main" val="955299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5814" y="-68674"/>
            <a:ext cx="8127166" cy="875509"/>
          </a:xfrm>
        </p:spPr>
        <p:txBody>
          <a:bodyPr/>
          <a:lstStyle/>
          <a:p>
            <a:r>
              <a:rPr lang="en-GB"/>
              <a:t>5.2 nBIF Application components 1/2</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6" name="Tijdelijke aanduiding voor tekst 15"/>
          <p:cNvSpPr>
            <a:spLocks noGrp="1"/>
          </p:cNvSpPr>
          <p:nvPr>
            <p:ph type="body" sz="quarter" idx="13"/>
          </p:nvPr>
        </p:nvSpPr>
        <p:spPr/>
        <p:txBody>
          <a:bodyPr/>
          <a:lstStyle/>
          <a:p>
            <a:r>
              <a:rPr lang="nl-NL"/>
              <a:t> </a:t>
            </a:r>
          </a:p>
        </p:txBody>
      </p:sp>
      <p:sp>
        <p:nvSpPr>
          <p:cNvPr id="15"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3" name="Rectangle 2">
            <a:extLst>
              <a:ext uri="{FF2B5EF4-FFF2-40B4-BE49-F238E27FC236}">
                <a16:creationId xmlns:a16="http://schemas.microsoft.com/office/drawing/2014/main" id="{6D53EA72-8F31-64C4-D6A4-592380BDF854}"/>
              </a:ext>
            </a:extLst>
          </p:cNvPr>
          <p:cNvSpPr/>
          <p:nvPr/>
        </p:nvSpPr>
        <p:spPr>
          <a:xfrm>
            <a:off x="4601218" y="632886"/>
            <a:ext cx="4234845" cy="4079459"/>
          </a:xfrm>
          <a:prstGeom prst="rect">
            <a:avLst/>
          </a:prstGeom>
          <a:solidFill>
            <a:schemeClr val="bg1">
              <a:lumMod val="95000"/>
            </a:schemeClr>
          </a:solidFill>
          <a:ln>
            <a:solidFill>
              <a:schemeClr val="tx1"/>
            </a:solidFill>
          </a:ln>
        </p:spPr>
        <p:txBody>
          <a:bodyPr lIns="36000" rIns="36000" rtlCol="0" anchor="t"/>
          <a:lstStyle/>
          <a:p>
            <a:pPr marL="228600" indent="-228600" algn="just">
              <a:spcBef>
                <a:spcPts val="600"/>
              </a:spcBef>
              <a:buFont typeface="+mj-lt"/>
              <a:buAutoNum type="arabicPeriod"/>
            </a:pPr>
            <a:r>
              <a:rPr lang="en-GB" sz="800" b="1">
                <a:solidFill>
                  <a:srgbClr val="5E6A71"/>
                </a:solidFill>
              </a:rPr>
              <a:t>nBIF Platform (Orchestration Platform) : The </a:t>
            </a:r>
            <a:r>
              <a:rPr lang="en-GB" sz="800">
                <a:solidFill>
                  <a:srgbClr val="5E6A71"/>
                </a:solidFill>
              </a:rPr>
              <a:t>IT system that delivers infrastructure/platform components for all nBIF instances and capabilities  that are used by multiple nBIF instances.</a:t>
            </a:r>
            <a:endParaRPr lang="en-GB" sz="800" b="1">
              <a:solidFill>
                <a:srgbClr val="5E6A71"/>
              </a:solidFill>
            </a:endParaRPr>
          </a:p>
          <a:p>
            <a:pPr marL="228600" indent="-228600" algn="just">
              <a:spcBef>
                <a:spcPts val="600"/>
              </a:spcBef>
              <a:buFont typeface="+mj-lt"/>
              <a:buAutoNum type="arabicPeriod"/>
            </a:pPr>
            <a:r>
              <a:rPr lang="en-GB" sz="800" b="1">
                <a:solidFill>
                  <a:srgbClr val="5E6A71"/>
                </a:solidFill>
              </a:rPr>
              <a:t>nBIF Instance : An </a:t>
            </a:r>
            <a:r>
              <a:rPr lang="en-GB" sz="800">
                <a:solidFill>
                  <a:srgbClr val="5E6A71"/>
                </a:solidFill>
              </a:rPr>
              <a:t>IT application that implements n-Bridge for a portfolio. There can be multiple instances for a portfolio to support different business purpose like “Monthly run” or “Ad-hoc run”  etc. </a:t>
            </a:r>
            <a:r>
              <a:rPr lang="en-GB" sz="800" b="1">
                <a:solidFill>
                  <a:srgbClr val="5E6A71"/>
                </a:solidFill>
              </a:rPr>
              <a:t>Each instance </a:t>
            </a:r>
            <a:r>
              <a:rPr lang="en-GB" sz="800">
                <a:solidFill>
                  <a:srgbClr val="5E6A71"/>
                </a:solidFill>
              </a:rPr>
              <a:t>contains set of modular components. Some are specific to the models while some are generic components used for all models. </a:t>
            </a:r>
          </a:p>
          <a:p>
            <a:pPr marL="355600" lvl="1" indent="-174625" algn="just">
              <a:spcBef>
                <a:spcPts val="600"/>
              </a:spcBef>
              <a:buFont typeface="+mj-lt"/>
              <a:buAutoNum type="alphaLcPeriod"/>
            </a:pPr>
            <a:r>
              <a:rPr lang="en-GB" sz="800" b="1">
                <a:solidFill>
                  <a:srgbClr val="5E6A71"/>
                </a:solidFill>
              </a:rPr>
              <a:t>Staging data Store: G</a:t>
            </a:r>
            <a:r>
              <a:rPr lang="en-GB" sz="800">
                <a:solidFill>
                  <a:srgbClr val="5E6A71"/>
                </a:solidFill>
              </a:rPr>
              <a:t>eneric landing zone for data sourcing. GRFD is positioned as the strategic data source for nBIF. When GRFD cannot fulfil data needs in-time, In intermediate state, nBIF may source data from other data providers. </a:t>
            </a:r>
          </a:p>
          <a:p>
            <a:pPr marL="355600" lvl="1" indent="-174625" algn="just">
              <a:spcBef>
                <a:spcPts val="600"/>
              </a:spcBef>
              <a:buFont typeface="+mj-lt"/>
              <a:buAutoNum type="alphaLcPeriod"/>
            </a:pPr>
            <a:r>
              <a:rPr lang="en-GB" sz="800" b="1">
                <a:solidFill>
                  <a:srgbClr val="5E6A71"/>
                </a:solidFill>
                <a:latin typeface="Corbel"/>
              </a:rPr>
              <a:t>Model Factory: W</a:t>
            </a:r>
            <a:r>
              <a:rPr lang="en-GB" sz="800">
                <a:solidFill>
                  <a:srgbClr val="5E6A71"/>
                </a:solidFill>
                <a:latin typeface="Corbel"/>
              </a:rPr>
              <a:t>orks</a:t>
            </a:r>
            <a:r>
              <a:rPr lang="en-GB" sz="800">
                <a:solidFill>
                  <a:srgbClr val="5E6A71"/>
                </a:solidFill>
              </a:rPr>
              <a:t>pace for a specific model implementation. It will host all the components that are needed to execute a specific model. Data stored in model factory is temporary.</a:t>
            </a:r>
          </a:p>
          <a:p>
            <a:pPr marL="536575" lvl="2" indent="-180975" algn="just">
              <a:spcBef>
                <a:spcPts val="600"/>
              </a:spcBef>
              <a:buFont typeface="+mj-lt"/>
              <a:buAutoNum type="romanUcPeriod"/>
            </a:pPr>
            <a:r>
              <a:rPr lang="en-GB" sz="800" b="1">
                <a:solidFill>
                  <a:srgbClr val="5E6A71"/>
                </a:solidFill>
                <a:latin typeface="Corbel"/>
              </a:rPr>
              <a:t>Calculator Data Stores: </a:t>
            </a:r>
            <a:r>
              <a:rPr lang="en-GB" sz="800">
                <a:solidFill>
                  <a:srgbClr val="5E6A71"/>
                </a:solidFill>
                <a:latin typeface="Corbel"/>
              </a:rPr>
              <a:t>will hold the model ready input data. Model calculators will use this data store directly to perform the calculation.</a:t>
            </a:r>
          </a:p>
          <a:p>
            <a:pPr marL="536575" lvl="2" indent="-180975" algn="just">
              <a:spcBef>
                <a:spcPts val="600"/>
              </a:spcBef>
              <a:buFont typeface="+mj-lt"/>
              <a:buAutoNum type="romanUcPeriod"/>
            </a:pPr>
            <a:r>
              <a:rPr lang="en-GB" sz="800" b="1">
                <a:solidFill>
                  <a:srgbClr val="5E6A71"/>
                </a:solidFill>
                <a:latin typeface="Corbel"/>
              </a:rPr>
              <a:t>Results data store: </a:t>
            </a:r>
            <a:r>
              <a:rPr lang="en-GB" sz="800">
                <a:solidFill>
                  <a:srgbClr val="5E6A71"/>
                </a:solidFill>
                <a:latin typeface="Corbel"/>
              </a:rPr>
              <a:t>where model calculator directly writes its result. This is the access zone for model result inspection</a:t>
            </a:r>
            <a:r>
              <a:rPr lang="en-US" sz="800">
                <a:solidFill>
                  <a:srgbClr val="5E6A71"/>
                </a:solidFill>
                <a:latin typeface="Corbel"/>
              </a:rPr>
              <a:t>. It will also hold aggregated results for Plausibility purposes.</a:t>
            </a:r>
            <a:endParaRPr lang="en-GB" sz="800">
              <a:solidFill>
                <a:srgbClr val="5E6A71"/>
              </a:solidFill>
              <a:latin typeface="Corbel"/>
            </a:endParaRPr>
          </a:p>
          <a:p>
            <a:pPr marL="536575" lvl="2" indent="-180975" algn="just">
              <a:spcBef>
                <a:spcPts val="600"/>
              </a:spcBef>
              <a:buFont typeface="+mj-lt"/>
              <a:buAutoNum type="romanUcPeriod"/>
            </a:pPr>
            <a:r>
              <a:rPr lang="en-GB" sz="800" b="1">
                <a:solidFill>
                  <a:srgbClr val="5E6A71"/>
                </a:solidFill>
                <a:latin typeface="Corbel"/>
              </a:rPr>
              <a:t>#Miscellenious: </a:t>
            </a:r>
            <a:r>
              <a:rPr lang="en-GB" sz="800">
                <a:solidFill>
                  <a:srgbClr val="5E6A71"/>
                </a:solidFill>
              </a:rPr>
              <a:t>is a placeholder component to highlight that certain models may have more components for specific needs. </a:t>
            </a:r>
          </a:p>
          <a:p>
            <a:pPr marL="355600" lvl="1" indent="-174625" algn="just">
              <a:spcBef>
                <a:spcPts val="600"/>
              </a:spcBef>
              <a:buFont typeface="+mj-lt"/>
              <a:buAutoNum type="alphaLcPeriod"/>
            </a:pPr>
            <a:r>
              <a:rPr lang="en-GB" sz="800" b="1">
                <a:solidFill>
                  <a:srgbClr val="5E6A71"/>
                </a:solidFill>
              </a:rPr>
              <a:t>Data Preparation Modules: </a:t>
            </a:r>
            <a:r>
              <a:rPr lang="en-GB" sz="800">
                <a:solidFill>
                  <a:srgbClr val="5E6A71"/>
                </a:solidFill>
              </a:rPr>
              <a:t>Data logistics components that prepare model input data.</a:t>
            </a:r>
          </a:p>
          <a:p>
            <a:pPr marL="355600" lvl="1" indent="-174625" algn="just">
              <a:spcBef>
                <a:spcPts val="600"/>
              </a:spcBef>
              <a:buFont typeface="+mj-lt"/>
              <a:buAutoNum type="alphaLcPeriod"/>
            </a:pPr>
            <a:r>
              <a:rPr lang="en-GB" sz="800" b="1">
                <a:solidFill>
                  <a:srgbClr val="5E6A71"/>
                </a:solidFill>
              </a:rPr>
              <a:t>Metadata Store and Log register : </a:t>
            </a:r>
            <a:r>
              <a:rPr lang="en-GB" sz="800">
                <a:solidFill>
                  <a:srgbClr val="5E6A71"/>
                </a:solidFill>
              </a:rPr>
              <a:t>generic components to hold control &amp; log data for entire workflow of the nBIF instance.</a:t>
            </a:r>
          </a:p>
          <a:p>
            <a:pPr marL="355600" lvl="1" indent="-174625" algn="just">
              <a:spcBef>
                <a:spcPts val="600"/>
              </a:spcBef>
              <a:buFont typeface="+mj-lt"/>
              <a:buAutoNum type="alphaLcPeriod"/>
            </a:pPr>
            <a:r>
              <a:rPr lang="en-GB" sz="800" b="1">
                <a:solidFill>
                  <a:srgbClr val="5E6A71"/>
                </a:solidFill>
              </a:rPr>
              <a:t>Orchestrator: </a:t>
            </a:r>
            <a:r>
              <a:rPr lang="en-GB" sz="800">
                <a:solidFill>
                  <a:srgbClr val="5E6A71"/>
                </a:solidFill>
              </a:rPr>
              <a:t>This component will be responsible to chain model calculators, data pre-processes, Inspection across the entire n-Bridge of a portfolio.</a:t>
            </a:r>
          </a:p>
          <a:p>
            <a:pPr marL="355600" lvl="1" indent="-174625" algn="just">
              <a:spcBef>
                <a:spcPts val="600"/>
              </a:spcBef>
              <a:buFont typeface="+mj-lt"/>
              <a:buAutoNum type="alphaLcPeriod"/>
            </a:pPr>
            <a:r>
              <a:rPr lang="en-GB" sz="800" b="1">
                <a:solidFill>
                  <a:srgbClr val="5E6A71"/>
                </a:solidFill>
              </a:rPr>
              <a:t>Validated Risk Metrics Store: It </a:t>
            </a:r>
            <a:r>
              <a:rPr lang="en-GB" sz="800">
                <a:solidFill>
                  <a:srgbClr val="5E6A71"/>
                </a:solidFill>
              </a:rPr>
              <a:t>Stores validated risk metrics for up to 1 year of history. The results of a model is used by next model in the chain through this component. It holds data only after it is approved through inspection module. </a:t>
            </a:r>
          </a:p>
        </p:txBody>
      </p:sp>
      <p:pic>
        <p:nvPicPr>
          <p:cNvPr id="9" name="Picture 8">
            <a:extLst>
              <a:ext uri="{FF2B5EF4-FFF2-40B4-BE49-F238E27FC236}">
                <a16:creationId xmlns:a16="http://schemas.microsoft.com/office/drawing/2014/main" id="{7C686234-1B59-C22A-E2E3-2720874C973D}"/>
              </a:ext>
            </a:extLst>
          </p:cNvPr>
          <p:cNvPicPr>
            <a:picLocks noChangeAspect="1"/>
          </p:cNvPicPr>
          <p:nvPr/>
        </p:nvPicPr>
        <p:blipFill rotWithShape="1">
          <a:blip r:embed="rId4"/>
          <a:srcRect r="31699" b="30847"/>
          <a:stretch/>
        </p:blipFill>
        <p:spPr>
          <a:xfrm>
            <a:off x="3135312" y="3869180"/>
            <a:ext cx="1243013" cy="638074"/>
          </a:xfrm>
          <a:prstGeom prst="rect">
            <a:avLst/>
          </a:prstGeom>
        </p:spPr>
      </p:pic>
      <p:pic>
        <p:nvPicPr>
          <p:cNvPr id="10" name="Picture 9">
            <a:extLst>
              <a:ext uri="{FF2B5EF4-FFF2-40B4-BE49-F238E27FC236}">
                <a16:creationId xmlns:a16="http://schemas.microsoft.com/office/drawing/2014/main" id="{9C5F1C77-37D0-CDF3-A371-D30B0918A5C4}"/>
              </a:ext>
            </a:extLst>
          </p:cNvPr>
          <p:cNvPicPr>
            <a:picLocks noChangeAspect="1"/>
          </p:cNvPicPr>
          <p:nvPr/>
        </p:nvPicPr>
        <p:blipFill>
          <a:blip r:embed="rId5"/>
          <a:stretch>
            <a:fillRect/>
          </a:stretch>
        </p:blipFill>
        <p:spPr>
          <a:xfrm>
            <a:off x="391052" y="957893"/>
            <a:ext cx="3968903" cy="2911287"/>
          </a:xfrm>
          <a:prstGeom prst="rect">
            <a:avLst/>
          </a:prstGeom>
        </p:spPr>
      </p:pic>
    </p:spTree>
    <p:extLst>
      <p:ext uri="{BB962C8B-B14F-4D97-AF65-F5344CB8AC3E}">
        <p14:creationId xmlns:p14="http://schemas.microsoft.com/office/powerpoint/2010/main" val="40891438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5814" y="-68674"/>
            <a:ext cx="8127166" cy="875509"/>
          </a:xfrm>
        </p:spPr>
        <p:txBody>
          <a:bodyPr/>
          <a:lstStyle/>
          <a:p>
            <a:r>
              <a:rPr lang="en-GB"/>
              <a:t>5.2 nBIF Application components 2/2</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6" name="Tijdelijke aanduiding voor tekst 15"/>
          <p:cNvSpPr>
            <a:spLocks noGrp="1"/>
          </p:cNvSpPr>
          <p:nvPr>
            <p:ph type="body" sz="quarter" idx="13"/>
          </p:nvPr>
        </p:nvSpPr>
        <p:spPr/>
        <p:txBody>
          <a:bodyPr/>
          <a:lstStyle/>
          <a:p>
            <a:r>
              <a:rPr lang="nl-NL"/>
              <a:t> </a:t>
            </a:r>
          </a:p>
        </p:txBody>
      </p:sp>
      <p:sp>
        <p:nvSpPr>
          <p:cNvPr id="15"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3" name="Rectangle 2">
            <a:extLst>
              <a:ext uri="{FF2B5EF4-FFF2-40B4-BE49-F238E27FC236}">
                <a16:creationId xmlns:a16="http://schemas.microsoft.com/office/drawing/2014/main" id="{6D53EA72-8F31-64C4-D6A4-592380BDF854}"/>
              </a:ext>
            </a:extLst>
          </p:cNvPr>
          <p:cNvSpPr/>
          <p:nvPr/>
        </p:nvSpPr>
        <p:spPr>
          <a:xfrm>
            <a:off x="4572000" y="686614"/>
            <a:ext cx="4272945" cy="4079458"/>
          </a:xfrm>
          <a:prstGeom prst="rect">
            <a:avLst/>
          </a:prstGeom>
          <a:solidFill>
            <a:schemeClr val="bg1">
              <a:lumMod val="95000"/>
            </a:schemeClr>
          </a:solidFill>
          <a:ln>
            <a:solidFill>
              <a:schemeClr val="tx1"/>
            </a:solidFill>
          </a:ln>
        </p:spPr>
        <p:txBody>
          <a:bodyPr lIns="36000" rIns="36000" rtlCol="0" anchor="t"/>
          <a:lstStyle/>
          <a:p>
            <a:pPr marL="228600" indent="-228600" algn="just">
              <a:spcBef>
                <a:spcPts val="600"/>
              </a:spcBef>
              <a:buFont typeface="+mj-lt"/>
              <a:buAutoNum type="arabicPeriod" startAt="3"/>
            </a:pPr>
            <a:r>
              <a:rPr lang="en-GB" sz="800" b="1">
                <a:solidFill>
                  <a:srgbClr val="5E6A71"/>
                </a:solidFill>
              </a:rPr>
              <a:t>Common Data Cache: </a:t>
            </a:r>
            <a:r>
              <a:rPr lang="en-GB" sz="800">
                <a:solidFill>
                  <a:srgbClr val="5E6A71"/>
                </a:solidFill>
              </a:rPr>
              <a:t>Similar to Staging data Store but it is shared across all nBIF instances. It is meant to store data that is reused by multiple nBIF instances. Individual nBIF instances, RSME nBIF for example, will be able to ingest the data to Common data cache.</a:t>
            </a:r>
          </a:p>
          <a:p>
            <a:pPr marL="228600" indent="-228600">
              <a:spcBef>
                <a:spcPts val="600"/>
              </a:spcBef>
              <a:buFont typeface="+mj-lt"/>
              <a:buAutoNum type="arabicPeriod" startAt="3"/>
              <a:defRPr/>
            </a:pPr>
            <a:r>
              <a:rPr lang="en-GB" sz="800" b="1">
                <a:solidFill>
                  <a:srgbClr val="5E6A71"/>
                </a:solidFill>
              </a:rPr>
              <a:t>nBIF 365 : U</a:t>
            </a:r>
            <a:r>
              <a:rPr lang="en-GB" sz="800">
                <a:solidFill>
                  <a:srgbClr val="5E6A71"/>
                </a:solidFill>
              </a:rPr>
              <a:t>nified</a:t>
            </a:r>
            <a:r>
              <a:rPr lang="en-GB" sz="800" b="1">
                <a:solidFill>
                  <a:srgbClr val="5E6A71"/>
                </a:solidFill>
              </a:rPr>
              <a:t> </a:t>
            </a:r>
            <a:r>
              <a:rPr lang="en-GB" sz="800">
                <a:solidFill>
                  <a:srgbClr val="5E6A71"/>
                </a:solidFill>
              </a:rPr>
              <a:t>user interface for everything related to nBIF. In additional to main features that are listed below, it will contain various small features like nBIF onboarding form, Wiki links, support related info, various stats etc.</a:t>
            </a:r>
            <a:endParaRPr lang="en-GB" sz="800" b="1">
              <a:solidFill>
                <a:srgbClr val="5E6A71"/>
              </a:solidFill>
            </a:endParaRPr>
          </a:p>
          <a:p>
            <a:pPr marL="576000" lvl="1" indent="-228600">
              <a:spcBef>
                <a:spcPts val="600"/>
              </a:spcBef>
              <a:buFont typeface="+mj-lt"/>
              <a:buAutoNum type="arabicPeriod"/>
              <a:defRPr/>
            </a:pPr>
            <a:r>
              <a:rPr lang="en-GB" sz="800" b="1">
                <a:solidFill>
                  <a:srgbClr val="5E6A71"/>
                </a:solidFill>
              </a:rPr>
              <a:t>Inspection &amp; Sign-off module: E</a:t>
            </a:r>
            <a:r>
              <a:rPr lang="en-GB" sz="800">
                <a:solidFill>
                  <a:srgbClr val="5E6A71"/>
                </a:solidFill>
              </a:rPr>
              <a:t>nables business users inspect a model run result and sign-off/reject based on plausibility reports. </a:t>
            </a:r>
            <a:endParaRPr lang="en-US" sz="800">
              <a:solidFill>
                <a:srgbClr val="5E6A71"/>
              </a:solidFill>
            </a:endParaRPr>
          </a:p>
          <a:p>
            <a:pPr marL="576000" lvl="1" indent="-228600">
              <a:spcBef>
                <a:spcPts val="600"/>
              </a:spcBef>
              <a:buFont typeface="+mj-lt"/>
              <a:buAutoNum type="arabicPeriod"/>
              <a:defRPr/>
            </a:pPr>
            <a:r>
              <a:rPr lang="en-GB" sz="800" b="1">
                <a:solidFill>
                  <a:srgbClr val="5E6A71"/>
                </a:solidFill>
              </a:rPr>
              <a:t>Ad-Hoc Run Console: T</a:t>
            </a:r>
            <a:r>
              <a:rPr lang="en-GB" sz="800">
                <a:solidFill>
                  <a:srgbClr val="5E6A71"/>
                </a:solidFill>
              </a:rPr>
              <a:t>o trigger ad-hoc n-Bridge run through the UI.</a:t>
            </a:r>
          </a:p>
          <a:p>
            <a:pPr marL="576000" lvl="1" indent="-228600">
              <a:spcBef>
                <a:spcPts val="600"/>
              </a:spcBef>
              <a:buFont typeface="+mj-lt"/>
              <a:buAutoNum type="arabicPeriod"/>
              <a:defRPr/>
            </a:pPr>
            <a:r>
              <a:rPr lang="en-GB" sz="800" b="1">
                <a:solidFill>
                  <a:srgbClr val="5E6A71"/>
                </a:solidFill>
              </a:rPr>
              <a:t>Correction Module:  </a:t>
            </a:r>
            <a:r>
              <a:rPr lang="en-GB" sz="800">
                <a:solidFill>
                  <a:srgbClr val="5E6A71"/>
                </a:solidFill>
              </a:rPr>
              <a:t>enable data correction within nBIF. The data correction are allowed to be done inside Model factory. </a:t>
            </a:r>
          </a:p>
          <a:p>
            <a:pPr marL="182563" indent="-182563" algn="just">
              <a:spcBef>
                <a:spcPts val="600"/>
              </a:spcBef>
              <a:buFont typeface="+mj-lt"/>
              <a:buAutoNum type="arabicPeriod"/>
            </a:pPr>
            <a:endParaRPr lang="en-GB" sz="800">
              <a:solidFill>
                <a:srgbClr val="5E6A71"/>
              </a:solidFill>
            </a:endParaRPr>
          </a:p>
        </p:txBody>
      </p:sp>
      <p:pic>
        <p:nvPicPr>
          <p:cNvPr id="9" name="Picture 8">
            <a:extLst>
              <a:ext uri="{FF2B5EF4-FFF2-40B4-BE49-F238E27FC236}">
                <a16:creationId xmlns:a16="http://schemas.microsoft.com/office/drawing/2014/main" id="{7C686234-1B59-C22A-E2E3-2720874C973D}"/>
              </a:ext>
            </a:extLst>
          </p:cNvPr>
          <p:cNvPicPr>
            <a:picLocks noChangeAspect="1"/>
          </p:cNvPicPr>
          <p:nvPr/>
        </p:nvPicPr>
        <p:blipFill rotWithShape="1">
          <a:blip r:embed="rId4"/>
          <a:srcRect r="31699" b="30847"/>
          <a:stretch/>
        </p:blipFill>
        <p:spPr>
          <a:xfrm>
            <a:off x="3294198" y="3923210"/>
            <a:ext cx="1243013" cy="638074"/>
          </a:xfrm>
          <a:prstGeom prst="rect">
            <a:avLst/>
          </a:prstGeom>
        </p:spPr>
      </p:pic>
      <p:pic>
        <p:nvPicPr>
          <p:cNvPr id="10" name="Picture 9">
            <a:extLst>
              <a:ext uri="{FF2B5EF4-FFF2-40B4-BE49-F238E27FC236}">
                <a16:creationId xmlns:a16="http://schemas.microsoft.com/office/drawing/2014/main" id="{9C5F1C77-37D0-CDF3-A371-D30B0918A5C4}"/>
              </a:ext>
            </a:extLst>
          </p:cNvPr>
          <p:cNvPicPr>
            <a:picLocks noChangeAspect="1"/>
          </p:cNvPicPr>
          <p:nvPr/>
        </p:nvPicPr>
        <p:blipFill>
          <a:blip r:embed="rId5"/>
          <a:stretch>
            <a:fillRect/>
          </a:stretch>
        </p:blipFill>
        <p:spPr>
          <a:xfrm>
            <a:off x="380016" y="686613"/>
            <a:ext cx="4085304" cy="2996670"/>
          </a:xfrm>
          <a:prstGeom prst="rect">
            <a:avLst/>
          </a:prstGeom>
        </p:spPr>
      </p:pic>
    </p:spTree>
    <p:extLst>
      <p:ext uri="{BB962C8B-B14F-4D97-AF65-F5344CB8AC3E}">
        <p14:creationId xmlns:p14="http://schemas.microsoft.com/office/powerpoint/2010/main" val="2795941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75814" y="264502"/>
            <a:ext cx="7464026" cy="570893"/>
          </a:xfrm>
        </p:spPr>
        <p:txBody>
          <a:bodyPr/>
          <a:lstStyle/>
          <a:p>
            <a:r>
              <a:rPr lang="en-GB"/>
              <a:t>5.3 Key data Management principles for nBIF</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2" name="Rectangle 1"/>
          <p:cNvSpPr/>
          <p:nvPr/>
        </p:nvSpPr>
        <p:spPr>
          <a:xfrm>
            <a:off x="4038600" y="827094"/>
            <a:ext cx="4406792" cy="581721"/>
          </a:xfrm>
          <a:prstGeom prst="rect">
            <a:avLst/>
          </a:prstGeom>
          <a:solidFill>
            <a:schemeClr val="bg1"/>
          </a:solidFill>
          <a:ln w="12700" cap="rnd" cmpd="sng" algn="ctr">
            <a:no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orbel"/>
                <a:ea typeface="+mn-ea"/>
                <a:cs typeface="+mn-cs"/>
              </a:rPr>
              <a:t>Rational for the principle</a:t>
            </a:r>
          </a:p>
          <a:p>
            <a:pPr marL="0" marR="0" lvl="0" indent="0" algn="ctr" defTabSz="456999"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0" noProof="0">
                <a:ln>
                  <a:noFill/>
                </a:ln>
                <a:solidFill>
                  <a:srgbClr val="FD6400"/>
                </a:solidFill>
                <a:effectLst/>
                <a:uLnTx/>
                <a:uFillTx/>
                <a:latin typeface="Corbel"/>
                <a:ea typeface="+mn-ea"/>
                <a:cs typeface="+mn-cs"/>
              </a:rPr>
              <a:t>(that we considered)</a:t>
            </a:r>
          </a:p>
        </p:txBody>
      </p:sp>
      <p:sp>
        <p:nvSpPr>
          <p:cNvPr id="18" name="Rectangle 17"/>
          <p:cNvSpPr/>
          <p:nvPr/>
        </p:nvSpPr>
        <p:spPr>
          <a:xfrm>
            <a:off x="546099" y="827094"/>
            <a:ext cx="2875281" cy="581721"/>
          </a:xfrm>
          <a:prstGeom prst="rect">
            <a:avLst/>
          </a:prstGeom>
          <a:solidFill>
            <a:schemeClr val="bg1"/>
          </a:solidFill>
          <a:ln w="12700" cap="rnd" cmpd="sng" algn="ctr">
            <a:noFill/>
            <a:prstDash val="solid"/>
          </a:ln>
          <a:effectLst/>
        </p:spPr>
        <p:txBody>
          <a:bodyPr rtlCol="0" anchor="ctr"/>
          <a:lstStyle/>
          <a:p>
            <a:pPr marL="0" marR="0" lvl="0" indent="0" algn="ctr" defTabSz="456999"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orbel"/>
                <a:ea typeface="+mn-ea"/>
                <a:cs typeface="+mn-cs"/>
              </a:rPr>
              <a:t>Key data management principles</a:t>
            </a:r>
          </a:p>
          <a:p>
            <a:pPr marL="0" marR="0" lvl="0" indent="0" algn="ctr" defTabSz="456999"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FD6400"/>
                </a:solidFill>
                <a:effectLst/>
                <a:uLnTx/>
                <a:uFillTx/>
                <a:latin typeface="Corbel"/>
                <a:ea typeface="+mn-ea"/>
                <a:cs typeface="+mn-cs"/>
              </a:rPr>
              <a:t>(that we defined for nBIF Data Stores)</a:t>
            </a:r>
            <a:endParaRPr kumimoji="0" lang="en-GB" sz="1400" b="0" i="0" u="none" strike="noStrike" kern="1200" cap="none" spc="0" normalizeH="0" baseline="0" noProof="0">
              <a:ln>
                <a:noFill/>
              </a:ln>
              <a:solidFill>
                <a:srgbClr val="FD6400"/>
              </a:solidFill>
              <a:effectLst/>
              <a:uLnTx/>
              <a:uFillTx/>
              <a:latin typeface="Corbel"/>
              <a:ea typeface="+mn-ea"/>
              <a:cs typeface="+mn-cs"/>
            </a:endParaRPr>
          </a:p>
        </p:txBody>
      </p:sp>
      <p:sp>
        <p:nvSpPr>
          <p:cNvPr id="21"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5" name="Right Arrow 4"/>
          <p:cNvSpPr/>
          <p:nvPr/>
        </p:nvSpPr>
        <p:spPr>
          <a:xfrm flipH="1">
            <a:off x="3421379" y="1622750"/>
            <a:ext cx="617219" cy="518160"/>
          </a:xfrm>
          <a:prstGeom prst="rightArrow">
            <a:avLst/>
          </a:prstGeom>
          <a:gradFill flip="none" rotWithShape="1">
            <a:gsLst>
              <a:gs pos="0">
                <a:srgbClr val="F3DEDC"/>
              </a:gs>
              <a:gs pos="100000">
                <a:srgbClr val="EAEAEA">
                  <a:shade val="100000"/>
                  <a:satMod val="115000"/>
                </a:srgbClr>
              </a:gs>
            </a:gsLst>
            <a:lin ang="10800000" scaled="1"/>
            <a:tileRect/>
          </a:gradFill>
          <a:ln w="3175" cap="rnd" cmpd="sng" algn="ctr">
            <a:solidFill>
              <a:schemeClr val="bg1">
                <a:lumMod val="95000"/>
              </a:schemeClr>
            </a:solidFill>
            <a:prstDash val="solid"/>
          </a:ln>
          <a:effectLst/>
        </p:spPr>
        <p:txBody>
          <a:bodyPr rtlCol="0" anchor="ctr"/>
          <a:lstStyle/>
          <a:p>
            <a:pPr algn="ctr"/>
            <a:endParaRPr lang="en-IN">
              <a:solidFill>
                <a:srgbClr val="5E6A71"/>
              </a:solidFill>
            </a:endParaRPr>
          </a:p>
        </p:txBody>
      </p:sp>
      <p:sp>
        <p:nvSpPr>
          <p:cNvPr id="22" name="Right Arrow 21"/>
          <p:cNvSpPr/>
          <p:nvPr/>
        </p:nvSpPr>
        <p:spPr>
          <a:xfrm flipH="1">
            <a:off x="3421379" y="2489631"/>
            <a:ext cx="617220" cy="518160"/>
          </a:xfrm>
          <a:prstGeom prst="rightArrow">
            <a:avLst/>
          </a:prstGeom>
          <a:gradFill flip="none" rotWithShape="1">
            <a:gsLst>
              <a:gs pos="0">
                <a:srgbClr val="00B0F0"/>
              </a:gs>
              <a:gs pos="100000">
                <a:srgbClr val="EAEAEA">
                  <a:shade val="100000"/>
                  <a:satMod val="115000"/>
                </a:srgbClr>
              </a:gs>
            </a:gsLst>
            <a:lin ang="10800000" scaled="1"/>
            <a:tileRect/>
          </a:gradFill>
          <a:ln w="3175" cap="rnd" cmpd="sng" algn="ctr">
            <a:solidFill>
              <a:schemeClr val="bg1">
                <a:lumMod val="95000"/>
              </a:schemeClr>
            </a:solidFill>
            <a:prstDash val="solid"/>
          </a:ln>
          <a:effectLst/>
        </p:spPr>
        <p:txBody>
          <a:bodyPr rtlCol="0" anchor="ctr"/>
          <a:lstStyle/>
          <a:p>
            <a:pPr algn="ctr"/>
            <a:endParaRPr lang="en-IN">
              <a:solidFill>
                <a:srgbClr val="5E6A71"/>
              </a:solidFill>
            </a:endParaRPr>
          </a:p>
        </p:txBody>
      </p:sp>
      <p:sp>
        <p:nvSpPr>
          <p:cNvPr id="23" name="Right Arrow 22"/>
          <p:cNvSpPr/>
          <p:nvPr/>
        </p:nvSpPr>
        <p:spPr>
          <a:xfrm flipH="1">
            <a:off x="3421379" y="4088131"/>
            <a:ext cx="617220" cy="518160"/>
          </a:xfrm>
          <a:prstGeom prst="rightArrow">
            <a:avLst/>
          </a:prstGeom>
          <a:gradFill flip="none" rotWithShape="1">
            <a:gsLst>
              <a:gs pos="0">
                <a:srgbClr val="00B0F0"/>
              </a:gs>
              <a:gs pos="100000">
                <a:srgbClr val="EAEAEA">
                  <a:shade val="100000"/>
                  <a:satMod val="115000"/>
                </a:srgbClr>
              </a:gs>
            </a:gsLst>
            <a:lin ang="10800000" scaled="1"/>
            <a:tileRect/>
          </a:gradFill>
          <a:ln w="3175" cap="rnd" cmpd="sng" algn="ctr">
            <a:solidFill>
              <a:schemeClr val="bg1">
                <a:lumMod val="95000"/>
              </a:schemeClr>
            </a:solidFill>
            <a:prstDash val="solid"/>
          </a:ln>
          <a:effectLst/>
        </p:spPr>
        <p:txBody>
          <a:bodyPr rtlCol="0" anchor="ctr"/>
          <a:lstStyle/>
          <a:p>
            <a:pPr algn="ctr"/>
            <a:endParaRPr lang="en-IN">
              <a:solidFill>
                <a:srgbClr val="5E6A71"/>
              </a:solidFill>
            </a:endParaRPr>
          </a:p>
        </p:txBody>
      </p:sp>
      <p:sp>
        <p:nvSpPr>
          <p:cNvPr id="20" name="Rectangle 19"/>
          <p:cNvSpPr/>
          <p:nvPr/>
        </p:nvSpPr>
        <p:spPr>
          <a:xfrm>
            <a:off x="4038600" y="3962442"/>
            <a:ext cx="4406792" cy="420297"/>
          </a:xfrm>
          <a:prstGeom prst="rect">
            <a:avLst/>
          </a:prstGeom>
          <a:solidFill>
            <a:srgbClr val="EAEAEA"/>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nBIF will enable inspection/sign-off of calculation data. Often the inspection requires comparison with the result of past 6-12 months of approved runs. </a:t>
            </a:r>
          </a:p>
        </p:txBody>
      </p:sp>
      <p:sp>
        <p:nvSpPr>
          <p:cNvPr id="51" name="Rectangle 50"/>
          <p:cNvSpPr/>
          <p:nvPr/>
        </p:nvSpPr>
        <p:spPr>
          <a:xfrm>
            <a:off x="4038600" y="4382739"/>
            <a:ext cx="4406792" cy="311181"/>
          </a:xfrm>
          <a:prstGeom prst="rect">
            <a:avLst/>
          </a:prstGeom>
          <a:solidFill>
            <a:srgbClr val="EAEAEA"/>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During inspection/signoff it is desired to have entire lineage of model results.</a:t>
            </a:r>
          </a:p>
        </p:txBody>
      </p:sp>
      <p:sp>
        <p:nvSpPr>
          <p:cNvPr id="50" name="Rectangle 49"/>
          <p:cNvSpPr/>
          <p:nvPr/>
        </p:nvSpPr>
        <p:spPr>
          <a:xfrm>
            <a:off x="4038600" y="2560463"/>
            <a:ext cx="4406792" cy="418957"/>
          </a:xfrm>
          <a:prstGeom prst="rect">
            <a:avLst/>
          </a:prstGeom>
          <a:solidFill>
            <a:srgbClr val="EAEAEA"/>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Currently there is significant amount of duplicate input data is ingested by Models. With nBIF, the SIS will be streamlined to combine the data contracts to a minimum.</a:t>
            </a:r>
          </a:p>
          <a:p>
            <a:pPr marL="0" marR="0" lvl="0" indent="0" algn="l" defTabSz="456999" rtl="0" eaLnBrk="1" fontAlgn="auto" latinLnBrk="0" hangingPunct="1">
              <a:lnSpc>
                <a:spcPct val="100000"/>
              </a:lnSpc>
              <a:spcBef>
                <a:spcPts val="0"/>
              </a:spcBef>
              <a:spcAft>
                <a:spcPts val="0"/>
              </a:spcAft>
              <a:buClrTx/>
              <a:buSzTx/>
              <a:buFontTx/>
              <a:buNone/>
              <a:tabLst/>
              <a:defRPr/>
            </a:pPr>
            <a:r>
              <a:rPr lang="en-GB" sz="800">
                <a:latin typeface="Corbel"/>
              </a:rPr>
              <a:t>Model input validation is required by multiple models.</a:t>
            </a:r>
            <a:endParaRPr kumimoji="0" lang="en-GB" sz="800" b="0" i="0" u="none" strike="noStrike" kern="1200" cap="none" spc="0" normalizeH="0" baseline="0" noProof="0">
              <a:ln>
                <a:noFill/>
              </a:ln>
              <a:effectLst/>
              <a:uLnTx/>
              <a:uFillTx/>
              <a:latin typeface="Corbel"/>
              <a:ea typeface="+mn-ea"/>
              <a:cs typeface="+mn-cs"/>
            </a:endParaRPr>
          </a:p>
        </p:txBody>
      </p:sp>
      <p:sp>
        <p:nvSpPr>
          <p:cNvPr id="15" name="Rectangle 14"/>
          <p:cNvSpPr/>
          <p:nvPr/>
        </p:nvSpPr>
        <p:spPr>
          <a:xfrm>
            <a:off x="4038600" y="1450539"/>
            <a:ext cx="4406792" cy="368864"/>
          </a:xfrm>
          <a:prstGeom prst="rect">
            <a:avLst/>
          </a:prstGeom>
          <a:solidFill>
            <a:srgbClr val="EAEAEA"/>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Although n-Bridge connects all bridges together, the individual bridges shall be able to perform their DTAP lifecycle independently. </a:t>
            </a:r>
          </a:p>
        </p:txBody>
      </p:sp>
      <p:sp>
        <p:nvSpPr>
          <p:cNvPr id="16" name="Rectangle 15"/>
          <p:cNvSpPr/>
          <p:nvPr/>
        </p:nvSpPr>
        <p:spPr>
          <a:xfrm>
            <a:off x="4038600" y="1819404"/>
            <a:ext cx="4406792" cy="493717"/>
          </a:xfrm>
          <a:prstGeom prst="rect">
            <a:avLst/>
          </a:prstGeom>
          <a:solidFill>
            <a:srgbClr val="EAEAEA"/>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n-Bridge will have one single Business process for all bridges. However, due to various practical reasons (e.g. Ad-hoc run, operational reasons), n-Bridge shall be able to run a single bridge or be able to connect different version of bridges.</a:t>
            </a:r>
          </a:p>
        </p:txBody>
      </p:sp>
      <p:sp>
        <p:nvSpPr>
          <p:cNvPr id="25" name="Rectangle 24"/>
          <p:cNvSpPr/>
          <p:nvPr/>
        </p:nvSpPr>
        <p:spPr>
          <a:xfrm>
            <a:off x="546099" y="1450539"/>
            <a:ext cx="2875281" cy="862582"/>
          </a:xfrm>
          <a:prstGeom prst="rect">
            <a:avLst/>
          </a:prstGeom>
          <a:solidFill>
            <a:srgbClr val="F3DEDC"/>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effectLst/>
                <a:uLnTx/>
                <a:uFillTx/>
                <a:latin typeface="Corbel"/>
                <a:ea typeface="+mn-ea"/>
                <a:cs typeface="+mn-cs"/>
              </a:rPr>
              <a:t>Model Factory: (Calculator &amp; Result data store)</a:t>
            </a:r>
          </a:p>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Use Data Mesh like architecture to organize Model factories. </a:t>
            </a:r>
          </a:p>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effectLst/>
              <a:uLnTx/>
              <a:uFillTx/>
              <a:latin typeface="Corbel"/>
              <a:ea typeface="+mn-ea"/>
              <a:cs typeface="+mn-cs"/>
            </a:endParaRPr>
          </a:p>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effectLst/>
                <a:uLnTx/>
                <a:uFillTx/>
                <a:latin typeface="Corbel"/>
                <a:ea typeface="+mn-ea"/>
                <a:cs typeface="+mn-cs"/>
              </a:rPr>
              <a:t>This approach enables responsibility for model specific </a:t>
            </a:r>
            <a:r>
              <a:rPr lang="en-GB" sz="800">
                <a:latin typeface="Corbel"/>
              </a:rPr>
              <a:t>application processes to be in the control of the respective business value stream (model implementation squad).</a:t>
            </a:r>
          </a:p>
        </p:txBody>
      </p:sp>
      <p:sp>
        <p:nvSpPr>
          <p:cNvPr id="26" name="Rectangle 25"/>
          <p:cNvSpPr/>
          <p:nvPr/>
        </p:nvSpPr>
        <p:spPr>
          <a:xfrm>
            <a:off x="546099" y="2497350"/>
            <a:ext cx="2875281" cy="573016"/>
          </a:xfrm>
          <a:prstGeom prst="rect">
            <a:avLst/>
          </a:prstGeom>
          <a:solidFill>
            <a:srgbClr val="00B0F0"/>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effectLst/>
                <a:uLnTx/>
                <a:uFillTx/>
                <a:latin typeface="Corbel"/>
                <a:ea typeface="+mn-ea"/>
                <a:cs typeface="+mn-cs"/>
              </a:rPr>
              <a:t>Staging data stores :</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effectLst/>
                <a:uLnTx/>
                <a:uFillTx/>
                <a:latin typeface="Corbel"/>
                <a:ea typeface="+mn-ea"/>
                <a:cs typeface="+mn-cs"/>
              </a:rPr>
              <a:t>Use staging data store </a:t>
            </a:r>
            <a:r>
              <a:rPr lang="en-GB" sz="800">
                <a:latin typeface="Corbel"/>
              </a:rPr>
              <a:t>to ingest consolidated input data to run</a:t>
            </a:r>
            <a:r>
              <a:rPr kumimoji="0" lang="en-GB" sz="800" b="0" i="0" u="none" strike="noStrike" kern="1200" cap="none" spc="0" normalizeH="0" baseline="0" noProof="0">
                <a:ln>
                  <a:noFill/>
                </a:ln>
                <a:effectLst/>
                <a:uLnTx/>
                <a:uFillTx/>
                <a:latin typeface="Corbel"/>
                <a:ea typeface="+mn-ea"/>
                <a:cs typeface="+mn-cs"/>
              </a:rPr>
              <a:t> entire n-Bridge of a portfolio..</a:t>
            </a:r>
          </a:p>
          <a:p>
            <a:pPr marL="171450" indent="-171450">
              <a:buFont typeface="Arial" panose="020B0604020202020204" pitchFamily="34" charset="0"/>
              <a:buChar char="•"/>
              <a:defRPr/>
            </a:pPr>
            <a:r>
              <a:rPr kumimoji="0" lang="en-GB" sz="800" b="0" i="0" u="none" strike="noStrike" kern="1200" cap="none" spc="0" normalizeH="0" baseline="0" noProof="0">
                <a:ln>
                  <a:noFill/>
                </a:ln>
                <a:effectLst/>
                <a:uLnTx/>
                <a:uFillTx/>
                <a:latin typeface="Corbel"/>
                <a:ea typeface="+mn-ea"/>
                <a:cs typeface="+mn-cs"/>
              </a:rPr>
              <a:t>Store operational history of model inputs. </a:t>
            </a:r>
          </a:p>
        </p:txBody>
      </p:sp>
      <p:sp>
        <p:nvSpPr>
          <p:cNvPr id="17" name="Rectangle 16"/>
          <p:cNvSpPr/>
          <p:nvPr/>
        </p:nvSpPr>
        <p:spPr>
          <a:xfrm>
            <a:off x="546099" y="3962442"/>
            <a:ext cx="2875281" cy="807608"/>
          </a:xfrm>
          <a:prstGeom prst="rect">
            <a:avLst/>
          </a:prstGeom>
          <a:solidFill>
            <a:srgbClr val="00B0F0"/>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effectLst/>
                <a:uLnTx/>
                <a:uFillTx/>
                <a:latin typeface="Corbel"/>
                <a:ea typeface="+mn-ea"/>
                <a:cs typeface="+mn-cs"/>
              </a:rPr>
              <a:t>Validated Risk Metrics Store:</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effectLst/>
                <a:uLnTx/>
                <a:uFillTx/>
                <a:latin typeface="Corbel"/>
                <a:ea typeface="+mn-ea"/>
                <a:cs typeface="+mn-cs"/>
              </a:rPr>
              <a:t>Store operational history of model results, Intermediate results and aggregated results for entire n-Bridge of a portfolio . </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a:latin typeface="Corbel"/>
              </a:rPr>
              <a:t>Default rule for storage timeline is 12 months which can be extended based on specific portfolio needs. </a:t>
            </a:r>
            <a:endParaRPr kumimoji="0" lang="en-GB" sz="800" b="0" i="0" u="none" strike="noStrike" kern="1200" cap="none" spc="0" normalizeH="0" baseline="0" noProof="0">
              <a:ln>
                <a:noFill/>
              </a:ln>
              <a:effectLst/>
              <a:uLnTx/>
              <a:uFillTx/>
              <a:latin typeface="Corbel"/>
              <a:ea typeface="+mn-ea"/>
              <a:cs typeface="+mn-cs"/>
            </a:endParaRPr>
          </a:p>
        </p:txBody>
      </p:sp>
      <p:sp>
        <p:nvSpPr>
          <p:cNvPr id="6" name="Right Arrow 21">
            <a:extLst>
              <a:ext uri="{FF2B5EF4-FFF2-40B4-BE49-F238E27FC236}">
                <a16:creationId xmlns:a16="http://schemas.microsoft.com/office/drawing/2014/main" id="{9B7E82F3-3FB7-3049-B148-D91ED3396BAE}"/>
              </a:ext>
            </a:extLst>
          </p:cNvPr>
          <p:cNvSpPr/>
          <p:nvPr/>
        </p:nvSpPr>
        <p:spPr>
          <a:xfrm flipH="1">
            <a:off x="3413759" y="3226087"/>
            <a:ext cx="617220" cy="518160"/>
          </a:xfrm>
          <a:prstGeom prst="rightArrow">
            <a:avLst/>
          </a:prstGeom>
          <a:gradFill flip="none" rotWithShape="1">
            <a:gsLst>
              <a:gs pos="0">
                <a:srgbClr val="00B0F0"/>
              </a:gs>
              <a:gs pos="100000">
                <a:srgbClr val="EAEAEA">
                  <a:shade val="100000"/>
                  <a:satMod val="115000"/>
                </a:srgbClr>
              </a:gs>
            </a:gsLst>
            <a:lin ang="10800000" scaled="1"/>
            <a:tileRect/>
          </a:gradFill>
          <a:ln w="3175" cap="rnd" cmpd="sng" algn="ctr">
            <a:solidFill>
              <a:schemeClr val="bg1">
                <a:lumMod val="95000"/>
              </a:schemeClr>
            </a:solidFill>
            <a:prstDash val="solid"/>
          </a:ln>
          <a:effectLst/>
        </p:spPr>
        <p:txBody>
          <a:bodyPr rtlCol="0" anchor="ctr"/>
          <a:lstStyle/>
          <a:p>
            <a:pPr algn="ctr"/>
            <a:endParaRPr lang="en-IN">
              <a:solidFill>
                <a:srgbClr val="5E6A71"/>
              </a:solidFill>
            </a:endParaRPr>
          </a:p>
        </p:txBody>
      </p:sp>
      <p:sp>
        <p:nvSpPr>
          <p:cNvPr id="9" name="Rectangle 8">
            <a:extLst>
              <a:ext uri="{FF2B5EF4-FFF2-40B4-BE49-F238E27FC236}">
                <a16:creationId xmlns:a16="http://schemas.microsoft.com/office/drawing/2014/main" id="{64F4CFE7-A9D4-2FA3-C05A-F06AD58E6623}"/>
              </a:ext>
            </a:extLst>
          </p:cNvPr>
          <p:cNvSpPr/>
          <p:nvPr/>
        </p:nvSpPr>
        <p:spPr>
          <a:xfrm>
            <a:off x="4030980" y="3226087"/>
            <a:ext cx="4406792" cy="518160"/>
          </a:xfrm>
          <a:prstGeom prst="rect">
            <a:avLst/>
          </a:prstGeom>
          <a:solidFill>
            <a:srgbClr val="EAEAEA"/>
          </a:solidFill>
          <a:ln w="3175" cap="rnd" cmpd="sng" algn="ctr">
            <a:solidFill>
              <a:schemeClr val="tx1"/>
            </a:solidFill>
            <a:prstDash val="solid"/>
          </a:ln>
          <a:effectLst/>
        </p:spPr>
        <p:txBody>
          <a:bodyPr rtlCol="0" anchor="ctr"/>
          <a:lstStyle/>
          <a:p>
            <a:pPr>
              <a:defRPr/>
            </a:pPr>
            <a:r>
              <a:rPr kumimoji="0" lang="en-GB" sz="800" b="0" i="0" u="none" strike="noStrike" kern="1200" cap="none" spc="0" normalizeH="0" baseline="0" noProof="0">
                <a:ln>
                  <a:noFill/>
                </a:ln>
                <a:effectLst/>
                <a:uLnTx/>
                <a:uFillTx/>
                <a:latin typeface="Corbel"/>
                <a:ea typeface="+mn-ea"/>
                <a:cs typeface="+mn-cs"/>
              </a:rPr>
              <a:t>While a portfolio wise n-bridge implementation approach brings numerous benefits, it is efficient in both cost and time if each nBIF does not require to ingest the common dataset by themselves.</a:t>
            </a:r>
          </a:p>
        </p:txBody>
      </p:sp>
      <p:sp>
        <p:nvSpPr>
          <p:cNvPr id="10" name="Rectangle 9">
            <a:extLst>
              <a:ext uri="{FF2B5EF4-FFF2-40B4-BE49-F238E27FC236}">
                <a16:creationId xmlns:a16="http://schemas.microsoft.com/office/drawing/2014/main" id="{ADD0F5D4-7C71-DB7B-88F7-81D0D4631333}"/>
              </a:ext>
            </a:extLst>
          </p:cNvPr>
          <p:cNvSpPr/>
          <p:nvPr/>
        </p:nvSpPr>
        <p:spPr>
          <a:xfrm>
            <a:off x="538479" y="3239806"/>
            <a:ext cx="2875281" cy="490722"/>
          </a:xfrm>
          <a:prstGeom prst="rect">
            <a:avLst/>
          </a:prstGeom>
          <a:solidFill>
            <a:srgbClr val="00B0F0"/>
          </a:solidFill>
          <a:ln w="3175" cap="rnd" cmpd="sng" algn="ctr">
            <a:solidFill>
              <a:schemeClr val="tx1"/>
            </a:solidFill>
            <a:prstDash val="solid"/>
          </a:ln>
          <a:effectLst/>
        </p:spPr>
        <p:txBody>
          <a:bodyPr rtlCol="0" anchor="ct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effectLst/>
                <a:uLnTx/>
                <a:uFillTx/>
                <a:latin typeface="Corbel"/>
                <a:ea typeface="+mn-ea"/>
                <a:cs typeface="+mn-cs"/>
              </a:rPr>
              <a:t>Common Data Cache :</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effectLst/>
                <a:uLnTx/>
                <a:uFillTx/>
                <a:latin typeface="Corbel"/>
                <a:ea typeface="+mn-ea"/>
                <a:cs typeface="+mn-cs"/>
              </a:rPr>
              <a:t>Use common data cache as staging data store for the data sets that are used by multiple n-Bridges. </a:t>
            </a:r>
          </a:p>
          <a:p>
            <a:pPr marL="171450" marR="0" lvl="0" indent="-171450" algn="l" defTabSz="4569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800">
                <a:latin typeface="Corbel"/>
              </a:rPr>
              <a:t>Do not use it for smaller datasets. </a:t>
            </a:r>
            <a:endParaRPr kumimoji="0" lang="en-GB" sz="800" b="0" i="0" u="none" strike="noStrike" kern="1200" cap="none" spc="0" normalizeH="0" baseline="0" noProof="0">
              <a:ln>
                <a:noFill/>
              </a:ln>
              <a:effectLst/>
              <a:uLnTx/>
              <a:uFillTx/>
              <a:latin typeface="Corbel"/>
              <a:ea typeface="+mn-ea"/>
              <a:cs typeface="+mn-cs"/>
            </a:endParaRPr>
          </a:p>
        </p:txBody>
      </p:sp>
    </p:spTree>
    <p:extLst>
      <p:ext uri="{BB962C8B-B14F-4D97-AF65-F5344CB8AC3E}">
        <p14:creationId xmlns:p14="http://schemas.microsoft.com/office/powerpoint/2010/main" val="113179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700" y="-7395"/>
            <a:ext cx="8086232" cy="605625"/>
          </a:xfrm>
        </p:spPr>
        <p:txBody>
          <a:bodyPr/>
          <a:lstStyle/>
          <a:p>
            <a:r>
              <a:rPr lang="en-GB" sz="2400"/>
              <a:t>5.4 </a:t>
            </a:r>
            <a:r>
              <a:rPr lang="en-IN" sz="2400"/>
              <a:t>nBIF </a:t>
            </a:r>
            <a:r>
              <a:rPr lang="en-GB" sz="2400"/>
              <a:t>collaboration view</a:t>
            </a:r>
          </a:p>
        </p:txBody>
      </p:sp>
      <p:sp>
        <p:nvSpPr>
          <p:cNvPr id="3" name="Slide Number Placeholder 2"/>
          <p:cNvSpPr>
            <a:spLocks noGrp="1"/>
          </p:cNvSpPr>
          <p:nvPr>
            <p:ph type="sldNum" sz="quarter" idx="10"/>
          </p:nvPr>
        </p:nvSpPr>
        <p:spPr>
          <a:xfrm>
            <a:off x="8432122" y="4602319"/>
            <a:ext cx="642937" cy="204788"/>
          </a:xfrm>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4821C4A5-98F2-7545-875B-39B2F4500447}" type="slidenum">
              <a:rPr kumimoji="0" lang="en-GB" sz="1200" b="0" i="0" u="none" strike="noStrike" kern="1200" cap="none" spc="0" normalizeH="0" baseline="0" noProof="0" smtClean="0">
                <a:ln>
                  <a:noFill/>
                </a:ln>
                <a:solidFill>
                  <a:srgbClr val="7F7F7F"/>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54</a:t>
            </a:fld>
            <a:endParaRPr kumimoji="0" lang="en-GB" sz="1200" b="0" i="0" u="none" strike="noStrike" kern="1200" cap="none" spc="0" normalizeH="0" baseline="0" noProof="0">
              <a:ln>
                <a:noFill/>
              </a:ln>
              <a:solidFill>
                <a:srgbClr val="7F7F7F"/>
              </a:solidFill>
              <a:effectLst/>
              <a:uLnTx/>
              <a:uFillTx/>
              <a:latin typeface="Corbel"/>
              <a:ea typeface="+mn-ea"/>
              <a:cs typeface="+mn-cs"/>
            </a:endParaRPr>
          </a:p>
        </p:txBody>
      </p:sp>
      <p:sp>
        <p:nvSpPr>
          <p:cNvPr id="7" name="Rectangle 6"/>
          <p:cNvSpPr/>
          <p:nvPr/>
        </p:nvSpPr>
        <p:spPr>
          <a:xfrm>
            <a:off x="426725" y="438787"/>
            <a:ext cx="8167207" cy="276999"/>
          </a:xfrm>
          <a:prstGeom prst="rect">
            <a:avLst/>
          </a:prstGeom>
        </p:spPr>
        <p:txBody>
          <a:bodyPr wrap="square">
            <a:spAutoFit/>
          </a:bodyPr>
          <a:lstStyle/>
          <a:p>
            <a:r>
              <a:rPr lang="en-GB" sz="1200">
                <a:solidFill>
                  <a:schemeClr val="accent2"/>
                </a:solidFill>
              </a:rPr>
              <a:t>nBIF collaboration view for the batch run of credit risk models.   </a:t>
            </a:r>
          </a:p>
        </p:txBody>
      </p:sp>
      <p:sp>
        <p:nvSpPr>
          <p:cNvPr id="12"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pic>
        <p:nvPicPr>
          <p:cNvPr id="32" name="Picture 31">
            <a:extLst>
              <a:ext uri="{FF2B5EF4-FFF2-40B4-BE49-F238E27FC236}">
                <a16:creationId xmlns:a16="http://schemas.microsoft.com/office/drawing/2014/main" id="{71A94FB8-1556-6DF0-8E8A-E60C67A045A3}"/>
              </a:ext>
            </a:extLst>
          </p:cNvPr>
          <p:cNvPicPr>
            <a:picLocks noChangeAspect="1"/>
          </p:cNvPicPr>
          <p:nvPr/>
        </p:nvPicPr>
        <p:blipFill>
          <a:blip r:embed="rId4"/>
          <a:stretch>
            <a:fillRect/>
          </a:stretch>
        </p:blipFill>
        <p:spPr>
          <a:xfrm>
            <a:off x="507700" y="723181"/>
            <a:ext cx="3700482" cy="3981532"/>
          </a:xfrm>
          <a:prstGeom prst="rect">
            <a:avLst/>
          </a:prstGeom>
        </p:spPr>
      </p:pic>
      <p:sp>
        <p:nvSpPr>
          <p:cNvPr id="13" name="Content Placeholder 8">
            <a:extLst>
              <a:ext uri="{FF2B5EF4-FFF2-40B4-BE49-F238E27FC236}">
                <a16:creationId xmlns:a16="http://schemas.microsoft.com/office/drawing/2014/main" id="{629AE802-BB0D-7237-8C75-A5DAA65DD125}"/>
              </a:ext>
            </a:extLst>
          </p:cNvPr>
          <p:cNvSpPr txBox="1">
            <a:spLocks/>
          </p:cNvSpPr>
          <p:nvPr/>
        </p:nvSpPr>
        <p:spPr>
          <a:xfrm>
            <a:off x="4572000" y="723181"/>
            <a:ext cx="4165900" cy="4017103"/>
          </a:xfrm>
          <a:prstGeom prst="rect">
            <a:avLst/>
          </a:prstGeom>
          <a:solidFill>
            <a:schemeClr val="bg1">
              <a:lumMod val="95000"/>
            </a:schemeClr>
          </a:solidFill>
          <a:ln>
            <a:solidFill>
              <a:schemeClr val="bg1">
                <a:lumMod val="85000"/>
              </a:schemeClr>
            </a:solidFill>
          </a:ln>
        </p:spPr>
        <p:txBody>
          <a:bodyPr vert="horz" lIns="108000" tIns="45720" rIns="72000" bIns="45720" rtlCol="0">
            <a:noAutofit/>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8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6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4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8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6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180975" indent="-180975" algn="just">
              <a:spcBef>
                <a:spcPts val="100"/>
              </a:spcBef>
              <a:spcAft>
                <a:spcPts val="100"/>
              </a:spcAft>
              <a:buFont typeface="+mj-lt"/>
              <a:buAutoNum type="alphaUcPeriod"/>
            </a:pPr>
            <a:r>
              <a:rPr lang="en-GB" sz="800"/>
              <a:t>GRFD or “Ad-Hoc Run console” triggers the n-Bridge run.</a:t>
            </a:r>
          </a:p>
          <a:p>
            <a:pPr marL="180975" indent="-180975" algn="just">
              <a:spcBef>
                <a:spcPts val="100"/>
              </a:spcBef>
              <a:spcAft>
                <a:spcPts val="100"/>
              </a:spcAft>
              <a:buFont typeface="+mj-lt"/>
              <a:buAutoNum type="alphaUcPeriod"/>
            </a:pPr>
            <a:r>
              <a:rPr lang="en-IN" sz="800"/>
              <a:t>nBIF</a:t>
            </a:r>
            <a:r>
              <a:rPr lang="en-GB" sz="800"/>
              <a:t>  Orchestrator (hereafter orchestrator) triggers CADDI (* for GRFD1, this step is done within nBIF ) for data ingestion from GRFD.</a:t>
            </a:r>
          </a:p>
          <a:p>
            <a:pPr marL="355600" lvl="1" indent="-174625" algn="just">
              <a:spcBef>
                <a:spcPts val="100"/>
              </a:spcBef>
              <a:spcAft>
                <a:spcPts val="100"/>
              </a:spcAft>
            </a:pPr>
            <a:r>
              <a:rPr lang="en-GB" sz="700">
                <a:solidFill>
                  <a:schemeClr val="tx1"/>
                </a:solidFill>
              </a:rPr>
              <a:t>CADDI acquires data from GRFD and stores as parquet file in CADDI’s staging out (hereafter STO). </a:t>
            </a:r>
          </a:p>
          <a:p>
            <a:pPr marL="180975" indent="-180975" algn="just">
              <a:spcBef>
                <a:spcPts val="100"/>
              </a:spcBef>
              <a:spcAft>
                <a:spcPts val="100"/>
              </a:spcAft>
              <a:buFont typeface="+mj-lt"/>
              <a:buAutoNum type="alphaUcPeriod"/>
            </a:pPr>
            <a:r>
              <a:rPr lang="en-GB" sz="800"/>
              <a:t>Orchestrator starts data ingestion workflow,</a:t>
            </a:r>
          </a:p>
          <a:p>
            <a:pPr marL="361950" lvl="1" indent="-184150" algn="just">
              <a:spcBef>
                <a:spcPts val="100"/>
              </a:spcBef>
              <a:spcAft>
                <a:spcPts val="100"/>
              </a:spcAft>
            </a:pPr>
            <a:r>
              <a:rPr lang="en-GB" sz="700">
                <a:solidFill>
                  <a:schemeClr val="tx1"/>
                </a:solidFill>
              </a:rPr>
              <a:t>Data is loaded from CADDI’s STO to </a:t>
            </a:r>
            <a:r>
              <a:rPr lang="en-GB" sz="700" err="1">
                <a:solidFill>
                  <a:schemeClr val="tx1"/>
                </a:solidFill>
              </a:rPr>
              <a:t>nBIF’s</a:t>
            </a:r>
            <a:r>
              <a:rPr lang="en-GB" sz="700">
                <a:solidFill>
                  <a:schemeClr val="tx1"/>
                </a:solidFill>
              </a:rPr>
              <a:t> staging datastore</a:t>
            </a:r>
          </a:p>
          <a:p>
            <a:pPr marL="361950" lvl="1" indent="-184150" algn="just">
              <a:spcBef>
                <a:spcPts val="100"/>
              </a:spcBef>
              <a:spcAft>
                <a:spcPts val="100"/>
              </a:spcAft>
            </a:pPr>
            <a:r>
              <a:rPr lang="en-GB" sz="700">
                <a:solidFill>
                  <a:schemeClr val="tx1"/>
                </a:solidFill>
              </a:rPr>
              <a:t>[Optional] Data is validated using Inspection module. (not applicable for GRFD1)</a:t>
            </a:r>
          </a:p>
          <a:p>
            <a:pPr marL="182563" indent="-182563" algn="just">
              <a:spcBef>
                <a:spcPts val="100"/>
              </a:spcBef>
              <a:spcAft>
                <a:spcPts val="100"/>
              </a:spcAft>
              <a:buFont typeface="+mj-lt"/>
              <a:buAutoNum type="alphaUcPeriod"/>
            </a:pPr>
            <a:r>
              <a:rPr lang="en-GB" sz="800"/>
              <a:t>Orchestrator triggers Model Input data prep workflow</a:t>
            </a:r>
          </a:p>
          <a:p>
            <a:pPr marL="358775" lvl="1" indent="-176213" algn="just">
              <a:spcBef>
                <a:spcPts val="100"/>
              </a:spcBef>
              <a:spcAft>
                <a:spcPts val="100"/>
              </a:spcAft>
            </a:pPr>
            <a:r>
              <a:rPr lang="en-GB" sz="700">
                <a:solidFill>
                  <a:schemeClr val="tx1"/>
                </a:solidFill>
              </a:rPr>
              <a:t>For first model, IRB, data ingested from GRFD will only undergo minor data preparation.</a:t>
            </a:r>
          </a:p>
          <a:p>
            <a:pPr marL="358775" lvl="1" indent="-176213" algn="just">
              <a:spcBef>
                <a:spcPts val="100"/>
              </a:spcBef>
              <a:spcAft>
                <a:spcPts val="100"/>
              </a:spcAft>
            </a:pPr>
            <a:r>
              <a:rPr lang="en-GB" sz="700">
                <a:solidFill>
                  <a:schemeClr val="tx1"/>
                </a:solidFill>
              </a:rPr>
              <a:t>For subsequent calculators (e.g., RWA) the data ingested from GRFD is combined with outcomes of preceding calculators (e.g., IRB). Transformations are done wherever needed.</a:t>
            </a:r>
          </a:p>
          <a:p>
            <a:pPr marL="182563" indent="-182563" algn="just">
              <a:spcBef>
                <a:spcPts val="100"/>
              </a:spcBef>
              <a:spcAft>
                <a:spcPts val="100"/>
              </a:spcAft>
              <a:buFont typeface="+mj-lt"/>
              <a:buAutoNum type="alphaUcPeriod"/>
            </a:pPr>
            <a:r>
              <a:rPr lang="en-GB" sz="800"/>
              <a:t>Orchestrator triggers the calculator through CAScade API with all run parameters </a:t>
            </a:r>
          </a:p>
          <a:p>
            <a:pPr marL="358775" lvl="1" indent="-176213" algn="just">
              <a:spcBef>
                <a:spcPts val="100"/>
              </a:spcBef>
              <a:spcAft>
                <a:spcPts val="100"/>
              </a:spcAft>
            </a:pPr>
            <a:r>
              <a:rPr lang="en-GB" sz="700">
                <a:solidFill>
                  <a:schemeClr val="tx1"/>
                </a:solidFill>
              </a:rPr>
              <a:t>Model Calculator reads input data from </a:t>
            </a:r>
            <a:r>
              <a:rPr lang="en-IN" sz="700">
                <a:solidFill>
                  <a:schemeClr val="tx1"/>
                </a:solidFill>
              </a:rPr>
              <a:t>Calculator </a:t>
            </a:r>
            <a:r>
              <a:rPr lang="en-GB" sz="700">
                <a:solidFill>
                  <a:schemeClr val="tx1"/>
                </a:solidFill>
              </a:rPr>
              <a:t>data store of the Model factory</a:t>
            </a:r>
          </a:p>
          <a:p>
            <a:pPr marL="574775" lvl="2" indent="-176213" algn="just">
              <a:spcBef>
                <a:spcPts val="100"/>
              </a:spcBef>
              <a:spcAft>
                <a:spcPts val="100"/>
              </a:spcAft>
            </a:pPr>
            <a:r>
              <a:rPr lang="en-GB" sz="500">
                <a:solidFill>
                  <a:schemeClr val="tx1"/>
                </a:solidFill>
              </a:rPr>
              <a:t>Common data store may also be used for few inputs. It is not shown for simplicity.</a:t>
            </a:r>
          </a:p>
          <a:p>
            <a:pPr marL="358775" lvl="1" indent="-176213" algn="just">
              <a:spcBef>
                <a:spcPts val="100"/>
              </a:spcBef>
              <a:spcAft>
                <a:spcPts val="100"/>
              </a:spcAft>
            </a:pPr>
            <a:r>
              <a:rPr lang="en-GB" sz="700">
                <a:solidFill>
                  <a:schemeClr val="tx1"/>
                </a:solidFill>
              </a:rPr>
              <a:t>Model calculator writes results to the </a:t>
            </a:r>
            <a:r>
              <a:rPr lang="en-IN" sz="700">
                <a:solidFill>
                  <a:schemeClr val="tx1"/>
                </a:solidFill>
              </a:rPr>
              <a:t>result </a:t>
            </a:r>
            <a:r>
              <a:rPr lang="en-GB" sz="700">
                <a:solidFill>
                  <a:schemeClr val="tx1"/>
                </a:solidFill>
              </a:rPr>
              <a:t>datastore of the Model factory.</a:t>
            </a:r>
          </a:p>
          <a:p>
            <a:pPr marL="182563" indent="-182563" algn="just">
              <a:spcBef>
                <a:spcPts val="100"/>
              </a:spcBef>
              <a:spcAft>
                <a:spcPts val="100"/>
              </a:spcAft>
              <a:buFont typeface="+mj-lt"/>
              <a:buAutoNum type="alphaUcPeriod"/>
            </a:pPr>
            <a:r>
              <a:rPr lang="en-GB" sz="800"/>
              <a:t>[Optional] Orchestrator notifies business user to start Inspection &amp; sign-off</a:t>
            </a:r>
          </a:p>
          <a:p>
            <a:pPr marL="358775" lvl="1" indent="-176213" algn="just">
              <a:spcBef>
                <a:spcPts val="100"/>
              </a:spcBef>
              <a:spcAft>
                <a:spcPts val="100"/>
              </a:spcAft>
            </a:pPr>
            <a:r>
              <a:rPr lang="en-GB" sz="700">
                <a:solidFill>
                  <a:schemeClr val="tx1"/>
                </a:solidFill>
              </a:rPr>
              <a:t>Business user analyses Inputs, output and intermediates using plausibility report &amp; </a:t>
            </a:r>
          </a:p>
          <a:p>
            <a:pPr marL="574775" lvl="2" indent="-176213" algn="just">
              <a:spcBef>
                <a:spcPts val="100"/>
              </a:spcBef>
              <a:spcAft>
                <a:spcPts val="100"/>
              </a:spcAft>
            </a:pPr>
            <a:r>
              <a:rPr lang="en-GB" sz="500">
                <a:solidFill>
                  <a:schemeClr val="tx1"/>
                </a:solidFill>
              </a:rPr>
              <a:t>If needed, Business user perform corrections/overrides to the calculation results.</a:t>
            </a:r>
          </a:p>
          <a:p>
            <a:pPr marL="182563" indent="-182563" algn="just">
              <a:spcBef>
                <a:spcPts val="100"/>
              </a:spcBef>
              <a:spcAft>
                <a:spcPts val="100"/>
              </a:spcAft>
              <a:buFont typeface="+mj-lt"/>
              <a:buAutoNum type="alphaUcPeriod"/>
            </a:pPr>
            <a:r>
              <a:rPr lang="en-GB" sz="800"/>
              <a:t>When model result is signed-off, model result is persisted</a:t>
            </a:r>
          </a:p>
          <a:p>
            <a:pPr marL="358775" lvl="1" indent="-176213" algn="just">
              <a:spcBef>
                <a:spcPts val="100"/>
              </a:spcBef>
              <a:spcAft>
                <a:spcPts val="100"/>
              </a:spcAft>
            </a:pPr>
            <a:r>
              <a:rPr lang="en-GB" sz="700">
                <a:solidFill>
                  <a:schemeClr val="tx1"/>
                </a:solidFill>
              </a:rPr>
              <a:t>Model result is copied to “Validated risk metrics store” which stores 1 year history of data. </a:t>
            </a:r>
            <a:endParaRPr lang="en-GB" sz="500">
              <a:solidFill>
                <a:schemeClr val="tx1"/>
              </a:solidFill>
            </a:endParaRPr>
          </a:p>
          <a:p>
            <a:pPr marL="0" indent="0" algn="just">
              <a:spcBef>
                <a:spcPts val="100"/>
              </a:spcBef>
              <a:spcAft>
                <a:spcPts val="100"/>
              </a:spcAft>
              <a:buFont typeface="Lucida Grande"/>
              <a:buNone/>
            </a:pPr>
            <a:r>
              <a:rPr lang="en-GB" sz="800" b="1" i="1">
                <a:solidFill>
                  <a:schemeClr val="tx2"/>
                </a:solidFill>
              </a:rPr>
              <a:t>Orchestrator repeats step D to step G for each subsequent model in </a:t>
            </a:r>
            <a:r>
              <a:rPr lang="en-IN" sz="800" b="1" i="1">
                <a:solidFill>
                  <a:schemeClr val="tx2"/>
                </a:solidFill>
              </a:rPr>
              <a:t>n-Bridge</a:t>
            </a:r>
            <a:r>
              <a:rPr lang="en-GB" sz="800" b="1" i="1">
                <a:solidFill>
                  <a:schemeClr val="tx2"/>
                </a:solidFill>
              </a:rPr>
              <a:t>.</a:t>
            </a:r>
          </a:p>
          <a:p>
            <a:pPr marL="0" indent="0" algn="just">
              <a:spcBef>
                <a:spcPts val="100"/>
              </a:spcBef>
              <a:spcAft>
                <a:spcPts val="100"/>
              </a:spcAft>
              <a:buFont typeface="Lucida Grande"/>
              <a:buNone/>
            </a:pPr>
            <a:r>
              <a:rPr lang="en-GB" sz="800" b="1" i="1">
                <a:solidFill>
                  <a:schemeClr val="tx2"/>
                </a:solidFill>
              </a:rPr>
              <a:t>The two bridges ST baseline &amp; RAROC can run in parallel. For them, orchestrator will execute parallel set of step D to step G.</a:t>
            </a:r>
            <a:endParaRPr lang="en-GB" sz="800" b="1" i="1"/>
          </a:p>
          <a:p>
            <a:pPr marL="228600" indent="-228600" algn="just">
              <a:spcBef>
                <a:spcPts val="100"/>
              </a:spcBef>
              <a:spcAft>
                <a:spcPts val="100"/>
              </a:spcAft>
              <a:buFont typeface="+mj-lt"/>
              <a:buAutoNum type="alphaUcPeriod" startAt="8"/>
            </a:pPr>
            <a:r>
              <a:rPr lang="en-GB" sz="800"/>
              <a:t>Orchestrator initiates transfer of credit risk parameters to the </a:t>
            </a:r>
            <a:r>
              <a:rPr lang="en-IN" sz="800"/>
              <a:t>nBIF</a:t>
            </a:r>
            <a:r>
              <a:rPr lang="en-GB" sz="800"/>
              <a:t> consumers.</a:t>
            </a:r>
          </a:p>
          <a:p>
            <a:pPr marL="355600" lvl="1" indent="-174625" algn="just">
              <a:spcBef>
                <a:spcPts val="100"/>
              </a:spcBef>
              <a:spcAft>
                <a:spcPts val="100"/>
              </a:spcAft>
            </a:pPr>
            <a:r>
              <a:rPr lang="en-GB" sz="700">
                <a:solidFill>
                  <a:schemeClr val="tx1"/>
                </a:solidFill>
              </a:rPr>
              <a:t>CRPR</a:t>
            </a:r>
          </a:p>
          <a:p>
            <a:pPr marL="355600" lvl="1" indent="-174625" algn="just">
              <a:spcBef>
                <a:spcPts val="100"/>
              </a:spcBef>
              <a:spcAft>
                <a:spcPts val="100"/>
              </a:spcAft>
            </a:pPr>
            <a:r>
              <a:rPr lang="en-GB" sz="700">
                <a:solidFill>
                  <a:schemeClr val="tx1"/>
                </a:solidFill>
              </a:rPr>
              <a:t>CFO Hub</a:t>
            </a:r>
          </a:p>
          <a:p>
            <a:pPr marL="355600" lvl="1" indent="-174625" algn="just">
              <a:spcBef>
                <a:spcPts val="100"/>
              </a:spcBef>
              <a:spcAft>
                <a:spcPts val="100"/>
              </a:spcAft>
            </a:pPr>
            <a:r>
              <a:rPr lang="en-GB" sz="700">
                <a:solidFill>
                  <a:schemeClr val="tx1"/>
                </a:solidFill>
              </a:rPr>
              <a:t>MM Store (Indicative) </a:t>
            </a:r>
          </a:p>
          <a:p>
            <a:pPr marL="180975" indent="-180975" algn="just">
              <a:spcBef>
                <a:spcPts val="100"/>
              </a:spcBef>
              <a:spcAft>
                <a:spcPts val="100"/>
              </a:spcAft>
              <a:buFont typeface="+mj-lt"/>
              <a:buAutoNum type="alphaUcPeriod" startAt="8"/>
            </a:pPr>
            <a:endParaRPr lang="en-GB" sz="800"/>
          </a:p>
          <a:p>
            <a:pPr marL="0" indent="0" algn="just">
              <a:spcBef>
                <a:spcPts val="100"/>
              </a:spcBef>
              <a:spcAft>
                <a:spcPts val="100"/>
              </a:spcAft>
              <a:buNone/>
            </a:pPr>
            <a:r>
              <a:rPr lang="en-GB" sz="800"/>
              <a:t>[Separate subsequent process outside scope of nBIF] CRPR sends its results to CFO Hub. &amp; GRFD ingests model calculated results from CFO Hub</a:t>
            </a:r>
          </a:p>
        </p:txBody>
      </p:sp>
      <p:sp>
        <p:nvSpPr>
          <p:cNvPr id="14" name="Left Bracket 13">
            <a:extLst>
              <a:ext uri="{FF2B5EF4-FFF2-40B4-BE49-F238E27FC236}">
                <a16:creationId xmlns:a16="http://schemas.microsoft.com/office/drawing/2014/main" id="{BFBAFA50-0CEC-CD12-E783-FDEED6545877}"/>
              </a:ext>
            </a:extLst>
          </p:cNvPr>
          <p:cNvSpPr/>
          <p:nvPr/>
        </p:nvSpPr>
        <p:spPr>
          <a:xfrm>
            <a:off x="4508186" y="1736343"/>
            <a:ext cx="295275" cy="1666852"/>
          </a:xfrm>
          <a:prstGeom prst="leftBracket">
            <a:avLst>
              <a:gd name="adj" fmla="val 4273"/>
            </a:avLst>
          </a:prstGeom>
          <a:ln w="12700" cap="rnd">
            <a:tailEnd type="none"/>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Left Bracket 14">
            <a:extLst>
              <a:ext uri="{FF2B5EF4-FFF2-40B4-BE49-F238E27FC236}">
                <a16:creationId xmlns:a16="http://schemas.microsoft.com/office/drawing/2014/main" id="{984B0807-7C6C-D19B-4001-FE8CABFE6155}"/>
              </a:ext>
            </a:extLst>
          </p:cNvPr>
          <p:cNvSpPr/>
          <p:nvPr/>
        </p:nvSpPr>
        <p:spPr>
          <a:xfrm flipH="1">
            <a:off x="8595504" y="1735284"/>
            <a:ext cx="307179" cy="1667910"/>
          </a:xfrm>
          <a:prstGeom prst="leftBracket">
            <a:avLst>
              <a:gd name="adj" fmla="val 4902"/>
            </a:avLst>
          </a:prstGeom>
          <a:ln w="12700" cap="rnd">
            <a:tailEnd type="none"/>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69843343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E329B6-0962-2BAA-57F8-78DC65CA39CB}"/>
              </a:ext>
            </a:extLst>
          </p:cNvPr>
          <p:cNvSpPr/>
          <p:nvPr/>
        </p:nvSpPr>
        <p:spPr>
          <a:xfrm>
            <a:off x="506732" y="573314"/>
            <a:ext cx="4297498" cy="3987970"/>
          </a:xfrm>
          <a:prstGeom prst="rect">
            <a:avLst/>
          </a:prstGeom>
          <a:solidFill>
            <a:srgbClr val="EAEAEA"/>
          </a:solidFill>
          <a:ln w="12700" cap="rnd" cmpd="sng" algn="ctr">
            <a:solidFill>
              <a:srgbClr val="EAEAEA"/>
            </a:solidFill>
            <a:prstDash val="solid"/>
          </a:ln>
          <a:effectLst/>
        </p:spPr>
        <p:txBody>
          <a:bodyPr rtlCol="0" anchor="t"/>
          <a:lstStyle/>
          <a:p>
            <a:pPr marL="0" marR="0" lvl="0" indent="0" defTabSz="456999" rtl="0" eaLnBrk="1" fontAlgn="auto" latinLnBrk="0" hangingPunct="1">
              <a:lnSpc>
                <a:spcPct val="100000"/>
              </a:lnSpc>
              <a:spcBef>
                <a:spcPts val="0"/>
              </a:spcBef>
              <a:spcAft>
                <a:spcPts val="0"/>
              </a:spcAft>
              <a:buClrTx/>
              <a:buSzTx/>
              <a:buFontTx/>
              <a:buNone/>
              <a:tabLst/>
              <a:defRPr/>
            </a:pPr>
            <a:r>
              <a:rPr kumimoji="0" lang="en-IN" sz="1000" b="1" i="0" u="sng" strike="noStrike" kern="1200" cap="none" spc="0" normalizeH="0" baseline="0" noProof="0">
                <a:ln>
                  <a:noFill/>
                </a:ln>
                <a:solidFill>
                  <a:prstClr val="black"/>
                </a:solidFill>
                <a:effectLst/>
                <a:uLnTx/>
                <a:uFillTx/>
                <a:latin typeface="Corbel"/>
                <a:ea typeface="+mn-ea"/>
                <a:cs typeface="+mn-cs"/>
              </a:rPr>
              <a:t>Generic Data Ingestion Pattern</a:t>
            </a:r>
            <a:r>
              <a:rPr kumimoji="0" lang="en-IN" sz="1000" b="1" i="0" strike="noStrike" kern="1200" cap="none" spc="0" normalizeH="0" baseline="0" noProof="0">
                <a:ln>
                  <a:noFill/>
                </a:ln>
                <a:solidFill>
                  <a:prstClr val="black"/>
                </a:solidFill>
                <a:effectLst/>
                <a:uLnTx/>
                <a:uFillTx/>
                <a:latin typeface="Corbel"/>
                <a:ea typeface="+mn-ea"/>
                <a:cs typeface="+mn-cs"/>
              </a:rPr>
              <a:t>: When entire data is sourced from GRFD at runtime exclusively for the calling nBIF instance:  </a:t>
            </a:r>
            <a:endParaRPr kumimoji="0" lang="LID4096" sz="1000" b="1" i="0" strike="noStrike" kern="1200" cap="none" spc="0" normalizeH="0" baseline="0" noProof="0">
              <a:ln>
                <a:noFill/>
              </a:ln>
              <a:solidFill>
                <a:prstClr val="black"/>
              </a:solidFill>
              <a:effectLst/>
              <a:uLnTx/>
              <a:uFillTx/>
              <a:latin typeface="Corbel"/>
              <a:ea typeface="+mn-ea"/>
              <a:cs typeface="+mn-cs"/>
            </a:endParaRPr>
          </a:p>
          <a:p>
            <a:pPr algn="ctr"/>
            <a:endParaRPr lang="LID4096" sz="1200" b="1" u="sng">
              <a:solidFill>
                <a:srgbClr val="5E6A71"/>
              </a:solidFill>
              <a:latin typeface="+mj-lt"/>
            </a:endParaRPr>
          </a:p>
        </p:txBody>
      </p:sp>
      <p:sp>
        <p:nvSpPr>
          <p:cNvPr id="6" name="Title 5"/>
          <p:cNvSpPr>
            <a:spLocks noGrp="1"/>
          </p:cNvSpPr>
          <p:nvPr>
            <p:ph type="title"/>
          </p:nvPr>
        </p:nvSpPr>
        <p:spPr>
          <a:xfrm>
            <a:off x="475814" y="-68673"/>
            <a:ext cx="7464026" cy="685932"/>
          </a:xfrm>
        </p:spPr>
        <p:txBody>
          <a:bodyPr/>
          <a:lstStyle/>
          <a:p>
            <a:r>
              <a:rPr lang="en-GB"/>
              <a:t>5.5 nBIF Inbound Data Flow-Deep dive</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6" name="Tijdelijke aanduiding voor tekst 15"/>
          <p:cNvSpPr>
            <a:spLocks noGrp="1"/>
          </p:cNvSpPr>
          <p:nvPr>
            <p:ph type="body" sz="quarter" idx="13"/>
          </p:nvPr>
        </p:nvSpPr>
        <p:spPr>
          <a:xfrm>
            <a:off x="506730" y="4785153"/>
            <a:ext cx="7804150" cy="204787"/>
          </a:xfrm>
        </p:spPr>
        <p:txBody>
          <a:bodyPr/>
          <a:lstStyle/>
          <a:p>
            <a:r>
              <a:rPr lang="nl-NL"/>
              <a:t> </a:t>
            </a:r>
          </a:p>
        </p:txBody>
      </p:sp>
      <p:sp>
        <p:nvSpPr>
          <p:cNvPr id="10"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14" name="Rectangle 13">
            <a:extLst>
              <a:ext uri="{FF2B5EF4-FFF2-40B4-BE49-F238E27FC236}">
                <a16:creationId xmlns:a16="http://schemas.microsoft.com/office/drawing/2014/main" id="{C130B955-641C-2931-0BBF-06E3254A0704}"/>
              </a:ext>
            </a:extLst>
          </p:cNvPr>
          <p:cNvSpPr/>
          <p:nvPr/>
        </p:nvSpPr>
        <p:spPr>
          <a:xfrm>
            <a:off x="501555" y="3293466"/>
            <a:ext cx="4297499" cy="1165350"/>
          </a:xfrm>
          <a:prstGeom prst="rect">
            <a:avLst/>
          </a:prstGeom>
          <a:solidFill>
            <a:srgbClr val="EAEAEA"/>
          </a:solidFill>
          <a:ln w="12700" cap="rnd" cmpd="sng" algn="ctr">
            <a:solidFill>
              <a:srgbClr val="EAEAEA"/>
            </a:solidFill>
            <a:prstDash val="solid"/>
          </a:ln>
          <a:effectLst/>
        </p:spPr>
        <p:txBody>
          <a:bodyPr rtlCol="0" anchor="ctr"/>
          <a:lstStyle/>
          <a:p>
            <a:r>
              <a:rPr lang="en-IN" sz="700"/>
              <a:t>A. nBIF API is called to do an n-bridge run. It is the responsibility of the caller  to invoke when data is available in GRFD.</a:t>
            </a:r>
          </a:p>
          <a:p>
            <a:r>
              <a:rPr lang="en-IN" sz="700"/>
              <a:t>B. IF GRFD2 is the data provider: nBIF triggers CADDI’s API with the SQL location to be used to extract the data</a:t>
            </a:r>
          </a:p>
          <a:p>
            <a:r>
              <a:rPr lang="en-IN" sz="700"/>
              <a:t>	B1. CADDI reads SQL</a:t>
            </a:r>
          </a:p>
          <a:p>
            <a:r>
              <a:rPr lang="en-IN" sz="700"/>
              <a:t>	B2. Acquire data from GRFD </a:t>
            </a:r>
          </a:p>
          <a:p>
            <a:r>
              <a:rPr lang="en-IN" sz="700"/>
              <a:t>	B3. Stores it into CADDIs landing zone (ADLS) in parquet format.</a:t>
            </a:r>
          </a:p>
          <a:p>
            <a:r>
              <a:rPr lang="en-IN" sz="700"/>
              <a:t>	B4. CADDI calls the </a:t>
            </a:r>
            <a:r>
              <a:rPr lang="en-IN" sz="700" err="1"/>
              <a:t>callback</a:t>
            </a:r>
            <a:r>
              <a:rPr lang="en-IN" sz="700"/>
              <a:t> API of nBIF.</a:t>
            </a:r>
          </a:p>
          <a:p>
            <a:r>
              <a:rPr lang="en-IN" sz="700"/>
              <a:t>B. IF GRFD1 is the data provider: Steps B1 to B4 remain exactly the same but they are executed by  nBIF itself.</a:t>
            </a:r>
          </a:p>
          <a:p>
            <a:r>
              <a:rPr lang="en-IN" sz="700"/>
              <a:t>C. nBIF runs its data logistics job to load parquet file into SQL Tables of staging database.</a:t>
            </a:r>
          </a:p>
        </p:txBody>
      </p:sp>
      <p:sp>
        <p:nvSpPr>
          <p:cNvPr id="35" name="TextBox 34">
            <a:extLst>
              <a:ext uri="{FF2B5EF4-FFF2-40B4-BE49-F238E27FC236}">
                <a16:creationId xmlns:a16="http://schemas.microsoft.com/office/drawing/2014/main" id="{B23564A5-9E91-9A6F-1533-A87FB88CEED7}"/>
              </a:ext>
            </a:extLst>
          </p:cNvPr>
          <p:cNvSpPr txBox="1"/>
          <p:nvPr/>
        </p:nvSpPr>
        <p:spPr>
          <a:xfrm>
            <a:off x="475814" y="4668202"/>
            <a:ext cx="8326873" cy="215444"/>
          </a:xfrm>
          <a:prstGeom prst="rect">
            <a:avLst/>
          </a:prstGeom>
          <a:noFill/>
          <a:ln w="12700">
            <a:noFill/>
          </a:ln>
        </p:spPr>
        <p:txBody>
          <a:bodyPr wrap="square">
            <a:spAutoFit/>
          </a:bodyPr>
          <a:lstStyle/>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0" i="0" u="none" strike="noStrike" kern="1200" cap="none" spc="0" normalizeH="0" baseline="0" noProof="0">
                <a:ln>
                  <a:noFill/>
                </a:ln>
                <a:solidFill>
                  <a:prstClr val="black"/>
                </a:solidFill>
                <a:effectLst/>
                <a:uLnTx/>
                <a:uFillTx/>
                <a:latin typeface="Corbel"/>
                <a:ea typeface="+mn-ea"/>
              </a:rPr>
              <a:t>#Note- These diagrams extend the numbering used in “</a:t>
            </a:r>
            <a:r>
              <a:rPr kumimoji="0" lang="en-GB" sz="800" b="0" i="0" u="none" strike="noStrike" kern="1200" cap="none" spc="0" normalizeH="0" baseline="0" noProof="0">
                <a:ln>
                  <a:noFill/>
                </a:ln>
                <a:solidFill>
                  <a:prstClr val="black"/>
                </a:solidFill>
                <a:effectLst/>
                <a:uLnTx/>
                <a:uFillTx/>
                <a:latin typeface="Corbel"/>
                <a:ea typeface="+mn-ea"/>
                <a:hlinkClick r:id="rId4" action="ppaction://hlinksldjump"/>
              </a:rPr>
              <a:t>nBIF collaboration view</a:t>
            </a:r>
            <a:r>
              <a:rPr kumimoji="0" lang="en-GB" sz="800" b="0" i="0" u="none" strike="noStrike" kern="1200" cap="none" spc="0" normalizeH="0" baseline="0" noProof="0">
                <a:ln>
                  <a:noFill/>
                </a:ln>
                <a:solidFill>
                  <a:prstClr val="black"/>
                </a:solidFill>
                <a:effectLst/>
                <a:uLnTx/>
                <a:uFillTx/>
                <a:latin typeface="Corbel"/>
                <a:ea typeface="+mn-ea"/>
              </a:rPr>
              <a:t>”.</a:t>
            </a:r>
          </a:p>
        </p:txBody>
      </p:sp>
      <p:sp>
        <p:nvSpPr>
          <p:cNvPr id="15" name="Rectangle 14">
            <a:extLst>
              <a:ext uri="{FF2B5EF4-FFF2-40B4-BE49-F238E27FC236}">
                <a16:creationId xmlns:a16="http://schemas.microsoft.com/office/drawing/2014/main" id="{1DA46F41-049D-8C54-D27D-9956751136FD}"/>
              </a:ext>
            </a:extLst>
          </p:cNvPr>
          <p:cNvSpPr/>
          <p:nvPr/>
        </p:nvSpPr>
        <p:spPr>
          <a:xfrm>
            <a:off x="5025337" y="573314"/>
            <a:ext cx="3886434" cy="3987970"/>
          </a:xfrm>
          <a:prstGeom prst="rect">
            <a:avLst/>
          </a:prstGeom>
          <a:solidFill>
            <a:srgbClr val="EAEAEA"/>
          </a:solidFill>
          <a:ln w="12700" cap="rnd" cmpd="sng" algn="ctr">
            <a:solidFill>
              <a:srgbClr val="EAEAEA"/>
            </a:solidFill>
            <a:prstDash val="solid"/>
          </a:ln>
          <a:effectLst/>
        </p:spPr>
        <p:txBody>
          <a:bodyPr rtlCol="0" anchor="t"/>
          <a:lstStyle/>
          <a:p>
            <a:pPr algn="ctr"/>
            <a:r>
              <a:rPr lang="en-US" sz="1000" b="1" u="sng">
                <a:solidFill>
                  <a:prstClr val="black"/>
                </a:solidFill>
                <a:latin typeface="Corbel"/>
              </a:rPr>
              <a:t>Special Data Ingestion Patterns</a:t>
            </a:r>
          </a:p>
          <a:p>
            <a:endParaRPr lang="en-IN" sz="800"/>
          </a:p>
          <a:p>
            <a:pPr marL="228600" indent="-228600">
              <a:buAutoNum type="arabicPeriod"/>
            </a:pPr>
            <a:r>
              <a:rPr lang="en-US" sz="800" b="1"/>
              <a:t>When a dataset is shared by multiple portfolios (multiple nBIF instances)</a:t>
            </a:r>
          </a:p>
          <a:p>
            <a:pPr marL="355600" indent="-174625">
              <a:buFont typeface="Arial" panose="020B0604020202020204" pitchFamily="34" charset="0"/>
              <a:buChar char="•"/>
            </a:pPr>
            <a:r>
              <a:rPr lang="en-IN" sz="800"/>
              <a:t>A co-ordination must be established among portfolios, so that only one nBIF instance is responsible to execute sourcing of shared dataset.</a:t>
            </a:r>
            <a:endParaRPr lang="en-US" sz="800" b="1"/>
          </a:p>
          <a:p>
            <a:pPr marL="180975" indent="-180975"/>
            <a:r>
              <a:rPr lang="en-US" sz="800" b="1" i="1"/>
              <a:t>	1.1 When the data provider is GRFD</a:t>
            </a:r>
          </a:p>
          <a:p>
            <a:pPr marL="355600"/>
            <a:r>
              <a:rPr lang="en-IN" sz="800" u="sng"/>
              <a:t>1.1.1 Transaction &amp; Balance data :</a:t>
            </a:r>
          </a:p>
          <a:p>
            <a:pPr marL="623888" lvl="1" indent="-174625">
              <a:buFont typeface="Arial" panose="020B0604020202020204" pitchFamily="34" charset="0"/>
              <a:buChar char="•"/>
            </a:pPr>
            <a:r>
              <a:rPr lang="en-IN" sz="800"/>
              <a:t>CADDI itself will maintain the SQL and it will acquire &amp; store this data in parquet format without waiting on the trigger from nBIF.</a:t>
            </a:r>
          </a:p>
          <a:p>
            <a:pPr marL="623888" lvl="1" indent="-174625">
              <a:buFont typeface="Arial" panose="020B0604020202020204" pitchFamily="34" charset="0"/>
              <a:buChar char="•"/>
            </a:pPr>
            <a:r>
              <a:rPr lang="en-IN" sz="800"/>
              <a:t>So next to step C1,  nBIF orchestrator will also initiate a parallel data copy step C2 which will copy Transaction &amp; balance data from CADDI.</a:t>
            </a:r>
          </a:p>
          <a:p>
            <a:pPr marL="623888" lvl="1" indent="-174625">
              <a:buFont typeface="Arial" panose="020B0604020202020204" pitchFamily="34" charset="0"/>
              <a:buChar char="•"/>
            </a:pPr>
            <a:r>
              <a:rPr lang="en-IN" sz="800"/>
              <a:t>This data is used by multiple portfolios, it shall be stored within common data cache. This mean C2 will copy this data to nBIF common data cache.</a:t>
            </a:r>
          </a:p>
          <a:p>
            <a:pPr marL="536575" indent="-180975"/>
            <a:r>
              <a:rPr lang="en-US" sz="800" u="sng"/>
              <a:t>1.1.2 Any other data</a:t>
            </a:r>
          </a:p>
          <a:p>
            <a:pPr marL="623888" indent="-174625">
              <a:buFont typeface="Arial" panose="020B0604020202020204" pitchFamily="34" charset="0"/>
              <a:buChar char="•"/>
            </a:pPr>
            <a:r>
              <a:rPr lang="en-US" sz="800"/>
              <a:t>In this situation, the only change to the generic data ingestion pattern will be in step C1, which will point to “common data cache” instead of staging datastore.</a:t>
            </a:r>
          </a:p>
          <a:p>
            <a:pPr marL="274638" indent="-93663"/>
            <a:r>
              <a:rPr lang="en-US" sz="800" b="1" i="1"/>
              <a:t>1.2 When the  data provider is non-GRFD (for ex. Meister)</a:t>
            </a:r>
          </a:p>
          <a:p>
            <a:pPr marL="623888" indent="-174625">
              <a:buFont typeface="Arial" panose="020B0604020202020204" pitchFamily="34" charset="0"/>
              <a:buChar char="•"/>
            </a:pPr>
            <a:r>
              <a:rPr lang="en-US" sz="800"/>
              <a:t>CADDI will not be in-between</a:t>
            </a:r>
          </a:p>
          <a:p>
            <a:pPr marL="623888" indent="-174625">
              <a:buFont typeface="Arial" panose="020B0604020202020204" pitchFamily="34" charset="0"/>
              <a:buChar char="•"/>
            </a:pPr>
            <a:r>
              <a:rPr lang="en-US" sz="800"/>
              <a:t>There will be two changes to the generic data ingestion pattern. First change in step B which will directly interface to the data provider and second change in step C1, which will point to “common data cache” instead of staging datastore.</a:t>
            </a:r>
          </a:p>
          <a:p>
            <a:pPr marL="228600" indent="-228600">
              <a:buFont typeface="+mj-lt"/>
              <a:buAutoNum type="arabicPeriod" startAt="2"/>
            </a:pPr>
            <a:r>
              <a:rPr lang="en-US" sz="800" b="1"/>
              <a:t>When a data provider delivers input data (ex </a:t>
            </a:r>
            <a:r>
              <a:rPr lang="en-US" sz="800" b="1" err="1"/>
              <a:t>Obvion</a:t>
            </a:r>
            <a:r>
              <a:rPr lang="en-US" sz="800" b="1"/>
              <a:t>) in file format</a:t>
            </a:r>
          </a:p>
          <a:p>
            <a:pPr marL="685599" lvl="1" indent="-228600">
              <a:buFont typeface="Arial" panose="020B0604020202020204" pitchFamily="34" charset="0"/>
              <a:buChar char="•"/>
            </a:pPr>
            <a:r>
              <a:rPr lang="en-US" sz="800"/>
              <a:t>The data shall be delivered to </a:t>
            </a:r>
            <a:r>
              <a:rPr lang="en-US" sz="800" err="1"/>
              <a:t>nBIFs</a:t>
            </a:r>
            <a:r>
              <a:rPr lang="en-US" sz="800"/>
              <a:t> landing zone as parquet file.</a:t>
            </a:r>
          </a:p>
          <a:p>
            <a:pPr marL="685599" lvl="1" indent="-228600">
              <a:buFont typeface="Arial" panose="020B0604020202020204" pitchFamily="34" charset="0"/>
              <a:buChar char="•"/>
            </a:pPr>
            <a:r>
              <a:rPr lang="en-US" sz="800"/>
              <a:t>For </a:t>
            </a:r>
            <a:r>
              <a:rPr lang="en-US" sz="800" err="1"/>
              <a:t>SoX</a:t>
            </a:r>
            <a:r>
              <a:rPr lang="en-US" sz="800"/>
              <a:t> compliancy, a trigger shall also be delivered containing checksum of each data file.</a:t>
            </a:r>
          </a:p>
          <a:p>
            <a:pPr marL="228600" indent="-228600">
              <a:buFont typeface="+mj-lt"/>
              <a:buAutoNum type="arabicPeriod" startAt="2"/>
            </a:pPr>
            <a:r>
              <a:rPr lang="en-US" sz="800" b="1"/>
              <a:t>when input data is sourced partly from GRFD1 &amp; partly from GRFD2.</a:t>
            </a:r>
          </a:p>
          <a:p>
            <a:pPr marL="623888" lvl="1" indent="-174625">
              <a:buFont typeface="Arial" panose="020B0604020202020204" pitchFamily="34" charset="0"/>
              <a:buChar char="•"/>
            </a:pPr>
            <a:r>
              <a:rPr lang="en-US" sz="800"/>
              <a:t>This situation will occur as GRFD2 matures. To handle it, Step B of each generic data ingestion patterns will be used concurrently.</a:t>
            </a:r>
          </a:p>
        </p:txBody>
      </p:sp>
      <p:pic>
        <p:nvPicPr>
          <p:cNvPr id="18" name="Picture 17">
            <a:extLst>
              <a:ext uri="{FF2B5EF4-FFF2-40B4-BE49-F238E27FC236}">
                <a16:creationId xmlns:a16="http://schemas.microsoft.com/office/drawing/2014/main" id="{B699E357-022F-5319-896F-F2312954CAF6}"/>
              </a:ext>
            </a:extLst>
          </p:cNvPr>
          <p:cNvPicPr>
            <a:picLocks noChangeAspect="1"/>
          </p:cNvPicPr>
          <p:nvPr/>
        </p:nvPicPr>
        <p:blipFill>
          <a:blip r:embed="rId5"/>
          <a:stretch>
            <a:fillRect/>
          </a:stretch>
        </p:blipFill>
        <p:spPr>
          <a:xfrm>
            <a:off x="625665" y="1045616"/>
            <a:ext cx="2047307" cy="2038464"/>
          </a:xfrm>
          <a:prstGeom prst="rect">
            <a:avLst/>
          </a:prstGeom>
        </p:spPr>
      </p:pic>
      <p:pic>
        <p:nvPicPr>
          <p:cNvPr id="21" name="Picture 20">
            <a:extLst>
              <a:ext uri="{FF2B5EF4-FFF2-40B4-BE49-F238E27FC236}">
                <a16:creationId xmlns:a16="http://schemas.microsoft.com/office/drawing/2014/main" id="{D71F53AB-7086-46D3-4F10-F351B55D0E78}"/>
              </a:ext>
            </a:extLst>
          </p:cNvPr>
          <p:cNvPicPr>
            <a:picLocks noChangeAspect="1"/>
          </p:cNvPicPr>
          <p:nvPr/>
        </p:nvPicPr>
        <p:blipFill>
          <a:blip r:embed="rId6"/>
          <a:stretch>
            <a:fillRect/>
          </a:stretch>
        </p:blipFill>
        <p:spPr>
          <a:xfrm>
            <a:off x="2791906" y="1045616"/>
            <a:ext cx="1930854" cy="2013855"/>
          </a:xfrm>
          <a:prstGeom prst="rect">
            <a:avLst/>
          </a:prstGeom>
        </p:spPr>
      </p:pic>
    </p:spTree>
    <p:extLst>
      <p:ext uri="{BB962C8B-B14F-4D97-AF65-F5344CB8AC3E}">
        <p14:creationId xmlns:p14="http://schemas.microsoft.com/office/powerpoint/2010/main" val="29404603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E329B6-0962-2BAA-57F8-78DC65CA39CB}"/>
              </a:ext>
            </a:extLst>
          </p:cNvPr>
          <p:cNvSpPr/>
          <p:nvPr/>
        </p:nvSpPr>
        <p:spPr>
          <a:xfrm>
            <a:off x="506730" y="674986"/>
            <a:ext cx="4210413" cy="3789434"/>
          </a:xfrm>
          <a:prstGeom prst="rect">
            <a:avLst/>
          </a:prstGeom>
          <a:solidFill>
            <a:srgbClr val="EAEAEA"/>
          </a:solidFill>
          <a:ln w="12700" cap="rnd" cmpd="sng" algn="ctr">
            <a:solidFill>
              <a:srgbClr val="EAEAEA"/>
            </a:solidFill>
            <a:prstDash val="solid"/>
          </a:ln>
          <a:effectLst/>
        </p:spPr>
        <p:txBody>
          <a:bodyPr rtlCol="0" anchor="t"/>
          <a:lstStyle/>
          <a:p>
            <a:pPr marL="0" marR="0" lvl="0" indent="0" defTabSz="456999" rtl="0" eaLnBrk="1" fontAlgn="auto" latinLnBrk="0" hangingPunct="1">
              <a:lnSpc>
                <a:spcPct val="100000"/>
              </a:lnSpc>
              <a:spcBef>
                <a:spcPts val="0"/>
              </a:spcBef>
              <a:spcAft>
                <a:spcPts val="0"/>
              </a:spcAft>
              <a:buClrTx/>
              <a:buSzTx/>
              <a:buFontTx/>
              <a:buNone/>
              <a:tabLst/>
              <a:defRPr/>
            </a:pPr>
            <a:r>
              <a:rPr kumimoji="0" lang="en-IN" sz="1000" b="1" i="0" u="sng" strike="noStrike" kern="1200" cap="none" spc="0" normalizeH="0" baseline="0" noProof="0">
                <a:ln>
                  <a:noFill/>
                </a:ln>
                <a:solidFill>
                  <a:prstClr val="black"/>
                </a:solidFill>
                <a:effectLst/>
                <a:uLnTx/>
                <a:uFillTx/>
                <a:latin typeface="Corbel"/>
                <a:ea typeface="+mn-ea"/>
                <a:cs typeface="+mn-cs"/>
              </a:rPr>
              <a:t>Generic Data Delivery Pattern</a:t>
            </a:r>
            <a:r>
              <a:rPr kumimoji="0" lang="en-IN" sz="1000" b="1" i="0" strike="noStrike" kern="1200" cap="none" spc="0" normalizeH="0" baseline="0" noProof="0">
                <a:ln>
                  <a:noFill/>
                </a:ln>
                <a:solidFill>
                  <a:prstClr val="black"/>
                </a:solidFill>
                <a:effectLst/>
                <a:uLnTx/>
                <a:uFillTx/>
                <a:latin typeface="Corbel"/>
                <a:ea typeface="+mn-ea"/>
                <a:cs typeface="+mn-cs"/>
              </a:rPr>
              <a:t>:</a:t>
            </a:r>
            <a:endParaRPr lang="LID4096" sz="1200" b="1" u="sng">
              <a:solidFill>
                <a:srgbClr val="5E6A71"/>
              </a:solidFill>
              <a:latin typeface="+mj-lt"/>
            </a:endParaRPr>
          </a:p>
        </p:txBody>
      </p:sp>
      <p:sp>
        <p:nvSpPr>
          <p:cNvPr id="6" name="Title 5"/>
          <p:cNvSpPr>
            <a:spLocks noGrp="1"/>
          </p:cNvSpPr>
          <p:nvPr>
            <p:ph type="title"/>
          </p:nvPr>
        </p:nvSpPr>
        <p:spPr>
          <a:xfrm>
            <a:off x="475814" y="-68674"/>
            <a:ext cx="7464026" cy="875509"/>
          </a:xfrm>
        </p:spPr>
        <p:txBody>
          <a:bodyPr/>
          <a:lstStyle/>
          <a:p>
            <a:r>
              <a:rPr lang="en-GB"/>
              <a:t>5.6 nBIF Outbound Data Flow-Deep dive</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6" name="Tijdelijke aanduiding voor tekst 15"/>
          <p:cNvSpPr>
            <a:spLocks noGrp="1"/>
          </p:cNvSpPr>
          <p:nvPr>
            <p:ph type="body" sz="quarter" idx="13"/>
          </p:nvPr>
        </p:nvSpPr>
        <p:spPr>
          <a:xfrm>
            <a:off x="506730" y="4785153"/>
            <a:ext cx="7804150" cy="204787"/>
          </a:xfrm>
        </p:spPr>
        <p:txBody>
          <a:bodyPr/>
          <a:lstStyle/>
          <a:p>
            <a:r>
              <a:rPr lang="nl-NL"/>
              <a:t> </a:t>
            </a:r>
          </a:p>
        </p:txBody>
      </p:sp>
      <p:sp>
        <p:nvSpPr>
          <p:cNvPr id="10"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20" name="Rectangle 19">
            <a:extLst>
              <a:ext uri="{FF2B5EF4-FFF2-40B4-BE49-F238E27FC236}">
                <a16:creationId xmlns:a16="http://schemas.microsoft.com/office/drawing/2014/main" id="{3E1377D8-DC2A-296A-B690-2D115B163C0C}"/>
              </a:ext>
            </a:extLst>
          </p:cNvPr>
          <p:cNvSpPr/>
          <p:nvPr/>
        </p:nvSpPr>
        <p:spPr>
          <a:xfrm>
            <a:off x="5268055" y="674985"/>
            <a:ext cx="3354190" cy="3789434"/>
          </a:xfrm>
          <a:prstGeom prst="rect">
            <a:avLst/>
          </a:prstGeom>
          <a:solidFill>
            <a:srgbClr val="EAEAEA"/>
          </a:solidFill>
          <a:ln w="12700" cap="rnd" cmpd="sng" algn="ctr">
            <a:solidFill>
              <a:srgbClr val="EAEAEA"/>
            </a:solidFill>
            <a:prstDash val="solid"/>
          </a:ln>
          <a:effectLst/>
        </p:spPr>
        <p:txBody>
          <a:bodyPr rtlCol="0" anchor="t"/>
          <a:lstStyle/>
          <a:p>
            <a:pPr algn="ctr"/>
            <a:r>
              <a:rPr lang="en-IN" sz="1000" b="1" u="sng"/>
              <a:t>Key principles for data deliveries from nBIF</a:t>
            </a:r>
          </a:p>
          <a:p>
            <a:endParaRPr lang="en-IN" sz="1000" b="1"/>
          </a:p>
          <a:p>
            <a:pPr marL="171450" indent="-171450">
              <a:spcBef>
                <a:spcPts val="300"/>
              </a:spcBef>
              <a:spcAft>
                <a:spcPts val="300"/>
              </a:spcAft>
              <a:buFont typeface="Arial" panose="020B0604020202020204" pitchFamily="34" charset="0"/>
              <a:buChar char="•"/>
            </a:pPr>
            <a:r>
              <a:rPr lang="en-IN" sz="800"/>
              <a:t>All data transfers from nBIF happen from “Validated risk-metric store” which is the data store that holds operational history of results.</a:t>
            </a:r>
          </a:p>
          <a:p>
            <a:pPr marL="171450" indent="-171450">
              <a:spcBef>
                <a:spcPts val="300"/>
              </a:spcBef>
              <a:spcAft>
                <a:spcPts val="300"/>
              </a:spcAft>
              <a:buFont typeface="Arial" panose="020B0604020202020204" pitchFamily="34" charset="0"/>
              <a:buChar char="•"/>
            </a:pPr>
            <a:r>
              <a:rPr lang="en-IN" sz="800"/>
              <a:t>Whenever nBIF delivers data in a file, (currently applicable to CRPR &amp; </a:t>
            </a:r>
            <a:r>
              <a:rPr lang="en-IN" sz="800" err="1"/>
              <a:t>Obvion</a:t>
            </a:r>
            <a:r>
              <a:rPr lang="en-IN" sz="800"/>
              <a:t>)</a:t>
            </a:r>
          </a:p>
          <a:p>
            <a:pPr marL="628449" lvl="1" indent="-171450">
              <a:spcBef>
                <a:spcPts val="300"/>
              </a:spcBef>
              <a:spcAft>
                <a:spcPts val="300"/>
              </a:spcAft>
              <a:buFont typeface="Arial" panose="020B0604020202020204" pitchFamily="34" charset="0"/>
              <a:buChar char="•"/>
            </a:pPr>
            <a:r>
              <a:rPr lang="en-IN" sz="800"/>
              <a:t>nBIF will also deliver an extra file </a:t>
            </a:r>
            <a:r>
              <a:rPr lang="en-US" sz="800"/>
              <a:t>containing checksum of each data file – this is to ensure </a:t>
            </a:r>
            <a:r>
              <a:rPr lang="en-US" sz="800" err="1"/>
              <a:t>SoX</a:t>
            </a:r>
            <a:r>
              <a:rPr lang="en-US" sz="800"/>
              <a:t> compliancy.</a:t>
            </a:r>
          </a:p>
          <a:p>
            <a:pPr marL="628449" lvl="1" indent="-171450">
              <a:spcBef>
                <a:spcPts val="300"/>
              </a:spcBef>
              <a:spcAft>
                <a:spcPts val="300"/>
              </a:spcAft>
              <a:buFont typeface="Arial" panose="020B0604020202020204" pitchFamily="34" charset="0"/>
              <a:buChar char="•"/>
            </a:pPr>
            <a:r>
              <a:rPr lang="en-US" sz="800"/>
              <a:t>This extra file also acts as the trigger or event to the subsequent system to start their process.</a:t>
            </a:r>
          </a:p>
          <a:p>
            <a:pPr marL="628449" lvl="1" indent="-171450">
              <a:spcBef>
                <a:spcPts val="300"/>
              </a:spcBef>
              <a:spcAft>
                <a:spcPts val="300"/>
              </a:spcAft>
              <a:buFont typeface="Arial" panose="020B0604020202020204" pitchFamily="34" charset="0"/>
              <a:buChar char="•"/>
            </a:pPr>
            <a:r>
              <a:rPr lang="en-IN" sz="800"/>
              <a:t>nBIF maintain the history of delivered data files only until the time when next month run happens. </a:t>
            </a:r>
          </a:p>
          <a:p>
            <a:pPr marL="628449" lvl="1" indent="-171450">
              <a:spcBef>
                <a:spcPts val="300"/>
              </a:spcBef>
              <a:spcAft>
                <a:spcPts val="300"/>
              </a:spcAft>
              <a:buFont typeface="Arial" panose="020B0604020202020204" pitchFamily="34" charset="0"/>
              <a:buChar char="•"/>
            </a:pPr>
            <a:r>
              <a:rPr lang="en-IN" sz="800"/>
              <a:t>RFTM is the choice of tool whenever nBIF delivers data in a file to an on-premise system.</a:t>
            </a:r>
          </a:p>
          <a:p>
            <a:pPr marL="171450" indent="-171450">
              <a:spcBef>
                <a:spcPts val="300"/>
              </a:spcBef>
              <a:spcAft>
                <a:spcPts val="300"/>
              </a:spcAft>
              <a:buFont typeface="Arial" panose="020B0604020202020204" pitchFamily="34" charset="0"/>
              <a:buChar char="•"/>
            </a:pPr>
            <a:r>
              <a:rPr lang="en-IN" sz="800"/>
              <a:t>Whenever nBIF write to the database of the data consumer  (currently applicable to CFO Hub)</a:t>
            </a:r>
          </a:p>
          <a:p>
            <a:pPr marL="628449" lvl="1" indent="-171450">
              <a:spcBef>
                <a:spcPts val="300"/>
              </a:spcBef>
              <a:spcAft>
                <a:spcPts val="300"/>
              </a:spcAft>
              <a:buFont typeface="Arial" panose="020B0604020202020204" pitchFamily="34" charset="0"/>
              <a:buChar char="•"/>
            </a:pPr>
            <a:r>
              <a:rPr lang="en-IN" sz="800"/>
              <a:t>The nBIF metadata store captures all necessary logs to ensure </a:t>
            </a:r>
            <a:r>
              <a:rPr lang="en-IN" sz="800" err="1"/>
              <a:t>SoX</a:t>
            </a:r>
            <a:r>
              <a:rPr lang="en-IN" sz="800"/>
              <a:t> compliancy. No additional information is shared with data consumer.</a:t>
            </a:r>
          </a:p>
          <a:p>
            <a:pPr marL="628449" lvl="1" indent="-171450">
              <a:spcBef>
                <a:spcPts val="300"/>
              </a:spcBef>
              <a:spcAft>
                <a:spcPts val="300"/>
              </a:spcAft>
              <a:buFont typeface="Arial" panose="020B0604020202020204" pitchFamily="34" charset="0"/>
              <a:buChar char="•"/>
            </a:pPr>
            <a:r>
              <a:rPr lang="en-IN" sz="800"/>
              <a:t>An API based integration be established to inform the consumer upon successful data write. (for CFO Hub, nBIF will trigger the Rest API of CFOs TWS API).</a:t>
            </a:r>
          </a:p>
          <a:p>
            <a:pPr marL="628449" lvl="1" indent="-171450">
              <a:buFont typeface="Arial" panose="020B0604020202020204" pitchFamily="34" charset="0"/>
              <a:buChar char="•"/>
            </a:pPr>
            <a:endParaRPr lang="en-IN" sz="700"/>
          </a:p>
          <a:p>
            <a:pPr marL="628449" lvl="1" indent="-171450">
              <a:buFont typeface="Arial" panose="020B0604020202020204" pitchFamily="34" charset="0"/>
              <a:buChar char="•"/>
            </a:pPr>
            <a:endParaRPr lang="en-IN" sz="700"/>
          </a:p>
        </p:txBody>
      </p:sp>
      <p:pic>
        <p:nvPicPr>
          <p:cNvPr id="33" name="Picture 32">
            <a:extLst>
              <a:ext uri="{FF2B5EF4-FFF2-40B4-BE49-F238E27FC236}">
                <a16:creationId xmlns:a16="http://schemas.microsoft.com/office/drawing/2014/main" id="{92822B5C-A2EF-DED7-913B-7AC325279953}"/>
              </a:ext>
            </a:extLst>
          </p:cNvPr>
          <p:cNvPicPr>
            <a:picLocks noChangeAspect="1"/>
          </p:cNvPicPr>
          <p:nvPr/>
        </p:nvPicPr>
        <p:blipFill rotWithShape="1">
          <a:blip r:embed="rId4"/>
          <a:srcRect t="10791"/>
          <a:stretch/>
        </p:blipFill>
        <p:spPr>
          <a:xfrm>
            <a:off x="1057641" y="1010785"/>
            <a:ext cx="2919273" cy="2311990"/>
          </a:xfrm>
          <a:prstGeom prst="rect">
            <a:avLst/>
          </a:prstGeom>
        </p:spPr>
      </p:pic>
      <p:sp>
        <p:nvSpPr>
          <p:cNvPr id="35" name="TextBox 34">
            <a:extLst>
              <a:ext uri="{FF2B5EF4-FFF2-40B4-BE49-F238E27FC236}">
                <a16:creationId xmlns:a16="http://schemas.microsoft.com/office/drawing/2014/main" id="{B23564A5-9E91-9A6F-1533-A87FB88CEED7}"/>
              </a:ext>
            </a:extLst>
          </p:cNvPr>
          <p:cNvSpPr txBox="1"/>
          <p:nvPr/>
        </p:nvSpPr>
        <p:spPr>
          <a:xfrm>
            <a:off x="475814" y="4668202"/>
            <a:ext cx="8326873" cy="215444"/>
          </a:xfrm>
          <a:prstGeom prst="rect">
            <a:avLst/>
          </a:prstGeom>
          <a:noFill/>
          <a:ln w="12700">
            <a:noFill/>
          </a:ln>
        </p:spPr>
        <p:txBody>
          <a:bodyPr wrap="square">
            <a:spAutoFit/>
          </a:bodyPr>
          <a:lstStyle/>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0" i="0" u="none" strike="noStrike" kern="1200" cap="none" spc="0" normalizeH="0" baseline="0" noProof="0">
                <a:ln>
                  <a:noFill/>
                </a:ln>
                <a:solidFill>
                  <a:prstClr val="black"/>
                </a:solidFill>
                <a:effectLst/>
                <a:uLnTx/>
                <a:uFillTx/>
                <a:latin typeface="Corbel"/>
                <a:ea typeface="+mn-ea"/>
              </a:rPr>
              <a:t>#Note- These diagrams extend the numbering used in “</a:t>
            </a:r>
            <a:r>
              <a:rPr kumimoji="0" lang="en-GB" sz="800" b="0" i="0" u="none" strike="noStrike" kern="1200" cap="none" spc="0" normalizeH="0" baseline="0" noProof="0">
                <a:ln>
                  <a:noFill/>
                </a:ln>
                <a:solidFill>
                  <a:prstClr val="black"/>
                </a:solidFill>
                <a:effectLst/>
                <a:uLnTx/>
                <a:uFillTx/>
                <a:latin typeface="Corbel"/>
                <a:ea typeface="+mn-ea"/>
                <a:hlinkClick r:id="rId5" action="ppaction://hlinksldjump"/>
              </a:rPr>
              <a:t>nBIF collaboration view</a:t>
            </a:r>
            <a:r>
              <a:rPr kumimoji="0" lang="en-GB" sz="800" b="0" i="0" u="none" strike="noStrike" kern="1200" cap="none" spc="0" normalizeH="0" baseline="0" noProof="0">
                <a:ln>
                  <a:noFill/>
                </a:ln>
                <a:solidFill>
                  <a:prstClr val="black"/>
                </a:solidFill>
                <a:effectLst/>
                <a:uLnTx/>
                <a:uFillTx/>
                <a:latin typeface="Corbel"/>
                <a:ea typeface="+mn-ea"/>
              </a:rPr>
              <a:t>”.</a:t>
            </a:r>
          </a:p>
        </p:txBody>
      </p:sp>
      <p:sp>
        <p:nvSpPr>
          <p:cNvPr id="2" name="Rectangle 1">
            <a:extLst>
              <a:ext uri="{FF2B5EF4-FFF2-40B4-BE49-F238E27FC236}">
                <a16:creationId xmlns:a16="http://schemas.microsoft.com/office/drawing/2014/main" id="{8D769A5B-C00C-B412-9E8C-50609C7B8625}"/>
              </a:ext>
            </a:extLst>
          </p:cNvPr>
          <p:cNvSpPr/>
          <p:nvPr/>
        </p:nvSpPr>
        <p:spPr>
          <a:xfrm>
            <a:off x="703878" y="3357574"/>
            <a:ext cx="3816116" cy="1072046"/>
          </a:xfrm>
          <a:prstGeom prst="rect">
            <a:avLst/>
          </a:prstGeom>
          <a:solidFill>
            <a:srgbClr val="EAEAEA"/>
          </a:solidFill>
          <a:ln w="12700" cap="rnd" cmpd="sng" algn="ctr">
            <a:solidFill>
              <a:srgbClr val="EAEAEA"/>
            </a:solidFill>
            <a:prstDash val="solid"/>
          </a:ln>
          <a:effectLst/>
        </p:spPr>
        <p:txBody>
          <a:bodyPr rtlCol="0" anchor="ctr"/>
          <a:lstStyle/>
          <a:p>
            <a:r>
              <a:rPr lang="en-IN" sz="700"/>
              <a:t>H.     Only upon completion of approved model result inspection, nBIF starts transferring results to its downstream systems.</a:t>
            </a:r>
          </a:p>
          <a:p>
            <a:r>
              <a:rPr lang="en-IN" sz="700"/>
              <a:t>H1.   For CRPR, </a:t>
            </a:r>
          </a:p>
          <a:p>
            <a:pPr marL="628449" lvl="1" indent="-171450">
              <a:buFont typeface="Arial" panose="020B0604020202020204" pitchFamily="34" charset="0"/>
              <a:buChar char="•"/>
            </a:pPr>
            <a:r>
              <a:rPr lang="en-IN" sz="700"/>
              <a:t>nBIF generates one text file per output table containing all the rows of the table in a </a:t>
            </a:r>
            <a:r>
              <a:rPr lang="en-IN" sz="700" err="1"/>
              <a:t>json</a:t>
            </a:r>
            <a:r>
              <a:rPr lang="en-IN" sz="700"/>
              <a:t> format</a:t>
            </a:r>
          </a:p>
          <a:p>
            <a:pPr marL="628449" lvl="1" indent="-171450">
              <a:buFont typeface="Arial" panose="020B0604020202020204" pitchFamily="34" charset="0"/>
              <a:buChar char="•"/>
            </a:pPr>
            <a:r>
              <a:rPr lang="en-IN" sz="700"/>
              <a:t>nBIF transfers these files to CRPRs landing zone on azure (ADLS).</a:t>
            </a:r>
          </a:p>
          <a:p>
            <a:r>
              <a:rPr lang="en-IN" sz="700"/>
              <a:t>H2.   For CFO-Hub,</a:t>
            </a:r>
          </a:p>
          <a:p>
            <a:pPr marL="628449" lvl="1" indent="-171450">
              <a:buFont typeface="Arial" panose="020B0604020202020204" pitchFamily="34" charset="0"/>
              <a:buChar char="•"/>
            </a:pPr>
            <a:r>
              <a:rPr lang="en-IN" sz="700"/>
              <a:t>nBIF directly writes to the CFO-Hub tables using Azure data factory.</a:t>
            </a:r>
          </a:p>
        </p:txBody>
      </p:sp>
    </p:spTree>
    <p:extLst>
      <p:ext uri="{BB962C8B-B14F-4D97-AF65-F5344CB8AC3E}">
        <p14:creationId xmlns:p14="http://schemas.microsoft.com/office/powerpoint/2010/main" val="1281439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700" y="-7395"/>
            <a:ext cx="8086232" cy="605625"/>
          </a:xfrm>
        </p:spPr>
        <p:txBody>
          <a:bodyPr/>
          <a:lstStyle/>
          <a:p>
            <a:r>
              <a:rPr lang="en-GB" sz="2400"/>
              <a:t>5.7 Plausibility support on </a:t>
            </a:r>
            <a:r>
              <a:rPr lang="en-IN" sz="2400"/>
              <a:t>nBIF </a:t>
            </a:r>
            <a:endParaRPr lang="en-GB" sz="2400"/>
          </a:p>
        </p:txBody>
      </p:sp>
      <p:sp>
        <p:nvSpPr>
          <p:cNvPr id="3" name="Slide Number Placeholder 2"/>
          <p:cNvSpPr>
            <a:spLocks noGrp="1"/>
          </p:cNvSpPr>
          <p:nvPr>
            <p:ph type="sldNum" sz="quarter" idx="10"/>
          </p:nvPr>
        </p:nvSpPr>
        <p:spPr>
          <a:xfrm>
            <a:off x="8432122" y="4602319"/>
            <a:ext cx="642937" cy="204788"/>
          </a:xfrm>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4821C4A5-98F2-7545-875B-39B2F4500447}" type="slidenum">
              <a:rPr kumimoji="0" lang="en-GB" sz="1200" b="0" i="0" u="none" strike="noStrike" kern="1200" cap="none" spc="0" normalizeH="0" baseline="0" noProof="0" smtClean="0">
                <a:ln>
                  <a:noFill/>
                </a:ln>
                <a:solidFill>
                  <a:srgbClr val="7F7F7F"/>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srgbClr val="7F7F7F"/>
              </a:solidFill>
              <a:effectLst/>
              <a:uLnTx/>
              <a:uFillTx/>
              <a:latin typeface="Corbel"/>
              <a:ea typeface="+mn-ea"/>
              <a:cs typeface="+mn-cs"/>
            </a:endParaRPr>
          </a:p>
        </p:txBody>
      </p:sp>
      <p:sp>
        <p:nvSpPr>
          <p:cNvPr id="7" name="Rectangle 6"/>
          <p:cNvSpPr/>
          <p:nvPr/>
        </p:nvSpPr>
        <p:spPr>
          <a:xfrm>
            <a:off x="807720" y="438787"/>
            <a:ext cx="7786212" cy="276999"/>
          </a:xfrm>
          <a:prstGeom prst="rect">
            <a:avLst/>
          </a:prstGeom>
        </p:spPr>
        <p:txBody>
          <a:bodyPr wrap="square">
            <a:spAutoFit/>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D6400"/>
                </a:solidFill>
                <a:effectLst/>
                <a:uLnTx/>
                <a:uFillTx/>
                <a:latin typeface="Corbel"/>
                <a:ea typeface="+mn-ea"/>
                <a:cs typeface="+mn-cs"/>
              </a:rPr>
              <a:t>nBIF will provide a structured approach to validate the input data and the model results. </a:t>
            </a:r>
          </a:p>
        </p:txBody>
      </p:sp>
      <p:sp>
        <p:nvSpPr>
          <p:cNvPr id="12"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5. Application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
        <p:nvSpPr>
          <p:cNvPr id="13" name="Content Placeholder 8">
            <a:extLst>
              <a:ext uri="{FF2B5EF4-FFF2-40B4-BE49-F238E27FC236}">
                <a16:creationId xmlns:a16="http://schemas.microsoft.com/office/drawing/2014/main" id="{629AE802-BB0D-7237-8C75-A5DAA65DD125}"/>
              </a:ext>
            </a:extLst>
          </p:cNvPr>
          <p:cNvSpPr txBox="1">
            <a:spLocks/>
          </p:cNvSpPr>
          <p:nvPr/>
        </p:nvSpPr>
        <p:spPr>
          <a:xfrm>
            <a:off x="5067300" y="723181"/>
            <a:ext cx="3670600" cy="4017103"/>
          </a:xfrm>
          <a:prstGeom prst="rect">
            <a:avLst/>
          </a:prstGeom>
          <a:solidFill>
            <a:schemeClr val="bg1">
              <a:lumMod val="95000"/>
            </a:schemeClr>
          </a:solidFill>
          <a:ln>
            <a:solidFill>
              <a:schemeClr val="bg1">
                <a:lumMod val="85000"/>
              </a:schemeClr>
            </a:solidFill>
          </a:ln>
        </p:spPr>
        <p:txBody>
          <a:bodyPr vert="horz" lIns="108000" tIns="45720" rIns="72000" bIns="45720" rtlCol="0">
            <a:noAutofit/>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8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6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4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8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6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0" i="0" u="none" strike="noStrike" kern="1200" cap="none" spc="0" normalizeH="0" baseline="0" noProof="0">
                <a:ln>
                  <a:noFill/>
                </a:ln>
                <a:solidFill>
                  <a:prstClr val="black"/>
                </a:solidFill>
                <a:effectLst/>
                <a:uLnTx/>
                <a:uFillTx/>
                <a:latin typeface="Corbel"/>
                <a:ea typeface="+mn-ea"/>
              </a:rPr>
              <a:t>#Note- This diagram extend the numbering used in “</a:t>
            </a:r>
            <a:r>
              <a:rPr kumimoji="0" lang="en-GB" sz="800" b="0" i="0" u="none" strike="noStrike" kern="1200" cap="none" spc="0" normalizeH="0" baseline="0" noProof="0">
                <a:ln>
                  <a:noFill/>
                </a:ln>
                <a:solidFill>
                  <a:prstClr val="black"/>
                </a:solidFill>
                <a:effectLst/>
                <a:uLnTx/>
                <a:uFillTx/>
                <a:latin typeface="Corbel"/>
                <a:ea typeface="+mn-ea"/>
                <a:hlinkClick r:id="rId4" action="ppaction://hlinksldjump"/>
              </a:rPr>
              <a:t>nBIF collaboration view</a:t>
            </a:r>
            <a:r>
              <a:rPr kumimoji="0" lang="en-GB" sz="800" b="0" i="0" u="none" strike="noStrike" kern="1200" cap="none" spc="0" normalizeH="0" baseline="0" noProof="0">
                <a:ln>
                  <a:noFill/>
                </a:ln>
                <a:solidFill>
                  <a:prstClr val="black"/>
                </a:solidFill>
                <a:effectLst/>
                <a:uLnTx/>
                <a:uFillTx/>
                <a:latin typeface="Corbel"/>
                <a:ea typeface="+mn-ea"/>
              </a:rPr>
              <a:t>”.</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kumimoji="0" lang="en-GB" sz="800" b="0" i="0" u="none" strike="noStrike" kern="1200" cap="none" spc="0" normalizeH="0" baseline="0" noProof="0">
              <a:ln>
                <a:noFill/>
              </a:ln>
              <a:solidFill>
                <a:prstClr val="black"/>
              </a:solidFill>
              <a:effectLst/>
              <a:uLnTx/>
              <a:uFillTx/>
              <a:latin typeface="Corbel"/>
              <a:ea typeface="+mn-ea"/>
            </a:endParaRP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1" i="0" u="sng" strike="noStrike" kern="1200" cap="none" spc="0" normalizeH="0" baseline="0" noProof="0">
                <a:ln>
                  <a:noFill/>
                </a:ln>
                <a:solidFill>
                  <a:prstClr val="black"/>
                </a:solidFill>
                <a:effectLst/>
                <a:uLnTx/>
                <a:uFillTx/>
                <a:latin typeface="Corbel"/>
                <a:ea typeface="+mn-ea"/>
              </a:rPr>
              <a:t>Input Data Plausibility</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kumimoji="0" lang="en-GB" sz="800" b="0" i="0" u="none" strike="noStrike" kern="1200" cap="none" spc="0" normalizeH="0" baseline="0" noProof="0">
              <a:ln>
                <a:noFill/>
              </a:ln>
              <a:solidFill>
                <a:prstClr val="black"/>
              </a:solidFill>
              <a:effectLst/>
              <a:uLnTx/>
              <a:uFillTx/>
              <a:latin typeface="Corbel"/>
              <a:ea typeface="+mn-ea"/>
            </a:endParaRP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0" i="0" u="none" strike="noStrike" kern="1200" cap="none" spc="0" normalizeH="0" baseline="0" noProof="0">
                <a:ln>
                  <a:noFill/>
                </a:ln>
                <a:solidFill>
                  <a:prstClr val="black"/>
                </a:solidFill>
                <a:effectLst/>
                <a:uLnTx/>
                <a:uFillTx/>
                <a:latin typeface="Corbel"/>
                <a:ea typeface="+mn-ea"/>
              </a:rPr>
              <a:t>C1.    </a:t>
            </a:r>
            <a:r>
              <a:rPr lang="en-GB" sz="800">
                <a:solidFill>
                  <a:prstClr val="black"/>
                </a:solidFill>
                <a:latin typeface="Corbel"/>
              </a:rPr>
              <a:t>Input data is ingested to Staging datastore. </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0" i="0" u="none" strike="noStrike" kern="1200" cap="none" spc="0" normalizeH="0" baseline="0" noProof="0">
                <a:ln>
                  <a:noFill/>
                </a:ln>
                <a:solidFill>
                  <a:prstClr val="black"/>
                </a:solidFill>
                <a:effectLst/>
                <a:uLnTx/>
                <a:uFillTx/>
                <a:latin typeface="Corbel"/>
                <a:ea typeface="+mn-ea"/>
              </a:rPr>
              <a:t>C1a.  Input data is aggregated to derive the KPIs/KRIs for trend analysis &amp; stored within Staging datastore</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kumimoji="0" lang="en-GB" sz="800" b="0" i="0" u="none" strike="noStrike" kern="1200" cap="none" spc="0" normalizeH="0" baseline="0" noProof="0">
                <a:ln>
                  <a:noFill/>
                </a:ln>
                <a:solidFill>
                  <a:prstClr val="black"/>
                </a:solidFill>
                <a:effectLst/>
                <a:uLnTx/>
                <a:uFillTx/>
                <a:latin typeface="Corbel"/>
                <a:ea typeface="+mn-ea"/>
              </a:rPr>
              <a:t>C2.  Business user access Plausibility </a:t>
            </a:r>
            <a:r>
              <a:rPr lang="en-GB" sz="800">
                <a:solidFill>
                  <a:prstClr val="black"/>
                </a:solidFill>
                <a:latin typeface="Corbel"/>
              </a:rPr>
              <a:t>report via </a:t>
            </a:r>
            <a:r>
              <a:rPr kumimoji="0" lang="en-GB" sz="800" b="0" i="0" u="none" strike="noStrike" kern="1200" cap="none" spc="0" normalizeH="0" baseline="0" noProof="0">
                <a:ln>
                  <a:noFill/>
                </a:ln>
                <a:solidFill>
                  <a:prstClr val="black"/>
                </a:solidFill>
                <a:effectLst/>
                <a:uLnTx/>
                <a:uFillTx/>
                <a:latin typeface="Corbel"/>
                <a:ea typeface="+mn-ea"/>
              </a:rPr>
              <a:t>inspection module to validate whether Input data is as per expected trend.</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lang="en-GB" sz="800">
                <a:solidFill>
                  <a:prstClr val="black"/>
                </a:solidFill>
                <a:latin typeface="Corbel"/>
              </a:rPr>
              <a:t>C2a. Plausibility report uses the pre-aggregated input data to generate the insights</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lang="en-GB" sz="800">
              <a:solidFill>
                <a:prstClr val="black"/>
              </a:solidFill>
              <a:latin typeface="Corbel"/>
            </a:endParaRPr>
          </a:p>
          <a:p>
            <a:pPr marL="0" indent="0" algn="just">
              <a:spcBef>
                <a:spcPts val="100"/>
              </a:spcBef>
              <a:spcAft>
                <a:spcPts val="100"/>
              </a:spcAft>
              <a:buClr>
                <a:srgbClr val="FD6400"/>
              </a:buClr>
              <a:buNone/>
            </a:pPr>
            <a:r>
              <a:rPr kumimoji="0" lang="en-GB" sz="800" b="1" i="0" u="sng" strike="noStrike" kern="1200" cap="none" spc="0" normalizeH="0" baseline="0" noProof="0">
                <a:ln>
                  <a:noFill/>
                </a:ln>
                <a:solidFill>
                  <a:prstClr val="black"/>
                </a:solidFill>
                <a:effectLst/>
                <a:uLnTx/>
                <a:uFillTx/>
                <a:latin typeface="Corbel"/>
                <a:ea typeface="+mn-ea"/>
              </a:rPr>
              <a:t>Output Data or Model Result Plausibility</a:t>
            </a:r>
          </a:p>
          <a:p>
            <a:pPr marL="0" indent="0" algn="just">
              <a:spcBef>
                <a:spcPts val="100"/>
              </a:spcBef>
              <a:spcAft>
                <a:spcPts val="100"/>
              </a:spcAft>
              <a:buClr>
                <a:srgbClr val="FD6400"/>
              </a:buClr>
              <a:buNone/>
            </a:pPr>
            <a:endParaRPr lang="en-GB" sz="800" b="1" u="sng">
              <a:solidFill>
                <a:prstClr val="black"/>
              </a:solidFill>
              <a:latin typeface="Corbel"/>
            </a:endParaRPr>
          </a:p>
          <a:p>
            <a:pPr marL="0" indent="0" algn="just">
              <a:spcBef>
                <a:spcPts val="100"/>
              </a:spcBef>
              <a:spcAft>
                <a:spcPts val="100"/>
              </a:spcAft>
              <a:buClr>
                <a:srgbClr val="FD6400"/>
              </a:buClr>
              <a:buNone/>
            </a:pPr>
            <a:r>
              <a:rPr lang="en-GB" sz="800">
                <a:solidFill>
                  <a:prstClr val="black"/>
                </a:solidFill>
                <a:latin typeface="Corbel"/>
              </a:rPr>
              <a:t>E2.     Calculator writes its results to the Result Datastore of the respective model factory. Result shall also include all the intermediates required for plausibility. </a:t>
            </a:r>
          </a:p>
          <a:p>
            <a:pPr marL="0" indent="0" algn="just">
              <a:spcBef>
                <a:spcPts val="100"/>
              </a:spcBef>
              <a:spcAft>
                <a:spcPts val="100"/>
              </a:spcAft>
              <a:buClr>
                <a:srgbClr val="FD6400"/>
              </a:buClr>
              <a:buNone/>
            </a:pPr>
            <a:r>
              <a:rPr lang="en-GB" sz="800">
                <a:solidFill>
                  <a:prstClr val="black"/>
                </a:solidFill>
                <a:latin typeface="Corbel"/>
              </a:rPr>
              <a:t>E2</a:t>
            </a:r>
            <a:r>
              <a:rPr kumimoji="0" lang="en-GB" sz="800" b="0" i="0" u="none" strike="noStrike" kern="1200" cap="none" spc="0" normalizeH="0" baseline="0" noProof="0">
                <a:ln>
                  <a:noFill/>
                </a:ln>
                <a:solidFill>
                  <a:prstClr val="black"/>
                </a:solidFill>
                <a:effectLst/>
                <a:uLnTx/>
                <a:uFillTx/>
                <a:latin typeface="Corbel"/>
                <a:ea typeface="+mn-ea"/>
              </a:rPr>
              <a:t>a.       Calculator result is aggregated to derive the KPIs/KRIs for trend analysis &amp; stored within Result datastore</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lang="en-GB" sz="800">
                <a:solidFill>
                  <a:prstClr val="black"/>
                </a:solidFill>
                <a:latin typeface="Corbel"/>
              </a:rPr>
              <a:t>F1</a:t>
            </a:r>
            <a:r>
              <a:rPr kumimoji="0" lang="en-GB" sz="800" b="0" i="0" u="none" strike="noStrike" kern="1200" cap="none" spc="0" normalizeH="0" baseline="0" noProof="0">
                <a:ln>
                  <a:noFill/>
                </a:ln>
                <a:solidFill>
                  <a:prstClr val="black"/>
                </a:solidFill>
                <a:effectLst/>
                <a:uLnTx/>
                <a:uFillTx/>
                <a:latin typeface="Corbel"/>
                <a:ea typeface="+mn-ea"/>
              </a:rPr>
              <a:t>.      Business user access Plausibility </a:t>
            </a:r>
            <a:r>
              <a:rPr lang="en-GB" sz="800">
                <a:solidFill>
                  <a:prstClr val="black"/>
                </a:solidFill>
                <a:latin typeface="Corbel"/>
              </a:rPr>
              <a:t>report via </a:t>
            </a:r>
            <a:r>
              <a:rPr kumimoji="0" lang="en-GB" sz="800" b="0" i="0" u="none" strike="noStrike" kern="1200" cap="none" spc="0" normalizeH="0" baseline="0" noProof="0">
                <a:ln>
                  <a:noFill/>
                </a:ln>
                <a:solidFill>
                  <a:prstClr val="black"/>
                </a:solidFill>
                <a:effectLst/>
                <a:uLnTx/>
                <a:uFillTx/>
                <a:latin typeface="Corbel"/>
                <a:ea typeface="+mn-ea"/>
              </a:rPr>
              <a:t>inspection module to validate whether Model result is as per expectation &amp; within threshold limits.</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lang="en-GB" sz="800">
                <a:solidFill>
                  <a:prstClr val="black"/>
                </a:solidFill>
                <a:latin typeface="Corbel"/>
              </a:rPr>
              <a:t>F1a.    Plausibility report uses the pre-aggregated data of the current run to generate the insights</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r>
              <a:rPr lang="en-GB" sz="800">
                <a:solidFill>
                  <a:prstClr val="black"/>
                </a:solidFill>
                <a:latin typeface="Corbel"/>
              </a:rPr>
              <a:t>F1b.    Plausibility report also uses the pre-aggregated data of the previous approved runs to generate the insights</a:t>
            </a:r>
          </a:p>
          <a:p>
            <a:pPr marL="0" indent="0" algn="just">
              <a:spcBef>
                <a:spcPts val="100"/>
              </a:spcBef>
              <a:spcAft>
                <a:spcPts val="100"/>
              </a:spcAft>
              <a:buClr>
                <a:srgbClr val="FD6400"/>
              </a:buClr>
              <a:buNone/>
            </a:pPr>
            <a:r>
              <a:rPr lang="en-GB" sz="800">
                <a:solidFill>
                  <a:prstClr val="black"/>
                </a:solidFill>
                <a:latin typeface="Corbel"/>
              </a:rPr>
              <a:t>G1.          Upon approval of the current run, The calculator O/P, Intermediates and aggregated calculator O/P is written to “Validated Risk metric store” to support the inspection of subsequent month runs. </a:t>
            </a: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lang="en-GB" sz="800">
              <a:solidFill>
                <a:prstClr val="black"/>
              </a:solidFill>
              <a:latin typeface="Corbel"/>
            </a:endParaRP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lang="en-GB" sz="800">
              <a:solidFill>
                <a:prstClr val="black"/>
              </a:solidFill>
              <a:latin typeface="Corbel"/>
            </a:endParaRP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lang="en-GB" sz="800">
              <a:solidFill>
                <a:prstClr val="black"/>
              </a:solidFill>
              <a:latin typeface="Corbel"/>
            </a:endParaRPr>
          </a:p>
          <a:p>
            <a:pPr marL="0" marR="0" lvl="0" indent="0" algn="just" defTabSz="914400" rtl="0" eaLnBrk="1" fontAlgn="auto" latinLnBrk="0" hangingPunct="1">
              <a:lnSpc>
                <a:spcPct val="100000"/>
              </a:lnSpc>
              <a:spcBef>
                <a:spcPts val="100"/>
              </a:spcBef>
              <a:spcAft>
                <a:spcPts val="100"/>
              </a:spcAft>
              <a:buClr>
                <a:srgbClr val="FD6400"/>
              </a:buClr>
              <a:buSzPct val="90000"/>
              <a:buNone/>
              <a:tabLst/>
              <a:defRPr/>
            </a:pPr>
            <a:endParaRPr kumimoji="0" lang="en-GB" sz="800" b="0" i="0" u="none" strike="noStrike" kern="1200" cap="none" spc="0" normalizeH="0" baseline="0" noProof="0">
              <a:ln>
                <a:noFill/>
              </a:ln>
              <a:solidFill>
                <a:prstClr val="black"/>
              </a:solidFill>
              <a:effectLst/>
              <a:uLnTx/>
              <a:uFillTx/>
              <a:latin typeface="Corbel"/>
              <a:ea typeface="+mn-ea"/>
            </a:endParaRPr>
          </a:p>
        </p:txBody>
      </p:sp>
      <p:pic>
        <p:nvPicPr>
          <p:cNvPr id="6" name="Picture 5">
            <a:extLst>
              <a:ext uri="{FF2B5EF4-FFF2-40B4-BE49-F238E27FC236}">
                <a16:creationId xmlns:a16="http://schemas.microsoft.com/office/drawing/2014/main" id="{4C1390D6-2B0C-949E-6051-6DAEAB461A42}"/>
              </a:ext>
            </a:extLst>
          </p:cNvPr>
          <p:cNvPicPr>
            <a:picLocks noChangeAspect="1"/>
          </p:cNvPicPr>
          <p:nvPr/>
        </p:nvPicPr>
        <p:blipFill>
          <a:blip r:embed="rId5"/>
          <a:stretch>
            <a:fillRect/>
          </a:stretch>
        </p:blipFill>
        <p:spPr>
          <a:xfrm>
            <a:off x="257652" y="692443"/>
            <a:ext cx="4259580" cy="4149833"/>
          </a:xfrm>
          <a:prstGeom prst="rect">
            <a:avLst/>
          </a:prstGeom>
        </p:spPr>
      </p:pic>
    </p:spTree>
    <p:extLst>
      <p:ext uri="{BB962C8B-B14F-4D97-AF65-F5344CB8AC3E}">
        <p14:creationId xmlns:p14="http://schemas.microsoft.com/office/powerpoint/2010/main" val="617283417"/>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5814" y="-68674"/>
            <a:ext cx="8043346" cy="875509"/>
          </a:xfrm>
        </p:spPr>
        <p:txBody>
          <a:bodyPr/>
          <a:lstStyle/>
          <a:p>
            <a:r>
              <a:rPr lang="en-GB" sz="2400"/>
              <a:t>5.8 nBIF  Target Application Architecture 1/2</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6" name="Tijdelijke aanduiding voor tekst 15"/>
          <p:cNvSpPr>
            <a:spLocks noGrp="1"/>
          </p:cNvSpPr>
          <p:nvPr>
            <p:ph type="body" sz="quarter" idx="13"/>
          </p:nvPr>
        </p:nvSpPr>
        <p:spPr>
          <a:xfrm>
            <a:off x="506730" y="4785153"/>
            <a:ext cx="7804150" cy="204787"/>
          </a:xfrm>
        </p:spPr>
        <p:txBody>
          <a:bodyPr/>
          <a:lstStyle/>
          <a:p>
            <a:r>
              <a:rPr lang="nl-NL"/>
              <a:t> </a:t>
            </a:r>
          </a:p>
        </p:txBody>
      </p:sp>
      <p:sp>
        <p:nvSpPr>
          <p:cNvPr id="10"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mc:AlternateContent xmlns:mc="http://schemas.openxmlformats.org/markup-compatibility/2006" xmlns:a14="http://schemas.microsoft.com/office/drawing/2010/main">
        <mc:Choice Requires="a14">
          <p:sp>
            <p:nvSpPr>
              <p:cNvPr id="14" name="Rectangle 13"/>
              <p:cNvSpPr/>
              <p:nvPr/>
            </p:nvSpPr>
            <p:spPr>
              <a:xfrm>
                <a:off x="291664" y="843160"/>
                <a:ext cx="2893523" cy="3891148"/>
              </a:xfrm>
              <a:prstGeom prst="rect">
                <a:avLst/>
              </a:prstGeom>
              <a:solidFill>
                <a:schemeClr val="bg2">
                  <a:lumMod val="90000"/>
                </a:schemeClr>
              </a:solidFill>
              <a:ln>
                <a:solidFill>
                  <a:schemeClr val="tx1"/>
                </a:solidFill>
              </a:ln>
              <a:effectLst>
                <a:outerShdw blurRad="50800" dist="38100" dir="5400000" algn="t" rotWithShape="0">
                  <a:prstClr val="black">
                    <a:alpha val="40000"/>
                  </a:prstClr>
                </a:outerShdw>
              </a:effectLst>
            </p:spPr>
            <p:txBody>
              <a:bodyPr rtlCol="0" anchor="ctr"/>
              <a:lstStyle/>
              <a:p>
                <a:pPr lvl="0">
                  <a:defRPr/>
                </a:pPr>
                <a:r>
                  <a:rPr lang="en-GB" sz="900" u="sng">
                    <a:solidFill>
                      <a:srgbClr val="5E6A71"/>
                    </a:solidFill>
                  </a:rPr>
                  <a:t>In the Target state, </a:t>
                </a:r>
              </a:p>
              <a:p>
                <a:pPr lvl="0">
                  <a:defRPr/>
                </a:pPr>
                <a:endParaRPr lang="en-GB" sz="900">
                  <a:solidFill>
                    <a:srgbClr val="5E6A71"/>
                  </a:solidFill>
                </a:endParaRPr>
              </a:p>
              <a:p>
                <a:pPr lvl="0">
                  <a:defRPr/>
                </a:pPr>
                <a:r>
                  <a:rPr lang="en-GB" sz="900">
                    <a:solidFill>
                      <a:srgbClr val="5E6A71"/>
                    </a:solidFill>
                  </a:rPr>
                  <a:t>Every portfolio will have one nBIF  instance to do their monthly n-Bridge run.</a:t>
                </a:r>
              </a:p>
              <a:p>
                <a:pPr lvl="0">
                  <a:defRPr/>
                </a:pPr>
                <a:endParaRPr lang="en-GB" sz="900">
                  <a:solidFill>
                    <a:srgbClr val="5E6A71"/>
                  </a:solidFill>
                </a:endParaRPr>
              </a:p>
              <a:p>
                <a:pPr lvl="0">
                  <a:defRPr/>
                </a:pPr>
                <a:r>
                  <a:rPr lang="en-GB" sz="900">
                    <a:solidFill>
                      <a:srgbClr val="5E6A71"/>
                    </a:solidFill>
                  </a:rPr>
                  <a:t>There will be additional nBIF instances for a portfolio to support other business needs like ad-hoc production runs or Impact analysis runs. </a:t>
                </a:r>
              </a:p>
              <a:p>
                <a:pPr lvl="0">
                  <a:defRPr/>
                </a:pPr>
                <a:endParaRPr lang="en-GB" sz="900">
                  <a:solidFill>
                    <a:srgbClr val="5E6A71"/>
                  </a:solidFill>
                  <a:cs typeface="Calibri" panose="020F0502020204030204" pitchFamily="34" charset="0"/>
                </a:endParaRPr>
              </a:p>
              <a:p>
                <a:pPr lvl="0">
                  <a:defRPr/>
                </a:pPr>
                <a:r>
                  <a:rPr lang="en-GB" sz="900">
                    <a:solidFill>
                      <a:srgbClr val="5E6A71"/>
                    </a:solidFill>
                    <a:cs typeface="Calibri" panose="020F0502020204030204" pitchFamily="34" charset="0"/>
                  </a:rPr>
                  <a:t>The </a:t>
                </a:r>
                <a14:m>
                  <m:oMath xmlns:m="http://schemas.openxmlformats.org/officeDocument/2006/math">
                    <m:r>
                      <a:rPr lang="en-GB" sz="900">
                        <a:solidFill>
                          <a:srgbClr val="5E6A71"/>
                        </a:solidFill>
                        <a:latin typeface="Cambria Math" panose="02040503050406030204" pitchFamily="18" charset="0"/>
                        <a:cs typeface="Calibri" panose="020F0502020204030204" pitchFamily="34" charset="0"/>
                      </a:rPr>
                      <m:t>𝑛𝐵𝐼𝐹</m:t>
                    </m:r>
                  </m:oMath>
                </a14:m>
                <a:r>
                  <a:rPr lang="en-GB" sz="700">
                    <a:solidFill>
                      <a:prstClr val="black"/>
                    </a:solidFill>
                    <a:latin typeface="Calibri" panose="020F0502020204030204" pitchFamily="34" charset="0"/>
                    <a:cs typeface="Calibri" panose="020F0502020204030204" pitchFamily="34" charset="0"/>
                  </a:rPr>
                  <a:t> </a:t>
                </a:r>
                <a:r>
                  <a:rPr lang="en-GB" sz="900">
                    <a:solidFill>
                      <a:srgbClr val="5E6A71"/>
                    </a:solidFill>
                  </a:rPr>
                  <a:t>and the model calculators (on CAS platform) and Macro-economic-scenario data (Meister) and behavioural RDDs (complex risk drivers) and CRPR (Credit Risk Parameter Register) will be co-located on Azure cloud. </a:t>
                </a:r>
              </a:p>
              <a:p>
                <a:pPr lvl="0">
                  <a:defRPr/>
                </a:pPr>
                <a:endParaRPr lang="en-GB" sz="900">
                  <a:solidFill>
                    <a:srgbClr val="5E6A71"/>
                  </a:solidFill>
                </a:endParaRPr>
              </a:p>
              <a:p>
                <a:pPr lvl="0">
                  <a:defRPr/>
                </a:pPr>
                <a:r>
                  <a:rPr lang="en-GB" sz="900">
                    <a:solidFill>
                      <a:srgbClr val="5E6A71"/>
                    </a:solidFill>
                  </a:rPr>
                  <a:t>Every model in the chain will be developed/redeveloped such that they can be executed for individual portfolio.</a:t>
                </a:r>
              </a:p>
              <a:p>
                <a:pPr lvl="0">
                  <a:defRPr/>
                </a:pPr>
                <a:endParaRPr lang="en-GB" sz="900">
                  <a:solidFill>
                    <a:srgbClr val="5E6A71"/>
                  </a:solidFill>
                </a:endParaRPr>
              </a:p>
              <a:p>
                <a:pPr lvl="0">
                  <a:defRPr/>
                </a:pPr>
                <a:r>
                  <a:rPr lang="en-GB" sz="900" b="1">
                    <a:solidFill>
                      <a:srgbClr val="5E6A71"/>
                    </a:solidFill>
                  </a:rPr>
                  <a:t>nBIF instances for ad-hoc run </a:t>
                </a:r>
                <a:r>
                  <a:rPr lang="en-GB" sz="900">
                    <a:solidFill>
                      <a:srgbClr val="5E6A71"/>
                    </a:solidFill>
                  </a:rPr>
                  <a:t>will also have exactly the same application architecture as that of monthly run instances. They will differ in the sense that there will be multiple flexibility in these instances  and the run will be configurable through nBIF ad-hoc run console . </a:t>
                </a:r>
              </a:p>
              <a:p>
                <a:pPr lvl="0">
                  <a:defRPr/>
                </a:pPr>
                <a:endParaRPr lang="en-GB" sz="900">
                  <a:solidFill>
                    <a:srgbClr val="5E6A71"/>
                  </a:solidFill>
                </a:endParaRPr>
              </a:p>
              <a:p>
                <a:pPr lvl="0">
                  <a:defRPr/>
                </a:pPr>
                <a:r>
                  <a:rPr lang="en-GB" sz="900">
                    <a:solidFill>
                      <a:srgbClr val="5E6A71"/>
                    </a:solidFill>
                  </a:rPr>
                  <a:t>In intermediate situation, Stress testing ad-hoc run will continue to be supported via </a:t>
                </a:r>
                <a:r>
                  <a:rPr lang="en-GB" sz="900" err="1">
                    <a:solidFill>
                      <a:srgbClr val="5E6A71"/>
                    </a:solidFill>
                  </a:rPr>
                  <a:t>STApp</a:t>
                </a:r>
                <a:r>
                  <a:rPr lang="en-GB" sz="900">
                    <a:solidFill>
                      <a:srgbClr val="5E6A71"/>
                    </a:solidFill>
                  </a:rPr>
                  <a:t>. </a:t>
                </a:r>
              </a:p>
            </p:txBody>
          </p:sp>
        </mc:Choice>
        <mc:Fallback xmlns="">
          <p:sp>
            <p:nvSpPr>
              <p:cNvPr id="14" name="Rectangle 13"/>
              <p:cNvSpPr>
                <a:spLocks noRot="1" noChangeAspect="1" noMove="1" noResize="1" noEditPoints="1" noAdjustHandles="1" noChangeArrowheads="1" noChangeShapeType="1" noTextEdit="1"/>
              </p:cNvSpPr>
              <p:nvPr/>
            </p:nvSpPr>
            <p:spPr>
              <a:xfrm>
                <a:off x="291664" y="843160"/>
                <a:ext cx="2893523" cy="3891148"/>
              </a:xfrm>
              <a:prstGeom prst="rect">
                <a:avLst/>
              </a:prstGeom>
              <a:blipFill>
                <a:blip r:embed="rId4"/>
                <a:stretch>
                  <a:fillRect/>
                </a:stretch>
              </a:blipFill>
              <a:ln>
                <a:solidFill>
                  <a:schemeClr val="tx1"/>
                </a:solidFill>
              </a:ln>
              <a:effectLst>
                <a:outerShdw blurRad="50800" dist="38100" dir="5400000" algn="t" rotWithShape="0">
                  <a:prstClr val="black">
                    <a:alpha val="40000"/>
                  </a:prstClr>
                </a:outerShdw>
              </a:effectLst>
            </p:spPr>
            <p:txBody>
              <a:bodyPr/>
              <a:lstStyle/>
              <a:p>
                <a:r>
                  <a:rPr lang="en-US">
                    <a:noFill/>
                  </a:rPr>
                  <a:t> </a:t>
                </a:r>
              </a:p>
            </p:txBody>
          </p:sp>
        </mc:Fallback>
      </mc:AlternateContent>
      <p:sp>
        <p:nvSpPr>
          <p:cNvPr id="13" name="Rectangle 12">
            <a:extLst>
              <a:ext uri="{FF2B5EF4-FFF2-40B4-BE49-F238E27FC236}">
                <a16:creationId xmlns:a16="http://schemas.microsoft.com/office/drawing/2014/main" id="{75670ACE-A739-E4D7-8E6F-4A71B0226C79}"/>
              </a:ext>
            </a:extLst>
          </p:cNvPr>
          <p:cNvSpPr/>
          <p:nvPr/>
        </p:nvSpPr>
        <p:spPr>
          <a:xfrm>
            <a:off x="873334" y="492742"/>
            <a:ext cx="7786212" cy="276999"/>
          </a:xfrm>
          <a:prstGeom prst="rect">
            <a:avLst/>
          </a:prstGeom>
        </p:spPr>
        <p:txBody>
          <a:bodyPr wrap="square">
            <a:spAutoFit/>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1200">
                <a:solidFill>
                  <a:srgbClr val="FD6400"/>
                </a:solidFill>
                <a:latin typeface="Corbel"/>
              </a:rPr>
              <a:t>End-to-End n-Bridge implementation for a portfolio </a:t>
            </a:r>
          </a:p>
        </p:txBody>
      </p:sp>
      <p:pic>
        <p:nvPicPr>
          <p:cNvPr id="7" name="Picture 6">
            <a:extLst>
              <a:ext uri="{FF2B5EF4-FFF2-40B4-BE49-F238E27FC236}">
                <a16:creationId xmlns:a16="http://schemas.microsoft.com/office/drawing/2014/main" id="{C7D37744-14F8-A00E-EAC6-0CDE2CBEDEE6}"/>
              </a:ext>
            </a:extLst>
          </p:cNvPr>
          <p:cNvPicPr>
            <a:picLocks noChangeAspect="1"/>
          </p:cNvPicPr>
          <p:nvPr/>
        </p:nvPicPr>
        <p:blipFill>
          <a:blip r:embed="rId5"/>
          <a:stretch>
            <a:fillRect/>
          </a:stretch>
        </p:blipFill>
        <p:spPr>
          <a:xfrm>
            <a:off x="3307400" y="825296"/>
            <a:ext cx="5352146" cy="3915874"/>
          </a:xfrm>
          <a:prstGeom prst="rect">
            <a:avLst/>
          </a:prstGeom>
        </p:spPr>
      </p:pic>
    </p:spTree>
    <p:extLst>
      <p:ext uri="{BB962C8B-B14F-4D97-AF65-F5344CB8AC3E}">
        <p14:creationId xmlns:p14="http://schemas.microsoft.com/office/powerpoint/2010/main" val="4124856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sz="2400"/>
              <a:t>5.8 Data flow numbers declared 2/2 </a:t>
            </a:r>
          </a:p>
        </p:txBody>
      </p:sp>
      <p:sp>
        <p:nvSpPr>
          <p:cNvPr id="4" name="Slide Number Placeholder 3"/>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6" name="Tijdelijke aanduiding voor tekst 5"/>
          <p:cNvSpPr>
            <a:spLocks noGrp="1"/>
          </p:cNvSpPr>
          <p:nvPr>
            <p:ph type="body" sz="quarter" idx="15"/>
          </p:nvPr>
        </p:nvSpPr>
        <p:spPr/>
        <p:txBody>
          <a:bodyPr/>
          <a:lstStyle/>
          <a:p>
            <a:r>
              <a:rPr lang="nl-NL"/>
              <a:t> </a:t>
            </a:r>
          </a:p>
        </p:txBody>
      </p:sp>
      <p:graphicFrame>
        <p:nvGraphicFramePr>
          <p:cNvPr id="9" name="Tabel 8"/>
          <p:cNvGraphicFramePr>
            <a:graphicFrameLocks noGrp="1"/>
          </p:cNvGraphicFramePr>
          <p:nvPr>
            <p:extLst>
              <p:ext uri="{D42A27DB-BD31-4B8C-83A1-F6EECF244321}">
                <p14:modId xmlns:p14="http://schemas.microsoft.com/office/powerpoint/2010/main" val="588428711"/>
              </p:ext>
            </p:extLst>
          </p:nvPr>
        </p:nvGraphicFramePr>
        <p:xfrm>
          <a:off x="455774" y="749159"/>
          <a:ext cx="7808558" cy="3808423"/>
        </p:xfrm>
        <a:graphic>
          <a:graphicData uri="http://schemas.openxmlformats.org/drawingml/2006/table">
            <a:tbl>
              <a:tblPr firstRow="1" bandRow="1">
                <a:tableStyleId>{17292A2E-F333-43FB-9621-5CBBE7FDCDCB}</a:tableStyleId>
              </a:tblPr>
              <a:tblGrid>
                <a:gridCol w="285115">
                  <a:extLst>
                    <a:ext uri="{9D8B030D-6E8A-4147-A177-3AD203B41FA5}">
                      <a16:colId xmlns:a16="http://schemas.microsoft.com/office/drawing/2014/main" val="20000"/>
                    </a:ext>
                  </a:extLst>
                </a:gridCol>
                <a:gridCol w="653571">
                  <a:extLst>
                    <a:ext uri="{9D8B030D-6E8A-4147-A177-3AD203B41FA5}">
                      <a16:colId xmlns:a16="http://schemas.microsoft.com/office/drawing/2014/main" val="20001"/>
                    </a:ext>
                  </a:extLst>
                </a:gridCol>
                <a:gridCol w="1401042">
                  <a:extLst>
                    <a:ext uri="{9D8B030D-6E8A-4147-A177-3AD203B41FA5}">
                      <a16:colId xmlns:a16="http://schemas.microsoft.com/office/drawing/2014/main" val="20002"/>
                    </a:ext>
                  </a:extLst>
                </a:gridCol>
                <a:gridCol w="3795078">
                  <a:extLst>
                    <a:ext uri="{9D8B030D-6E8A-4147-A177-3AD203B41FA5}">
                      <a16:colId xmlns:a16="http://schemas.microsoft.com/office/drawing/2014/main" val="20003"/>
                    </a:ext>
                  </a:extLst>
                </a:gridCol>
                <a:gridCol w="1673752">
                  <a:extLst>
                    <a:ext uri="{9D8B030D-6E8A-4147-A177-3AD203B41FA5}">
                      <a16:colId xmlns:a16="http://schemas.microsoft.com/office/drawing/2014/main" val="20004"/>
                    </a:ext>
                  </a:extLst>
                </a:gridCol>
              </a:tblGrid>
              <a:tr h="251504">
                <a:tc>
                  <a:txBody>
                    <a:bodyPr/>
                    <a:lstStyle/>
                    <a:p>
                      <a:pPr algn="l" fontAlgn="b"/>
                      <a:r>
                        <a:rPr lang="en-US" sz="1150" i="1" u="none" strike="noStrike" noProof="0">
                          <a:solidFill>
                            <a:schemeClr val="tx1"/>
                          </a:solidFill>
                          <a:effectLst/>
                        </a:rPr>
                        <a:t>Id.</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kumimoji="0" lang="en-US" sz="1100" b="1" i="1" u="none" strike="noStrike" kern="1200" cap="none" normalizeH="0" baseline="0">
                          <a:ln>
                            <a:noFill/>
                          </a:ln>
                          <a:solidFill>
                            <a:schemeClr val="tx1"/>
                          </a:solidFill>
                          <a:effectLst/>
                          <a:latin typeface="+mn-lt"/>
                          <a:ea typeface="+mn-ea"/>
                          <a:cs typeface="+mn-cs"/>
                        </a:rPr>
                        <a:t>source</a:t>
                      </a:r>
                      <a:endParaRPr lang="en-US" sz="11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100" b="1" i="1" u="none" strike="noStrike" noProof="0">
                          <a:solidFill>
                            <a:schemeClr val="tx1"/>
                          </a:solidFill>
                          <a:effectLst/>
                          <a:latin typeface="+mn-lt"/>
                        </a:rPr>
                        <a:t>target</a:t>
                      </a:r>
                      <a:endParaRPr lang="en-US" sz="11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150" b="1" i="1" u="none" strike="noStrike" noProof="0">
                          <a:solidFill>
                            <a:schemeClr val="tx1"/>
                          </a:solidFill>
                          <a:effectLst/>
                          <a:latin typeface="+mn-lt"/>
                        </a:rPr>
                        <a:t>Description of data</a:t>
                      </a:r>
                      <a:endParaRPr lang="en-US" sz="115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150" b="1" i="1" u="none" strike="noStrike" noProof="0">
                          <a:solidFill>
                            <a:schemeClr val="tx1"/>
                          </a:solidFill>
                          <a:effectLst/>
                          <a:latin typeface="+mn-lt"/>
                        </a:rPr>
                        <a:t>Change</a:t>
                      </a:r>
                      <a:endParaRPr lang="en-US" sz="115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1</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CFO Hub</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GRFD</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Data </a:t>
                      </a:r>
                      <a:r>
                        <a:rPr lang="nl-NL" sz="800" b="0" i="0" err="1"/>
                        <a:t>Sourcing</a:t>
                      </a:r>
                      <a:r>
                        <a:rPr lang="nl-NL" sz="800" b="0" i="0"/>
                        <a:t> </a:t>
                      </a:r>
                      <a:r>
                        <a:rPr lang="nl-NL" sz="800" b="0" i="0" err="1"/>
                        <a:t>from</a:t>
                      </a:r>
                      <a:r>
                        <a:rPr lang="nl-NL" sz="800" b="0" i="0"/>
                        <a:t> golden sources to Risk &amp; Finance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err="1">
                          <a:ln>
                            <a:noFill/>
                          </a:ln>
                          <a:solidFill>
                            <a:prstClr val="black"/>
                          </a:solidFill>
                          <a:effectLst/>
                          <a:uLnTx/>
                          <a:uFillTx/>
                          <a:latin typeface="Corbel"/>
                          <a:ea typeface="+mn-ea"/>
                          <a:cs typeface="+mn-cs"/>
                        </a:rPr>
                        <a:t>Existing</a:t>
                      </a:r>
                      <a:endParaRPr kumimoji="0" lang="nl-NL" sz="800" b="0" i="0" u="none" strike="noStrike" kern="1200" cap="none" spc="0" normalizeH="0" baseline="0" noProof="0">
                        <a:ln>
                          <a:noFill/>
                        </a:ln>
                        <a:solidFill>
                          <a:prstClr val="black"/>
                        </a:solidFill>
                        <a:effectLst/>
                        <a:uLnTx/>
                        <a:uFillTx/>
                        <a:latin typeface="Corbel"/>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2</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GRFD</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CEE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Input data to </a:t>
                      </a:r>
                      <a:r>
                        <a:rPr lang="nl-NL" sz="800" b="0" i="0" err="1"/>
                        <a:t>calculate</a:t>
                      </a:r>
                      <a:r>
                        <a:rPr lang="nl-NL" sz="800" b="0" i="0"/>
                        <a:t> </a:t>
                      </a:r>
                      <a:r>
                        <a:rPr lang="nl-NL" sz="800" b="0" i="0" err="1"/>
                        <a:t>Collateral</a:t>
                      </a:r>
                      <a:r>
                        <a:rPr lang="nl-NL" sz="800" b="0" i="0"/>
                        <a:t> </a:t>
                      </a:r>
                      <a:r>
                        <a:rPr lang="nl-NL" sz="800" b="0" i="0" err="1"/>
                        <a:t>Eligibility</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Corbel"/>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3</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CEE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CRPR</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err="1"/>
                        <a:t>Result</a:t>
                      </a:r>
                      <a:r>
                        <a:rPr lang="nl-NL" sz="800" b="0" i="0"/>
                        <a:t> of </a:t>
                      </a:r>
                      <a:r>
                        <a:rPr lang="nl-NL" sz="800" b="0" i="0" err="1"/>
                        <a:t>Collateral</a:t>
                      </a:r>
                      <a:r>
                        <a:rPr lang="nl-NL" sz="800" b="0" i="0"/>
                        <a:t> </a:t>
                      </a:r>
                      <a:r>
                        <a:rPr lang="nl-NL" sz="800" b="0" i="0" err="1"/>
                        <a:t>Eligibility</a:t>
                      </a:r>
                      <a:r>
                        <a:rPr lang="nl-NL" sz="800" b="0" i="0"/>
                        <a:t> engine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endParaRPr kumimoji="0" lang="nl-NL" sz="800" b="0" i="0" u="none" strike="noStrike" kern="1200" cap="none" spc="0" normalizeH="0" baseline="0" noProof="0">
                        <a:ln>
                          <a:noFill/>
                        </a:ln>
                        <a:solidFill>
                          <a:prstClr val="black"/>
                        </a:solidFill>
                        <a:effectLst/>
                        <a:uLnTx/>
                        <a:uFillTx/>
                        <a:latin typeface="Corbel"/>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0253034"/>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4</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CRPR</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CDM</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err="1"/>
                        <a:t>Result</a:t>
                      </a:r>
                      <a:r>
                        <a:rPr lang="nl-NL" sz="800" b="0" i="0"/>
                        <a:t> of </a:t>
                      </a:r>
                      <a:r>
                        <a:rPr lang="nl-NL" sz="800" b="0" i="0" err="1"/>
                        <a:t>Collateral</a:t>
                      </a:r>
                      <a:r>
                        <a:rPr lang="nl-NL" sz="800" b="0" i="0"/>
                        <a:t> </a:t>
                      </a:r>
                      <a:r>
                        <a:rPr lang="nl-NL" sz="800" b="0" i="0" err="1"/>
                        <a:t>Eligibility</a:t>
                      </a:r>
                      <a:r>
                        <a:rPr lang="nl-NL" sz="800" b="0" i="0"/>
                        <a:t> engine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endParaRPr kumimoji="0" lang="nl-NL" sz="800" b="0" i="0" u="none" strike="noStrike" kern="1200" cap="none" spc="0" normalizeH="0" baseline="0" noProof="0">
                        <a:ln>
                          <a:noFill/>
                        </a:ln>
                        <a:solidFill>
                          <a:prstClr val="black"/>
                        </a:solidFill>
                        <a:effectLst/>
                        <a:uLnTx/>
                        <a:uFillTx/>
                        <a:latin typeface="Corbel"/>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7782726"/>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5</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CDM</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CFO Hub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err="1"/>
                        <a:t>Result</a:t>
                      </a:r>
                      <a:r>
                        <a:rPr lang="nl-NL" sz="800" b="0" i="0"/>
                        <a:t> of </a:t>
                      </a:r>
                      <a:r>
                        <a:rPr lang="nl-NL" sz="800" b="0" i="0" err="1"/>
                        <a:t>Collateral</a:t>
                      </a:r>
                      <a:r>
                        <a:rPr lang="nl-NL" sz="800" b="0" i="0"/>
                        <a:t> </a:t>
                      </a:r>
                      <a:r>
                        <a:rPr lang="nl-NL" sz="800" b="0" i="0" err="1"/>
                        <a:t>Eligibility</a:t>
                      </a:r>
                      <a:r>
                        <a:rPr lang="nl-NL" sz="800" b="0" i="0"/>
                        <a:t> engine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175042"/>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6</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CFO Hub</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GRFD</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err="1"/>
                        <a:t>Result</a:t>
                      </a:r>
                      <a:r>
                        <a:rPr lang="nl-NL" sz="800" b="0" i="0"/>
                        <a:t> of </a:t>
                      </a:r>
                      <a:r>
                        <a:rPr lang="nl-NL" sz="800" b="0" i="0" err="1"/>
                        <a:t>Collateral</a:t>
                      </a:r>
                      <a:r>
                        <a:rPr lang="nl-NL" sz="800" b="0" i="0"/>
                        <a:t> </a:t>
                      </a:r>
                      <a:r>
                        <a:rPr lang="nl-NL" sz="800" b="0" i="0" err="1"/>
                        <a:t>Eligibility</a:t>
                      </a:r>
                      <a:r>
                        <a:rPr lang="nl-NL" sz="800" b="0" i="0"/>
                        <a:t> engine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5918014"/>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7</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GRFD</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CADDI</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baseline="0" err="1"/>
                        <a:t>Conslidated</a:t>
                      </a:r>
                      <a:r>
                        <a:rPr lang="nl-NL" sz="800" b="0" i="0" baseline="0"/>
                        <a:t> input dataset </a:t>
                      </a:r>
                      <a:r>
                        <a:rPr lang="nl-NL" sz="800" b="0" i="0" baseline="0" err="1"/>
                        <a:t>from</a:t>
                      </a:r>
                      <a:r>
                        <a:rPr lang="nl-NL" sz="800" b="0" i="0" baseline="0"/>
                        <a:t> GRFD </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0666138"/>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noProof="0">
                          <a:ln>
                            <a:noFill/>
                          </a:ln>
                          <a:solidFill>
                            <a:schemeClr val="tx1"/>
                          </a:solidFill>
                          <a:effectLst/>
                          <a:latin typeface="+mn-lt"/>
                        </a:rPr>
                        <a:t>8</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lang="nl-NL" sz="800" b="0" i="0"/>
                        <a:t>CADDI</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nBIF Instance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lang="nl-NL" sz="800" b="0" i="0" baseline="0" err="1"/>
                        <a:t>Conslidated</a:t>
                      </a:r>
                      <a:r>
                        <a:rPr lang="nl-NL" sz="800" b="0" i="0" baseline="0"/>
                        <a:t> input dataset </a:t>
                      </a:r>
                      <a:r>
                        <a:rPr lang="nl-NL" sz="800" b="0" i="0" baseline="0" err="1"/>
                        <a:t>from</a:t>
                      </a:r>
                      <a:r>
                        <a:rPr lang="nl-NL" sz="800" b="0" i="0" baseline="0"/>
                        <a:t> GRFD to run </a:t>
                      </a:r>
                      <a:r>
                        <a:rPr lang="nl-NL" sz="800" b="0" i="0" baseline="0" err="1"/>
                        <a:t>entire</a:t>
                      </a:r>
                      <a:r>
                        <a:rPr lang="nl-NL" sz="800" b="0" i="0" baseline="0"/>
                        <a:t> </a:t>
                      </a:r>
                      <a:r>
                        <a:rPr lang="nl-NL" sz="800" b="0" i="0" baseline="0" err="1"/>
                        <a:t>nBridge</a:t>
                      </a:r>
                      <a:r>
                        <a:rPr lang="nl-NL" sz="800" b="0" i="0" baseline="0"/>
                        <a:t> chain</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422448"/>
                  </a:ext>
                </a:extLst>
              </a:tr>
              <a:tr h="21038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noProof="0">
                          <a:ln>
                            <a:noFill/>
                          </a:ln>
                          <a:solidFill>
                            <a:schemeClr val="tx1"/>
                          </a:solidFill>
                          <a:effectLst/>
                          <a:latin typeface="+mn-lt"/>
                        </a:rPr>
                        <a:t>9</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lang="nl-NL" sz="800" b="0" i="0" err="1"/>
                        <a:t>Meister</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nBIF Instance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lang="nl-NL" sz="800" b="0" i="0"/>
                        <a:t>Macro </a:t>
                      </a:r>
                      <a:r>
                        <a:rPr lang="nl-NL" sz="800" b="0" i="0" err="1"/>
                        <a:t>economic</a:t>
                      </a:r>
                      <a:r>
                        <a:rPr lang="nl-NL" sz="800" b="0" i="0" baseline="0"/>
                        <a:t> </a:t>
                      </a:r>
                      <a:r>
                        <a:rPr lang="nl-NL" sz="800" b="0" i="0" baseline="0" err="1"/>
                        <a:t>scenarios</a:t>
                      </a:r>
                      <a:r>
                        <a:rPr lang="nl-NL" sz="800" b="0" i="0" baseline="0"/>
                        <a:t> </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Corbel"/>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583220"/>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10</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CAS IRB</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err="1"/>
                        <a:t>Outbound</a:t>
                      </a:r>
                      <a:r>
                        <a:rPr lang="nl-NL" sz="800" b="0" i="0"/>
                        <a:t> - Model data set</a:t>
                      </a:r>
                      <a:r>
                        <a:rPr lang="nl-NL" sz="800" b="0" i="0" baseline="0"/>
                        <a:t> to </a:t>
                      </a:r>
                      <a:r>
                        <a:rPr lang="nl-NL" sz="800" b="0" i="0" baseline="0" err="1"/>
                        <a:t>execute</a:t>
                      </a:r>
                      <a:r>
                        <a:rPr lang="nl-NL" sz="800" b="0" i="0" baseline="0"/>
                        <a:t> IRB </a:t>
                      </a:r>
                      <a:r>
                        <a:rPr lang="nl-NL" sz="800" b="0" i="0"/>
                        <a:t>calculator   </a:t>
                      </a:r>
                      <a:r>
                        <a:rPr lang="nl-NL" sz="800" b="0" i="0" err="1"/>
                        <a:t>Inbound</a:t>
                      </a:r>
                      <a:r>
                        <a:rPr lang="nl-NL" sz="800" b="0" i="0"/>
                        <a:t>: </a:t>
                      </a:r>
                      <a:r>
                        <a:rPr lang="nl-NL" sz="800" b="0" i="0" baseline="0"/>
                        <a:t>IRB model </a:t>
                      </a:r>
                      <a:r>
                        <a:rPr lang="nl-NL" sz="800" b="0" i="0" baseline="0" err="1"/>
                        <a:t>result</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err="1">
                          <a:ln>
                            <a:noFill/>
                          </a:ln>
                          <a:solidFill>
                            <a:prstClr val="black"/>
                          </a:solidFill>
                          <a:effectLst/>
                          <a:uLnTx/>
                          <a:uFillTx/>
                          <a:latin typeface="+mn-lt"/>
                          <a:ea typeface="+mn-ea"/>
                          <a:cs typeface="+mn-cs"/>
                        </a:rPr>
                        <a:t>Exist</a:t>
                      </a:r>
                      <a:r>
                        <a:rPr kumimoji="0" lang="nl-NL" sz="800" b="0" i="0" u="none" strike="noStrike" kern="1200" cap="none" spc="0" normalizeH="0" baseline="0" noProof="0">
                          <a:ln>
                            <a:noFill/>
                          </a:ln>
                          <a:solidFill>
                            <a:prstClr val="black"/>
                          </a:solidFill>
                          <a:effectLst/>
                          <a:uLnTx/>
                          <a:uFillTx/>
                          <a:latin typeface="+mn-lt"/>
                          <a:ea typeface="+mn-ea"/>
                          <a:cs typeface="+mn-cs"/>
                        </a:rPr>
                        <a:t> for few </a:t>
                      </a:r>
                      <a:r>
                        <a:rPr kumimoji="0" lang="nl-NL" sz="800" b="0" i="0" u="none" strike="noStrike" kern="1200" cap="none" spc="0" normalizeH="0" baseline="0" noProof="0" err="1">
                          <a:ln>
                            <a:noFill/>
                          </a:ln>
                          <a:solidFill>
                            <a:prstClr val="black"/>
                          </a:solidFill>
                          <a:effectLst/>
                          <a:uLnTx/>
                          <a:uFillTx/>
                          <a:latin typeface="+mn-lt"/>
                          <a:ea typeface="+mn-ea"/>
                          <a:cs typeface="+mn-cs"/>
                        </a:rPr>
                        <a:t>portfolios</a:t>
                      </a:r>
                      <a:r>
                        <a:rPr kumimoji="0" lang="nl-NL" sz="800" b="0" i="0" u="none" strike="noStrike" kern="1200" cap="none" spc="0" normalizeH="0" baseline="0" noProof="0">
                          <a:ln>
                            <a:noFill/>
                          </a:ln>
                          <a:solidFill>
                            <a:prstClr val="black"/>
                          </a:solidFill>
                          <a:effectLst/>
                          <a:uLnTx/>
                          <a:uFillTx/>
                          <a:latin typeface="+mn-lt"/>
                          <a:ea typeface="+mn-ea"/>
                          <a:cs typeface="+mn-cs"/>
                        </a:rPr>
                        <a:t>, New for rest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6472755"/>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11</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CAS IFRS9/ECL</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err="1"/>
                        <a:t>Outbound</a:t>
                      </a:r>
                      <a:r>
                        <a:rPr lang="nl-NL" sz="800" b="0" i="0"/>
                        <a:t> - Model data set</a:t>
                      </a:r>
                      <a:r>
                        <a:rPr lang="nl-NL" sz="800" b="0" i="0" baseline="0"/>
                        <a:t> to </a:t>
                      </a:r>
                      <a:r>
                        <a:rPr lang="nl-NL" sz="800" b="0" i="0" baseline="0" err="1"/>
                        <a:t>execute</a:t>
                      </a:r>
                      <a:r>
                        <a:rPr lang="nl-NL" sz="800" b="0" i="0" baseline="0"/>
                        <a:t> IFRS9 </a:t>
                      </a:r>
                      <a:r>
                        <a:rPr lang="nl-NL" sz="800" b="0" i="0"/>
                        <a:t>calculator   </a:t>
                      </a:r>
                      <a:r>
                        <a:rPr lang="nl-NL" sz="800" b="0" i="0" err="1"/>
                        <a:t>Inbound</a:t>
                      </a:r>
                      <a:r>
                        <a:rPr lang="nl-NL" sz="800" b="0" i="0"/>
                        <a:t>: </a:t>
                      </a:r>
                      <a:r>
                        <a:rPr lang="nl-NL" sz="800" b="0" i="0" baseline="0"/>
                        <a:t>IFRS9 model </a:t>
                      </a:r>
                      <a:r>
                        <a:rPr lang="nl-NL" sz="800" b="0" i="0" baseline="0" err="1"/>
                        <a:t>result</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5943693"/>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12</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CAS RWA</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err="1"/>
                        <a:t>Outbound</a:t>
                      </a:r>
                      <a:r>
                        <a:rPr lang="nl-NL" sz="800" b="0" i="0"/>
                        <a:t> - Model data set</a:t>
                      </a:r>
                      <a:r>
                        <a:rPr lang="nl-NL" sz="800" b="0" i="0" baseline="0"/>
                        <a:t> to </a:t>
                      </a:r>
                      <a:r>
                        <a:rPr lang="nl-NL" sz="800" b="0" i="0" baseline="0" err="1"/>
                        <a:t>execute</a:t>
                      </a:r>
                      <a:r>
                        <a:rPr lang="nl-NL" sz="800" b="0" i="0" baseline="0"/>
                        <a:t> RWA </a:t>
                      </a:r>
                      <a:r>
                        <a:rPr lang="nl-NL" sz="800" b="0" i="0"/>
                        <a:t>calculator   </a:t>
                      </a:r>
                      <a:r>
                        <a:rPr lang="nl-NL" sz="800" b="0" i="0" err="1"/>
                        <a:t>Inbound</a:t>
                      </a:r>
                      <a:r>
                        <a:rPr lang="nl-NL" sz="800" b="0" i="0"/>
                        <a:t>: </a:t>
                      </a:r>
                      <a:r>
                        <a:rPr lang="nl-NL" sz="800" b="0" i="0" baseline="0"/>
                        <a:t>RWA model </a:t>
                      </a:r>
                      <a:r>
                        <a:rPr lang="nl-NL" sz="800" b="0" i="0" baseline="0" err="1"/>
                        <a:t>result</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err="1">
                          <a:ln>
                            <a:noFill/>
                          </a:ln>
                          <a:solidFill>
                            <a:prstClr val="black"/>
                          </a:solidFill>
                          <a:effectLst/>
                          <a:uLnTx/>
                          <a:uFillTx/>
                          <a:latin typeface="+mn-lt"/>
                          <a:ea typeface="+mn-ea"/>
                          <a:cs typeface="+mn-cs"/>
                        </a:rPr>
                        <a:t>Exist</a:t>
                      </a:r>
                      <a:r>
                        <a:rPr kumimoji="0" lang="nl-NL" sz="800" b="0" i="0" u="none" strike="noStrike" kern="1200" cap="none" spc="0" normalizeH="0" baseline="0" noProof="0">
                          <a:ln>
                            <a:noFill/>
                          </a:ln>
                          <a:solidFill>
                            <a:prstClr val="black"/>
                          </a:solidFill>
                          <a:effectLst/>
                          <a:uLnTx/>
                          <a:uFillTx/>
                          <a:latin typeface="+mn-lt"/>
                          <a:ea typeface="+mn-ea"/>
                          <a:cs typeface="+mn-cs"/>
                        </a:rPr>
                        <a:t> for few </a:t>
                      </a:r>
                      <a:r>
                        <a:rPr kumimoji="0" lang="nl-NL" sz="800" b="0" i="0" u="none" strike="noStrike" kern="1200" cap="none" spc="0" normalizeH="0" baseline="0" noProof="0" err="1">
                          <a:ln>
                            <a:noFill/>
                          </a:ln>
                          <a:solidFill>
                            <a:prstClr val="black"/>
                          </a:solidFill>
                          <a:effectLst/>
                          <a:uLnTx/>
                          <a:uFillTx/>
                          <a:latin typeface="+mn-lt"/>
                          <a:ea typeface="+mn-ea"/>
                          <a:cs typeface="+mn-cs"/>
                        </a:rPr>
                        <a:t>portfolios</a:t>
                      </a:r>
                      <a:r>
                        <a:rPr kumimoji="0" lang="nl-NL" sz="800" b="0" i="0" u="none" strike="noStrike" kern="1200" cap="none" spc="0" normalizeH="0" baseline="0" noProof="0">
                          <a:ln>
                            <a:noFill/>
                          </a:ln>
                          <a:solidFill>
                            <a:prstClr val="black"/>
                          </a:solidFill>
                          <a:effectLst/>
                          <a:uLnTx/>
                          <a:uFillTx/>
                          <a:latin typeface="+mn-lt"/>
                          <a:ea typeface="+mn-ea"/>
                          <a:cs typeface="+mn-cs"/>
                        </a:rPr>
                        <a:t>, New for rest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511939"/>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13</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CAS SA-RWA</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err="1"/>
                        <a:t>Outbound</a:t>
                      </a:r>
                      <a:r>
                        <a:rPr lang="nl-NL" sz="800" b="0" i="0"/>
                        <a:t> - Model data set</a:t>
                      </a:r>
                      <a:r>
                        <a:rPr lang="nl-NL" sz="800" b="0" i="0" baseline="0"/>
                        <a:t> to </a:t>
                      </a:r>
                      <a:r>
                        <a:rPr lang="nl-NL" sz="800" b="0" i="0" baseline="0" err="1"/>
                        <a:t>execute</a:t>
                      </a:r>
                      <a:r>
                        <a:rPr lang="nl-NL" sz="800" b="0" i="0" baseline="0"/>
                        <a:t> SA-RWA </a:t>
                      </a:r>
                      <a:r>
                        <a:rPr lang="nl-NL" sz="800" b="0" i="0"/>
                        <a:t>calculator   </a:t>
                      </a:r>
                      <a:r>
                        <a:rPr lang="nl-NL" sz="800" b="0" i="0" err="1"/>
                        <a:t>Inbound</a:t>
                      </a:r>
                      <a:r>
                        <a:rPr lang="nl-NL" sz="800" b="0" i="0"/>
                        <a:t>: </a:t>
                      </a:r>
                      <a:r>
                        <a:rPr lang="nl-NL" sz="800" b="0" i="0" baseline="0"/>
                        <a:t>SA-RWA </a:t>
                      </a:r>
                      <a:r>
                        <a:rPr lang="nl-NL" sz="800" b="0" i="0" baseline="0" err="1"/>
                        <a:t>result</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err="1">
                          <a:ln>
                            <a:noFill/>
                          </a:ln>
                          <a:solidFill>
                            <a:prstClr val="black"/>
                          </a:solidFill>
                          <a:effectLst/>
                          <a:uLnTx/>
                          <a:uFillTx/>
                          <a:latin typeface="+mn-lt"/>
                          <a:ea typeface="+mn-ea"/>
                          <a:cs typeface="+mn-cs"/>
                        </a:rPr>
                        <a:t>Exist</a:t>
                      </a:r>
                      <a:r>
                        <a:rPr kumimoji="0" lang="nl-NL" sz="800" b="0" i="0" u="none" strike="noStrike" kern="1200" cap="none" spc="0" normalizeH="0" baseline="0" noProof="0">
                          <a:ln>
                            <a:noFill/>
                          </a:ln>
                          <a:solidFill>
                            <a:prstClr val="black"/>
                          </a:solidFill>
                          <a:effectLst/>
                          <a:uLnTx/>
                          <a:uFillTx/>
                          <a:latin typeface="+mn-lt"/>
                          <a:ea typeface="+mn-ea"/>
                          <a:cs typeface="+mn-cs"/>
                        </a:rPr>
                        <a:t> for few </a:t>
                      </a:r>
                      <a:r>
                        <a:rPr kumimoji="0" lang="nl-NL" sz="800" b="0" i="0" u="none" strike="noStrike" kern="1200" cap="none" spc="0" normalizeH="0" baseline="0" noProof="0" err="1">
                          <a:ln>
                            <a:noFill/>
                          </a:ln>
                          <a:solidFill>
                            <a:prstClr val="black"/>
                          </a:solidFill>
                          <a:effectLst/>
                          <a:uLnTx/>
                          <a:uFillTx/>
                          <a:latin typeface="+mn-lt"/>
                          <a:ea typeface="+mn-ea"/>
                          <a:cs typeface="+mn-cs"/>
                        </a:rPr>
                        <a:t>portfolios</a:t>
                      </a:r>
                      <a:r>
                        <a:rPr kumimoji="0" lang="nl-NL" sz="800" b="0" i="0" u="none" strike="noStrike" kern="1200" cap="none" spc="0" normalizeH="0" baseline="0" noProof="0">
                          <a:ln>
                            <a:noFill/>
                          </a:ln>
                          <a:solidFill>
                            <a:prstClr val="black"/>
                          </a:solidFill>
                          <a:effectLst/>
                          <a:uLnTx/>
                          <a:uFillTx/>
                          <a:latin typeface="+mn-lt"/>
                          <a:ea typeface="+mn-ea"/>
                          <a:cs typeface="+mn-cs"/>
                        </a:rPr>
                        <a:t>, New for rest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5531545"/>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14</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CAS RAROC</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err="1"/>
                        <a:t>Outbound</a:t>
                      </a:r>
                      <a:r>
                        <a:rPr lang="nl-NL" sz="800" b="0" i="0"/>
                        <a:t> - Model data set</a:t>
                      </a:r>
                      <a:r>
                        <a:rPr lang="nl-NL" sz="800" b="0" i="0" baseline="0"/>
                        <a:t> to </a:t>
                      </a:r>
                      <a:r>
                        <a:rPr lang="nl-NL" sz="800" b="0" i="0" baseline="0" err="1"/>
                        <a:t>execute</a:t>
                      </a:r>
                      <a:r>
                        <a:rPr lang="nl-NL" sz="800" b="0" i="0" baseline="0"/>
                        <a:t> RAROC </a:t>
                      </a:r>
                      <a:r>
                        <a:rPr lang="nl-NL" sz="800" b="0" i="0"/>
                        <a:t>calculator   </a:t>
                      </a:r>
                      <a:r>
                        <a:rPr lang="nl-NL" sz="800" b="0" i="0" err="1"/>
                        <a:t>Inbound</a:t>
                      </a:r>
                      <a:r>
                        <a:rPr lang="nl-NL" sz="800" b="0" i="0"/>
                        <a:t>: </a:t>
                      </a:r>
                      <a:r>
                        <a:rPr lang="nl-NL" sz="800" b="0" i="0" baseline="0"/>
                        <a:t>RAROC model </a:t>
                      </a:r>
                      <a:r>
                        <a:rPr lang="nl-NL" sz="800" b="0" i="0" baseline="0" err="1"/>
                        <a:t>result</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10371013"/>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15</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CAS ST Baseline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err="1"/>
                        <a:t>Outbound</a:t>
                      </a:r>
                      <a:r>
                        <a:rPr lang="nl-NL" sz="800" b="0" i="0"/>
                        <a:t> - Model data set</a:t>
                      </a:r>
                      <a:r>
                        <a:rPr lang="nl-NL" sz="800" b="0" i="0" baseline="0"/>
                        <a:t> to </a:t>
                      </a:r>
                      <a:r>
                        <a:rPr lang="nl-NL" sz="800" b="0" i="0" baseline="0" err="1"/>
                        <a:t>execute</a:t>
                      </a:r>
                      <a:r>
                        <a:rPr lang="nl-NL" sz="800" b="0" i="0" baseline="0"/>
                        <a:t> ST </a:t>
                      </a:r>
                      <a:r>
                        <a:rPr lang="nl-NL" sz="800" b="0" i="0"/>
                        <a:t>calculator   </a:t>
                      </a:r>
                      <a:r>
                        <a:rPr lang="nl-NL" sz="800" b="0" i="0" err="1"/>
                        <a:t>Inbound</a:t>
                      </a:r>
                      <a:r>
                        <a:rPr lang="nl-NL" sz="800" b="0" i="0"/>
                        <a:t>: </a:t>
                      </a:r>
                      <a:r>
                        <a:rPr lang="nl-NL" sz="800" b="0" i="0" baseline="0"/>
                        <a:t>ST model </a:t>
                      </a:r>
                      <a:r>
                        <a:rPr lang="nl-NL" sz="800" b="0" i="0" baseline="0" err="1"/>
                        <a:t>result</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210292"/>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16</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CRPR</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kern="1200" err="1">
                          <a:solidFill>
                            <a:schemeClr val="tx1"/>
                          </a:solidFill>
                          <a:latin typeface="+mn-lt"/>
                          <a:ea typeface="+mn-ea"/>
                          <a:cs typeface="+mn-cs"/>
                        </a:rPr>
                        <a:t>Verified</a:t>
                      </a:r>
                      <a:r>
                        <a:rPr lang="nl-NL" sz="800" b="0" i="0" kern="1200">
                          <a:solidFill>
                            <a:schemeClr val="tx1"/>
                          </a:solidFill>
                          <a:latin typeface="+mn-lt"/>
                          <a:ea typeface="+mn-ea"/>
                          <a:cs typeface="+mn-cs"/>
                        </a:rPr>
                        <a:t> risk </a:t>
                      </a:r>
                      <a:r>
                        <a:rPr lang="nl-NL" sz="800" b="0" i="0" kern="1200" err="1">
                          <a:solidFill>
                            <a:schemeClr val="tx1"/>
                          </a:solidFill>
                          <a:latin typeface="+mn-lt"/>
                          <a:ea typeface="+mn-ea"/>
                          <a:cs typeface="+mn-cs"/>
                        </a:rPr>
                        <a:t>metrics</a:t>
                      </a:r>
                      <a:r>
                        <a:rPr lang="nl-NL" sz="800" b="0" i="0" kern="1200">
                          <a:solidFill>
                            <a:schemeClr val="tx1"/>
                          </a:solidFill>
                          <a:latin typeface="+mn-lt"/>
                          <a:ea typeface="+mn-ea"/>
                          <a:cs typeface="+mn-cs"/>
                        </a:rPr>
                        <a:t> for IRB, RWA &amp; RAROC</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err="1">
                          <a:ln>
                            <a:noFill/>
                          </a:ln>
                          <a:solidFill>
                            <a:prstClr val="black"/>
                          </a:solidFill>
                          <a:effectLst/>
                          <a:uLnTx/>
                          <a:uFillTx/>
                          <a:latin typeface="+mn-lt"/>
                          <a:ea typeface="+mn-ea"/>
                          <a:cs typeface="+mn-cs"/>
                        </a:rPr>
                        <a:t>Exist</a:t>
                      </a:r>
                      <a:r>
                        <a:rPr kumimoji="0" lang="nl-NL" sz="800" b="0" i="0" u="none" strike="noStrike" kern="1200" cap="none" spc="0" normalizeH="0" baseline="0" noProof="0">
                          <a:ln>
                            <a:noFill/>
                          </a:ln>
                          <a:solidFill>
                            <a:prstClr val="black"/>
                          </a:solidFill>
                          <a:effectLst/>
                          <a:uLnTx/>
                          <a:uFillTx/>
                          <a:latin typeface="+mn-lt"/>
                          <a:ea typeface="+mn-ea"/>
                          <a:cs typeface="+mn-cs"/>
                        </a:rPr>
                        <a:t> for few </a:t>
                      </a:r>
                      <a:r>
                        <a:rPr kumimoji="0" lang="nl-NL" sz="800" b="0" i="0" u="none" strike="noStrike" kern="1200" cap="none" spc="0" normalizeH="0" baseline="0" noProof="0" err="1">
                          <a:ln>
                            <a:noFill/>
                          </a:ln>
                          <a:solidFill>
                            <a:prstClr val="black"/>
                          </a:solidFill>
                          <a:effectLst/>
                          <a:uLnTx/>
                          <a:uFillTx/>
                          <a:latin typeface="+mn-lt"/>
                          <a:ea typeface="+mn-ea"/>
                          <a:cs typeface="+mn-cs"/>
                        </a:rPr>
                        <a:t>portfolios</a:t>
                      </a:r>
                      <a:r>
                        <a:rPr kumimoji="0" lang="nl-NL" sz="800" b="0" i="0" u="none" strike="noStrike" kern="1200" cap="none" spc="0" normalizeH="0" baseline="0" noProof="0">
                          <a:ln>
                            <a:noFill/>
                          </a:ln>
                          <a:solidFill>
                            <a:prstClr val="black"/>
                          </a:solidFill>
                          <a:effectLst/>
                          <a:uLnTx/>
                          <a:uFillTx/>
                          <a:latin typeface="+mn-lt"/>
                          <a:ea typeface="+mn-ea"/>
                          <a:cs typeface="+mn-cs"/>
                        </a:rPr>
                        <a:t>, New for rest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7450276"/>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17</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CFO Hub</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kern="1200" err="1">
                          <a:solidFill>
                            <a:schemeClr val="tx1"/>
                          </a:solidFill>
                          <a:latin typeface="+mn-lt"/>
                          <a:ea typeface="+mn-ea"/>
                          <a:cs typeface="+mn-cs"/>
                        </a:rPr>
                        <a:t>Verified</a:t>
                      </a:r>
                      <a:r>
                        <a:rPr lang="nl-NL" sz="800" b="0" i="0" kern="1200">
                          <a:solidFill>
                            <a:schemeClr val="tx1"/>
                          </a:solidFill>
                          <a:latin typeface="+mn-lt"/>
                          <a:ea typeface="+mn-ea"/>
                          <a:cs typeface="+mn-cs"/>
                        </a:rPr>
                        <a:t> risk </a:t>
                      </a:r>
                      <a:r>
                        <a:rPr lang="nl-NL" sz="800" b="0" i="0" kern="1200" err="1">
                          <a:solidFill>
                            <a:schemeClr val="tx1"/>
                          </a:solidFill>
                          <a:latin typeface="+mn-lt"/>
                          <a:ea typeface="+mn-ea"/>
                          <a:cs typeface="+mn-cs"/>
                        </a:rPr>
                        <a:t>metrics</a:t>
                      </a:r>
                      <a:r>
                        <a:rPr lang="nl-NL" sz="800" b="0" i="0" kern="1200">
                          <a:solidFill>
                            <a:schemeClr val="tx1"/>
                          </a:solidFill>
                          <a:latin typeface="+mn-lt"/>
                          <a:ea typeface="+mn-ea"/>
                          <a:cs typeface="+mn-cs"/>
                        </a:rPr>
                        <a:t> for IFRS9, Stress Testing</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err="1">
                          <a:ln>
                            <a:noFill/>
                          </a:ln>
                          <a:solidFill>
                            <a:prstClr val="black"/>
                          </a:solidFill>
                          <a:effectLst/>
                          <a:uLnTx/>
                          <a:uFillTx/>
                          <a:latin typeface="+mn-lt"/>
                          <a:ea typeface="+mn-ea"/>
                          <a:cs typeface="+mn-cs"/>
                        </a:rPr>
                        <a:t>Exist</a:t>
                      </a:r>
                      <a:r>
                        <a:rPr kumimoji="0" lang="nl-NL" sz="800" b="0" i="0" u="none" strike="noStrike" kern="1200" cap="none" spc="0" normalizeH="0" baseline="0" noProof="0">
                          <a:ln>
                            <a:noFill/>
                          </a:ln>
                          <a:solidFill>
                            <a:prstClr val="black"/>
                          </a:solidFill>
                          <a:effectLst/>
                          <a:uLnTx/>
                          <a:uFillTx/>
                          <a:latin typeface="+mn-lt"/>
                          <a:ea typeface="+mn-ea"/>
                          <a:cs typeface="+mn-cs"/>
                        </a:rPr>
                        <a:t> for few </a:t>
                      </a:r>
                      <a:r>
                        <a:rPr kumimoji="0" lang="nl-NL" sz="800" b="0" i="0" u="none" strike="noStrike" kern="1200" cap="none" spc="0" normalizeH="0" baseline="0" noProof="0" err="1">
                          <a:ln>
                            <a:noFill/>
                          </a:ln>
                          <a:solidFill>
                            <a:prstClr val="black"/>
                          </a:solidFill>
                          <a:effectLst/>
                          <a:uLnTx/>
                          <a:uFillTx/>
                          <a:latin typeface="+mn-lt"/>
                          <a:ea typeface="+mn-ea"/>
                          <a:cs typeface="+mn-cs"/>
                        </a:rPr>
                        <a:t>portfolios</a:t>
                      </a:r>
                      <a:r>
                        <a:rPr kumimoji="0" lang="nl-NL" sz="800" b="0" i="0" u="none" strike="noStrike" kern="1200" cap="none" spc="0" normalizeH="0" baseline="0" noProof="0">
                          <a:ln>
                            <a:noFill/>
                          </a:ln>
                          <a:solidFill>
                            <a:prstClr val="black"/>
                          </a:solidFill>
                          <a:effectLst/>
                          <a:uLnTx/>
                          <a:uFillTx/>
                          <a:latin typeface="+mn-lt"/>
                          <a:ea typeface="+mn-ea"/>
                          <a:cs typeface="+mn-cs"/>
                        </a:rPr>
                        <a:t>, New for rest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4325570"/>
                  </a:ext>
                </a:extLst>
              </a:tr>
              <a:tr h="184856">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18</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a:t>nBIF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nl-NL" sz="800" b="0" i="0"/>
                        <a:t>MM Store</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nl-NL" sz="800" b="0" i="0" kern="1200" err="1">
                          <a:solidFill>
                            <a:schemeClr val="tx1"/>
                          </a:solidFill>
                          <a:latin typeface="+mn-lt"/>
                          <a:ea typeface="+mn-ea"/>
                          <a:cs typeface="+mn-cs"/>
                        </a:rPr>
                        <a:t>Verified</a:t>
                      </a:r>
                      <a:r>
                        <a:rPr lang="nl-NL" sz="800" b="0" i="0" kern="1200">
                          <a:solidFill>
                            <a:schemeClr val="tx1"/>
                          </a:solidFill>
                          <a:latin typeface="+mn-lt"/>
                          <a:ea typeface="+mn-ea"/>
                          <a:cs typeface="+mn-cs"/>
                        </a:rPr>
                        <a:t> risk </a:t>
                      </a:r>
                      <a:r>
                        <a:rPr lang="nl-NL" sz="800" b="0" i="0" kern="1200" err="1">
                          <a:solidFill>
                            <a:schemeClr val="tx1"/>
                          </a:solidFill>
                          <a:latin typeface="+mn-lt"/>
                          <a:ea typeface="+mn-ea"/>
                          <a:cs typeface="+mn-cs"/>
                        </a:rPr>
                        <a:t>metrics</a:t>
                      </a:r>
                      <a:r>
                        <a:rPr lang="nl-NL" sz="800" b="0" i="0" kern="1200">
                          <a:solidFill>
                            <a:schemeClr val="tx1"/>
                          </a:solidFill>
                          <a:latin typeface="+mn-lt"/>
                          <a:ea typeface="+mn-ea"/>
                          <a:cs typeface="+mn-cs"/>
                        </a:rPr>
                        <a:t> for IRB, RWA, IFRS9, Stress Testing &amp; RAROC</a:t>
                      </a:r>
                      <a:endParaRPr lang="nl-NL" sz="800" b="0" i="0"/>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mn-lt"/>
                          <a:ea typeface="+mn-ea"/>
                          <a:cs typeface="+mn-cs"/>
                        </a:rPr>
                        <a:t>New</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8232657"/>
                  </a:ext>
                </a:extLst>
              </a:tr>
            </a:tbl>
          </a:graphicData>
        </a:graphic>
      </p:graphicFrame>
      <p:sp>
        <p:nvSpPr>
          <p:cNvPr id="10" name="Rounded Rectangle 10">
            <a:hlinkClick r:id="" action="ppaction://noaction"/>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1" i="0" u="none" strike="noStrike" kern="0" cap="none" spc="0" normalizeH="0" baseline="0" noProof="0">
                <a:ln>
                  <a:noFill/>
                </a:ln>
                <a:solidFill>
                  <a:prstClr val="white"/>
                </a:solidFill>
                <a:effectLst/>
                <a:uLnTx/>
                <a:uFillTx/>
                <a:latin typeface="Myriad Pro"/>
                <a:ea typeface="+mn-ea"/>
                <a:cs typeface="Myriad Pro"/>
              </a:rPr>
              <a:t>5. Application</a:t>
            </a:r>
          </a:p>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GB" sz="800" b="1" i="0" u="none" strike="noStrike" kern="0" cap="none" spc="0" normalizeH="0" baseline="0" noProof="0">
              <a:ln>
                <a:noFill/>
              </a:ln>
              <a:solidFill>
                <a:prstClr val="white"/>
              </a:solidFill>
              <a:effectLst/>
              <a:uLnTx/>
              <a:uFillTx/>
              <a:latin typeface="Myriad Pro"/>
              <a:ea typeface="+mn-ea"/>
              <a:cs typeface="Myriad Pro"/>
            </a:endParaRPr>
          </a:p>
        </p:txBody>
      </p:sp>
    </p:spTree>
    <p:extLst>
      <p:ext uri="{BB962C8B-B14F-4D97-AF65-F5344CB8AC3E}">
        <p14:creationId xmlns:p14="http://schemas.microsoft.com/office/powerpoint/2010/main" val="781070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990792E-455F-F08E-E18A-CC992551D819}"/>
              </a:ext>
            </a:extLst>
          </p:cNvPr>
          <p:cNvPicPr>
            <a:picLocks noChangeAspect="1"/>
          </p:cNvPicPr>
          <p:nvPr/>
        </p:nvPicPr>
        <p:blipFill>
          <a:blip r:embed="rId3"/>
          <a:stretch>
            <a:fillRect/>
          </a:stretch>
        </p:blipFill>
        <p:spPr>
          <a:xfrm>
            <a:off x="475814" y="747066"/>
            <a:ext cx="4428695" cy="3964183"/>
          </a:xfrm>
          <a:prstGeom prst="rect">
            <a:avLst/>
          </a:prstGeom>
        </p:spPr>
      </p:pic>
      <p:sp>
        <p:nvSpPr>
          <p:cNvPr id="6" name="Title 5"/>
          <p:cNvSpPr>
            <a:spLocks noGrp="1"/>
          </p:cNvSpPr>
          <p:nvPr>
            <p:ph type="title"/>
          </p:nvPr>
        </p:nvSpPr>
        <p:spPr>
          <a:xfrm>
            <a:off x="475814" y="-68674"/>
            <a:ext cx="7464026" cy="875509"/>
          </a:xfrm>
        </p:spPr>
        <p:txBody>
          <a:bodyPr/>
          <a:lstStyle/>
          <a:p>
            <a:r>
              <a:rPr lang="en-GB" sz="2400"/>
              <a:t>5.8 Generic Target Application Architecture UT5/UT6</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60</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6" name="Tijdelijke aanduiding voor tekst 15"/>
          <p:cNvSpPr>
            <a:spLocks noGrp="1"/>
          </p:cNvSpPr>
          <p:nvPr>
            <p:ph type="body" sz="quarter" idx="13"/>
          </p:nvPr>
        </p:nvSpPr>
        <p:spPr>
          <a:xfrm>
            <a:off x="506730" y="4785153"/>
            <a:ext cx="7804150" cy="204787"/>
          </a:xfrm>
        </p:spPr>
        <p:txBody>
          <a:bodyPr/>
          <a:lstStyle/>
          <a:p>
            <a:r>
              <a:rPr lang="nl-NL"/>
              <a:t> </a:t>
            </a:r>
          </a:p>
        </p:txBody>
      </p:sp>
      <p:sp>
        <p:nvSpPr>
          <p:cNvPr id="10" name="Rounded Rectangle 10">
            <a:hlinkClick r:id="rId4"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2" name="Rectangle 1">
            <a:extLst>
              <a:ext uri="{FF2B5EF4-FFF2-40B4-BE49-F238E27FC236}">
                <a16:creationId xmlns:a16="http://schemas.microsoft.com/office/drawing/2014/main" id="{5C802759-BE85-2833-47CE-020135B32735}"/>
              </a:ext>
            </a:extLst>
          </p:cNvPr>
          <p:cNvSpPr/>
          <p:nvPr/>
        </p:nvSpPr>
        <p:spPr>
          <a:xfrm>
            <a:off x="5284258" y="756458"/>
            <a:ext cx="3559310" cy="3865231"/>
          </a:xfrm>
          <a:prstGeom prst="rect">
            <a:avLst/>
          </a:prstGeom>
          <a:solidFill>
            <a:srgbClr val="EAEAEA"/>
          </a:solidFill>
          <a:ln w="12700" cap="rnd" cmpd="sng" algn="ctr">
            <a:solidFill>
              <a:srgbClr val="EAEAEA"/>
            </a:solidFill>
            <a:prstDash val="solid"/>
          </a:ln>
          <a:effectLst/>
        </p:spPr>
        <p:txBody>
          <a:bodyPr rtlCol="0" anchor="t"/>
          <a:lstStyle/>
          <a:p>
            <a:pPr marL="0" marR="0" lvl="0" indent="0" algn="just" defTabSz="914400" rtl="0" eaLnBrk="1" fontAlgn="auto" latinLnBrk="0" hangingPunct="1">
              <a:lnSpc>
                <a:spcPct val="100000"/>
              </a:lnSpc>
              <a:spcBef>
                <a:spcPts val="100"/>
              </a:spcBef>
              <a:spcAft>
                <a:spcPts val="100"/>
              </a:spcAft>
              <a:buClr>
                <a:srgbClr val="FD6400"/>
              </a:buClr>
              <a:buSzPct val="90000"/>
              <a:buFontTx/>
              <a:buNone/>
              <a:tabLst/>
              <a:defRPr/>
            </a:pPr>
            <a:r>
              <a:rPr kumimoji="0" lang="en-GB" sz="800" b="0" i="0" u="none" strike="noStrike" kern="1200" cap="none" spc="0" normalizeH="0" baseline="0" noProof="0">
                <a:ln>
                  <a:noFill/>
                </a:ln>
                <a:solidFill>
                  <a:prstClr val="black"/>
                </a:solidFill>
                <a:effectLst/>
                <a:uLnTx/>
                <a:uFillTx/>
                <a:latin typeface="Corbel"/>
                <a:ea typeface="+mn-ea"/>
                <a:cs typeface="+mn-cs"/>
              </a:rPr>
              <a:t>#Note- This diagram extend the numbering used in “</a:t>
            </a:r>
            <a:r>
              <a:rPr kumimoji="0" lang="en-GB" sz="800" b="0" i="0" u="none" strike="noStrike" kern="1200" cap="none" spc="0" normalizeH="0" baseline="0" noProof="0">
                <a:ln>
                  <a:noFill/>
                </a:ln>
                <a:solidFill>
                  <a:prstClr val="black"/>
                </a:solidFill>
                <a:effectLst/>
                <a:uLnTx/>
                <a:uFillTx/>
                <a:latin typeface="Corbel"/>
                <a:ea typeface="+mn-ea"/>
                <a:cs typeface="+mn-cs"/>
                <a:hlinkClick r:id="rId5" action="ppaction://hlinksldjump"/>
              </a:rPr>
              <a:t>Target Application Architecture of nBIF</a:t>
            </a:r>
            <a:r>
              <a:rPr kumimoji="0" lang="en-GB" sz="800" b="0" i="0" u="none" strike="noStrike" kern="1200" cap="none" spc="0" normalizeH="0" baseline="0" noProof="0">
                <a:ln>
                  <a:noFill/>
                </a:ln>
                <a:solidFill>
                  <a:prstClr val="black"/>
                </a:solidFill>
                <a:effectLst/>
                <a:uLnTx/>
                <a:uFillTx/>
                <a:latin typeface="Corbel"/>
                <a:ea typeface="+mn-ea"/>
                <a:cs typeface="+mn-cs"/>
              </a:rPr>
              <a:t>”.</a:t>
            </a:r>
          </a:p>
          <a:p>
            <a:endParaRPr lang="en-IN" sz="800">
              <a:solidFill>
                <a:prstClr val="black"/>
              </a:solidFill>
              <a:latin typeface="Corbel"/>
            </a:endParaRPr>
          </a:p>
          <a:p>
            <a:r>
              <a:rPr lang="en-IN" sz="800">
                <a:solidFill>
                  <a:prstClr val="black"/>
                </a:solidFill>
                <a:latin typeface="Corbel"/>
              </a:rPr>
              <a:t>8. nBIF Ingests Monthly client data as well as the Transactions and Balance data from CADDI</a:t>
            </a:r>
          </a:p>
          <a:p>
            <a:r>
              <a:rPr lang="en-IN" sz="800">
                <a:solidFill>
                  <a:prstClr val="black"/>
                </a:solidFill>
                <a:latin typeface="Corbel"/>
              </a:rPr>
              <a:t> Transactions and Balance data from CADDI is ingested by one portfolio and used by following portfolios. Ex – Corporate nBIF workflow copies </a:t>
            </a:r>
            <a:r>
              <a:rPr lang="en-IN" sz="800" err="1">
                <a:solidFill>
                  <a:prstClr val="black"/>
                </a:solidFill>
                <a:latin typeface="Corbel"/>
              </a:rPr>
              <a:t>Txn</a:t>
            </a:r>
            <a:r>
              <a:rPr lang="en-IN" sz="800">
                <a:solidFill>
                  <a:prstClr val="black"/>
                </a:solidFill>
                <a:latin typeface="Corbel"/>
              </a:rPr>
              <a:t> &amp; Bal data. When RSME workflow runs it doesn’t perform </a:t>
            </a:r>
            <a:r>
              <a:rPr lang="en-IN" sz="800" err="1">
                <a:solidFill>
                  <a:prstClr val="black"/>
                </a:solidFill>
                <a:latin typeface="Corbel"/>
              </a:rPr>
              <a:t>Txn</a:t>
            </a:r>
            <a:r>
              <a:rPr lang="en-IN" sz="800">
                <a:solidFill>
                  <a:prstClr val="black"/>
                </a:solidFill>
                <a:latin typeface="Corbel"/>
              </a:rPr>
              <a:t> &amp; Bal data copy.</a:t>
            </a:r>
          </a:p>
          <a:p>
            <a:r>
              <a:rPr lang="en-IN" sz="800">
                <a:solidFill>
                  <a:prstClr val="black"/>
                </a:solidFill>
                <a:latin typeface="Corbel"/>
              </a:rPr>
              <a:t>8a. Ingested data is inspected through Input plausibility report. This inspection consolidates validation needed by all bridges.</a:t>
            </a:r>
          </a:p>
          <a:p>
            <a:endParaRPr lang="en-IN" sz="800">
              <a:solidFill>
                <a:prstClr val="black"/>
              </a:solidFill>
              <a:latin typeface="Corbel"/>
            </a:endParaRPr>
          </a:p>
          <a:p>
            <a:r>
              <a:rPr lang="en-IN" sz="800">
                <a:solidFill>
                  <a:prstClr val="black"/>
                </a:solidFill>
                <a:latin typeface="Corbel"/>
              </a:rPr>
              <a:t>10a. IRB model factory is loaded with the IRB input data </a:t>
            </a:r>
          </a:p>
          <a:p>
            <a:r>
              <a:rPr lang="en-IN" sz="800">
                <a:solidFill>
                  <a:prstClr val="black"/>
                </a:solidFill>
                <a:latin typeface="Corbel"/>
              </a:rPr>
              <a:t>10b. IRB calculator executes by reading input data from IRB model factory.</a:t>
            </a:r>
          </a:p>
          <a:p>
            <a:r>
              <a:rPr lang="en-IN" sz="800">
                <a:solidFill>
                  <a:prstClr val="black"/>
                </a:solidFill>
                <a:latin typeface="Corbel"/>
              </a:rPr>
              <a:t>          </a:t>
            </a:r>
            <a:r>
              <a:rPr lang="en-IN" sz="800" err="1">
                <a:solidFill>
                  <a:prstClr val="black"/>
                </a:solidFill>
                <a:latin typeface="Corbel"/>
              </a:rPr>
              <a:t>Txn</a:t>
            </a:r>
            <a:r>
              <a:rPr lang="en-IN" sz="800">
                <a:solidFill>
                  <a:prstClr val="black"/>
                </a:solidFill>
                <a:latin typeface="Corbel"/>
              </a:rPr>
              <a:t> &amp; Balance data remain in Common Data Cache itself. Calculator reads it         </a:t>
            </a:r>
          </a:p>
          <a:p>
            <a:r>
              <a:rPr lang="en-IN" sz="800">
                <a:solidFill>
                  <a:prstClr val="black"/>
                </a:solidFill>
                <a:latin typeface="Corbel"/>
              </a:rPr>
              <a:t>           from there.</a:t>
            </a:r>
          </a:p>
          <a:p>
            <a:r>
              <a:rPr lang="en-IN" sz="800">
                <a:solidFill>
                  <a:prstClr val="black"/>
                </a:solidFill>
                <a:latin typeface="Corbel"/>
              </a:rPr>
              <a:t>10c. IRB calculator writes results to IRB model factory.</a:t>
            </a:r>
          </a:p>
          <a:p>
            <a:r>
              <a:rPr lang="en-IN" sz="800">
                <a:solidFill>
                  <a:prstClr val="black"/>
                </a:solidFill>
                <a:latin typeface="Corbel"/>
              </a:rPr>
              <a:t>10d. ETL to prepare aggregates for IRB Plausibility report</a:t>
            </a:r>
          </a:p>
          <a:p>
            <a:r>
              <a:rPr lang="en-IN" sz="800">
                <a:solidFill>
                  <a:prstClr val="black"/>
                </a:solidFill>
                <a:latin typeface="Corbel"/>
              </a:rPr>
              <a:t>10e. IRB result inspection. #Note- RWA run doesn’t wait for IRB calculator.</a:t>
            </a:r>
          </a:p>
          <a:p>
            <a:endParaRPr lang="en-IN" sz="800">
              <a:solidFill>
                <a:prstClr val="black"/>
              </a:solidFill>
              <a:latin typeface="Corbel"/>
            </a:endParaRPr>
          </a:p>
          <a:p>
            <a:r>
              <a:rPr lang="en-IN" sz="800">
                <a:solidFill>
                  <a:prstClr val="black"/>
                </a:solidFill>
                <a:latin typeface="Corbel"/>
              </a:rPr>
              <a:t>12a. ETL to load RWA model factory with the RWA input data </a:t>
            </a:r>
          </a:p>
          <a:p>
            <a:r>
              <a:rPr lang="en-IN" sz="800">
                <a:solidFill>
                  <a:prstClr val="black"/>
                </a:solidFill>
                <a:latin typeface="Corbel"/>
              </a:rPr>
              <a:t>12b. RWA calculator executes by reading input data from RWA model factory.</a:t>
            </a:r>
          </a:p>
          <a:p>
            <a:r>
              <a:rPr lang="en-IN" sz="800">
                <a:solidFill>
                  <a:prstClr val="black"/>
                </a:solidFill>
                <a:latin typeface="Corbel"/>
              </a:rPr>
              <a:t>12c. RWA calculator writes results to RWA model factory.</a:t>
            </a:r>
          </a:p>
          <a:p>
            <a:r>
              <a:rPr lang="en-IN" sz="800">
                <a:solidFill>
                  <a:prstClr val="black"/>
                </a:solidFill>
                <a:latin typeface="Corbel"/>
              </a:rPr>
              <a:t>12d. ETL to prepare aggregates for RWA Plausibility report</a:t>
            </a:r>
          </a:p>
          <a:p>
            <a:r>
              <a:rPr lang="en-IN" sz="800">
                <a:solidFill>
                  <a:prstClr val="black"/>
                </a:solidFill>
                <a:latin typeface="Corbel"/>
              </a:rPr>
              <a:t>12e. RWA result inspection.</a:t>
            </a:r>
          </a:p>
          <a:p>
            <a:endParaRPr lang="en-IN" sz="800">
              <a:solidFill>
                <a:prstClr val="black"/>
              </a:solidFill>
              <a:latin typeface="Corbel"/>
            </a:endParaRPr>
          </a:p>
          <a:p>
            <a:r>
              <a:rPr lang="en-IN" sz="800">
                <a:solidFill>
                  <a:prstClr val="black"/>
                </a:solidFill>
                <a:latin typeface="Corbel"/>
              </a:rPr>
              <a:t>12f. If IRB &amp; RWA, both, are approved after inspection, The data from result &amp; </a:t>
            </a:r>
            <a:r>
              <a:rPr lang="en-IN" sz="800" err="1">
                <a:solidFill>
                  <a:prstClr val="black"/>
                </a:solidFill>
                <a:latin typeface="Corbel"/>
              </a:rPr>
              <a:t>agg</a:t>
            </a:r>
            <a:r>
              <a:rPr lang="en-IN" sz="800">
                <a:solidFill>
                  <a:prstClr val="black"/>
                </a:solidFill>
                <a:latin typeface="Corbel"/>
              </a:rPr>
              <a:t> tables of both model factories is copied to Validated risk metrics store.</a:t>
            </a:r>
          </a:p>
          <a:p>
            <a:endParaRPr lang="en-IN" sz="800">
              <a:solidFill>
                <a:prstClr val="black"/>
              </a:solidFill>
              <a:latin typeface="Corbel"/>
            </a:endParaRPr>
          </a:p>
          <a:p>
            <a:endParaRPr lang="en-IN" sz="800">
              <a:solidFill>
                <a:prstClr val="black"/>
              </a:solidFill>
              <a:latin typeface="Corbel"/>
            </a:endParaRPr>
          </a:p>
          <a:p>
            <a:endParaRPr lang="en-IN" sz="800">
              <a:solidFill>
                <a:prstClr val="black"/>
              </a:solidFill>
              <a:latin typeface="Corbel"/>
            </a:endParaRPr>
          </a:p>
          <a:p>
            <a:endParaRPr lang="en-IN" sz="800">
              <a:solidFill>
                <a:prstClr val="black"/>
              </a:solidFill>
              <a:latin typeface="Corbel"/>
            </a:endParaRPr>
          </a:p>
          <a:p>
            <a:endParaRPr lang="en-IN" sz="800">
              <a:solidFill>
                <a:prstClr val="black"/>
              </a:solidFill>
              <a:latin typeface="Corbel"/>
            </a:endParaRPr>
          </a:p>
          <a:p>
            <a:endParaRPr lang="en-IN" sz="800">
              <a:solidFill>
                <a:prstClr val="black"/>
              </a:solidFill>
              <a:latin typeface="Corbel"/>
            </a:endParaRPr>
          </a:p>
        </p:txBody>
      </p:sp>
    </p:spTree>
    <p:extLst>
      <p:ext uri="{BB962C8B-B14F-4D97-AF65-F5344CB8AC3E}">
        <p14:creationId xmlns:p14="http://schemas.microsoft.com/office/powerpoint/2010/main" val="31592017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5814" y="-68674"/>
            <a:ext cx="7464026" cy="875509"/>
          </a:xfrm>
        </p:spPr>
        <p:txBody>
          <a:bodyPr/>
          <a:lstStyle/>
          <a:p>
            <a:r>
              <a:rPr lang="en-GB" sz="2400"/>
              <a:t>5.8 Generic Application Architecture UT9</a:t>
            </a:r>
          </a:p>
        </p:txBody>
      </p:sp>
      <p:sp>
        <p:nvSpPr>
          <p:cNvPr id="5" name="Slide Number Placeholder 4"/>
          <p:cNvSpPr>
            <a:spLocks noGrp="1"/>
          </p:cNvSpPr>
          <p:nvPr>
            <p:ph type="sldNum" sz="quarter" idx="10"/>
          </p:nvPr>
        </p:nvSpPr>
        <p:spPr/>
        <p:txBody>
          <a:bodyPr/>
          <a:lstStyle/>
          <a:p>
            <a:pPr marL="0" marR="0" lvl="0" indent="0" algn="r" defTabSz="456999" rtl="0" eaLnBrk="1" fontAlgn="auto" latinLnBrk="0" hangingPunct="1">
              <a:lnSpc>
                <a:spcPct val="100000"/>
              </a:lnSpc>
              <a:spcBef>
                <a:spcPts val="0"/>
              </a:spcBef>
              <a:spcAft>
                <a:spcPts val="0"/>
              </a:spcAft>
              <a:buClrTx/>
              <a:buSzTx/>
              <a:buFontTx/>
              <a:buNone/>
              <a:tabLst/>
              <a:defRPr/>
            </a:pPr>
            <a:fld id="{9C7F1ACC-2CE8-4B5A-AF9E-0D67538731EE}" type="slidenum">
              <a:rPr kumimoji="0" lang="en-GB" sz="1200" b="0" i="0" u="none" strike="noStrike" kern="1200" cap="none" spc="0" normalizeH="0" baseline="0" noProof="0" smtClean="0">
                <a:ln>
                  <a:noFill/>
                </a:ln>
                <a:solidFill>
                  <a:srgbClr val="5E6A71"/>
                </a:solidFill>
                <a:effectLst/>
                <a:uLnTx/>
                <a:uFillTx/>
                <a:latin typeface="Corbel"/>
                <a:ea typeface="+mn-ea"/>
                <a:cs typeface="+mn-cs"/>
              </a:rPr>
              <a:pPr marL="0" marR="0" lvl="0" indent="0" algn="r" defTabSz="456999"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a:ln>
                <a:noFill/>
              </a:ln>
              <a:solidFill>
                <a:srgbClr val="5E6A71"/>
              </a:solidFill>
              <a:effectLst/>
              <a:uLnTx/>
              <a:uFillTx/>
              <a:latin typeface="Corbel"/>
              <a:ea typeface="+mn-ea"/>
              <a:cs typeface="+mn-cs"/>
            </a:endParaRPr>
          </a:p>
        </p:txBody>
      </p:sp>
      <p:sp>
        <p:nvSpPr>
          <p:cNvPr id="10" name="Rounded Rectangle 10">
            <a:hlinkClick r:id="rId3" action="ppaction://hlinksldjump"/>
          </p:cNvPr>
          <p:cNvSpPr/>
          <p:nvPr/>
        </p:nvSpPr>
        <p:spPr>
          <a:xfrm>
            <a:off x="368311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5. Application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2" name="Rectangle 1">
            <a:extLst>
              <a:ext uri="{FF2B5EF4-FFF2-40B4-BE49-F238E27FC236}">
                <a16:creationId xmlns:a16="http://schemas.microsoft.com/office/drawing/2014/main" id="{5C802759-BE85-2833-47CE-020135B32735}"/>
              </a:ext>
            </a:extLst>
          </p:cNvPr>
          <p:cNvSpPr/>
          <p:nvPr/>
        </p:nvSpPr>
        <p:spPr>
          <a:xfrm>
            <a:off x="5097780" y="916778"/>
            <a:ext cx="3745788" cy="3866619"/>
          </a:xfrm>
          <a:prstGeom prst="rect">
            <a:avLst/>
          </a:prstGeom>
          <a:solidFill>
            <a:srgbClr val="EAEAEA"/>
          </a:solidFill>
          <a:ln w="12700" cap="rnd" cmpd="sng" algn="ctr">
            <a:solidFill>
              <a:srgbClr val="EAEAEA"/>
            </a:solidFill>
            <a:prstDash val="solid"/>
          </a:ln>
          <a:effectLst/>
        </p:spPr>
        <p:txBody>
          <a:bodyPr rtlCol="0" anchor="t"/>
          <a:lstStyle/>
          <a:p>
            <a:pPr marL="0" marR="0" lvl="0" indent="0" algn="just" defTabSz="914400" rtl="0" eaLnBrk="1" fontAlgn="auto" latinLnBrk="0" hangingPunct="1">
              <a:lnSpc>
                <a:spcPct val="100000"/>
              </a:lnSpc>
              <a:spcBef>
                <a:spcPts val="100"/>
              </a:spcBef>
              <a:spcAft>
                <a:spcPts val="100"/>
              </a:spcAft>
              <a:buClr>
                <a:srgbClr val="FD6400"/>
              </a:buClr>
              <a:buSzPct val="90000"/>
              <a:buFontTx/>
              <a:buNone/>
              <a:tabLst/>
              <a:defRPr/>
            </a:pPr>
            <a:r>
              <a:rPr kumimoji="0" lang="en-GB" sz="800" b="0" i="0" u="none" strike="noStrike" kern="1200" cap="none" spc="0" normalizeH="0" baseline="0" noProof="0">
                <a:ln>
                  <a:noFill/>
                </a:ln>
                <a:solidFill>
                  <a:prstClr val="black"/>
                </a:solidFill>
                <a:effectLst/>
                <a:uLnTx/>
                <a:uFillTx/>
                <a:latin typeface="Corbel"/>
                <a:ea typeface="+mn-ea"/>
                <a:cs typeface="+mn-cs"/>
              </a:rPr>
              <a:t>#Note- This diagram extend the numbering used in “</a:t>
            </a:r>
            <a:r>
              <a:rPr kumimoji="0" lang="en-GB" sz="800" b="0" i="0" u="none" strike="noStrike" kern="1200" cap="none" spc="0" normalizeH="0" baseline="0" noProof="0">
                <a:ln>
                  <a:noFill/>
                </a:ln>
                <a:solidFill>
                  <a:prstClr val="black"/>
                </a:solidFill>
                <a:effectLst/>
                <a:uLnTx/>
                <a:uFillTx/>
                <a:latin typeface="Corbel"/>
                <a:ea typeface="+mn-ea"/>
                <a:cs typeface="+mn-cs"/>
                <a:hlinkClick r:id="rId4" action="ppaction://hlinksldjump"/>
              </a:rPr>
              <a:t>Target Application Architecture of nBIF</a:t>
            </a:r>
            <a:r>
              <a:rPr kumimoji="0" lang="en-GB" sz="800" b="0" i="0" u="none" strike="noStrike" kern="1200" cap="none" spc="0" normalizeH="0" baseline="0" noProof="0">
                <a:ln>
                  <a:noFill/>
                </a:ln>
                <a:solidFill>
                  <a:prstClr val="black"/>
                </a:solidFill>
                <a:effectLst/>
                <a:uLnTx/>
                <a:uFillTx/>
                <a:latin typeface="Corbel"/>
                <a:ea typeface="+mn-ea"/>
                <a:cs typeface="+mn-cs"/>
              </a:rPr>
              <a:t>”. </a:t>
            </a:r>
            <a:endParaRPr lang="en-GB" sz="800">
              <a:solidFill>
                <a:prstClr val="black"/>
              </a:solidFill>
              <a:latin typeface="Corbel"/>
            </a:endParaRPr>
          </a:p>
          <a:p>
            <a:endParaRPr lang="en-IN" sz="800">
              <a:solidFill>
                <a:prstClr val="black"/>
              </a:solidFill>
              <a:latin typeface="Corbel"/>
            </a:endParaRPr>
          </a:p>
          <a:p>
            <a:r>
              <a:rPr lang="en-IN" sz="800">
                <a:solidFill>
                  <a:prstClr val="black"/>
                </a:solidFill>
                <a:latin typeface="Corbel"/>
              </a:rPr>
              <a:t>8. nBIF Ingests Monthly client data from CADDI. nBIF also ingest MES from Meister.</a:t>
            </a:r>
          </a:p>
          <a:p>
            <a:r>
              <a:rPr lang="en-IN" sz="800">
                <a:solidFill>
                  <a:prstClr val="black"/>
                </a:solidFill>
                <a:latin typeface="Corbel"/>
              </a:rPr>
              <a:t>#Note- IFRS9 require data from few other data providers. The study about that is in progress. </a:t>
            </a:r>
            <a:r>
              <a:rPr lang="nl-NL" sz="800"/>
              <a:t>See sub-</a:t>
            </a:r>
            <a:r>
              <a:rPr lang="nl-NL" sz="800" err="1"/>
              <a:t>heading</a:t>
            </a:r>
            <a:r>
              <a:rPr lang="nl-NL" sz="800"/>
              <a:t>. </a:t>
            </a:r>
            <a:endParaRPr lang="en-IN" sz="800"/>
          </a:p>
          <a:p>
            <a:endParaRPr lang="en-IN" sz="800">
              <a:solidFill>
                <a:prstClr val="black"/>
              </a:solidFill>
              <a:latin typeface="Corbel"/>
            </a:endParaRPr>
          </a:p>
          <a:p>
            <a:r>
              <a:rPr lang="en-IN" sz="800">
                <a:solidFill>
                  <a:prstClr val="black"/>
                </a:solidFill>
                <a:latin typeface="Corbel"/>
              </a:rPr>
              <a:t>8a. Ingested data is inspected through Input plausibility report. This inspection consolidates validation needed by all bridges.</a:t>
            </a:r>
          </a:p>
          <a:p>
            <a:endParaRPr lang="en-IN" sz="800">
              <a:solidFill>
                <a:prstClr val="black"/>
              </a:solidFill>
              <a:latin typeface="Corbel"/>
            </a:endParaRPr>
          </a:p>
          <a:p>
            <a:r>
              <a:rPr lang="en-IN" sz="800">
                <a:solidFill>
                  <a:prstClr val="black"/>
                </a:solidFill>
                <a:latin typeface="Corbel"/>
              </a:rPr>
              <a:t>10. IRB calculator run is complete with data exchange from IRB Model Factory.</a:t>
            </a:r>
          </a:p>
          <a:p>
            <a:endParaRPr lang="en-IN" sz="800">
              <a:solidFill>
                <a:prstClr val="black"/>
              </a:solidFill>
              <a:latin typeface="Corbel"/>
            </a:endParaRPr>
          </a:p>
          <a:p>
            <a:r>
              <a:rPr lang="en-IN" sz="800">
                <a:solidFill>
                  <a:prstClr val="black"/>
                </a:solidFill>
                <a:latin typeface="Corbel"/>
              </a:rPr>
              <a:t>11a. ETL to load IFRS9 model factory with the IFRS9 input data </a:t>
            </a:r>
          </a:p>
          <a:p>
            <a:r>
              <a:rPr lang="en-IN" sz="800">
                <a:solidFill>
                  <a:prstClr val="black"/>
                </a:solidFill>
                <a:latin typeface="Corbel"/>
              </a:rPr>
              <a:t>#Note – It is a simplistic diagram. It can be multi step process to prepare Input data.</a:t>
            </a:r>
          </a:p>
          <a:p>
            <a:r>
              <a:rPr lang="en-IN" sz="800">
                <a:solidFill>
                  <a:prstClr val="black"/>
                </a:solidFill>
                <a:latin typeface="Corbel"/>
              </a:rPr>
              <a:t>11b. IFRS9 calculator executes by reading input data from IFRS9 model factory &amp; Common Data Cache.</a:t>
            </a:r>
          </a:p>
          <a:p>
            <a:r>
              <a:rPr lang="en-IN" sz="800">
                <a:solidFill>
                  <a:prstClr val="black"/>
                </a:solidFill>
                <a:latin typeface="Corbel"/>
              </a:rPr>
              <a:t>11c. IFRS9 calculator writes results to IFRS9 model factory.</a:t>
            </a:r>
          </a:p>
          <a:p>
            <a:r>
              <a:rPr lang="en-IN" sz="800">
                <a:solidFill>
                  <a:prstClr val="black"/>
                </a:solidFill>
                <a:latin typeface="Corbel"/>
              </a:rPr>
              <a:t>#Note – There can be multiple sub-steps here, which will be detailed out in low level design of IFRS9. </a:t>
            </a:r>
          </a:p>
          <a:p>
            <a:r>
              <a:rPr lang="en-IN" sz="800">
                <a:solidFill>
                  <a:prstClr val="black"/>
                </a:solidFill>
                <a:latin typeface="Corbel"/>
              </a:rPr>
              <a:t>10d. ETL to prepare aggregates for IFRS9 Plausibility report</a:t>
            </a:r>
          </a:p>
          <a:p>
            <a:r>
              <a:rPr lang="en-IN" sz="800">
                <a:solidFill>
                  <a:prstClr val="black"/>
                </a:solidFill>
                <a:latin typeface="Corbel"/>
              </a:rPr>
              <a:t>10e. IFRS9 result inspection. </a:t>
            </a:r>
          </a:p>
          <a:p>
            <a:r>
              <a:rPr lang="en-IN" sz="800">
                <a:solidFill>
                  <a:prstClr val="black"/>
                </a:solidFill>
                <a:latin typeface="Corbel"/>
              </a:rPr>
              <a:t>#Note- Decision Pending – Whether RWA run will start only after IFRS9 approval.</a:t>
            </a:r>
          </a:p>
          <a:p>
            <a:endParaRPr lang="en-IN" sz="800">
              <a:solidFill>
                <a:prstClr val="black"/>
              </a:solidFill>
              <a:latin typeface="Corbel"/>
            </a:endParaRPr>
          </a:p>
          <a:p>
            <a:r>
              <a:rPr lang="en-IN" sz="800">
                <a:solidFill>
                  <a:prstClr val="black"/>
                </a:solidFill>
                <a:latin typeface="Corbel"/>
              </a:rPr>
              <a:t>12. RWA calculator run is complete with data exchange from RWA Model Factory.</a:t>
            </a:r>
          </a:p>
          <a:p>
            <a:r>
              <a:rPr lang="en-IN" sz="800">
                <a:solidFill>
                  <a:prstClr val="black"/>
                </a:solidFill>
                <a:latin typeface="Corbel"/>
              </a:rPr>
              <a:t>#Note- Do note, with B4, RWA is to be calculated with IRB approach as well as SA for every portfolio. It is likely to have single RWA B4 calculator for both.</a:t>
            </a:r>
          </a:p>
          <a:p>
            <a:endParaRPr lang="en-IN" sz="800">
              <a:solidFill>
                <a:prstClr val="black"/>
              </a:solidFill>
              <a:latin typeface="Corbel"/>
            </a:endParaRPr>
          </a:p>
          <a:p>
            <a:r>
              <a:rPr lang="en-IN" sz="800">
                <a:solidFill>
                  <a:prstClr val="black"/>
                </a:solidFill>
                <a:latin typeface="Corbel"/>
              </a:rPr>
              <a:t>12f. If IRB &amp; IFRS9 &amp; RWA, all, are approved after inspection, The data from result &amp; all tables of all three model factories is copied to Validated risk metrics store.</a:t>
            </a:r>
          </a:p>
        </p:txBody>
      </p:sp>
      <p:pic>
        <p:nvPicPr>
          <p:cNvPr id="14" name="Picture 13">
            <a:extLst>
              <a:ext uri="{FF2B5EF4-FFF2-40B4-BE49-F238E27FC236}">
                <a16:creationId xmlns:a16="http://schemas.microsoft.com/office/drawing/2014/main" id="{49DD96EE-0DF9-71B2-39EA-C3B246B6B950}"/>
              </a:ext>
            </a:extLst>
          </p:cNvPr>
          <p:cNvPicPr>
            <a:picLocks noChangeAspect="1"/>
          </p:cNvPicPr>
          <p:nvPr/>
        </p:nvPicPr>
        <p:blipFill>
          <a:blip r:embed="rId5"/>
          <a:stretch>
            <a:fillRect/>
          </a:stretch>
        </p:blipFill>
        <p:spPr>
          <a:xfrm>
            <a:off x="475814" y="916778"/>
            <a:ext cx="4319697" cy="3866619"/>
          </a:xfrm>
          <a:prstGeom prst="rect">
            <a:avLst/>
          </a:prstGeom>
        </p:spPr>
      </p:pic>
      <p:sp>
        <p:nvSpPr>
          <p:cNvPr id="15" name="Rectangle 14">
            <a:extLst>
              <a:ext uri="{FF2B5EF4-FFF2-40B4-BE49-F238E27FC236}">
                <a16:creationId xmlns:a16="http://schemas.microsoft.com/office/drawing/2014/main" id="{827DF850-AA9A-FAC5-39F6-A98089A7164D}"/>
              </a:ext>
            </a:extLst>
          </p:cNvPr>
          <p:cNvSpPr/>
          <p:nvPr/>
        </p:nvSpPr>
        <p:spPr>
          <a:xfrm>
            <a:off x="899886" y="492742"/>
            <a:ext cx="7759660" cy="400110"/>
          </a:xfrm>
          <a:prstGeom prst="rect">
            <a:avLst/>
          </a:prstGeom>
        </p:spPr>
        <p:txBody>
          <a:bodyPr wrap="square">
            <a:spAutoFit/>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1000">
                <a:solidFill>
                  <a:srgbClr val="FD6400"/>
                </a:solidFill>
                <a:latin typeface="+mj-lt"/>
              </a:rPr>
              <a:t>This page provides simplistic overview of high level orchestration steps to run IFRS9 on nBIF. It is not intended to cover all the </a:t>
            </a:r>
            <a:r>
              <a:rPr lang="en-GB" sz="1000" err="1">
                <a:solidFill>
                  <a:srgbClr val="FD6400"/>
                </a:solidFill>
                <a:latin typeface="+mj-lt"/>
              </a:rPr>
              <a:t>nuiances</a:t>
            </a:r>
            <a:r>
              <a:rPr lang="en-GB" sz="1000">
                <a:solidFill>
                  <a:srgbClr val="FD6400"/>
                </a:solidFill>
                <a:latin typeface="+mj-lt"/>
              </a:rPr>
              <a:t>. </a:t>
            </a:r>
          </a:p>
          <a:p>
            <a:pPr marL="0" marR="0" lvl="0" indent="0" algn="l" defTabSz="456999" rtl="0" eaLnBrk="1" fontAlgn="auto" latinLnBrk="0" hangingPunct="1">
              <a:lnSpc>
                <a:spcPct val="100000"/>
              </a:lnSpc>
              <a:spcBef>
                <a:spcPts val="0"/>
              </a:spcBef>
              <a:spcAft>
                <a:spcPts val="0"/>
              </a:spcAft>
              <a:buClrTx/>
              <a:buSzTx/>
              <a:buFontTx/>
              <a:buNone/>
              <a:tabLst/>
              <a:defRPr/>
            </a:pPr>
            <a:r>
              <a:rPr lang="nl-NL" sz="1000">
                <a:solidFill>
                  <a:srgbClr val="FD6400"/>
                </a:solidFill>
                <a:latin typeface="+mj-lt"/>
              </a:rPr>
              <a:t>See </a:t>
            </a:r>
            <a:r>
              <a:rPr lang="en-IN" sz="1000">
                <a:latin typeface="+mj-lt"/>
                <a:hlinkClick r:id="rId6"/>
              </a:rPr>
              <a:t>Decision document IFRS9 migration to nBIF v1.0.pptx</a:t>
            </a:r>
            <a:r>
              <a:rPr lang="en-IN" sz="1000">
                <a:latin typeface="+mj-lt"/>
              </a:rPr>
              <a:t> </a:t>
            </a:r>
            <a:r>
              <a:rPr lang="en-IN" sz="1000">
                <a:solidFill>
                  <a:srgbClr val="FD6400"/>
                </a:solidFill>
                <a:latin typeface="+mj-lt"/>
              </a:rPr>
              <a:t>cover more granular details about IFRS9 on nBIF. </a:t>
            </a:r>
            <a:endParaRPr lang="en-GB" sz="1000">
              <a:solidFill>
                <a:srgbClr val="FD6400"/>
              </a:solidFill>
              <a:latin typeface="+mj-lt"/>
            </a:endParaRPr>
          </a:p>
        </p:txBody>
      </p:sp>
    </p:spTree>
    <p:extLst>
      <p:ext uri="{BB962C8B-B14F-4D97-AF65-F5344CB8AC3E}">
        <p14:creationId xmlns:p14="http://schemas.microsoft.com/office/powerpoint/2010/main" val="1262335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5814" y="1787530"/>
            <a:ext cx="7804586" cy="553998"/>
          </a:xfrm>
          <a:effectLst/>
        </p:spPr>
        <p:txBody>
          <a:bodyPr vert="horz" lIns="0" tIns="0" rIns="0" bIns="0" rtlCol="0" anchor="b">
            <a:spAutoFit/>
          </a:bodyPr>
          <a:lstStyle/>
          <a:p>
            <a:r>
              <a:rPr lang="en-GB"/>
              <a:t>Infrastructure</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8" name="Rounded Rectangle 10">
            <a:hlinkClick r:id="" action="ppaction://noaction"/>
          </p:cNvPr>
          <p:cNvSpPr/>
          <p:nvPr/>
        </p:nvSpPr>
        <p:spPr>
          <a:xfrm>
            <a:off x="4595084"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547815487"/>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6.1 Cloud </a:t>
            </a:r>
            <a:r>
              <a:rPr lang="nl-NL" err="1"/>
              <a:t>principles</a:t>
            </a:r>
            <a:endParaRPr lang="en-US"/>
          </a:p>
        </p:txBody>
      </p:sp>
      <p:sp>
        <p:nvSpPr>
          <p:cNvPr id="3" name="Tijdelijke aanduiding voor dianummer 2"/>
          <p:cNvSpPr>
            <a:spLocks noGrp="1"/>
          </p:cNvSpPr>
          <p:nvPr>
            <p:ph type="sldNum" sz="quarter" idx="10"/>
          </p:nvPr>
        </p:nvSpPr>
        <p:spPr/>
        <p:txBody>
          <a:bodyPr/>
          <a:lstStyle/>
          <a:p>
            <a:fld id="{4821C4A5-98F2-7545-875B-39B2F4500447}" type="slidenum">
              <a:rPr lang="en-GB" noProof="0" smtClean="0"/>
              <a:pPr/>
              <a:t>63</a:t>
            </a:fld>
            <a:endParaRPr lang="en-GB" noProof="0"/>
          </a:p>
        </p:txBody>
      </p:sp>
      <p:sp>
        <p:nvSpPr>
          <p:cNvPr id="7" name="Rounded Rectangle 10">
            <a:hlinkClick r:id="rId3" action="ppaction://hlinksldjump"/>
          </p:cNvPr>
          <p:cNvSpPr/>
          <p:nvPr/>
        </p:nvSpPr>
        <p:spPr>
          <a:xfrm>
            <a:off x="4595084"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68" name="Oval 67"/>
          <p:cNvSpPr/>
          <p:nvPr/>
        </p:nvSpPr>
        <p:spPr>
          <a:xfrm>
            <a:off x="0" y="0"/>
            <a:ext cx="364621" cy="347529"/>
          </a:xfrm>
          <a:prstGeom prst="ellipse">
            <a:avLst/>
          </a:prstGeom>
          <a:noFill/>
          <a:ln w="12700" cap="rnd" cmpd="sng" algn="ctr">
            <a:noFill/>
            <a:prstDash val="solid"/>
          </a:ln>
          <a:effectLst/>
        </p:spPr>
        <p:txBody>
          <a:bodyPr rtlCol="0" anchor="ctr"/>
          <a:lstStyle/>
          <a:p>
            <a:pPr algn="ctr"/>
            <a:endParaRPr lang="en-GB">
              <a:solidFill>
                <a:srgbClr val="5E6A71"/>
              </a:solidFill>
            </a:endParaRPr>
          </a:p>
        </p:txBody>
      </p:sp>
      <p:sp>
        <p:nvSpPr>
          <p:cNvPr id="71" name="Flowchart: Process 8"/>
          <p:cNvSpPr/>
          <p:nvPr/>
        </p:nvSpPr>
        <p:spPr>
          <a:xfrm>
            <a:off x="4537975" y="3262820"/>
            <a:ext cx="2061890" cy="1058239"/>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9</a:t>
            </a:r>
            <a:r>
              <a:rPr lang="en-GB" sz="2800" b="1">
                <a:solidFill>
                  <a:schemeClr val="tx2">
                    <a:lumMod val="60000"/>
                    <a:lumOff val="40000"/>
                  </a:schemeClr>
                </a:solidFill>
              </a:rPr>
              <a:t> </a:t>
            </a:r>
          </a:p>
        </p:txBody>
      </p:sp>
      <p:sp>
        <p:nvSpPr>
          <p:cNvPr id="72" name="Flowchart: Process 9"/>
          <p:cNvSpPr/>
          <p:nvPr/>
        </p:nvSpPr>
        <p:spPr>
          <a:xfrm>
            <a:off x="246289" y="2170361"/>
            <a:ext cx="2063463" cy="1058239"/>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3</a:t>
            </a:r>
          </a:p>
        </p:txBody>
      </p:sp>
      <p:sp>
        <p:nvSpPr>
          <p:cNvPr id="73" name="Flowchart: Process 11"/>
          <p:cNvSpPr/>
          <p:nvPr/>
        </p:nvSpPr>
        <p:spPr>
          <a:xfrm>
            <a:off x="255378" y="1045558"/>
            <a:ext cx="4205895" cy="1058239"/>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 rIns="72000" bIns="0" rtlCol="0" anchor="t" anchorCtr="0"/>
          <a:lstStyle/>
          <a:p>
            <a:r>
              <a:rPr lang="en-GB" sz="2400" b="1">
                <a:solidFill>
                  <a:schemeClr val="bg1"/>
                </a:solidFill>
              </a:rPr>
              <a:t>Architecture Cloud Technology Principles</a:t>
            </a:r>
          </a:p>
        </p:txBody>
      </p:sp>
      <p:grpSp>
        <p:nvGrpSpPr>
          <p:cNvPr id="74" name="Group 12"/>
          <p:cNvGrpSpPr/>
          <p:nvPr/>
        </p:nvGrpSpPr>
        <p:grpSpPr>
          <a:xfrm>
            <a:off x="4532560" y="1045558"/>
            <a:ext cx="2067305" cy="1058239"/>
            <a:chOff x="4572000" y="1268760"/>
            <a:chExt cx="2088232" cy="1512168"/>
          </a:xfrm>
        </p:grpSpPr>
        <p:sp>
          <p:nvSpPr>
            <p:cNvPr id="75" name="Flowchart: Process 47"/>
            <p:cNvSpPr/>
            <p:nvPr/>
          </p:nvSpPr>
          <p:spPr>
            <a:xfrm>
              <a:off x="4572000" y="1268760"/>
              <a:ext cx="2088232"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1</a:t>
              </a:r>
            </a:p>
          </p:txBody>
        </p:sp>
        <p:sp>
          <p:nvSpPr>
            <p:cNvPr id="76" name="TextBox 48"/>
            <p:cNvSpPr txBox="1"/>
            <p:nvPr/>
          </p:nvSpPr>
          <p:spPr>
            <a:xfrm>
              <a:off x="5004048" y="1268760"/>
              <a:ext cx="1656184" cy="655540"/>
            </a:xfrm>
            <a:prstGeom prst="rect">
              <a:avLst/>
            </a:prstGeom>
            <a:noFill/>
          </p:spPr>
          <p:txBody>
            <a:bodyPr wrap="square" lIns="72000" tIns="90000" rIns="72000" bIns="90000" rtlCol="0">
              <a:spAutoFit/>
            </a:bodyPr>
            <a:lstStyle/>
            <a:p>
              <a:r>
                <a:rPr lang="en-US" sz="900" b="1">
                  <a:solidFill>
                    <a:schemeClr val="tx1">
                      <a:lumMod val="65000"/>
                      <a:lumOff val="35000"/>
                    </a:schemeClr>
                  </a:solidFill>
                </a:rPr>
                <a:t>Allow all business processes to use public Cloud</a:t>
              </a:r>
              <a:endParaRPr lang="en-GB" sz="900" b="1">
                <a:solidFill>
                  <a:schemeClr val="tx1">
                    <a:lumMod val="65000"/>
                    <a:lumOff val="35000"/>
                  </a:schemeClr>
                </a:solidFill>
              </a:endParaRPr>
            </a:p>
          </p:txBody>
        </p:sp>
      </p:grpSp>
      <p:grpSp>
        <p:nvGrpSpPr>
          <p:cNvPr id="77" name="Group 76"/>
          <p:cNvGrpSpPr/>
          <p:nvPr/>
        </p:nvGrpSpPr>
        <p:grpSpPr>
          <a:xfrm>
            <a:off x="2393969" y="2154189"/>
            <a:ext cx="2067305" cy="1058239"/>
            <a:chOff x="2411760" y="2852936"/>
            <a:chExt cx="2088232" cy="1512168"/>
          </a:xfrm>
        </p:grpSpPr>
        <p:sp>
          <p:nvSpPr>
            <p:cNvPr id="78" name="Flowchart: Process 45"/>
            <p:cNvSpPr/>
            <p:nvPr/>
          </p:nvSpPr>
          <p:spPr>
            <a:xfrm>
              <a:off x="2411760" y="2852936"/>
              <a:ext cx="2088232"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4</a:t>
              </a:r>
            </a:p>
          </p:txBody>
        </p:sp>
        <p:sp>
          <p:nvSpPr>
            <p:cNvPr id="79" name="TextBox 46"/>
            <p:cNvSpPr txBox="1"/>
            <p:nvPr/>
          </p:nvSpPr>
          <p:spPr>
            <a:xfrm>
              <a:off x="2843808" y="2852936"/>
              <a:ext cx="1656184" cy="655540"/>
            </a:xfrm>
            <a:prstGeom prst="rect">
              <a:avLst/>
            </a:prstGeom>
            <a:noFill/>
          </p:spPr>
          <p:txBody>
            <a:bodyPr wrap="square" lIns="72000" tIns="90000" rIns="72000" bIns="90000" rtlCol="0">
              <a:spAutoFit/>
            </a:bodyPr>
            <a:lstStyle/>
            <a:p>
              <a:r>
                <a:rPr lang="en-GB" sz="900" b="1">
                  <a:solidFill>
                    <a:schemeClr val="tx1">
                      <a:lumMod val="65000"/>
                      <a:lumOff val="35000"/>
                    </a:schemeClr>
                  </a:solidFill>
                </a:rPr>
                <a:t>Follow Cloud technology standards</a:t>
              </a:r>
            </a:p>
          </p:txBody>
        </p:sp>
      </p:grpSp>
      <p:sp>
        <p:nvSpPr>
          <p:cNvPr id="80" name="Flowchart: Process 43"/>
          <p:cNvSpPr/>
          <p:nvPr/>
        </p:nvSpPr>
        <p:spPr>
          <a:xfrm>
            <a:off x="246289" y="3259418"/>
            <a:ext cx="2067305" cy="1058239"/>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7</a:t>
            </a:r>
          </a:p>
        </p:txBody>
      </p:sp>
      <p:sp>
        <p:nvSpPr>
          <p:cNvPr id="81" name="TextBox 44"/>
          <p:cNvSpPr txBox="1"/>
          <p:nvPr/>
        </p:nvSpPr>
        <p:spPr>
          <a:xfrm>
            <a:off x="690054" y="3288627"/>
            <a:ext cx="1639587" cy="322508"/>
          </a:xfrm>
          <a:prstGeom prst="rect">
            <a:avLst/>
          </a:prstGeom>
          <a:noFill/>
        </p:spPr>
        <p:txBody>
          <a:bodyPr wrap="square" lIns="72000" tIns="90000" rIns="72000" bIns="90000" rtlCol="0">
            <a:spAutoFit/>
          </a:bodyPr>
          <a:lstStyle/>
          <a:p>
            <a:r>
              <a:rPr lang="nl-NL" sz="800" b="1" err="1">
                <a:solidFill>
                  <a:schemeClr val="tx1">
                    <a:lumMod val="65000"/>
                    <a:lumOff val="35000"/>
                  </a:schemeClr>
                </a:solidFill>
              </a:rPr>
              <a:t>Prepare</a:t>
            </a:r>
            <a:r>
              <a:rPr lang="nl-NL" sz="800" b="1">
                <a:solidFill>
                  <a:schemeClr val="tx1">
                    <a:lumMod val="65000"/>
                    <a:lumOff val="35000"/>
                  </a:schemeClr>
                </a:solidFill>
              </a:rPr>
              <a:t> for exit</a:t>
            </a:r>
            <a:endParaRPr lang="en-GB" sz="800" b="1">
              <a:solidFill>
                <a:schemeClr val="tx1">
                  <a:lumMod val="65000"/>
                  <a:lumOff val="35000"/>
                </a:schemeClr>
              </a:solidFill>
            </a:endParaRPr>
          </a:p>
        </p:txBody>
      </p:sp>
      <p:sp>
        <p:nvSpPr>
          <p:cNvPr id="82" name="TextBox 56"/>
          <p:cNvSpPr txBox="1"/>
          <p:nvPr/>
        </p:nvSpPr>
        <p:spPr>
          <a:xfrm>
            <a:off x="2821686" y="3262820"/>
            <a:ext cx="1639587" cy="322508"/>
          </a:xfrm>
          <a:prstGeom prst="rect">
            <a:avLst/>
          </a:prstGeom>
          <a:noFill/>
        </p:spPr>
        <p:txBody>
          <a:bodyPr wrap="square" lIns="72000" tIns="90000" rIns="72000" bIns="90000" rtlCol="0">
            <a:spAutoFit/>
          </a:bodyPr>
          <a:lstStyle/>
          <a:p>
            <a:r>
              <a:rPr lang="nl-NL" sz="800" b="1">
                <a:solidFill>
                  <a:schemeClr val="tx1">
                    <a:lumMod val="65000"/>
                    <a:lumOff val="35000"/>
                  </a:schemeClr>
                </a:solidFill>
              </a:rPr>
              <a:t>Cloud </a:t>
            </a:r>
            <a:r>
              <a:rPr lang="nl-NL" sz="800" b="1" err="1">
                <a:solidFill>
                  <a:schemeClr val="tx1">
                    <a:lumMod val="65000"/>
                    <a:lumOff val="35000"/>
                  </a:schemeClr>
                </a:solidFill>
              </a:rPr>
              <a:t>exits</a:t>
            </a:r>
            <a:r>
              <a:rPr lang="nl-NL" sz="800" b="1">
                <a:solidFill>
                  <a:schemeClr val="tx1">
                    <a:lumMod val="65000"/>
                    <a:lumOff val="35000"/>
                  </a:schemeClr>
                </a:solidFill>
              </a:rPr>
              <a:t> to Cloud</a:t>
            </a:r>
            <a:endParaRPr lang="en-GB" sz="800" b="1">
              <a:solidFill>
                <a:schemeClr val="tx1">
                  <a:lumMod val="65000"/>
                  <a:lumOff val="35000"/>
                </a:schemeClr>
              </a:solidFill>
            </a:endParaRPr>
          </a:p>
        </p:txBody>
      </p:sp>
      <p:sp>
        <p:nvSpPr>
          <p:cNvPr id="83" name="TextBox 15"/>
          <p:cNvSpPr txBox="1"/>
          <p:nvPr/>
        </p:nvSpPr>
        <p:spPr>
          <a:xfrm>
            <a:off x="670165" y="2155129"/>
            <a:ext cx="1639587" cy="452742"/>
          </a:xfrm>
          <a:prstGeom prst="rect">
            <a:avLst/>
          </a:prstGeom>
          <a:noFill/>
        </p:spPr>
        <p:txBody>
          <a:bodyPr wrap="square" lIns="72000" tIns="90000" rIns="72000" bIns="90000" rtlCol="0">
            <a:spAutoFit/>
          </a:bodyPr>
          <a:lstStyle/>
          <a:p>
            <a:r>
              <a:rPr lang="nl-NL" sz="800" b="1">
                <a:solidFill>
                  <a:schemeClr val="tx1">
                    <a:lumMod val="65000"/>
                    <a:lumOff val="35000"/>
                  </a:schemeClr>
                </a:solidFill>
              </a:rPr>
              <a:t>Treat public Cloud as (out) sourcing</a:t>
            </a:r>
            <a:endParaRPr lang="en-GB" sz="800" b="1">
              <a:solidFill>
                <a:schemeClr val="tx1">
                  <a:lumMod val="65000"/>
                  <a:lumOff val="35000"/>
                </a:schemeClr>
              </a:solidFill>
            </a:endParaRPr>
          </a:p>
        </p:txBody>
      </p:sp>
      <p:grpSp>
        <p:nvGrpSpPr>
          <p:cNvPr id="84" name="Group 16"/>
          <p:cNvGrpSpPr/>
          <p:nvPr/>
        </p:nvGrpSpPr>
        <p:grpSpPr>
          <a:xfrm>
            <a:off x="6671151" y="2154189"/>
            <a:ext cx="2257962" cy="1058239"/>
            <a:chOff x="6732239" y="2852936"/>
            <a:chExt cx="2280819" cy="1512168"/>
          </a:xfrm>
        </p:grpSpPr>
        <p:sp>
          <p:nvSpPr>
            <p:cNvPr id="85" name="Flowchart: Process 41"/>
            <p:cNvSpPr/>
            <p:nvPr/>
          </p:nvSpPr>
          <p:spPr>
            <a:xfrm>
              <a:off x="6732239" y="2852936"/>
              <a:ext cx="2280819"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6</a:t>
              </a:r>
            </a:p>
          </p:txBody>
        </p:sp>
        <p:sp>
          <p:nvSpPr>
            <p:cNvPr id="86" name="TextBox 42"/>
            <p:cNvSpPr txBox="1"/>
            <p:nvPr/>
          </p:nvSpPr>
          <p:spPr>
            <a:xfrm>
              <a:off x="7164288" y="2852936"/>
              <a:ext cx="1795465" cy="655540"/>
            </a:xfrm>
            <a:prstGeom prst="rect">
              <a:avLst/>
            </a:prstGeom>
            <a:noFill/>
          </p:spPr>
          <p:txBody>
            <a:bodyPr wrap="square" lIns="72000" tIns="90000" rIns="72000" bIns="90000" rtlCol="0">
              <a:spAutoFit/>
            </a:bodyPr>
            <a:lstStyle/>
            <a:p>
              <a:r>
                <a:rPr lang="nl-NL" sz="900" b="1" err="1">
                  <a:solidFill>
                    <a:schemeClr val="tx1">
                      <a:lumMod val="65000"/>
                      <a:lumOff val="35000"/>
                    </a:schemeClr>
                  </a:solidFill>
                </a:rPr>
                <a:t>Keeping</a:t>
              </a:r>
              <a:r>
                <a:rPr lang="nl-NL" sz="900" b="1">
                  <a:solidFill>
                    <a:schemeClr val="tx1">
                      <a:lumMod val="65000"/>
                      <a:lumOff val="35000"/>
                    </a:schemeClr>
                  </a:solidFill>
                </a:rPr>
                <a:t> up with the pace of change</a:t>
              </a:r>
              <a:endParaRPr lang="en-GB" sz="900" b="1">
                <a:solidFill>
                  <a:schemeClr val="tx1">
                    <a:lumMod val="65000"/>
                    <a:lumOff val="35000"/>
                  </a:schemeClr>
                </a:solidFill>
              </a:endParaRPr>
            </a:p>
          </p:txBody>
        </p:sp>
      </p:grpSp>
      <p:grpSp>
        <p:nvGrpSpPr>
          <p:cNvPr id="87" name="Group 17"/>
          <p:cNvGrpSpPr/>
          <p:nvPr/>
        </p:nvGrpSpPr>
        <p:grpSpPr>
          <a:xfrm>
            <a:off x="2393969" y="3262820"/>
            <a:ext cx="2067305" cy="1058239"/>
            <a:chOff x="4572000" y="4437112"/>
            <a:chExt cx="2088232" cy="1512168"/>
          </a:xfrm>
        </p:grpSpPr>
        <p:sp>
          <p:nvSpPr>
            <p:cNvPr id="88" name="Flowchart: Process 39"/>
            <p:cNvSpPr/>
            <p:nvPr/>
          </p:nvSpPr>
          <p:spPr>
            <a:xfrm>
              <a:off x="4572000" y="4437112"/>
              <a:ext cx="2088232"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8</a:t>
              </a:r>
            </a:p>
            <a:p>
              <a:endParaRPr lang="en-GB" sz="2800" b="1">
                <a:solidFill>
                  <a:schemeClr val="accent1"/>
                </a:solidFill>
              </a:endParaRPr>
            </a:p>
          </p:txBody>
        </p:sp>
        <p:sp>
          <p:nvSpPr>
            <p:cNvPr id="89" name="TextBox 40"/>
            <p:cNvSpPr txBox="1"/>
            <p:nvPr/>
          </p:nvSpPr>
          <p:spPr>
            <a:xfrm>
              <a:off x="5004048" y="4437112"/>
              <a:ext cx="1656184" cy="655540"/>
            </a:xfrm>
            <a:prstGeom prst="rect">
              <a:avLst/>
            </a:prstGeom>
            <a:noFill/>
          </p:spPr>
          <p:txBody>
            <a:bodyPr wrap="square" lIns="72000" tIns="90000" rIns="72000" bIns="90000" rtlCol="0">
              <a:spAutoFit/>
            </a:bodyPr>
            <a:lstStyle>
              <a:defPPr>
                <a:defRPr lang="en-GB"/>
              </a:defPPr>
              <a:lvl1pPr>
                <a:defRPr sz="1000" b="1">
                  <a:solidFill>
                    <a:schemeClr val="tx1">
                      <a:lumMod val="65000"/>
                      <a:lumOff val="35000"/>
                    </a:schemeClr>
                  </a:solidFill>
                </a:defRPr>
              </a:lvl1pPr>
            </a:lstStyle>
            <a:p>
              <a:r>
                <a:rPr lang="en-GB" sz="900"/>
                <a:t>Secure, compliant and in control by design</a:t>
              </a:r>
            </a:p>
          </p:txBody>
        </p:sp>
      </p:grpSp>
      <p:grpSp>
        <p:nvGrpSpPr>
          <p:cNvPr id="90" name="Group 18"/>
          <p:cNvGrpSpPr/>
          <p:nvPr/>
        </p:nvGrpSpPr>
        <p:grpSpPr>
          <a:xfrm>
            <a:off x="4532560" y="2154189"/>
            <a:ext cx="2067305" cy="1058239"/>
            <a:chOff x="4572000" y="2852936"/>
            <a:chExt cx="2088232" cy="1512168"/>
          </a:xfrm>
        </p:grpSpPr>
        <p:sp>
          <p:nvSpPr>
            <p:cNvPr id="91" name="Flowchart: Process 37"/>
            <p:cNvSpPr/>
            <p:nvPr/>
          </p:nvSpPr>
          <p:spPr>
            <a:xfrm>
              <a:off x="4572000" y="2852936"/>
              <a:ext cx="2088232"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5</a:t>
              </a:r>
            </a:p>
          </p:txBody>
        </p:sp>
        <p:sp>
          <p:nvSpPr>
            <p:cNvPr id="92" name="TextBox 38"/>
            <p:cNvSpPr txBox="1"/>
            <p:nvPr/>
          </p:nvSpPr>
          <p:spPr>
            <a:xfrm>
              <a:off x="5004048" y="2852936"/>
              <a:ext cx="1656184" cy="655540"/>
            </a:xfrm>
            <a:prstGeom prst="rect">
              <a:avLst/>
            </a:prstGeom>
            <a:noFill/>
          </p:spPr>
          <p:txBody>
            <a:bodyPr wrap="square" lIns="72000" tIns="90000" rIns="72000" bIns="90000" rtlCol="0">
              <a:spAutoFit/>
            </a:bodyPr>
            <a:lstStyle/>
            <a:p>
              <a:r>
                <a:rPr lang="en-GB" sz="900" b="1">
                  <a:solidFill>
                    <a:schemeClr val="tx1">
                      <a:lumMod val="65000"/>
                      <a:lumOff val="35000"/>
                    </a:schemeClr>
                  </a:solidFill>
                </a:rPr>
                <a:t>Use SaaS before PaaS before IaaS</a:t>
              </a:r>
            </a:p>
          </p:txBody>
        </p:sp>
      </p:grpSp>
      <p:grpSp>
        <p:nvGrpSpPr>
          <p:cNvPr id="93" name="Group 19"/>
          <p:cNvGrpSpPr/>
          <p:nvPr/>
        </p:nvGrpSpPr>
        <p:grpSpPr>
          <a:xfrm>
            <a:off x="6671151" y="1045558"/>
            <a:ext cx="2257962" cy="1058239"/>
            <a:chOff x="6732239" y="1268760"/>
            <a:chExt cx="2280819" cy="1512168"/>
          </a:xfrm>
        </p:grpSpPr>
        <p:sp>
          <p:nvSpPr>
            <p:cNvPr id="94" name="Flowchart: Process 35"/>
            <p:cNvSpPr/>
            <p:nvPr/>
          </p:nvSpPr>
          <p:spPr>
            <a:xfrm>
              <a:off x="6732239" y="1268760"/>
              <a:ext cx="2280819"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2</a:t>
              </a:r>
            </a:p>
          </p:txBody>
        </p:sp>
        <p:sp>
          <p:nvSpPr>
            <p:cNvPr id="95" name="TextBox 36"/>
            <p:cNvSpPr txBox="1"/>
            <p:nvPr/>
          </p:nvSpPr>
          <p:spPr>
            <a:xfrm>
              <a:off x="7164288" y="1268760"/>
              <a:ext cx="1795465" cy="1051357"/>
            </a:xfrm>
            <a:prstGeom prst="rect">
              <a:avLst/>
            </a:prstGeom>
            <a:noFill/>
          </p:spPr>
          <p:txBody>
            <a:bodyPr wrap="square" lIns="72000" tIns="90000" rIns="72000" bIns="90000" rtlCol="0">
              <a:spAutoFit/>
            </a:bodyPr>
            <a:lstStyle/>
            <a:p>
              <a:r>
                <a:rPr lang="en-GB" sz="900" b="1">
                  <a:solidFill>
                    <a:schemeClr val="tx1">
                      <a:lumMod val="65000"/>
                      <a:lumOff val="35000"/>
                    </a:schemeClr>
                  </a:solidFill>
                </a:rPr>
                <a:t>Actively use Cloud technology to enable innovation </a:t>
              </a:r>
              <a:r>
                <a:rPr lang="en-US" sz="900" b="1">
                  <a:solidFill>
                    <a:schemeClr val="tx1">
                      <a:lumMod val="65000"/>
                      <a:lumOff val="35000"/>
                    </a:schemeClr>
                  </a:solidFill>
                </a:rPr>
                <a:t>and radical automation</a:t>
              </a:r>
            </a:p>
            <a:p>
              <a:endParaRPr lang="en-GB" sz="900" b="1">
                <a:solidFill>
                  <a:schemeClr val="tx1">
                    <a:lumMod val="65000"/>
                    <a:lumOff val="35000"/>
                  </a:schemeClr>
                </a:solidFill>
              </a:endParaRPr>
            </a:p>
          </p:txBody>
        </p:sp>
      </p:grpSp>
      <p:grpSp>
        <p:nvGrpSpPr>
          <p:cNvPr id="96" name="Group 22"/>
          <p:cNvGrpSpPr/>
          <p:nvPr/>
        </p:nvGrpSpPr>
        <p:grpSpPr>
          <a:xfrm>
            <a:off x="4960276" y="3253694"/>
            <a:ext cx="3968832" cy="1058238"/>
            <a:chOff x="5004048" y="4424075"/>
            <a:chExt cx="4009009" cy="1512168"/>
          </a:xfrm>
        </p:grpSpPr>
        <p:sp>
          <p:nvSpPr>
            <p:cNvPr id="97" name="Flowchart: Process 27"/>
            <p:cNvSpPr/>
            <p:nvPr/>
          </p:nvSpPr>
          <p:spPr>
            <a:xfrm>
              <a:off x="6732238" y="4424075"/>
              <a:ext cx="2280819" cy="1512168"/>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 rIns="72000" bIns="0" rtlCol="0" anchor="t" anchorCtr="0"/>
            <a:lstStyle/>
            <a:p>
              <a:r>
                <a:rPr lang="en-GB" sz="2800" b="1">
                  <a:solidFill>
                    <a:schemeClr val="accent1"/>
                  </a:solidFill>
                </a:rPr>
                <a:t>10</a:t>
              </a:r>
              <a:r>
                <a:rPr lang="en-GB" sz="2800" b="1">
                  <a:solidFill>
                    <a:schemeClr val="tx2">
                      <a:lumMod val="60000"/>
                      <a:lumOff val="40000"/>
                    </a:schemeClr>
                  </a:solidFill>
                </a:rPr>
                <a:t> </a:t>
              </a:r>
            </a:p>
          </p:txBody>
        </p:sp>
        <p:sp>
          <p:nvSpPr>
            <p:cNvPr id="98" name="TextBox 28"/>
            <p:cNvSpPr txBox="1"/>
            <p:nvPr/>
          </p:nvSpPr>
          <p:spPr>
            <a:xfrm>
              <a:off x="5004048" y="4437111"/>
              <a:ext cx="1451148" cy="460847"/>
            </a:xfrm>
            <a:prstGeom prst="rect">
              <a:avLst/>
            </a:prstGeom>
            <a:noFill/>
          </p:spPr>
          <p:txBody>
            <a:bodyPr wrap="square" lIns="72000" tIns="90000" rIns="72000" bIns="90000" rtlCol="0">
              <a:spAutoFit/>
            </a:bodyPr>
            <a:lstStyle/>
            <a:p>
              <a:r>
                <a:rPr lang="en-GB" sz="900" b="1">
                  <a:solidFill>
                    <a:schemeClr val="tx1">
                      <a:lumMod val="65000"/>
                      <a:lumOff val="35000"/>
                    </a:schemeClr>
                  </a:solidFill>
                </a:rPr>
                <a:t>Develop Cloud native </a:t>
              </a:r>
            </a:p>
          </p:txBody>
        </p:sp>
        <p:sp>
          <p:nvSpPr>
            <p:cNvPr id="99" name="TextBox 60"/>
            <p:cNvSpPr txBox="1"/>
            <p:nvPr/>
          </p:nvSpPr>
          <p:spPr>
            <a:xfrm>
              <a:off x="7274130" y="4428368"/>
              <a:ext cx="1451148" cy="655540"/>
            </a:xfrm>
            <a:prstGeom prst="rect">
              <a:avLst/>
            </a:prstGeom>
            <a:noFill/>
          </p:spPr>
          <p:txBody>
            <a:bodyPr wrap="square" lIns="72000" tIns="90000" rIns="72000" bIns="90000" rtlCol="0">
              <a:spAutoFit/>
            </a:bodyPr>
            <a:lstStyle/>
            <a:p>
              <a:r>
                <a:rPr lang="en-GB" sz="900" b="1">
                  <a:solidFill>
                    <a:schemeClr val="tx1">
                      <a:lumMod val="65000"/>
                      <a:lumOff val="35000"/>
                    </a:schemeClr>
                  </a:solidFill>
                </a:rPr>
                <a:t>Lean aggregation of IT operations data</a:t>
              </a:r>
            </a:p>
          </p:txBody>
        </p:sp>
      </p:grpSp>
      <p:sp>
        <p:nvSpPr>
          <p:cNvPr id="100" name="Freeform 263"/>
          <p:cNvSpPr>
            <a:spLocks noEditPoints="1"/>
          </p:cNvSpPr>
          <p:nvPr/>
        </p:nvSpPr>
        <p:spPr bwMode="auto">
          <a:xfrm>
            <a:off x="3273729" y="2747406"/>
            <a:ext cx="307786" cy="314176"/>
          </a:xfrm>
          <a:custGeom>
            <a:avLst/>
            <a:gdLst>
              <a:gd name="T0" fmla="*/ 267 w 277"/>
              <a:gd name="T1" fmla="*/ 128 h 320"/>
              <a:gd name="T2" fmla="*/ 149 w 277"/>
              <a:gd name="T3" fmla="*/ 128 h 320"/>
              <a:gd name="T4" fmla="*/ 149 w 277"/>
              <a:gd name="T5" fmla="*/ 106 h 320"/>
              <a:gd name="T6" fmla="*/ 224 w 277"/>
              <a:gd name="T7" fmla="*/ 106 h 320"/>
              <a:gd name="T8" fmla="*/ 230 w 277"/>
              <a:gd name="T9" fmla="*/ 104 h 320"/>
              <a:gd name="T10" fmla="*/ 273 w 277"/>
              <a:gd name="T11" fmla="*/ 72 h 320"/>
              <a:gd name="T12" fmla="*/ 277 w 277"/>
              <a:gd name="T13" fmla="*/ 64 h 320"/>
              <a:gd name="T14" fmla="*/ 273 w 277"/>
              <a:gd name="T15" fmla="*/ 55 h 320"/>
              <a:gd name="T16" fmla="*/ 230 w 277"/>
              <a:gd name="T17" fmla="*/ 23 h 320"/>
              <a:gd name="T18" fmla="*/ 224 w 277"/>
              <a:gd name="T19" fmla="*/ 21 h 320"/>
              <a:gd name="T20" fmla="*/ 149 w 277"/>
              <a:gd name="T21" fmla="*/ 21 h 320"/>
              <a:gd name="T22" fmla="*/ 149 w 277"/>
              <a:gd name="T23" fmla="*/ 10 h 320"/>
              <a:gd name="T24" fmla="*/ 139 w 277"/>
              <a:gd name="T25" fmla="*/ 0 h 320"/>
              <a:gd name="T26" fmla="*/ 128 w 277"/>
              <a:gd name="T27" fmla="*/ 10 h 320"/>
              <a:gd name="T28" fmla="*/ 128 w 277"/>
              <a:gd name="T29" fmla="*/ 21 h 320"/>
              <a:gd name="T30" fmla="*/ 11 w 277"/>
              <a:gd name="T31" fmla="*/ 21 h 320"/>
              <a:gd name="T32" fmla="*/ 0 w 277"/>
              <a:gd name="T33" fmla="*/ 32 h 320"/>
              <a:gd name="T34" fmla="*/ 0 w 277"/>
              <a:gd name="T35" fmla="*/ 96 h 320"/>
              <a:gd name="T36" fmla="*/ 11 w 277"/>
              <a:gd name="T37" fmla="*/ 106 h 320"/>
              <a:gd name="T38" fmla="*/ 128 w 277"/>
              <a:gd name="T39" fmla="*/ 106 h 320"/>
              <a:gd name="T40" fmla="*/ 128 w 277"/>
              <a:gd name="T41" fmla="*/ 128 h 320"/>
              <a:gd name="T42" fmla="*/ 53 w 277"/>
              <a:gd name="T43" fmla="*/ 128 h 320"/>
              <a:gd name="T44" fmla="*/ 47 w 277"/>
              <a:gd name="T45" fmla="*/ 130 h 320"/>
              <a:gd name="T46" fmla="*/ 4 w 277"/>
              <a:gd name="T47" fmla="*/ 162 h 320"/>
              <a:gd name="T48" fmla="*/ 0 w 277"/>
              <a:gd name="T49" fmla="*/ 170 h 320"/>
              <a:gd name="T50" fmla="*/ 4 w 277"/>
              <a:gd name="T51" fmla="*/ 179 h 320"/>
              <a:gd name="T52" fmla="*/ 47 w 277"/>
              <a:gd name="T53" fmla="*/ 211 h 320"/>
              <a:gd name="T54" fmla="*/ 53 w 277"/>
              <a:gd name="T55" fmla="*/ 213 h 320"/>
              <a:gd name="T56" fmla="*/ 128 w 277"/>
              <a:gd name="T57" fmla="*/ 213 h 320"/>
              <a:gd name="T58" fmla="*/ 128 w 277"/>
              <a:gd name="T59" fmla="*/ 309 h 320"/>
              <a:gd name="T60" fmla="*/ 139 w 277"/>
              <a:gd name="T61" fmla="*/ 320 h 320"/>
              <a:gd name="T62" fmla="*/ 149 w 277"/>
              <a:gd name="T63" fmla="*/ 309 h 320"/>
              <a:gd name="T64" fmla="*/ 149 w 277"/>
              <a:gd name="T65" fmla="*/ 213 h 320"/>
              <a:gd name="T66" fmla="*/ 267 w 277"/>
              <a:gd name="T67" fmla="*/ 213 h 320"/>
              <a:gd name="T68" fmla="*/ 277 w 277"/>
              <a:gd name="T69" fmla="*/ 202 h 320"/>
              <a:gd name="T70" fmla="*/ 277 w 277"/>
              <a:gd name="T71" fmla="*/ 138 h 320"/>
              <a:gd name="T72" fmla="*/ 267 w 277"/>
              <a:gd name="T73" fmla="*/ 128 h 320"/>
              <a:gd name="T74" fmla="*/ 21 w 277"/>
              <a:gd name="T75" fmla="*/ 85 h 320"/>
              <a:gd name="T76" fmla="*/ 21 w 277"/>
              <a:gd name="T77" fmla="*/ 42 h 320"/>
              <a:gd name="T78" fmla="*/ 220 w 277"/>
              <a:gd name="T79" fmla="*/ 42 h 320"/>
              <a:gd name="T80" fmla="*/ 249 w 277"/>
              <a:gd name="T81" fmla="*/ 64 h 320"/>
              <a:gd name="T82" fmla="*/ 220 w 277"/>
              <a:gd name="T83" fmla="*/ 85 h 320"/>
              <a:gd name="T84" fmla="*/ 21 w 277"/>
              <a:gd name="T85" fmla="*/ 85 h 320"/>
              <a:gd name="T86" fmla="*/ 256 w 277"/>
              <a:gd name="T87" fmla="*/ 192 h 320"/>
              <a:gd name="T88" fmla="*/ 57 w 277"/>
              <a:gd name="T89" fmla="*/ 192 h 320"/>
              <a:gd name="T90" fmla="*/ 28 w 277"/>
              <a:gd name="T91" fmla="*/ 170 h 320"/>
              <a:gd name="T92" fmla="*/ 57 w 277"/>
              <a:gd name="T93" fmla="*/ 149 h 320"/>
              <a:gd name="T94" fmla="*/ 256 w 277"/>
              <a:gd name="T95" fmla="*/ 149 h 320"/>
              <a:gd name="T96" fmla="*/ 256 w 277"/>
              <a:gd name="T97" fmla="*/ 1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7" h="320">
                <a:moveTo>
                  <a:pt x="267" y="128"/>
                </a:moveTo>
                <a:cubicBezTo>
                  <a:pt x="149" y="128"/>
                  <a:pt x="149" y="128"/>
                  <a:pt x="149" y="128"/>
                </a:cubicBezTo>
                <a:cubicBezTo>
                  <a:pt x="149" y="106"/>
                  <a:pt x="149" y="106"/>
                  <a:pt x="149" y="106"/>
                </a:cubicBezTo>
                <a:cubicBezTo>
                  <a:pt x="224" y="106"/>
                  <a:pt x="224" y="106"/>
                  <a:pt x="224" y="106"/>
                </a:cubicBezTo>
                <a:cubicBezTo>
                  <a:pt x="226" y="106"/>
                  <a:pt x="229" y="106"/>
                  <a:pt x="230" y="104"/>
                </a:cubicBezTo>
                <a:cubicBezTo>
                  <a:pt x="273" y="72"/>
                  <a:pt x="273" y="72"/>
                  <a:pt x="273" y="72"/>
                </a:cubicBezTo>
                <a:cubicBezTo>
                  <a:pt x="276" y="70"/>
                  <a:pt x="277" y="67"/>
                  <a:pt x="277" y="64"/>
                </a:cubicBezTo>
                <a:cubicBezTo>
                  <a:pt x="277" y="60"/>
                  <a:pt x="276" y="57"/>
                  <a:pt x="273" y="55"/>
                </a:cubicBezTo>
                <a:cubicBezTo>
                  <a:pt x="230" y="23"/>
                  <a:pt x="230" y="23"/>
                  <a:pt x="230" y="23"/>
                </a:cubicBezTo>
                <a:cubicBezTo>
                  <a:pt x="229" y="22"/>
                  <a:pt x="226" y="21"/>
                  <a:pt x="224" y="21"/>
                </a:cubicBezTo>
                <a:cubicBezTo>
                  <a:pt x="149" y="21"/>
                  <a:pt x="149" y="21"/>
                  <a:pt x="149" y="21"/>
                </a:cubicBezTo>
                <a:cubicBezTo>
                  <a:pt x="149" y="10"/>
                  <a:pt x="149" y="10"/>
                  <a:pt x="149" y="10"/>
                </a:cubicBezTo>
                <a:cubicBezTo>
                  <a:pt x="149" y="4"/>
                  <a:pt x="145" y="0"/>
                  <a:pt x="139" y="0"/>
                </a:cubicBezTo>
                <a:cubicBezTo>
                  <a:pt x="133" y="0"/>
                  <a:pt x="128" y="4"/>
                  <a:pt x="128" y="10"/>
                </a:cubicBezTo>
                <a:cubicBezTo>
                  <a:pt x="128" y="21"/>
                  <a:pt x="128" y="21"/>
                  <a:pt x="128" y="21"/>
                </a:cubicBezTo>
                <a:cubicBezTo>
                  <a:pt x="11" y="21"/>
                  <a:pt x="11" y="21"/>
                  <a:pt x="11" y="21"/>
                </a:cubicBezTo>
                <a:cubicBezTo>
                  <a:pt x="5" y="21"/>
                  <a:pt x="0" y="26"/>
                  <a:pt x="0" y="32"/>
                </a:cubicBezTo>
                <a:cubicBezTo>
                  <a:pt x="0" y="96"/>
                  <a:pt x="0" y="96"/>
                  <a:pt x="0" y="96"/>
                </a:cubicBezTo>
                <a:cubicBezTo>
                  <a:pt x="0" y="102"/>
                  <a:pt x="5" y="106"/>
                  <a:pt x="11" y="106"/>
                </a:cubicBezTo>
                <a:cubicBezTo>
                  <a:pt x="128" y="106"/>
                  <a:pt x="128" y="106"/>
                  <a:pt x="128" y="106"/>
                </a:cubicBezTo>
                <a:cubicBezTo>
                  <a:pt x="128" y="128"/>
                  <a:pt x="128" y="128"/>
                  <a:pt x="128" y="128"/>
                </a:cubicBezTo>
                <a:cubicBezTo>
                  <a:pt x="53" y="128"/>
                  <a:pt x="53" y="128"/>
                  <a:pt x="53" y="128"/>
                </a:cubicBezTo>
                <a:cubicBezTo>
                  <a:pt x="51" y="128"/>
                  <a:pt x="49" y="128"/>
                  <a:pt x="47" y="130"/>
                </a:cubicBezTo>
                <a:cubicBezTo>
                  <a:pt x="4" y="162"/>
                  <a:pt x="4" y="162"/>
                  <a:pt x="4" y="162"/>
                </a:cubicBezTo>
                <a:cubicBezTo>
                  <a:pt x="2" y="164"/>
                  <a:pt x="0" y="167"/>
                  <a:pt x="0" y="170"/>
                </a:cubicBezTo>
                <a:cubicBezTo>
                  <a:pt x="0" y="174"/>
                  <a:pt x="2" y="177"/>
                  <a:pt x="4" y="179"/>
                </a:cubicBezTo>
                <a:cubicBezTo>
                  <a:pt x="47" y="211"/>
                  <a:pt x="47" y="211"/>
                  <a:pt x="47" y="211"/>
                </a:cubicBezTo>
                <a:cubicBezTo>
                  <a:pt x="49" y="212"/>
                  <a:pt x="51" y="213"/>
                  <a:pt x="53" y="213"/>
                </a:cubicBezTo>
                <a:cubicBezTo>
                  <a:pt x="128" y="213"/>
                  <a:pt x="128" y="213"/>
                  <a:pt x="128" y="213"/>
                </a:cubicBezTo>
                <a:cubicBezTo>
                  <a:pt x="128" y="309"/>
                  <a:pt x="128" y="309"/>
                  <a:pt x="128" y="309"/>
                </a:cubicBezTo>
                <a:cubicBezTo>
                  <a:pt x="128" y="315"/>
                  <a:pt x="133" y="320"/>
                  <a:pt x="139" y="320"/>
                </a:cubicBezTo>
                <a:cubicBezTo>
                  <a:pt x="145" y="320"/>
                  <a:pt x="149" y="315"/>
                  <a:pt x="149" y="309"/>
                </a:cubicBezTo>
                <a:cubicBezTo>
                  <a:pt x="149" y="213"/>
                  <a:pt x="149" y="213"/>
                  <a:pt x="149" y="213"/>
                </a:cubicBezTo>
                <a:cubicBezTo>
                  <a:pt x="267" y="213"/>
                  <a:pt x="267" y="213"/>
                  <a:pt x="267" y="213"/>
                </a:cubicBezTo>
                <a:cubicBezTo>
                  <a:pt x="273" y="213"/>
                  <a:pt x="277" y="208"/>
                  <a:pt x="277" y="202"/>
                </a:cubicBezTo>
                <a:cubicBezTo>
                  <a:pt x="277" y="138"/>
                  <a:pt x="277" y="138"/>
                  <a:pt x="277" y="138"/>
                </a:cubicBezTo>
                <a:cubicBezTo>
                  <a:pt x="277" y="132"/>
                  <a:pt x="273" y="128"/>
                  <a:pt x="267" y="128"/>
                </a:cubicBezTo>
                <a:close/>
                <a:moveTo>
                  <a:pt x="21" y="85"/>
                </a:moveTo>
                <a:cubicBezTo>
                  <a:pt x="21" y="42"/>
                  <a:pt x="21" y="42"/>
                  <a:pt x="21" y="42"/>
                </a:cubicBezTo>
                <a:cubicBezTo>
                  <a:pt x="220" y="42"/>
                  <a:pt x="220" y="42"/>
                  <a:pt x="220" y="42"/>
                </a:cubicBezTo>
                <a:cubicBezTo>
                  <a:pt x="249" y="64"/>
                  <a:pt x="249" y="64"/>
                  <a:pt x="249" y="64"/>
                </a:cubicBezTo>
                <a:cubicBezTo>
                  <a:pt x="220" y="85"/>
                  <a:pt x="220" y="85"/>
                  <a:pt x="220" y="85"/>
                </a:cubicBezTo>
                <a:lnTo>
                  <a:pt x="21" y="85"/>
                </a:lnTo>
                <a:close/>
                <a:moveTo>
                  <a:pt x="256" y="192"/>
                </a:moveTo>
                <a:cubicBezTo>
                  <a:pt x="57" y="192"/>
                  <a:pt x="57" y="192"/>
                  <a:pt x="57" y="192"/>
                </a:cubicBezTo>
                <a:cubicBezTo>
                  <a:pt x="28" y="170"/>
                  <a:pt x="28" y="170"/>
                  <a:pt x="28" y="170"/>
                </a:cubicBezTo>
                <a:cubicBezTo>
                  <a:pt x="57" y="149"/>
                  <a:pt x="57" y="149"/>
                  <a:pt x="57" y="149"/>
                </a:cubicBezTo>
                <a:cubicBezTo>
                  <a:pt x="256" y="149"/>
                  <a:pt x="256" y="149"/>
                  <a:pt x="256" y="149"/>
                </a:cubicBezTo>
                <a:lnTo>
                  <a:pt x="256" y="19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1" name="Freeform 264"/>
          <p:cNvSpPr>
            <a:spLocks noEditPoints="1"/>
          </p:cNvSpPr>
          <p:nvPr/>
        </p:nvSpPr>
        <p:spPr bwMode="auto">
          <a:xfrm>
            <a:off x="3143255" y="2652560"/>
            <a:ext cx="568734" cy="5038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2" name="Freeform 30"/>
          <p:cNvSpPr>
            <a:spLocks noEditPoints="1"/>
          </p:cNvSpPr>
          <p:nvPr/>
        </p:nvSpPr>
        <p:spPr bwMode="auto">
          <a:xfrm>
            <a:off x="7678348" y="2747183"/>
            <a:ext cx="354621" cy="315658"/>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3" name="Freeform 31"/>
          <p:cNvSpPr>
            <a:spLocks noEditPoints="1"/>
          </p:cNvSpPr>
          <p:nvPr/>
        </p:nvSpPr>
        <p:spPr bwMode="auto">
          <a:xfrm>
            <a:off x="7783731" y="2842031"/>
            <a:ext cx="142183" cy="125967"/>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4" name="Freeform 32"/>
          <p:cNvSpPr>
            <a:spLocks noEditPoints="1"/>
          </p:cNvSpPr>
          <p:nvPr/>
        </p:nvSpPr>
        <p:spPr bwMode="auto">
          <a:xfrm>
            <a:off x="7571293" y="2652338"/>
            <a:ext cx="568731" cy="503867"/>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5" name="Freeform 193"/>
          <p:cNvSpPr>
            <a:spLocks noEditPoints="1"/>
          </p:cNvSpPr>
          <p:nvPr/>
        </p:nvSpPr>
        <p:spPr bwMode="auto">
          <a:xfrm>
            <a:off x="912805" y="2653278"/>
            <a:ext cx="568731" cy="5038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6" name="Freeform 194"/>
          <p:cNvSpPr>
            <a:spLocks noEditPoints="1"/>
          </p:cNvSpPr>
          <p:nvPr/>
        </p:nvSpPr>
        <p:spPr bwMode="auto">
          <a:xfrm>
            <a:off x="1019860" y="2799993"/>
            <a:ext cx="354621" cy="232668"/>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7" name="Freeform 424"/>
          <p:cNvSpPr>
            <a:spLocks noEditPoints="1"/>
          </p:cNvSpPr>
          <p:nvPr/>
        </p:nvSpPr>
        <p:spPr bwMode="auto">
          <a:xfrm>
            <a:off x="7574512" y="1545229"/>
            <a:ext cx="568731" cy="5038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8" name="Freeform 425"/>
          <p:cNvSpPr>
            <a:spLocks noEditPoints="1"/>
          </p:cNvSpPr>
          <p:nvPr/>
        </p:nvSpPr>
        <p:spPr bwMode="auto">
          <a:xfrm>
            <a:off x="7689931" y="1674159"/>
            <a:ext cx="336221" cy="280091"/>
          </a:xfrm>
          <a:custGeom>
            <a:avLst/>
            <a:gdLst>
              <a:gd name="T0" fmla="*/ 302 w 303"/>
              <a:gd name="T1" fmla="*/ 91 h 285"/>
              <a:gd name="T2" fmla="*/ 279 w 303"/>
              <a:gd name="T3" fmla="*/ 8 h 285"/>
              <a:gd name="T4" fmla="*/ 274 w 303"/>
              <a:gd name="T5" fmla="*/ 2 h 285"/>
              <a:gd name="T6" fmla="*/ 266 w 303"/>
              <a:gd name="T7" fmla="*/ 1 h 285"/>
              <a:gd name="T8" fmla="*/ 225 w 303"/>
              <a:gd name="T9" fmla="*/ 12 h 285"/>
              <a:gd name="T10" fmla="*/ 218 w 303"/>
              <a:gd name="T11" fmla="*/ 25 h 285"/>
              <a:gd name="T12" fmla="*/ 135 w 303"/>
              <a:gd name="T13" fmla="*/ 48 h 285"/>
              <a:gd name="T14" fmla="*/ 128 w 303"/>
              <a:gd name="T15" fmla="*/ 57 h 285"/>
              <a:gd name="T16" fmla="*/ 24 w 303"/>
              <a:gd name="T17" fmla="*/ 85 h 285"/>
              <a:gd name="T18" fmla="*/ 22 w 303"/>
              <a:gd name="T19" fmla="*/ 78 h 285"/>
              <a:gd name="T20" fmla="*/ 9 w 303"/>
              <a:gd name="T21" fmla="*/ 71 h 285"/>
              <a:gd name="T22" fmla="*/ 2 w 303"/>
              <a:gd name="T23" fmla="*/ 84 h 285"/>
              <a:gd name="T24" fmla="*/ 24 w 303"/>
              <a:gd name="T25" fmla="*/ 166 h 285"/>
              <a:gd name="T26" fmla="*/ 34 w 303"/>
              <a:gd name="T27" fmla="*/ 174 h 285"/>
              <a:gd name="T28" fmla="*/ 37 w 303"/>
              <a:gd name="T29" fmla="*/ 174 h 285"/>
              <a:gd name="T30" fmla="*/ 45 w 303"/>
              <a:gd name="T31" fmla="*/ 161 h 285"/>
              <a:gd name="T32" fmla="*/ 43 w 303"/>
              <a:gd name="T33" fmla="*/ 154 h 285"/>
              <a:gd name="T34" fmla="*/ 43 w 303"/>
              <a:gd name="T35" fmla="*/ 154 h 285"/>
              <a:gd name="T36" fmla="*/ 139 w 303"/>
              <a:gd name="T37" fmla="*/ 128 h 285"/>
              <a:gd name="T38" fmla="*/ 88 w 303"/>
              <a:gd name="T39" fmla="*/ 270 h 285"/>
              <a:gd name="T40" fmla="*/ 95 w 303"/>
              <a:gd name="T41" fmla="*/ 284 h 285"/>
              <a:gd name="T42" fmla="*/ 98 w 303"/>
              <a:gd name="T43" fmla="*/ 285 h 285"/>
              <a:gd name="T44" fmla="*/ 108 w 303"/>
              <a:gd name="T45" fmla="*/ 278 h 285"/>
              <a:gd name="T46" fmla="*/ 141 w 303"/>
              <a:gd name="T47" fmla="*/ 186 h 285"/>
              <a:gd name="T48" fmla="*/ 141 w 303"/>
              <a:gd name="T49" fmla="*/ 274 h 285"/>
              <a:gd name="T50" fmla="*/ 152 w 303"/>
              <a:gd name="T51" fmla="*/ 285 h 285"/>
              <a:gd name="T52" fmla="*/ 162 w 303"/>
              <a:gd name="T53" fmla="*/ 274 h 285"/>
              <a:gd name="T54" fmla="*/ 162 w 303"/>
              <a:gd name="T55" fmla="*/ 186 h 285"/>
              <a:gd name="T56" fmla="*/ 195 w 303"/>
              <a:gd name="T57" fmla="*/ 278 h 285"/>
              <a:gd name="T58" fmla="*/ 205 w 303"/>
              <a:gd name="T59" fmla="*/ 285 h 285"/>
              <a:gd name="T60" fmla="*/ 209 w 303"/>
              <a:gd name="T61" fmla="*/ 284 h 285"/>
              <a:gd name="T62" fmla="*/ 215 w 303"/>
              <a:gd name="T63" fmla="*/ 270 h 285"/>
              <a:gd name="T64" fmla="*/ 164 w 303"/>
              <a:gd name="T65" fmla="*/ 128 h 285"/>
              <a:gd name="T66" fmla="*/ 240 w 303"/>
              <a:gd name="T67" fmla="*/ 107 h 285"/>
              <a:gd name="T68" fmla="*/ 240 w 303"/>
              <a:gd name="T69" fmla="*/ 107 h 285"/>
              <a:gd name="T70" fmla="*/ 250 w 303"/>
              <a:gd name="T71" fmla="*/ 115 h 285"/>
              <a:gd name="T72" fmla="*/ 253 w 303"/>
              <a:gd name="T73" fmla="*/ 115 h 285"/>
              <a:gd name="T74" fmla="*/ 294 w 303"/>
              <a:gd name="T75" fmla="*/ 104 h 285"/>
              <a:gd name="T76" fmla="*/ 301 w 303"/>
              <a:gd name="T77" fmla="*/ 99 h 285"/>
              <a:gd name="T78" fmla="*/ 302 w 303"/>
              <a:gd name="T79" fmla="*/ 91 h 285"/>
              <a:gd name="T80" fmla="*/ 40 w 303"/>
              <a:gd name="T81" fmla="*/ 103 h 285"/>
              <a:gd name="T82" fmla="*/ 132 w 303"/>
              <a:gd name="T83" fmla="*/ 78 h 285"/>
              <a:gd name="T84" fmla="*/ 140 w 303"/>
              <a:gd name="T85" fmla="*/ 105 h 285"/>
              <a:gd name="T86" fmla="*/ 47 w 303"/>
              <a:gd name="T87" fmla="*/ 131 h 285"/>
              <a:gd name="T88" fmla="*/ 40 w 303"/>
              <a:gd name="T89" fmla="*/ 103 h 285"/>
              <a:gd name="T90" fmla="*/ 162 w 303"/>
              <a:gd name="T91" fmla="*/ 106 h 285"/>
              <a:gd name="T92" fmla="*/ 151 w 303"/>
              <a:gd name="T93" fmla="*/ 65 h 285"/>
              <a:gd name="T94" fmla="*/ 223 w 303"/>
              <a:gd name="T95" fmla="*/ 46 h 285"/>
              <a:gd name="T96" fmla="*/ 229 w 303"/>
              <a:gd name="T97" fmla="*/ 66 h 285"/>
              <a:gd name="T98" fmla="*/ 234 w 303"/>
              <a:gd name="T99" fmla="*/ 87 h 285"/>
              <a:gd name="T100" fmla="*/ 162 w 303"/>
              <a:gd name="T101" fmla="*/ 106 h 285"/>
              <a:gd name="T102" fmla="*/ 258 w 303"/>
              <a:gd name="T103" fmla="*/ 91 h 285"/>
              <a:gd name="T104" fmla="*/ 241 w 303"/>
              <a:gd name="T105" fmla="*/ 30 h 285"/>
              <a:gd name="T106" fmla="*/ 262 w 303"/>
              <a:gd name="T107" fmla="*/ 24 h 285"/>
              <a:gd name="T108" fmla="*/ 278 w 303"/>
              <a:gd name="T109" fmla="*/ 86 h 285"/>
              <a:gd name="T110" fmla="*/ 258 w 303"/>
              <a:gd name="T111" fmla="*/ 9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3" h="285">
                <a:moveTo>
                  <a:pt x="302" y="91"/>
                </a:moveTo>
                <a:cubicBezTo>
                  <a:pt x="279" y="8"/>
                  <a:pt x="279" y="8"/>
                  <a:pt x="279" y="8"/>
                </a:cubicBezTo>
                <a:cubicBezTo>
                  <a:pt x="279" y="5"/>
                  <a:pt x="277" y="3"/>
                  <a:pt x="274" y="2"/>
                </a:cubicBezTo>
                <a:cubicBezTo>
                  <a:pt x="272" y="0"/>
                  <a:pt x="269" y="0"/>
                  <a:pt x="266" y="1"/>
                </a:cubicBezTo>
                <a:cubicBezTo>
                  <a:pt x="225" y="12"/>
                  <a:pt x="225" y="12"/>
                  <a:pt x="225" y="12"/>
                </a:cubicBezTo>
                <a:cubicBezTo>
                  <a:pt x="219" y="14"/>
                  <a:pt x="216" y="19"/>
                  <a:pt x="218" y="25"/>
                </a:cubicBezTo>
                <a:cubicBezTo>
                  <a:pt x="135" y="48"/>
                  <a:pt x="135" y="48"/>
                  <a:pt x="135" y="48"/>
                </a:cubicBezTo>
                <a:cubicBezTo>
                  <a:pt x="131" y="49"/>
                  <a:pt x="128" y="53"/>
                  <a:pt x="128" y="57"/>
                </a:cubicBezTo>
                <a:cubicBezTo>
                  <a:pt x="24" y="85"/>
                  <a:pt x="24" y="85"/>
                  <a:pt x="24" y="85"/>
                </a:cubicBezTo>
                <a:cubicBezTo>
                  <a:pt x="22" y="78"/>
                  <a:pt x="22" y="78"/>
                  <a:pt x="22" y="78"/>
                </a:cubicBezTo>
                <a:cubicBezTo>
                  <a:pt x="21" y="73"/>
                  <a:pt x="15" y="69"/>
                  <a:pt x="9" y="71"/>
                </a:cubicBezTo>
                <a:cubicBezTo>
                  <a:pt x="3" y="73"/>
                  <a:pt x="0" y="78"/>
                  <a:pt x="2" y="84"/>
                </a:cubicBezTo>
                <a:cubicBezTo>
                  <a:pt x="24" y="166"/>
                  <a:pt x="24" y="166"/>
                  <a:pt x="24" y="166"/>
                </a:cubicBezTo>
                <a:cubicBezTo>
                  <a:pt x="25" y="171"/>
                  <a:pt x="30" y="174"/>
                  <a:pt x="34" y="174"/>
                </a:cubicBezTo>
                <a:cubicBezTo>
                  <a:pt x="35" y="174"/>
                  <a:pt x="36" y="174"/>
                  <a:pt x="37" y="174"/>
                </a:cubicBezTo>
                <a:cubicBezTo>
                  <a:pt x="43" y="172"/>
                  <a:pt x="46" y="167"/>
                  <a:pt x="45" y="161"/>
                </a:cubicBezTo>
                <a:cubicBezTo>
                  <a:pt x="43" y="154"/>
                  <a:pt x="43" y="154"/>
                  <a:pt x="43" y="154"/>
                </a:cubicBezTo>
                <a:cubicBezTo>
                  <a:pt x="43" y="154"/>
                  <a:pt x="43" y="154"/>
                  <a:pt x="43" y="154"/>
                </a:cubicBezTo>
                <a:cubicBezTo>
                  <a:pt x="139" y="128"/>
                  <a:pt x="139" y="128"/>
                  <a:pt x="139" y="128"/>
                </a:cubicBezTo>
                <a:cubicBezTo>
                  <a:pt x="88" y="270"/>
                  <a:pt x="88" y="270"/>
                  <a:pt x="88" y="270"/>
                </a:cubicBezTo>
                <a:cubicBezTo>
                  <a:pt x="86" y="276"/>
                  <a:pt x="89" y="282"/>
                  <a:pt x="95" y="284"/>
                </a:cubicBezTo>
                <a:cubicBezTo>
                  <a:pt x="96" y="284"/>
                  <a:pt x="97" y="285"/>
                  <a:pt x="98" y="285"/>
                </a:cubicBezTo>
                <a:cubicBezTo>
                  <a:pt x="103" y="285"/>
                  <a:pt x="107" y="282"/>
                  <a:pt x="108" y="278"/>
                </a:cubicBezTo>
                <a:cubicBezTo>
                  <a:pt x="141" y="186"/>
                  <a:pt x="141" y="186"/>
                  <a:pt x="141" y="186"/>
                </a:cubicBezTo>
                <a:cubicBezTo>
                  <a:pt x="141" y="274"/>
                  <a:pt x="141" y="274"/>
                  <a:pt x="141" y="274"/>
                </a:cubicBezTo>
                <a:cubicBezTo>
                  <a:pt x="141" y="280"/>
                  <a:pt x="146" y="285"/>
                  <a:pt x="152" y="285"/>
                </a:cubicBezTo>
                <a:cubicBezTo>
                  <a:pt x="158" y="285"/>
                  <a:pt x="162" y="280"/>
                  <a:pt x="162" y="274"/>
                </a:cubicBezTo>
                <a:cubicBezTo>
                  <a:pt x="162" y="186"/>
                  <a:pt x="162" y="186"/>
                  <a:pt x="162" y="186"/>
                </a:cubicBezTo>
                <a:cubicBezTo>
                  <a:pt x="195" y="278"/>
                  <a:pt x="195" y="278"/>
                  <a:pt x="195" y="278"/>
                </a:cubicBezTo>
                <a:cubicBezTo>
                  <a:pt x="197" y="282"/>
                  <a:pt x="201" y="285"/>
                  <a:pt x="205" y="285"/>
                </a:cubicBezTo>
                <a:cubicBezTo>
                  <a:pt x="206" y="285"/>
                  <a:pt x="207" y="284"/>
                  <a:pt x="209" y="284"/>
                </a:cubicBezTo>
                <a:cubicBezTo>
                  <a:pt x="214" y="282"/>
                  <a:pt x="217" y="276"/>
                  <a:pt x="215" y="270"/>
                </a:cubicBezTo>
                <a:cubicBezTo>
                  <a:pt x="164" y="128"/>
                  <a:pt x="164" y="128"/>
                  <a:pt x="164" y="128"/>
                </a:cubicBezTo>
                <a:cubicBezTo>
                  <a:pt x="240" y="107"/>
                  <a:pt x="240" y="107"/>
                  <a:pt x="240" y="107"/>
                </a:cubicBezTo>
                <a:cubicBezTo>
                  <a:pt x="240" y="107"/>
                  <a:pt x="240" y="107"/>
                  <a:pt x="240" y="107"/>
                </a:cubicBezTo>
                <a:cubicBezTo>
                  <a:pt x="241" y="112"/>
                  <a:pt x="246" y="115"/>
                  <a:pt x="250" y="115"/>
                </a:cubicBezTo>
                <a:cubicBezTo>
                  <a:pt x="251" y="115"/>
                  <a:pt x="252" y="115"/>
                  <a:pt x="253" y="115"/>
                </a:cubicBezTo>
                <a:cubicBezTo>
                  <a:pt x="294" y="104"/>
                  <a:pt x="294" y="104"/>
                  <a:pt x="294" y="104"/>
                </a:cubicBezTo>
                <a:cubicBezTo>
                  <a:pt x="297" y="103"/>
                  <a:pt x="299" y="101"/>
                  <a:pt x="301" y="99"/>
                </a:cubicBezTo>
                <a:cubicBezTo>
                  <a:pt x="302" y="96"/>
                  <a:pt x="303" y="93"/>
                  <a:pt x="302" y="91"/>
                </a:cubicBezTo>
                <a:close/>
                <a:moveTo>
                  <a:pt x="40" y="103"/>
                </a:moveTo>
                <a:cubicBezTo>
                  <a:pt x="132" y="78"/>
                  <a:pt x="132" y="78"/>
                  <a:pt x="132" y="78"/>
                </a:cubicBezTo>
                <a:cubicBezTo>
                  <a:pt x="140" y="105"/>
                  <a:pt x="140" y="105"/>
                  <a:pt x="140" y="105"/>
                </a:cubicBezTo>
                <a:cubicBezTo>
                  <a:pt x="47" y="131"/>
                  <a:pt x="47" y="131"/>
                  <a:pt x="47" y="131"/>
                </a:cubicBezTo>
                <a:lnTo>
                  <a:pt x="40" y="103"/>
                </a:lnTo>
                <a:close/>
                <a:moveTo>
                  <a:pt x="162" y="106"/>
                </a:moveTo>
                <a:cubicBezTo>
                  <a:pt x="151" y="65"/>
                  <a:pt x="151" y="65"/>
                  <a:pt x="151" y="65"/>
                </a:cubicBezTo>
                <a:cubicBezTo>
                  <a:pt x="223" y="46"/>
                  <a:pt x="223" y="46"/>
                  <a:pt x="223" y="46"/>
                </a:cubicBezTo>
                <a:cubicBezTo>
                  <a:pt x="229" y="66"/>
                  <a:pt x="229" y="66"/>
                  <a:pt x="229" y="66"/>
                </a:cubicBezTo>
                <a:cubicBezTo>
                  <a:pt x="234" y="87"/>
                  <a:pt x="234" y="87"/>
                  <a:pt x="234" y="87"/>
                </a:cubicBezTo>
                <a:lnTo>
                  <a:pt x="162" y="106"/>
                </a:lnTo>
                <a:close/>
                <a:moveTo>
                  <a:pt x="258" y="91"/>
                </a:moveTo>
                <a:cubicBezTo>
                  <a:pt x="241" y="30"/>
                  <a:pt x="241" y="30"/>
                  <a:pt x="241" y="30"/>
                </a:cubicBezTo>
                <a:cubicBezTo>
                  <a:pt x="262" y="24"/>
                  <a:pt x="262" y="24"/>
                  <a:pt x="262" y="24"/>
                </a:cubicBezTo>
                <a:cubicBezTo>
                  <a:pt x="278" y="86"/>
                  <a:pt x="278" y="86"/>
                  <a:pt x="278" y="86"/>
                </a:cubicBezTo>
                <a:lnTo>
                  <a:pt x="258" y="9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09" name="Freeform 579"/>
          <p:cNvSpPr>
            <a:spLocks noEditPoints="1"/>
          </p:cNvSpPr>
          <p:nvPr/>
        </p:nvSpPr>
        <p:spPr bwMode="auto">
          <a:xfrm>
            <a:off x="5452598" y="1652549"/>
            <a:ext cx="337894" cy="274163"/>
          </a:xfrm>
          <a:custGeom>
            <a:avLst/>
            <a:gdLst>
              <a:gd name="T0" fmla="*/ 298 w 304"/>
              <a:gd name="T1" fmla="*/ 160 h 278"/>
              <a:gd name="T2" fmla="*/ 234 w 304"/>
              <a:gd name="T3" fmla="*/ 96 h 278"/>
              <a:gd name="T4" fmla="*/ 196 w 304"/>
              <a:gd name="T5" fmla="*/ 96 h 278"/>
              <a:gd name="T6" fmla="*/ 213 w 304"/>
              <a:gd name="T7" fmla="*/ 46 h 278"/>
              <a:gd name="T8" fmla="*/ 199 w 304"/>
              <a:gd name="T9" fmla="*/ 3 h 278"/>
              <a:gd name="T10" fmla="*/ 191 w 304"/>
              <a:gd name="T11" fmla="*/ 0 h 278"/>
              <a:gd name="T12" fmla="*/ 184 w 304"/>
              <a:gd name="T13" fmla="*/ 4 h 278"/>
              <a:gd name="T14" fmla="*/ 89 w 304"/>
              <a:gd name="T15" fmla="*/ 112 h 278"/>
              <a:gd name="T16" fmla="*/ 88 w 304"/>
              <a:gd name="T17" fmla="*/ 114 h 278"/>
              <a:gd name="T18" fmla="*/ 79 w 304"/>
              <a:gd name="T19" fmla="*/ 128 h 278"/>
              <a:gd name="T20" fmla="*/ 10 w 304"/>
              <a:gd name="T21" fmla="*/ 128 h 278"/>
              <a:gd name="T22" fmla="*/ 0 w 304"/>
              <a:gd name="T23" fmla="*/ 139 h 278"/>
              <a:gd name="T24" fmla="*/ 0 w 304"/>
              <a:gd name="T25" fmla="*/ 256 h 278"/>
              <a:gd name="T26" fmla="*/ 10 w 304"/>
              <a:gd name="T27" fmla="*/ 267 h 278"/>
              <a:gd name="T28" fmla="*/ 95 w 304"/>
              <a:gd name="T29" fmla="*/ 267 h 278"/>
              <a:gd name="T30" fmla="*/ 128 w 304"/>
              <a:gd name="T31" fmla="*/ 278 h 278"/>
              <a:gd name="T32" fmla="*/ 224 w 304"/>
              <a:gd name="T33" fmla="*/ 278 h 278"/>
              <a:gd name="T34" fmla="*/ 274 w 304"/>
              <a:gd name="T35" fmla="*/ 256 h 278"/>
              <a:gd name="T36" fmla="*/ 298 w 304"/>
              <a:gd name="T37" fmla="*/ 160 h 278"/>
              <a:gd name="T38" fmla="*/ 21 w 304"/>
              <a:gd name="T39" fmla="*/ 150 h 278"/>
              <a:gd name="T40" fmla="*/ 74 w 304"/>
              <a:gd name="T41" fmla="*/ 150 h 278"/>
              <a:gd name="T42" fmla="*/ 74 w 304"/>
              <a:gd name="T43" fmla="*/ 150 h 278"/>
              <a:gd name="T44" fmla="*/ 74 w 304"/>
              <a:gd name="T45" fmla="*/ 224 h 278"/>
              <a:gd name="T46" fmla="*/ 78 w 304"/>
              <a:gd name="T47" fmla="*/ 246 h 278"/>
              <a:gd name="T48" fmla="*/ 21 w 304"/>
              <a:gd name="T49" fmla="*/ 246 h 278"/>
              <a:gd name="T50" fmla="*/ 21 w 304"/>
              <a:gd name="T51" fmla="*/ 150 h 278"/>
              <a:gd name="T52" fmla="*/ 258 w 304"/>
              <a:gd name="T53" fmla="*/ 242 h 278"/>
              <a:gd name="T54" fmla="*/ 224 w 304"/>
              <a:gd name="T55" fmla="*/ 256 h 278"/>
              <a:gd name="T56" fmla="*/ 128 w 304"/>
              <a:gd name="T57" fmla="*/ 256 h 278"/>
              <a:gd name="T58" fmla="*/ 96 w 304"/>
              <a:gd name="T59" fmla="*/ 224 h 278"/>
              <a:gd name="T60" fmla="*/ 96 w 304"/>
              <a:gd name="T61" fmla="*/ 150 h 278"/>
              <a:gd name="T62" fmla="*/ 104 w 304"/>
              <a:gd name="T63" fmla="*/ 127 h 278"/>
              <a:gd name="T64" fmla="*/ 105 w 304"/>
              <a:gd name="T65" fmla="*/ 127 h 278"/>
              <a:gd name="T66" fmla="*/ 191 w 304"/>
              <a:gd name="T67" fmla="*/ 28 h 278"/>
              <a:gd name="T68" fmla="*/ 192 w 304"/>
              <a:gd name="T69" fmla="*/ 40 h 278"/>
              <a:gd name="T70" fmla="*/ 171 w 304"/>
              <a:gd name="T71" fmla="*/ 104 h 278"/>
              <a:gd name="T72" fmla="*/ 171 w 304"/>
              <a:gd name="T73" fmla="*/ 104 h 278"/>
              <a:gd name="T74" fmla="*/ 170 w 304"/>
              <a:gd name="T75" fmla="*/ 107 h 278"/>
              <a:gd name="T76" fmla="*/ 181 w 304"/>
              <a:gd name="T77" fmla="*/ 118 h 278"/>
              <a:gd name="T78" fmla="*/ 234 w 304"/>
              <a:gd name="T79" fmla="*/ 118 h 278"/>
              <a:gd name="T80" fmla="*/ 277 w 304"/>
              <a:gd name="T81" fmla="*/ 161 h 278"/>
              <a:gd name="T82" fmla="*/ 258 w 304"/>
              <a:gd name="T83" fmla="*/ 24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4" h="278">
                <a:moveTo>
                  <a:pt x="298" y="160"/>
                </a:moveTo>
                <a:cubicBezTo>
                  <a:pt x="298" y="129"/>
                  <a:pt x="265" y="96"/>
                  <a:pt x="234" y="96"/>
                </a:cubicBezTo>
                <a:cubicBezTo>
                  <a:pt x="196" y="96"/>
                  <a:pt x="196" y="96"/>
                  <a:pt x="196" y="96"/>
                </a:cubicBezTo>
                <a:cubicBezTo>
                  <a:pt x="213" y="46"/>
                  <a:pt x="213" y="46"/>
                  <a:pt x="213" y="46"/>
                </a:cubicBezTo>
                <a:cubicBezTo>
                  <a:pt x="219" y="23"/>
                  <a:pt x="200" y="4"/>
                  <a:pt x="199" y="3"/>
                </a:cubicBezTo>
                <a:cubicBezTo>
                  <a:pt x="197" y="1"/>
                  <a:pt x="194" y="0"/>
                  <a:pt x="191" y="0"/>
                </a:cubicBezTo>
                <a:cubicBezTo>
                  <a:pt x="188" y="0"/>
                  <a:pt x="186" y="2"/>
                  <a:pt x="184" y="4"/>
                </a:cubicBezTo>
                <a:cubicBezTo>
                  <a:pt x="89" y="112"/>
                  <a:pt x="89" y="112"/>
                  <a:pt x="89" y="112"/>
                </a:cubicBezTo>
                <a:cubicBezTo>
                  <a:pt x="89" y="112"/>
                  <a:pt x="89" y="112"/>
                  <a:pt x="88" y="114"/>
                </a:cubicBezTo>
                <a:cubicBezTo>
                  <a:pt x="84" y="118"/>
                  <a:pt x="81" y="123"/>
                  <a:pt x="79" y="128"/>
                </a:cubicBezTo>
                <a:cubicBezTo>
                  <a:pt x="10" y="128"/>
                  <a:pt x="10" y="128"/>
                  <a:pt x="10" y="128"/>
                </a:cubicBezTo>
                <a:cubicBezTo>
                  <a:pt x="4" y="128"/>
                  <a:pt x="0" y="133"/>
                  <a:pt x="0" y="139"/>
                </a:cubicBezTo>
                <a:cubicBezTo>
                  <a:pt x="0" y="256"/>
                  <a:pt x="0" y="256"/>
                  <a:pt x="0" y="256"/>
                </a:cubicBezTo>
                <a:cubicBezTo>
                  <a:pt x="0" y="262"/>
                  <a:pt x="4" y="267"/>
                  <a:pt x="10" y="267"/>
                </a:cubicBezTo>
                <a:cubicBezTo>
                  <a:pt x="95" y="267"/>
                  <a:pt x="95" y="267"/>
                  <a:pt x="95" y="267"/>
                </a:cubicBezTo>
                <a:cubicBezTo>
                  <a:pt x="104" y="274"/>
                  <a:pt x="115" y="278"/>
                  <a:pt x="128" y="278"/>
                </a:cubicBezTo>
                <a:cubicBezTo>
                  <a:pt x="224" y="278"/>
                  <a:pt x="224" y="278"/>
                  <a:pt x="224" y="278"/>
                </a:cubicBezTo>
                <a:cubicBezTo>
                  <a:pt x="244" y="278"/>
                  <a:pt x="261" y="271"/>
                  <a:pt x="274" y="256"/>
                </a:cubicBezTo>
                <a:cubicBezTo>
                  <a:pt x="304" y="223"/>
                  <a:pt x="299" y="162"/>
                  <a:pt x="298" y="160"/>
                </a:cubicBezTo>
                <a:close/>
                <a:moveTo>
                  <a:pt x="21" y="150"/>
                </a:moveTo>
                <a:cubicBezTo>
                  <a:pt x="74" y="150"/>
                  <a:pt x="74" y="150"/>
                  <a:pt x="74" y="150"/>
                </a:cubicBezTo>
                <a:cubicBezTo>
                  <a:pt x="74" y="150"/>
                  <a:pt x="74" y="150"/>
                  <a:pt x="74" y="150"/>
                </a:cubicBezTo>
                <a:cubicBezTo>
                  <a:pt x="74" y="224"/>
                  <a:pt x="74" y="224"/>
                  <a:pt x="74" y="224"/>
                </a:cubicBezTo>
                <a:cubicBezTo>
                  <a:pt x="74" y="232"/>
                  <a:pt x="76" y="239"/>
                  <a:pt x="78" y="246"/>
                </a:cubicBezTo>
                <a:cubicBezTo>
                  <a:pt x="21" y="246"/>
                  <a:pt x="21" y="246"/>
                  <a:pt x="21" y="246"/>
                </a:cubicBezTo>
                <a:lnTo>
                  <a:pt x="21" y="150"/>
                </a:lnTo>
                <a:close/>
                <a:moveTo>
                  <a:pt x="258" y="242"/>
                </a:moveTo>
                <a:cubicBezTo>
                  <a:pt x="250" y="252"/>
                  <a:pt x="238" y="256"/>
                  <a:pt x="224" y="256"/>
                </a:cubicBezTo>
                <a:cubicBezTo>
                  <a:pt x="128" y="256"/>
                  <a:pt x="128" y="256"/>
                  <a:pt x="128" y="256"/>
                </a:cubicBezTo>
                <a:cubicBezTo>
                  <a:pt x="109" y="256"/>
                  <a:pt x="96" y="243"/>
                  <a:pt x="96" y="224"/>
                </a:cubicBezTo>
                <a:cubicBezTo>
                  <a:pt x="96" y="150"/>
                  <a:pt x="96" y="150"/>
                  <a:pt x="96" y="150"/>
                </a:cubicBezTo>
                <a:cubicBezTo>
                  <a:pt x="96" y="142"/>
                  <a:pt x="99" y="134"/>
                  <a:pt x="104" y="127"/>
                </a:cubicBezTo>
                <a:cubicBezTo>
                  <a:pt x="105" y="127"/>
                  <a:pt x="105" y="127"/>
                  <a:pt x="105" y="127"/>
                </a:cubicBezTo>
                <a:cubicBezTo>
                  <a:pt x="191" y="28"/>
                  <a:pt x="191" y="28"/>
                  <a:pt x="191" y="28"/>
                </a:cubicBezTo>
                <a:cubicBezTo>
                  <a:pt x="192" y="32"/>
                  <a:pt x="193" y="36"/>
                  <a:pt x="192" y="40"/>
                </a:cubicBezTo>
                <a:cubicBezTo>
                  <a:pt x="171" y="104"/>
                  <a:pt x="171" y="104"/>
                  <a:pt x="171" y="104"/>
                </a:cubicBezTo>
                <a:cubicBezTo>
                  <a:pt x="171" y="104"/>
                  <a:pt x="171" y="104"/>
                  <a:pt x="171" y="104"/>
                </a:cubicBezTo>
                <a:cubicBezTo>
                  <a:pt x="171" y="105"/>
                  <a:pt x="170" y="106"/>
                  <a:pt x="170" y="107"/>
                </a:cubicBezTo>
                <a:cubicBezTo>
                  <a:pt x="170" y="113"/>
                  <a:pt x="175" y="118"/>
                  <a:pt x="181" y="118"/>
                </a:cubicBezTo>
                <a:cubicBezTo>
                  <a:pt x="234" y="118"/>
                  <a:pt x="234" y="118"/>
                  <a:pt x="234" y="118"/>
                </a:cubicBezTo>
                <a:cubicBezTo>
                  <a:pt x="253" y="118"/>
                  <a:pt x="277" y="141"/>
                  <a:pt x="277" y="161"/>
                </a:cubicBezTo>
                <a:cubicBezTo>
                  <a:pt x="277" y="162"/>
                  <a:pt x="282" y="216"/>
                  <a:pt x="258" y="24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10" name="Freeform 580"/>
          <p:cNvSpPr>
            <a:spLocks noEditPoints="1"/>
          </p:cNvSpPr>
          <p:nvPr/>
        </p:nvSpPr>
        <p:spPr bwMode="auto">
          <a:xfrm>
            <a:off x="5345543" y="1548812"/>
            <a:ext cx="568731" cy="5038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11" name="Freeform 570"/>
          <p:cNvSpPr>
            <a:spLocks noEditPoints="1"/>
          </p:cNvSpPr>
          <p:nvPr/>
        </p:nvSpPr>
        <p:spPr bwMode="auto">
          <a:xfrm>
            <a:off x="5452598" y="2767931"/>
            <a:ext cx="354621" cy="251934"/>
          </a:xfrm>
          <a:custGeom>
            <a:avLst/>
            <a:gdLst>
              <a:gd name="T0" fmla="*/ 288 w 320"/>
              <a:gd name="T1" fmla="*/ 9 h 256"/>
              <a:gd name="T2" fmla="*/ 277 w 320"/>
              <a:gd name="T3" fmla="*/ 0 h 256"/>
              <a:gd name="T4" fmla="*/ 224 w 320"/>
              <a:gd name="T5" fmla="*/ 0 h 256"/>
              <a:gd name="T6" fmla="*/ 213 w 320"/>
              <a:gd name="T7" fmla="*/ 10 h 256"/>
              <a:gd name="T8" fmla="*/ 201 w 320"/>
              <a:gd name="T9" fmla="*/ 146 h 256"/>
              <a:gd name="T10" fmla="*/ 112 w 320"/>
              <a:gd name="T11" fmla="*/ 87 h 256"/>
              <a:gd name="T12" fmla="*/ 101 w 320"/>
              <a:gd name="T13" fmla="*/ 87 h 256"/>
              <a:gd name="T14" fmla="*/ 96 w 320"/>
              <a:gd name="T15" fmla="*/ 96 h 256"/>
              <a:gd name="T16" fmla="*/ 96 w 320"/>
              <a:gd name="T17" fmla="*/ 140 h 256"/>
              <a:gd name="T18" fmla="*/ 16 w 320"/>
              <a:gd name="T19" fmla="*/ 87 h 256"/>
              <a:gd name="T20" fmla="*/ 5 w 320"/>
              <a:gd name="T21" fmla="*/ 87 h 256"/>
              <a:gd name="T22" fmla="*/ 0 w 320"/>
              <a:gd name="T23" fmla="*/ 96 h 256"/>
              <a:gd name="T24" fmla="*/ 0 w 320"/>
              <a:gd name="T25" fmla="*/ 245 h 256"/>
              <a:gd name="T26" fmla="*/ 10 w 320"/>
              <a:gd name="T27" fmla="*/ 256 h 256"/>
              <a:gd name="T28" fmla="*/ 309 w 320"/>
              <a:gd name="T29" fmla="*/ 256 h 256"/>
              <a:gd name="T30" fmla="*/ 317 w 320"/>
              <a:gd name="T31" fmla="*/ 252 h 256"/>
              <a:gd name="T32" fmla="*/ 320 w 320"/>
              <a:gd name="T33" fmla="*/ 244 h 256"/>
              <a:gd name="T34" fmla="*/ 288 w 320"/>
              <a:gd name="T35" fmla="*/ 9 h 256"/>
              <a:gd name="T36" fmla="*/ 196 w 320"/>
              <a:gd name="T37" fmla="*/ 169 h 256"/>
              <a:gd name="T38" fmla="*/ 198 w 320"/>
              <a:gd name="T39" fmla="*/ 170 h 256"/>
              <a:gd name="T40" fmla="*/ 193 w 320"/>
              <a:gd name="T41" fmla="*/ 235 h 256"/>
              <a:gd name="T42" fmla="*/ 117 w 320"/>
              <a:gd name="T43" fmla="*/ 235 h 256"/>
              <a:gd name="T44" fmla="*/ 117 w 320"/>
              <a:gd name="T45" fmla="*/ 116 h 256"/>
              <a:gd name="T46" fmla="*/ 196 w 320"/>
              <a:gd name="T47" fmla="*/ 169 h 256"/>
              <a:gd name="T48" fmla="*/ 96 w 320"/>
              <a:gd name="T49" fmla="*/ 166 h 256"/>
              <a:gd name="T50" fmla="*/ 96 w 320"/>
              <a:gd name="T51" fmla="*/ 235 h 256"/>
              <a:gd name="T52" fmla="*/ 21 w 320"/>
              <a:gd name="T53" fmla="*/ 235 h 256"/>
              <a:gd name="T54" fmla="*/ 21 w 320"/>
              <a:gd name="T55" fmla="*/ 116 h 256"/>
              <a:gd name="T56" fmla="*/ 96 w 320"/>
              <a:gd name="T57" fmla="*/ 166 h 256"/>
              <a:gd name="T58" fmla="*/ 214 w 320"/>
              <a:gd name="T59" fmla="*/ 235 h 256"/>
              <a:gd name="T60" fmla="*/ 233 w 320"/>
              <a:gd name="T61" fmla="*/ 21 h 256"/>
              <a:gd name="T62" fmla="*/ 268 w 320"/>
              <a:gd name="T63" fmla="*/ 21 h 256"/>
              <a:gd name="T64" fmla="*/ 297 w 320"/>
              <a:gd name="T65" fmla="*/ 235 h 256"/>
              <a:gd name="T66" fmla="*/ 214 w 320"/>
              <a:gd name="T67" fmla="*/ 23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0" h="256">
                <a:moveTo>
                  <a:pt x="288" y="9"/>
                </a:moveTo>
                <a:cubicBezTo>
                  <a:pt x="287" y="4"/>
                  <a:pt x="282" y="0"/>
                  <a:pt x="277" y="0"/>
                </a:cubicBezTo>
                <a:cubicBezTo>
                  <a:pt x="224" y="0"/>
                  <a:pt x="224" y="0"/>
                  <a:pt x="224" y="0"/>
                </a:cubicBezTo>
                <a:cubicBezTo>
                  <a:pt x="218" y="0"/>
                  <a:pt x="214" y="4"/>
                  <a:pt x="213" y="10"/>
                </a:cubicBezTo>
                <a:cubicBezTo>
                  <a:pt x="201" y="146"/>
                  <a:pt x="201" y="146"/>
                  <a:pt x="201" y="146"/>
                </a:cubicBezTo>
                <a:cubicBezTo>
                  <a:pt x="112" y="87"/>
                  <a:pt x="112" y="87"/>
                  <a:pt x="112" y="87"/>
                </a:cubicBezTo>
                <a:cubicBezTo>
                  <a:pt x="109" y="85"/>
                  <a:pt x="105" y="85"/>
                  <a:pt x="101" y="87"/>
                </a:cubicBezTo>
                <a:cubicBezTo>
                  <a:pt x="98" y="88"/>
                  <a:pt x="96" y="92"/>
                  <a:pt x="96" y="96"/>
                </a:cubicBezTo>
                <a:cubicBezTo>
                  <a:pt x="96" y="140"/>
                  <a:pt x="96" y="140"/>
                  <a:pt x="96" y="140"/>
                </a:cubicBezTo>
                <a:cubicBezTo>
                  <a:pt x="16" y="87"/>
                  <a:pt x="16" y="87"/>
                  <a:pt x="16" y="87"/>
                </a:cubicBezTo>
                <a:cubicBezTo>
                  <a:pt x="13" y="85"/>
                  <a:pt x="9" y="85"/>
                  <a:pt x="5" y="87"/>
                </a:cubicBezTo>
                <a:cubicBezTo>
                  <a:pt x="2" y="88"/>
                  <a:pt x="0" y="92"/>
                  <a:pt x="0" y="96"/>
                </a:cubicBezTo>
                <a:cubicBezTo>
                  <a:pt x="0" y="245"/>
                  <a:pt x="0" y="245"/>
                  <a:pt x="0" y="245"/>
                </a:cubicBezTo>
                <a:cubicBezTo>
                  <a:pt x="0" y="251"/>
                  <a:pt x="4" y="256"/>
                  <a:pt x="10" y="256"/>
                </a:cubicBezTo>
                <a:cubicBezTo>
                  <a:pt x="309" y="256"/>
                  <a:pt x="309" y="256"/>
                  <a:pt x="309" y="256"/>
                </a:cubicBezTo>
                <a:cubicBezTo>
                  <a:pt x="312" y="256"/>
                  <a:pt x="315" y="255"/>
                  <a:pt x="317" y="252"/>
                </a:cubicBezTo>
                <a:cubicBezTo>
                  <a:pt x="319" y="250"/>
                  <a:pt x="320" y="247"/>
                  <a:pt x="320" y="244"/>
                </a:cubicBezTo>
                <a:lnTo>
                  <a:pt x="288" y="9"/>
                </a:lnTo>
                <a:close/>
                <a:moveTo>
                  <a:pt x="196" y="169"/>
                </a:moveTo>
                <a:cubicBezTo>
                  <a:pt x="197" y="169"/>
                  <a:pt x="198" y="169"/>
                  <a:pt x="198" y="170"/>
                </a:cubicBezTo>
                <a:cubicBezTo>
                  <a:pt x="193" y="235"/>
                  <a:pt x="193" y="235"/>
                  <a:pt x="193" y="235"/>
                </a:cubicBezTo>
                <a:cubicBezTo>
                  <a:pt x="117" y="235"/>
                  <a:pt x="117" y="235"/>
                  <a:pt x="117" y="235"/>
                </a:cubicBezTo>
                <a:cubicBezTo>
                  <a:pt x="117" y="116"/>
                  <a:pt x="117" y="116"/>
                  <a:pt x="117" y="116"/>
                </a:cubicBezTo>
                <a:lnTo>
                  <a:pt x="196" y="169"/>
                </a:lnTo>
                <a:close/>
                <a:moveTo>
                  <a:pt x="96" y="166"/>
                </a:moveTo>
                <a:cubicBezTo>
                  <a:pt x="96" y="235"/>
                  <a:pt x="96" y="235"/>
                  <a:pt x="96" y="235"/>
                </a:cubicBezTo>
                <a:cubicBezTo>
                  <a:pt x="21" y="235"/>
                  <a:pt x="21" y="235"/>
                  <a:pt x="21" y="235"/>
                </a:cubicBezTo>
                <a:cubicBezTo>
                  <a:pt x="21" y="116"/>
                  <a:pt x="21" y="116"/>
                  <a:pt x="21" y="116"/>
                </a:cubicBezTo>
                <a:lnTo>
                  <a:pt x="96" y="166"/>
                </a:lnTo>
                <a:close/>
                <a:moveTo>
                  <a:pt x="214" y="235"/>
                </a:moveTo>
                <a:cubicBezTo>
                  <a:pt x="233" y="21"/>
                  <a:pt x="233" y="21"/>
                  <a:pt x="233" y="21"/>
                </a:cubicBezTo>
                <a:cubicBezTo>
                  <a:pt x="268" y="21"/>
                  <a:pt x="268" y="21"/>
                  <a:pt x="268" y="21"/>
                </a:cubicBezTo>
                <a:cubicBezTo>
                  <a:pt x="297" y="235"/>
                  <a:pt x="297" y="235"/>
                  <a:pt x="297" y="235"/>
                </a:cubicBezTo>
                <a:lnTo>
                  <a:pt x="214" y="23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12" name="Freeform 571"/>
          <p:cNvSpPr>
            <a:spLocks noEditPoints="1"/>
          </p:cNvSpPr>
          <p:nvPr/>
        </p:nvSpPr>
        <p:spPr bwMode="auto">
          <a:xfrm>
            <a:off x="5345543" y="2652338"/>
            <a:ext cx="568731" cy="50386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grpSp>
        <p:nvGrpSpPr>
          <p:cNvPr id="113" name="Group 2"/>
          <p:cNvGrpSpPr/>
          <p:nvPr/>
        </p:nvGrpSpPr>
        <p:grpSpPr>
          <a:xfrm>
            <a:off x="3143258" y="3742998"/>
            <a:ext cx="568731" cy="503867"/>
            <a:chOff x="4387531" y="5110552"/>
            <a:chExt cx="720000" cy="720000"/>
          </a:xfrm>
        </p:grpSpPr>
        <p:sp>
          <p:nvSpPr>
            <p:cNvPr id="114" name="Freeform 854"/>
            <p:cNvSpPr>
              <a:spLocks noEditPoints="1"/>
            </p:cNvSpPr>
            <p:nvPr/>
          </p:nvSpPr>
          <p:spPr bwMode="auto">
            <a:xfrm>
              <a:off x="4520943" y="5273611"/>
              <a:ext cx="451059" cy="421412"/>
            </a:xfrm>
            <a:custGeom>
              <a:avLst/>
              <a:gdLst>
                <a:gd name="T0" fmla="*/ 299 w 321"/>
                <a:gd name="T1" fmla="*/ 32 h 300"/>
                <a:gd name="T2" fmla="*/ 293 w 321"/>
                <a:gd name="T3" fmla="*/ 23 h 300"/>
                <a:gd name="T4" fmla="*/ 283 w 321"/>
                <a:gd name="T5" fmla="*/ 24 h 300"/>
                <a:gd name="T6" fmla="*/ 168 w 321"/>
                <a:gd name="T7" fmla="*/ 4 h 300"/>
                <a:gd name="T8" fmla="*/ 153 w 321"/>
                <a:gd name="T9" fmla="*/ 4 h 300"/>
                <a:gd name="T10" fmla="*/ 38 w 321"/>
                <a:gd name="T11" fmla="*/ 24 h 300"/>
                <a:gd name="T12" fmla="*/ 28 w 321"/>
                <a:gd name="T13" fmla="*/ 23 h 300"/>
                <a:gd name="T14" fmla="*/ 22 w 321"/>
                <a:gd name="T15" fmla="*/ 32 h 300"/>
                <a:gd name="T16" fmla="*/ 156 w 321"/>
                <a:gd name="T17" fmla="*/ 298 h 300"/>
                <a:gd name="T18" fmla="*/ 157 w 321"/>
                <a:gd name="T19" fmla="*/ 299 h 300"/>
                <a:gd name="T20" fmla="*/ 158 w 321"/>
                <a:gd name="T21" fmla="*/ 299 h 300"/>
                <a:gd name="T22" fmla="*/ 161 w 321"/>
                <a:gd name="T23" fmla="*/ 300 h 300"/>
                <a:gd name="T24" fmla="*/ 161 w 321"/>
                <a:gd name="T25" fmla="*/ 300 h 300"/>
                <a:gd name="T26" fmla="*/ 161 w 321"/>
                <a:gd name="T27" fmla="*/ 300 h 300"/>
                <a:gd name="T28" fmla="*/ 163 w 321"/>
                <a:gd name="T29" fmla="*/ 299 h 300"/>
                <a:gd name="T30" fmla="*/ 164 w 321"/>
                <a:gd name="T31" fmla="*/ 299 h 300"/>
                <a:gd name="T32" fmla="*/ 166 w 321"/>
                <a:gd name="T33" fmla="*/ 298 h 300"/>
                <a:gd name="T34" fmla="*/ 299 w 321"/>
                <a:gd name="T35" fmla="*/ 32 h 300"/>
                <a:gd name="T36" fmla="*/ 252 w 321"/>
                <a:gd name="T37" fmla="*/ 55 h 300"/>
                <a:gd name="T38" fmla="*/ 92 w 321"/>
                <a:gd name="T39" fmla="*/ 215 h 300"/>
                <a:gd name="T40" fmla="*/ 82 w 321"/>
                <a:gd name="T41" fmla="*/ 201 h 300"/>
                <a:gd name="T42" fmla="*/ 228 w 321"/>
                <a:gd name="T43" fmla="*/ 55 h 300"/>
                <a:gd name="T44" fmla="*/ 252 w 321"/>
                <a:gd name="T45" fmla="*/ 55 h 300"/>
                <a:gd name="T46" fmla="*/ 42 w 321"/>
                <a:gd name="T47" fmla="*/ 49 h 300"/>
                <a:gd name="T48" fmla="*/ 161 w 321"/>
                <a:gd name="T49" fmla="*/ 26 h 300"/>
                <a:gd name="T50" fmla="*/ 203 w 321"/>
                <a:gd name="T51" fmla="*/ 50 h 300"/>
                <a:gd name="T52" fmla="*/ 71 w 321"/>
                <a:gd name="T53" fmla="*/ 183 h 300"/>
                <a:gd name="T54" fmla="*/ 42 w 321"/>
                <a:gd name="T55" fmla="*/ 49 h 300"/>
                <a:gd name="T56" fmla="*/ 161 w 321"/>
                <a:gd name="T57" fmla="*/ 277 h 300"/>
                <a:gd name="T58" fmla="*/ 106 w 321"/>
                <a:gd name="T59" fmla="*/ 231 h 300"/>
                <a:gd name="T60" fmla="*/ 280 w 321"/>
                <a:gd name="T61" fmla="*/ 57 h 300"/>
                <a:gd name="T62" fmla="*/ 161 w 321"/>
                <a:gd name="T63" fmla="*/ 27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1" h="300">
                  <a:moveTo>
                    <a:pt x="299" y="32"/>
                  </a:moveTo>
                  <a:cubicBezTo>
                    <a:pt x="299" y="28"/>
                    <a:pt x="297" y="25"/>
                    <a:pt x="293" y="23"/>
                  </a:cubicBezTo>
                  <a:cubicBezTo>
                    <a:pt x="290" y="22"/>
                    <a:pt x="286" y="22"/>
                    <a:pt x="283" y="24"/>
                  </a:cubicBezTo>
                  <a:cubicBezTo>
                    <a:pt x="283" y="24"/>
                    <a:pt x="222" y="58"/>
                    <a:pt x="168" y="4"/>
                  </a:cubicBezTo>
                  <a:cubicBezTo>
                    <a:pt x="164" y="0"/>
                    <a:pt x="157" y="0"/>
                    <a:pt x="153" y="4"/>
                  </a:cubicBezTo>
                  <a:cubicBezTo>
                    <a:pt x="100" y="58"/>
                    <a:pt x="40" y="25"/>
                    <a:pt x="38" y="24"/>
                  </a:cubicBezTo>
                  <a:cubicBezTo>
                    <a:pt x="35" y="22"/>
                    <a:pt x="31" y="22"/>
                    <a:pt x="28" y="23"/>
                  </a:cubicBezTo>
                  <a:cubicBezTo>
                    <a:pt x="25" y="25"/>
                    <a:pt x="22" y="28"/>
                    <a:pt x="22" y="32"/>
                  </a:cubicBezTo>
                  <a:cubicBezTo>
                    <a:pt x="0" y="216"/>
                    <a:pt x="154" y="298"/>
                    <a:pt x="156" y="298"/>
                  </a:cubicBezTo>
                  <a:cubicBezTo>
                    <a:pt x="156" y="299"/>
                    <a:pt x="157" y="299"/>
                    <a:pt x="157" y="299"/>
                  </a:cubicBezTo>
                  <a:cubicBezTo>
                    <a:pt x="157" y="299"/>
                    <a:pt x="158" y="299"/>
                    <a:pt x="158" y="299"/>
                  </a:cubicBezTo>
                  <a:cubicBezTo>
                    <a:pt x="159" y="300"/>
                    <a:pt x="160" y="300"/>
                    <a:pt x="161" y="300"/>
                  </a:cubicBezTo>
                  <a:cubicBezTo>
                    <a:pt x="161" y="300"/>
                    <a:pt x="161" y="300"/>
                    <a:pt x="161" y="300"/>
                  </a:cubicBezTo>
                  <a:cubicBezTo>
                    <a:pt x="161" y="300"/>
                    <a:pt x="161" y="300"/>
                    <a:pt x="161" y="300"/>
                  </a:cubicBezTo>
                  <a:cubicBezTo>
                    <a:pt x="162" y="300"/>
                    <a:pt x="162" y="300"/>
                    <a:pt x="163" y="299"/>
                  </a:cubicBezTo>
                  <a:cubicBezTo>
                    <a:pt x="164" y="299"/>
                    <a:pt x="164" y="299"/>
                    <a:pt x="164" y="299"/>
                  </a:cubicBezTo>
                  <a:cubicBezTo>
                    <a:pt x="165" y="299"/>
                    <a:pt x="165" y="299"/>
                    <a:pt x="166" y="298"/>
                  </a:cubicBezTo>
                  <a:cubicBezTo>
                    <a:pt x="167" y="298"/>
                    <a:pt x="321" y="216"/>
                    <a:pt x="299" y="32"/>
                  </a:cubicBezTo>
                  <a:close/>
                  <a:moveTo>
                    <a:pt x="252" y="55"/>
                  </a:moveTo>
                  <a:cubicBezTo>
                    <a:pt x="92" y="215"/>
                    <a:pt x="92" y="215"/>
                    <a:pt x="92" y="215"/>
                  </a:cubicBezTo>
                  <a:cubicBezTo>
                    <a:pt x="89" y="210"/>
                    <a:pt x="85" y="206"/>
                    <a:pt x="82" y="201"/>
                  </a:cubicBezTo>
                  <a:cubicBezTo>
                    <a:pt x="228" y="55"/>
                    <a:pt x="228" y="55"/>
                    <a:pt x="228" y="55"/>
                  </a:cubicBezTo>
                  <a:cubicBezTo>
                    <a:pt x="236" y="56"/>
                    <a:pt x="244" y="56"/>
                    <a:pt x="252" y="55"/>
                  </a:cubicBezTo>
                  <a:close/>
                  <a:moveTo>
                    <a:pt x="42" y="49"/>
                  </a:moveTo>
                  <a:cubicBezTo>
                    <a:pt x="66" y="57"/>
                    <a:pt x="115" y="66"/>
                    <a:pt x="161" y="26"/>
                  </a:cubicBezTo>
                  <a:cubicBezTo>
                    <a:pt x="175" y="38"/>
                    <a:pt x="189" y="46"/>
                    <a:pt x="203" y="50"/>
                  </a:cubicBezTo>
                  <a:cubicBezTo>
                    <a:pt x="71" y="183"/>
                    <a:pt x="71" y="183"/>
                    <a:pt x="71" y="183"/>
                  </a:cubicBezTo>
                  <a:cubicBezTo>
                    <a:pt x="51" y="148"/>
                    <a:pt x="38" y="104"/>
                    <a:pt x="42" y="49"/>
                  </a:cubicBezTo>
                  <a:close/>
                  <a:moveTo>
                    <a:pt x="161" y="277"/>
                  </a:moveTo>
                  <a:cubicBezTo>
                    <a:pt x="151" y="271"/>
                    <a:pt x="129" y="256"/>
                    <a:pt x="106" y="231"/>
                  </a:cubicBezTo>
                  <a:cubicBezTo>
                    <a:pt x="280" y="57"/>
                    <a:pt x="280" y="57"/>
                    <a:pt x="280" y="57"/>
                  </a:cubicBezTo>
                  <a:cubicBezTo>
                    <a:pt x="285" y="195"/>
                    <a:pt x="185" y="263"/>
                    <a:pt x="161" y="277"/>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15" name="Freeform 855"/>
            <p:cNvSpPr>
              <a:spLocks noEditPoints="1"/>
            </p:cNvSpPr>
            <p:nvPr/>
          </p:nvSpPr>
          <p:spPr bwMode="auto">
            <a:xfrm>
              <a:off x="4387531" y="5110552"/>
              <a:ext cx="720000" cy="7200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grpSp>
      <p:grpSp>
        <p:nvGrpSpPr>
          <p:cNvPr id="116" name="Group 108"/>
          <p:cNvGrpSpPr>
            <a:grpSpLocks noChangeAspect="1"/>
          </p:cNvGrpSpPr>
          <p:nvPr/>
        </p:nvGrpSpPr>
        <p:grpSpPr bwMode="auto">
          <a:xfrm>
            <a:off x="5337178" y="3744587"/>
            <a:ext cx="568731" cy="503867"/>
            <a:chOff x="655" y="442"/>
            <a:chExt cx="340" cy="340"/>
          </a:xfrm>
          <a:solidFill>
            <a:schemeClr val="tx2"/>
          </a:solidFill>
        </p:grpSpPr>
        <p:sp>
          <p:nvSpPr>
            <p:cNvPr id="117" name="Freeform 109"/>
            <p:cNvSpPr>
              <a:spLocks noEditPoints="1"/>
            </p:cNvSpPr>
            <p:nvPr/>
          </p:nvSpPr>
          <p:spPr bwMode="auto">
            <a:xfrm>
              <a:off x="655" y="44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18" name="Freeform 110"/>
            <p:cNvSpPr>
              <a:spLocks noEditPoints="1"/>
            </p:cNvSpPr>
            <p:nvPr/>
          </p:nvSpPr>
          <p:spPr bwMode="auto">
            <a:xfrm>
              <a:off x="718" y="505"/>
              <a:ext cx="213" cy="185"/>
            </a:xfrm>
            <a:custGeom>
              <a:avLst/>
              <a:gdLst>
                <a:gd name="T0" fmla="*/ 318 w 321"/>
                <a:gd name="T1" fmla="*/ 79 h 278"/>
                <a:gd name="T2" fmla="*/ 254 w 321"/>
                <a:gd name="T3" fmla="*/ 4 h 278"/>
                <a:gd name="T4" fmla="*/ 243 w 321"/>
                <a:gd name="T5" fmla="*/ 1 h 278"/>
                <a:gd name="T6" fmla="*/ 8 w 321"/>
                <a:gd name="T7" fmla="*/ 76 h 278"/>
                <a:gd name="T8" fmla="*/ 1 w 321"/>
                <a:gd name="T9" fmla="*/ 88 h 278"/>
                <a:gd name="T10" fmla="*/ 11 w 321"/>
                <a:gd name="T11" fmla="*/ 97 h 278"/>
                <a:gd name="T12" fmla="*/ 43 w 321"/>
                <a:gd name="T13" fmla="*/ 97 h 278"/>
                <a:gd name="T14" fmla="*/ 43 w 321"/>
                <a:gd name="T15" fmla="*/ 139 h 278"/>
                <a:gd name="T16" fmla="*/ 11 w 321"/>
                <a:gd name="T17" fmla="*/ 139 h 278"/>
                <a:gd name="T18" fmla="*/ 1 w 321"/>
                <a:gd name="T19" fmla="*/ 150 h 278"/>
                <a:gd name="T20" fmla="*/ 1 w 321"/>
                <a:gd name="T21" fmla="*/ 203 h 278"/>
                <a:gd name="T22" fmla="*/ 11 w 321"/>
                <a:gd name="T23" fmla="*/ 214 h 278"/>
                <a:gd name="T24" fmla="*/ 97 w 321"/>
                <a:gd name="T25" fmla="*/ 214 h 278"/>
                <a:gd name="T26" fmla="*/ 107 w 321"/>
                <a:gd name="T27" fmla="*/ 203 h 278"/>
                <a:gd name="T28" fmla="*/ 107 w 321"/>
                <a:gd name="T29" fmla="*/ 150 h 278"/>
                <a:gd name="T30" fmla="*/ 97 w 321"/>
                <a:gd name="T31" fmla="*/ 139 h 278"/>
                <a:gd name="T32" fmla="*/ 65 w 321"/>
                <a:gd name="T33" fmla="*/ 139 h 278"/>
                <a:gd name="T34" fmla="*/ 65 w 321"/>
                <a:gd name="T35" fmla="*/ 97 h 278"/>
                <a:gd name="T36" fmla="*/ 214 w 321"/>
                <a:gd name="T37" fmla="*/ 97 h 278"/>
                <a:gd name="T38" fmla="*/ 214 w 321"/>
                <a:gd name="T39" fmla="*/ 257 h 278"/>
                <a:gd name="T40" fmla="*/ 33 w 321"/>
                <a:gd name="T41" fmla="*/ 257 h 278"/>
                <a:gd name="T42" fmla="*/ 22 w 321"/>
                <a:gd name="T43" fmla="*/ 267 h 278"/>
                <a:gd name="T44" fmla="*/ 33 w 321"/>
                <a:gd name="T45" fmla="*/ 278 h 278"/>
                <a:gd name="T46" fmla="*/ 289 w 321"/>
                <a:gd name="T47" fmla="*/ 278 h 278"/>
                <a:gd name="T48" fmla="*/ 299 w 321"/>
                <a:gd name="T49" fmla="*/ 267 h 278"/>
                <a:gd name="T50" fmla="*/ 289 w 321"/>
                <a:gd name="T51" fmla="*/ 257 h 278"/>
                <a:gd name="T52" fmla="*/ 289 w 321"/>
                <a:gd name="T53" fmla="*/ 97 h 278"/>
                <a:gd name="T54" fmla="*/ 310 w 321"/>
                <a:gd name="T55" fmla="*/ 97 h 278"/>
                <a:gd name="T56" fmla="*/ 320 w 321"/>
                <a:gd name="T57" fmla="*/ 90 h 278"/>
                <a:gd name="T58" fmla="*/ 318 w 321"/>
                <a:gd name="T59" fmla="*/ 79 h 278"/>
                <a:gd name="T60" fmla="*/ 86 w 321"/>
                <a:gd name="T61" fmla="*/ 161 h 278"/>
                <a:gd name="T62" fmla="*/ 86 w 321"/>
                <a:gd name="T63" fmla="*/ 193 h 278"/>
                <a:gd name="T64" fmla="*/ 22 w 321"/>
                <a:gd name="T65" fmla="*/ 193 h 278"/>
                <a:gd name="T66" fmla="*/ 22 w 321"/>
                <a:gd name="T67" fmla="*/ 161 h 278"/>
                <a:gd name="T68" fmla="*/ 86 w 321"/>
                <a:gd name="T69" fmla="*/ 161 h 278"/>
                <a:gd name="T70" fmla="*/ 257 w 321"/>
                <a:gd name="T71" fmla="*/ 75 h 278"/>
                <a:gd name="T72" fmla="*/ 257 w 321"/>
                <a:gd name="T73" fmla="*/ 40 h 278"/>
                <a:gd name="T74" fmla="*/ 287 w 321"/>
                <a:gd name="T75" fmla="*/ 75 h 278"/>
                <a:gd name="T76" fmla="*/ 257 w 321"/>
                <a:gd name="T77" fmla="*/ 75 h 278"/>
                <a:gd name="T78" fmla="*/ 235 w 321"/>
                <a:gd name="T79" fmla="*/ 26 h 278"/>
                <a:gd name="T80" fmla="*/ 235 w 321"/>
                <a:gd name="T81" fmla="*/ 75 h 278"/>
                <a:gd name="T82" fmla="*/ 80 w 321"/>
                <a:gd name="T83" fmla="*/ 75 h 278"/>
                <a:gd name="T84" fmla="*/ 235 w 321"/>
                <a:gd name="T85" fmla="*/ 26 h 278"/>
                <a:gd name="T86" fmla="*/ 267 w 321"/>
                <a:gd name="T87" fmla="*/ 178 h 278"/>
                <a:gd name="T88" fmla="*/ 235 w 321"/>
                <a:gd name="T89" fmla="*/ 217 h 278"/>
                <a:gd name="T90" fmla="*/ 235 w 321"/>
                <a:gd name="T91" fmla="*/ 175 h 278"/>
                <a:gd name="T92" fmla="*/ 267 w 321"/>
                <a:gd name="T93" fmla="*/ 137 h 278"/>
                <a:gd name="T94" fmla="*/ 267 w 321"/>
                <a:gd name="T95" fmla="*/ 178 h 278"/>
                <a:gd name="T96" fmla="*/ 235 w 321"/>
                <a:gd name="T97" fmla="*/ 257 h 278"/>
                <a:gd name="T98" fmla="*/ 235 w 321"/>
                <a:gd name="T99" fmla="*/ 250 h 278"/>
                <a:gd name="T100" fmla="*/ 267 w 321"/>
                <a:gd name="T101" fmla="*/ 211 h 278"/>
                <a:gd name="T102" fmla="*/ 267 w 321"/>
                <a:gd name="T103" fmla="*/ 257 h 278"/>
                <a:gd name="T104" fmla="*/ 235 w 321"/>
                <a:gd name="T105" fmla="*/ 257 h 278"/>
                <a:gd name="T106" fmla="*/ 267 w 321"/>
                <a:gd name="T107" fmla="*/ 103 h 278"/>
                <a:gd name="T108" fmla="*/ 235 w 321"/>
                <a:gd name="T109" fmla="*/ 142 h 278"/>
                <a:gd name="T110" fmla="*/ 235 w 321"/>
                <a:gd name="T111" fmla="*/ 97 h 278"/>
                <a:gd name="T112" fmla="*/ 267 w 321"/>
                <a:gd name="T113" fmla="*/ 97 h 278"/>
                <a:gd name="T114" fmla="*/ 267 w 321"/>
                <a:gd name="T115" fmla="*/ 103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1" h="278">
                  <a:moveTo>
                    <a:pt x="318" y="79"/>
                  </a:moveTo>
                  <a:cubicBezTo>
                    <a:pt x="254" y="4"/>
                    <a:pt x="254" y="4"/>
                    <a:pt x="254" y="4"/>
                  </a:cubicBezTo>
                  <a:cubicBezTo>
                    <a:pt x="251" y="1"/>
                    <a:pt x="247" y="0"/>
                    <a:pt x="243" y="1"/>
                  </a:cubicBezTo>
                  <a:cubicBezTo>
                    <a:pt x="8" y="76"/>
                    <a:pt x="8" y="76"/>
                    <a:pt x="8" y="76"/>
                  </a:cubicBezTo>
                  <a:cubicBezTo>
                    <a:pt x="3" y="77"/>
                    <a:pt x="0" y="82"/>
                    <a:pt x="1" y="88"/>
                  </a:cubicBezTo>
                  <a:cubicBezTo>
                    <a:pt x="2" y="93"/>
                    <a:pt x="6" y="97"/>
                    <a:pt x="11" y="97"/>
                  </a:cubicBezTo>
                  <a:cubicBezTo>
                    <a:pt x="43" y="97"/>
                    <a:pt x="43" y="97"/>
                    <a:pt x="43" y="97"/>
                  </a:cubicBezTo>
                  <a:cubicBezTo>
                    <a:pt x="43" y="139"/>
                    <a:pt x="43" y="139"/>
                    <a:pt x="43" y="139"/>
                  </a:cubicBezTo>
                  <a:cubicBezTo>
                    <a:pt x="11" y="139"/>
                    <a:pt x="11" y="139"/>
                    <a:pt x="11" y="139"/>
                  </a:cubicBezTo>
                  <a:cubicBezTo>
                    <a:pt x="5" y="139"/>
                    <a:pt x="1" y="144"/>
                    <a:pt x="1" y="150"/>
                  </a:cubicBezTo>
                  <a:cubicBezTo>
                    <a:pt x="1" y="203"/>
                    <a:pt x="1" y="203"/>
                    <a:pt x="1" y="203"/>
                  </a:cubicBezTo>
                  <a:cubicBezTo>
                    <a:pt x="1" y="209"/>
                    <a:pt x="5" y="214"/>
                    <a:pt x="11" y="214"/>
                  </a:cubicBezTo>
                  <a:cubicBezTo>
                    <a:pt x="97" y="214"/>
                    <a:pt x="97" y="214"/>
                    <a:pt x="97" y="214"/>
                  </a:cubicBezTo>
                  <a:cubicBezTo>
                    <a:pt x="103" y="214"/>
                    <a:pt x="107" y="209"/>
                    <a:pt x="107" y="203"/>
                  </a:cubicBezTo>
                  <a:cubicBezTo>
                    <a:pt x="107" y="150"/>
                    <a:pt x="107" y="150"/>
                    <a:pt x="107" y="150"/>
                  </a:cubicBezTo>
                  <a:cubicBezTo>
                    <a:pt x="107" y="144"/>
                    <a:pt x="103" y="139"/>
                    <a:pt x="97" y="139"/>
                  </a:cubicBezTo>
                  <a:cubicBezTo>
                    <a:pt x="65" y="139"/>
                    <a:pt x="65" y="139"/>
                    <a:pt x="65" y="139"/>
                  </a:cubicBezTo>
                  <a:cubicBezTo>
                    <a:pt x="65" y="97"/>
                    <a:pt x="65" y="97"/>
                    <a:pt x="65" y="97"/>
                  </a:cubicBezTo>
                  <a:cubicBezTo>
                    <a:pt x="214" y="97"/>
                    <a:pt x="214" y="97"/>
                    <a:pt x="214" y="97"/>
                  </a:cubicBezTo>
                  <a:cubicBezTo>
                    <a:pt x="214" y="257"/>
                    <a:pt x="214" y="257"/>
                    <a:pt x="214" y="257"/>
                  </a:cubicBezTo>
                  <a:cubicBezTo>
                    <a:pt x="33" y="257"/>
                    <a:pt x="33" y="257"/>
                    <a:pt x="33" y="257"/>
                  </a:cubicBezTo>
                  <a:cubicBezTo>
                    <a:pt x="27" y="257"/>
                    <a:pt x="22" y="261"/>
                    <a:pt x="22" y="267"/>
                  </a:cubicBezTo>
                  <a:cubicBezTo>
                    <a:pt x="22" y="273"/>
                    <a:pt x="27" y="278"/>
                    <a:pt x="33" y="278"/>
                  </a:cubicBezTo>
                  <a:cubicBezTo>
                    <a:pt x="289" y="278"/>
                    <a:pt x="289" y="278"/>
                    <a:pt x="289" y="278"/>
                  </a:cubicBezTo>
                  <a:cubicBezTo>
                    <a:pt x="295" y="278"/>
                    <a:pt x="299" y="273"/>
                    <a:pt x="299" y="267"/>
                  </a:cubicBezTo>
                  <a:cubicBezTo>
                    <a:pt x="299" y="261"/>
                    <a:pt x="295" y="257"/>
                    <a:pt x="289" y="257"/>
                  </a:cubicBezTo>
                  <a:cubicBezTo>
                    <a:pt x="289" y="97"/>
                    <a:pt x="289" y="97"/>
                    <a:pt x="289" y="97"/>
                  </a:cubicBezTo>
                  <a:cubicBezTo>
                    <a:pt x="310" y="97"/>
                    <a:pt x="310" y="97"/>
                    <a:pt x="310" y="97"/>
                  </a:cubicBezTo>
                  <a:cubicBezTo>
                    <a:pt x="314" y="97"/>
                    <a:pt x="318" y="94"/>
                    <a:pt x="320" y="90"/>
                  </a:cubicBezTo>
                  <a:cubicBezTo>
                    <a:pt x="321" y="87"/>
                    <a:pt x="321" y="82"/>
                    <a:pt x="318" y="79"/>
                  </a:cubicBezTo>
                  <a:close/>
                  <a:moveTo>
                    <a:pt x="86" y="161"/>
                  </a:moveTo>
                  <a:cubicBezTo>
                    <a:pt x="86" y="193"/>
                    <a:pt x="86" y="193"/>
                    <a:pt x="86" y="193"/>
                  </a:cubicBezTo>
                  <a:cubicBezTo>
                    <a:pt x="22" y="193"/>
                    <a:pt x="22" y="193"/>
                    <a:pt x="22" y="193"/>
                  </a:cubicBezTo>
                  <a:cubicBezTo>
                    <a:pt x="22" y="161"/>
                    <a:pt x="22" y="161"/>
                    <a:pt x="22" y="161"/>
                  </a:cubicBezTo>
                  <a:lnTo>
                    <a:pt x="86" y="161"/>
                  </a:lnTo>
                  <a:close/>
                  <a:moveTo>
                    <a:pt x="257" y="75"/>
                  </a:moveTo>
                  <a:cubicBezTo>
                    <a:pt x="257" y="40"/>
                    <a:pt x="257" y="40"/>
                    <a:pt x="257" y="40"/>
                  </a:cubicBezTo>
                  <a:cubicBezTo>
                    <a:pt x="287" y="75"/>
                    <a:pt x="287" y="75"/>
                    <a:pt x="287" y="75"/>
                  </a:cubicBezTo>
                  <a:lnTo>
                    <a:pt x="257" y="75"/>
                  </a:lnTo>
                  <a:close/>
                  <a:moveTo>
                    <a:pt x="235" y="26"/>
                  </a:moveTo>
                  <a:cubicBezTo>
                    <a:pt x="235" y="75"/>
                    <a:pt x="235" y="75"/>
                    <a:pt x="235" y="75"/>
                  </a:cubicBezTo>
                  <a:cubicBezTo>
                    <a:pt x="80" y="75"/>
                    <a:pt x="80" y="75"/>
                    <a:pt x="80" y="75"/>
                  </a:cubicBezTo>
                  <a:lnTo>
                    <a:pt x="235" y="26"/>
                  </a:lnTo>
                  <a:close/>
                  <a:moveTo>
                    <a:pt x="267" y="178"/>
                  </a:moveTo>
                  <a:cubicBezTo>
                    <a:pt x="235" y="217"/>
                    <a:pt x="235" y="217"/>
                    <a:pt x="235" y="217"/>
                  </a:cubicBezTo>
                  <a:cubicBezTo>
                    <a:pt x="235" y="175"/>
                    <a:pt x="235" y="175"/>
                    <a:pt x="235" y="175"/>
                  </a:cubicBezTo>
                  <a:cubicBezTo>
                    <a:pt x="267" y="137"/>
                    <a:pt x="267" y="137"/>
                    <a:pt x="267" y="137"/>
                  </a:cubicBezTo>
                  <a:lnTo>
                    <a:pt x="267" y="178"/>
                  </a:lnTo>
                  <a:close/>
                  <a:moveTo>
                    <a:pt x="235" y="257"/>
                  </a:moveTo>
                  <a:cubicBezTo>
                    <a:pt x="235" y="250"/>
                    <a:pt x="235" y="250"/>
                    <a:pt x="235" y="250"/>
                  </a:cubicBezTo>
                  <a:cubicBezTo>
                    <a:pt x="267" y="211"/>
                    <a:pt x="267" y="211"/>
                    <a:pt x="267" y="211"/>
                  </a:cubicBezTo>
                  <a:cubicBezTo>
                    <a:pt x="267" y="257"/>
                    <a:pt x="267" y="257"/>
                    <a:pt x="267" y="257"/>
                  </a:cubicBezTo>
                  <a:lnTo>
                    <a:pt x="235" y="257"/>
                  </a:lnTo>
                  <a:close/>
                  <a:moveTo>
                    <a:pt x="267" y="103"/>
                  </a:moveTo>
                  <a:cubicBezTo>
                    <a:pt x="235" y="142"/>
                    <a:pt x="235" y="142"/>
                    <a:pt x="235" y="142"/>
                  </a:cubicBezTo>
                  <a:cubicBezTo>
                    <a:pt x="235" y="97"/>
                    <a:pt x="235" y="97"/>
                    <a:pt x="235" y="97"/>
                  </a:cubicBezTo>
                  <a:cubicBezTo>
                    <a:pt x="267" y="97"/>
                    <a:pt x="267" y="97"/>
                    <a:pt x="267" y="97"/>
                  </a:cubicBezTo>
                  <a:lnTo>
                    <a:pt x="267" y="1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grpSp>
      <p:grpSp>
        <p:nvGrpSpPr>
          <p:cNvPr id="119" name="Group 681"/>
          <p:cNvGrpSpPr>
            <a:grpSpLocks noChangeAspect="1"/>
          </p:cNvGrpSpPr>
          <p:nvPr/>
        </p:nvGrpSpPr>
        <p:grpSpPr bwMode="auto">
          <a:xfrm>
            <a:off x="7571293" y="3749694"/>
            <a:ext cx="568731" cy="503867"/>
            <a:chOff x="3220" y="2949"/>
            <a:chExt cx="340" cy="340"/>
          </a:xfrm>
          <a:solidFill>
            <a:schemeClr val="tx2"/>
          </a:solidFill>
        </p:grpSpPr>
        <p:sp>
          <p:nvSpPr>
            <p:cNvPr id="120" name="Freeform 682"/>
            <p:cNvSpPr>
              <a:spLocks noEditPoints="1"/>
            </p:cNvSpPr>
            <p:nvPr/>
          </p:nvSpPr>
          <p:spPr bwMode="auto">
            <a:xfrm>
              <a:off x="3220" y="2949"/>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21" name="Freeform 683"/>
            <p:cNvSpPr>
              <a:spLocks noEditPoints="1"/>
            </p:cNvSpPr>
            <p:nvPr/>
          </p:nvSpPr>
          <p:spPr bwMode="auto">
            <a:xfrm>
              <a:off x="3312" y="3018"/>
              <a:ext cx="156" cy="207"/>
            </a:xfrm>
            <a:custGeom>
              <a:avLst/>
              <a:gdLst>
                <a:gd name="T0" fmla="*/ 94 w 234"/>
                <a:gd name="T1" fmla="*/ 170 h 312"/>
                <a:gd name="T2" fmla="*/ 85 w 234"/>
                <a:gd name="T3" fmla="*/ 176 h 312"/>
                <a:gd name="T4" fmla="*/ 80 w 234"/>
                <a:gd name="T5" fmla="*/ 174 h 312"/>
                <a:gd name="T6" fmla="*/ 42 w 234"/>
                <a:gd name="T7" fmla="*/ 110 h 312"/>
                <a:gd name="T8" fmla="*/ 80 w 234"/>
                <a:gd name="T9" fmla="*/ 45 h 312"/>
                <a:gd name="T10" fmla="*/ 94 w 234"/>
                <a:gd name="T11" fmla="*/ 49 h 312"/>
                <a:gd name="T12" fmla="*/ 90 w 234"/>
                <a:gd name="T13" fmla="*/ 63 h 312"/>
                <a:gd name="T14" fmla="*/ 64 w 234"/>
                <a:gd name="T15" fmla="*/ 110 h 312"/>
                <a:gd name="T16" fmla="*/ 90 w 234"/>
                <a:gd name="T17" fmla="*/ 156 h 312"/>
                <a:gd name="T18" fmla="*/ 94 w 234"/>
                <a:gd name="T19" fmla="*/ 170 h 312"/>
                <a:gd name="T20" fmla="*/ 79 w 234"/>
                <a:gd name="T21" fmla="*/ 198 h 312"/>
                <a:gd name="T22" fmla="*/ 21 w 234"/>
                <a:gd name="T23" fmla="*/ 110 h 312"/>
                <a:gd name="T24" fmla="*/ 79 w 234"/>
                <a:gd name="T25" fmla="*/ 22 h 312"/>
                <a:gd name="T26" fmla="*/ 84 w 234"/>
                <a:gd name="T27" fmla="*/ 8 h 312"/>
                <a:gd name="T28" fmla="*/ 70 w 234"/>
                <a:gd name="T29" fmla="*/ 2 h 312"/>
                <a:gd name="T30" fmla="*/ 0 w 234"/>
                <a:gd name="T31" fmla="*/ 110 h 312"/>
                <a:gd name="T32" fmla="*/ 70 w 234"/>
                <a:gd name="T33" fmla="*/ 217 h 312"/>
                <a:gd name="T34" fmla="*/ 74 w 234"/>
                <a:gd name="T35" fmla="*/ 218 h 312"/>
                <a:gd name="T36" fmla="*/ 84 w 234"/>
                <a:gd name="T37" fmla="*/ 212 h 312"/>
                <a:gd name="T38" fmla="*/ 79 w 234"/>
                <a:gd name="T39" fmla="*/ 198 h 312"/>
                <a:gd name="T40" fmla="*/ 128 w 234"/>
                <a:gd name="T41" fmla="*/ 140 h 312"/>
                <a:gd name="T42" fmla="*/ 128 w 234"/>
                <a:gd name="T43" fmla="*/ 302 h 312"/>
                <a:gd name="T44" fmla="*/ 117 w 234"/>
                <a:gd name="T45" fmla="*/ 312 h 312"/>
                <a:gd name="T46" fmla="*/ 106 w 234"/>
                <a:gd name="T47" fmla="*/ 302 h 312"/>
                <a:gd name="T48" fmla="*/ 106 w 234"/>
                <a:gd name="T49" fmla="*/ 140 h 312"/>
                <a:gd name="T50" fmla="*/ 85 w 234"/>
                <a:gd name="T51" fmla="*/ 110 h 312"/>
                <a:gd name="T52" fmla="*/ 117 w 234"/>
                <a:gd name="T53" fmla="*/ 78 h 312"/>
                <a:gd name="T54" fmla="*/ 149 w 234"/>
                <a:gd name="T55" fmla="*/ 110 h 312"/>
                <a:gd name="T56" fmla="*/ 128 w 234"/>
                <a:gd name="T57" fmla="*/ 140 h 312"/>
                <a:gd name="T58" fmla="*/ 106 w 234"/>
                <a:gd name="T59" fmla="*/ 110 h 312"/>
                <a:gd name="T60" fmla="*/ 117 w 234"/>
                <a:gd name="T61" fmla="*/ 120 h 312"/>
                <a:gd name="T62" fmla="*/ 128 w 234"/>
                <a:gd name="T63" fmla="*/ 110 h 312"/>
                <a:gd name="T64" fmla="*/ 117 w 234"/>
                <a:gd name="T65" fmla="*/ 99 h 312"/>
                <a:gd name="T66" fmla="*/ 106 w 234"/>
                <a:gd name="T67" fmla="*/ 110 h 312"/>
                <a:gd name="T68" fmla="*/ 192 w 234"/>
                <a:gd name="T69" fmla="*/ 110 h 312"/>
                <a:gd name="T70" fmla="*/ 154 w 234"/>
                <a:gd name="T71" fmla="*/ 45 h 312"/>
                <a:gd name="T72" fmla="*/ 140 w 234"/>
                <a:gd name="T73" fmla="*/ 49 h 312"/>
                <a:gd name="T74" fmla="*/ 144 w 234"/>
                <a:gd name="T75" fmla="*/ 63 h 312"/>
                <a:gd name="T76" fmla="*/ 170 w 234"/>
                <a:gd name="T77" fmla="*/ 110 h 312"/>
                <a:gd name="T78" fmla="*/ 144 w 234"/>
                <a:gd name="T79" fmla="*/ 156 h 312"/>
                <a:gd name="T80" fmla="*/ 140 w 234"/>
                <a:gd name="T81" fmla="*/ 170 h 312"/>
                <a:gd name="T82" fmla="*/ 149 w 234"/>
                <a:gd name="T83" fmla="*/ 176 h 312"/>
                <a:gd name="T84" fmla="*/ 154 w 234"/>
                <a:gd name="T85" fmla="*/ 174 h 312"/>
                <a:gd name="T86" fmla="*/ 192 w 234"/>
                <a:gd name="T87" fmla="*/ 110 h 312"/>
                <a:gd name="T88" fmla="*/ 164 w 234"/>
                <a:gd name="T89" fmla="*/ 2 h 312"/>
                <a:gd name="T90" fmla="*/ 150 w 234"/>
                <a:gd name="T91" fmla="*/ 8 h 312"/>
                <a:gd name="T92" fmla="*/ 155 w 234"/>
                <a:gd name="T93" fmla="*/ 22 h 312"/>
                <a:gd name="T94" fmla="*/ 213 w 234"/>
                <a:gd name="T95" fmla="*/ 110 h 312"/>
                <a:gd name="T96" fmla="*/ 155 w 234"/>
                <a:gd name="T97" fmla="*/ 198 h 312"/>
                <a:gd name="T98" fmla="*/ 150 w 234"/>
                <a:gd name="T99" fmla="*/ 212 h 312"/>
                <a:gd name="T100" fmla="*/ 160 w 234"/>
                <a:gd name="T101" fmla="*/ 218 h 312"/>
                <a:gd name="T102" fmla="*/ 164 w 234"/>
                <a:gd name="T103" fmla="*/ 217 h 312"/>
                <a:gd name="T104" fmla="*/ 234 w 234"/>
                <a:gd name="T105" fmla="*/ 110 h 312"/>
                <a:gd name="T106" fmla="*/ 164 w 234"/>
                <a:gd name="T107" fmla="*/ 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4" h="312">
                  <a:moveTo>
                    <a:pt x="94" y="170"/>
                  </a:moveTo>
                  <a:cubicBezTo>
                    <a:pt x="92" y="174"/>
                    <a:pt x="89" y="176"/>
                    <a:pt x="85" y="176"/>
                  </a:cubicBezTo>
                  <a:cubicBezTo>
                    <a:pt x="83" y="176"/>
                    <a:pt x="81" y="175"/>
                    <a:pt x="80" y="174"/>
                  </a:cubicBezTo>
                  <a:cubicBezTo>
                    <a:pt x="57" y="161"/>
                    <a:pt x="42" y="136"/>
                    <a:pt x="42" y="110"/>
                  </a:cubicBezTo>
                  <a:cubicBezTo>
                    <a:pt x="42" y="83"/>
                    <a:pt x="57" y="58"/>
                    <a:pt x="80" y="45"/>
                  </a:cubicBezTo>
                  <a:cubicBezTo>
                    <a:pt x="85" y="42"/>
                    <a:pt x="91" y="44"/>
                    <a:pt x="94" y="49"/>
                  </a:cubicBezTo>
                  <a:cubicBezTo>
                    <a:pt x="97" y="54"/>
                    <a:pt x="95" y="61"/>
                    <a:pt x="90" y="63"/>
                  </a:cubicBezTo>
                  <a:cubicBezTo>
                    <a:pt x="74" y="73"/>
                    <a:pt x="64" y="91"/>
                    <a:pt x="64" y="110"/>
                  </a:cubicBezTo>
                  <a:cubicBezTo>
                    <a:pt x="64" y="129"/>
                    <a:pt x="74" y="146"/>
                    <a:pt x="90" y="156"/>
                  </a:cubicBezTo>
                  <a:cubicBezTo>
                    <a:pt x="95" y="159"/>
                    <a:pt x="97" y="165"/>
                    <a:pt x="94" y="170"/>
                  </a:cubicBezTo>
                  <a:close/>
                  <a:moveTo>
                    <a:pt x="79" y="198"/>
                  </a:moveTo>
                  <a:cubicBezTo>
                    <a:pt x="44" y="182"/>
                    <a:pt x="21" y="148"/>
                    <a:pt x="21" y="110"/>
                  </a:cubicBezTo>
                  <a:cubicBezTo>
                    <a:pt x="21" y="71"/>
                    <a:pt x="44" y="37"/>
                    <a:pt x="79" y="22"/>
                  </a:cubicBezTo>
                  <a:cubicBezTo>
                    <a:pt x="84" y="19"/>
                    <a:pt x="86" y="13"/>
                    <a:pt x="84" y="8"/>
                  </a:cubicBezTo>
                  <a:cubicBezTo>
                    <a:pt x="82" y="2"/>
                    <a:pt x="75" y="0"/>
                    <a:pt x="70" y="2"/>
                  </a:cubicBezTo>
                  <a:cubicBezTo>
                    <a:pt x="27" y="21"/>
                    <a:pt x="0" y="63"/>
                    <a:pt x="0" y="110"/>
                  </a:cubicBezTo>
                  <a:cubicBezTo>
                    <a:pt x="0" y="156"/>
                    <a:pt x="27" y="199"/>
                    <a:pt x="70" y="217"/>
                  </a:cubicBezTo>
                  <a:cubicBezTo>
                    <a:pt x="71" y="218"/>
                    <a:pt x="73" y="218"/>
                    <a:pt x="74" y="218"/>
                  </a:cubicBezTo>
                  <a:cubicBezTo>
                    <a:pt x="78" y="218"/>
                    <a:pt x="82" y="216"/>
                    <a:pt x="84" y="212"/>
                  </a:cubicBezTo>
                  <a:cubicBezTo>
                    <a:pt x="86" y="206"/>
                    <a:pt x="84" y="200"/>
                    <a:pt x="79" y="198"/>
                  </a:cubicBezTo>
                  <a:close/>
                  <a:moveTo>
                    <a:pt x="128" y="140"/>
                  </a:moveTo>
                  <a:cubicBezTo>
                    <a:pt x="128" y="302"/>
                    <a:pt x="128" y="302"/>
                    <a:pt x="128" y="302"/>
                  </a:cubicBezTo>
                  <a:cubicBezTo>
                    <a:pt x="128" y="308"/>
                    <a:pt x="123" y="312"/>
                    <a:pt x="117" y="312"/>
                  </a:cubicBezTo>
                  <a:cubicBezTo>
                    <a:pt x="111" y="312"/>
                    <a:pt x="106" y="308"/>
                    <a:pt x="106" y="302"/>
                  </a:cubicBezTo>
                  <a:cubicBezTo>
                    <a:pt x="106" y="140"/>
                    <a:pt x="106" y="140"/>
                    <a:pt x="106" y="140"/>
                  </a:cubicBezTo>
                  <a:cubicBezTo>
                    <a:pt x="94" y="135"/>
                    <a:pt x="85" y="124"/>
                    <a:pt x="85" y="110"/>
                  </a:cubicBezTo>
                  <a:cubicBezTo>
                    <a:pt x="85" y="92"/>
                    <a:pt x="99" y="78"/>
                    <a:pt x="117" y="78"/>
                  </a:cubicBezTo>
                  <a:cubicBezTo>
                    <a:pt x="135" y="78"/>
                    <a:pt x="149" y="92"/>
                    <a:pt x="149" y="110"/>
                  </a:cubicBezTo>
                  <a:cubicBezTo>
                    <a:pt x="149" y="124"/>
                    <a:pt x="140" y="135"/>
                    <a:pt x="128" y="140"/>
                  </a:cubicBezTo>
                  <a:close/>
                  <a:moveTo>
                    <a:pt x="106" y="110"/>
                  </a:moveTo>
                  <a:cubicBezTo>
                    <a:pt x="106" y="116"/>
                    <a:pt x="111" y="120"/>
                    <a:pt x="117" y="120"/>
                  </a:cubicBezTo>
                  <a:cubicBezTo>
                    <a:pt x="123" y="120"/>
                    <a:pt x="128" y="116"/>
                    <a:pt x="128" y="110"/>
                  </a:cubicBezTo>
                  <a:cubicBezTo>
                    <a:pt x="128" y="104"/>
                    <a:pt x="123" y="99"/>
                    <a:pt x="117" y="99"/>
                  </a:cubicBezTo>
                  <a:cubicBezTo>
                    <a:pt x="111" y="99"/>
                    <a:pt x="106" y="104"/>
                    <a:pt x="106" y="110"/>
                  </a:cubicBezTo>
                  <a:close/>
                  <a:moveTo>
                    <a:pt x="192" y="110"/>
                  </a:moveTo>
                  <a:cubicBezTo>
                    <a:pt x="192" y="83"/>
                    <a:pt x="177" y="58"/>
                    <a:pt x="154" y="45"/>
                  </a:cubicBezTo>
                  <a:cubicBezTo>
                    <a:pt x="149" y="42"/>
                    <a:pt x="143" y="44"/>
                    <a:pt x="140" y="49"/>
                  </a:cubicBezTo>
                  <a:cubicBezTo>
                    <a:pt x="137" y="54"/>
                    <a:pt x="139" y="61"/>
                    <a:pt x="144" y="63"/>
                  </a:cubicBezTo>
                  <a:cubicBezTo>
                    <a:pt x="160" y="73"/>
                    <a:pt x="170" y="91"/>
                    <a:pt x="170" y="110"/>
                  </a:cubicBezTo>
                  <a:cubicBezTo>
                    <a:pt x="170" y="129"/>
                    <a:pt x="160" y="146"/>
                    <a:pt x="144" y="156"/>
                  </a:cubicBezTo>
                  <a:cubicBezTo>
                    <a:pt x="139" y="159"/>
                    <a:pt x="137" y="165"/>
                    <a:pt x="140" y="170"/>
                  </a:cubicBezTo>
                  <a:cubicBezTo>
                    <a:pt x="142" y="174"/>
                    <a:pt x="145" y="176"/>
                    <a:pt x="149" y="176"/>
                  </a:cubicBezTo>
                  <a:cubicBezTo>
                    <a:pt x="151" y="176"/>
                    <a:pt x="153" y="175"/>
                    <a:pt x="154" y="174"/>
                  </a:cubicBezTo>
                  <a:cubicBezTo>
                    <a:pt x="177" y="161"/>
                    <a:pt x="192" y="136"/>
                    <a:pt x="192" y="110"/>
                  </a:cubicBezTo>
                  <a:close/>
                  <a:moveTo>
                    <a:pt x="164" y="2"/>
                  </a:moveTo>
                  <a:cubicBezTo>
                    <a:pt x="159" y="0"/>
                    <a:pt x="152" y="2"/>
                    <a:pt x="150" y="8"/>
                  </a:cubicBezTo>
                  <a:cubicBezTo>
                    <a:pt x="148" y="13"/>
                    <a:pt x="150" y="19"/>
                    <a:pt x="155" y="22"/>
                  </a:cubicBezTo>
                  <a:cubicBezTo>
                    <a:pt x="190" y="37"/>
                    <a:pt x="213" y="71"/>
                    <a:pt x="213" y="110"/>
                  </a:cubicBezTo>
                  <a:cubicBezTo>
                    <a:pt x="213" y="148"/>
                    <a:pt x="190" y="182"/>
                    <a:pt x="155" y="198"/>
                  </a:cubicBezTo>
                  <a:cubicBezTo>
                    <a:pt x="150" y="200"/>
                    <a:pt x="148" y="206"/>
                    <a:pt x="150" y="212"/>
                  </a:cubicBezTo>
                  <a:cubicBezTo>
                    <a:pt x="152" y="216"/>
                    <a:pt x="156" y="218"/>
                    <a:pt x="160" y="218"/>
                  </a:cubicBezTo>
                  <a:cubicBezTo>
                    <a:pt x="161" y="218"/>
                    <a:pt x="163" y="218"/>
                    <a:pt x="164" y="217"/>
                  </a:cubicBezTo>
                  <a:cubicBezTo>
                    <a:pt x="207" y="199"/>
                    <a:pt x="234" y="156"/>
                    <a:pt x="234" y="110"/>
                  </a:cubicBezTo>
                  <a:cubicBezTo>
                    <a:pt x="234" y="63"/>
                    <a:pt x="207" y="21"/>
                    <a:pt x="16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grpSp>
      <p:grpSp>
        <p:nvGrpSpPr>
          <p:cNvPr id="122" name="Group 121"/>
          <p:cNvGrpSpPr>
            <a:grpSpLocks noChangeAspect="1"/>
          </p:cNvGrpSpPr>
          <p:nvPr/>
        </p:nvGrpSpPr>
        <p:grpSpPr bwMode="auto">
          <a:xfrm>
            <a:off x="931022" y="3775960"/>
            <a:ext cx="570404" cy="503867"/>
            <a:chOff x="3100" y="2384"/>
            <a:chExt cx="341" cy="340"/>
          </a:xfrm>
          <a:solidFill>
            <a:schemeClr val="tx2"/>
          </a:solidFill>
        </p:grpSpPr>
        <p:sp>
          <p:nvSpPr>
            <p:cNvPr id="123" name="Freeform 342"/>
            <p:cNvSpPr>
              <a:spLocks noEditPoints="1"/>
            </p:cNvSpPr>
            <p:nvPr/>
          </p:nvSpPr>
          <p:spPr bwMode="auto">
            <a:xfrm>
              <a:off x="3100" y="2384"/>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sp>
          <p:nvSpPr>
            <p:cNvPr id="124" name="Freeform 343"/>
            <p:cNvSpPr>
              <a:spLocks noEditPoints="1"/>
            </p:cNvSpPr>
            <p:nvPr/>
          </p:nvSpPr>
          <p:spPr bwMode="auto">
            <a:xfrm>
              <a:off x="3185" y="2462"/>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9060" tIns="49530" rIns="99060" bIns="49530" numCol="1" anchor="t" anchorCtr="0" compatLnSpc="1">
              <a:prstTxWarp prst="textNoShape">
                <a:avLst/>
              </a:prstTxWarp>
            </a:bodyPr>
            <a:lstStyle/>
            <a:p>
              <a:endParaRPr lang="en-GB" sz="1600"/>
            </a:p>
          </p:txBody>
        </p:sp>
      </p:grpSp>
      <p:pic>
        <p:nvPicPr>
          <p:cNvPr id="125" name="Picture 8" descr="Related image"/>
          <p:cNvPicPr>
            <a:picLocks noChangeAspect="1"/>
          </p:cNvPicPr>
          <p:nvPr/>
        </p:nvPicPr>
        <p:blipFill>
          <a:blip r:embed="rId4"/>
          <a:srcRect/>
          <a:stretch>
            <a:fillRect/>
          </a:stretch>
        </p:blipFill>
        <p:spPr>
          <a:xfrm>
            <a:off x="4669156" y="1766832"/>
            <a:ext cx="202155" cy="202155"/>
          </a:xfrm>
          <a:prstGeom prst="rect">
            <a:avLst/>
          </a:prstGeom>
          <a:noFill/>
          <a:ln>
            <a:noFill/>
          </a:ln>
        </p:spPr>
      </p:pic>
      <p:pic>
        <p:nvPicPr>
          <p:cNvPr id="126" name="Picture 8" descr="Related image"/>
          <p:cNvPicPr>
            <a:picLocks noChangeAspect="1"/>
          </p:cNvPicPr>
          <p:nvPr/>
        </p:nvPicPr>
        <p:blipFill>
          <a:blip r:embed="rId4"/>
          <a:srcRect/>
          <a:stretch>
            <a:fillRect/>
          </a:stretch>
        </p:blipFill>
        <p:spPr>
          <a:xfrm>
            <a:off x="6815658" y="1762066"/>
            <a:ext cx="202155" cy="202155"/>
          </a:xfrm>
          <a:prstGeom prst="rect">
            <a:avLst/>
          </a:prstGeom>
          <a:noFill/>
          <a:ln>
            <a:noFill/>
          </a:ln>
        </p:spPr>
      </p:pic>
      <p:pic>
        <p:nvPicPr>
          <p:cNvPr id="127" name="Picture 8" descr="Related image"/>
          <p:cNvPicPr>
            <a:picLocks noChangeAspect="1"/>
          </p:cNvPicPr>
          <p:nvPr/>
        </p:nvPicPr>
        <p:blipFill>
          <a:blip r:embed="rId4"/>
          <a:srcRect/>
          <a:stretch>
            <a:fillRect/>
          </a:stretch>
        </p:blipFill>
        <p:spPr>
          <a:xfrm>
            <a:off x="4673747" y="2916327"/>
            <a:ext cx="202155" cy="202155"/>
          </a:xfrm>
          <a:prstGeom prst="rect">
            <a:avLst/>
          </a:prstGeom>
          <a:noFill/>
          <a:ln>
            <a:noFill/>
          </a:ln>
        </p:spPr>
      </p:pic>
      <p:pic>
        <p:nvPicPr>
          <p:cNvPr id="128" name="Picture 8" descr="Related image"/>
          <p:cNvPicPr>
            <a:picLocks noChangeAspect="1"/>
          </p:cNvPicPr>
          <p:nvPr/>
        </p:nvPicPr>
        <p:blipFill>
          <a:blip r:embed="rId4"/>
          <a:srcRect/>
          <a:stretch>
            <a:fillRect/>
          </a:stretch>
        </p:blipFill>
        <p:spPr>
          <a:xfrm>
            <a:off x="2619536" y="2916327"/>
            <a:ext cx="202155" cy="202155"/>
          </a:xfrm>
          <a:prstGeom prst="rect">
            <a:avLst/>
          </a:prstGeom>
          <a:noFill/>
          <a:ln>
            <a:noFill/>
          </a:ln>
        </p:spPr>
      </p:pic>
      <p:pic>
        <p:nvPicPr>
          <p:cNvPr id="129" name="Picture 8" descr="Related image"/>
          <p:cNvPicPr>
            <a:picLocks noChangeAspect="1"/>
          </p:cNvPicPr>
          <p:nvPr/>
        </p:nvPicPr>
        <p:blipFill>
          <a:blip r:embed="rId4"/>
          <a:srcRect/>
          <a:stretch>
            <a:fillRect/>
          </a:stretch>
        </p:blipFill>
        <p:spPr>
          <a:xfrm>
            <a:off x="4669632" y="4030877"/>
            <a:ext cx="202155" cy="202155"/>
          </a:xfrm>
          <a:prstGeom prst="rect">
            <a:avLst/>
          </a:prstGeom>
          <a:noFill/>
          <a:ln>
            <a:noFill/>
          </a:ln>
        </p:spPr>
      </p:pic>
      <p:pic>
        <p:nvPicPr>
          <p:cNvPr id="130" name="Picture 8" descr="Related image"/>
          <p:cNvPicPr>
            <a:picLocks noChangeAspect="1"/>
          </p:cNvPicPr>
          <p:nvPr/>
        </p:nvPicPr>
        <p:blipFill>
          <a:blip r:embed="rId4"/>
          <a:srcRect/>
          <a:stretch>
            <a:fillRect/>
          </a:stretch>
        </p:blipFill>
        <p:spPr>
          <a:xfrm>
            <a:off x="2619535" y="4001627"/>
            <a:ext cx="202155" cy="202155"/>
          </a:xfrm>
          <a:prstGeom prst="rect">
            <a:avLst/>
          </a:prstGeom>
          <a:noFill/>
          <a:ln>
            <a:noFill/>
          </a:ln>
        </p:spPr>
      </p:pic>
      <p:pic>
        <p:nvPicPr>
          <p:cNvPr id="131" name="Picture 8" descr="Related image"/>
          <p:cNvPicPr>
            <a:picLocks noChangeAspect="1"/>
          </p:cNvPicPr>
          <p:nvPr/>
        </p:nvPicPr>
        <p:blipFill>
          <a:blip r:embed="rId4"/>
          <a:srcRect/>
          <a:stretch>
            <a:fillRect/>
          </a:stretch>
        </p:blipFill>
        <p:spPr>
          <a:xfrm>
            <a:off x="6814416" y="2938625"/>
            <a:ext cx="202155" cy="202155"/>
          </a:xfrm>
          <a:prstGeom prst="rect">
            <a:avLst/>
          </a:prstGeom>
          <a:noFill/>
          <a:ln>
            <a:noFill/>
          </a:ln>
        </p:spPr>
      </p:pic>
    </p:spTree>
    <p:extLst>
      <p:ext uri="{BB962C8B-B14F-4D97-AF65-F5344CB8AC3E}">
        <p14:creationId xmlns:p14="http://schemas.microsoft.com/office/powerpoint/2010/main" val="22523458"/>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6.2 Technology choices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64</a:t>
            </a:fld>
            <a:endParaRPr lang="en-GB"/>
          </a:p>
        </p:txBody>
      </p:sp>
      <p:sp>
        <p:nvSpPr>
          <p:cNvPr id="7" name="Vertical Text Placeholder 6"/>
          <p:cNvSpPr>
            <a:spLocks noGrp="1"/>
          </p:cNvSpPr>
          <p:nvPr>
            <p:ph sz="quarter" idx="11"/>
          </p:nvPr>
        </p:nvSpPr>
        <p:spPr/>
        <p:txBody>
          <a:bodyPr/>
          <a:lstStyle/>
          <a:p>
            <a:pPr lvl="4"/>
            <a:endParaRPr lang="en-GB"/>
          </a:p>
          <a:p>
            <a:pPr lvl="4"/>
            <a:endParaRPr lang="en-GB"/>
          </a:p>
          <a:p>
            <a:pPr lvl="4"/>
            <a:endParaRPr lang="en-GB"/>
          </a:p>
          <a:p>
            <a:pPr lvl="4"/>
            <a:endParaRPr lang="en-GB"/>
          </a:p>
          <a:p>
            <a:pPr lvl="4"/>
            <a:endParaRPr lang="en-GB"/>
          </a:p>
          <a:p>
            <a:pPr lvl="4"/>
            <a:endParaRPr lang="en-GB"/>
          </a:p>
          <a:p>
            <a:pPr lvl="4"/>
            <a:endParaRPr lang="en-GB"/>
          </a:p>
        </p:txBody>
      </p:sp>
      <p:sp>
        <p:nvSpPr>
          <p:cNvPr id="8" name="Tijdelijke aanduiding voor tekst 7"/>
          <p:cNvSpPr>
            <a:spLocks noGrp="1"/>
          </p:cNvSpPr>
          <p:nvPr>
            <p:ph type="body" sz="quarter" idx="12"/>
          </p:nvPr>
        </p:nvSpPr>
        <p:spPr/>
        <p:txBody>
          <a:bodyPr/>
          <a:lstStyle/>
          <a:p>
            <a:r>
              <a:rPr lang="nl-NL"/>
              <a:t> </a:t>
            </a:r>
          </a:p>
        </p:txBody>
      </p:sp>
      <p:sp>
        <p:nvSpPr>
          <p:cNvPr id="28" name="Tijdelijke aanduiding voor tekst 27"/>
          <p:cNvSpPr>
            <a:spLocks noGrp="1"/>
          </p:cNvSpPr>
          <p:nvPr>
            <p:ph type="body" sz="quarter" idx="13"/>
          </p:nvPr>
        </p:nvSpPr>
        <p:spPr/>
        <p:txBody>
          <a:bodyPr/>
          <a:lstStyle/>
          <a:p>
            <a:r>
              <a:rPr lang="nl-NL"/>
              <a:t> </a:t>
            </a:r>
          </a:p>
        </p:txBody>
      </p:sp>
      <p:graphicFrame>
        <p:nvGraphicFramePr>
          <p:cNvPr id="10" name="Tabel 9"/>
          <p:cNvGraphicFramePr>
            <a:graphicFrameLocks noGrp="1"/>
          </p:cNvGraphicFramePr>
          <p:nvPr>
            <p:extLst>
              <p:ext uri="{D42A27DB-BD31-4B8C-83A1-F6EECF244321}">
                <p14:modId xmlns:p14="http://schemas.microsoft.com/office/powerpoint/2010/main" val="3884690374"/>
              </p:ext>
            </p:extLst>
          </p:nvPr>
        </p:nvGraphicFramePr>
        <p:xfrm>
          <a:off x="475812" y="825084"/>
          <a:ext cx="8458638" cy="3835240"/>
        </p:xfrm>
        <a:graphic>
          <a:graphicData uri="http://schemas.openxmlformats.org/drawingml/2006/table">
            <a:tbl>
              <a:tblPr firstRow="1" bandRow="1">
                <a:tableStyleId>{17292A2E-F333-43FB-9621-5CBBE7FDCDCB}</a:tableStyleId>
              </a:tblPr>
              <a:tblGrid>
                <a:gridCol w="1836338">
                  <a:extLst>
                    <a:ext uri="{9D8B030D-6E8A-4147-A177-3AD203B41FA5}">
                      <a16:colId xmlns:a16="http://schemas.microsoft.com/office/drawing/2014/main" val="20000"/>
                    </a:ext>
                  </a:extLst>
                </a:gridCol>
                <a:gridCol w="4761750">
                  <a:extLst>
                    <a:ext uri="{9D8B030D-6E8A-4147-A177-3AD203B41FA5}">
                      <a16:colId xmlns:a16="http://schemas.microsoft.com/office/drawing/2014/main" val="3045038219"/>
                    </a:ext>
                  </a:extLst>
                </a:gridCol>
                <a:gridCol w="1860550">
                  <a:extLst>
                    <a:ext uri="{9D8B030D-6E8A-4147-A177-3AD203B41FA5}">
                      <a16:colId xmlns:a16="http://schemas.microsoft.com/office/drawing/2014/main" val="20001"/>
                    </a:ext>
                  </a:extLst>
                </a:gridCol>
              </a:tblGrid>
              <a:tr h="216821">
                <a:tc>
                  <a:txBody>
                    <a:bodyPr/>
                    <a:lstStyle/>
                    <a:p>
                      <a:pPr algn="l" fontAlgn="b"/>
                      <a:r>
                        <a:rPr lang="en-US" sz="1100" i="1" u="none" strike="noStrike" noProof="0">
                          <a:solidFill>
                            <a:schemeClr val="tx1"/>
                          </a:solidFill>
                          <a:effectLst/>
                        </a:rPr>
                        <a:t>Component</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GB" sz="1100" b="1" i="1" u="none" strike="noStrike" noProof="0">
                          <a:solidFill>
                            <a:schemeClr val="tx1"/>
                          </a:solidFill>
                          <a:effectLst/>
                          <a:latin typeface="Corbel"/>
                        </a:rPr>
                        <a:t>Functional Description</a:t>
                      </a:r>
                      <a:endParaRPr lang="en-US" sz="11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100" b="1" i="1" u="none" strike="noStrike" noProof="0">
                          <a:solidFill>
                            <a:schemeClr val="tx1"/>
                          </a:solidFill>
                          <a:effectLst/>
                          <a:latin typeface="Corbel"/>
                        </a:rPr>
                        <a:t>Technology</a:t>
                      </a:r>
                      <a:r>
                        <a:rPr lang="en-US" sz="1100" b="1" i="1" u="none" strike="noStrike" baseline="0" noProof="0">
                          <a:solidFill>
                            <a:schemeClr val="tx1"/>
                          </a:solidFill>
                          <a:effectLst/>
                          <a:latin typeface="Corbel"/>
                        </a:rPr>
                        <a:t> </a:t>
                      </a:r>
                      <a:endParaRPr lang="en-US" sz="11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59427">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a:t>Staging Dat</a:t>
                      </a:r>
                      <a:r>
                        <a:rPr lang="en-US" sz="800" baseline="0"/>
                        <a:t>a Store</a:t>
                      </a:r>
                      <a:endParaRPr lang="en-US"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Lan</a:t>
                      </a:r>
                      <a:r>
                        <a:rPr lang="en-GB" sz="800" baseline="0"/>
                        <a:t>ding zone for all data providers of an nBIF Instance</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SQL </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59427">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Calculator data Stores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Model Specific </a:t>
                      </a:r>
                      <a:r>
                        <a:rPr lang="en-GB" sz="800" baseline="0"/>
                        <a:t>data store the calculator uses as a data source</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SQL </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3703985"/>
                  </a:ext>
                </a:extLst>
              </a:tr>
              <a:tr h="261460">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Results data store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Model Specific data store</a:t>
                      </a:r>
                      <a:r>
                        <a:rPr lang="en-GB" sz="800" baseline="0"/>
                        <a:t> the calculator uses to write results. It is also used to prepare aggregated data for plausibility.</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SQL </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5798475"/>
                  </a:ext>
                </a:extLst>
              </a:tr>
              <a:tr h="159427">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Metadata Store and Log register </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aseline="0"/>
                        <a:t>Database to store logs &amp; operational metadata of an nBIF Instance</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SQL </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3050870"/>
                  </a:ext>
                </a:extLst>
              </a:tr>
              <a:tr h="159427">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Validated Risk Metrics Store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aseline="0"/>
                        <a:t>Datastore that stores operation history of approved model results including aggregates of an nBIF Instance</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SQL </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239728"/>
                  </a:ext>
                </a:extLst>
              </a:tr>
              <a:tr h="159427">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Common Data Cache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aseline="0"/>
                        <a:t>Datastore that stores significant datasets that are used by multiple nBIF Instance</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SQL</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9599790"/>
                  </a:ext>
                </a:extLst>
              </a:tr>
              <a:tr h="36349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800" kern="1200">
                          <a:solidFill>
                            <a:schemeClr val="tx1"/>
                          </a:solidFill>
                          <a:latin typeface="+mn-lt"/>
                          <a:ea typeface="+mn-ea"/>
                          <a:cs typeface="+mn-cs"/>
                        </a:rPr>
                        <a:t>Data Logistics Module</a:t>
                      </a:r>
                      <a:endParaRPr lang="en-US" sz="800" kern="1200">
                        <a:solidFill>
                          <a:schemeClr val="tx1"/>
                        </a:solidFill>
                        <a:latin typeface="+mn-lt"/>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baseline="0"/>
                        <a:t>ETL to combine, integrate &amp; move data between internal &amp; external data stores. Ex- RWA Input data preparation from Staging and IRB Results Data store; Data Delivery from nBIF </a:t>
                      </a:r>
                      <a:r>
                        <a:rPr lang="en-US" sz="800" kern="1200">
                          <a:solidFill>
                            <a:schemeClr val="tx1"/>
                          </a:solidFill>
                          <a:latin typeface="+mn-lt"/>
                          <a:ea typeface="+mn-ea"/>
                          <a:cs typeface="+mn-cs"/>
                        </a:rPr>
                        <a:t>Validated Risk Metrics Store </a:t>
                      </a:r>
                      <a:r>
                        <a:rPr lang="en-GB" sz="800" baseline="0"/>
                        <a:t>to consumers data store. </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Azure Data Factory</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211525"/>
                  </a:ext>
                </a:extLst>
              </a:tr>
              <a:tr h="261460">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Orchestrator</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kern="1200" baseline="0">
                          <a:solidFill>
                            <a:schemeClr val="tx1"/>
                          </a:solidFill>
                          <a:latin typeface="+mn-lt"/>
                          <a:ea typeface="+mn-ea"/>
                          <a:cs typeface="+mn-cs"/>
                        </a:rPr>
                        <a:t>Top level orchestrator for every nBIF implementation. For ex- starting an n-bridge run ; Initiating data preparation; Triggering calculator ; Pushing the results to data consumers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kern="1200" baseline="0">
                          <a:solidFill>
                            <a:schemeClr val="tx1"/>
                          </a:solidFill>
                          <a:latin typeface="+mn-lt"/>
                          <a:ea typeface="+mn-ea"/>
                          <a:cs typeface="+mn-cs"/>
                        </a:rPr>
                        <a:t>Logic App (Standard) for all top level orchestration</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3069080"/>
                  </a:ext>
                </a:extLst>
              </a:tr>
              <a:tr h="261460">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nBIF 365 – Generic User interface</a:t>
                      </a:r>
                    </a:p>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Applicable to all subcomponents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a:t>Unified user interface for everything related to nBIF. This include, Inspection &amp; Signoff module, Correction Module, Ad-hoc run console,  nBIF onboarding form, Wiki links, support related info, various stats etc.</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GB" sz="800" i="1" kern="1200" baseline="0">
                          <a:solidFill>
                            <a:schemeClr val="tx1"/>
                          </a:solidFill>
                          <a:latin typeface="+mn-lt"/>
                          <a:ea typeface="+mn-ea"/>
                          <a:cs typeface="+mn-cs"/>
                        </a:rPr>
                        <a:t>Azure </a:t>
                      </a:r>
                      <a:r>
                        <a:rPr lang="en-GB" sz="800" i="1" kern="1200" baseline="0" err="1">
                          <a:solidFill>
                            <a:schemeClr val="tx1"/>
                          </a:solidFill>
                          <a:latin typeface="+mn-lt"/>
                          <a:ea typeface="+mn-ea"/>
                          <a:cs typeface="+mn-cs"/>
                        </a:rPr>
                        <a:t>WebAPP</a:t>
                      </a:r>
                      <a:r>
                        <a:rPr lang="en-GB" sz="800" i="1" kern="1200" baseline="0">
                          <a:solidFill>
                            <a:schemeClr val="tx1"/>
                          </a:solidFill>
                          <a:latin typeface="+mn-lt"/>
                          <a:ea typeface="+mn-ea"/>
                          <a:cs typeface="+mn-cs"/>
                        </a:rPr>
                        <a:t> , HTML, CSS, </a:t>
                      </a:r>
                      <a:r>
                        <a:rPr lang="en-GB" sz="800" i="1" kern="1200" baseline="0" err="1">
                          <a:solidFill>
                            <a:schemeClr val="tx1"/>
                          </a:solidFill>
                          <a:latin typeface="+mn-lt"/>
                          <a:ea typeface="+mn-ea"/>
                          <a:cs typeface="+mn-cs"/>
                        </a:rPr>
                        <a:t>Blazor</a:t>
                      </a:r>
                      <a:r>
                        <a:rPr lang="en-GB" sz="800" i="1" kern="1200" baseline="0">
                          <a:solidFill>
                            <a:schemeClr val="tx1"/>
                          </a:solidFill>
                          <a:latin typeface="+mn-lt"/>
                          <a:ea typeface="+mn-ea"/>
                          <a:cs typeface="+mn-cs"/>
                        </a:rPr>
                        <a:t> </a:t>
                      </a:r>
                      <a:r>
                        <a:rPr lang="en-GB" sz="800" i="1" kern="1200" baseline="0" err="1">
                          <a:solidFill>
                            <a:schemeClr val="tx1"/>
                          </a:solidFill>
                          <a:latin typeface="+mn-lt"/>
                          <a:ea typeface="+mn-ea"/>
                          <a:cs typeface="+mn-cs"/>
                        </a:rPr>
                        <a:t>.Net</a:t>
                      </a:r>
                      <a:r>
                        <a:rPr lang="en-GB" sz="800" i="1" kern="1200" baseline="0">
                          <a:solidFill>
                            <a:schemeClr val="tx1"/>
                          </a:solidFill>
                          <a:latin typeface="+mn-lt"/>
                          <a:ea typeface="+mn-ea"/>
                          <a:cs typeface="+mn-cs"/>
                        </a:rPr>
                        <a:t> web framework, Application Gateway,</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69594">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nBIF 365 – Inspection &amp; Sign-off</a:t>
                      </a:r>
                    </a:p>
                    <a:p>
                      <a:pPr marL="0" marR="0" indent="0" algn="l" defTabSz="456999" rtl="0" eaLnBrk="1" fontAlgn="auto" latinLnBrk="0" hangingPunct="1">
                        <a:lnSpc>
                          <a:spcPct val="100000"/>
                        </a:lnSpc>
                        <a:spcBef>
                          <a:spcPts val="0"/>
                        </a:spcBef>
                        <a:spcAft>
                          <a:spcPts val="0"/>
                        </a:spcAft>
                        <a:buClrTx/>
                        <a:buSzTx/>
                        <a:buFontTx/>
                        <a:buNone/>
                        <a:tabLst/>
                        <a:defRPr/>
                      </a:pPr>
                      <a:endParaRPr lang="en-US" sz="800" kern="1200">
                        <a:solidFill>
                          <a:schemeClr val="tx1"/>
                        </a:solidFill>
                        <a:latin typeface="+mn-lt"/>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Allowing inspection and signoff</a:t>
                      </a:r>
                      <a:r>
                        <a:rPr lang="en-GB" sz="800" baseline="0"/>
                        <a:t> of calculator </a:t>
                      </a:r>
                      <a:r>
                        <a:rPr lang="en-GB" sz="800" baseline="0" err="1"/>
                        <a:t>results.The</a:t>
                      </a:r>
                      <a:r>
                        <a:rPr lang="en-GB" sz="800" baseline="0"/>
                        <a:t> inspection can be in the form of </a:t>
                      </a:r>
                    </a:p>
                    <a:p>
                      <a:pPr marL="228600" indent="-228600">
                        <a:buAutoNum type="arabicPeriod"/>
                      </a:pPr>
                      <a:r>
                        <a:rPr lang="en-GB" sz="800" baseline="0"/>
                        <a:t>Manual data access and querying.</a:t>
                      </a:r>
                    </a:p>
                    <a:p>
                      <a:pPr marL="228600" indent="-228600">
                        <a:buAutoNum type="arabicPeriod"/>
                      </a:pPr>
                      <a:r>
                        <a:rPr lang="en-GB" sz="800" baseline="0"/>
                        <a:t>Structured inspection reports </a:t>
                      </a:r>
                      <a:r>
                        <a:rPr lang="en-GB" sz="800" baseline="0" err="1"/>
                        <a:t>eg.</a:t>
                      </a:r>
                      <a:r>
                        <a:rPr lang="en-GB" sz="800" baseline="0"/>
                        <a:t> Plausibility report for KC2a</a:t>
                      </a:r>
                    </a:p>
                    <a:p>
                      <a:pPr marL="228600" indent="-228600">
                        <a:buAutoNum type="arabicPeriod"/>
                      </a:pPr>
                      <a:r>
                        <a:rPr lang="en-GB" sz="800" baseline="0"/>
                        <a:t>The sign-off event shall kick-off subsequent processes in the n-Bridge.  </a:t>
                      </a:r>
                      <a:endParaRPr lang="en-GB" sz="800"/>
                    </a:p>
                    <a:p>
                      <a:pPr marL="0" indent="0">
                        <a:buFont typeface="Arial" panose="020B0604020202020204" pitchFamily="34" charset="0"/>
                        <a:buNone/>
                      </a:pP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indent="-228600">
                        <a:buFont typeface="+mj-lt"/>
                        <a:buAutoNum type="arabicPeriod"/>
                      </a:pPr>
                      <a:r>
                        <a:rPr lang="en-GB" sz="800" kern="1200" baseline="0">
                          <a:solidFill>
                            <a:schemeClr val="accent2"/>
                          </a:solidFill>
                          <a:latin typeface="+mn-lt"/>
                          <a:ea typeface="+mn-ea"/>
                          <a:cs typeface="+mn-cs"/>
                        </a:rPr>
                        <a:t>Direct data access for add-hoc queries </a:t>
                      </a:r>
                      <a:r>
                        <a:rPr lang="en-GB" sz="800">
                          <a:solidFill>
                            <a:schemeClr val="accent2"/>
                          </a:solidFill>
                        </a:rPr>
                        <a:t>– Decision deferred to next plateau</a:t>
                      </a:r>
                      <a:endParaRPr lang="en-GB" sz="800" kern="1200" baseline="0">
                        <a:solidFill>
                          <a:schemeClr val="accent2"/>
                        </a:solidFill>
                        <a:latin typeface="+mn-lt"/>
                        <a:ea typeface="+mn-ea"/>
                        <a:cs typeface="+mn-cs"/>
                      </a:endParaRPr>
                    </a:p>
                    <a:p>
                      <a:pPr marL="228600" indent="-228600">
                        <a:buFont typeface="+mj-lt"/>
                        <a:buAutoNum type="arabicPeriod"/>
                      </a:pPr>
                      <a:r>
                        <a:rPr lang="en-GB" sz="800" kern="1200" baseline="0">
                          <a:solidFill>
                            <a:schemeClr val="tx1"/>
                          </a:solidFill>
                          <a:latin typeface="+mn-lt"/>
                          <a:ea typeface="+mn-ea"/>
                          <a:cs typeface="+mn-cs"/>
                        </a:rPr>
                        <a:t>Embedded </a:t>
                      </a:r>
                      <a:r>
                        <a:rPr lang="en-GB" sz="800" kern="1200" baseline="0" err="1">
                          <a:solidFill>
                            <a:schemeClr val="tx1"/>
                          </a:solidFill>
                          <a:latin typeface="+mn-lt"/>
                          <a:ea typeface="+mn-ea"/>
                          <a:cs typeface="+mn-cs"/>
                        </a:rPr>
                        <a:t>PowerBI</a:t>
                      </a:r>
                      <a:r>
                        <a:rPr lang="en-GB" sz="800" kern="1200" baseline="0">
                          <a:solidFill>
                            <a:schemeClr val="tx1"/>
                          </a:solidFill>
                          <a:latin typeface="+mn-lt"/>
                          <a:ea typeface="+mn-ea"/>
                          <a:cs typeface="+mn-cs"/>
                        </a:rPr>
                        <a:t> report for structured inspection</a:t>
                      </a:r>
                    </a:p>
                    <a:p>
                      <a:pPr marL="228600" indent="-228600">
                        <a:buFont typeface="+mj-lt"/>
                        <a:buAutoNum type="arabicPeriod"/>
                      </a:pPr>
                      <a:r>
                        <a:rPr lang="en-GB" sz="800" i="1" kern="1200" baseline="0">
                          <a:solidFill>
                            <a:schemeClr val="tx1"/>
                          </a:solidFill>
                          <a:latin typeface="+mn-lt"/>
                          <a:ea typeface="+mn-ea"/>
                          <a:cs typeface="+mn-cs"/>
                        </a:rPr>
                        <a:t>Logic App API for triggers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7104130"/>
                  </a:ext>
                </a:extLst>
              </a:tr>
              <a:tr h="179486">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nBIF 365 – Correction Module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t>Allowing modification/overrides</a:t>
                      </a:r>
                      <a:r>
                        <a:rPr lang="en-GB" sz="800" baseline="0"/>
                        <a:t> to model calculated risk parameters</a:t>
                      </a:r>
                      <a:endParaRPr lang="en-GB" sz="8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solidFill>
                            <a:schemeClr val="accent2"/>
                          </a:solidFill>
                        </a:rPr>
                        <a:t>Decision deferred to next plateau</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2325589"/>
                  </a:ext>
                </a:extLst>
              </a:tr>
              <a:tr h="261460">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nBIF 365 – Ad-hoc run console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800"/>
                        <a:t>Allowing business users to trigger customized n-bridge run from nBIF 365 GUI.</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a:solidFill>
                            <a:schemeClr val="accent2"/>
                          </a:solidFill>
                        </a:rPr>
                        <a:t>Decision deferred to next plateau</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0615293"/>
                  </a:ext>
                </a:extLst>
              </a:tr>
            </a:tbl>
          </a:graphicData>
        </a:graphic>
      </p:graphicFrame>
      <p:sp>
        <p:nvSpPr>
          <p:cNvPr id="9" name="Rounded Rectangle 10">
            <a:hlinkClick r:id="rId3" action="ppaction://hlinksldjump"/>
          </p:cNvPr>
          <p:cNvSpPr/>
          <p:nvPr/>
        </p:nvSpPr>
        <p:spPr>
          <a:xfrm>
            <a:off x="4595084"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6. Infrastructure</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566758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5814" y="1787530"/>
            <a:ext cx="7804586" cy="553998"/>
          </a:xfrm>
          <a:effectLst/>
        </p:spPr>
        <p:txBody>
          <a:bodyPr vert="horz" lIns="0" tIns="0" rIns="0" bIns="0" rtlCol="0" anchor="b">
            <a:spAutoFit/>
          </a:bodyPr>
          <a:lstStyle/>
          <a:p>
            <a:r>
              <a:rPr lang="en-GB"/>
              <a:t>Migration</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 - MVP</a:t>
            </a:r>
          </a:p>
        </p:txBody>
      </p:sp>
      <p:sp>
        <p:nvSpPr>
          <p:cNvPr id="7" name="Rounded Rectangle 10">
            <a:hlinkClick r:id="" action="ppaction://noaction"/>
          </p:cNvPr>
          <p:cNvSpPr/>
          <p:nvPr/>
        </p:nvSpPr>
        <p:spPr>
          <a:xfrm>
            <a:off x="551585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7. Migration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3981226594"/>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sz="quarter" idx="11"/>
          </p:nvPr>
        </p:nvSpPr>
        <p:spPr>
          <a:xfrm>
            <a:off x="475814" y="1129515"/>
            <a:ext cx="7804586" cy="3486935"/>
          </a:xfrm>
        </p:spPr>
        <p:txBody>
          <a:bodyPr/>
          <a:lstStyle/>
          <a:p>
            <a:pPr marL="0" indent="0">
              <a:buNone/>
            </a:pPr>
            <a:r>
              <a:rPr lang="en-GB" sz="1000" b="1"/>
              <a:t>On-boarding of portfolio specific nBIF implementation to Rabobank application Landscape – Activities of portfolio areas</a:t>
            </a:r>
          </a:p>
          <a:p>
            <a:r>
              <a:rPr lang="en-GB" sz="1000">
                <a:latin typeface="Corbel" panose="020B0503020204020204" pitchFamily="34" charset="0"/>
              </a:rPr>
              <a:t>Set up a new team for this application and set up the overall governance</a:t>
            </a:r>
          </a:p>
          <a:p>
            <a:r>
              <a:rPr lang="en-GB" sz="1000">
                <a:latin typeface="Corbel" panose="020B0503020204020204" pitchFamily="34" charset="0"/>
              </a:rPr>
              <a:t>Register the new application in CMDB and perform all assessments like CRAT, Cloud on boarding, etc. </a:t>
            </a:r>
          </a:p>
          <a:p>
            <a:pPr lvl="1"/>
            <a:r>
              <a:rPr lang="en-GB" sz="800">
                <a:latin typeface="Corbel" panose="020B0503020204020204" pitchFamily="34" charset="0"/>
              </a:rPr>
              <a:t>Significant amount of steps can be excluded because they are covered by implementation of nBIF platform. </a:t>
            </a:r>
          </a:p>
          <a:p>
            <a:pPr lvl="1"/>
            <a:r>
              <a:rPr lang="en-GB" sz="800">
                <a:latin typeface="Corbel" panose="020B0503020204020204" pitchFamily="34" charset="0"/>
              </a:rPr>
              <a:t>Among remaining steps a great percentage of the steps can be reused from RSME nBIF implementation.</a:t>
            </a:r>
          </a:p>
          <a:p>
            <a:r>
              <a:rPr lang="en-GB" sz="1000">
                <a:latin typeface="Corbel" panose="020B0503020204020204" pitchFamily="34" charset="0"/>
              </a:rPr>
              <a:t>Finish the pre-ready analysis and agree on the MVP requirements</a:t>
            </a:r>
          </a:p>
          <a:p>
            <a:r>
              <a:rPr lang="en-GB" sz="1000">
                <a:latin typeface="Corbel" panose="020B0503020204020204" pitchFamily="34" charset="0"/>
              </a:rPr>
              <a:t>Create an initial backlog with an MVP </a:t>
            </a:r>
          </a:p>
          <a:p>
            <a:r>
              <a:rPr lang="en-GB" sz="1000">
                <a:latin typeface="Corbel" panose="020B0503020204020204" pitchFamily="34" charset="0"/>
              </a:rPr>
              <a:t>Create Data contracts, SIS and data model for nBIF, wherever applicable</a:t>
            </a:r>
          </a:p>
          <a:p>
            <a:r>
              <a:rPr lang="en-GB" sz="1000">
                <a:latin typeface="Corbel" panose="020B0503020204020204" pitchFamily="34" charset="0"/>
              </a:rPr>
              <a:t>Build pipeline for the data ingestion for the IRB &amp; RWA models from GRFD. </a:t>
            </a:r>
          </a:p>
          <a:p>
            <a:r>
              <a:rPr lang="en-IN" sz="1000">
                <a:latin typeface="Corbel" panose="020B0503020204020204" pitchFamily="34" charset="0"/>
              </a:rPr>
              <a:t>Create necessary interfaces and build orchestration flow</a:t>
            </a:r>
          </a:p>
          <a:p>
            <a:r>
              <a:rPr lang="en-IN" sz="1000">
                <a:latin typeface="Corbel" panose="020B0503020204020204" pitchFamily="34" charset="0"/>
              </a:rPr>
              <a:t>Perform parallel run with current on premise calculators to do user acceptance test &amp; performance test</a:t>
            </a:r>
          </a:p>
          <a:p>
            <a:r>
              <a:rPr lang="en-GB" sz="1000">
                <a:latin typeface="Corbel" panose="020B0503020204020204" pitchFamily="34" charset="0"/>
              </a:rPr>
              <a:t>Build pipeline to provide calculated results to CFO Hub &amp; CRPR.</a:t>
            </a:r>
          </a:p>
          <a:p>
            <a:r>
              <a:rPr lang="en-IN" sz="1000">
                <a:latin typeface="Corbel" panose="020B0503020204020204" pitchFamily="34" charset="0"/>
              </a:rPr>
              <a:t>Replace or replicate or simply repoint current IRB &amp; RWA Plausibility report to nBIF  </a:t>
            </a:r>
          </a:p>
        </p:txBody>
      </p:sp>
      <p:sp>
        <p:nvSpPr>
          <p:cNvPr id="2" name="Text Placeholder 1"/>
          <p:cNvSpPr>
            <a:spLocks noGrp="1"/>
          </p:cNvSpPr>
          <p:nvPr>
            <p:ph type="body" sz="quarter" idx="12"/>
          </p:nvPr>
        </p:nvSpPr>
        <p:spPr>
          <a:xfrm>
            <a:off x="476250" y="823105"/>
            <a:ext cx="7804150" cy="212725"/>
          </a:xfrm>
        </p:spPr>
        <p:txBody>
          <a:bodyPr/>
          <a:lstStyle/>
          <a:p>
            <a:pPr marL="0" indent="0">
              <a:buNone/>
            </a:pPr>
            <a:r>
              <a:rPr lang="en-GB" sz="1000" b="1">
                <a:solidFill>
                  <a:schemeClr val="tx1"/>
                </a:solidFill>
              </a:rPr>
              <a:t>nBIF implementation for the monthly batch run for each TCA portfolios</a:t>
            </a:r>
          </a:p>
        </p:txBody>
      </p:sp>
      <p:sp>
        <p:nvSpPr>
          <p:cNvPr id="7" name="Rounded Rectangle 10">
            <a:hlinkClick r:id="" action="ppaction://noaction"/>
          </p:cNvPr>
          <p:cNvSpPr/>
          <p:nvPr/>
        </p:nvSpPr>
        <p:spPr>
          <a:xfrm>
            <a:off x="5515852"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7. Migration</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10" name="Title 2"/>
          <p:cNvSpPr txBox="1">
            <a:spLocks/>
          </p:cNvSpPr>
          <p:nvPr/>
        </p:nvSpPr>
        <p:spPr>
          <a:xfrm>
            <a:off x="475814" y="264502"/>
            <a:ext cx="7464026" cy="570893"/>
          </a:xfrm>
          <a:prstGeom prst="rect">
            <a:avLst/>
          </a:prstGeom>
        </p:spPr>
        <p:txBody>
          <a:bodyPr vert="horz" lIns="0" tIns="0" rIns="0" bIns="0" rtlCol="0" anchor="ctr">
            <a:noAutofit/>
          </a:bodyPr>
          <a:lstStyle>
            <a:lvl1pPr algn="l" defTabSz="456999" rtl="0" eaLnBrk="1" latinLnBrk="0" hangingPunct="1">
              <a:lnSpc>
                <a:spcPct val="90000"/>
              </a:lnSpc>
              <a:spcBef>
                <a:spcPct val="0"/>
              </a:spcBef>
              <a:buNone/>
              <a:defRPr sz="2800" b="0" i="0" kern="1200">
                <a:solidFill>
                  <a:schemeClr val="tx2"/>
                </a:solidFill>
                <a:latin typeface="+mj-lt"/>
                <a:ea typeface="+mj-ea"/>
                <a:cs typeface="Myriad Pro Light"/>
              </a:defRPr>
            </a:lvl1pPr>
          </a:lstStyle>
          <a:p>
            <a:r>
              <a:rPr lang="en-GB"/>
              <a:t>7.1 Implementation &amp; Migration approach</a:t>
            </a:r>
          </a:p>
        </p:txBody>
      </p:sp>
    </p:spTree>
    <p:extLst>
      <p:ext uri="{BB962C8B-B14F-4D97-AF65-F5344CB8AC3E}">
        <p14:creationId xmlns:p14="http://schemas.microsoft.com/office/powerpoint/2010/main" val="2648253996"/>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effectLst/>
        </p:spPr>
        <p:txBody>
          <a:bodyPr vert="horz" lIns="0" tIns="0" rIns="0" bIns="0" rtlCol="0" anchor="b">
            <a:spAutoFit/>
          </a:bodyPr>
          <a:lstStyle/>
          <a:p>
            <a:r>
              <a:rPr lang="en-GB"/>
              <a:t>Risk</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8" name="Rounded Rectangle 10">
            <a:hlinkClick r:id="rId2" action="ppaction://hlinksldjump"/>
          </p:cNvPr>
          <p:cNvSpPr/>
          <p:nvPr/>
        </p:nvSpPr>
        <p:spPr>
          <a:xfrm>
            <a:off x="643377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8. Risk</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Tree>
    <p:extLst>
      <p:ext uri="{BB962C8B-B14F-4D97-AF65-F5344CB8AC3E}">
        <p14:creationId xmlns:p14="http://schemas.microsoft.com/office/powerpoint/2010/main" val="2838977348"/>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8.1 Security</a:t>
            </a:r>
          </a:p>
        </p:txBody>
      </p:sp>
      <p:sp>
        <p:nvSpPr>
          <p:cNvPr id="5" name="Slide Number Placeholder 4"/>
          <p:cNvSpPr>
            <a:spLocks noGrp="1"/>
          </p:cNvSpPr>
          <p:nvPr>
            <p:ph type="sldNum" sz="quarter" idx="10"/>
          </p:nvPr>
        </p:nvSpPr>
        <p:spPr/>
        <p:txBody>
          <a:bodyPr/>
          <a:lstStyle/>
          <a:p>
            <a:fld id="{9C7F1ACC-2CE8-4B5A-AF9E-0D67538731EE}" type="slidenum">
              <a:rPr lang="en-GB" smtClean="0"/>
              <a:pPr/>
              <a:t>68</a:t>
            </a:fld>
            <a:endParaRPr lang="en-GB"/>
          </a:p>
        </p:txBody>
      </p:sp>
      <p:sp>
        <p:nvSpPr>
          <p:cNvPr id="6" name="Tijdelijke aanduiding voor tekst 5"/>
          <p:cNvSpPr>
            <a:spLocks noGrp="1"/>
          </p:cNvSpPr>
          <p:nvPr>
            <p:ph type="body" sz="quarter" idx="15"/>
          </p:nvPr>
        </p:nvSpPr>
        <p:spPr/>
        <p:txBody>
          <a:bodyPr/>
          <a:lstStyle/>
          <a:p>
            <a:r>
              <a:rPr lang="nl-NL"/>
              <a:t> </a:t>
            </a:r>
          </a:p>
        </p:txBody>
      </p:sp>
      <p:sp>
        <p:nvSpPr>
          <p:cNvPr id="14" name="Tijdelijke aanduiding voor tekst 13"/>
          <p:cNvSpPr>
            <a:spLocks noGrp="1"/>
          </p:cNvSpPr>
          <p:nvPr>
            <p:ph type="body" sz="quarter" idx="13"/>
          </p:nvPr>
        </p:nvSpPr>
        <p:spPr/>
        <p:txBody>
          <a:bodyPr/>
          <a:lstStyle/>
          <a:p>
            <a:pPr>
              <a:lnSpc>
                <a:spcPts val="1000"/>
              </a:lnSpc>
            </a:pPr>
            <a:r>
              <a:rPr lang="en-US"/>
              <a:t>* this name must be in line with the CMDB: System code (RN) or Global Application Name (WRR)</a:t>
            </a:r>
          </a:p>
          <a:p>
            <a:pPr>
              <a:lnSpc>
                <a:spcPts val="1000"/>
              </a:lnSpc>
            </a:pPr>
            <a:r>
              <a:rPr lang="en-US"/>
              <a:t>For the involved security officer see 10.2 Project reference and sign-off</a:t>
            </a:r>
          </a:p>
        </p:txBody>
      </p:sp>
      <p:sp>
        <p:nvSpPr>
          <p:cNvPr id="7" name="Rounded Rectangle 10">
            <a:hlinkClick r:id="rId3" action="ppaction://hlinksldjump"/>
          </p:cNvPr>
          <p:cNvSpPr/>
          <p:nvPr/>
        </p:nvSpPr>
        <p:spPr>
          <a:xfrm>
            <a:off x="643377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8. Risk</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mc:AlternateContent xmlns:mc="http://schemas.openxmlformats.org/markup-compatibility/2006" xmlns:a14="http://schemas.microsoft.com/office/drawing/2010/main">
        <mc:Choice Requires="a14">
          <p:graphicFrame>
            <p:nvGraphicFramePr>
              <p:cNvPr id="12" name="Tabel 11"/>
              <p:cNvGraphicFramePr>
                <a:graphicFrameLocks noGrp="1"/>
              </p:cNvGraphicFramePr>
              <p:nvPr>
                <p:extLst>
                  <p:ext uri="{D42A27DB-BD31-4B8C-83A1-F6EECF244321}">
                    <p14:modId xmlns:p14="http://schemas.microsoft.com/office/powerpoint/2010/main" val="584275487"/>
                  </p:ext>
                </p:extLst>
              </p:nvPr>
            </p:nvGraphicFramePr>
            <p:xfrm>
              <a:off x="475813" y="801514"/>
              <a:ext cx="7808314" cy="1705549"/>
            </p:xfrm>
            <a:graphic>
              <a:graphicData uri="http://schemas.openxmlformats.org/drawingml/2006/table">
                <a:tbl>
                  <a:tblPr firstRow="1" bandRow="1">
                    <a:tableStyleId>{17292A2E-F333-43FB-9621-5CBBE7FDCDCB}</a:tableStyleId>
                  </a:tblPr>
                  <a:tblGrid>
                    <a:gridCol w="981212">
                      <a:extLst>
                        <a:ext uri="{9D8B030D-6E8A-4147-A177-3AD203B41FA5}">
                          <a16:colId xmlns:a16="http://schemas.microsoft.com/office/drawing/2014/main" val="20000"/>
                        </a:ext>
                      </a:extLst>
                    </a:gridCol>
                    <a:gridCol w="710217">
                      <a:extLst>
                        <a:ext uri="{9D8B030D-6E8A-4147-A177-3AD203B41FA5}">
                          <a16:colId xmlns:a16="http://schemas.microsoft.com/office/drawing/2014/main" val="20001"/>
                        </a:ext>
                      </a:extLst>
                    </a:gridCol>
                    <a:gridCol w="710217">
                      <a:extLst>
                        <a:ext uri="{9D8B030D-6E8A-4147-A177-3AD203B41FA5}">
                          <a16:colId xmlns:a16="http://schemas.microsoft.com/office/drawing/2014/main" val="20002"/>
                        </a:ext>
                      </a:extLst>
                    </a:gridCol>
                    <a:gridCol w="5406668">
                      <a:extLst>
                        <a:ext uri="{9D8B030D-6E8A-4147-A177-3AD203B41FA5}">
                          <a16:colId xmlns:a16="http://schemas.microsoft.com/office/drawing/2014/main" val="20003"/>
                        </a:ext>
                      </a:extLst>
                    </a:gridCol>
                  </a:tblGrid>
                  <a:tr h="425137">
                    <a:tc>
                      <a:txBody>
                        <a:bodyPr/>
                        <a:lstStyle/>
                        <a:p>
                          <a:pPr algn="l" fontAlgn="b"/>
                          <a:r>
                            <a:rPr lang="en-US" sz="1200" i="1" u="none" strike="noStrike" noProof="0">
                              <a:solidFill>
                                <a:schemeClr val="tx1"/>
                              </a:solidFill>
                              <a:effectLst/>
                            </a:rPr>
                            <a:t>Application </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kumimoji="0" lang="en-US" sz="1200" b="1" u="none" strike="noStrike" kern="1200" cap="none" normalizeH="0" baseline="0">
                              <a:ln>
                                <a:noFill/>
                              </a:ln>
                              <a:solidFill>
                                <a:schemeClr val="tx1"/>
                              </a:solidFill>
                              <a:effectLst/>
                              <a:latin typeface="+mn-lt"/>
                              <a:ea typeface="+mn-ea"/>
                              <a:cs typeface="+mn-cs"/>
                            </a:rPr>
                            <a:t>Old</a:t>
                          </a:r>
                        </a:p>
                        <a:p>
                          <a:pPr algn="l" fontAlgn="b"/>
                          <a:r>
                            <a:rPr kumimoji="0" lang="en-US" sz="1200" b="1" u="none" strike="noStrike" kern="1200" cap="none" normalizeH="0" baseline="0">
                              <a:ln>
                                <a:noFill/>
                              </a:ln>
                              <a:solidFill>
                                <a:schemeClr val="tx1"/>
                              </a:solidFill>
                              <a:effectLst/>
                              <a:latin typeface="+mn-lt"/>
                              <a:ea typeface="+mn-ea"/>
                              <a:cs typeface="+mn-cs"/>
                            </a:rPr>
                            <a:t>AIC/class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New</a:t>
                          </a:r>
                        </a:p>
                        <a:p>
                          <a:pPr algn="l" fontAlgn="b"/>
                          <a:r>
                            <a:rPr lang="en-US" sz="1200" b="1" i="1" u="none" strike="noStrike" noProof="0">
                              <a:solidFill>
                                <a:schemeClr val="tx1"/>
                              </a:solidFill>
                              <a:effectLst/>
                              <a:latin typeface="+mn-lt"/>
                            </a:rPr>
                            <a:t>AIC/class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Security architecture attention points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431692">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14:m>
                            <m:oMath xmlns:m="http://schemas.openxmlformats.org/officeDocument/2006/math">
                              <m:r>
                                <m:rPr>
                                  <m:sty m:val="p"/>
                                </m:rPr>
                                <a:rPr lang="en-GB" sz="800" b="0" i="0" smtClean="0">
                                  <a:solidFill>
                                    <a:srgbClr val="000000"/>
                                  </a:solidFill>
                                  <a:latin typeface="Cambria Math" panose="02040503050406030204" pitchFamily="18" charset="0"/>
                                </a:rPr>
                                <m:t>nBIF</m:t>
                              </m:r>
                            </m:oMath>
                          </a14:m>
                          <a:r>
                            <a:rPr lang="en-GB" sz="800">
                              <a:solidFill>
                                <a:srgbClr val="000000"/>
                              </a:solidFill>
                            </a:rPr>
                            <a:t> Platform</a:t>
                          </a: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New Cloud application </a:t>
                          </a:r>
                          <a:r>
                            <a:rPr kumimoji="0" lang="en-US" sz="800" b="1" i="0" u="none" strike="noStrike" cap="none" normalizeH="0" baseline="0">
                              <a:ln>
                                <a:noFill/>
                              </a:ln>
                              <a:solidFill>
                                <a:schemeClr val="tx1"/>
                              </a:solidFill>
                              <a:effectLst/>
                              <a:latin typeface="+mn-lt"/>
                            </a:rPr>
                            <a:t>nBIF  </a:t>
                          </a:r>
                          <a:r>
                            <a:rPr kumimoji="0" lang="en-US" sz="800" b="0" i="0" u="none" strike="noStrike" cap="none" normalizeH="0" baseline="0">
                              <a:ln>
                                <a:noFill/>
                              </a:ln>
                              <a:solidFill>
                                <a:schemeClr val="tx1"/>
                              </a:solidFill>
                              <a:effectLst/>
                              <a:latin typeface="+mn-lt"/>
                            </a:rPr>
                            <a:t>needs to be onboarded: </a:t>
                          </a:r>
                          <a:r>
                            <a:rPr kumimoji="0" lang="en-US" sz="800" b="0" i="0" u="none" strike="noStrike" cap="none" normalizeH="0" baseline="0">
                              <a:ln>
                                <a:noFill/>
                              </a:ln>
                              <a:solidFill>
                                <a:schemeClr val="tx1"/>
                              </a:solidFill>
                              <a:effectLst/>
                              <a:latin typeface="+mn-lt"/>
                              <a:hlinkClick r:id="rId4"/>
                            </a:rPr>
                            <a:t>https://confluence.dev.rabobank.nl/display/Azure</a:t>
                          </a:r>
                          <a:r>
                            <a:rPr kumimoji="0" lang="en-US" sz="800" b="0" i="0" u="none" strike="noStrike" cap="none" normalizeH="0" baseline="0">
                              <a:ln>
                                <a:noFill/>
                              </a:ln>
                              <a:solidFill>
                                <a:schemeClr val="tx1"/>
                              </a:solidFill>
                              <a:effectLst/>
                              <a:latin typeface="+mn-lt"/>
                            </a:rPr>
                            <a:t> </a:t>
                          </a:r>
                        </a:p>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Cloud. Azure is certified by Rabobank and can easily match the 223 requirements. </a:t>
                          </a:r>
                        </a:p>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The consistency 3 was decided due to sensitive mortgage data.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278">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u="none" strike="noStrike" kern="1200" cap="none" normalizeH="0" baseline="0">
                              <a:ln>
                                <a:noFill/>
                              </a:ln>
                              <a:effectLst/>
                            </a:rPr>
                            <a:t>RSME nBIF</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278">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CORP nBIF</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278">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278">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noProof="0">
                              <a:ln>
                                <a:noFill/>
                              </a:ln>
                              <a:solidFill>
                                <a:schemeClr val="tx1"/>
                              </a:solidFill>
                              <a:effectLst/>
                              <a:latin typeface="+mn-lt"/>
                            </a:rPr>
                            <a: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mc:Choice>
        <mc:Fallback xmlns="">
          <p:graphicFrame>
            <p:nvGraphicFramePr>
              <p:cNvPr id="12" name="Tabel 11"/>
              <p:cNvGraphicFramePr>
                <a:graphicFrameLocks noGrp="1"/>
              </p:cNvGraphicFramePr>
              <p:nvPr>
                <p:extLst>
                  <p:ext uri="{D42A27DB-BD31-4B8C-83A1-F6EECF244321}">
                    <p14:modId xmlns:p14="http://schemas.microsoft.com/office/powerpoint/2010/main" val="584275487"/>
                  </p:ext>
                </p:extLst>
              </p:nvPr>
            </p:nvGraphicFramePr>
            <p:xfrm>
              <a:off x="475813" y="801514"/>
              <a:ext cx="7808314" cy="1705549"/>
            </p:xfrm>
            <a:graphic>
              <a:graphicData uri="http://schemas.openxmlformats.org/drawingml/2006/table">
                <a:tbl>
                  <a:tblPr firstRow="1" bandRow="1">
                    <a:tableStyleId>{17292A2E-F333-43FB-9621-5CBBE7FDCDCB}</a:tableStyleId>
                  </a:tblPr>
                  <a:tblGrid>
                    <a:gridCol w="981212">
                      <a:extLst>
                        <a:ext uri="{9D8B030D-6E8A-4147-A177-3AD203B41FA5}">
                          <a16:colId xmlns:a16="http://schemas.microsoft.com/office/drawing/2014/main" val="20000"/>
                        </a:ext>
                      </a:extLst>
                    </a:gridCol>
                    <a:gridCol w="710217">
                      <a:extLst>
                        <a:ext uri="{9D8B030D-6E8A-4147-A177-3AD203B41FA5}">
                          <a16:colId xmlns:a16="http://schemas.microsoft.com/office/drawing/2014/main" val="20001"/>
                        </a:ext>
                      </a:extLst>
                    </a:gridCol>
                    <a:gridCol w="710217">
                      <a:extLst>
                        <a:ext uri="{9D8B030D-6E8A-4147-A177-3AD203B41FA5}">
                          <a16:colId xmlns:a16="http://schemas.microsoft.com/office/drawing/2014/main" val="20002"/>
                        </a:ext>
                      </a:extLst>
                    </a:gridCol>
                    <a:gridCol w="5406668">
                      <a:extLst>
                        <a:ext uri="{9D8B030D-6E8A-4147-A177-3AD203B41FA5}">
                          <a16:colId xmlns:a16="http://schemas.microsoft.com/office/drawing/2014/main" val="20003"/>
                        </a:ext>
                      </a:extLst>
                    </a:gridCol>
                  </a:tblGrid>
                  <a:tr h="457200">
                    <a:tc>
                      <a:txBody>
                        <a:bodyPr/>
                        <a:lstStyle/>
                        <a:p>
                          <a:pPr algn="l" fontAlgn="b"/>
                          <a:r>
                            <a:rPr lang="en-US" sz="1200" i="1" u="none" strike="noStrike" noProof="0">
                              <a:solidFill>
                                <a:schemeClr val="tx1"/>
                              </a:solidFill>
                              <a:effectLst/>
                            </a:rPr>
                            <a:t>Application </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kumimoji="0" lang="en-US" sz="1200" b="1" u="none" strike="noStrike" kern="1200" cap="none" normalizeH="0" baseline="0">
                              <a:ln>
                                <a:noFill/>
                              </a:ln>
                              <a:solidFill>
                                <a:schemeClr val="tx1"/>
                              </a:solidFill>
                              <a:effectLst/>
                              <a:latin typeface="+mn-lt"/>
                              <a:ea typeface="+mn-ea"/>
                              <a:cs typeface="+mn-cs"/>
                            </a:rPr>
                            <a:t>Old</a:t>
                          </a:r>
                        </a:p>
                        <a:p>
                          <a:pPr algn="l" fontAlgn="b"/>
                          <a:r>
                            <a:rPr kumimoji="0" lang="en-US" sz="1200" b="1" u="none" strike="noStrike" kern="1200" cap="none" normalizeH="0" baseline="0">
                              <a:ln>
                                <a:noFill/>
                              </a:ln>
                              <a:solidFill>
                                <a:schemeClr val="tx1"/>
                              </a:solidFill>
                              <a:effectLst/>
                              <a:latin typeface="+mn-lt"/>
                              <a:ea typeface="+mn-ea"/>
                              <a:cs typeface="+mn-cs"/>
                            </a:rPr>
                            <a:t>AIC/class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New</a:t>
                          </a:r>
                        </a:p>
                        <a:p>
                          <a:pPr algn="l" fontAlgn="b"/>
                          <a:r>
                            <a:rPr lang="en-US" sz="1200" b="1" i="1" u="none" strike="noStrike" noProof="0">
                              <a:solidFill>
                                <a:schemeClr val="tx1"/>
                              </a:solidFill>
                              <a:effectLst/>
                              <a:latin typeface="+mn-lt"/>
                            </a:rPr>
                            <a:t>AIC/class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Security architecture attention points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464249">
                    <a:tc>
                      <a:txBody>
                        <a:bodyPr/>
                        <a:lstStyle/>
                        <a:p>
                          <a:endParaRPr lang="en-US"/>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blipFill>
                          <a:blip r:embed="rId5"/>
                          <a:stretch>
                            <a:fillRect l="-1863" t="-103896" r="-699379" b="-174026"/>
                          </a:stretch>
                        </a:blipFill>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New Cloud application </a:t>
                          </a:r>
                          <a:r>
                            <a:rPr kumimoji="0" lang="en-US" sz="800" b="1" i="0" u="none" strike="noStrike" cap="none" normalizeH="0" baseline="0">
                              <a:ln>
                                <a:noFill/>
                              </a:ln>
                              <a:solidFill>
                                <a:schemeClr val="tx1"/>
                              </a:solidFill>
                              <a:effectLst/>
                              <a:latin typeface="+mn-lt"/>
                            </a:rPr>
                            <a:t>nBIF  </a:t>
                          </a:r>
                          <a:r>
                            <a:rPr kumimoji="0" lang="en-US" sz="800" b="0" i="0" u="none" strike="noStrike" cap="none" normalizeH="0" baseline="0">
                              <a:ln>
                                <a:noFill/>
                              </a:ln>
                              <a:solidFill>
                                <a:schemeClr val="tx1"/>
                              </a:solidFill>
                              <a:effectLst/>
                              <a:latin typeface="+mn-lt"/>
                            </a:rPr>
                            <a:t>needs to be onboarded: </a:t>
                          </a:r>
                          <a:r>
                            <a:rPr kumimoji="0" lang="en-US" sz="800" b="0" i="0" u="none" strike="noStrike" cap="none" normalizeH="0" baseline="0">
                              <a:ln>
                                <a:noFill/>
                              </a:ln>
                              <a:solidFill>
                                <a:schemeClr val="tx1"/>
                              </a:solidFill>
                              <a:effectLst/>
                              <a:latin typeface="+mn-lt"/>
                              <a:hlinkClick r:id="rId6"/>
                            </a:rPr>
                            <a:t>https://confluence.dev.rabobank.nl/display/Azure</a:t>
                          </a:r>
                          <a:r>
                            <a:rPr kumimoji="0" lang="en-US" sz="800" b="0" i="0" u="none" strike="noStrike" cap="none" normalizeH="0" baseline="0">
                              <a:ln>
                                <a:noFill/>
                              </a:ln>
                              <a:solidFill>
                                <a:schemeClr val="tx1"/>
                              </a:solidFill>
                              <a:effectLst/>
                              <a:latin typeface="+mn-lt"/>
                            </a:rPr>
                            <a:t> </a:t>
                          </a:r>
                        </a:p>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Cloud. Azure is certified by Rabobank and can easily match the 223 requirements. </a:t>
                          </a:r>
                        </a:p>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The consistency 3 was decided due to sensitive mortgage data. </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96025">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u="none" strike="noStrike" kern="1200" cap="none" normalizeH="0" baseline="0">
                              <a:ln>
                                <a:noFill/>
                              </a:ln>
                              <a:effectLst/>
                            </a:rPr>
                            <a:t>RSME nBIF</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96025">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CORP nBIF</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6025">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96025">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noProof="0">
                              <a:ln>
                                <a:noFill/>
                              </a:ln>
                              <a:solidFill>
                                <a:schemeClr val="tx1"/>
                              </a:solidFill>
                              <a:effectLst/>
                              <a:latin typeface="+mn-lt"/>
                            </a:rPr>
                            <a: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N/A</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GB" sz="800" b="0" i="0" u="none" strike="noStrike" cap="none" normalizeH="0" baseline="0">
                              <a:ln>
                                <a:noFill/>
                              </a:ln>
                              <a:solidFill>
                                <a:schemeClr val="tx1"/>
                              </a:solidFill>
                              <a:effectLst/>
                              <a:latin typeface="+mn-lt"/>
                            </a:rPr>
                            <a:t>223</a:t>
                          </a: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mc:Fallback>
      </mc:AlternateContent>
      <p:graphicFrame>
        <p:nvGraphicFramePr>
          <p:cNvPr id="13" name="Tabel 12"/>
          <p:cNvGraphicFramePr>
            <a:graphicFrameLocks noGrp="1"/>
          </p:cNvGraphicFramePr>
          <p:nvPr>
            <p:extLst>
              <p:ext uri="{D42A27DB-BD31-4B8C-83A1-F6EECF244321}">
                <p14:modId xmlns:p14="http://schemas.microsoft.com/office/powerpoint/2010/main" val="1608460590"/>
              </p:ext>
            </p:extLst>
          </p:nvPr>
        </p:nvGraphicFramePr>
        <p:xfrm>
          <a:off x="475813" y="2783005"/>
          <a:ext cx="7804587" cy="1479604"/>
        </p:xfrm>
        <a:graphic>
          <a:graphicData uri="http://schemas.openxmlformats.org/drawingml/2006/table">
            <a:tbl>
              <a:tblPr firstRow="1" bandRow="1">
                <a:tableStyleId>{17292A2E-F333-43FB-9621-5CBBE7FDCDCB}</a:tableStyleId>
              </a:tblPr>
              <a:tblGrid>
                <a:gridCol w="696760">
                  <a:extLst>
                    <a:ext uri="{9D8B030D-6E8A-4147-A177-3AD203B41FA5}">
                      <a16:colId xmlns:a16="http://schemas.microsoft.com/office/drawing/2014/main" val="20000"/>
                    </a:ext>
                  </a:extLst>
                </a:gridCol>
                <a:gridCol w="2019360">
                  <a:extLst>
                    <a:ext uri="{9D8B030D-6E8A-4147-A177-3AD203B41FA5}">
                      <a16:colId xmlns:a16="http://schemas.microsoft.com/office/drawing/2014/main" val="20001"/>
                    </a:ext>
                  </a:extLst>
                </a:gridCol>
                <a:gridCol w="5088467">
                  <a:extLst>
                    <a:ext uri="{9D8B030D-6E8A-4147-A177-3AD203B41FA5}">
                      <a16:colId xmlns:a16="http://schemas.microsoft.com/office/drawing/2014/main" val="20002"/>
                    </a:ext>
                  </a:extLst>
                </a:gridCol>
              </a:tblGrid>
              <a:tr h="543217">
                <a:tc>
                  <a:txBody>
                    <a:bodyPr/>
                    <a:lstStyle/>
                    <a:p>
                      <a:pPr algn="l" fontAlgn="b"/>
                      <a:r>
                        <a:rPr lang="en-US" sz="1200" i="1" u="none" strike="noStrike" noProof="0">
                          <a:solidFill>
                            <a:schemeClr val="tx1"/>
                          </a:solidFill>
                          <a:effectLst/>
                        </a:rPr>
                        <a:t>RSF</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kumimoji="0" lang="en-US" sz="1200" b="1" u="none" strike="noStrike" kern="1200" cap="none" normalizeH="0" baseline="0">
                          <a:ln>
                            <a:noFill/>
                          </a:ln>
                          <a:solidFill>
                            <a:schemeClr val="tx1"/>
                          </a:solidFill>
                          <a:effectLst/>
                          <a:latin typeface="+mn-lt"/>
                          <a:ea typeface="+mn-ea"/>
                          <a:cs typeface="+mn-cs"/>
                        </a:rPr>
                        <a:t>Rabobank Security Framework</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Impact</a:t>
                      </a:r>
                      <a:r>
                        <a:rPr lang="en-US" sz="1200" b="1" i="1" u="none" strike="noStrike" baseline="0" noProof="0">
                          <a:solidFill>
                            <a:schemeClr val="tx1"/>
                          </a:solidFill>
                          <a:effectLst/>
                          <a:latin typeface="+mn-lt"/>
                        </a:rPr>
                        <a:t> on relevance of enterprise (security) architecture standards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255045">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AIC</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AIC classification process</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cap="none" normalizeH="0" baseline="0">
                          <a:ln>
                            <a:noFill/>
                          </a:ln>
                          <a:solidFill>
                            <a:schemeClr val="tx1"/>
                          </a:solidFill>
                          <a:effectLst/>
                          <a:latin typeface="+mn-lt"/>
                        </a:rPr>
                        <a:t>Risks mitigated according to AIC rate 2-2-3</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7114">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u="none" strike="noStrike" kern="1200" cap="none" normalizeH="0" baseline="0">
                          <a:ln>
                            <a:noFill/>
                          </a:ln>
                          <a:effectLst/>
                        </a:rPr>
                        <a:t>SSB</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cap="none" normalizeH="0" baseline="0">
                          <a:ln>
                            <a:noFill/>
                          </a:ln>
                          <a:solidFill>
                            <a:schemeClr val="tx1"/>
                          </a:solidFill>
                          <a:effectLst/>
                          <a:latin typeface="+mn-lt"/>
                        </a:rPr>
                        <a:t>System Security baseline(s) ( assessment)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TBD</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7114">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kumimoji="0" lang="en-US" sz="800" b="0" i="0" u="none" strike="noStrike" kern="1200" cap="none" normalizeH="0" baseline="0">
                          <a:ln>
                            <a:noFill/>
                          </a:ln>
                          <a:solidFill>
                            <a:schemeClr val="tx1"/>
                          </a:solidFill>
                          <a:effectLst/>
                          <a:latin typeface="+mn-lt"/>
                          <a:ea typeface="+mn-ea"/>
                          <a:cs typeface="+mn-cs"/>
                        </a:rPr>
                        <a:t>RRS</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r>
                        <a:rPr lang="nl-NL" sz="800" err="1">
                          <a:effectLst/>
                        </a:rPr>
                        <a:t>Residual</a:t>
                      </a:r>
                      <a:r>
                        <a:rPr lang="nl-NL" sz="800">
                          <a:effectLst/>
                        </a:rPr>
                        <a:t> Risk statement</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pPr>
                      <a:r>
                        <a:rPr kumimoji="0" lang="en-US" sz="800" b="0" i="0" u="none" strike="noStrike" kern="1200" cap="none" normalizeH="0" baseline="0">
                          <a:ln>
                            <a:noFill/>
                          </a:ln>
                          <a:solidFill>
                            <a:schemeClr val="tx1"/>
                          </a:solidFill>
                          <a:effectLst/>
                          <a:latin typeface="+mn-lt"/>
                          <a:ea typeface="+mn-ea"/>
                          <a:cs typeface="+mn-cs"/>
                        </a:rPr>
                        <a:t>TBD</a:t>
                      </a: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7114">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endParaRPr kumimoji="0" lang="en-US" sz="800" b="0" i="0" u="none" strike="noStrike" kern="1200" cap="none" normalizeH="0" baseline="0">
                        <a:ln>
                          <a:noFill/>
                        </a:ln>
                        <a:solidFill>
                          <a:schemeClr val="tx1"/>
                        </a:solidFill>
                        <a:effectLst/>
                        <a:latin typeface="+mn-lt"/>
                        <a:ea typeface="+mn-ea"/>
                        <a:cs typeface="+mn-cs"/>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10000"/>
                        </a:lnSpc>
                        <a:spcBef>
                          <a:spcPct val="0"/>
                        </a:spcBef>
                        <a:spcAft>
                          <a:spcPct val="0"/>
                        </a:spcAft>
                        <a:buClrTx/>
                        <a:buSzPct val="100000"/>
                        <a:buFontTx/>
                        <a:buNone/>
                        <a:tabLst/>
                        <a:defRPr/>
                      </a:pPr>
                      <a:endParaRPr lang="nl-NL" sz="800">
                        <a:effectLs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456999" rtl="0" eaLnBrk="1" latinLnBrk="0" hangingPunct="1">
                        <a:defRPr sz="1800" kern="1200">
                          <a:solidFill>
                            <a:schemeClr val="tx1"/>
                          </a:solidFill>
                        </a:defRPr>
                      </a:lvl1pPr>
                      <a:lvl2pPr marL="456999" algn="l" defTabSz="456999" rtl="0" eaLnBrk="1" latinLnBrk="0" hangingPunct="1">
                        <a:defRPr sz="1800" kern="1200">
                          <a:solidFill>
                            <a:schemeClr val="tx1"/>
                          </a:solidFill>
                        </a:defRPr>
                      </a:lvl2pPr>
                      <a:lvl3pPr marL="913999" algn="l" defTabSz="456999" rtl="0" eaLnBrk="1" latinLnBrk="0" hangingPunct="1">
                        <a:defRPr sz="1800" kern="1200">
                          <a:solidFill>
                            <a:schemeClr val="tx1"/>
                          </a:solidFill>
                        </a:defRPr>
                      </a:lvl3pPr>
                      <a:lvl4pPr marL="1370998" algn="l" defTabSz="456999" rtl="0" eaLnBrk="1" latinLnBrk="0" hangingPunct="1">
                        <a:defRPr sz="1800" kern="1200">
                          <a:solidFill>
                            <a:schemeClr val="tx1"/>
                          </a:solidFill>
                        </a:defRPr>
                      </a:lvl4pPr>
                      <a:lvl5pPr marL="1827997" algn="l" defTabSz="456999" rtl="0" eaLnBrk="1" latinLnBrk="0" hangingPunct="1">
                        <a:defRPr sz="1800" kern="1200">
                          <a:solidFill>
                            <a:schemeClr val="tx1"/>
                          </a:solidFill>
                        </a:defRPr>
                      </a:lvl5pPr>
                      <a:lvl6pPr marL="2284997" algn="l" defTabSz="456999" rtl="0" eaLnBrk="1" latinLnBrk="0" hangingPunct="1">
                        <a:defRPr sz="1800" kern="1200">
                          <a:solidFill>
                            <a:schemeClr val="tx1"/>
                          </a:solidFill>
                        </a:defRPr>
                      </a:lvl6pPr>
                      <a:lvl7pPr marL="2741997" algn="l" defTabSz="456999" rtl="0" eaLnBrk="1" latinLnBrk="0" hangingPunct="1">
                        <a:defRPr sz="1800" kern="1200">
                          <a:solidFill>
                            <a:schemeClr val="tx1"/>
                          </a:solidFill>
                        </a:defRPr>
                      </a:lvl7pPr>
                      <a:lvl8pPr marL="3198995" algn="l" defTabSz="456999" rtl="0" eaLnBrk="1" latinLnBrk="0" hangingPunct="1">
                        <a:defRPr sz="1800" kern="1200">
                          <a:solidFill>
                            <a:schemeClr val="tx1"/>
                          </a:solidFill>
                        </a:defRPr>
                      </a:lvl8pPr>
                      <a:lvl9pPr marL="3655995" algn="l" defTabSz="456999" rtl="0" eaLnBrk="1" latinLnBrk="0" hangingPunct="1">
                        <a:defRPr sz="1800" kern="1200">
                          <a:solidFill>
                            <a:schemeClr val="tx1"/>
                          </a:solidFill>
                        </a:defRPr>
                      </a:lvl9pPr>
                    </a:lstStyle>
                    <a:p>
                      <a:pPr marL="0" marR="0" lvl="0" indent="0" algn="l" defTabSz="914400" rtl="0" eaLnBrk="1" fontAlgn="base" latinLnBrk="0" hangingPunct="1">
                        <a:lnSpc>
                          <a:spcPct val="110000"/>
                        </a:lnSpc>
                        <a:spcBef>
                          <a:spcPct val="0"/>
                        </a:spcBef>
                        <a:spcAft>
                          <a:spcPct val="0"/>
                        </a:spcAft>
                        <a:buClrTx/>
                        <a:buSzPct val="100000"/>
                        <a:buFontTx/>
                        <a:buNone/>
                        <a:tabLst/>
                        <a:defRPr/>
                      </a:pPr>
                      <a:endParaRPr kumimoji="0" lang="en-US" sz="800" b="0" i="0" u="none" strike="noStrike" cap="none" normalizeH="0" baseline="0">
                        <a:ln>
                          <a:noFill/>
                        </a:ln>
                        <a:solidFill>
                          <a:schemeClr val="tx1"/>
                        </a:solidFill>
                        <a:effectLst/>
                        <a:latin typeface="+mn-lt"/>
                      </a:endParaRPr>
                    </a:p>
                  </a:txBody>
                  <a:tcPr marL="45720" marR="45720" marT="34290" marB="34290" horzOverflow="overflow">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28802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8.1 Security</a:t>
            </a:r>
          </a:p>
        </p:txBody>
      </p:sp>
      <p:sp>
        <p:nvSpPr>
          <p:cNvPr id="5" name="Slide Number Placeholder 4"/>
          <p:cNvSpPr>
            <a:spLocks noGrp="1"/>
          </p:cNvSpPr>
          <p:nvPr>
            <p:ph type="sldNum" sz="quarter" idx="10"/>
          </p:nvPr>
        </p:nvSpPr>
        <p:spPr/>
        <p:txBody>
          <a:bodyPr/>
          <a:lstStyle/>
          <a:p>
            <a:fld id="{9C7F1ACC-2CE8-4B5A-AF9E-0D67538731EE}" type="slidenum">
              <a:rPr lang="en-GB" smtClean="0"/>
              <a:pPr/>
              <a:t>69</a:t>
            </a:fld>
            <a:endParaRPr lang="en-GB"/>
          </a:p>
        </p:txBody>
      </p:sp>
      <p:sp>
        <p:nvSpPr>
          <p:cNvPr id="7" name="Rounded Rectangle 10">
            <a:hlinkClick r:id="rId3" action="ppaction://hlinksldjump"/>
          </p:cNvPr>
          <p:cNvSpPr/>
          <p:nvPr/>
        </p:nvSpPr>
        <p:spPr>
          <a:xfrm>
            <a:off x="6433771"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8. Risk</a:t>
            </a:r>
          </a:p>
          <a:p>
            <a:pPr marL="0" marR="0" indent="0" algn="ctr" defTabSz="914400" eaLnBrk="1" fontAlgn="auto" latinLnBrk="0" hangingPunct="1">
              <a:lnSpc>
                <a:spcPct val="110000"/>
              </a:lnSpc>
              <a:spcBef>
                <a:spcPts val="0"/>
              </a:spcBef>
              <a:spcAft>
                <a:spcPts val="0"/>
              </a:spcAft>
              <a:buClrTx/>
              <a:buSzTx/>
              <a:buFontTx/>
              <a:buNone/>
              <a:tabLst/>
            </a:pPr>
            <a:endParaRPr kumimoji="0" lang="en-GB" sz="800" b="1" i="0" u="none" strike="noStrike" kern="0" cap="none" spc="0" normalizeH="0" baseline="0" noProof="0">
              <a:ln>
                <a:noFill/>
              </a:ln>
              <a:solidFill>
                <a:schemeClr val="bg1"/>
              </a:solidFill>
              <a:effectLst/>
              <a:uLnTx/>
              <a:uFillTx/>
              <a:latin typeface="Myriad Pro"/>
              <a:ea typeface="+mn-ea"/>
              <a:cs typeface="Myriad Pro"/>
            </a:endParaRPr>
          </a:p>
        </p:txBody>
      </p:sp>
      <p:sp>
        <p:nvSpPr>
          <p:cNvPr id="2" name="Text Placeholder 1"/>
          <p:cNvSpPr>
            <a:spLocks noGrp="1"/>
          </p:cNvSpPr>
          <p:nvPr>
            <p:ph type="body" sz="quarter" idx="15"/>
          </p:nvPr>
        </p:nvSpPr>
        <p:spPr>
          <a:xfrm>
            <a:off x="476250" y="714118"/>
            <a:ext cx="7804150" cy="212725"/>
          </a:xfrm>
        </p:spPr>
        <p:txBody>
          <a:bodyPr/>
          <a:lstStyle/>
          <a:p>
            <a:r>
              <a:rPr lang="en-IN"/>
              <a:t>Identity and Access Management</a:t>
            </a:r>
          </a:p>
        </p:txBody>
      </p:sp>
      <p:grpSp>
        <p:nvGrpSpPr>
          <p:cNvPr id="58" name="Group 57"/>
          <p:cNvGrpSpPr/>
          <p:nvPr/>
        </p:nvGrpSpPr>
        <p:grpSpPr>
          <a:xfrm>
            <a:off x="822960" y="977778"/>
            <a:ext cx="7945035" cy="3007484"/>
            <a:chOff x="822960" y="977778"/>
            <a:chExt cx="7945035" cy="3007484"/>
          </a:xfrm>
        </p:grpSpPr>
        <p:grpSp>
          <p:nvGrpSpPr>
            <p:cNvPr id="21" name="Group 38">
              <a:extLst>
                <a:ext uri="{FF2B5EF4-FFF2-40B4-BE49-F238E27FC236}">
                  <a16:creationId xmlns:a16="http://schemas.microsoft.com/office/drawing/2014/main" id="{31D36717-72FF-FA4A-9280-5F726E88BEAA}"/>
                </a:ext>
              </a:extLst>
            </p:cNvPr>
            <p:cNvGrpSpPr/>
            <p:nvPr/>
          </p:nvGrpSpPr>
          <p:grpSpPr>
            <a:xfrm>
              <a:off x="1562100" y="1970552"/>
              <a:ext cx="6801122" cy="2014710"/>
              <a:chOff x="50800" y="1304305"/>
              <a:chExt cx="9068160" cy="3258971"/>
            </a:xfrm>
            <a:effectLst>
              <a:outerShdw blurRad="127000" dist="127000" dir="2700000">
                <a:srgbClr val="000000">
                  <a:alpha val="10000"/>
                </a:srgbClr>
              </a:outerShdw>
            </a:effectLst>
          </p:grpSpPr>
          <p:grpSp>
            <p:nvGrpSpPr>
              <p:cNvPr id="22" name="Group 21">
                <a:extLst>
                  <a:ext uri="{FF2B5EF4-FFF2-40B4-BE49-F238E27FC236}">
                    <a16:creationId xmlns:a16="http://schemas.microsoft.com/office/drawing/2014/main" id="{69B2AAD7-6299-B24A-9A37-F022049A521F}"/>
                  </a:ext>
                </a:extLst>
              </p:cNvPr>
              <p:cNvGrpSpPr/>
              <p:nvPr/>
            </p:nvGrpSpPr>
            <p:grpSpPr>
              <a:xfrm>
                <a:off x="3549051" y="1499545"/>
                <a:ext cx="2071305" cy="3063731"/>
                <a:chOff x="2590800" y="461116"/>
                <a:chExt cx="4067175" cy="6015884"/>
              </a:xfrm>
              <a:effectLst/>
            </p:grpSpPr>
            <p:sp>
              <p:nvSpPr>
                <p:cNvPr id="29" name="Freeform 5">
                  <a:extLst>
                    <a:ext uri="{FF2B5EF4-FFF2-40B4-BE49-F238E27FC236}">
                      <a16:creationId xmlns:a16="http://schemas.microsoft.com/office/drawing/2014/main" id="{41B0F3D8-A5E7-144D-AF7D-EDC27E83653C}"/>
                    </a:ext>
                  </a:extLst>
                </p:cNvPr>
                <p:cNvSpPr>
                  <a:spLocks/>
                </p:cNvSpPr>
                <p:nvPr/>
              </p:nvSpPr>
              <p:spPr bwMode="auto">
                <a:xfrm>
                  <a:off x="2939574" y="461116"/>
                  <a:ext cx="3369627" cy="3196484"/>
                </a:xfrm>
                <a:custGeom>
                  <a:avLst/>
                  <a:gdLst/>
                  <a:ahLst/>
                  <a:cxnLst>
                    <a:cxn ang="0">
                      <a:pos x="3732" y="516"/>
                    </a:cxn>
                    <a:cxn ang="0">
                      <a:pos x="3466" y="328"/>
                    </a:cxn>
                    <a:cxn ang="0">
                      <a:pos x="3175" y="178"/>
                    </a:cxn>
                    <a:cxn ang="0">
                      <a:pos x="2860" y="71"/>
                    </a:cxn>
                    <a:cxn ang="0">
                      <a:pos x="2526" y="11"/>
                    </a:cxn>
                    <a:cxn ang="0">
                      <a:pos x="2258" y="0"/>
                    </a:cxn>
                    <a:cxn ang="0">
                      <a:pos x="1915" y="25"/>
                    </a:cxn>
                    <a:cxn ang="0">
                      <a:pos x="1588" y="102"/>
                    </a:cxn>
                    <a:cxn ang="0">
                      <a:pos x="1280" y="224"/>
                    </a:cxn>
                    <a:cxn ang="0">
                      <a:pos x="997" y="387"/>
                    </a:cxn>
                    <a:cxn ang="0">
                      <a:pos x="741" y="588"/>
                    </a:cxn>
                    <a:cxn ang="0">
                      <a:pos x="553" y="781"/>
                    </a:cxn>
                    <a:cxn ang="0">
                      <a:pos x="357" y="1042"/>
                    </a:cxn>
                    <a:cxn ang="0">
                      <a:pos x="201" y="1329"/>
                    </a:cxn>
                    <a:cxn ang="0">
                      <a:pos x="87" y="1640"/>
                    </a:cxn>
                    <a:cxn ang="0">
                      <a:pos x="19" y="1970"/>
                    </a:cxn>
                    <a:cxn ang="0">
                      <a:pos x="0" y="4009"/>
                    </a:cxn>
                    <a:cxn ang="0">
                      <a:pos x="783" y="2144"/>
                    </a:cxn>
                    <a:cxn ang="0">
                      <a:pos x="817" y="1924"/>
                    </a:cxn>
                    <a:cxn ang="0">
                      <a:pos x="882" y="1717"/>
                    </a:cxn>
                    <a:cxn ang="0">
                      <a:pos x="975" y="1523"/>
                    </a:cxn>
                    <a:cxn ang="0">
                      <a:pos x="1095" y="1346"/>
                    </a:cxn>
                    <a:cxn ang="0">
                      <a:pos x="1214" y="1213"/>
                    </a:cxn>
                    <a:cxn ang="0">
                      <a:pos x="1375" y="1072"/>
                    </a:cxn>
                    <a:cxn ang="0">
                      <a:pos x="1555" y="957"/>
                    </a:cxn>
                    <a:cxn ang="0">
                      <a:pos x="1751" y="867"/>
                    </a:cxn>
                    <a:cxn ang="0">
                      <a:pos x="1961" y="808"/>
                    </a:cxn>
                    <a:cxn ang="0">
                      <a:pos x="2182" y="780"/>
                    </a:cxn>
                    <a:cxn ang="0">
                      <a:pos x="2372" y="780"/>
                    </a:cxn>
                    <a:cxn ang="0">
                      <a:pos x="2593" y="808"/>
                    </a:cxn>
                    <a:cxn ang="0">
                      <a:pos x="2803" y="867"/>
                    </a:cxn>
                    <a:cxn ang="0">
                      <a:pos x="2999" y="957"/>
                    </a:cxn>
                    <a:cxn ang="0">
                      <a:pos x="3179" y="1072"/>
                    </a:cxn>
                    <a:cxn ang="0">
                      <a:pos x="3341" y="1213"/>
                    </a:cxn>
                    <a:cxn ang="0">
                      <a:pos x="3460" y="1346"/>
                    </a:cxn>
                    <a:cxn ang="0">
                      <a:pos x="3579" y="1523"/>
                    </a:cxn>
                    <a:cxn ang="0">
                      <a:pos x="3672" y="1717"/>
                    </a:cxn>
                    <a:cxn ang="0">
                      <a:pos x="3738" y="1924"/>
                    </a:cxn>
                    <a:cxn ang="0">
                      <a:pos x="3771" y="2144"/>
                    </a:cxn>
                    <a:cxn ang="0">
                      <a:pos x="3994" y="3929"/>
                    </a:cxn>
                    <a:cxn ang="0">
                      <a:pos x="4012" y="3990"/>
                    </a:cxn>
                    <a:cxn ang="0">
                      <a:pos x="4006" y="4020"/>
                    </a:cxn>
                    <a:cxn ang="0">
                      <a:pos x="3876" y="4061"/>
                    </a:cxn>
                    <a:cxn ang="0">
                      <a:pos x="3779" y="4195"/>
                    </a:cxn>
                    <a:cxn ang="0">
                      <a:pos x="3820" y="4274"/>
                    </a:cxn>
                    <a:cxn ang="0">
                      <a:pos x="3898" y="4317"/>
                    </a:cxn>
                    <a:cxn ang="0">
                      <a:pos x="4432" y="4317"/>
                    </a:cxn>
                    <a:cxn ang="0">
                      <a:pos x="4510" y="4274"/>
                    </a:cxn>
                    <a:cxn ang="0">
                      <a:pos x="4551" y="4195"/>
                    </a:cxn>
                    <a:cxn ang="0">
                      <a:pos x="4551" y="2141"/>
                    </a:cxn>
                    <a:cxn ang="0">
                      <a:pos x="4508" y="1803"/>
                    </a:cxn>
                    <a:cxn ang="0">
                      <a:pos x="4417" y="1482"/>
                    </a:cxn>
                    <a:cxn ang="0">
                      <a:pos x="4280" y="1182"/>
                    </a:cxn>
                    <a:cxn ang="0">
                      <a:pos x="4104" y="908"/>
                    </a:cxn>
                    <a:cxn ang="0">
                      <a:pos x="3892" y="662"/>
                    </a:cxn>
                  </a:cxnLst>
                  <a:rect l="0" t="0" r="r" b="b"/>
                  <a:pathLst>
                    <a:path w="4554" h="4320">
                      <a:moveTo>
                        <a:pt x="3892" y="662"/>
                      </a:moveTo>
                      <a:lnTo>
                        <a:pt x="3892" y="662"/>
                      </a:lnTo>
                      <a:lnTo>
                        <a:pt x="3852" y="625"/>
                      </a:lnTo>
                      <a:lnTo>
                        <a:pt x="3813" y="588"/>
                      </a:lnTo>
                      <a:lnTo>
                        <a:pt x="3772" y="552"/>
                      </a:lnTo>
                      <a:lnTo>
                        <a:pt x="3732" y="516"/>
                      </a:lnTo>
                      <a:lnTo>
                        <a:pt x="3689" y="482"/>
                      </a:lnTo>
                      <a:lnTo>
                        <a:pt x="3646" y="450"/>
                      </a:lnTo>
                      <a:lnTo>
                        <a:pt x="3602" y="418"/>
                      </a:lnTo>
                      <a:lnTo>
                        <a:pt x="3557" y="387"/>
                      </a:lnTo>
                      <a:lnTo>
                        <a:pt x="3512" y="356"/>
                      </a:lnTo>
                      <a:lnTo>
                        <a:pt x="3466" y="328"/>
                      </a:lnTo>
                      <a:lnTo>
                        <a:pt x="3419" y="300"/>
                      </a:lnTo>
                      <a:lnTo>
                        <a:pt x="3372" y="273"/>
                      </a:lnTo>
                      <a:lnTo>
                        <a:pt x="3324" y="248"/>
                      </a:lnTo>
                      <a:lnTo>
                        <a:pt x="3274" y="224"/>
                      </a:lnTo>
                      <a:lnTo>
                        <a:pt x="3225" y="200"/>
                      </a:lnTo>
                      <a:lnTo>
                        <a:pt x="3175" y="178"/>
                      </a:lnTo>
                      <a:lnTo>
                        <a:pt x="3123" y="157"/>
                      </a:lnTo>
                      <a:lnTo>
                        <a:pt x="3071" y="137"/>
                      </a:lnTo>
                      <a:lnTo>
                        <a:pt x="3020" y="118"/>
                      </a:lnTo>
                      <a:lnTo>
                        <a:pt x="2966" y="102"/>
                      </a:lnTo>
                      <a:lnTo>
                        <a:pt x="2914" y="86"/>
                      </a:lnTo>
                      <a:lnTo>
                        <a:pt x="2860" y="71"/>
                      </a:lnTo>
                      <a:lnTo>
                        <a:pt x="2805" y="58"/>
                      </a:lnTo>
                      <a:lnTo>
                        <a:pt x="2750" y="46"/>
                      </a:lnTo>
                      <a:lnTo>
                        <a:pt x="2695" y="35"/>
                      </a:lnTo>
                      <a:lnTo>
                        <a:pt x="2639" y="25"/>
                      </a:lnTo>
                      <a:lnTo>
                        <a:pt x="2583" y="18"/>
                      </a:lnTo>
                      <a:lnTo>
                        <a:pt x="2526" y="11"/>
                      </a:lnTo>
                      <a:lnTo>
                        <a:pt x="2469" y="7"/>
                      </a:lnTo>
                      <a:lnTo>
                        <a:pt x="2412" y="2"/>
                      </a:lnTo>
                      <a:lnTo>
                        <a:pt x="2354" y="0"/>
                      </a:lnTo>
                      <a:lnTo>
                        <a:pt x="2296" y="0"/>
                      </a:lnTo>
                      <a:lnTo>
                        <a:pt x="2258" y="0"/>
                      </a:lnTo>
                      <a:lnTo>
                        <a:pt x="2258" y="0"/>
                      </a:lnTo>
                      <a:lnTo>
                        <a:pt x="2200" y="0"/>
                      </a:lnTo>
                      <a:lnTo>
                        <a:pt x="2142" y="2"/>
                      </a:lnTo>
                      <a:lnTo>
                        <a:pt x="2085" y="7"/>
                      </a:lnTo>
                      <a:lnTo>
                        <a:pt x="2028" y="11"/>
                      </a:lnTo>
                      <a:lnTo>
                        <a:pt x="1971" y="18"/>
                      </a:lnTo>
                      <a:lnTo>
                        <a:pt x="1915" y="25"/>
                      </a:lnTo>
                      <a:lnTo>
                        <a:pt x="1859" y="35"/>
                      </a:lnTo>
                      <a:lnTo>
                        <a:pt x="1804" y="46"/>
                      </a:lnTo>
                      <a:lnTo>
                        <a:pt x="1749" y="58"/>
                      </a:lnTo>
                      <a:lnTo>
                        <a:pt x="1694" y="71"/>
                      </a:lnTo>
                      <a:lnTo>
                        <a:pt x="1640" y="86"/>
                      </a:lnTo>
                      <a:lnTo>
                        <a:pt x="1588" y="102"/>
                      </a:lnTo>
                      <a:lnTo>
                        <a:pt x="1535" y="118"/>
                      </a:lnTo>
                      <a:lnTo>
                        <a:pt x="1483" y="137"/>
                      </a:lnTo>
                      <a:lnTo>
                        <a:pt x="1431" y="157"/>
                      </a:lnTo>
                      <a:lnTo>
                        <a:pt x="1381" y="178"/>
                      </a:lnTo>
                      <a:lnTo>
                        <a:pt x="1330" y="200"/>
                      </a:lnTo>
                      <a:lnTo>
                        <a:pt x="1280" y="224"/>
                      </a:lnTo>
                      <a:lnTo>
                        <a:pt x="1231" y="248"/>
                      </a:lnTo>
                      <a:lnTo>
                        <a:pt x="1183" y="273"/>
                      </a:lnTo>
                      <a:lnTo>
                        <a:pt x="1135" y="300"/>
                      </a:lnTo>
                      <a:lnTo>
                        <a:pt x="1088" y="328"/>
                      </a:lnTo>
                      <a:lnTo>
                        <a:pt x="1042" y="356"/>
                      </a:lnTo>
                      <a:lnTo>
                        <a:pt x="997" y="387"/>
                      </a:lnTo>
                      <a:lnTo>
                        <a:pt x="952" y="418"/>
                      </a:lnTo>
                      <a:lnTo>
                        <a:pt x="908" y="450"/>
                      </a:lnTo>
                      <a:lnTo>
                        <a:pt x="865" y="482"/>
                      </a:lnTo>
                      <a:lnTo>
                        <a:pt x="822" y="516"/>
                      </a:lnTo>
                      <a:lnTo>
                        <a:pt x="782" y="552"/>
                      </a:lnTo>
                      <a:lnTo>
                        <a:pt x="741" y="588"/>
                      </a:lnTo>
                      <a:lnTo>
                        <a:pt x="702" y="625"/>
                      </a:lnTo>
                      <a:lnTo>
                        <a:pt x="663" y="662"/>
                      </a:lnTo>
                      <a:lnTo>
                        <a:pt x="663" y="662"/>
                      </a:lnTo>
                      <a:lnTo>
                        <a:pt x="625" y="701"/>
                      </a:lnTo>
                      <a:lnTo>
                        <a:pt x="588" y="740"/>
                      </a:lnTo>
                      <a:lnTo>
                        <a:pt x="553" y="781"/>
                      </a:lnTo>
                      <a:lnTo>
                        <a:pt x="518" y="822"/>
                      </a:lnTo>
                      <a:lnTo>
                        <a:pt x="484" y="864"/>
                      </a:lnTo>
                      <a:lnTo>
                        <a:pt x="451" y="908"/>
                      </a:lnTo>
                      <a:lnTo>
                        <a:pt x="418" y="952"/>
                      </a:lnTo>
                      <a:lnTo>
                        <a:pt x="387" y="996"/>
                      </a:lnTo>
                      <a:lnTo>
                        <a:pt x="357" y="1042"/>
                      </a:lnTo>
                      <a:lnTo>
                        <a:pt x="328" y="1088"/>
                      </a:lnTo>
                      <a:lnTo>
                        <a:pt x="300" y="1135"/>
                      </a:lnTo>
                      <a:lnTo>
                        <a:pt x="274" y="1182"/>
                      </a:lnTo>
                      <a:lnTo>
                        <a:pt x="248" y="1230"/>
                      </a:lnTo>
                      <a:lnTo>
                        <a:pt x="224" y="1280"/>
                      </a:lnTo>
                      <a:lnTo>
                        <a:pt x="201" y="1329"/>
                      </a:lnTo>
                      <a:lnTo>
                        <a:pt x="179" y="1379"/>
                      </a:lnTo>
                      <a:lnTo>
                        <a:pt x="158" y="1431"/>
                      </a:lnTo>
                      <a:lnTo>
                        <a:pt x="138" y="1482"/>
                      </a:lnTo>
                      <a:lnTo>
                        <a:pt x="120" y="1534"/>
                      </a:lnTo>
                      <a:lnTo>
                        <a:pt x="102" y="1587"/>
                      </a:lnTo>
                      <a:lnTo>
                        <a:pt x="87" y="1640"/>
                      </a:lnTo>
                      <a:lnTo>
                        <a:pt x="71" y="1694"/>
                      </a:lnTo>
                      <a:lnTo>
                        <a:pt x="58" y="1748"/>
                      </a:lnTo>
                      <a:lnTo>
                        <a:pt x="46" y="1803"/>
                      </a:lnTo>
                      <a:lnTo>
                        <a:pt x="35" y="1858"/>
                      </a:lnTo>
                      <a:lnTo>
                        <a:pt x="26" y="1914"/>
                      </a:lnTo>
                      <a:lnTo>
                        <a:pt x="19" y="1970"/>
                      </a:lnTo>
                      <a:lnTo>
                        <a:pt x="12" y="2026"/>
                      </a:lnTo>
                      <a:lnTo>
                        <a:pt x="7" y="2083"/>
                      </a:lnTo>
                      <a:lnTo>
                        <a:pt x="3" y="2141"/>
                      </a:lnTo>
                      <a:lnTo>
                        <a:pt x="1" y="2198"/>
                      </a:lnTo>
                      <a:lnTo>
                        <a:pt x="0" y="2256"/>
                      </a:lnTo>
                      <a:lnTo>
                        <a:pt x="0" y="4009"/>
                      </a:lnTo>
                      <a:lnTo>
                        <a:pt x="779" y="4009"/>
                      </a:lnTo>
                      <a:lnTo>
                        <a:pt x="779" y="2256"/>
                      </a:lnTo>
                      <a:lnTo>
                        <a:pt x="779" y="2256"/>
                      </a:lnTo>
                      <a:lnTo>
                        <a:pt x="779" y="2219"/>
                      </a:lnTo>
                      <a:lnTo>
                        <a:pt x="781" y="2181"/>
                      </a:lnTo>
                      <a:lnTo>
                        <a:pt x="783" y="2144"/>
                      </a:lnTo>
                      <a:lnTo>
                        <a:pt x="786" y="2106"/>
                      </a:lnTo>
                      <a:lnTo>
                        <a:pt x="791" y="2069"/>
                      </a:lnTo>
                      <a:lnTo>
                        <a:pt x="796" y="2033"/>
                      </a:lnTo>
                      <a:lnTo>
                        <a:pt x="802" y="1997"/>
                      </a:lnTo>
                      <a:lnTo>
                        <a:pt x="808" y="1960"/>
                      </a:lnTo>
                      <a:lnTo>
                        <a:pt x="817" y="1924"/>
                      </a:lnTo>
                      <a:lnTo>
                        <a:pt x="826" y="1889"/>
                      </a:lnTo>
                      <a:lnTo>
                        <a:pt x="834" y="1854"/>
                      </a:lnTo>
                      <a:lnTo>
                        <a:pt x="845" y="1819"/>
                      </a:lnTo>
                      <a:lnTo>
                        <a:pt x="856" y="1785"/>
                      </a:lnTo>
                      <a:lnTo>
                        <a:pt x="868" y="1751"/>
                      </a:lnTo>
                      <a:lnTo>
                        <a:pt x="882" y="1717"/>
                      </a:lnTo>
                      <a:lnTo>
                        <a:pt x="895" y="1683"/>
                      </a:lnTo>
                      <a:lnTo>
                        <a:pt x="909" y="1650"/>
                      </a:lnTo>
                      <a:lnTo>
                        <a:pt x="924" y="1618"/>
                      </a:lnTo>
                      <a:lnTo>
                        <a:pt x="941" y="1587"/>
                      </a:lnTo>
                      <a:lnTo>
                        <a:pt x="957" y="1555"/>
                      </a:lnTo>
                      <a:lnTo>
                        <a:pt x="975" y="1523"/>
                      </a:lnTo>
                      <a:lnTo>
                        <a:pt x="993" y="1492"/>
                      </a:lnTo>
                      <a:lnTo>
                        <a:pt x="1012" y="1463"/>
                      </a:lnTo>
                      <a:lnTo>
                        <a:pt x="1032" y="1432"/>
                      </a:lnTo>
                      <a:lnTo>
                        <a:pt x="1053" y="1403"/>
                      </a:lnTo>
                      <a:lnTo>
                        <a:pt x="1074" y="1374"/>
                      </a:lnTo>
                      <a:lnTo>
                        <a:pt x="1095" y="1346"/>
                      </a:lnTo>
                      <a:lnTo>
                        <a:pt x="1117" y="1318"/>
                      </a:lnTo>
                      <a:lnTo>
                        <a:pt x="1140" y="1292"/>
                      </a:lnTo>
                      <a:lnTo>
                        <a:pt x="1165" y="1264"/>
                      </a:lnTo>
                      <a:lnTo>
                        <a:pt x="1189" y="1238"/>
                      </a:lnTo>
                      <a:lnTo>
                        <a:pt x="1214" y="1213"/>
                      </a:lnTo>
                      <a:lnTo>
                        <a:pt x="1214" y="1213"/>
                      </a:lnTo>
                      <a:lnTo>
                        <a:pt x="1239" y="1187"/>
                      </a:lnTo>
                      <a:lnTo>
                        <a:pt x="1265" y="1163"/>
                      </a:lnTo>
                      <a:lnTo>
                        <a:pt x="1292" y="1139"/>
                      </a:lnTo>
                      <a:lnTo>
                        <a:pt x="1319" y="1116"/>
                      </a:lnTo>
                      <a:lnTo>
                        <a:pt x="1347" y="1094"/>
                      </a:lnTo>
                      <a:lnTo>
                        <a:pt x="1375" y="1072"/>
                      </a:lnTo>
                      <a:lnTo>
                        <a:pt x="1404" y="1051"/>
                      </a:lnTo>
                      <a:lnTo>
                        <a:pt x="1433" y="1031"/>
                      </a:lnTo>
                      <a:lnTo>
                        <a:pt x="1463" y="1011"/>
                      </a:lnTo>
                      <a:lnTo>
                        <a:pt x="1494" y="992"/>
                      </a:lnTo>
                      <a:lnTo>
                        <a:pt x="1524" y="975"/>
                      </a:lnTo>
                      <a:lnTo>
                        <a:pt x="1555" y="957"/>
                      </a:lnTo>
                      <a:lnTo>
                        <a:pt x="1587" y="940"/>
                      </a:lnTo>
                      <a:lnTo>
                        <a:pt x="1619" y="924"/>
                      </a:lnTo>
                      <a:lnTo>
                        <a:pt x="1651" y="909"/>
                      </a:lnTo>
                      <a:lnTo>
                        <a:pt x="1684" y="895"/>
                      </a:lnTo>
                      <a:lnTo>
                        <a:pt x="1717" y="880"/>
                      </a:lnTo>
                      <a:lnTo>
                        <a:pt x="1751" y="867"/>
                      </a:lnTo>
                      <a:lnTo>
                        <a:pt x="1785" y="855"/>
                      </a:lnTo>
                      <a:lnTo>
                        <a:pt x="1820" y="844"/>
                      </a:lnTo>
                      <a:lnTo>
                        <a:pt x="1854" y="834"/>
                      </a:lnTo>
                      <a:lnTo>
                        <a:pt x="1889" y="825"/>
                      </a:lnTo>
                      <a:lnTo>
                        <a:pt x="1926" y="816"/>
                      </a:lnTo>
                      <a:lnTo>
                        <a:pt x="1961" y="808"/>
                      </a:lnTo>
                      <a:lnTo>
                        <a:pt x="1997" y="802"/>
                      </a:lnTo>
                      <a:lnTo>
                        <a:pt x="2033" y="795"/>
                      </a:lnTo>
                      <a:lnTo>
                        <a:pt x="2070" y="789"/>
                      </a:lnTo>
                      <a:lnTo>
                        <a:pt x="2108" y="785"/>
                      </a:lnTo>
                      <a:lnTo>
                        <a:pt x="2145" y="782"/>
                      </a:lnTo>
                      <a:lnTo>
                        <a:pt x="2182" y="780"/>
                      </a:lnTo>
                      <a:lnTo>
                        <a:pt x="2219" y="778"/>
                      </a:lnTo>
                      <a:lnTo>
                        <a:pt x="2258" y="777"/>
                      </a:lnTo>
                      <a:lnTo>
                        <a:pt x="2296" y="777"/>
                      </a:lnTo>
                      <a:lnTo>
                        <a:pt x="2296" y="777"/>
                      </a:lnTo>
                      <a:lnTo>
                        <a:pt x="2335" y="778"/>
                      </a:lnTo>
                      <a:lnTo>
                        <a:pt x="2372" y="780"/>
                      </a:lnTo>
                      <a:lnTo>
                        <a:pt x="2410" y="782"/>
                      </a:lnTo>
                      <a:lnTo>
                        <a:pt x="2448" y="785"/>
                      </a:lnTo>
                      <a:lnTo>
                        <a:pt x="2484" y="789"/>
                      </a:lnTo>
                      <a:lnTo>
                        <a:pt x="2521" y="795"/>
                      </a:lnTo>
                      <a:lnTo>
                        <a:pt x="2557" y="802"/>
                      </a:lnTo>
                      <a:lnTo>
                        <a:pt x="2593" y="808"/>
                      </a:lnTo>
                      <a:lnTo>
                        <a:pt x="2630" y="816"/>
                      </a:lnTo>
                      <a:lnTo>
                        <a:pt x="2665" y="825"/>
                      </a:lnTo>
                      <a:lnTo>
                        <a:pt x="2700" y="834"/>
                      </a:lnTo>
                      <a:lnTo>
                        <a:pt x="2735" y="844"/>
                      </a:lnTo>
                      <a:lnTo>
                        <a:pt x="2769" y="855"/>
                      </a:lnTo>
                      <a:lnTo>
                        <a:pt x="2803" y="867"/>
                      </a:lnTo>
                      <a:lnTo>
                        <a:pt x="2837" y="880"/>
                      </a:lnTo>
                      <a:lnTo>
                        <a:pt x="2870" y="895"/>
                      </a:lnTo>
                      <a:lnTo>
                        <a:pt x="2903" y="909"/>
                      </a:lnTo>
                      <a:lnTo>
                        <a:pt x="2935" y="924"/>
                      </a:lnTo>
                      <a:lnTo>
                        <a:pt x="2967" y="940"/>
                      </a:lnTo>
                      <a:lnTo>
                        <a:pt x="2999" y="957"/>
                      </a:lnTo>
                      <a:lnTo>
                        <a:pt x="3030" y="975"/>
                      </a:lnTo>
                      <a:lnTo>
                        <a:pt x="3060" y="992"/>
                      </a:lnTo>
                      <a:lnTo>
                        <a:pt x="3091" y="1011"/>
                      </a:lnTo>
                      <a:lnTo>
                        <a:pt x="3121" y="1031"/>
                      </a:lnTo>
                      <a:lnTo>
                        <a:pt x="3150" y="1051"/>
                      </a:lnTo>
                      <a:lnTo>
                        <a:pt x="3179" y="1072"/>
                      </a:lnTo>
                      <a:lnTo>
                        <a:pt x="3207" y="1094"/>
                      </a:lnTo>
                      <a:lnTo>
                        <a:pt x="3235" y="1116"/>
                      </a:lnTo>
                      <a:lnTo>
                        <a:pt x="3262" y="1139"/>
                      </a:lnTo>
                      <a:lnTo>
                        <a:pt x="3290" y="1163"/>
                      </a:lnTo>
                      <a:lnTo>
                        <a:pt x="3315" y="1187"/>
                      </a:lnTo>
                      <a:lnTo>
                        <a:pt x="3341" y="1213"/>
                      </a:lnTo>
                      <a:lnTo>
                        <a:pt x="3341" y="1213"/>
                      </a:lnTo>
                      <a:lnTo>
                        <a:pt x="3365" y="1238"/>
                      </a:lnTo>
                      <a:lnTo>
                        <a:pt x="3391" y="1264"/>
                      </a:lnTo>
                      <a:lnTo>
                        <a:pt x="3414" y="1292"/>
                      </a:lnTo>
                      <a:lnTo>
                        <a:pt x="3437" y="1318"/>
                      </a:lnTo>
                      <a:lnTo>
                        <a:pt x="3460" y="1346"/>
                      </a:lnTo>
                      <a:lnTo>
                        <a:pt x="3480" y="1374"/>
                      </a:lnTo>
                      <a:lnTo>
                        <a:pt x="3502" y="1403"/>
                      </a:lnTo>
                      <a:lnTo>
                        <a:pt x="3522" y="1432"/>
                      </a:lnTo>
                      <a:lnTo>
                        <a:pt x="3542" y="1463"/>
                      </a:lnTo>
                      <a:lnTo>
                        <a:pt x="3561" y="1492"/>
                      </a:lnTo>
                      <a:lnTo>
                        <a:pt x="3579" y="1523"/>
                      </a:lnTo>
                      <a:lnTo>
                        <a:pt x="3597" y="1555"/>
                      </a:lnTo>
                      <a:lnTo>
                        <a:pt x="3613" y="1587"/>
                      </a:lnTo>
                      <a:lnTo>
                        <a:pt x="3630" y="1618"/>
                      </a:lnTo>
                      <a:lnTo>
                        <a:pt x="3645" y="1650"/>
                      </a:lnTo>
                      <a:lnTo>
                        <a:pt x="3659" y="1683"/>
                      </a:lnTo>
                      <a:lnTo>
                        <a:pt x="3672" y="1717"/>
                      </a:lnTo>
                      <a:lnTo>
                        <a:pt x="3686" y="1751"/>
                      </a:lnTo>
                      <a:lnTo>
                        <a:pt x="3698" y="1785"/>
                      </a:lnTo>
                      <a:lnTo>
                        <a:pt x="3709" y="1819"/>
                      </a:lnTo>
                      <a:lnTo>
                        <a:pt x="3720" y="1854"/>
                      </a:lnTo>
                      <a:lnTo>
                        <a:pt x="3729" y="1889"/>
                      </a:lnTo>
                      <a:lnTo>
                        <a:pt x="3738" y="1924"/>
                      </a:lnTo>
                      <a:lnTo>
                        <a:pt x="3746" y="1960"/>
                      </a:lnTo>
                      <a:lnTo>
                        <a:pt x="3752" y="1997"/>
                      </a:lnTo>
                      <a:lnTo>
                        <a:pt x="3759" y="2033"/>
                      </a:lnTo>
                      <a:lnTo>
                        <a:pt x="3763" y="2069"/>
                      </a:lnTo>
                      <a:lnTo>
                        <a:pt x="3768" y="2106"/>
                      </a:lnTo>
                      <a:lnTo>
                        <a:pt x="3771" y="2144"/>
                      </a:lnTo>
                      <a:lnTo>
                        <a:pt x="3773" y="2181"/>
                      </a:lnTo>
                      <a:lnTo>
                        <a:pt x="3775" y="2219"/>
                      </a:lnTo>
                      <a:lnTo>
                        <a:pt x="3775" y="2256"/>
                      </a:lnTo>
                      <a:lnTo>
                        <a:pt x="3775" y="3811"/>
                      </a:lnTo>
                      <a:lnTo>
                        <a:pt x="3784" y="3839"/>
                      </a:lnTo>
                      <a:lnTo>
                        <a:pt x="3994" y="3929"/>
                      </a:lnTo>
                      <a:lnTo>
                        <a:pt x="3994" y="3929"/>
                      </a:lnTo>
                      <a:lnTo>
                        <a:pt x="3997" y="3934"/>
                      </a:lnTo>
                      <a:lnTo>
                        <a:pt x="4004" y="3950"/>
                      </a:lnTo>
                      <a:lnTo>
                        <a:pt x="4008" y="3963"/>
                      </a:lnTo>
                      <a:lnTo>
                        <a:pt x="4010" y="3976"/>
                      </a:lnTo>
                      <a:lnTo>
                        <a:pt x="4012" y="3990"/>
                      </a:lnTo>
                      <a:lnTo>
                        <a:pt x="4013" y="4006"/>
                      </a:lnTo>
                      <a:lnTo>
                        <a:pt x="4013" y="4006"/>
                      </a:lnTo>
                      <a:lnTo>
                        <a:pt x="4013" y="4010"/>
                      </a:lnTo>
                      <a:lnTo>
                        <a:pt x="4011" y="4013"/>
                      </a:lnTo>
                      <a:lnTo>
                        <a:pt x="4009" y="4016"/>
                      </a:lnTo>
                      <a:lnTo>
                        <a:pt x="4006" y="4020"/>
                      </a:lnTo>
                      <a:lnTo>
                        <a:pt x="3997" y="4025"/>
                      </a:lnTo>
                      <a:lnTo>
                        <a:pt x="3985" y="4032"/>
                      </a:lnTo>
                      <a:lnTo>
                        <a:pt x="3970" y="4037"/>
                      </a:lnTo>
                      <a:lnTo>
                        <a:pt x="3953" y="4043"/>
                      </a:lnTo>
                      <a:lnTo>
                        <a:pt x="3916" y="4052"/>
                      </a:lnTo>
                      <a:lnTo>
                        <a:pt x="3876" y="4061"/>
                      </a:lnTo>
                      <a:lnTo>
                        <a:pt x="3837" y="4068"/>
                      </a:lnTo>
                      <a:lnTo>
                        <a:pt x="3775" y="4078"/>
                      </a:lnTo>
                      <a:lnTo>
                        <a:pt x="3775" y="4164"/>
                      </a:lnTo>
                      <a:lnTo>
                        <a:pt x="3775" y="4164"/>
                      </a:lnTo>
                      <a:lnTo>
                        <a:pt x="3777" y="4180"/>
                      </a:lnTo>
                      <a:lnTo>
                        <a:pt x="3779" y="4195"/>
                      </a:lnTo>
                      <a:lnTo>
                        <a:pt x="3783" y="4210"/>
                      </a:lnTo>
                      <a:lnTo>
                        <a:pt x="3788" y="4225"/>
                      </a:lnTo>
                      <a:lnTo>
                        <a:pt x="3794" y="4238"/>
                      </a:lnTo>
                      <a:lnTo>
                        <a:pt x="3802" y="4251"/>
                      </a:lnTo>
                      <a:lnTo>
                        <a:pt x="3811" y="4263"/>
                      </a:lnTo>
                      <a:lnTo>
                        <a:pt x="3820" y="4274"/>
                      </a:lnTo>
                      <a:lnTo>
                        <a:pt x="3831" y="4284"/>
                      </a:lnTo>
                      <a:lnTo>
                        <a:pt x="3843" y="4293"/>
                      </a:lnTo>
                      <a:lnTo>
                        <a:pt x="3855" y="4301"/>
                      </a:lnTo>
                      <a:lnTo>
                        <a:pt x="3870" y="4308"/>
                      </a:lnTo>
                      <a:lnTo>
                        <a:pt x="3883" y="4312"/>
                      </a:lnTo>
                      <a:lnTo>
                        <a:pt x="3898" y="4317"/>
                      </a:lnTo>
                      <a:lnTo>
                        <a:pt x="3914" y="4319"/>
                      </a:lnTo>
                      <a:lnTo>
                        <a:pt x="3929" y="4320"/>
                      </a:lnTo>
                      <a:lnTo>
                        <a:pt x="4402" y="4320"/>
                      </a:lnTo>
                      <a:lnTo>
                        <a:pt x="4402" y="4320"/>
                      </a:lnTo>
                      <a:lnTo>
                        <a:pt x="4417" y="4319"/>
                      </a:lnTo>
                      <a:lnTo>
                        <a:pt x="4432" y="4317"/>
                      </a:lnTo>
                      <a:lnTo>
                        <a:pt x="4447" y="4312"/>
                      </a:lnTo>
                      <a:lnTo>
                        <a:pt x="4461" y="4308"/>
                      </a:lnTo>
                      <a:lnTo>
                        <a:pt x="4474" y="4301"/>
                      </a:lnTo>
                      <a:lnTo>
                        <a:pt x="4487" y="4293"/>
                      </a:lnTo>
                      <a:lnTo>
                        <a:pt x="4499" y="4284"/>
                      </a:lnTo>
                      <a:lnTo>
                        <a:pt x="4510" y="4274"/>
                      </a:lnTo>
                      <a:lnTo>
                        <a:pt x="4520" y="4263"/>
                      </a:lnTo>
                      <a:lnTo>
                        <a:pt x="4529" y="4251"/>
                      </a:lnTo>
                      <a:lnTo>
                        <a:pt x="4535" y="4238"/>
                      </a:lnTo>
                      <a:lnTo>
                        <a:pt x="4542" y="4225"/>
                      </a:lnTo>
                      <a:lnTo>
                        <a:pt x="4547" y="4210"/>
                      </a:lnTo>
                      <a:lnTo>
                        <a:pt x="4551" y="4195"/>
                      </a:lnTo>
                      <a:lnTo>
                        <a:pt x="4553" y="4180"/>
                      </a:lnTo>
                      <a:lnTo>
                        <a:pt x="4554" y="4164"/>
                      </a:lnTo>
                      <a:lnTo>
                        <a:pt x="4554" y="2256"/>
                      </a:lnTo>
                      <a:lnTo>
                        <a:pt x="4554" y="2256"/>
                      </a:lnTo>
                      <a:lnTo>
                        <a:pt x="4553" y="2198"/>
                      </a:lnTo>
                      <a:lnTo>
                        <a:pt x="4551" y="2141"/>
                      </a:lnTo>
                      <a:lnTo>
                        <a:pt x="4547" y="2083"/>
                      </a:lnTo>
                      <a:lnTo>
                        <a:pt x="4542" y="2026"/>
                      </a:lnTo>
                      <a:lnTo>
                        <a:pt x="4536" y="1970"/>
                      </a:lnTo>
                      <a:lnTo>
                        <a:pt x="4528" y="1914"/>
                      </a:lnTo>
                      <a:lnTo>
                        <a:pt x="4519" y="1858"/>
                      </a:lnTo>
                      <a:lnTo>
                        <a:pt x="4508" y="1803"/>
                      </a:lnTo>
                      <a:lnTo>
                        <a:pt x="4496" y="1748"/>
                      </a:lnTo>
                      <a:lnTo>
                        <a:pt x="4483" y="1694"/>
                      </a:lnTo>
                      <a:lnTo>
                        <a:pt x="4468" y="1640"/>
                      </a:lnTo>
                      <a:lnTo>
                        <a:pt x="4452" y="1587"/>
                      </a:lnTo>
                      <a:lnTo>
                        <a:pt x="4434" y="1534"/>
                      </a:lnTo>
                      <a:lnTo>
                        <a:pt x="4417" y="1482"/>
                      </a:lnTo>
                      <a:lnTo>
                        <a:pt x="4397" y="1431"/>
                      </a:lnTo>
                      <a:lnTo>
                        <a:pt x="4375" y="1379"/>
                      </a:lnTo>
                      <a:lnTo>
                        <a:pt x="4353" y="1329"/>
                      </a:lnTo>
                      <a:lnTo>
                        <a:pt x="4330" y="1280"/>
                      </a:lnTo>
                      <a:lnTo>
                        <a:pt x="4306" y="1230"/>
                      </a:lnTo>
                      <a:lnTo>
                        <a:pt x="4280" y="1182"/>
                      </a:lnTo>
                      <a:lnTo>
                        <a:pt x="4254" y="1135"/>
                      </a:lnTo>
                      <a:lnTo>
                        <a:pt x="4226" y="1088"/>
                      </a:lnTo>
                      <a:lnTo>
                        <a:pt x="4197" y="1042"/>
                      </a:lnTo>
                      <a:lnTo>
                        <a:pt x="4167" y="996"/>
                      </a:lnTo>
                      <a:lnTo>
                        <a:pt x="4136" y="952"/>
                      </a:lnTo>
                      <a:lnTo>
                        <a:pt x="4104" y="908"/>
                      </a:lnTo>
                      <a:lnTo>
                        <a:pt x="4072" y="864"/>
                      </a:lnTo>
                      <a:lnTo>
                        <a:pt x="4038" y="822"/>
                      </a:lnTo>
                      <a:lnTo>
                        <a:pt x="4002" y="781"/>
                      </a:lnTo>
                      <a:lnTo>
                        <a:pt x="3966" y="740"/>
                      </a:lnTo>
                      <a:lnTo>
                        <a:pt x="3929" y="701"/>
                      </a:lnTo>
                      <a:lnTo>
                        <a:pt x="3892" y="662"/>
                      </a:lnTo>
                      <a:lnTo>
                        <a:pt x="3892" y="662"/>
                      </a:lnTo>
                      <a:close/>
                    </a:path>
                  </a:pathLst>
                </a:custGeom>
                <a:gradFill flip="none" rotWithShape="1">
                  <a:gsLst>
                    <a:gs pos="62000">
                      <a:schemeClr val="tx1">
                        <a:lumMod val="75000"/>
                        <a:lumOff val="25000"/>
                      </a:schemeClr>
                    </a:gs>
                    <a:gs pos="85000">
                      <a:schemeClr val="bg1"/>
                    </a:gs>
                    <a:gs pos="100000">
                      <a:schemeClr val="bg1">
                        <a:lumMod val="75000"/>
                      </a:schemeClr>
                    </a:gs>
                  </a:gsLst>
                  <a:path path="shape">
                    <a:fillToRect l="50000" t="50000" r="50000" b="50000"/>
                  </a:path>
                  <a:tileRect/>
                </a:gradFill>
                <a:ln w="9525">
                  <a:noFill/>
                  <a:round/>
                  <a:headEnd/>
                  <a:tailEnd/>
                </a:ln>
                <a:effectLst/>
                <a:scene3d>
                  <a:camera prst="orthographicFront">
                    <a:rot lat="0" lon="0" rev="0"/>
                  </a:camera>
                  <a:lightRig rig="balanced" dir="t">
                    <a:rot lat="0" lon="0" rev="8700000"/>
                  </a:lightRig>
                </a:scene3d>
                <a:sp3d/>
              </p:spPr>
              <p:txBody>
                <a:bodyPr vert="horz" wrap="square" lIns="91440" tIns="45720" rIns="91440" bIns="45720" numCol="1" anchor="t" anchorCtr="0" compatLnSpc="1">
                  <a:prstTxWarp prst="textNoShape">
                    <a:avLst/>
                  </a:prstTxWarp>
                </a:bodyPr>
                <a:lstStyle/>
                <a:p>
                  <a:pPr>
                    <a:lnSpc>
                      <a:spcPct val="85000"/>
                    </a:lnSpc>
                  </a:pPr>
                  <a:endParaRPr lang="en-US" sz="1350"/>
                </a:p>
              </p:txBody>
            </p:sp>
            <p:sp>
              <p:nvSpPr>
                <p:cNvPr id="30" name="Freeform 5">
                  <a:extLst>
                    <a:ext uri="{FF2B5EF4-FFF2-40B4-BE49-F238E27FC236}">
                      <a16:creationId xmlns:a16="http://schemas.microsoft.com/office/drawing/2014/main" id="{56254FBF-22ED-B945-8345-1BA65E9D4E6C}"/>
                    </a:ext>
                  </a:extLst>
                </p:cNvPr>
                <p:cNvSpPr>
                  <a:spLocks/>
                </p:cNvSpPr>
                <p:nvPr/>
              </p:nvSpPr>
              <p:spPr bwMode="auto">
                <a:xfrm>
                  <a:off x="2590800" y="3048000"/>
                  <a:ext cx="4067175" cy="3429000"/>
                </a:xfrm>
                <a:custGeom>
                  <a:avLst/>
                  <a:gdLst/>
                  <a:ahLst/>
                  <a:cxnLst>
                    <a:cxn ang="0">
                      <a:pos x="5124" y="4274"/>
                    </a:cxn>
                    <a:cxn ang="0">
                      <a:pos x="5124" y="4274"/>
                    </a:cxn>
                    <a:cxn ang="0">
                      <a:pos x="5123" y="4283"/>
                    </a:cxn>
                    <a:cxn ang="0">
                      <a:pos x="5120" y="4292"/>
                    </a:cxn>
                    <a:cxn ang="0">
                      <a:pos x="5117" y="4299"/>
                    </a:cxn>
                    <a:cxn ang="0">
                      <a:pos x="5111" y="4307"/>
                    </a:cxn>
                    <a:cxn ang="0">
                      <a:pos x="5103" y="4313"/>
                    </a:cxn>
                    <a:cxn ang="0">
                      <a:pos x="5096" y="4316"/>
                    </a:cxn>
                    <a:cxn ang="0">
                      <a:pos x="5087" y="4319"/>
                    </a:cxn>
                    <a:cxn ang="0">
                      <a:pos x="5078" y="4320"/>
                    </a:cxn>
                    <a:cxn ang="0">
                      <a:pos x="46" y="4320"/>
                    </a:cxn>
                    <a:cxn ang="0">
                      <a:pos x="46" y="4320"/>
                    </a:cxn>
                    <a:cxn ang="0">
                      <a:pos x="37" y="4319"/>
                    </a:cxn>
                    <a:cxn ang="0">
                      <a:pos x="28" y="4316"/>
                    </a:cxn>
                    <a:cxn ang="0">
                      <a:pos x="21" y="4313"/>
                    </a:cxn>
                    <a:cxn ang="0">
                      <a:pos x="13" y="4307"/>
                    </a:cxn>
                    <a:cxn ang="0">
                      <a:pos x="7" y="4299"/>
                    </a:cxn>
                    <a:cxn ang="0">
                      <a:pos x="4" y="4292"/>
                    </a:cxn>
                    <a:cxn ang="0">
                      <a:pos x="1" y="4283"/>
                    </a:cxn>
                    <a:cxn ang="0">
                      <a:pos x="0" y="4274"/>
                    </a:cxn>
                    <a:cxn ang="0">
                      <a:pos x="0" y="46"/>
                    </a:cxn>
                    <a:cxn ang="0">
                      <a:pos x="0" y="46"/>
                    </a:cxn>
                    <a:cxn ang="0">
                      <a:pos x="1" y="37"/>
                    </a:cxn>
                    <a:cxn ang="0">
                      <a:pos x="4" y="28"/>
                    </a:cxn>
                    <a:cxn ang="0">
                      <a:pos x="7" y="21"/>
                    </a:cxn>
                    <a:cxn ang="0">
                      <a:pos x="13" y="13"/>
                    </a:cxn>
                    <a:cxn ang="0">
                      <a:pos x="21" y="7"/>
                    </a:cxn>
                    <a:cxn ang="0">
                      <a:pos x="28" y="3"/>
                    </a:cxn>
                    <a:cxn ang="0">
                      <a:pos x="37" y="1"/>
                    </a:cxn>
                    <a:cxn ang="0">
                      <a:pos x="46" y="0"/>
                    </a:cxn>
                    <a:cxn ang="0">
                      <a:pos x="5078" y="0"/>
                    </a:cxn>
                    <a:cxn ang="0">
                      <a:pos x="5078" y="0"/>
                    </a:cxn>
                    <a:cxn ang="0">
                      <a:pos x="5087" y="1"/>
                    </a:cxn>
                    <a:cxn ang="0">
                      <a:pos x="5096" y="3"/>
                    </a:cxn>
                    <a:cxn ang="0">
                      <a:pos x="5103" y="7"/>
                    </a:cxn>
                    <a:cxn ang="0">
                      <a:pos x="5111" y="13"/>
                    </a:cxn>
                    <a:cxn ang="0">
                      <a:pos x="5117" y="21"/>
                    </a:cxn>
                    <a:cxn ang="0">
                      <a:pos x="5120" y="28"/>
                    </a:cxn>
                    <a:cxn ang="0">
                      <a:pos x="5123" y="37"/>
                    </a:cxn>
                    <a:cxn ang="0">
                      <a:pos x="5124" y="46"/>
                    </a:cxn>
                    <a:cxn ang="0">
                      <a:pos x="5124" y="4274"/>
                    </a:cxn>
                  </a:cxnLst>
                  <a:rect l="0" t="0" r="r" b="b"/>
                  <a:pathLst>
                    <a:path w="5124" h="4320">
                      <a:moveTo>
                        <a:pt x="5124" y="4274"/>
                      </a:moveTo>
                      <a:lnTo>
                        <a:pt x="5124" y="4274"/>
                      </a:lnTo>
                      <a:lnTo>
                        <a:pt x="5123" y="4283"/>
                      </a:lnTo>
                      <a:lnTo>
                        <a:pt x="5120" y="4292"/>
                      </a:lnTo>
                      <a:lnTo>
                        <a:pt x="5117" y="4299"/>
                      </a:lnTo>
                      <a:lnTo>
                        <a:pt x="5111" y="4307"/>
                      </a:lnTo>
                      <a:lnTo>
                        <a:pt x="5103" y="4313"/>
                      </a:lnTo>
                      <a:lnTo>
                        <a:pt x="5096" y="4316"/>
                      </a:lnTo>
                      <a:lnTo>
                        <a:pt x="5087" y="4319"/>
                      </a:lnTo>
                      <a:lnTo>
                        <a:pt x="5078" y="4320"/>
                      </a:lnTo>
                      <a:lnTo>
                        <a:pt x="46" y="4320"/>
                      </a:lnTo>
                      <a:lnTo>
                        <a:pt x="46" y="4320"/>
                      </a:lnTo>
                      <a:lnTo>
                        <a:pt x="37" y="4319"/>
                      </a:lnTo>
                      <a:lnTo>
                        <a:pt x="28" y="4316"/>
                      </a:lnTo>
                      <a:lnTo>
                        <a:pt x="21" y="4313"/>
                      </a:lnTo>
                      <a:lnTo>
                        <a:pt x="13" y="4307"/>
                      </a:lnTo>
                      <a:lnTo>
                        <a:pt x="7" y="4299"/>
                      </a:lnTo>
                      <a:lnTo>
                        <a:pt x="4" y="4292"/>
                      </a:lnTo>
                      <a:lnTo>
                        <a:pt x="1" y="4283"/>
                      </a:lnTo>
                      <a:lnTo>
                        <a:pt x="0" y="4274"/>
                      </a:lnTo>
                      <a:lnTo>
                        <a:pt x="0" y="46"/>
                      </a:lnTo>
                      <a:lnTo>
                        <a:pt x="0" y="46"/>
                      </a:lnTo>
                      <a:lnTo>
                        <a:pt x="1" y="37"/>
                      </a:lnTo>
                      <a:lnTo>
                        <a:pt x="4" y="28"/>
                      </a:lnTo>
                      <a:lnTo>
                        <a:pt x="7" y="21"/>
                      </a:lnTo>
                      <a:lnTo>
                        <a:pt x="13" y="13"/>
                      </a:lnTo>
                      <a:lnTo>
                        <a:pt x="21" y="7"/>
                      </a:lnTo>
                      <a:lnTo>
                        <a:pt x="28" y="3"/>
                      </a:lnTo>
                      <a:lnTo>
                        <a:pt x="37" y="1"/>
                      </a:lnTo>
                      <a:lnTo>
                        <a:pt x="46" y="0"/>
                      </a:lnTo>
                      <a:lnTo>
                        <a:pt x="5078" y="0"/>
                      </a:lnTo>
                      <a:lnTo>
                        <a:pt x="5078" y="0"/>
                      </a:lnTo>
                      <a:lnTo>
                        <a:pt x="5087" y="1"/>
                      </a:lnTo>
                      <a:lnTo>
                        <a:pt x="5096" y="3"/>
                      </a:lnTo>
                      <a:lnTo>
                        <a:pt x="5103" y="7"/>
                      </a:lnTo>
                      <a:lnTo>
                        <a:pt x="5111" y="13"/>
                      </a:lnTo>
                      <a:lnTo>
                        <a:pt x="5117" y="21"/>
                      </a:lnTo>
                      <a:lnTo>
                        <a:pt x="5120" y="28"/>
                      </a:lnTo>
                      <a:lnTo>
                        <a:pt x="5123" y="37"/>
                      </a:lnTo>
                      <a:lnTo>
                        <a:pt x="5124" y="46"/>
                      </a:lnTo>
                      <a:lnTo>
                        <a:pt x="5124" y="4274"/>
                      </a:lnTo>
                      <a:close/>
                    </a:path>
                  </a:pathLst>
                </a:custGeom>
                <a:gradFill flip="none" rotWithShape="1">
                  <a:gsLst>
                    <a:gs pos="0">
                      <a:schemeClr val="tx1">
                        <a:lumMod val="85000"/>
                        <a:lumOff val="15000"/>
                      </a:schemeClr>
                    </a:gs>
                    <a:gs pos="32000">
                      <a:schemeClr val="bg1">
                        <a:lumMod val="65000"/>
                      </a:schemeClr>
                    </a:gs>
                    <a:gs pos="16000">
                      <a:schemeClr val="bg1">
                        <a:lumMod val="50000"/>
                      </a:schemeClr>
                    </a:gs>
                    <a:gs pos="87000">
                      <a:schemeClr val="tx1">
                        <a:lumMod val="75000"/>
                        <a:lumOff val="25000"/>
                      </a:schemeClr>
                    </a:gs>
                    <a:gs pos="100000">
                      <a:schemeClr val="bg1">
                        <a:lumMod val="50000"/>
                      </a:schemeClr>
                    </a:gs>
                  </a:gsLst>
                  <a:lin ang="0" scaled="1"/>
                  <a:tileRect/>
                </a:gradFill>
                <a:ln w="9525">
                  <a:noFill/>
                  <a:round/>
                  <a:headEnd/>
                  <a:tailEnd/>
                </a:ln>
                <a:effectLst/>
                <a:scene3d>
                  <a:camera prst="orthographicFront"/>
                  <a:lightRig rig="threePt" dir="t">
                    <a:rot lat="0" lon="0" rev="2220000"/>
                  </a:lightRig>
                </a:scene3d>
                <a:sp3d/>
              </p:spPr>
              <p:txBody>
                <a:bodyPr/>
                <a:lstStyle/>
                <a:p>
                  <a:endParaRPr lang="en-US" sz="1350">
                    <a:latin typeface="Times"/>
                  </a:endParaRPr>
                </a:p>
              </p:txBody>
            </p:sp>
          </p:grpSp>
          <p:grpSp>
            <p:nvGrpSpPr>
              <p:cNvPr id="23" name="Group 12">
                <a:extLst>
                  <a:ext uri="{FF2B5EF4-FFF2-40B4-BE49-F238E27FC236}">
                    <a16:creationId xmlns:a16="http://schemas.microsoft.com/office/drawing/2014/main" id="{50C27E71-3E10-FA48-908E-64A1E5BF46F3}"/>
                  </a:ext>
                </a:extLst>
              </p:cNvPr>
              <p:cNvGrpSpPr/>
              <p:nvPr/>
            </p:nvGrpSpPr>
            <p:grpSpPr>
              <a:xfrm>
                <a:off x="50800" y="1304305"/>
                <a:ext cx="4249645" cy="1608414"/>
                <a:chOff x="42695" y="1676400"/>
                <a:chExt cx="4227940" cy="1600200"/>
              </a:xfrm>
            </p:grpSpPr>
            <p:sp>
              <p:nvSpPr>
                <p:cNvPr id="27" name="Freeform 5">
                  <a:extLst>
                    <a:ext uri="{FF2B5EF4-FFF2-40B4-BE49-F238E27FC236}">
                      <a16:creationId xmlns:a16="http://schemas.microsoft.com/office/drawing/2014/main" id="{10631F7F-B62C-CF46-A279-989364E32027}"/>
                    </a:ext>
                  </a:extLst>
                </p:cNvPr>
                <p:cNvSpPr>
                  <a:spLocks/>
                </p:cNvSpPr>
                <p:nvPr/>
              </p:nvSpPr>
              <p:spPr bwMode="auto">
                <a:xfrm flipH="1">
                  <a:off x="1863769" y="1823360"/>
                  <a:ext cx="2406866" cy="1339657"/>
                </a:xfrm>
                <a:custGeom>
                  <a:avLst/>
                  <a:gdLst/>
                  <a:ahLst/>
                  <a:cxnLst>
                    <a:cxn ang="0">
                      <a:pos x="5460" y="738"/>
                    </a:cxn>
                    <a:cxn ang="0">
                      <a:pos x="5199" y="468"/>
                    </a:cxn>
                    <a:cxn ang="0">
                      <a:pos x="4881" y="256"/>
                    </a:cxn>
                    <a:cxn ang="0">
                      <a:pos x="4581" y="125"/>
                    </a:cxn>
                    <a:cxn ang="0">
                      <a:pos x="4186" y="27"/>
                    </a:cxn>
                    <a:cxn ang="0">
                      <a:pos x="1923" y="0"/>
                    </a:cxn>
                    <a:cxn ang="0">
                      <a:pos x="1688" y="12"/>
                    </a:cxn>
                    <a:cxn ang="0">
                      <a:pos x="1416" y="56"/>
                    </a:cxn>
                    <a:cxn ang="0">
                      <a:pos x="1158" y="131"/>
                    </a:cxn>
                    <a:cxn ang="0">
                      <a:pos x="917" y="236"/>
                    </a:cxn>
                    <a:cxn ang="0">
                      <a:pos x="696" y="367"/>
                    </a:cxn>
                    <a:cxn ang="0">
                      <a:pos x="529" y="495"/>
                    </a:cxn>
                    <a:cxn ang="0">
                      <a:pos x="352" y="672"/>
                    </a:cxn>
                    <a:cxn ang="0">
                      <a:pos x="206" y="873"/>
                    </a:cxn>
                    <a:cxn ang="0">
                      <a:pos x="111" y="1057"/>
                    </a:cxn>
                    <a:cxn ang="0">
                      <a:pos x="34" y="1295"/>
                    </a:cxn>
                    <a:cxn ang="0">
                      <a:pos x="0" y="1547"/>
                    </a:cxn>
                    <a:cxn ang="0">
                      <a:pos x="6" y="1745"/>
                    </a:cxn>
                    <a:cxn ang="0">
                      <a:pos x="55" y="1993"/>
                    </a:cxn>
                    <a:cxn ang="0">
                      <a:pos x="146" y="2226"/>
                    </a:cxn>
                    <a:cxn ang="0">
                      <a:pos x="267" y="2424"/>
                    </a:cxn>
                    <a:cxn ang="0">
                      <a:pos x="454" y="2644"/>
                    </a:cxn>
                    <a:cxn ang="0">
                      <a:pos x="680" y="2830"/>
                    </a:cxn>
                    <a:cxn ang="0">
                      <a:pos x="663" y="1617"/>
                    </a:cxn>
                    <a:cxn ang="0">
                      <a:pos x="686" y="1422"/>
                    </a:cxn>
                    <a:cxn ang="0">
                      <a:pos x="766" y="1230"/>
                    </a:cxn>
                    <a:cxn ang="0">
                      <a:pos x="899" y="1057"/>
                    </a:cxn>
                    <a:cxn ang="0">
                      <a:pos x="1082" y="905"/>
                    </a:cxn>
                    <a:cxn ang="0">
                      <a:pos x="1271" y="802"/>
                    </a:cxn>
                    <a:cxn ang="0">
                      <a:pos x="1531" y="712"/>
                    </a:cxn>
                    <a:cxn ang="0">
                      <a:pos x="1822" y="667"/>
                    </a:cxn>
                    <a:cxn ang="0">
                      <a:pos x="3971" y="669"/>
                    </a:cxn>
                    <a:cxn ang="0">
                      <a:pos x="4349" y="747"/>
                    </a:cxn>
                    <a:cxn ang="0">
                      <a:pos x="4666" y="897"/>
                    </a:cxn>
                    <a:cxn ang="0">
                      <a:pos x="4870" y="1067"/>
                    </a:cxn>
                    <a:cxn ang="0">
                      <a:pos x="5010" y="1259"/>
                    </a:cxn>
                    <a:cxn ang="0">
                      <a:pos x="5091" y="1505"/>
                    </a:cxn>
                    <a:cxn ang="0">
                      <a:pos x="5091" y="1702"/>
                    </a:cxn>
                    <a:cxn ang="0">
                      <a:pos x="5010" y="1949"/>
                    </a:cxn>
                    <a:cxn ang="0">
                      <a:pos x="4911" y="2094"/>
                    </a:cxn>
                    <a:cxn ang="0">
                      <a:pos x="4744" y="2254"/>
                    </a:cxn>
                    <a:cxn ang="0">
                      <a:pos x="4568" y="2366"/>
                    </a:cxn>
                    <a:cxn ang="0">
                      <a:pos x="4320" y="2470"/>
                    </a:cxn>
                    <a:cxn ang="0">
                      <a:pos x="4038" y="2531"/>
                    </a:cxn>
                    <a:cxn ang="0">
                      <a:pos x="1923" y="2543"/>
                    </a:cxn>
                    <a:cxn ang="0">
                      <a:pos x="1492" y="2485"/>
                    </a:cxn>
                    <a:cxn ang="0">
                      <a:pos x="1498" y="3168"/>
                    </a:cxn>
                    <a:cxn ang="0">
                      <a:pos x="1923" y="3206"/>
                    </a:cxn>
                    <a:cxn ang="0">
                      <a:pos x="4026" y="3198"/>
                    </a:cxn>
                    <a:cxn ang="0">
                      <a:pos x="4299" y="3160"/>
                    </a:cxn>
                    <a:cxn ang="0">
                      <a:pos x="4559" y="3090"/>
                    </a:cxn>
                    <a:cxn ang="0">
                      <a:pos x="4805" y="2991"/>
                    </a:cxn>
                    <a:cxn ang="0">
                      <a:pos x="5029" y="2865"/>
                    </a:cxn>
                    <a:cxn ang="0">
                      <a:pos x="5199" y="2740"/>
                    </a:cxn>
                    <a:cxn ang="0">
                      <a:pos x="5381" y="2566"/>
                    </a:cxn>
                    <a:cxn ang="0">
                      <a:pos x="5531" y="2369"/>
                    </a:cxn>
                    <a:cxn ang="0">
                      <a:pos x="5632" y="2188"/>
                    </a:cxn>
                    <a:cxn ang="0">
                      <a:pos x="5717" y="1953"/>
                    </a:cxn>
                    <a:cxn ang="0">
                      <a:pos x="5757" y="1702"/>
                    </a:cxn>
                    <a:cxn ang="0">
                      <a:pos x="5757" y="1504"/>
                    </a:cxn>
                    <a:cxn ang="0">
                      <a:pos x="5716" y="1254"/>
                    </a:cxn>
                    <a:cxn ang="0">
                      <a:pos x="5632" y="1019"/>
                    </a:cxn>
                  </a:cxnLst>
                  <a:rect l="0" t="0" r="r" b="b"/>
                  <a:pathLst>
                    <a:path w="5760" h="3206">
                      <a:moveTo>
                        <a:pt x="5595" y="945"/>
                      </a:moveTo>
                      <a:lnTo>
                        <a:pt x="5595" y="945"/>
                      </a:lnTo>
                      <a:lnTo>
                        <a:pt x="5563" y="891"/>
                      </a:lnTo>
                      <a:lnTo>
                        <a:pt x="5531" y="838"/>
                      </a:lnTo>
                      <a:lnTo>
                        <a:pt x="5496" y="786"/>
                      </a:lnTo>
                      <a:lnTo>
                        <a:pt x="5460" y="738"/>
                      </a:lnTo>
                      <a:lnTo>
                        <a:pt x="5420" y="689"/>
                      </a:lnTo>
                      <a:lnTo>
                        <a:pt x="5381" y="642"/>
                      </a:lnTo>
                      <a:lnTo>
                        <a:pt x="5338" y="596"/>
                      </a:lnTo>
                      <a:lnTo>
                        <a:pt x="5292" y="552"/>
                      </a:lnTo>
                      <a:lnTo>
                        <a:pt x="5246" y="509"/>
                      </a:lnTo>
                      <a:lnTo>
                        <a:pt x="5199" y="468"/>
                      </a:lnTo>
                      <a:lnTo>
                        <a:pt x="5149" y="428"/>
                      </a:lnTo>
                      <a:lnTo>
                        <a:pt x="5099" y="390"/>
                      </a:lnTo>
                      <a:lnTo>
                        <a:pt x="5047" y="355"/>
                      </a:lnTo>
                      <a:lnTo>
                        <a:pt x="4992" y="320"/>
                      </a:lnTo>
                      <a:lnTo>
                        <a:pt x="4937" y="286"/>
                      </a:lnTo>
                      <a:lnTo>
                        <a:pt x="4881" y="256"/>
                      </a:lnTo>
                      <a:lnTo>
                        <a:pt x="4881" y="256"/>
                      </a:lnTo>
                      <a:lnTo>
                        <a:pt x="4823" y="226"/>
                      </a:lnTo>
                      <a:lnTo>
                        <a:pt x="4765" y="198"/>
                      </a:lnTo>
                      <a:lnTo>
                        <a:pt x="4704" y="172"/>
                      </a:lnTo>
                      <a:lnTo>
                        <a:pt x="4643" y="146"/>
                      </a:lnTo>
                      <a:lnTo>
                        <a:pt x="4581" y="125"/>
                      </a:lnTo>
                      <a:lnTo>
                        <a:pt x="4518" y="104"/>
                      </a:lnTo>
                      <a:lnTo>
                        <a:pt x="4453" y="84"/>
                      </a:lnTo>
                      <a:lnTo>
                        <a:pt x="4389" y="67"/>
                      </a:lnTo>
                      <a:lnTo>
                        <a:pt x="4322" y="52"/>
                      </a:lnTo>
                      <a:lnTo>
                        <a:pt x="4254" y="38"/>
                      </a:lnTo>
                      <a:lnTo>
                        <a:pt x="4186" y="27"/>
                      </a:lnTo>
                      <a:lnTo>
                        <a:pt x="4117" y="18"/>
                      </a:lnTo>
                      <a:lnTo>
                        <a:pt x="4049" y="11"/>
                      </a:lnTo>
                      <a:lnTo>
                        <a:pt x="3979" y="5"/>
                      </a:lnTo>
                      <a:lnTo>
                        <a:pt x="3907" y="2"/>
                      </a:lnTo>
                      <a:lnTo>
                        <a:pt x="3837" y="0"/>
                      </a:lnTo>
                      <a:lnTo>
                        <a:pt x="1923" y="0"/>
                      </a:lnTo>
                      <a:lnTo>
                        <a:pt x="1923" y="0"/>
                      </a:lnTo>
                      <a:lnTo>
                        <a:pt x="1876" y="2"/>
                      </a:lnTo>
                      <a:lnTo>
                        <a:pt x="1829" y="3"/>
                      </a:lnTo>
                      <a:lnTo>
                        <a:pt x="1781" y="5"/>
                      </a:lnTo>
                      <a:lnTo>
                        <a:pt x="1734" y="8"/>
                      </a:lnTo>
                      <a:lnTo>
                        <a:pt x="1688" y="12"/>
                      </a:lnTo>
                      <a:lnTo>
                        <a:pt x="1643" y="18"/>
                      </a:lnTo>
                      <a:lnTo>
                        <a:pt x="1595" y="24"/>
                      </a:lnTo>
                      <a:lnTo>
                        <a:pt x="1551" y="30"/>
                      </a:lnTo>
                      <a:lnTo>
                        <a:pt x="1506" y="38"/>
                      </a:lnTo>
                      <a:lnTo>
                        <a:pt x="1460" y="47"/>
                      </a:lnTo>
                      <a:lnTo>
                        <a:pt x="1416" y="56"/>
                      </a:lnTo>
                      <a:lnTo>
                        <a:pt x="1371" y="67"/>
                      </a:lnTo>
                      <a:lnTo>
                        <a:pt x="1329" y="78"/>
                      </a:lnTo>
                      <a:lnTo>
                        <a:pt x="1285" y="90"/>
                      </a:lnTo>
                      <a:lnTo>
                        <a:pt x="1242" y="104"/>
                      </a:lnTo>
                      <a:lnTo>
                        <a:pt x="1199" y="117"/>
                      </a:lnTo>
                      <a:lnTo>
                        <a:pt x="1158" y="131"/>
                      </a:lnTo>
                      <a:lnTo>
                        <a:pt x="1117" y="146"/>
                      </a:lnTo>
                      <a:lnTo>
                        <a:pt x="1076" y="163"/>
                      </a:lnTo>
                      <a:lnTo>
                        <a:pt x="1035" y="180"/>
                      </a:lnTo>
                      <a:lnTo>
                        <a:pt x="995" y="198"/>
                      </a:lnTo>
                      <a:lnTo>
                        <a:pt x="955" y="216"/>
                      </a:lnTo>
                      <a:lnTo>
                        <a:pt x="917" y="236"/>
                      </a:lnTo>
                      <a:lnTo>
                        <a:pt x="879" y="256"/>
                      </a:lnTo>
                      <a:lnTo>
                        <a:pt x="841" y="276"/>
                      </a:lnTo>
                      <a:lnTo>
                        <a:pt x="803" y="297"/>
                      </a:lnTo>
                      <a:lnTo>
                        <a:pt x="766" y="320"/>
                      </a:lnTo>
                      <a:lnTo>
                        <a:pt x="731" y="343"/>
                      </a:lnTo>
                      <a:lnTo>
                        <a:pt x="696" y="367"/>
                      </a:lnTo>
                      <a:lnTo>
                        <a:pt x="661" y="392"/>
                      </a:lnTo>
                      <a:lnTo>
                        <a:pt x="628" y="416"/>
                      </a:lnTo>
                      <a:lnTo>
                        <a:pt x="594" y="442"/>
                      </a:lnTo>
                      <a:lnTo>
                        <a:pt x="594" y="442"/>
                      </a:lnTo>
                      <a:lnTo>
                        <a:pt x="561" y="468"/>
                      </a:lnTo>
                      <a:lnTo>
                        <a:pt x="529" y="495"/>
                      </a:lnTo>
                      <a:lnTo>
                        <a:pt x="498" y="523"/>
                      </a:lnTo>
                      <a:lnTo>
                        <a:pt x="468" y="552"/>
                      </a:lnTo>
                      <a:lnTo>
                        <a:pt x="437" y="581"/>
                      </a:lnTo>
                      <a:lnTo>
                        <a:pt x="408" y="611"/>
                      </a:lnTo>
                      <a:lnTo>
                        <a:pt x="379" y="642"/>
                      </a:lnTo>
                      <a:lnTo>
                        <a:pt x="352" y="672"/>
                      </a:lnTo>
                      <a:lnTo>
                        <a:pt x="326" y="704"/>
                      </a:lnTo>
                      <a:lnTo>
                        <a:pt x="300" y="738"/>
                      </a:lnTo>
                      <a:lnTo>
                        <a:pt x="276" y="770"/>
                      </a:lnTo>
                      <a:lnTo>
                        <a:pt x="251" y="803"/>
                      </a:lnTo>
                      <a:lnTo>
                        <a:pt x="229" y="838"/>
                      </a:lnTo>
                      <a:lnTo>
                        <a:pt x="206" y="873"/>
                      </a:lnTo>
                      <a:lnTo>
                        <a:pt x="186" y="908"/>
                      </a:lnTo>
                      <a:lnTo>
                        <a:pt x="165" y="945"/>
                      </a:lnTo>
                      <a:lnTo>
                        <a:pt x="165" y="945"/>
                      </a:lnTo>
                      <a:lnTo>
                        <a:pt x="146" y="981"/>
                      </a:lnTo>
                      <a:lnTo>
                        <a:pt x="128" y="1019"/>
                      </a:lnTo>
                      <a:lnTo>
                        <a:pt x="111" y="1057"/>
                      </a:lnTo>
                      <a:lnTo>
                        <a:pt x="94" y="1096"/>
                      </a:lnTo>
                      <a:lnTo>
                        <a:pt x="81" y="1134"/>
                      </a:lnTo>
                      <a:lnTo>
                        <a:pt x="67" y="1173"/>
                      </a:lnTo>
                      <a:lnTo>
                        <a:pt x="55" y="1214"/>
                      </a:lnTo>
                      <a:lnTo>
                        <a:pt x="43" y="1254"/>
                      </a:lnTo>
                      <a:lnTo>
                        <a:pt x="34" y="1295"/>
                      </a:lnTo>
                      <a:lnTo>
                        <a:pt x="24" y="1336"/>
                      </a:lnTo>
                      <a:lnTo>
                        <a:pt x="17" y="1377"/>
                      </a:lnTo>
                      <a:lnTo>
                        <a:pt x="11" y="1420"/>
                      </a:lnTo>
                      <a:lnTo>
                        <a:pt x="6" y="1461"/>
                      </a:lnTo>
                      <a:lnTo>
                        <a:pt x="3" y="1504"/>
                      </a:lnTo>
                      <a:lnTo>
                        <a:pt x="0" y="1547"/>
                      </a:lnTo>
                      <a:lnTo>
                        <a:pt x="0" y="1591"/>
                      </a:lnTo>
                      <a:lnTo>
                        <a:pt x="0" y="1617"/>
                      </a:lnTo>
                      <a:lnTo>
                        <a:pt x="0" y="1617"/>
                      </a:lnTo>
                      <a:lnTo>
                        <a:pt x="0" y="1659"/>
                      </a:lnTo>
                      <a:lnTo>
                        <a:pt x="3" y="1702"/>
                      </a:lnTo>
                      <a:lnTo>
                        <a:pt x="6" y="1745"/>
                      </a:lnTo>
                      <a:lnTo>
                        <a:pt x="11" y="1787"/>
                      </a:lnTo>
                      <a:lnTo>
                        <a:pt x="17" y="1830"/>
                      </a:lnTo>
                      <a:lnTo>
                        <a:pt x="24" y="1871"/>
                      </a:lnTo>
                      <a:lnTo>
                        <a:pt x="34" y="1912"/>
                      </a:lnTo>
                      <a:lnTo>
                        <a:pt x="43" y="1953"/>
                      </a:lnTo>
                      <a:lnTo>
                        <a:pt x="55" y="1993"/>
                      </a:lnTo>
                      <a:lnTo>
                        <a:pt x="67" y="2033"/>
                      </a:lnTo>
                      <a:lnTo>
                        <a:pt x="81" y="2072"/>
                      </a:lnTo>
                      <a:lnTo>
                        <a:pt x="94" y="2112"/>
                      </a:lnTo>
                      <a:lnTo>
                        <a:pt x="111" y="2150"/>
                      </a:lnTo>
                      <a:lnTo>
                        <a:pt x="128" y="2188"/>
                      </a:lnTo>
                      <a:lnTo>
                        <a:pt x="146" y="2226"/>
                      </a:lnTo>
                      <a:lnTo>
                        <a:pt x="165" y="2263"/>
                      </a:lnTo>
                      <a:lnTo>
                        <a:pt x="165" y="2263"/>
                      </a:lnTo>
                      <a:lnTo>
                        <a:pt x="189" y="2304"/>
                      </a:lnTo>
                      <a:lnTo>
                        <a:pt x="213" y="2345"/>
                      </a:lnTo>
                      <a:lnTo>
                        <a:pt x="239" y="2385"/>
                      </a:lnTo>
                      <a:lnTo>
                        <a:pt x="267" y="2424"/>
                      </a:lnTo>
                      <a:lnTo>
                        <a:pt x="296" y="2464"/>
                      </a:lnTo>
                      <a:lnTo>
                        <a:pt x="325" y="2500"/>
                      </a:lnTo>
                      <a:lnTo>
                        <a:pt x="355" y="2539"/>
                      </a:lnTo>
                      <a:lnTo>
                        <a:pt x="387" y="2574"/>
                      </a:lnTo>
                      <a:lnTo>
                        <a:pt x="421" y="2609"/>
                      </a:lnTo>
                      <a:lnTo>
                        <a:pt x="454" y="2644"/>
                      </a:lnTo>
                      <a:lnTo>
                        <a:pt x="489" y="2676"/>
                      </a:lnTo>
                      <a:lnTo>
                        <a:pt x="526" y="2709"/>
                      </a:lnTo>
                      <a:lnTo>
                        <a:pt x="562" y="2740"/>
                      </a:lnTo>
                      <a:lnTo>
                        <a:pt x="600" y="2770"/>
                      </a:lnTo>
                      <a:lnTo>
                        <a:pt x="640" y="2801"/>
                      </a:lnTo>
                      <a:lnTo>
                        <a:pt x="680" y="2830"/>
                      </a:lnTo>
                      <a:lnTo>
                        <a:pt x="680" y="1763"/>
                      </a:lnTo>
                      <a:lnTo>
                        <a:pt x="680" y="1763"/>
                      </a:lnTo>
                      <a:lnTo>
                        <a:pt x="672" y="1726"/>
                      </a:lnTo>
                      <a:lnTo>
                        <a:pt x="667" y="1690"/>
                      </a:lnTo>
                      <a:lnTo>
                        <a:pt x="664" y="1653"/>
                      </a:lnTo>
                      <a:lnTo>
                        <a:pt x="663" y="1617"/>
                      </a:lnTo>
                      <a:lnTo>
                        <a:pt x="663" y="1591"/>
                      </a:lnTo>
                      <a:lnTo>
                        <a:pt x="663" y="1591"/>
                      </a:lnTo>
                      <a:lnTo>
                        <a:pt x="664" y="1548"/>
                      </a:lnTo>
                      <a:lnTo>
                        <a:pt x="669" y="1505"/>
                      </a:lnTo>
                      <a:lnTo>
                        <a:pt x="675" y="1463"/>
                      </a:lnTo>
                      <a:lnTo>
                        <a:pt x="686" y="1422"/>
                      </a:lnTo>
                      <a:lnTo>
                        <a:pt x="698" y="1381"/>
                      </a:lnTo>
                      <a:lnTo>
                        <a:pt x="712" y="1339"/>
                      </a:lnTo>
                      <a:lnTo>
                        <a:pt x="730" y="1298"/>
                      </a:lnTo>
                      <a:lnTo>
                        <a:pt x="750" y="1259"/>
                      </a:lnTo>
                      <a:lnTo>
                        <a:pt x="750" y="1259"/>
                      </a:lnTo>
                      <a:lnTo>
                        <a:pt x="766" y="1230"/>
                      </a:lnTo>
                      <a:lnTo>
                        <a:pt x="785" y="1199"/>
                      </a:lnTo>
                      <a:lnTo>
                        <a:pt x="805" y="1170"/>
                      </a:lnTo>
                      <a:lnTo>
                        <a:pt x="826" y="1141"/>
                      </a:lnTo>
                      <a:lnTo>
                        <a:pt x="849" y="1114"/>
                      </a:lnTo>
                      <a:lnTo>
                        <a:pt x="873" y="1085"/>
                      </a:lnTo>
                      <a:lnTo>
                        <a:pt x="899" y="1057"/>
                      </a:lnTo>
                      <a:lnTo>
                        <a:pt x="926" y="1032"/>
                      </a:lnTo>
                      <a:lnTo>
                        <a:pt x="954" y="1004"/>
                      </a:lnTo>
                      <a:lnTo>
                        <a:pt x="984" y="978"/>
                      </a:lnTo>
                      <a:lnTo>
                        <a:pt x="1015" y="954"/>
                      </a:lnTo>
                      <a:lnTo>
                        <a:pt x="1048" y="929"/>
                      </a:lnTo>
                      <a:lnTo>
                        <a:pt x="1082" y="905"/>
                      </a:lnTo>
                      <a:lnTo>
                        <a:pt x="1117" y="884"/>
                      </a:lnTo>
                      <a:lnTo>
                        <a:pt x="1154" y="861"/>
                      </a:lnTo>
                      <a:lnTo>
                        <a:pt x="1192" y="840"/>
                      </a:lnTo>
                      <a:lnTo>
                        <a:pt x="1192" y="840"/>
                      </a:lnTo>
                      <a:lnTo>
                        <a:pt x="1231" y="820"/>
                      </a:lnTo>
                      <a:lnTo>
                        <a:pt x="1271" y="802"/>
                      </a:lnTo>
                      <a:lnTo>
                        <a:pt x="1312" y="783"/>
                      </a:lnTo>
                      <a:lnTo>
                        <a:pt x="1353" y="766"/>
                      </a:lnTo>
                      <a:lnTo>
                        <a:pt x="1396" y="751"/>
                      </a:lnTo>
                      <a:lnTo>
                        <a:pt x="1440" y="736"/>
                      </a:lnTo>
                      <a:lnTo>
                        <a:pt x="1486" y="724"/>
                      </a:lnTo>
                      <a:lnTo>
                        <a:pt x="1531" y="712"/>
                      </a:lnTo>
                      <a:lnTo>
                        <a:pt x="1577" y="701"/>
                      </a:lnTo>
                      <a:lnTo>
                        <a:pt x="1626" y="690"/>
                      </a:lnTo>
                      <a:lnTo>
                        <a:pt x="1673" y="683"/>
                      </a:lnTo>
                      <a:lnTo>
                        <a:pt x="1722" y="677"/>
                      </a:lnTo>
                      <a:lnTo>
                        <a:pt x="1772" y="670"/>
                      </a:lnTo>
                      <a:lnTo>
                        <a:pt x="1822" y="667"/>
                      </a:lnTo>
                      <a:lnTo>
                        <a:pt x="1873" y="664"/>
                      </a:lnTo>
                      <a:lnTo>
                        <a:pt x="1923" y="664"/>
                      </a:lnTo>
                      <a:lnTo>
                        <a:pt x="3837" y="664"/>
                      </a:lnTo>
                      <a:lnTo>
                        <a:pt x="3837" y="664"/>
                      </a:lnTo>
                      <a:lnTo>
                        <a:pt x="3904" y="666"/>
                      </a:lnTo>
                      <a:lnTo>
                        <a:pt x="3971" y="669"/>
                      </a:lnTo>
                      <a:lnTo>
                        <a:pt x="4038" y="677"/>
                      </a:lnTo>
                      <a:lnTo>
                        <a:pt x="4102" y="686"/>
                      </a:lnTo>
                      <a:lnTo>
                        <a:pt x="4166" y="696"/>
                      </a:lnTo>
                      <a:lnTo>
                        <a:pt x="4229" y="712"/>
                      </a:lnTo>
                      <a:lnTo>
                        <a:pt x="4290" y="727"/>
                      </a:lnTo>
                      <a:lnTo>
                        <a:pt x="4349" y="747"/>
                      </a:lnTo>
                      <a:lnTo>
                        <a:pt x="4407" y="766"/>
                      </a:lnTo>
                      <a:lnTo>
                        <a:pt x="4462" y="789"/>
                      </a:lnTo>
                      <a:lnTo>
                        <a:pt x="4517" y="814"/>
                      </a:lnTo>
                      <a:lnTo>
                        <a:pt x="4568" y="840"/>
                      </a:lnTo>
                      <a:lnTo>
                        <a:pt x="4619" y="869"/>
                      </a:lnTo>
                      <a:lnTo>
                        <a:pt x="4666" y="897"/>
                      </a:lnTo>
                      <a:lnTo>
                        <a:pt x="4712" y="929"/>
                      </a:lnTo>
                      <a:lnTo>
                        <a:pt x="4754" y="961"/>
                      </a:lnTo>
                      <a:lnTo>
                        <a:pt x="4754" y="961"/>
                      </a:lnTo>
                      <a:lnTo>
                        <a:pt x="4795" y="997"/>
                      </a:lnTo>
                      <a:lnTo>
                        <a:pt x="4834" y="1032"/>
                      </a:lnTo>
                      <a:lnTo>
                        <a:pt x="4870" y="1067"/>
                      </a:lnTo>
                      <a:lnTo>
                        <a:pt x="4904" y="1105"/>
                      </a:lnTo>
                      <a:lnTo>
                        <a:pt x="4934" y="1141"/>
                      </a:lnTo>
                      <a:lnTo>
                        <a:pt x="4963" y="1181"/>
                      </a:lnTo>
                      <a:lnTo>
                        <a:pt x="4987" y="1219"/>
                      </a:lnTo>
                      <a:lnTo>
                        <a:pt x="5010" y="1259"/>
                      </a:lnTo>
                      <a:lnTo>
                        <a:pt x="5010" y="1259"/>
                      </a:lnTo>
                      <a:lnTo>
                        <a:pt x="5030" y="1298"/>
                      </a:lnTo>
                      <a:lnTo>
                        <a:pt x="5048" y="1339"/>
                      </a:lnTo>
                      <a:lnTo>
                        <a:pt x="5062" y="1381"/>
                      </a:lnTo>
                      <a:lnTo>
                        <a:pt x="5074" y="1422"/>
                      </a:lnTo>
                      <a:lnTo>
                        <a:pt x="5085" y="1463"/>
                      </a:lnTo>
                      <a:lnTo>
                        <a:pt x="5091" y="1505"/>
                      </a:lnTo>
                      <a:lnTo>
                        <a:pt x="5096" y="1548"/>
                      </a:lnTo>
                      <a:lnTo>
                        <a:pt x="5097" y="1591"/>
                      </a:lnTo>
                      <a:lnTo>
                        <a:pt x="5097" y="1617"/>
                      </a:lnTo>
                      <a:lnTo>
                        <a:pt x="5097" y="1617"/>
                      </a:lnTo>
                      <a:lnTo>
                        <a:pt x="5096" y="1659"/>
                      </a:lnTo>
                      <a:lnTo>
                        <a:pt x="5091" y="1702"/>
                      </a:lnTo>
                      <a:lnTo>
                        <a:pt x="5085" y="1745"/>
                      </a:lnTo>
                      <a:lnTo>
                        <a:pt x="5074" y="1786"/>
                      </a:lnTo>
                      <a:lnTo>
                        <a:pt x="5062" y="1827"/>
                      </a:lnTo>
                      <a:lnTo>
                        <a:pt x="5048" y="1868"/>
                      </a:lnTo>
                      <a:lnTo>
                        <a:pt x="5030" y="1908"/>
                      </a:lnTo>
                      <a:lnTo>
                        <a:pt x="5010" y="1949"/>
                      </a:lnTo>
                      <a:lnTo>
                        <a:pt x="5010" y="1949"/>
                      </a:lnTo>
                      <a:lnTo>
                        <a:pt x="4994" y="1978"/>
                      </a:lnTo>
                      <a:lnTo>
                        <a:pt x="4975" y="2007"/>
                      </a:lnTo>
                      <a:lnTo>
                        <a:pt x="4955" y="2037"/>
                      </a:lnTo>
                      <a:lnTo>
                        <a:pt x="4934" y="2065"/>
                      </a:lnTo>
                      <a:lnTo>
                        <a:pt x="4911" y="2094"/>
                      </a:lnTo>
                      <a:lnTo>
                        <a:pt x="4887" y="2121"/>
                      </a:lnTo>
                      <a:lnTo>
                        <a:pt x="4861" y="2149"/>
                      </a:lnTo>
                      <a:lnTo>
                        <a:pt x="4834" y="2176"/>
                      </a:lnTo>
                      <a:lnTo>
                        <a:pt x="4806" y="2202"/>
                      </a:lnTo>
                      <a:lnTo>
                        <a:pt x="4776" y="2228"/>
                      </a:lnTo>
                      <a:lnTo>
                        <a:pt x="4744" y="2254"/>
                      </a:lnTo>
                      <a:lnTo>
                        <a:pt x="4712" y="2278"/>
                      </a:lnTo>
                      <a:lnTo>
                        <a:pt x="4678" y="2301"/>
                      </a:lnTo>
                      <a:lnTo>
                        <a:pt x="4643" y="2324"/>
                      </a:lnTo>
                      <a:lnTo>
                        <a:pt x="4606" y="2347"/>
                      </a:lnTo>
                      <a:lnTo>
                        <a:pt x="4568" y="2366"/>
                      </a:lnTo>
                      <a:lnTo>
                        <a:pt x="4568" y="2366"/>
                      </a:lnTo>
                      <a:lnTo>
                        <a:pt x="4529" y="2386"/>
                      </a:lnTo>
                      <a:lnTo>
                        <a:pt x="4489" y="2406"/>
                      </a:lnTo>
                      <a:lnTo>
                        <a:pt x="4448" y="2424"/>
                      </a:lnTo>
                      <a:lnTo>
                        <a:pt x="4407" y="2441"/>
                      </a:lnTo>
                      <a:lnTo>
                        <a:pt x="4363" y="2456"/>
                      </a:lnTo>
                      <a:lnTo>
                        <a:pt x="4320" y="2470"/>
                      </a:lnTo>
                      <a:lnTo>
                        <a:pt x="4274" y="2484"/>
                      </a:lnTo>
                      <a:lnTo>
                        <a:pt x="4229" y="2496"/>
                      </a:lnTo>
                      <a:lnTo>
                        <a:pt x="4183" y="2507"/>
                      </a:lnTo>
                      <a:lnTo>
                        <a:pt x="4134" y="2516"/>
                      </a:lnTo>
                      <a:lnTo>
                        <a:pt x="4087" y="2525"/>
                      </a:lnTo>
                      <a:lnTo>
                        <a:pt x="4038" y="2531"/>
                      </a:lnTo>
                      <a:lnTo>
                        <a:pt x="3988" y="2537"/>
                      </a:lnTo>
                      <a:lnTo>
                        <a:pt x="3938" y="2540"/>
                      </a:lnTo>
                      <a:lnTo>
                        <a:pt x="3887" y="2543"/>
                      </a:lnTo>
                      <a:lnTo>
                        <a:pt x="3837" y="2543"/>
                      </a:lnTo>
                      <a:lnTo>
                        <a:pt x="1923" y="2543"/>
                      </a:lnTo>
                      <a:lnTo>
                        <a:pt x="1923" y="2543"/>
                      </a:lnTo>
                      <a:lnTo>
                        <a:pt x="1848" y="2542"/>
                      </a:lnTo>
                      <a:lnTo>
                        <a:pt x="1774" y="2537"/>
                      </a:lnTo>
                      <a:lnTo>
                        <a:pt x="1701" y="2528"/>
                      </a:lnTo>
                      <a:lnTo>
                        <a:pt x="1630" y="2517"/>
                      </a:lnTo>
                      <a:lnTo>
                        <a:pt x="1560" y="2504"/>
                      </a:lnTo>
                      <a:lnTo>
                        <a:pt x="1492" y="2485"/>
                      </a:lnTo>
                      <a:lnTo>
                        <a:pt x="1426" y="2465"/>
                      </a:lnTo>
                      <a:lnTo>
                        <a:pt x="1362" y="2444"/>
                      </a:lnTo>
                      <a:lnTo>
                        <a:pt x="1362" y="3137"/>
                      </a:lnTo>
                      <a:lnTo>
                        <a:pt x="1362" y="3137"/>
                      </a:lnTo>
                      <a:lnTo>
                        <a:pt x="1429" y="3153"/>
                      </a:lnTo>
                      <a:lnTo>
                        <a:pt x="1498" y="3168"/>
                      </a:lnTo>
                      <a:lnTo>
                        <a:pt x="1566" y="3179"/>
                      </a:lnTo>
                      <a:lnTo>
                        <a:pt x="1637" y="3189"/>
                      </a:lnTo>
                      <a:lnTo>
                        <a:pt x="1708" y="3197"/>
                      </a:lnTo>
                      <a:lnTo>
                        <a:pt x="1778" y="3201"/>
                      </a:lnTo>
                      <a:lnTo>
                        <a:pt x="1851" y="3206"/>
                      </a:lnTo>
                      <a:lnTo>
                        <a:pt x="1923" y="3206"/>
                      </a:lnTo>
                      <a:lnTo>
                        <a:pt x="3837" y="3206"/>
                      </a:lnTo>
                      <a:lnTo>
                        <a:pt x="3837" y="3206"/>
                      </a:lnTo>
                      <a:lnTo>
                        <a:pt x="3884" y="3206"/>
                      </a:lnTo>
                      <a:lnTo>
                        <a:pt x="3931" y="3204"/>
                      </a:lnTo>
                      <a:lnTo>
                        <a:pt x="3979" y="3201"/>
                      </a:lnTo>
                      <a:lnTo>
                        <a:pt x="4026" y="3198"/>
                      </a:lnTo>
                      <a:lnTo>
                        <a:pt x="4072" y="3195"/>
                      </a:lnTo>
                      <a:lnTo>
                        <a:pt x="4117" y="3189"/>
                      </a:lnTo>
                      <a:lnTo>
                        <a:pt x="4163" y="3183"/>
                      </a:lnTo>
                      <a:lnTo>
                        <a:pt x="4209" y="3177"/>
                      </a:lnTo>
                      <a:lnTo>
                        <a:pt x="4254" y="3169"/>
                      </a:lnTo>
                      <a:lnTo>
                        <a:pt x="4299" y="3160"/>
                      </a:lnTo>
                      <a:lnTo>
                        <a:pt x="4344" y="3151"/>
                      </a:lnTo>
                      <a:lnTo>
                        <a:pt x="4389" y="3140"/>
                      </a:lnTo>
                      <a:lnTo>
                        <a:pt x="4431" y="3128"/>
                      </a:lnTo>
                      <a:lnTo>
                        <a:pt x="4475" y="3116"/>
                      </a:lnTo>
                      <a:lnTo>
                        <a:pt x="4518" y="3104"/>
                      </a:lnTo>
                      <a:lnTo>
                        <a:pt x="4559" y="3090"/>
                      </a:lnTo>
                      <a:lnTo>
                        <a:pt x="4602" y="3075"/>
                      </a:lnTo>
                      <a:lnTo>
                        <a:pt x="4643" y="3060"/>
                      </a:lnTo>
                      <a:lnTo>
                        <a:pt x="4684" y="3044"/>
                      </a:lnTo>
                      <a:lnTo>
                        <a:pt x="4725" y="3028"/>
                      </a:lnTo>
                      <a:lnTo>
                        <a:pt x="4765" y="3009"/>
                      </a:lnTo>
                      <a:lnTo>
                        <a:pt x="4805" y="2991"/>
                      </a:lnTo>
                      <a:lnTo>
                        <a:pt x="4843" y="2971"/>
                      </a:lnTo>
                      <a:lnTo>
                        <a:pt x="4881" y="2952"/>
                      </a:lnTo>
                      <a:lnTo>
                        <a:pt x="4919" y="2930"/>
                      </a:lnTo>
                      <a:lnTo>
                        <a:pt x="4955" y="2909"/>
                      </a:lnTo>
                      <a:lnTo>
                        <a:pt x="4992" y="2888"/>
                      </a:lnTo>
                      <a:lnTo>
                        <a:pt x="5029" y="2865"/>
                      </a:lnTo>
                      <a:lnTo>
                        <a:pt x="5064" y="2840"/>
                      </a:lnTo>
                      <a:lnTo>
                        <a:pt x="5099" y="2816"/>
                      </a:lnTo>
                      <a:lnTo>
                        <a:pt x="5132" y="2792"/>
                      </a:lnTo>
                      <a:lnTo>
                        <a:pt x="5166" y="2766"/>
                      </a:lnTo>
                      <a:lnTo>
                        <a:pt x="5166" y="2766"/>
                      </a:lnTo>
                      <a:lnTo>
                        <a:pt x="5199" y="2740"/>
                      </a:lnTo>
                      <a:lnTo>
                        <a:pt x="5231" y="2712"/>
                      </a:lnTo>
                      <a:lnTo>
                        <a:pt x="5262" y="2683"/>
                      </a:lnTo>
                      <a:lnTo>
                        <a:pt x="5292" y="2656"/>
                      </a:lnTo>
                      <a:lnTo>
                        <a:pt x="5323" y="2627"/>
                      </a:lnTo>
                      <a:lnTo>
                        <a:pt x="5352" y="2596"/>
                      </a:lnTo>
                      <a:lnTo>
                        <a:pt x="5381" y="2566"/>
                      </a:lnTo>
                      <a:lnTo>
                        <a:pt x="5408" y="2534"/>
                      </a:lnTo>
                      <a:lnTo>
                        <a:pt x="5434" y="2504"/>
                      </a:lnTo>
                      <a:lnTo>
                        <a:pt x="5460" y="2470"/>
                      </a:lnTo>
                      <a:lnTo>
                        <a:pt x="5484" y="2436"/>
                      </a:lnTo>
                      <a:lnTo>
                        <a:pt x="5509" y="2403"/>
                      </a:lnTo>
                      <a:lnTo>
                        <a:pt x="5531" y="2369"/>
                      </a:lnTo>
                      <a:lnTo>
                        <a:pt x="5553" y="2334"/>
                      </a:lnTo>
                      <a:lnTo>
                        <a:pt x="5574" y="2298"/>
                      </a:lnTo>
                      <a:lnTo>
                        <a:pt x="5595" y="2263"/>
                      </a:lnTo>
                      <a:lnTo>
                        <a:pt x="5595" y="2263"/>
                      </a:lnTo>
                      <a:lnTo>
                        <a:pt x="5614" y="2226"/>
                      </a:lnTo>
                      <a:lnTo>
                        <a:pt x="5632" y="2188"/>
                      </a:lnTo>
                      <a:lnTo>
                        <a:pt x="5649" y="2150"/>
                      </a:lnTo>
                      <a:lnTo>
                        <a:pt x="5664" y="2112"/>
                      </a:lnTo>
                      <a:lnTo>
                        <a:pt x="5679" y="2072"/>
                      </a:lnTo>
                      <a:lnTo>
                        <a:pt x="5693" y="2033"/>
                      </a:lnTo>
                      <a:lnTo>
                        <a:pt x="5705" y="1993"/>
                      </a:lnTo>
                      <a:lnTo>
                        <a:pt x="5717" y="1953"/>
                      </a:lnTo>
                      <a:lnTo>
                        <a:pt x="5726" y="1912"/>
                      </a:lnTo>
                      <a:lnTo>
                        <a:pt x="5736" y="1871"/>
                      </a:lnTo>
                      <a:lnTo>
                        <a:pt x="5743" y="1830"/>
                      </a:lnTo>
                      <a:lnTo>
                        <a:pt x="5749" y="1787"/>
                      </a:lnTo>
                      <a:lnTo>
                        <a:pt x="5754" y="1745"/>
                      </a:lnTo>
                      <a:lnTo>
                        <a:pt x="5757" y="1702"/>
                      </a:lnTo>
                      <a:lnTo>
                        <a:pt x="5758" y="1659"/>
                      </a:lnTo>
                      <a:lnTo>
                        <a:pt x="5760" y="1617"/>
                      </a:lnTo>
                      <a:lnTo>
                        <a:pt x="5760" y="1589"/>
                      </a:lnTo>
                      <a:lnTo>
                        <a:pt x="5760" y="1589"/>
                      </a:lnTo>
                      <a:lnTo>
                        <a:pt x="5758" y="1547"/>
                      </a:lnTo>
                      <a:lnTo>
                        <a:pt x="5757" y="1504"/>
                      </a:lnTo>
                      <a:lnTo>
                        <a:pt x="5754" y="1461"/>
                      </a:lnTo>
                      <a:lnTo>
                        <a:pt x="5749" y="1419"/>
                      </a:lnTo>
                      <a:lnTo>
                        <a:pt x="5743" y="1377"/>
                      </a:lnTo>
                      <a:lnTo>
                        <a:pt x="5736" y="1335"/>
                      </a:lnTo>
                      <a:lnTo>
                        <a:pt x="5726" y="1294"/>
                      </a:lnTo>
                      <a:lnTo>
                        <a:pt x="5716" y="1254"/>
                      </a:lnTo>
                      <a:lnTo>
                        <a:pt x="5705" y="1213"/>
                      </a:lnTo>
                      <a:lnTo>
                        <a:pt x="5693" y="1173"/>
                      </a:lnTo>
                      <a:lnTo>
                        <a:pt x="5679" y="1134"/>
                      </a:lnTo>
                      <a:lnTo>
                        <a:pt x="5664" y="1096"/>
                      </a:lnTo>
                      <a:lnTo>
                        <a:pt x="5649" y="1056"/>
                      </a:lnTo>
                      <a:lnTo>
                        <a:pt x="5632" y="1019"/>
                      </a:lnTo>
                      <a:lnTo>
                        <a:pt x="5614" y="981"/>
                      </a:lnTo>
                      <a:lnTo>
                        <a:pt x="5595" y="945"/>
                      </a:lnTo>
                      <a:lnTo>
                        <a:pt x="5595" y="945"/>
                      </a:lnTo>
                      <a:close/>
                    </a:path>
                  </a:pathLst>
                </a:custGeom>
                <a:gradFill flip="none" rotWithShape="1">
                  <a:gsLst>
                    <a:gs pos="0">
                      <a:schemeClr val="accent2">
                        <a:lumMod val="60000"/>
                        <a:lumOff val="40000"/>
                      </a:schemeClr>
                    </a:gs>
                    <a:gs pos="99000">
                      <a:schemeClr val="accent2">
                        <a:lumMod val="50000"/>
                      </a:schemeClr>
                    </a:gs>
                  </a:gsLst>
                  <a:path path="circle">
                    <a:fillToRect l="100000" b="100000"/>
                  </a:path>
                  <a:tileRect t="-100000" r="-100000"/>
                </a:gradFill>
                <a:ln w="9525">
                  <a:noFill/>
                  <a:round/>
                  <a:headEnd/>
                  <a:tailEnd/>
                </a:ln>
                <a:effectLst/>
                <a:scene3d>
                  <a:camera prst="orthographicFront"/>
                  <a:lightRig rig="threePt" dir="t">
                    <a:rot lat="0" lon="0" rev="12720000"/>
                  </a:lightRig>
                </a:scene3d>
                <a:sp3d/>
              </p:spPr>
              <p:txBody>
                <a:bodyPr/>
                <a:lstStyle/>
                <a:p>
                  <a:pPr>
                    <a:lnSpc>
                      <a:spcPct val="85000"/>
                    </a:lnSpc>
                  </a:pPr>
                  <a:endParaRPr lang="en-US" sz="1350">
                    <a:latin typeface="Times"/>
                  </a:endParaRPr>
                </a:p>
              </p:txBody>
            </p:sp>
            <p:sp>
              <p:nvSpPr>
                <p:cNvPr id="28" name="Freeform 5">
                  <a:extLst>
                    <a:ext uri="{FF2B5EF4-FFF2-40B4-BE49-F238E27FC236}">
                      <a16:creationId xmlns:a16="http://schemas.microsoft.com/office/drawing/2014/main" id="{E3E6412E-7BF7-AC4D-B22E-961F226E8C50}"/>
                    </a:ext>
                  </a:extLst>
                </p:cNvPr>
                <p:cNvSpPr>
                  <a:spLocks/>
                </p:cNvSpPr>
                <p:nvPr/>
              </p:nvSpPr>
              <p:spPr bwMode="auto">
                <a:xfrm>
                  <a:off x="42695" y="1676400"/>
                  <a:ext cx="2374330" cy="1600200"/>
                </a:xfrm>
                <a:custGeom>
                  <a:avLst/>
                  <a:gdLst/>
                  <a:ahLst/>
                  <a:cxnLst>
                    <a:cxn ang="0">
                      <a:pos x="5438" y="1318"/>
                    </a:cxn>
                    <a:cxn ang="0">
                      <a:pos x="5248" y="1507"/>
                    </a:cxn>
                    <a:cxn ang="0">
                      <a:pos x="5145" y="1679"/>
                    </a:cxn>
                    <a:cxn ang="0">
                      <a:pos x="5095" y="1848"/>
                    </a:cxn>
                    <a:cxn ang="0">
                      <a:pos x="5082" y="2149"/>
                    </a:cxn>
                    <a:cxn ang="0">
                      <a:pos x="4944" y="2555"/>
                    </a:cxn>
                    <a:cxn ang="0">
                      <a:pos x="4726" y="2848"/>
                    </a:cxn>
                    <a:cxn ang="0">
                      <a:pos x="4381" y="3093"/>
                    </a:cxn>
                    <a:cxn ang="0">
                      <a:pos x="3964" y="3211"/>
                    </a:cxn>
                    <a:cxn ang="0">
                      <a:pos x="1733" y="3204"/>
                    </a:cxn>
                    <a:cxn ang="0">
                      <a:pos x="1325" y="3066"/>
                    </a:cxn>
                    <a:cxn ang="0">
                      <a:pos x="1034" y="2848"/>
                    </a:cxn>
                    <a:cxn ang="0">
                      <a:pos x="787" y="2501"/>
                    </a:cxn>
                    <a:cxn ang="0">
                      <a:pos x="669" y="2086"/>
                    </a:cxn>
                    <a:cxn ang="0">
                      <a:pos x="678" y="1733"/>
                    </a:cxn>
                    <a:cxn ang="0">
                      <a:pos x="816" y="1325"/>
                    </a:cxn>
                    <a:cxn ang="0">
                      <a:pos x="1034" y="1034"/>
                    </a:cxn>
                    <a:cxn ang="0">
                      <a:pos x="1379" y="788"/>
                    </a:cxn>
                    <a:cxn ang="0">
                      <a:pos x="1796" y="669"/>
                    </a:cxn>
                    <a:cxn ang="0">
                      <a:pos x="4027" y="678"/>
                    </a:cxn>
                    <a:cxn ang="0">
                      <a:pos x="4435" y="816"/>
                    </a:cxn>
                    <a:cxn ang="0">
                      <a:pos x="4726" y="1034"/>
                    </a:cxn>
                    <a:cxn ang="0">
                      <a:pos x="4910" y="895"/>
                    </a:cxn>
                    <a:cxn ang="0">
                      <a:pos x="5201" y="678"/>
                    </a:cxn>
                    <a:cxn ang="0">
                      <a:pos x="5129" y="502"/>
                    </a:cxn>
                    <a:cxn ang="0">
                      <a:pos x="4872" y="304"/>
                    </a:cxn>
                    <a:cxn ang="0">
                      <a:pos x="4584" y="151"/>
                    </a:cxn>
                    <a:cxn ang="0">
                      <a:pos x="4270" y="49"/>
                    </a:cxn>
                    <a:cxn ang="0">
                      <a:pos x="3935" y="2"/>
                    </a:cxn>
                    <a:cxn ang="0">
                      <a:pos x="1776" y="5"/>
                    </a:cxn>
                    <a:cxn ang="0">
                      <a:pos x="1444" y="61"/>
                    </a:cxn>
                    <a:cxn ang="0">
                      <a:pos x="1133" y="171"/>
                    </a:cxn>
                    <a:cxn ang="0">
                      <a:pos x="849" y="329"/>
                    </a:cxn>
                    <a:cxn ang="0">
                      <a:pos x="597" y="532"/>
                    </a:cxn>
                    <a:cxn ang="0">
                      <a:pos x="412" y="737"/>
                    </a:cxn>
                    <a:cxn ang="0">
                      <a:pos x="234" y="1007"/>
                    </a:cxn>
                    <a:cxn ang="0">
                      <a:pos x="101" y="1307"/>
                    </a:cxn>
                    <a:cxn ang="0">
                      <a:pos x="22" y="1631"/>
                    </a:cxn>
                    <a:cxn ang="0">
                      <a:pos x="0" y="1958"/>
                    </a:cxn>
                    <a:cxn ang="0">
                      <a:pos x="22" y="2249"/>
                    </a:cxn>
                    <a:cxn ang="0">
                      <a:pos x="101" y="2573"/>
                    </a:cxn>
                    <a:cxn ang="0">
                      <a:pos x="234" y="2873"/>
                    </a:cxn>
                    <a:cxn ang="0">
                      <a:pos x="412" y="3145"/>
                    </a:cxn>
                    <a:cxn ang="0">
                      <a:pos x="597" y="3348"/>
                    </a:cxn>
                    <a:cxn ang="0">
                      <a:pos x="849" y="3551"/>
                    </a:cxn>
                    <a:cxn ang="0">
                      <a:pos x="1133" y="3711"/>
                    </a:cxn>
                    <a:cxn ang="0">
                      <a:pos x="1444" y="3821"/>
                    </a:cxn>
                    <a:cxn ang="0">
                      <a:pos x="1776" y="3877"/>
                    </a:cxn>
                    <a:cxn ang="0">
                      <a:pos x="3885" y="3880"/>
                    </a:cxn>
                    <a:cxn ang="0">
                      <a:pos x="4223" y="3842"/>
                    </a:cxn>
                    <a:cxn ang="0">
                      <a:pos x="4541" y="3747"/>
                    </a:cxn>
                    <a:cxn ang="0">
                      <a:pos x="4832" y="3602"/>
                    </a:cxn>
                    <a:cxn ang="0">
                      <a:pos x="5095" y="3411"/>
                    </a:cxn>
                    <a:cxn ang="0">
                      <a:pos x="5289" y="3215"/>
                    </a:cxn>
                    <a:cxn ang="0">
                      <a:pos x="5480" y="2954"/>
                    </a:cxn>
                    <a:cxn ang="0">
                      <a:pos x="5625" y="2661"/>
                    </a:cxn>
                    <a:cxn ang="0">
                      <a:pos x="5720" y="2345"/>
                    </a:cxn>
                    <a:cxn ang="0">
                      <a:pos x="5760" y="2007"/>
                    </a:cxn>
                    <a:cxn ang="0">
                      <a:pos x="5751" y="1735"/>
                    </a:cxn>
                    <a:cxn ang="0">
                      <a:pos x="5692" y="1417"/>
                    </a:cxn>
                  </a:cxnLst>
                  <a:rect l="0" t="0" r="r" b="b"/>
                  <a:pathLst>
                    <a:path w="5760" h="3882">
                      <a:moveTo>
                        <a:pt x="5614" y="1205"/>
                      </a:moveTo>
                      <a:lnTo>
                        <a:pt x="5614" y="1205"/>
                      </a:lnTo>
                      <a:lnTo>
                        <a:pt x="5577" y="1226"/>
                      </a:lnTo>
                      <a:lnTo>
                        <a:pt x="5541" y="1248"/>
                      </a:lnTo>
                      <a:lnTo>
                        <a:pt x="5505" y="1271"/>
                      </a:lnTo>
                      <a:lnTo>
                        <a:pt x="5471" y="1295"/>
                      </a:lnTo>
                      <a:lnTo>
                        <a:pt x="5438" y="1318"/>
                      </a:lnTo>
                      <a:lnTo>
                        <a:pt x="5406" y="1343"/>
                      </a:lnTo>
                      <a:lnTo>
                        <a:pt x="5377" y="1370"/>
                      </a:lnTo>
                      <a:lnTo>
                        <a:pt x="5348" y="1395"/>
                      </a:lnTo>
                      <a:lnTo>
                        <a:pt x="5321" y="1422"/>
                      </a:lnTo>
                      <a:lnTo>
                        <a:pt x="5294" y="1451"/>
                      </a:lnTo>
                      <a:lnTo>
                        <a:pt x="5271" y="1478"/>
                      </a:lnTo>
                      <a:lnTo>
                        <a:pt x="5248" y="1507"/>
                      </a:lnTo>
                      <a:lnTo>
                        <a:pt x="5226" y="1536"/>
                      </a:lnTo>
                      <a:lnTo>
                        <a:pt x="5206" y="1566"/>
                      </a:lnTo>
                      <a:lnTo>
                        <a:pt x="5188" y="1595"/>
                      </a:lnTo>
                      <a:lnTo>
                        <a:pt x="5172" y="1624"/>
                      </a:lnTo>
                      <a:lnTo>
                        <a:pt x="5172" y="1624"/>
                      </a:lnTo>
                      <a:lnTo>
                        <a:pt x="5158" y="1652"/>
                      </a:lnTo>
                      <a:lnTo>
                        <a:pt x="5145" y="1679"/>
                      </a:lnTo>
                      <a:lnTo>
                        <a:pt x="5133" y="1706"/>
                      </a:lnTo>
                      <a:lnTo>
                        <a:pt x="5124" y="1735"/>
                      </a:lnTo>
                      <a:lnTo>
                        <a:pt x="5115" y="1764"/>
                      </a:lnTo>
                      <a:lnTo>
                        <a:pt x="5106" y="1791"/>
                      </a:lnTo>
                      <a:lnTo>
                        <a:pt x="5100" y="1820"/>
                      </a:lnTo>
                      <a:lnTo>
                        <a:pt x="5095" y="1848"/>
                      </a:lnTo>
                      <a:lnTo>
                        <a:pt x="5095" y="1848"/>
                      </a:lnTo>
                      <a:lnTo>
                        <a:pt x="5097" y="1886"/>
                      </a:lnTo>
                      <a:lnTo>
                        <a:pt x="5097" y="1924"/>
                      </a:lnTo>
                      <a:lnTo>
                        <a:pt x="5097" y="1956"/>
                      </a:lnTo>
                      <a:lnTo>
                        <a:pt x="5097" y="1956"/>
                      </a:lnTo>
                      <a:lnTo>
                        <a:pt x="5095" y="2021"/>
                      </a:lnTo>
                      <a:lnTo>
                        <a:pt x="5089" y="2086"/>
                      </a:lnTo>
                      <a:lnTo>
                        <a:pt x="5082" y="2149"/>
                      </a:lnTo>
                      <a:lnTo>
                        <a:pt x="5071" y="2210"/>
                      </a:lnTo>
                      <a:lnTo>
                        <a:pt x="5057" y="2271"/>
                      </a:lnTo>
                      <a:lnTo>
                        <a:pt x="5041" y="2330"/>
                      </a:lnTo>
                      <a:lnTo>
                        <a:pt x="5019" y="2390"/>
                      </a:lnTo>
                      <a:lnTo>
                        <a:pt x="4998" y="2445"/>
                      </a:lnTo>
                      <a:lnTo>
                        <a:pt x="4973" y="2501"/>
                      </a:lnTo>
                      <a:lnTo>
                        <a:pt x="4944" y="2555"/>
                      </a:lnTo>
                      <a:lnTo>
                        <a:pt x="4913" y="2609"/>
                      </a:lnTo>
                      <a:lnTo>
                        <a:pt x="4881" y="2659"/>
                      </a:lnTo>
                      <a:lnTo>
                        <a:pt x="4845" y="2710"/>
                      </a:lnTo>
                      <a:lnTo>
                        <a:pt x="4807" y="2756"/>
                      </a:lnTo>
                      <a:lnTo>
                        <a:pt x="4768" y="2803"/>
                      </a:lnTo>
                      <a:lnTo>
                        <a:pt x="4726" y="2848"/>
                      </a:lnTo>
                      <a:lnTo>
                        <a:pt x="4726" y="2848"/>
                      </a:lnTo>
                      <a:lnTo>
                        <a:pt x="4681" y="2889"/>
                      </a:lnTo>
                      <a:lnTo>
                        <a:pt x="4636" y="2929"/>
                      </a:lnTo>
                      <a:lnTo>
                        <a:pt x="4588" y="2967"/>
                      </a:lnTo>
                      <a:lnTo>
                        <a:pt x="4539" y="3003"/>
                      </a:lnTo>
                      <a:lnTo>
                        <a:pt x="4487" y="3035"/>
                      </a:lnTo>
                      <a:lnTo>
                        <a:pt x="4435" y="3066"/>
                      </a:lnTo>
                      <a:lnTo>
                        <a:pt x="4381" y="3093"/>
                      </a:lnTo>
                      <a:lnTo>
                        <a:pt x="4325" y="3118"/>
                      </a:lnTo>
                      <a:lnTo>
                        <a:pt x="4268" y="3141"/>
                      </a:lnTo>
                      <a:lnTo>
                        <a:pt x="4210" y="3161"/>
                      </a:lnTo>
                      <a:lnTo>
                        <a:pt x="4149" y="3177"/>
                      </a:lnTo>
                      <a:lnTo>
                        <a:pt x="4090" y="3192"/>
                      </a:lnTo>
                      <a:lnTo>
                        <a:pt x="4027" y="3204"/>
                      </a:lnTo>
                      <a:lnTo>
                        <a:pt x="3964" y="3211"/>
                      </a:lnTo>
                      <a:lnTo>
                        <a:pt x="3901" y="3217"/>
                      </a:lnTo>
                      <a:lnTo>
                        <a:pt x="3836" y="3219"/>
                      </a:lnTo>
                      <a:lnTo>
                        <a:pt x="1924" y="3219"/>
                      </a:lnTo>
                      <a:lnTo>
                        <a:pt x="1924" y="3219"/>
                      </a:lnTo>
                      <a:lnTo>
                        <a:pt x="1859" y="3217"/>
                      </a:lnTo>
                      <a:lnTo>
                        <a:pt x="1796" y="3211"/>
                      </a:lnTo>
                      <a:lnTo>
                        <a:pt x="1733" y="3204"/>
                      </a:lnTo>
                      <a:lnTo>
                        <a:pt x="1670" y="3192"/>
                      </a:lnTo>
                      <a:lnTo>
                        <a:pt x="1609" y="3177"/>
                      </a:lnTo>
                      <a:lnTo>
                        <a:pt x="1550" y="3161"/>
                      </a:lnTo>
                      <a:lnTo>
                        <a:pt x="1492" y="3141"/>
                      </a:lnTo>
                      <a:lnTo>
                        <a:pt x="1435" y="3118"/>
                      </a:lnTo>
                      <a:lnTo>
                        <a:pt x="1379" y="3093"/>
                      </a:lnTo>
                      <a:lnTo>
                        <a:pt x="1325" y="3066"/>
                      </a:lnTo>
                      <a:lnTo>
                        <a:pt x="1273" y="3035"/>
                      </a:lnTo>
                      <a:lnTo>
                        <a:pt x="1221" y="3003"/>
                      </a:lnTo>
                      <a:lnTo>
                        <a:pt x="1172" y="2967"/>
                      </a:lnTo>
                      <a:lnTo>
                        <a:pt x="1124" y="2929"/>
                      </a:lnTo>
                      <a:lnTo>
                        <a:pt x="1077" y="2889"/>
                      </a:lnTo>
                      <a:lnTo>
                        <a:pt x="1034" y="2848"/>
                      </a:lnTo>
                      <a:lnTo>
                        <a:pt x="1034" y="2848"/>
                      </a:lnTo>
                      <a:lnTo>
                        <a:pt x="992" y="2803"/>
                      </a:lnTo>
                      <a:lnTo>
                        <a:pt x="951" y="2756"/>
                      </a:lnTo>
                      <a:lnTo>
                        <a:pt x="913" y="2710"/>
                      </a:lnTo>
                      <a:lnTo>
                        <a:pt x="879" y="2659"/>
                      </a:lnTo>
                      <a:lnTo>
                        <a:pt x="847" y="2609"/>
                      </a:lnTo>
                      <a:lnTo>
                        <a:pt x="816" y="2555"/>
                      </a:lnTo>
                      <a:lnTo>
                        <a:pt x="787" y="2501"/>
                      </a:lnTo>
                      <a:lnTo>
                        <a:pt x="762" y="2445"/>
                      </a:lnTo>
                      <a:lnTo>
                        <a:pt x="739" y="2390"/>
                      </a:lnTo>
                      <a:lnTo>
                        <a:pt x="719" y="2330"/>
                      </a:lnTo>
                      <a:lnTo>
                        <a:pt x="703" y="2271"/>
                      </a:lnTo>
                      <a:lnTo>
                        <a:pt x="689" y="2210"/>
                      </a:lnTo>
                      <a:lnTo>
                        <a:pt x="678" y="2149"/>
                      </a:lnTo>
                      <a:lnTo>
                        <a:pt x="669" y="2086"/>
                      </a:lnTo>
                      <a:lnTo>
                        <a:pt x="665" y="2021"/>
                      </a:lnTo>
                      <a:lnTo>
                        <a:pt x="663" y="1956"/>
                      </a:lnTo>
                      <a:lnTo>
                        <a:pt x="663" y="1924"/>
                      </a:lnTo>
                      <a:lnTo>
                        <a:pt x="663" y="1924"/>
                      </a:lnTo>
                      <a:lnTo>
                        <a:pt x="665" y="1859"/>
                      </a:lnTo>
                      <a:lnTo>
                        <a:pt x="669" y="1796"/>
                      </a:lnTo>
                      <a:lnTo>
                        <a:pt x="678" y="1733"/>
                      </a:lnTo>
                      <a:lnTo>
                        <a:pt x="689" y="1670"/>
                      </a:lnTo>
                      <a:lnTo>
                        <a:pt x="703" y="1611"/>
                      </a:lnTo>
                      <a:lnTo>
                        <a:pt x="719" y="1550"/>
                      </a:lnTo>
                      <a:lnTo>
                        <a:pt x="739" y="1492"/>
                      </a:lnTo>
                      <a:lnTo>
                        <a:pt x="762" y="1435"/>
                      </a:lnTo>
                      <a:lnTo>
                        <a:pt x="787" y="1379"/>
                      </a:lnTo>
                      <a:lnTo>
                        <a:pt x="816" y="1325"/>
                      </a:lnTo>
                      <a:lnTo>
                        <a:pt x="847" y="1273"/>
                      </a:lnTo>
                      <a:lnTo>
                        <a:pt x="879" y="1221"/>
                      </a:lnTo>
                      <a:lnTo>
                        <a:pt x="913" y="1172"/>
                      </a:lnTo>
                      <a:lnTo>
                        <a:pt x="951" y="1124"/>
                      </a:lnTo>
                      <a:lnTo>
                        <a:pt x="992" y="1079"/>
                      </a:lnTo>
                      <a:lnTo>
                        <a:pt x="1034" y="1034"/>
                      </a:lnTo>
                      <a:lnTo>
                        <a:pt x="1034" y="1034"/>
                      </a:lnTo>
                      <a:lnTo>
                        <a:pt x="1077" y="993"/>
                      </a:lnTo>
                      <a:lnTo>
                        <a:pt x="1124" y="951"/>
                      </a:lnTo>
                      <a:lnTo>
                        <a:pt x="1172" y="915"/>
                      </a:lnTo>
                      <a:lnTo>
                        <a:pt x="1221" y="879"/>
                      </a:lnTo>
                      <a:lnTo>
                        <a:pt x="1273" y="847"/>
                      </a:lnTo>
                      <a:lnTo>
                        <a:pt x="1325" y="816"/>
                      </a:lnTo>
                      <a:lnTo>
                        <a:pt x="1379" y="788"/>
                      </a:lnTo>
                      <a:lnTo>
                        <a:pt x="1435" y="762"/>
                      </a:lnTo>
                      <a:lnTo>
                        <a:pt x="1492" y="739"/>
                      </a:lnTo>
                      <a:lnTo>
                        <a:pt x="1550" y="719"/>
                      </a:lnTo>
                      <a:lnTo>
                        <a:pt x="1609" y="703"/>
                      </a:lnTo>
                      <a:lnTo>
                        <a:pt x="1670" y="689"/>
                      </a:lnTo>
                      <a:lnTo>
                        <a:pt x="1733" y="678"/>
                      </a:lnTo>
                      <a:lnTo>
                        <a:pt x="1796" y="669"/>
                      </a:lnTo>
                      <a:lnTo>
                        <a:pt x="1859" y="665"/>
                      </a:lnTo>
                      <a:lnTo>
                        <a:pt x="1924" y="663"/>
                      </a:lnTo>
                      <a:lnTo>
                        <a:pt x="3836" y="663"/>
                      </a:lnTo>
                      <a:lnTo>
                        <a:pt x="3836" y="663"/>
                      </a:lnTo>
                      <a:lnTo>
                        <a:pt x="3901" y="665"/>
                      </a:lnTo>
                      <a:lnTo>
                        <a:pt x="3964" y="669"/>
                      </a:lnTo>
                      <a:lnTo>
                        <a:pt x="4027" y="678"/>
                      </a:lnTo>
                      <a:lnTo>
                        <a:pt x="4090" y="689"/>
                      </a:lnTo>
                      <a:lnTo>
                        <a:pt x="4149" y="703"/>
                      </a:lnTo>
                      <a:lnTo>
                        <a:pt x="4210" y="719"/>
                      </a:lnTo>
                      <a:lnTo>
                        <a:pt x="4268" y="739"/>
                      </a:lnTo>
                      <a:lnTo>
                        <a:pt x="4325" y="762"/>
                      </a:lnTo>
                      <a:lnTo>
                        <a:pt x="4381" y="788"/>
                      </a:lnTo>
                      <a:lnTo>
                        <a:pt x="4435" y="816"/>
                      </a:lnTo>
                      <a:lnTo>
                        <a:pt x="4487" y="847"/>
                      </a:lnTo>
                      <a:lnTo>
                        <a:pt x="4539" y="879"/>
                      </a:lnTo>
                      <a:lnTo>
                        <a:pt x="4588" y="915"/>
                      </a:lnTo>
                      <a:lnTo>
                        <a:pt x="4636" y="951"/>
                      </a:lnTo>
                      <a:lnTo>
                        <a:pt x="4681" y="993"/>
                      </a:lnTo>
                      <a:lnTo>
                        <a:pt x="4726" y="1034"/>
                      </a:lnTo>
                      <a:lnTo>
                        <a:pt x="4726" y="1034"/>
                      </a:lnTo>
                      <a:lnTo>
                        <a:pt x="4753" y="1063"/>
                      </a:lnTo>
                      <a:lnTo>
                        <a:pt x="4753" y="1063"/>
                      </a:lnTo>
                      <a:lnTo>
                        <a:pt x="4782" y="1027"/>
                      </a:lnTo>
                      <a:lnTo>
                        <a:pt x="4813" y="993"/>
                      </a:lnTo>
                      <a:lnTo>
                        <a:pt x="4845" y="960"/>
                      </a:lnTo>
                      <a:lnTo>
                        <a:pt x="4877" y="928"/>
                      </a:lnTo>
                      <a:lnTo>
                        <a:pt x="4910" y="895"/>
                      </a:lnTo>
                      <a:lnTo>
                        <a:pt x="4944" y="865"/>
                      </a:lnTo>
                      <a:lnTo>
                        <a:pt x="4980" y="834"/>
                      </a:lnTo>
                      <a:lnTo>
                        <a:pt x="5016" y="806"/>
                      </a:lnTo>
                      <a:lnTo>
                        <a:pt x="5016" y="806"/>
                      </a:lnTo>
                      <a:lnTo>
                        <a:pt x="5075" y="761"/>
                      </a:lnTo>
                      <a:lnTo>
                        <a:pt x="5136" y="717"/>
                      </a:lnTo>
                      <a:lnTo>
                        <a:pt x="5201" y="678"/>
                      </a:lnTo>
                      <a:lnTo>
                        <a:pt x="5266" y="638"/>
                      </a:lnTo>
                      <a:lnTo>
                        <a:pt x="5266" y="638"/>
                      </a:lnTo>
                      <a:lnTo>
                        <a:pt x="5231" y="601"/>
                      </a:lnTo>
                      <a:lnTo>
                        <a:pt x="5196" y="565"/>
                      </a:lnTo>
                      <a:lnTo>
                        <a:pt x="5196" y="565"/>
                      </a:lnTo>
                      <a:lnTo>
                        <a:pt x="5163" y="532"/>
                      </a:lnTo>
                      <a:lnTo>
                        <a:pt x="5129" y="502"/>
                      </a:lnTo>
                      <a:lnTo>
                        <a:pt x="5095" y="471"/>
                      </a:lnTo>
                      <a:lnTo>
                        <a:pt x="5059" y="441"/>
                      </a:lnTo>
                      <a:lnTo>
                        <a:pt x="5023" y="412"/>
                      </a:lnTo>
                      <a:lnTo>
                        <a:pt x="4987" y="383"/>
                      </a:lnTo>
                      <a:lnTo>
                        <a:pt x="4949" y="356"/>
                      </a:lnTo>
                      <a:lnTo>
                        <a:pt x="4911" y="329"/>
                      </a:lnTo>
                      <a:lnTo>
                        <a:pt x="4872" y="304"/>
                      </a:lnTo>
                      <a:lnTo>
                        <a:pt x="4832" y="279"/>
                      </a:lnTo>
                      <a:lnTo>
                        <a:pt x="4793" y="255"/>
                      </a:lnTo>
                      <a:lnTo>
                        <a:pt x="4751" y="234"/>
                      </a:lnTo>
                      <a:lnTo>
                        <a:pt x="4712" y="210"/>
                      </a:lnTo>
                      <a:lnTo>
                        <a:pt x="4669" y="191"/>
                      </a:lnTo>
                      <a:lnTo>
                        <a:pt x="4627" y="171"/>
                      </a:lnTo>
                      <a:lnTo>
                        <a:pt x="4584" y="151"/>
                      </a:lnTo>
                      <a:lnTo>
                        <a:pt x="4541" y="133"/>
                      </a:lnTo>
                      <a:lnTo>
                        <a:pt x="4496" y="117"/>
                      </a:lnTo>
                      <a:lnTo>
                        <a:pt x="4453" y="101"/>
                      </a:lnTo>
                      <a:lnTo>
                        <a:pt x="4408" y="86"/>
                      </a:lnTo>
                      <a:lnTo>
                        <a:pt x="4361" y="74"/>
                      </a:lnTo>
                      <a:lnTo>
                        <a:pt x="4316" y="61"/>
                      </a:lnTo>
                      <a:lnTo>
                        <a:pt x="4270" y="49"/>
                      </a:lnTo>
                      <a:lnTo>
                        <a:pt x="4223" y="40"/>
                      </a:lnTo>
                      <a:lnTo>
                        <a:pt x="4176" y="31"/>
                      </a:lnTo>
                      <a:lnTo>
                        <a:pt x="4128" y="22"/>
                      </a:lnTo>
                      <a:lnTo>
                        <a:pt x="4081" y="14"/>
                      </a:lnTo>
                      <a:lnTo>
                        <a:pt x="4032" y="9"/>
                      </a:lnTo>
                      <a:lnTo>
                        <a:pt x="3984" y="5"/>
                      </a:lnTo>
                      <a:lnTo>
                        <a:pt x="3935" y="2"/>
                      </a:lnTo>
                      <a:lnTo>
                        <a:pt x="3885" y="0"/>
                      </a:lnTo>
                      <a:lnTo>
                        <a:pt x="3836" y="0"/>
                      </a:lnTo>
                      <a:lnTo>
                        <a:pt x="1924" y="0"/>
                      </a:lnTo>
                      <a:lnTo>
                        <a:pt x="1924" y="0"/>
                      </a:lnTo>
                      <a:lnTo>
                        <a:pt x="1873" y="0"/>
                      </a:lnTo>
                      <a:lnTo>
                        <a:pt x="1825" y="2"/>
                      </a:lnTo>
                      <a:lnTo>
                        <a:pt x="1776" y="5"/>
                      </a:lnTo>
                      <a:lnTo>
                        <a:pt x="1728" y="9"/>
                      </a:lnTo>
                      <a:lnTo>
                        <a:pt x="1679" y="14"/>
                      </a:lnTo>
                      <a:lnTo>
                        <a:pt x="1631" y="22"/>
                      </a:lnTo>
                      <a:lnTo>
                        <a:pt x="1584" y="31"/>
                      </a:lnTo>
                      <a:lnTo>
                        <a:pt x="1537" y="40"/>
                      </a:lnTo>
                      <a:lnTo>
                        <a:pt x="1490" y="49"/>
                      </a:lnTo>
                      <a:lnTo>
                        <a:pt x="1444" y="61"/>
                      </a:lnTo>
                      <a:lnTo>
                        <a:pt x="1399" y="74"/>
                      </a:lnTo>
                      <a:lnTo>
                        <a:pt x="1352" y="86"/>
                      </a:lnTo>
                      <a:lnTo>
                        <a:pt x="1307" y="101"/>
                      </a:lnTo>
                      <a:lnTo>
                        <a:pt x="1264" y="117"/>
                      </a:lnTo>
                      <a:lnTo>
                        <a:pt x="1219" y="133"/>
                      </a:lnTo>
                      <a:lnTo>
                        <a:pt x="1176" y="151"/>
                      </a:lnTo>
                      <a:lnTo>
                        <a:pt x="1133" y="171"/>
                      </a:lnTo>
                      <a:lnTo>
                        <a:pt x="1091" y="191"/>
                      </a:lnTo>
                      <a:lnTo>
                        <a:pt x="1048" y="210"/>
                      </a:lnTo>
                      <a:lnTo>
                        <a:pt x="1007" y="234"/>
                      </a:lnTo>
                      <a:lnTo>
                        <a:pt x="967" y="255"/>
                      </a:lnTo>
                      <a:lnTo>
                        <a:pt x="928" y="279"/>
                      </a:lnTo>
                      <a:lnTo>
                        <a:pt x="888" y="304"/>
                      </a:lnTo>
                      <a:lnTo>
                        <a:pt x="849" y="329"/>
                      </a:lnTo>
                      <a:lnTo>
                        <a:pt x="811" y="356"/>
                      </a:lnTo>
                      <a:lnTo>
                        <a:pt x="773" y="383"/>
                      </a:lnTo>
                      <a:lnTo>
                        <a:pt x="737" y="412"/>
                      </a:lnTo>
                      <a:lnTo>
                        <a:pt x="701" y="441"/>
                      </a:lnTo>
                      <a:lnTo>
                        <a:pt x="665" y="471"/>
                      </a:lnTo>
                      <a:lnTo>
                        <a:pt x="631" y="502"/>
                      </a:lnTo>
                      <a:lnTo>
                        <a:pt x="597" y="532"/>
                      </a:lnTo>
                      <a:lnTo>
                        <a:pt x="564" y="565"/>
                      </a:lnTo>
                      <a:lnTo>
                        <a:pt x="564" y="565"/>
                      </a:lnTo>
                      <a:lnTo>
                        <a:pt x="532" y="597"/>
                      </a:lnTo>
                      <a:lnTo>
                        <a:pt x="502" y="631"/>
                      </a:lnTo>
                      <a:lnTo>
                        <a:pt x="471" y="665"/>
                      </a:lnTo>
                      <a:lnTo>
                        <a:pt x="440" y="701"/>
                      </a:lnTo>
                      <a:lnTo>
                        <a:pt x="412" y="737"/>
                      </a:lnTo>
                      <a:lnTo>
                        <a:pt x="383" y="773"/>
                      </a:lnTo>
                      <a:lnTo>
                        <a:pt x="356" y="811"/>
                      </a:lnTo>
                      <a:lnTo>
                        <a:pt x="329" y="849"/>
                      </a:lnTo>
                      <a:lnTo>
                        <a:pt x="304" y="888"/>
                      </a:lnTo>
                      <a:lnTo>
                        <a:pt x="279" y="928"/>
                      </a:lnTo>
                      <a:lnTo>
                        <a:pt x="255" y="967"/>
                      </a:lnTo>
                      <a:lnTo>
                        <a:pt x="234" y="1007"/>
                      </a:lnTo>
                      <a:lnTo>
                        <a:pt x="210" y="1048"/>
                      </a:lnTo>
                      <a:lnTo>
                        <a:pt x="191" y="1091"/>
                      </a:lnTo>
                      <a:lnTo>
                        <a:pt x="171" y="1133"/>
                      </a:lnTo>
                      <a:lnTo>
                        <a:pt x="151" y="1176"/>
                      </a:lnTo>
                      <a:lnTo>
                        <a:pt x="133" y="1219"/>
                      </a:lnTo>
                      <a:lnTo>
                        <a:pt x="117" y="1264"/>
                      </a:lnTo>
                      <a:lnTo>
                        <a:pt x="101" y="1307"/>
                      </a:lnTo>
                      <a:lnTo>
                        <a:pt x="86" y="1352"/>
                      </a:lnTo>
                      <a:lnTo>
                        <a:pt x="74" y="1399"/>
                      </a:lnTo>
                      <a:lnTo>
                        <a:pt x="61" y="1444"/>
                      </a:lnTo>
                      <a:lnTo>
                        <a:pt x="49" y="1491"/>
                      </a:lnTo>
                      <a:lnTo>
                        <a:pt x="40" y="1537"/>
                      </a:lnTo>
                      <a:lnTo>
                        <a:pt x="31" y="1584"/>
                      </a:lnTo>
                      <a:lnTo>
                        <a:pt x="22" y="1631"/>
                      </a:lnTo>
                      <a:lnTo>
                        <a:pt x="14" y="1679"/>
                      </a:lnTo>
                      <a:lnTo>
                        <a:pt x="9" y="1728"/>
                      </a:lnTo>
                      <a:lnTo>
                        <a:pt x="5" y="1776"/>
                      </a:lnTo>
                      <a:lnTo>
                        <a:pt x="2" y="1825"/>
                      </a:lnTo>
                      <a:lnTo>
                        <a:pt x="0" y="1874"/>
                      </a:lnTo>
                      <a:lnTo>
                        <a:pt x="0" y="1924"/>
                      </a:lnTo>
                      <a:lnTo>
                        <a:pt x="0" y="1958"/>
                      </a:lnTo>
                      <a:lnTo>
                        <a:pt x="0" y="1958"/>
                      </a:lnTo>
                      <a:lnTo>
                        <a:pt x="0" y="2007"/>
                      </a:lnTo>
                      <a:lnTo>
                        <a:pt x="2" y="2055"/>
                      </a:lnTo>
                      <a:lnTo>
                        <a:pt x="5" y="2106"/>
                      </a:lnTo>
                      <a:lnTo>
                        <a:pt x="9" y="2154"/>
                      </a:lnTo>
                      <a:lnTo>
                        <a:pt x="14" y="2203"/>
                      </a:lnTo>
                      <a:lnTo>
                        <a:pt x="22" y="2249"/>
                      </a:lnTo>
                      <a:lnTo>
                        <a:pt x="31" y="2298"/>
                      </a:lnTo>
                      <a:lnTo>
                        <a:pt x="40" y="2345"/>
                      </a:lnTo>
                      <a:lnTo>
                        <a:pt x="49" y="2391"/>
                      </a:lnTo>
                      <a:lnTo>
                        <a:pt x="61" y="2436"/>
                      </a:lnTo>
                      <a:lnTo>
                        <a:pt x="74" y="2483"/>
                      </a:lnTo>
                      <a:lnTo>
                        <a:pt x="86" y="2528"/>
                      </a:lnTo>
                      <a:lnTo>
                        <a:pt x="101" y="2573"/>
                      </a:lnTo>
                      <a:lnTo>
                        <a:pt x="117" y="2618"/>
                      </a:lnTo>
                      <a:lnTo>
                        <a:pt x="133" y="2661"/>
                      </a:lnTo>
                      <a:lnTo>
                        <a:pt x="151" y="2706"/>
                      </a:lnTo>
                      <a:lnTo>
                        <a:pt x="171" y="2747"/>
                      </a:lnTo>
                      <a:lnTo>
                        <a:pt x="191" y="2791"/>
                      </a:lnTo>
                      <a:lnTo>
                        <a:pt x="210" y="2832"/>
                      </a:lnTo>
                      <a:lnTo>
                        <a:pt x="234" y="2873"/>
                      </a:lnTo>
                      <a:lnTo>
                        <a:pt x="255" y="2915"/>
                      </a:lnTo>
                      <a:lnTo>
                        <a:pt x="279" y="2954"/>
                      </a:lnTo>
                      <a:lnTo>
                        <a:pt x="304" y="2994"/>
                      </a:lnTo>
                      <a:lnTo>
                        <a:pt x="329" y="3032"/>
                      </a:lnTo>
                      <a:lnTo>
                        <a:pt x="356" y="3069"/>
                      </a:lnTo>
                      <a:lnTo>
                        <a:pt x="383" y="3107"/>
                      </a:lnTo>
                      <a:lnTo>
                        <a:pt x="412" y="3145"/>
                      </a:lnTo>
                      <a:lnTo>
                        <a:pt x="440" y="3181"/>
                      </a:lnTo>
                      <a:lnTo>
                        <a:pt x="471" y="3215"/>
                      </a:lnTo>
                      <a:lnTo>
                        <a:pt x="502" y="3249"/>
                      </a:lnTo>
                      <a:lnTo>
                        <a:pt x="532" y="3283"/>
                      </a:lnTo>
                      <a:lnTo>
                        <a:pt x="564" y="3316"/>
                      </a:lnTo>
                      <a:lnTo>
                        <a:pt x="564" y="3316"/>
                      </a:lnTo>
                      <a:lnTo>
                        <a:pt x="597" y="3348"/>
                      </a:lnTo>
                      <a:lnTo>
                        <a:pt x="631" y="3380"/>
                      </a:lnTo>
                      <a:lnTo>
                        <a:pt x="665" y="3411"/>
                      </a:lnTo>
                      <a:lnTo>
                        <a:pt x="701" y="3440"/>
                      </a:lnTo>
                      <a:lnTo>
                        <a:pt x="737" y="3470"/>
                      </a:lnTo>
                      <a:lnTo>
                        <a:pt x="773" y="3497"/>
                      </a:lnTo>
                      <a:lnTo>
                        <a:pt x="811" y="3524"/>
                      </a:lnTo>
                      <a:lnTo>
                        <a:pt x="849" y="3551"/>
                      </a:lnTo>
                      <a:lnTo>
                        <a:pt x="888" y="3576"/>
                      </a:lnTo>
                      <a:lnTo>
                        <a:pt x="928" y="3602"/>
                      </a:lnTo>
                      <a:lnTo>
                        <a:pt x="967" y="3625"/>
                      </a:lnTo>
                      <a:lnTo>
                        <a:pt x="1007" y="3648"/>
                      </a:lnTo>
                      <a:lnTo>
                        <a:pt x="1048" y="3670"/>
                      </a:lnTo>
                      <a:lnTo>
                        <a:pt x="1091" y="3691"/>
                      </a:lnTo>
                      <a:lnTo>
                        <a:pt x="1133" y="3711"/>
                      </a:lnTo>
                      <a:lnTo>
                        <a:pt x="1176" y="3729"/>
                      </a:lnTo>
                      <a:lnTo>
                        <a:pt x="1219" y="3747"/>
                      </a:lnTo>
                      <a:lnTo>
                        <a:pt x="1264" y="3763"/>
                      </a:lnTo>
                      <a:lnTo>
                        <a:pt x="1307" y="3780"/>
                      </a:lnTo>
                      <a:lnTo>
                        <a:pt x="1352" y="3794"/>
                      </a:lnTo>
                      <a:lnTo>
                        <a:pt x="1399" y="3808"/>
                      </a:lnTo>
                      <a:lnTo>
                        <a:pt x="1444" y="3821"/>
                      </a:lnTo>
                      <a:lnTo>
                        <a:pt x="1490" y="3832"/>
                      </a:lnTo>
                      <a:lnTo>
                        <a:pt x="1537" y="3842"/>
                      </a:lnTo>
                      <a:lnTo>
                        <a:pt x="1584" y="3851"/>
                      </a:lnTo>
                      <a:lnTo>
                        <a:pt x="1631" y="3859"/>
                      </a:lnTo>
                      <a:lnTo>
                        <a:pt x="1679" y="3866"/>
                      </a:lnTo>
                      <a:lnTo>
                        <a:pt x="1728" y="3871"/>
                      </a:lnTo>
                      <a:lnTo>
                        <a:pt x="1776" y="3877"/>
                      </a:lnTo>
                      <a:lnTo>
                        <a:pt x="1825" y="3878"/>
                      </a:lnTo>
                      <a:lnTo>
                        <a:pt x="1873" y="3880"/>
                      </a:lnTo>
                      <a:lnTo>
                        <a:pt x="1924" y="3882"/>
                      </a:lnTo>
                      <a:lnTo>
                        <a:pt x="3836" y="3882"/>
                      </a:lnTo>
                      <a:lnTo>
                        <a:pt x="3836" y="3882"/>
                      </a:lnTo>
                      <a:lnTo>
                        <a:pt x="3836" y="3882"/>
                      </a:lnTo>
                      <a:lnTo>
                        <a:pt x="3885" y="3880"/>
                      </a:lnTo>
                      <a:lnTo>
                        <a:pt x="3935" y="3878"/>
                      </a:lnTo>
                      <a:lnTo>
                        <a:pt x="3984" y="3877"/>
                      </a:lnTo>
                      <a:lnTo>
                        <a:pt x="4032" y="3871"/>
                      </a:lnTo>
                      <a:lnTo>
                        <a:pt x="4081" y="3866"/>
                      </a:lnTo>
                      <a:lnTo>
                        <a:pt x="4128" y="3859"/>
                      </a:lnTo>
                      <a:lnTo>
                        <a:pt x="4176" y="3851"/>
                      </a:lnTo>
                      <a:lnTo>
                        <a:pt x="4223" y="3842"/>
                      </a:lnTo>
                      <a:lnTo>
                        <a:pt x="4270" y="3832"/>
                      </a:lnTo>
                      <a:lnTo>
                        <a:pt x="4316" y="3821"/>
                      </a:lnTo>
                      <a:lnTo>
                        <a:pt x="4361" y="3808"/>
                      </a:lnTo>
                      <a:lnTo>
                        <a:pt x="4408" y="3794"/>
                      </a:lnTo>
                      <a:lnTo>
                        <a:pt x="4453" y="3780"/>
                      </a:lnTo>
                      <a:lnTo>
                        <a:pt x="4496" y="3763"/>
                      </a:lnTo>
                      <a:lnTo>
                        <a:pt x="4541" y="3747"/>
                      </a:lnTo>
                      <a:lnTo>
                        <a:pt x="4584" y="3729"/>
                      </a:lnTo>
                      <a:lnTo>
                        <a:pt x="4627" y="3711"/>
                      </a:lnTo>
                      <a:lnTo>
                        <a:pt x="4669" y="3691"/>
                      </a:lnTo>
                      <a:lnTo>
                        <a:pt x="4712" y="3670"/>
                      </a:lnTo>
                      <a:lnTo>
                        <a:pt x="4751" y="3648"/>
                      </a:lnTo>
                      <a:lnTo>
                        <a:pt x="4793" y="3625"/>
                      </a:lnTo>
                      <a:lnTo>
                        <a:pt x="4832" y="3602"/>
                      </a:lnTo>
                      <a:lnTo>
                        <a:pt x="4872" y="3576"/>
                      </a:lnTo>
                      <a:lnTo>
                        <a:pt x="4911" y="3551"/>
                      </a:lnTo>
                      <a:lnTo>
                        <a:pt x="4949" y="3524"/>
                      </a:lnTo>
                      <a:lnTo>
                        <a:pt x="4987" y="3497"/>
                      </a:lnTo>
                      <a:lnTo>
                        <a:pt x="5023" y="3470"/>
                      </a:lnTo>
                      <a:lnTo>
                        <a:pt x="5059" y="3440"/>
                      </a:lnTo>
                      <a:lnTo>
                        <a:pt x="5095" y="3411"/>
                      </a:lnTo>
                      <a:lnTo>
                        <a:pt x="5129" y="3380"/>
                      </a:lnTo>
                      <a:lnTo>
                        <a:pt x="5163" y="3348"/>
                      </a:lnTo>
                      <a:lnTo>
                        <a:pt x="5196" y="3316"/>
                      </a:lnTo>
                      <a:lnTo>
                        <a:pt x="5196" y="3316"/>
                      </a:lnTo>
                      <a:lnTo>
                        <a:pt x="5228" y="3283"/>
                      </a:lnTo>
                      <a:lnTo>
                        <a:pt x="5258" y="3249"/>
                      </a:lnTo>
                      <a:lnTo>
                        <a:pt x="5289" y="3215"/>
                      </a:lnTo>
                      <a:lnTo>
                        <a:pt x="5320" y="3181"/>
                      </a:lnTo>
                      <a:lnTo>
                        <a:pt x="5348" y="3145"/>
                      </a:lnTo>
                      <a:lnTo>
                        <a:pt x="5377" y="3107"/>
                      </a:lnTo>
                      <a:lnTo>
                        <a:pt x="5404" y="3069"/>
                      </a:lnTo>
                      <a:lnTo>
                        <a:pt x="5431" y="3032"/>
                      </a:lnTo>
                      <a:lnTo>
                        <a:pt x="5456" y="2994"/>
                      </a:lnTo>
                      <a:lnTo>
                        <a:pt x="5480" y="2954"/>
                      </a:lnTo>
                      <a:lnTo>
                        <a:pt x="5505" y="2915"/>
                      </a:lnTo>
                      <a:lnTo>
                        <a:pt x="5526" y="2873"/>
                      </a:lnTo>
                      <a:lnTo>
                        <a:pt x="5548" y="2832"/>
                      </a:lnTo>
                      <a:lnTo>
                        <a:pt x="5569" y="2791"/>
                      </a:lnTo>
                      <a:lnTo>
                        <a:pt x="5589" y="2747"/>
                      </a:lnTo>
                      <a:lnTo>
                        <a:pt x="5609" y="2704"/>
                      </a:lnTo>
                      <a:lnTo>
                        <a:pt x="5625" y="2661"/>
                      </a:lnTo>
                      <a:lnTo>
                        <a:pt x="5643" y="2618"/>
                      </a:lnTo>
                      <a:lnTo>
                        <a:pt x="5659" y="2573"/>
                      </a:lnTo>
                      <a:lnTo>
                        <a:pt x="5674" y="2528"/>
                      </a:lnTo>
                      <a:lnTo>
                        <a:pt x="5686" y="2483"/>
                      </a:lnTo>
                      <a:lnTo>
                        <a:pt x="5699" y="2436"/>
                      </a:lnTo>
                      <a:lnTo>
                        <a:pt x="5711" y="2391"/>
                      </a:lnTo>
                      <a:lnTo>
                        <a:pt x="5720" y="2345"/>
                      </a:lnTo>
                      <a:lnTo>
                        <a:pt x="5729" y="2296"/>
                      </a:lnTo>
                      <a:lnTo>
                        <a:pt x="5738" y="2249"/>
                      </a:lnTo>
                      <a:lnTo>
                        <a:pt x="5744" y="2201"/>
                      </a:lnTo>
                      <a:lnTo>
                        <a:pt x="5751" y="2154"/>
                      </a:lnTo>
                      <a:lnTo>
                        <a:pt x="5755" y="2106"/>
                      </a:lnTo>
                      <a:lnTo>
                        <a:pt x="5758" y="2055"/>
                      </a:lnTo>
                      <a:lnTo>
                        <a:pt x="5760" y="2007"/>
                      </a:lnTo>
                      <a:lnTo>
                        <a:pt x="5760" y="1956"/>
                      </a:lnTo>
                      <a:lnTo>
                        <a:pt x="5760" y="1924"/>
                      </a:lnTo>
                      <a:lnTo>
                        <a:pt x="5760" y="1924"/>
                      </a:lnTo>
                      <a:lnTo>
                        <a:pt x="5760" y="1877"/>
                      </a:lnTo>
                      <a:lnTo>
                        <a:pt x="5758" y="1829"/>
                      </a:lnTo>
                      <a:lnTo>
                        <a:pt x="5755" y="1782"/>
                      </a:lnTo>
                      <a:lnTo>
                        <a:pt x="5751" y="1735"/>
                      </a:lnTo>
                      <a:lnTo>
                        <a:pt x="5746" y="1688"/>
                      </a:lnTo>
                      <a:lnTo>
                        <a:pt x="5740" y="1643"/>
                      </a:lnTo>
                      <a:lnTo>
                        <a:pt x="5731" y="1597"/>
                      </a:lnTo>
                      <a:lnTo>
                        <a:pt x="5724" y="1552"/>
                      </a:lnTo>
                      <a:lnTo>
                        <a:pt x="5713" y="1507"/>
                      </a:lnTo>
                      <a:lnTo>
                        <a:pt x="5704" y="1462"/>
                      </a:lnTo>
                      <a:lnTo>
                        <a:pt x="5692" y="1417"/>
                      </a:lnTo>
                      <a:lnTo>
                        <a:pt x="5679" y="1374"/>
                      </a:lnTo>
                      <a:lnTo>
                        <a:pt x="5650" y="1287"/>
                      </a:lnTo>
                      <a:lnTo>
                        <a:pt x="5618" y="1203"/>
                      </a:lnTo>
                      <a:lnTo>
                        <a:pt x="5618" y="1203"/>
                      </a:lnTo>
                      <a:lnTo>
                        <a:pt x="5614" y="1205"/>
                      </a:lnTo>
                      <a:lnTo>
                        <a:pt x="5614" y="1205"/>
                      </a:lnTo>
                      <a:close/>
                    </a:path>
                  </a:pathLst>
                </a:custGeom>
                <a:gradFill flip="none" rotWithShape="1">
                  <a:gsLst>
                    <a:gs pos="0">
                      <a:schemeClr val="accent1">
                        <a:lumMod val="60000"/>
                        <a:lumOff val="40000"/>
                      </a:schemeClr>
                    </a:gs>
                    <a:gs pos="99000">
                      <a:schemeClr val="accent1">
                        <a:lumMod val="50000"/>
                      </a:schemeClr>
                    </a:gs>
                  </a:gsLst>
                  <a:path path="circle">
                    <a:fillToRect r="100000" b="100000"/>
                  </a:path>
                  <a:tileRect l="-100000" t="-100000"/>
                </a:gradFill>
                <a:ln w="9525">
                  <a:noFill/>
                  <a:round/>
                  <a:headEnd/>
                  <a:tailEnd/>
                </a:ln>
                <a:effectLst/>
                <a:scene3d>
                  <a:camera prst="orthographicFront"/>
                  <a:lightRig rig="threePt" dir="t">
                    <a:rot lat="0" lon="0" rev="12720000"/>
                  </a:lightRig>
                </a:scene3d>
                <a:sp3d/>
              </p:spPr>
              <p:txBody>
                <a:bodyPr/>
                <a:lstStyle/>
                <a:p>
                  <a:pPr>
                    <a:lnSpc>
                      <a:spcPct val="85000"/>
                    </a:lnSpc>
                  </a:pPr>
                  <a:endParaRPr lang="en-US" sz="1350">
                    <a:latin typeface="Times"/>
                  </a:endParaRPr>
                </a:p>
              </p:txBody>
            </p:sp>
          </p:grpSp>
          <p:grpSp>
            <p:nvGrpSpPr>
              <p:cNvPr id="24" name="Group 13">
                <a:extLst>
                  <a:ext uri="{FF2B5EF4-FFF2-40B4-BE49-F238E27FC236}">
                    <a16:creationId xmlns:a16="http://schemas.microsoft.com/office/drawing/2014/main" id="{E2F6AE65-9F8E-3849-B62E-6231DFE5A65D}"/>
                  </a:ext>
                </a:extLst>
              </p:cNvPr>
              <p:cNvGrpSpPr/>
              <p:nvPr/>
            </p:nvGrpSpPr>
            <p:grpSpPr>
              <a:xfrm flipH="1">
                <a:off x="4869315" y="1304305"/>
                <a:ext cx="4249645" cy="1608414"/>
                <a:chOff x="42695" y="1676400"/>
                <a:chExt cx="4227940" cy="1600200"/>
              </a:xfrm>
            </p:grpSpPr>
            <p:sp>
              <p:nvSpPr>
                <p:cNvPr id="25" name="Freeform 14">
                  <a:extLst>
                    <a:ext uri="{FF2B5EF4-FFF2-40B4-BE49-F238E27FC236}">
                      <a16:creationId xmlns:a16="http://schemas.microsoft.com/office/drawing/2014/main" id="{B5FC68C5-BBA5-F74F-AFC2-F3875625C06F}"/>
                    </a:ext>
                  </a:extLst>
                </p:cNvPr>
                <p:cNvSpPr>
                  <a:spLocks/>
                </p:cNvSpPr>
                <p:nvPr/>
              </p:nvSpPr>
              <p:spPr bwMode="auto">
                <a:xfrm flipH="1">
                  <a:off x="1863769" y="1823360"/>
                  <a:ext cx="2406866" cy="1339657"/>
                </a:xfrm>
                <a:custGeom>
                  <a:avLst/>
                  <a:gdLst/>
                  <a:ahLst/>
                  <a:cxnLst>
                    <a:cxn ang="0">
                      <a:pos x="5460" y="738"/>
                    </a:cxn>
                    <a:cxn ang="0">
                      <a:pos x="5199" y="468"/>
                    </a:cxn>
                    <a:cxn ang="0">
                      <a:pos x="4881" y="256"/>
                    </a:cxn>
                    <a:cxn ang="0">
                      <a:pos x="4581" y="125"/>
                    </a:cxn>
                    <a:cxn ang="0">
                      <a:pos x="4186" y="27"/>
                    </a:cxn>
                    <a:cxn ang="0">
                      <a:pos x="1923" y="0"/>
                    </a:cxn>
                    <a:cxn ang="0">
                      <a:pos x="1688" y="12"/>
                    </a:cxn>
                    <a:cxn ang="0">
                      <a:pos x="1416" y="56"/>
                    </a:cxn>
                    <a:cxn ang="0">
                      <a:pos x="1158" y="131"/>
                    </a:cxn>
                    <a:cxn ang="0">
                      <a:pos x="917" y="236"/>
                    </a:cxn>
                    <a:cxn ang="0">
                      <a:pos x="696" y="367"/>
                    </a:cxn>
                    <a:cxn ang="0">
                      <a:pos x="529" y="495"/>
                    </a:cxn>
                    <a:cxn ang="0">
                      <a:pos x="352" y="672"/>
                    </a:cxn>
                    <a:cxn ang="0">
                      <a:pos x="206" y="873"/>
                    </a:cxn>
                    <a:cxn ang="0">
                      <a:pos x="111" y="1057"/>
                    </a:cxn>
                    <a:cxn ang="0">
                      <a:pos x="34" y="1295"/>
                    </a:cxn>
                    <a:cxn ang="0">
                      <a:pos x="0" y="1547"/>
                    </a:cxn>
                    <a:cxn ang="0">
                      <a:pos x="6" y="1745"/>
                    </a:cxn>
                    <a:cxn ang="0">
                      <a:pos x="55" y="1993"/>
                    </a:cxn>
                    <a:cxn ang="0">
                      <a:pos x="146" y="2226"/>
                    </a:cxn>
                    <a:cxn ang="0">
                      <a:pos x="267" y="2424"/>
                    </a:cxn>
                    <a:cxn ang="0">
                      <a:pos x="454" y="2644"/>
                    </a:cxn>
                    <a:cxn ang="0">
                      <a:pos x="680" y="2830"/>
                    </a:cxn>
                    <a:cxn ang="0">
                      <a:pos x="663" y="1617"/>
                    </a:cxn>
                    <a:cxn ang="0">
                      <a:pos x="686" y="1422"/>
                    </a:cxn>
                    <a:cxn ang="0">
                      <a:pos x="766" y="1230"/>
                    </a:cxn>
                    <a:cxn ang="0">
                      <a:pos x="899" y="1057"/>
                    </a:cxn>
                    <a:cxn ang="0">
                      <a:pos x="1082" y="905"/>
                    </a:cxn>
                    <a:cxn ang="0">
                      <a:pos x="1271" y="802"/>
                    </a:cxn>
                    <a:cxn ang="0">
                      <a:pos x="1531" y="712"/>
                    </a:cxn>
                    <a:cxn ang="0">
                      <a:pos x="1822" y="667"/>
                    </a:cxn>
                    <a:cxn ang="0">
                      <a:pos x="3971" y="669"/>
                    </a:cxn>
                    <a:cxn ang="0">
                      <a:pos x="4349" y="747"/>
                    </a:cxn>
                    <a:cxn ang="0">
                      <a:pos x="4666" y="897"/>
                    </a:cxn>
                    <a:cxn ang="0">
                      <a:pos x="4870" y="1067"/>
                    </a:cxn>
                    <a:cxn ang="0">
                      <a:pos x="5010" y="1259"/>
                    </a:cxn>
                    <a:cxn ang="0">
                      <a:pos x="5091" y="1505"/>
                    </a:cxn>
                    <a:cxn ang="0">
                      <a:pos x="5091" y="1702"/>
                    </a:cxn>
                    <a:cxn ang="0">
                      <a:pos x="5010" y="1949"/>
                    </a:cxn>
                    <a:cxn ang="0">
                      <a:pos x="4911" y="2094"/>
                    </a:cxn>
                    <a:cxn ang="0">
                      <a:pos x="4744" y="2254"/>
                    </a:cxn>
                    <a:cxn ang="0">
                      <a:pos x="4568" y="2366"/>
                    </a:cxn>
                    <a:cxn ang="0">
                      <a:pos x="4320" y="2470"/>
                    </a:cxn>
                    <a:cxn ang="0">
                      <a:pos x="4038" y="2531"/>
                    </a:cxn>
                    <a:cxn ang="0">
                      <a:pos x="1923" y="2543"/>
                    </a:cxn>
                    <a:cxn ang="0">
                      <a:pos x="1492" y="2485"/>
                    </a:cxn>
                    <a:cxn ang="0">
                      <a:pos x="1498" y="3168"/>
                    </a:cxn>
                    <a:cxn ang="0">
                      <a:pos x="1923" y="3206"/>
                    </a:cxn>
                    <a:cxn ang="0">
                      <a:pos x="4026" y="3198"/>
                    </a:cxn>
                    <a:cxn ang="0">
                      <a:pos x="4299" y="3160"/>
                    </a:cxn>
                    <a:cxn ang="0">
                      <a:pos x="4559" y="3090"/>
                    </a:cxn>
                    <a:cxn ang="0">
                      <a:pos x="4805" y="2991"/>
                    </a:cxn>
                    <a:cxn ang="0">
                      <a:pos x="5029" y="2865"/>
                    </a:cxn>
                    <a:cxn ang="0">
                      <a:pos x="5199" y="2740"/>
                    </a:cxn>
                    <a:cxn ang="0">
                      <a:pos x="5381" y="2566"/>
                    </a:cxn>
                    <a:cxn ang="0">
                      <a:pos x="5531" y="2369"/>
                    </a:cxn>
                    <a:cxn ang="0">
                      <a:pos x="5632" y="2188"/>
                    </a:cxn>
                    <a:cxn ang="0">
                      <a:pos x="5717" y="1953"/>
                    </a:cxn>
                    <a:cxn ang="0">
                      <a:pos x="5757" y="1702"/>
                    </a:cxn>
                    <a:cxn ang="0">
                      <a:pos x="5757" y="1504"/>
                    </a:cxn>
                    <a:cxn ang="0">
                      <a:pos x="5716" y="1254"/>
                    </a:cxn>
                    <a:cxn ang="0">
                      <a:pos x="5632" y="1019"/>
                    </a:cxn>
                  </a:cxnLst>
                  <a:rect l="0" t="0" r="r" b="b"/>
                  <a:pathLst>
                    <a:path w="5760" h="3206">
                      <a:moveTo>
                        <a:pt x="5595" y="945"/>
                      </a:moveTo>
                      <a:lnTo>
                        <a:pt x="5595" y="945"/>
                      </a:lnTo>
                      <a:lnTo>
                        <a:pt x="5563" y="891"/>
                      </a:lnTo>
                      <a:lnTo>
                        <a:pt x="5531" y="838"/>
                      </a:lnTo>
                      <a:lnTo>
                        <a:pt x="5496" y="786"/>
                      </a:lnTo>
                      <a:lnTo>
                        <a:pt x="5460" y="738"/>
                      </a:lnTo>
                      <a:lnTo>
                        <a:pt x="5420" y="689"/>
                      </a:lnTo>
                      <a:lnTo>
                        <a:pt x="5381" y="642"/>
                      </a:lnTo>
                      <a:lnTo>
                        <a:pt x="5338" y="596"/>
                      </a:lnTo>
                      <a:lnTo>
                        <a:pt x="5292" y="552"/>
                      </a:lnTo>
                      <a:lnTo>
                        <a:pt x="5246" y="509"/>
                      </a:lnTo>
                      <a:lnTo>
                        <a:pt x="5199" y="468"/>
                      </a:lnTo>
                      <a:lnTo>
                        <a:pt x="5149" y="428"/>
                      </a:lnTo>
                      <a:lnTo>
                        <a:pt x="5099" y="390"/>
                      </a:lnTo>
                      <a:lnTo>
                        <a:pt x="5047" y="355"/>
                      </a:lnTo>
                      <a:lnTo>
                        <a:pt x="4992" y="320"/>
                      </a:lnTo>
                      <a:lnTo>
                        <a:pt x="4937" y="286"/>
                      </a:lnTo>
                      <a:lnTo>
                        <a:pt x="4881" y="256"/>
                      </a:lnTo>
                      <a:lnTo>
                        <a:pt x="4881" y="256"/>
                      </a:lnTo>
                      <a:lnTo>
                        <a:pt x="4823" y="226"/>
                      </a:lnTo>
                      <a:lnTo>
                        <a:pt x="4765" y="198"/>
                      </a:lnTo>
                      <a:lnTo>
                        <a:pt x="4704" y="172"/>
                      </a:lnTo>
                      <a:lnTo>
                        <a:pt x="4643" y="146"/>
                      </a:lnTo>
                      <a:lnTo>
                        <a:pt x="4581" y="125"/>
                      </a:lnTo>
                      <a:lnTo>
                        <a:pt x="4518" y="104"/>
                      </a:lnTo>
                      <a:lnTo>
                        <a:pt x="4453" y="84"/>
                      </a:lnTo>
                      <a:lnTo>
                        <a:pt x="4389" y="67"/>
                      </a:lnTo>
                      <a:lnTo>
                        <a:pt x="4322" y="52"/>
                      </a:lnTo>
                      <a:lnTo>
                        <a:pt x="4254" y="38"/>
                      </a:lnTo>
                      <a:lnTo>
                        <a:pt x="4186" y="27"/>
                      </a:lnTo>
                      <a:lnTo>
                        <a:pt x="4117" y="18"/>
                      </a:lnTo>
                      <a:lnTo>
                        <a:pt x="4049" y="11"/>
                      </a:lnTo>
                      <a:lnTo>
                        <a:pt x="3979" y="5"/>
                      </a:lnTo>
                      <a:lnTo>
                        <a:pt x="3907" y="2"/>
                      </a:lnTo>
                      <a:lnTo>
                        <a:pt x="3837" y="0"/>
                      </a:lnTo>
                      <a:lnTo>
                        <a:pt x="1923" y="0"/>
                      </a:lnTo>
                      <a:lnTo>
                        <a:pt x="1923" y="0"/>
                      </a:lnTo>
                      <a:lnTo>
                        <a:pt x="1876" y="2"/>
                      </a:lnTo>
                      <a:lnTo>
                        <a:pt x="1829" y="3"/>
                      </a:lnTo>
                      <a:lnTo>
                        <a:pt x="1781" y="5"/>
                      </a:lnTo>
                      <a:lnTo>
                        <a:pt x="1734" y="8"/>
                      </a:lnTo>
                      <a:lnTo>
                        <a:pt x="1688" y="12"/>
                      </a:lnTo>
                      <a:lnTo>
                        <a:pt x="1643" y="18"/>
                      </a:lnTo>
                      <a:lnTo>
                        <a:pt x="1595" y="24"/>
                      </a:lnTo>
                      <a:lnTo>
                        <a:pt x="1551" y="30"/>
                      </a:lnTo>
                      <a:lnTo>
                        <a:pt x="1506" y="38"/>
                      </a:lnTo>
                      <a:lnTo>
                        <a:pt x="1460" y="47"/>
                      </a:lnTo>
                      <a:lnTo>
                        <a:pt x="1416" y="56"/>
                      </a:lnTo>
                      <a:lnTo>
                        <a:pt x="1371" y="67"/>
                      </a:lnTo>
                      <a:lnTo>
                        <a:pt x="1329" y="78"/>
                      </a:lnTo>
                      <a:lnTo>
                        <a:pt x="1285" y="90"/>
                      </a:lnTo>
                      <a:lnTo>
                        <a:pt x="1242" y="104"/>
                      </a:lnTo>
                      <a:lnTo>
                        <a:pt x="1199" y="117"/>
                      </a:lnTo>
                      <a:lnTo>
                        <a:pt x="1158" y="131"/>
                      </a:lnTo>
                      <a:lnTo>
                        <a:pt x="1117" y="146"/>
                      </a:lnTo>
                      <a:lnTo>
                        <a:pt x="1076" y="163"/>
                      </a:lnTo>
                      <a:lnTo>
                        <a:pt x="1035" y="180"/>
                      </a:lnTo>
                      <a:lnTo>
                        <a:pt x="995" y="198"/>
                      </a:lnTo>
                      <a:lnTo>
                        <a:pt x="955" y="216"/>
                      </a:lnTo>
                      <a:lnTo>
                        <a:pt x="917" y="236"/>
                      </a:lnTo>
                      <a:lnTo>
                        <a:pt x="879" y="256"/>
                      </a:lnTo>
                      <a:lnTo>
                        <a:pt x="841" y="276"/>
                      </a:lnTo>
                      <a:lnTo>
                        <a:pt x="803" y="297"/>
                      </a:lnTo>
                      <a:lnTo>
                        <a:pt x="766" y="320"/>
                      </a:lnTo>
                      <a:lnTo>
                        <a:pt x="731" y="343"/>
                      </a:lnTo>
                      <a:lnTo>
                        <a:pt x="696" y="367"/>
                      </a:lnTo>
                      <a:lnTo>
                        <a:pt x="661" y="392"/>
                      </a:lnTo>
                      <a:lnTo>
                        <a:pt x="628" y="416"/>
                      </a:lnTo>
                      <a:lnTo>
                        <a:pt x="594" y="442"/>
                      </a:lnTo>
                      <a:lnTo>
                        <a:pt x="594" y="442"/>
                      </a:lnTo>
                      <a:lnTo>
                        <a:pt x="561" y="468"/>
                      </a:lnTo>
                      <a:lnTo>
                        <a:pt x="529" y="495"/>
                      </a:lnTo>
                      <a:lnTo>
                        <a:pt x="498" y="523"/>
                      </a:lnTo>
                      <a:lnTo>
                        <a:pt x="468" y="552"/>
                      </a:lnTo>
                      <a:lnTo>
                        <a:pt x="437" y="581"/>
                      </a:lnTo>
                      <a:lnTo>
                        <a:pt x="408" y="611"/>
                      </a:lnTo>
                      <a:lnTo>
                        <a:pt x="379" y="642"/>
                      </a:lnTo>
                      <a:lnTo>
                        <a:pt x="352" y="672"/>
                      </a:lnTo>
                      <a:lnTo>
                        <a:pt x="326" y="704"/>
                      </a:lnTo>
                      <a:lnTo>
                        <a:pt x="300" y="738"/>
                      </a:lnTo>
                      <a:lnTo>
                        <a:pt x="276" y="770"/>
                      </a:lnTo>
                      <a:lnTo>
                        <a:pt x="251" y="803"/>
                      </a:lnTo>
                      <a:lnTo>
                        <a:pt x="229" y="838"/>
                      </a:lnTo>
                      <a:lnTo>
                        <a:pt x="206" y="873"/>
                      </a:lnTo>
                      <a:lnTo>
                        <a:pt x="186" y="908"/>
                      </a:lnTo>
                      <a:lnTo>
                        <a:pt x="165" y="945"/>
                      </a:lnTo>
                      <a:lnTo>
                        <a:pt x="165" y="945"/>
                      </a:lnTo>
                      <a:lnTo>
                        <a:pt x="146" y="981"/>
                      </a:lnTo>
                      <a:lnTo>
                        <a:pt x="128" y="1019"/>
                      </a:lnTo>
                      <a:lnTo>
                        <a:pt x="111" y="1057"/>
                      </a:lnTo>
                      <a:lnTo>
                        <a:pt x="94" y="1096"/>
                      </a:lnTo>
                      <a:lnTo>
                        <a:pt x="81" y="1134"/>
                      </a:lnTo>
                      <a:lnTo>
                        <a:pt x="67" y="1173"/>
                      </a:lnTo>
                      <a:lnTo>
                        <a:pt x="55" y="1214"/>
                      </a:lnTo>
                      <a:lnTo>
                        <a:pt x="43" y="1254"/>
                      </a:lnTo>
                      <a:lnTo>
                        <a:pt x="34" y="1295"/>
                      </a:lnTo>
                      <a:lnTo>
                        <a:pt x="24" y="1336"/>
                      </a:lnTo>
                      <a:lnTo>
                        <a:pt x="17" y="1377"/>
                      </a:lnTo>
                      <a:lnTo>
                        <a:pt x="11" y="1420"/>
                      </a:lnTo>
                      <a:lnTo>
                        <a:pt x="6" y="1461"/>
                      </a:lnTo>
                      <a:lnTo>
                        <a:pt x="3" y="1504"/>
                      </a:lnTo>
                      <a:lnTo>
                        <a:pt x="0" y="1547"/>
                      </a:lnTo>
                      <a:lnTo>
                        <a:pt x="0" y="1591"/>
                      </a:lnTo>
                      <a:lnTo>
                        <a:pt x="0" y="1617"/>
                      </a:lnTo>
                      <a:lnTo>
                        <a:pt x="0" y="1617"/>
                      </a:lnTo>
                      <a:lnTo>
                        <a:pt x="0" y="1659"/>
                      </a:lnTo>
                      <a:lnTo>
                        <a:pt x="3" y="1702"/>
                      </a:lnTo>
                      <a:lnTo>
                        <a:pt x="6" y="1745"/>
                      </a:lnTo>
                      <a:lnTo>
                        <a:pt x="11" y="1787"/>
                      </a:lnTo>
                      <a:lnTo>
                        <a:pt x="17" y="1830"/>
                      </a:lnTo>
                      <a:lnTo>
                        <a:pt x="24" y="1871"/>
                      </a:lnTo>
                      <a:lnTo>
                        <a:pt x="34" y="1912"/>
                      </a:lnTo>
                      <a:lnTo>
                        <a:pt x="43" y="1953"/>
                      </a:lnTo>
                      <a:lnTo>
                        <a:pt x="55" y="1993"/>
                      </a:lnTo>
                      <a:lnTo>
                        <a:pt x="67" y="2033"/>
                      </a:lnTo>
                      <a:lnTo>
                        <a:pt x="81" y="2072"/>
                      </a:lnTo>
                      <a:lnTo>
                        <a:pt x="94" y="2112"/>
                      </a:lnTo>
                      <a:lnTo>
                        <a:pt x="111" y="2150"/>
                      </a:lnTo>
                      <a:lnTo>
                        <a:pt x="128" y="2188"/>
                      </a:lnTo>
                      <a:lnTo>
                        <a:pt x="146" y="2226"/>
                      </a:lnTo>
                      <a:lnTo>
                        <a:pt x="165" y="2263"/>
                      </a:lnTo>
                      <a:lnTo>
                        <a:pt x="165" y="2263"/>
                      </a:lnTo>
                      <a:lnTo>
                        <a:pt x="189" y="2304"/>
                      </a:lnTo>
                      <a:lnTo>
                        <a:pt x="213" y="2345"/>
                      </a:lnTo>
                      <a:lnTo>
                        <a:pt x="239" y="2385"/>
                      </a:lnTo>
                      <a:lnTo>
                        <a:pt x="267" y="2424"/>
                      </a:lnTo>
                      <a:lnTo>
                        <a:pt x="296" y="2464"/>
                      </a:lnTo>
                      <a:lnTo>
                        <a:pt x="325" y="2500"/>
                      </a:lnTo>
                      <a:lnTo>
                        <a:pt x="355" y="2539"/>
                      </a:lnTo>
                      <a:lnTo>
                        <a:pt x="387" y="2574"/>
                      </a:lnTo>
                      <a:lnTo>
                        <a:pt x="421" y="2609"/>
                      </a:lnTo>
                      <a:lnTo>
                        <a:pt x="454" y="2644"/>
                      </a:lnTo>
                      <a:lnTo>
                        <a:pt x="489" y="2676"/>
                      </a:lnTo>
                      <a:lnTo>
                        <a:pt x="526" y="2709"/>
                      </a:lnTo>
                      <a:lnTo>
                        <a:pt x="562" y="2740"/>
                      </a:lnTo>
                      <a:lnTo>
                        <a:pt x="600" y="2770"/>
                      </a:lnTo>
                      <a:lnTo>
                        <a:pt x="640" y="2801"/>
                      </a:lnTo>
                      <a:lnTo>
                        <a:pt x="680" y="2830"/>
                      </a:lnTo>
                      <a:lnTo>
                        <a:pt x="680" y="1763"/>
                      </a:lnTo>
                      <a:lnTo>
                        <a:pt x="680" y="1763"/>
                      </a:lnTo>
                      <a:lnTo>
                        <a:pt x="672" y="1726"/>
                      </a:lnTo>
                      <a:lnTo>
                        <a:pt x="667" y="1690"/>
                      </a:lnTo>
                      <a:lnTo>
                        <a:pt x="664" y="1653"/>
                      </a:lnTo>
                      <a:lnTo>
                        <a:pt x="663" y="1617"/>
                      </a:lnTo>
                      <a:lnTo>
                        <a:pt x="663" y="1591"/>
                      </a:lnTo>
                      <a:lnTo>
                        <a:pt x="663" y="1591"/>
                      </a:lnTo>
                      <a:lnTo>
                        <a:pt x="664" y="1548"/>
                      </a:lnTo>
                      <a:lnTo>
                        <a:pt x="669" y="1505"/>
                      </a:lnTo>
                      <a:lnTo>
                        <a:pt x="675" y="1463"/>
                      </a:lnTo>
                      <a:lnTo>
                        <a:pt x="686" y="1422"/>
                      </a:lnTo>
                      <a:lnTo>
                        <a:pt x="698" y="1381"/>
                      </a:lnTo>
                      <a:lnTo>
                        <a:pt x="712" y="1339"/>
                      </a:lnTo>
                      <a:lnTo>
                        <a:pt x="730" y="1298"/>
                      </a:lnTo>
                      <a:lnTo>
                        <a:pt x="750" y="1259"/>
                      </a:lnTo>
                      <a:lnTo>
                        <a:pt x="750" y="1259"/>
                      </a:lnTo>
                      <a:lnTo>
                        <a:pt x="766" y="1230"/>
                      </a:lnTo>
                      <a:lnTo>
                        <a:pt x="785" y="1199"/>
                      </a:lnTo>
                      <a:lnTo>
                        <a:pt x="805" y="1170"/>
                      </a:lnTo>
                      <a:lnTo>
                        <a:pt x="826" y="1141"/>
                      </a:lnTo>
                      <a:lnTo>
                        <a:pt x="849" y="1114"/>
                      </a:lnTo>
                      <a:lnTo>
                        <a:pt x="873" y="1085"/>
                      </a:lnTo>
                      <a:lnTo>
                        <a:pt x="899" y="1057"/>
                      </a:lnTo>
                      <a:lnTo>
                        <a:pt x="926" y="1032"/>
                      </a:lnTo>
                      <a:lnTo>
                        <a:pt x="954" y="1004"/>
                      </a:lnTo>
                      <a:lnTo>
                        <a:pt x="984" y="978"/>
                      </a:lnTo>
                      <a:lnTo>
                        <a:pt x="1015" y="954"/>
                      </a:lnTo>
                      <a:lnTo>
                        <a:pt x="1048" y="929"/>
                      </a:lnTo>
                      <a:lnTo>
                        <a:pt x="1082" y="905"/>
                      </a:lnTo>
                      <a:lnTo>
                        <a:pt x="1117" y="884"/>
                      </a:lnTo>
                      <a:lnTo>
                        <a:pt x="1154" y="861"/>
                      </a:lnTo>
                      <a:lnTo>
                        <a:pt x="1192" y="840"/>
                      </a:lnTo>
                      <a:lnTo>
                        <a:pt x="1192" y="840"/>
                      </a:lnTo>
                      <a:lnTo>
                        <a:pt x="1231" y="820"/>
                      </a:lnTo>
                      <a:lnTo>
                        <a:pt x="1271" y="802"/>
                      </a:lnTo>
                      <a:lnTo>
                        <a:pt x="1312" y="783"/>
                      </a:lnTo>
                      <a:lnTo>
                        <a:pt x="1353" y="766"/>
                      </a:lnTo>
                      <a:lnTo>
                        <a:pt x="1396" y="751"/>
                      </a:lnTo>
                      <a:lnTo>
                        <a:pt x="1440" y="736"/>
                      </a:lnTo>
                      <a:lnTo>
                        <a:pt x="1486" y="724"/>
                      </a:lnTo>
                      <a:lnTo>
                        <a:pt x="1531" y="712"/>
                      </a:lnTo>
                      <a:lnTo>
                        <a:pt x="1577" y="701"/>
                      </a:lnTo>
                      <a:lnTo>
                        <a:pt x="1626" y="690"/>
                      </a:lnTo>
                      <a:lnTo>
                        <a:pt x="1673" y="683"/>
                      </a:lnTo>
                      <a:lnTo>
                        <a:pt x="1722" y="677"/>
                      </a:lnTo>
                      <a:lnTo>
                        <a:pt x="1772" y="670"/>
                      </a:lnTo>
                      <a:lnTo>
                        <a:pt x="1822" y="667"/>
                      </a:lnTo>
                      <a:lnTo>
                        <a:pt x="1873" y="664"/>
                      </a:lnTo>
                      <a:lnTo>
                        <a:pt x="1923" y="664"/>
                      </a:lnTo>
                      <a:lnTo>
                        <a:pt x="3837" y="664"/>
                      </a:lnTo>
                      <a:lnTo>
                        <a:pt x="3837" y="664"/>
                      </a:lnTo>
                      <a:lnTo>
                        <a:pt x="3904" y="666"/>
                      </a:lnTo>
                      <a:lnTo>
                        <a:pt x="3971" y="669"/>
                      </a:lnTo>
                      <a:lnTo>
                        <a:pt x="4038" y="677"/>
                      </a:lnTo>
                      <a:lnTo>
                        <a:pt x="4102" y="686"/>
                      </a:lnTo>
                      <a:lnTo>
                        <a:pt x="4166" y="696"/>
                      </a:lnTo>
                      <a:lnTo>
                        <a:pt x="4229" y="712"/>
                      </a:lnTo>
                      <a:lnTo>
                        <a:pt x="4290" y="727"/>
                      </a:lnTo>
                      <a:lnTo>
                        <a:pt x="4349" y="747"/>
                      </a:lnTo>
                      <a:lnTo>
                        <a:pt x="4407" y="766"/>
                      </a:lnTo>
                      <a:lnTo>
                        <a:pt x="4462" y="789"/>
                      </a:lnTo>
                      <a:lnTo>
                        <a:pt x="4517" y="814"/>
                      </a:lnTo>
                      <a:lnTo>
                        <a:pt x="4568" y="840"/>
                      </a:lnTo>
                      <a:lnTo>
                        <a:pt x="4619" y="869"/>
                      </a:lnTo>
                      <a:lnTo>
                        <a:pt x="4666" y="897"/>
                      </a:lnTo>
                      <a:lnTo>
                        <a:pt x="4712" y="929"/>
                      </a:lnTo>
                      <a:lnTo>
                        <a:pt x="4754" y="961"/>
                      </a:lnTo>
                      <a:lnTo>
                        <a:pt x="4754" y="961"/>
                      </a:lnTo>
                      <a:lnTo>
                        <a:pt x="4795" y="997"/>
                      </a:lnTo>
                      <a:lnTo>
                        <a:pt x="4834" y="1032"/>
                      </a:lnTo>
                      <a:lnTo>
                        <a:pt x="4870" y="1067"/>
                      </a:lnTo>
                      <a:lnTo>
                        <a:pt x="4904" y="1105"/>
                      </a:lnTo>
                      <a:lnTo>
                        <a:pt x="4934" y="1141"/>
                      </a:lnTo>
                      <a:lnTo>
                        <a:pt x="4963" y="1181"/>
                      </a:lnTo>
                      <a:lnTo>
                        <a:pt x="4987" y="1219"/>
                      </a:lnTo>
                      <a:lnTo>
                        <a:pt x="5010" y="1259"/>
                      </a:lnTo>
                      <a:lnTo>
                        <a:pt x="5010" y="1259"/>
                      </a:lnTo>
                      <a:lnTo>
                        <a:pt x="5030" y="1298"/>
                      </a:lnTo>
                      <a:lnTo>
                        <a:pt x="5048" y="1339"/>
                      </a:lnTo>
                      <a:lnTo>
                        <a:pt x="5062" y="1381"/>
                      </a:lnTo>
                      <a:lnTo>
                        <a:pt x="5074" y="1422"/>
                      </a:lnTo>
                      <a:lnTo>
                        <a:pt x="5085" y="1463"/>
                      </a:lnTo>
                      <a:lnTo>
                        <a:pt x="5091" y="1505"/>
                      </a:lnTo>
                      <a:lnTo>
                        <a:pt x="5096" y="1548"/>
                      </a:lnTo>
                      <a:lnTo>
                        <a:pt x="5097" y="1591"/>
                      </a:lnTo>
                      <a:lnTo>
                        <a:pt x="5097" y="1617"/>
                      </a:lnTo>
                      <a:lnTo>
                        <a:pt x="5097" y="1617"/>
                      </a:lnTo>
                      <a:lnTo>
                        <a:pt x="5096" y="1659"/>
                      </a:lnTo>
                      <a:lnTo>
                        <a:pt x="5091" y="1702"/>
                      </a:lnTo>
                      <a:lnTo>
                        <a:pt x="5085" y="1745"/>
                      </a:lnTo>
                      <a:lnTo>
                        <a:pt x="5074" y="1786"/>
                      </a:lnTo>
                      <a:lnTo>
                        <a:pt x="5062" y="1827"/>
                      </a:lnTo>
                      <a:lnTo>
                        <a:pt x="5048" y="1868"/>
                      </a:lnTo>
                      <a:lnTo>
                        <a:pt x="5030" y="1908"/>
                      </a:lnTo>
                      <a:lnTo>
                        <a:pt x="5010" y="1949"/>
                      </a:lnTo>
                      <a:lnTo>
                        <a:pt x="5010" y="1949"/>
                      </a:lnTo>
                      <a:lnTo>
                        <a:pt x="4994" y="1978"/>
                      </a:lnTo>
                      <a:lnTo>
                        <a:pt x="4975" y="2007"/>
                      </a:lnTo>
                      <a:lnTo>
                        <a:pt x="4955" y="2037"/>
                      </a:lnTo>
                      <a:lnTo>
                        <a:pt x="4934" y="2065"/>
                      </a:lnTo>
                      <a:lnTo>
                        <a:pt x="4911" y="2094"/>
                      </a:lnTo>
                      <a:lnTo>
                        <a:pt x="4887" y="2121"/>
                      </a:lnTo>
                      <a:lnTo>
                        <a:pt x="4861" y="2149"/>
                      </a:lnTo>
                      <a:lnTo>
                        <a:pt x="4834" y="2176"/>
                      </a:lnTo>
                      <a:lnTo>
                        <a:pt x="4806" y="2202"/>
                      </a:lnTo>
                      <a:lnTo>
                        <a:pt x="4776" y="2228"/>
                      </a:lnTo>
                      <a:lnTo>
                        <a:pt x="4744" y="2254"/>
                      </a:lnTo>
                      <a:lnTo>
                        <a:pt x="4712" y="2278"/>
                      </a:lnTo>
                      <a:lnTo>
                        <a:pt x="4678" y="2301"/>
                      </a:lnTo>
                      <a:lnTo>
                        <a:pt x="4643" y="2324"/>
                      </a:lnTo>
                      <a:lnTo>
                        <a:pt x="4606" y="2347"/>
                      </a:lnTo>
                      <a:lnTo>
                        <a:pt x="4568" y="2366"/>
                      </a:lnTo>
                      <a:lnTo>
                        <a:pt x="4568" y="2366"/>
                      </a:lnTo>
                      <a:lnTo>
                        <a:pt x="4529" y="2386"/>
                      </a:lnTo>
                      <a:lnTo>
                        <a:pt x="4489" y="2406"/>
                      </a:lnTo>
                      <a:lnTo>
                        <a:pt x="4448" y="2424"/>
                      </a:lnTo>
                      <a:lnTo>
                        <a:pt x="4407" y="2441"/>
                      </a:lnTo>
                      <a:lnTo>
                        <a:pt x="4363" y="2456"/>
                      </a:lnTo>
                      <a:lnTo>
                        <a:pt x="4320" y="2470"/>
                      </a:lnTo>
                      <a:lnTo>
                        <a:pt x="4274" y="2484"/>
                      </a:lnTo>
                      <a:lnTo>
                        <a:pt x="4229" y="2496"/>
                      </a:lnTo>
                      <a:lnTo>
                        <a:pt x="4183" y="2507"/>
                      </a:lnTo>
                      <a:lnTo>
                        <a:pt x="4134" y="2516"/>
                      </a:lnTo>
                      <a:lnTo>
                        <a:pt x="4087" y="2525"/>
                      </a:lnTo>
                      <a:lnTo>
                        <a:pt x="4038" y="2531"/>
                      </a:lnTo>
                      <a:lnTo>
                        <a:pt x="3988" y="2537"/>
                      </a:lnTo>
                      <a:lnTo>
                        <a:pt x="3938" y="2540"/>
                      </a:lnTo>
                      <a:lnTo>
                        <a:pt x="3887" y="2543"/>
                      </a:lnTo>
                      <a:lnTo>
                        <a:pt x="3837" y="2543"/>
                      </a:lnTo>
                      <a:lnTo>
                        <a:pt x="1923" y="2543"/>
                      </a:lnTo>
                      <a:lnTo>
                        <a:pt x="1923" y="2543"/>
                      </a:lnTo>
                      <a:lnTo>
                        <a:pt x="1848" y="2542"/>
                      </a:lnTo>
                      <a:lnTo>
                        <a:pt x="1774" y="2537"/>
                      </a:lnTo>
                      <a:lnTo>
                        <a:pt x="1701" y="2528"/>
                      </a:lnTo>
                      <a:lnTo>
                        <a:pt x="1630" y="2517"/>
                      </a:lnTo>
                      <a:lnTo>
                        <a:pt x="1560" y="2504"/>
                      </a:lnTo>
                      <a:lnTo>
                        <a:pt x="1492" y="2485"/>
                      </a:lnTo>
                      <a:lnTo>
                        <a:pt x="1426" y="2465"/>
                      </a:lnTo>
                      <a:lnTo>
                        <a:pt x="1362" y="2444"/>
                      </a:lnTo>
                      <a:lnTo>
                        <a:pt x="1362" y="3137"/>
                      </a:lnTo>
                      <a:lnTo>
                        <a:pt x="1362" y="3137"/>
                      </a:lnTo>
                      <a:lnTo>
                        <a:pt x="1429" y="3153"/>
                      </a:lnTo>
                      <a:lnTo>
                        <a:pt x="1498" y="3168"/>
                      </a:lnTo>
                      <a:lnTo>
                        <a:pt x="1566" y="3179"/>
                      </a:lnTo>
                      <a:lnTo>
                        <a:pt x="1637" y="3189"/>
                      </a:lnTo>
                      <a:lnTo>
                        <a:pt x="1708" y="3197"/>
                      </a:lnTo>
                      <a:lnTo>
                        <a:pt x="1778" y="3201"/>
                      </a:lnTo>
                      <a:lnTo>
                        <a:pt x="1851" y="3206"/>
                      </a:lnTo>
                      <a:lnTo>
                        <a:pt x="1923" y="3206"/>
                      </a:lnTo>
                      <a:lnTo>
                        <a:pt x="3837" y="3206"/>
                      </a:lnTo>
                      <a:lnTo>
                        <a:pt x="3837" y="3206"/>
                      </a:lnTo>
                      <a:lnTo>
                        <a:pt x="3884" y="3206"/>
                      </a:lnTo>
                      <a:lnTo>
                        <a:pt x="3931" y="3204"/>
                      </a:lnTo>
                      <a:lnTo>
                        <a:pt x="3979" y="3201"/>
                      </a:lnTo>
                      <a:lnTo>
                        <a:pt x="4026" y="3198"/>
                      </a:lnTo>
                      <a:lnTo>
                        <a:pt x="4072" y="3195"/>
                      </a:lnTo>
                      <a:lnTo>
                        <a:pt x="4117" y="3189"/>
                      </a:lnTo>
                      <a:lnTo>
                        <a:pt x="4163" y="3183"/>
                      </a:lnTo>
                      <a:lnTo>
                        <a:pt x="4209" y="3177"/>
                      </a:lnTo>
                      <a:lnTo>
                        <a:pt x="4254" y="3169"/>
                      </a:lnTo>
                      <a:lnTo>
                        <a:pt x="4299" y="3160"/>
                      </a:lnTo>
                      <a:lnTo>
                        <a:pt x="4344" y="3151"/>
                      </a:lnTo>
                      <a:lnTo>
                        <a:pt x="4389" y="3140"/>
                      </a:lnTo>
                      <a:lnTo>
                        <a:pt x="4431" y="3128"/>
                      </a:lnTo>
                      <a:lnTo>
                        <a:pt x="4475" y="3116"/>
                      </a:lnTo>
                      <a:lnTo>
                        <a:pt x="4518" y="3104"/>
                      </a:lnTo>
                      <a:lnTo>
                        <a:pt x="4559" y="3090"/>
                      </a:lnTo>
                      <a:lnTo>
                        <a:pt x="4602" y="3075"/>
                      </a:lnTo>
                      <a:lnTo>
                        <a:pt x="4643" y="3060"/>
                      </a:lnTo>
                      <a:lnTo>
                        <a:pt x="4684" y="3044"/>
                      </a:lnTo>
                      <a:lnTo>
                        <a:pt x="4725" y="3028"/>
                      </a:lnTo>
                      <a:lnTo>
                        <a:pt x="4765" y="3009"/>
                      </a:lnTo>
                      <a:lnTo>
                        <a:pt x="4805" y="2991"/>
                      </a:lnTo>
                      <a:lnTo>
                        <a:pt x="4843" y="2971"/>
                      </a:lnTo>
                      <a:lnTo>
                        <a:pt x="4881" y="2952"/>
                      </a:lnTo>
                      <a:lnTo>
                        <a:pt x="4919" y="2930"/>
                      </a:lnTo>
                      <a:lnTo>
                        <a:pt x="4955" y="2909"/>
                      </a:lnTo>
                      <a:lnTo>
                        <a:pt x="4992" y="2888"/>
                      </a:lnTo>
                      <a:lnTo>
                        <a:pt x="5029" y="2865"/>
                      </a:lnTo>
                      <a:lnTo>
                        <a:pt x="5064" y="2840"/>
                      </a:lnTo>
                      <a:lnTo>
                        <a:pt x="5099" y="2816"/>
                      </a:lnTo>
                      <a:lnTo>
                        <a:pt x="5132" y="2792"/>
                      </a:lnTo>
                      <a:lnTo>
                        <a:pt x="5166" y="2766"/>
                      </a:lnTo>
                      <a:lnTo>
                        <a:pt x="5166" y="2766"/>
                      </a:lnTo>
                      <a:lnTo>
                        <a:pt x="5199" y="2740"/>
                      </a:lnTo>
                      <a:lnTo>
                        <a:pt x="5231" y="2712"/>
                      </a:lnTo>
                      <a:lnTo>
                        <a:pt x="5262" y="2683"/>
                      </a:lnTo>
                      <a:lnTo>
                        <a:pt x="5292" y="2656"/>
                      </a:lnTo>
                      <a:lnTo>
                        <a:pt x="5323" y="2627"/>
                      </a:lnTo>
                      <a:lnTo>
                        <a:pt x="5352" y="2596"/>
                      </a:lnTo>
                      <a:lnTo>
                        <a:pt x="5381" y="2566"/>
                      </a:lnTo>
                      <a:lnTo>
                        <a:pt x="5408" y="2534"/>
                      </a:lnTo>
                      <a:lnTo>
                        <a:pt x="5434" y="2504"/>
                      </a:lnTo>
                      <a:lnTo>
                        <a:pt x="5460" y="2470"/>
                      </a:lnTo>
                      <a:lnTo>
                        <a:pt x="5484" y="2436"/>
                      </a:lnTo>
                      <a:lnTo>
                        <a:pt x="5509" y="2403"/>
                      </a:lnTo>
                      <a:lnTo>
                        <a:pt x="5531" y="2369"/>
                      </a:lnTo>
                      <a:lnTo>
                        <a:pt x="5553" y="2334"/>
                      </a:lnTo>
                      <a:lnTo>
                        <a:pt x="5574" y="2298"/>
                      </a:lnTo>
                      <a:lnTo>
                        <a:pt x="5595" y="2263"/>
                      </a:lnTo>
                      <a:lnTo>
                        <a:pt x="5595" y="2263"/>
                      </a:lnTo>
                      <a:lnTo>
                        <a:pt x="5614" y="2226"/>
                      </a:lnTo>
                      <a:lnTo>
                        <a:pt x="5632" y="2188"/>
                      </a:lnTo>
                      <a:lnTo>
                        <a:pt x="5649" y="2150"/>
                      </a:lnTo>
                      <a:lnTo>
                        <a:pt x="5664" y="2112"/>
                      </a:lnTo>
                      <a:lnTo>
                        <a:pt x="5679" y="2072"/>
                      </a:lnTo>
                      <a:lnTo>
                        <a:pt x="5693" y="2033"/>
                      </a:lnTo>
                      <a:lnTo>
                        <a:pt x="5705" y="1993"/>
                      </a:lnTo>
                      <a:lnTo>
                        <a:pt x="5717" y="1953"/>
                      </a:lnTo>
                      <a:lnTo>
                        <a:pt x="5726" y="1912"/>
                      </a:lnTo>
                      <a:lnTo>
                        <a:pt x="5736" y="1871"/>
                      </a:lnTo>
                      <a:lnTo>
                        <a:pt x="5743" y="1830"/>
                      </a:lnTo>
                      <a:lnTo>
                        <a:pt x="5749" y="1787"/>
                      </a:lnTo>
                      <a:lnTo>
                        <a:pt x="5754" y="1745"/>
                      </a:lnTo>
                      <a:lnTo>
                        <a:pt x="5757" y="1702"/>
                      </a:lnTo>
                      <a:lnTo>
                        <a:pt x="5758" y="1659"/>
                      </a:lnTo>
                      <a:lnTo>
                        <a:pt x="5760" y="1617"/>
                      </a:lnTo>
                      <a:lnTo>
                        <a:pt x="5760" y="1589"/>
                      </a:lnTo>
                      <a:lnTo>
                        <a:pt x="5760" y="1589"/>
                      </a:lnTo>
                      <a:lnTo>
                        <a:pt x="5758" y="1547"/>
                      </a:lnTo>
                      <a:lnTo>
                        <a:pt x="5757" y="1504"/>
                      </a:lnTo>
                      <a:lnTo>
                        <a:pt x="5754" y="1461"/>
                      </a:lnTo>
                      <a:lnTo>
                        <a:pt x="5749" y="1419"/>
                      </a:lnTo>
                      <a:lnTo>
                        <a:pt x="5743" y="1377"/>
                      </a:lnTo>
                      <a:lnTo>
                        <a:pt x="5736" y="1335"/>
                      </a:lnTo>
                      <a:lnTo>
                        <a:pt x="5726" y="1294"/>
                      </a:lnTo>
                      <a:lnTo>
                        <a:pt x="5716" y="1254"/>
                      </a:lnTo>
                      <a:lnTo>
                        <a:pt x="5705" y="1213"/>
                      </a:lnTo>
                      <a:lnTo>
                        <a:pt x="5693" y="1173"/>
                      </a:lnTo>
                      <a:lnTo>
                        <a:pt x="5679" y="1134"/>
                      </a:lnTo>
                      <a:lnTo>
                        <a:pt x="5664" y="1096"/>
                      </a:lnTo>
                      <a:lnTo>
                        <a:pt x="5649" y="1056"/>
                      </a:lnTo>
                      <a:lnTo>
                        <a:pt x="5632" y="1019"/>
                      </a:lnTo>
                      <a:lnTo>
                        <a:pt x="5614" y="981"/>
                      </a:lnTo>
                      <a:lnTo>
                        <a:pt x="5595" y="945"/>
                      </a:lnTo>
                      <a:lnTo>
                        <a:pt x="5595" y="945"/>
                      </a:lnTo>
                      <a:close/>
                    </a:path>
                  </a:pathLst>
                </a:custGeom>
                <a:gradFill flip="none" rotWithShape="1">
                  <a:gsLst>
                    <a:gs pos="0">
                      <a:schemeClr val="accent3">
                        <a:lumMod val="60000"/>
                        <a:lumOff val="40000"/>
                      </a:schemeClr>
                    </a:gs>
                    <a:gs pos="99000">
                      <a:schemeClr val="accent3">
                        <a:lumMod val="50000"/>
                      </a:schemeClr>
                    </a:gs>
                  </a:gsLst>
                  <a:path path="circle">
                    <a:fillToRect r="100000" b="100000"/>
                  </a:path>
                  <a:tileRect l="-100000" t="-100000"/>
                </a:gradFill>
                <a:ln w="9525">
                  <a:noFill/>
                  <a:round/>
                  <a:headEnd/>
                  <a:tailEnd/>
                </a:ln>
                <a:effectLst/>
                <a:scene3d>
                  <a:camera prst="orthographicFront"/>
                  <a:lightRig rig="threePt" dir="t">
                    <a:rot lat="0" lon="0" rev="12720000"/>
                  </a:lightRig>
                </a:scene3d>
                <a:sp3d/>
              </p:spPr>
              <p:txBody>
                <a:bodyPr/>
                <a:lstStyle/>
                <a:p>
                  <a:pPr>
                    <a:lnSpc>
                      <a:spcPct val="85000"/>
                    </a:lnSpc>
                  </a:pPr>
                  <a:endParaRPr lang="en-US" sz="1350">
                    <a:latin typeface="Times"/>
                  </a:endParaRPr>
                </a:p>
              </p:txBody>
            </p:sp>
            <p:sp>
              <p:nvSpPr>
                <p:cNvPr id="26" name="Freeform 5">
                  <a:extLst>
                    <a:ext uri="{FF2B5EF4-FFF2-40B4-BE49-F238E27FC236}">
                      <a16:creationId xmlns:a16="http://schemas.microsoft.com/office/drawing/2014/main" id="{9711BBD1-3AF5-1B49-A2BF-FE8FDBAA4C6A}"/>
                    </a:ext>
                  </a:extLst>
                </p:cNvPr>
                <p:cNvSpPr>
                  <a:spLocks/>
                </p:cNvSpPr>
                <p:nvPr/>
              </p:nvSpPr>
              <p:spPr bwMode="auto">
                <a:xfrm>
                  <a:off x="42695" y="1676400"/>
                  <a:ext cx="2374330" cy="1600200"/>
                </a:xfrm>
                <a:custGeom>
                  <a:avLst/>
                  <a:gdLst/>
                  <a:ahLst/>
                  <a:cxnLst>
                    <a:cxn ang="0">
                      <a:pos x="5438" y="1318"/>
                    </a:cxn>
                    <a:cxn ang="0">
                      <a:pos x="5248" y="1507"/>
                    </a:cxn>
                    <a:cxn ang="0">
                      <a:pos x="5145" y="1679"/>
                    </a:cxn>
                    <a:cxn ang="0">
                      <a:pos x="5095" y="1848"/>
                    </a:cxn>
                    <a:cxn ang="0">
                      <a:pos x="5082" y="2149"/>
                    </a:cxn>
                    <a:cxn ang="0">
                      <a:pos x="4944" y="2555"/>
                    </a:cxn>
                    <a:cxn ang="0">
                      <a:pos x="4726" y="2848"/>
                    </a:cxn>
                    <a:cxn ang="0">
                      <a:pos x="4381" y="3093"/>
                    </a:cxn>
                    <a:cxn ang="0">
                      <a:pos x="3964" y="3211"/>
                    </a:cxn>
                    <a:cxn ang="0">
                      <a:pos x="1733" y="3204"/>
                    </a:cxn>
                    <a:cxn ang="0">
                      <a:pos x="1325" y="3066"/>
                    </a:cxn>
                    <a:cxn ang="0">
                      <a:pos x="1034" y="2848"/>
                    </a:cxn>
                    <a:cxn ang="0">
                      <a:pos x="787" y="2501"/>
                    </a:cxn>
                    <a:cxn ang="0">
                      <a:pos x="669" y="2086"/>
                    </a:cxn>
                    <a:cxn ang="0">
                      <a:pos x="678" y="1733"/>
                    </a:cxn>
                    <a:cxn ang="0">
                      <a:pos x="816" y="1325"/>
                    </a:cxn>
                    <a:cxn ang="0">
                      <a:pos x="1034" y="1034"/>
                    </a:cxn>
                    <a:cxn ang="0">
                      <a:pos x="1379" y="788"/>
                    </a:cxn>
                    <a:cxn ang="0">
                      <a:pos x="1796" y="669"/>
                    </a:cxn>
                    <a:cxn ang="0">
                      <a:pos x="4027" y="678"/>
                    </a:cxn>
                    <a:cxn ang="0">
                      <a:pos x="4435" y="816"/>
                    </a:cxn>
                    <a:cxn ang="0">
                      <a:pos x="4726" y="1034"/>
                    </a:cxn>
                    <a:cxn ang="0">
                      <a:pos x="4910" y="895"/>
                    </a:cxn>
                    <a:cxn ang="0">
                      <a:pos x="5201" y="678"/>
                    </a:cxn>
                    <a:cxn ang="0">
                      <a:pos x="5129" y="502"/>
                    </a:cxn>
                    <a:cxn ang="0">
                      <a:pos x="4872" y="304"/>
                    </a:cxn>
                    <a:cxn ang="0">
                      <a:pos x="4584" y="151"/>
                    </a:cxn>
                    <a:cxn ang="0">
                      <a:pos x="4270" y="49"/>
                    </a:cxn>
                    <a:cxn ang="0">
                      <a:pos x="3935" y="2"/>
                    </a:cxn>
                    <a:cxn ang="0">
                      <a:pos x="1776" y="5"/>
                    </a:cxn>
                    <a:cxn ang="0">
                      <a:pos x="1444" y="61"/>
                    </a:cxn>
                    <a:cxn ang="0">
                      <a:pos x="1133" y="171"/>
                    </a:cxn>
                    <a:cxn ang="0">
                      <a:pos x="849" y="329"/>
                    </a:cxn>
                    <a:cxn ang="0">
                      <a:pos x="597" y="532"/>
                    </a:cxn>
                    <a:cxn ang="0">
                      <a:pos x="412" y="737"/>
                    </a:cxn>
                    <a:cxn ang="0">
                      <a:pos x="234" y="1007"/>
                    </a:cxn>
                    <a:cxn ang="0">
                      <a:pos x="101" y="1307"/>
                    </a:cxn>
                    <a:cxn ang="0">
                      <a:pos x="22" y="1631"/>
                    </a:cxn>
                    <a:cxn ang="0">
                      <a:pos x="0" y="1958"/>
                    </a:cxn>
                    <a:cxn ang="0">
                      <a:pos x="22" y="2249"/>
                    </a:cxn>
                    <a:cxn ang="0">
                      <a:pos x="101" y="2573"/>
                    </a:cxn>
                    <a:cxn ang="0">
                      <a:pos x="234" y="2873"/>
                    </a:cxn>
                    <a:cxn ang="0">
                      <a:pos x="412" y="3145"/>
                    </a:cxn>
                    <a:cxn ang="0">
                      <a:pos x="597" y="3348"/>
                    </a:cxn>
                    <a:cxn ang="0">
                      <a:pos x="849" y="3551"/>
                    </a:cxn>
                    <a:cxn ang="0">
                      <a:pos x="1133" y="3711"/>
                    </a:cxn>
                    <a:cxn ang="0">
                      <a:pos x="1444" y="3821"/>
                    </a:cxn>
                    <a:cxn ang="0">
                      <a:pos x="1776" y="3877"/>
                    </a:cxn>
                    <a:cxn ang="0">
                      <a:pos x="3885" y="3880"/>
                    </a:cxn>
                    <a:cxn ang="0">
                      <a:pos x="4223" y="3842"/>
                    </a:cxn>
                    <a:cxn ang="0">
                      <a:pos x="4541" y="3747"/>
                    </a:cxn>
                    <a:cxn ang="0">
                      <a:pos x="4832" y="3602"/>
                    </a:cxn>
                    <a:cxn ang="0">
                      <a:pos x="5095" y="3411"/>
                    </a:cxn>
                    <a:cxn ang="0">
                      <a:pos x="5289" y="3215"/>
                    </a:cxn>
                    <a:cxn ang="0">
                      <a:pos x="5480" y="2954"/>
                    </a:cxn>
                    <a:cxn ang="0">
                      <a:pos x="5625" y="2661"/>
                    </a:cxn>
                    <a:cxn ang="0">
                      <a:pos x="5720" y="2345"/>
                    </a:cxn>
                    <a:cxn ang="0">
                      <a:pos x="5760" y="2007"/>
                    </a:cxn>
                    <a:cxn ang="0">
                      <a:pos x="5751" y="1735"/>
                    </a:cxn>
                    <a:cxn ang="0">
                      <a:pos x="5692" y="1417"/>
                    </a:cxn>
                  </a:cxnLst>
                  <a:rect l="0" t="0" r="r" b="b"/>
                  <a:pathLst>
                    <a:path w="5760" h="3882">
                      <a:moveTo>
                        <a:pt x="5614" y="1205"/>
                      </a:moveTo>
                      <a:lnTo>
                        <a:pt x="5614" y="1205"/>
                      </a:lnTo>
                      <a:lnTo>
                        <a:pt x="5577" y="1226"/>
                      </a:lnTo>
                      <a:lnTo>
                        <a:pt x="5541" y="1248"/>
                      </a:lnTo>
                      <a:lnTo>
                        <a:pt x="5505" y="1271"/>
                      </a:lnTo>
                      <a:lnTo>
                        <a:pt x="5471" y="1295"/>
                      </a:lnTo>
                      <a:lnTo>
                        <a:pt x="5438" y="1318"/>
                      </a:lnTo>
                      <a:lnTo>
                        <a:pt x="5406" y="1343"/>
                      </a:lnTo>
                      <a:lnTo>
                        <a:pt x="5377" y="1370"/>
                      </a:lnTo>
                      <a:lnTo>
                        <a:pt x="5348" y="1395"/>
                      </a:lnTo>
                      <a:lnTo>
                        <a:pt x="5321" y="1422"/>
                      </a:lnTo>
                      <a:lnTo>
                        <a:pt x="5294" y="1451"/>
                      </a:lnTo>
                      <a:lnTo>
                        <a:pt x="5271" y="1478"/>
                      </a:lnTo>
                      <a:lnTo>
                        <a:pt x="5248" y="1507"/>
                      </a:lnTo>
                      <a:lnTo>
                        <a:pt x="5226" y="1536"/>
                      </a:lnTo>
                      <a:lnTo>
                        <a:pt x="5206" y="1566"/>
                      </a:lnTo>
                      <a:lnTo>
                        <a:pt x="5188" y="1595"/>
                      </a:lnTo>
                      <a:lnTo>
                        <a:pt x="5172" y="1624"/>
                      </a:lnTo>
                      <a:lnTo>
                        <a:pt x="5172" y="1624"/>
                      </a:lnTo>
                      <a:lnTo>
                        <a:pt x="5158" y="1652"/>
                      </a:lnTo>
                      <a:lnTo>
                        <a:pt x="5145" y="1679"/>
                      </a:lnTo>
                      <a:lnTo>
                        <a:pt x="5133" y="1706"/>
                      </a:lnTo>
                      <a:lnTo>
                        <a:pt x="5124" y="1735"/>
                      </a:lnTo>
                      <a:lnTo>
                        <a:pt x="5115" y="1764"/>
                      </a:lnTo>
                      <a:lnTo>
                        <a:pt x="5106" y="1791"/>
                      </a:lnTo>
                      <a:lnTo>
                        <a:pt x="5100" y="1820"/>
                      </a:lnTo>
                      <a:lnTo>
                        <a:pt x="5095" y="1848"/>
                      </a:lnTo>
                      <a:lnTo>
                        <a:pt x="5095" y="1848"/>
                      </a:lnTo>
                      <a:lnTo>
                        <a:pt x="5097" y="1886"/>
                      </a:lnTo>
                      <a:lnTo>
                        <a:pt x="5097" y="1924"/>
                      </a:lnTo>
                      <a:lnTo>
                        <a:pt x="5097" y="1956"/>
                      </a:lnTo>
                      <a:lnTo>
                        <a:pt x="5097" y="1956"/>
                      </a:lnTo>
                      <a:lnTo>
                        <a:pt x="5095" y="2021"/>
                      </a:lnTo>
                      <a:lnTo>
                        <a:pt x="5089" y="2086"/>
                      </a:lnTo>
                      <a:lnTo>
                        <a:pt x="5082" y="2149"/>
                      </a:lnTo>
                      <a:lnTo>
                        <a:pt x="5071" y="2210"/>
                      </a:lnTo>
                      <a:lnTo>
                        <a:pt x="5057" y="2271"/>
                      </a:lnTo>
                      <a:lnTo>
                        <a:pt x="5041" y="2330"/>
                      </a:lnTo>
                      <a:lnTo>
                        <a:pt x="5019" y="2390"/>
                      </a:lnTo>
                      <a:lnTo>
                        <a:pt x="4998" y="2445"/>
                      </a:lnTo>
                      <a:lnTo>
                        <a:pt x="4973" y="2501"/>
                      </a:lnTo>
                      <a:lnTo>
                        <a:pt x="4944" y="2555"/>
                      </a:lnTo>
                      <a:lnTo>
                        <a:pt x="4913" y="2609"/>
                      </a:lnTo>
                      <a:lnTo>
                        <a:pt x="4881" y="2659"/>
                      </a:lnTo>
                      <a:lnTo>
                        <a:pt x="4845" y="2710"/>
                      </a:lnTo>
                      <a:lnTo>
                        <a:pt x="4807" y="2756"/>
                      </a:lnTo>
                      <a:lnTo>
                        <a:pt x="4768" y="2803"/>
                      </a:lnTo>
                      <a:lnTo>
                        <a:pt x="4726" y="2848"/>
                      </a:lnTo>
                      <a:lnTo>
                        <a:pt x="4726" y="2848"/>
                      </a:lnTo>
                      <a:lnTo>
                        <a:pt x="4681" y="2889"/>
                      </a:lnTo>
                      <a:lnTo>
                        <a:pt x="4636" y="2929"/>
                      </a:lnTo>
                      <a:lnTo>
                        <a:pt x="4588" y="2967"/>
                      </a:lnTo>
                      <a:lnTo>
                        <a:pt x="4539" y="3003"/>
                      </a:lnTo>
                      <a:lnTo>
                        <a:pt x="4487" y="3035"/>
                      </a:lnTo>
                      <a:lnTo>
                        <a:pt x="4435" y="3066"/>
                      </a:lnTo>
                      <a:lnTo>
                        <a:pt x="4381" y="3093"/>
                      </a:lnTo>
                      <a:lnTo>
                        <a:pt x="4325" y="3118"/>
                      </a:lnTo>
                      <a:lnTo>
                        <a:pt x="4268" y="3141"/>
                      </a:lnTo>
                      <a:lnTo>
                        <a:pt x="4210" y="3161"/>
                      </a:lnTo>
                      <a:lnTo>
                        <a:pt x="4149" y="3177"/>
                      </a:lnTo>
                      <a:lnTo>
                        <a:pt x="4090" y="3192"/>
                      </a:lnTo>
                      <a:lnTo>
                        <a:pt x="4027" y="3204"/>
                      </a:lnTo>
                      <a:lnTo>
                        <a:pt x="3964" y="3211"/>
                      </a:lnTo>
                      <a:lnTo>
                        <a:pt x="3901" y="3217"/>
                      </a:lnTo>
                      <a:lnTo>
                        <a:pt x="3836" y="3219"/>
                      </a:lnTo>
                      <a:lnTo>
                        <a:pt x="1924" y="3219"/>
                      </a:lnTo>
                      <a:lnTo>
                        <a:pt x="1924" y="3219"/>
                      </a:lnTo>
                      <a:lnTo>
                        <a:pt x="1859" y="3217"/>
                      </a:lnTo>
                      <a:lnTo>
                        <a:pt x="1796" y="3211"/>
                      </a:lnTo>
                      <a:lnTo>
                        <a:pt x="1733" y="3204"/>
                      </a:lnTo>
                      <a:lnTo>
                        <a:pt x="1670" y="3192"/>
                      </a:lnTo>
                      <a:lnTo>
                        <a:pt x="1609" y="3177"/>
                      </a:lnTo>
                      <a:lnTo>
                        <a:pt x="1550" y="3161"/>
                      </a:lnTo>
                      <a:lnTo>
                        <a:pt x="1492" y="3141"/>
                      </a:lnTo>
                      <a:lnTo>
                        <a:pt x="1435" y="3118"/>
                      </a:lnTo>
                      <a:lnTo>
                        <a:pt x="1379" y="3093"/>
                      </a:lnTo>
                      <a:lnTo>
                        <a:pt x="1325" y="3066"/>
                      </a:lnTo>
                      <a:lnTo>
                        <a:pt x="1273" y="3035"/>
                      </a:lnTo>
                      <a:lnTo>
                        <a:pt x="1221" y="3003"/>
                      </a:lnTo>
                      <a:lnTo>
                        <a:pt x="1172" y="2967"/>
                      </a:lnTo>
                      <a:lnTo>
                        <a:pt x="1124" y="2929"/>
                      </a:lnTo>
                      <a:lnTo>
                        <a:pt x="1077" y="2889"/>
                      </a:lnTo>
                      <a:lnTo>
                        <a:pt x="1034" y="2848"/>
                      </a:lnTo>
                      <a:lnTo>
                        <a:pt x="1034" y="2848"/>
                      </a:lnTo>
                      <a:lnTo>
                        <a:pt x="992" y="2803"/>
                      </a:lnTo>
                      <a:lnTo>
                        <a:pt x="951" y="2756"/>
                      </a:lnTo>
                      <a:lnTo>
                        <a:pt x="913" y="2710"/>
                      </a:lnTo>
                      <a:lnTo>
                        <a:pt x="879" y="2659"/>
                      </a:lnTo>
                      <a:lnTo>
                        <a:pt x="847" y="2609"/>
                      </a:lnTo>
                      <a:lnTo>
                        <a:pt x="816" y="2555"/>
                      </a:lnTo>
                      <a:lnTo>
                        <a:pt x="787" y="2501"/>
                      </a:lnTo>
                      <a:lnTo>
                        <a:pt x="762" y="2445"/>
                      </a:lnTo>
                      <a:lnTo>
                        <a:pt x="739" y="2390"/>
                      </a:lnTo>
                      <a:lnTo>
                        <a:pt x="719" y="2330"/>
                      </a:lnTo>
                      <a:lnTo>
                        <a:pt x="703" y="2271"/>
                      </a:lnTo>
                      <a:lnTo>
                        <a:pt x="689" y="2210"/>
                      </a:lnTo>
                      <a:lnTo>
                        <a:pt x="678" y="2149"/>
                      </a:lnTo>
                      <a:lnTo>
                        <a:pt x="669" y="2086"/>
                      </a:lnTo>
                      <a:lnTo>
                        <a:pt x="665" y="2021"/>
                      </a:lnTo>
                      <a:lnTo>
                        <a:pt x="663" y="1956"/>
                      </a:lnTo>
                      <a:lnTo>
                        <a:pt x="663" y="1924"/>
                      </a:lnTo>
                      <a:lnTo>
                        <a:pt x="663" y="1924"/>
                      </a:lnTo>
                      <a:lnTo>
                        <a:pt x="665" y="1859"/>
                      </a:lnTo>
                      <a:lnTo>
                        <a:pt x="669" y="1796"/>
                      </a:lnTo>
                      <a:lnTo>
                        <a:pt x="678" y="1733"/>
                      </a:lnTo>
                      <a:lnTo>
                        <a:pt x="689" y="1670"/>
                      </a:lnTo>
                      <a:lnTo>
                        <a:pt x="703" y="1611"/>
                      </a:lnTo>
                      <a:lnTo>
                        <a:pt x="719" y="1550"/>
                      </a:lnTo>
                      <a:lnTo>
                        <a:pt x="739" y="1492"/>
                      </a:lnTo>
                      <a:lnTo>
                        <a:pt x="762" y="1435"/>
                      </a:lnTo>
                      <a:lnTo>
                        <a:pt x="787" y="1379"/>
                      </a:lnTo>
                      <a:lnTo>
                        <a:pt x="816" y="1325"/>
                      </a:lnTo>
                      <a:lnTo>
                        <a:pt x="847" y="1273"/>
                      </a:lnTo>
                      <a:lnTo>
                        <a:pt x="879" y="1221"/>
                      </a:lnTo>
                      <a:lnTo>
                        <a:pt x="913" y="1172"/>
                      </a:lnTo>
                      <a:lnTo>
                        <a:pt x="951" y="1124"/>
                      </a:lnTo>
                      <a:lnTo>
                        <a:pt x="992" y="1079"/>
                      </a:lnTo>
                      <a:lnTo>
                        <a:pt x="1034" y="1034"/>
                      </a:lnTo>
                      <a:lnTo>
                        <a:pt x="1034" y="1034"/>
                      </a:lnTo>
                      <a:lnTo>
                        <a:pt x="1077" y="993"/>
                      </a:lnTo>
                      <a:lnTo>
                        <a:pt x="1124" y="951"/>
                      </a:lnTo>
                      <a:lnTo>
                        <a:pt x="1172" y="915"/>
                      </a:lnTo>
                      <a:lnTo>
                        <a:pt x="1221" y="879"/>
                      </a:lnTo>
                      <a:lnTo>
                        <a:pt x="1273" y="847"/>
                      </a:lnTo>
                      <a:lnTo>
                        <a:pt x="1325" y="816"/>
                      </a:lnTo>
                      <a:lnTo>
                        <a:pt x="1379" y="788"/>
                      </a:lnTo>
                      <a:lnTo>
                        <a:pt x="1435" y="762"/>
                      </a:lnTo>
                      <a:lnTo>
                        <a:pt x="1492" y="739"/>
                      </a:lnTo>
                      <a:lnTo>
                        <a:pt x="1550" y="719"/>
                      </a:lnTo>
                      <a:lnTo>
                        <a:pt x="1609" y="703"/>
                      </a:lnTo>
                      <a:lnTo>
                        <a:pt x="1670" y="689"/>
                      </a:lnTo>
                      <a:lnTo>
                        <a:pt x="1733" y="678"/>
                      </a:lnTo>
                      <a:lnTo>
                        <a:pt x="1796" y="669"/>
                      </a:lnTo>
                      <a:lnTo>
                        <a:pt x="1859" y="665"/>
                      </a:lnTo>
                      <a:lnTo>
                        <a:pt x="1924" y="663"/>
                      </a:lnTo>
                      <a:lnTo>
                        <a:pt x="3836" y="663"/>
                      </a:lnTo>
                      <a:lnTo>
                        <a:pt x="3836" y="663"/>
                      </a:lnTo>
                      <a:lnTo>
                        <a:pt x="3901" y="665"/>
                      </a:lnTo>
                      <a:lnTo>
                        <a:pt x="3964" y="669"/>
                      </a:lnTo>
                      <a:lnTo>
                        <a:pt x="4027" y="678"/>
                      </a:lnTo>
                      <a:lnTo>
                        <a:pt x="4090" y="689"/>
                      </a:lnTo>
                      <a:lnTo>
                        <a:pt x="4149" y="703"/>
                      </a:lnTo>
                      <a:lnTo>
                        <a:pt x="4210" y="719"/>
                      </a:lnTo>
                      <a:lnTo>
                        <a:pt x="4268" y="739"/>
                      </a:lnTo>
                      <a:lnTo>
                        <a:pt x="4325" y="762"/>
                      </a:lnTo>
                      <a:lnTo>
                        <a:pt x="4381" y="788"/>
                      </a:lnTo>
                      <a:lnTo>
                        <a:pt x="4435" y="816"/>
                      </a:lnTo>
                      <a:lnTo>
                        <a:pt x="4487" y="847"/>
                      </a:lnTo>
                      <a:lnTo>
                        <a:pt x="4539" y="879"/>
                      </a:lnTo>
                      <a:lnTo>
                        <a:pt x="4588" y="915"/>
                      </a:lnTo>
                      <a:lnTo>
                        <a:pt x="4636" y="951"/>
                      </a:lnTo>
                      <a:lnTo>
                        <a:pt x="4681" y="993"/>
                      </a:lnTo>
                      <a:lnTo>
                        <a:pt x="4726" y="1034"/>
                      </a:lnTo>
                      <a:lnTo>
                        <a:pt x="4726" y="1034"/>
                      </a:lnTo>
                      <a:lnTo>
                        <a:pt x="4753" y="1063"/>
                      </a:lnTo>
                      <a:lnTo>
                        <a:pt x="4753" y="1063"/>
                      </a:lnTo>
                      <a:lnTo>
                        <a:pt x="4782" y="1027"/>
                      </a:lnTo>
                      <a:lnTo>
                        <a:pt x="4813" y="993"/>
                      </a:lnTo>
                      <a:lnTo>
                        <a:pt x="4845" y="960"/>
                      </a:lnTo>
                      <a:lnTo>
                        <a:pt x="4877" y="928"/>
                      </a:lnTo>
                      <a:lnTo>
                        <a:pt x="4910" y="895"/>
                      </a:lnTo>
                      <a:lnTo>
                        <a:pt x="4944" y="865"/>
                      </a:lnTo>
                      <a:lnTo>
                        <a:pt x="4980" y="834"/>
                      </a:lnTo>
                      <a:lnTo>
                        <a:pt x="5016" y="806"/>
                      </a:lnTo>
                      <a:lnTo>
                        <a:pt x="5016" y="806"/>
                      </a:lnTo>
                      <a:lnTo>
                        <a:pt x="5075" y="761"/>
                      </a:lnTo>
                      <a:lnTo>
                        <a:pt x="5136" y="717"/>
                      </a:lnTo>
                      <a:lnTo>
                        <a:pt x="5201" y="678"/>
                      </a:lnTo>
                      <a:lnTo>
                        <a:pt x="5266" y="638"/>
                      </a:lnTo>
                      <a:lnTo>
                        <a:pt x="5266" y="638"/>
                      </a:lnTo>
                      <a:lnTo>
                        <a:pt x="5231" y="601"/>
                      </a:lnTo>
                      <a:lnTo>
                        <a:pt x="5196" y="565"/>
                      </a:lnTo>
                      <a:lnTo>
                        <a:pt x="5196" y="565"/>
                      </a:lnTo>
                      <a:lnTo>
                        <a:pt x="5163" y="532"/>
                      </a:lnTo>
                      <a:lnTo>
                        <a:pt x="5129" y="502"/>
                      </a:lnTo>
                      <a:lnTo>
                        <a:pt x="5095" y="471"/>
                      </a:lnTo>
                      <a:lnTo>
                        <a:pt x="5059" y="441"/>
                      </a:lnTo>
                      <a:lnTo>
                        <a:pt x="5023" y="412"/>
                      </a:lnTo>
                      <a:lnTo>
                        <a:pt x="4987" y="383"/>
                      </a:lnTo>
                      <a:lnTo>
                        <a:pt x="4949" y="356"/>
                      </a:lnTo>
                      <a:lnTo>
                        <a:pt x="4911" y="329"/>
                      </a:lnTo>
                      <a:lnTo>
                        <a:pt x="4872" y="304"/>
                      </a:lnTo>
                      <a:lnTo>
                        <a:pt x="4832" y="279"/>
                      </a:lnTo>
                      <a:lnTo>
                        <a:pt x="4793" y="255"/>
                      </a:lnTo>
                      <a:lnTo>
                        <a:pt x="4751" y="234"/>
                      </a:lnTo>
                      <a:lnTo>
                        <a:pt x="4712" y="210"/>
                      </a:lnTo>
                      <a:lnTo>
                        <a:pt x="4669" y="191"/>
                      </a:lnTo>
                      <a:lnTo>
                        <a:pt x="4627" y="171"/>
                      </a:lnTo>
                      <a:lnTo>
                        <a:pt x="4584" y="151"/>
                      </a:lnTo>
                      <a:lnTo>
                        <a:pt x="4541" y="133"/>
                      </a:lnTo>
                      <a:lnTo>
                        <a:pt x="4496" y="117"/>
                      </a:lnTo>
                      <a:lnTo>
                        <a:pt x="4453" y="101"/>
                      </a:lnTo>
                      <a:lnTo>
                        <a:pt x="4408" y="86"/>
                      </a:lnTo>
                      <a:lnTo>
                        <a:pt x="4361" y="74"/>
                      </a:lnTo>
                      <a:lnTo>
                        <a:pt x="4316" y="61"/>
                      </a:lnTo>
                      <a:lnTo>
                        <a:pt x="4270" y="49"/>
                      </a:lnTo>
                      <a:lnTo>
                        <a:pt x="4223" y="40"/>
                      </a:lnTo>
                      <a:lnTo>
                        <a:pt x="4176" y="31"/>
                      </a:lnTo>
                      <a:lnTo>
                        <a:pt x="4128" y="22"/>
                      </a:lnTo>
                      <a:lnTo>
                        <a:pt x="4081" y="14"/>
                      </a:lnTo>
                      <a:lnTo>
                        <a:pt x="4032" y="9"/>
                      </a:lnTo>
                      <a:lnTo>
                        <a:pt x="3984" y="5"/>
                      </a:lnTo>
                      <a:lnTo>
                        <a:pt x="3935" y="2"/>
                      </a:lnTo>
                      <a:lnTo>
                        <a:pt x="3885" y="0"/>
                      </a:lnTo>
                      <a:lnTo>
                        <a:pt x="3836" y="0"/>
                      </a:lnTo>
                      <a:lnTo>
                        <a:pt x="1924" y="0"/>
                      </a:lnTo>
                      <a:lnTo>
                        <a:pt x="1924" y="0"/>
                      </a:lnTo>
                      <a:lnTo>
                        <a:pt x="1873" y="0"/>
                      </a:lnTo>
                      <a:lnTo>
                        <a:pt x="1825" y="2"/>
                      </a:lnTo>
                      <a:lnTo>
                        <a:pt x="1776" y="5"/>
                      </a:lnTo>
                      <a:lnTo>
                        <a:pt x="1728" y="9"/>
                      </a:lnTo>
                      <a:lnTo>
                        <a:pt x="1679" y="14"/>
                      </a:lnTo>
                      <a:lnTo>
                        <a:pt x="1631" y="22"/>
                      </a:lnTo>
                      <a:lnTo>
                        <a:pt x="1584" y="31"/>
                      </a:lnTo>
                      <a:lnTo>
                        <a:pt x="1537" y="40"/>
                      </a:lnTo>
                      <a:lnTo>
                        <a:pt x="1490" y="49"/>
                      </a:lnTo>
                      <a:lnTo>
                        <a:pt x="1444" y="61"/>
                      </a:lnTo>
                      <a:lnTo>
                        <a:pt x="1399" y="74"/>
                      </a:lnTo>
                      <a:lnTo>
                        <a:pt x="1352" y="86"/>
                      </a:lnTo>
                      <a:lnTo>
                        <a:pt x="1307" y="101"/>
                      </a:lnTo>
                      <a:lnTo>
                        <a:pt x="1264" y="117"/>
                      </a:lnTo>
                      <a:lnTo>
                        <a:pt x="1219" y="133"/>
                      </a:lnTo>
                      <a:lnTo>
                        <a:pt x="1176" y="151"/>
                      </a:lnTo>
                      <a:lnTo>
                        <a:pt x="1133" y="171"/>
                      </a:lnTo>
                      <a:lnTo>
                        <a:pt x="1091" y="191"/>
                      </a:lnTo>
                      <a:lnTo>
                        <a:pt x="1048" y="210"/>
                      </a:lnTo>
                      <a:lnTo>
                        <a:pt x="1007" y="234"/>
                      </a:lnTo>
                      <a:lnTo>
                        <a:pt x="967" y="255"/>
                      </a:lnTo>
                      <a:lnTo>
                        <a:pt x="928" y="279"/>
                      </a:lnTo>
                      <a:lnTo>
                        <a:pt x="888" y="304"/>
                      </a:lnTo>
                      <a:lnTo>
                        <a:pt x="849" y="329"/>
                      </a:lnTo>
                      <a:lnTo>
                        <a:pt x="811" y="356"/>
                      </a:lnTo>
                      <a:lnTo>
                        <a:pt x="773" y="383"/>
                      </a:lnTo>
                      <a:lnTo>
                        <a:pt x="737" y="412"/>
                      </a:lnTo>
                      <a:lnTo>
                        <a:pt x="701" y="441"/>
                      </a:lnTo>
                      <a:lnTo>
                        <a:pt x="665" y="471"/>
                      </a:lnTo>
                      <a:lnTo>
                        <a:pt x="631" y="502"/>
                      </a:lnTo>
                      <a:lnTo>
                        <a:pt x="597" y="532"/>
                      </a:lnTo>
                      <a:lnTo>
                        <a:pt x="564" y="565"/>
                      </a:lnTo>
                      <a:lnTo>
                        <a:pt x="564" y="565"/>
                      </a:lnTo>
                      <a:lnTo>
                        <a:pt x="532" y="597"/>
                      </a:lnTo>
                      <a:lnTo>
                        <a:pt x="502" y="631"/>
                      </a:lnTo>
                      <a:lnTo>
                        <a:pt x="471" y="665"/>
                      </a:lnTo>
                      <a:lnTo>
                        <a:pt x="440" y="701"/>
                      </a:lnTo>
                      <a:lnTo>
                        <a:pt x="412" y="737"/>
                      </a:lnTo>
                      <a:lnTo>
                        <a:pt x="383" y="773"/>
                      </a:lnTo>
                      <a:lnTo>
                        <a:pt x="356" y="811"/>
                      </a:lnTo>
                      <a:lnTo>
                        <a:pt x="329" y="849"/>
                      </a:lnTo>
                      <a:lnTo>
                        <a:pt x="304" y="888"/>
                      </a:lnTo>
                      <a:lnTo>
                        <a:pt x="279" y="928"/>
                      </a:lnTo>
                      <a:lnTo>
                        <a:pt x="255" y="967"/>
                      </a:lnTo>
                      <a:lnTo>
                        <a:pt x="234" y="1007"/>
                      </a:lnTo>
                      <a:lnTo>
                        <a:pt x="210" y="1048"/>
                      </a:lnTo>
                      <a:lnTo>
                        <a:pt x="191" y="1091"/>
                      </a:lnTo>
                      <a:lnTo>
                        <a:pt x="171" y="1133"/>
                      </a:lnTo>
                      <a:lnTo>
                        <a:pt x="151" y="1176"/>
                      </a:lnTo>
                      <a:lnTo>
                        <a:pt x="133" y="1219"/>
                      </a:lnTo>
                      <a:lnTo>
                        <a:pt x="117" y="1264"/>
                      </a:lnTo>
                      <a:lnTo>
                        <a:pt x="101" y="1307"/>
                      </a:lnTo>
                      <a:lnTo>
                        <a:pt x="86" y="1352"/>
                      </a:lnTo>
                      <a:lnTo>
                        <a:pt x="74" y="1399"/>
                      </a:lnTo>
                      <a:lnTo>
                        <a:pt x="61" y="1444"/>
                      </a:lnTo>
                      <a:lnTo>
                        <a:pt x="49" y="1491"/>
                      </a:lnTo>
                      <a:lnTo>
                        <a:pt x="40" y="1537"/>
                      </a:lnTo>
                      <a:lnTo>
                        <a:pt x="31" y="1584"/>
                      </a:lnTo>
                      <a:lnTo>
                        <a:pt x="22" y="1631"/>
                      </a:lnTo>
                      <a:lnTo>
                        <a:pt x="14" y="1679"/>
                      </a:lnTo>
                      <a:lnTo>
                        <a:pt x="9" y="1728"/>
                      </a:lnTo>
                      <a:lnTo>
                        <a:pt x="5" y="1776"/>
                      </a:lnTo>
                      <a:lnTo>
                        <a:pt x="2" y="1825"/>
                      </a:lnTo>
                      <a:lnTo>
                        <a:pt x="0" y="1874"/>
                      </a:lnTo>
                      <a:lnTo>
                        <a:pt x="0" y="1924"/>
                      </a:lnTo>
                      <a:lnTo>
                        <a:pt x="0" y="1958"/>
                      </a:lnTo>
                      <a:lnTo>
                        <a:pt x="0" y="1958"/>
                      </a:lnTo>
                      <a:lnTo>
                        <a:pt x="0" y="2007"/>
                      </a:lnTo>
                      <a:lnTo>
                        <a:pt x="2" y="2055"/>
                      </a:lnTo>
                      <a:lnTo>
                        <a:pt x="5" y="2106"/>
                      </a:lnTo>
                      <a:lnTo>
                        <a:pt x="9" y="2154"/>
                      </a:lnTo>
                      <a:lnTo>
                        <a:pt x="14" y="2203"/>
                      </a:lnTo>
                      <a:lnTo>
                        <a:pt x="22" y="2249"/>
                      </a:lnTo>
                      <a:lnTo>
                        <a:pt x="31" y="2298"/>
                      </a:lnTo>
                      <a:lnTo>
                        <a:pt x="40" y="2345"/>
                      </a:lnTo>
                      <a:lnTo>
                        <a:pt x="49" y="2391"/>
                      </a:lnTo>
                      <a:lnTo>
                        <a:pt x="61" y="2436"/>
                      </a:lnTo>
                      <a:lnTo>
                        <a:pt x="74" y="2483"/>
                      </a:lnTo>
                      <a:lnTo>
                        <a:pt x="86" y="2528"/>
                      </a:lnTo>
                      <a:lnTo>
                        <a:pt x="101" y="2573"/>
                      </a:lnTo>
                      <a:lnTo>
                        <a:pt x="117" y="2618"/>
                      </a:lnTo>
                      <a:lnTo>
                        <a:pt x="133" y="2661"/>
                      </a:lnTo>
                      <a:lnTo>
                        <a:pt x="151" y="2706"/>
                      </a:lnTo>
                      <a:lnTo>
                        <a:pt x="171" y="2747"/>
                      </a:lnTo>
                      <a:lnTo>
                        <a:pt x="191" y="2791"/>
                      </a:lnTo>
                      <a:lnTo>
                        <a:pt x="210" y="2832"/>
                      </a:lnTo>
                      <a:lnTo>
                        <a:pt x="234" y="2873"/>
                      </a:lnTo>
                      <a:lnTo>
                        <a:pt x="255" y="2915"/>
                      </a:lnTo>
                      <a:lnTo>
                        <a:pt x="279" y="2954"/>
                      </a:lnTo>
                      <a:lnTo>
                        <a:pt x="304" y="2994"/>
                      </a:lnTo>
                      <a:lnTo>
                        <a:pt x="329" y="3032"/>
                      </a:lnTo>
                      <a:lnTo>
                        <a:pt x="356" y="3069"/>
                      </a:lnTo>
                      <a:lnTo>
                        <a:pt x="383" y="3107"/>
                      </a:lnTo>
                      <a:lnTo>
                        <a:pt x="412" y="3145"/>
                      </a:lnTo>
                      <a:lnTo>
                        <a:pt x="440" y="3181"/>
                      </a:lnTo>
                      <a:lnTo>
                        <a:pt x="471" y="3215"/>
                      </a:lnTo>
                      <a:lnTo>
                        <a:pt x="502" y="3249"/>
                      </a:lnTo>
                      <a:lnTo>
                        <a:pt x="532" y="3283"/>
                      </a:lnTo>
                      <a:lnTo>
                        <a:pt x="564" y="3316"/>
                      </a:lnTo>
                      <a:lnTo>
                        <a:pt x="564" y="3316"/>
                      </a:lnTo>
                      <a:lnTo>
                        <a:pt x="597" y="3348"/>
                      </a:lnTo>
                      <a:lnTo>
                        <a:pt x="631" y="3380"/>
                      </a:lnTo>
                      <a:lnTo>
                        <a:pt x="665" y="3411"/>
                      </a:lnTo>
                      <a:lnTo>
                        <a:pt x="701" y="3440"/>
                      </a:lnTo>
                      <a:lnTo>
                        <a:pt x="737" y="3470"/>
                      </a:lnTo>
                      <a:lnTo>
                        <a:pt x="773" y="3497"/>
                      </a:lnTo>
                      <a:lnTo>
                        <a:pt x="811" y="3524"/>
                      </a:lnTo>
                      <a:lnTo>
                        <a:pt x="849" y="3551"/>
                      </a:lnTo>
                      <a:lnTo>
                        <a:pt x="888" y="3576"/>
                      </a:lnTo>
                      <a:lnTo>
                        <a:pt x="928" y="3602"/>
                      </a:lnTo>
                      <a:lnTo>
                        <a:pt x="967" y="3625"/>
                      </a:lnTo>
                      <a:lnTo>
                        <a:pt x="1007" y="3648"/>
                      </a:lnTo>
                      <a:lnTo>
                        <a:pt x="1048" y="3670"/>
                      </a:lnTo>
                      <a:lnTo>
                        <a:pt x="1091" y="3691"/>
                      </a:lnTo>
                      <a:lnTo>
                        <a:pt x="1133" y="3711"/>
                      </a:lnTo>
                      <a:lnTo>
                        <a:pt x="1176" y="3729"/>
                      </a:lnTo>
                      <a:lnTo>
                        <a:pt x="1219" y="3747"/>
                      </a:lnTo>
                      <a:lnTo>
                        <a:pt x="1264" y="3763"/>
                      </a:lnTo>
                      <a:lnTo>
                        <a:pt x="1307" y="3780"/>
                      </a:lnTo>
                      <a:lnTo>
                        <a:pt x="1352" y="3794"/>
                      </a:lnTo>
                      <a:lnTo>
                        <a:pt x="1399" y="3808"/>
                      </a:lnTo>
                      <a:lnTo>
                        <a:pt x="1444" y="3821"/>
                      </a:lnTo>
                      <a:lnTo>
                        <a:pt x="1490" y="3832"/>
                      </a:lnTo>
                      <a:lnTo>
                        <a:pt x="1537" y="3842"/>
                      </a:lnTo>
                      <a:lnTo>
                        <a:pt x="1584" y="3851"/>
                      </a:lnTo>
                      <a:lnTo>
                        <a:pt x="1631" y="3859"/>
                      </a:lnTo>
                      <a:lnTo>
                        <a:pt x="1679" y="3866"/>
                      </a:lnTo>
                      <a:lnTo>
                        <a:pt x="1728" y="3871"/>
                      </a:lnTo>
                      <a:lnTo>
                        <a:pt x="1776" y="3877"/>
                      </a:lnTo>
                      <a:lnTo>
                        <a:pt x="1825" y="3878"/>
                      </a:lnTo>
                      <a:lnTo>
                        <a:pt x="1873" y="3880"/>
                      </a:lnTo>
                      <a:lnTo>
                        <a:pt x="1924" y="3882"/>
                      </a:lnTo>
                      <a:lnTo>
                        <a:pt x="3836" y="3882"/>
                      </a:lnTo>
                      <a:lnTo>
                        <a:pt x="3836" y="3882"/>
                      </a:lnTo>
                      <a:lnTo>
                        <a:pt x="3836" y="3882"/>
                      </a:lnTo>
                      <a:lnTo>
                        <a:pt x="3885" y="3880"/>
                      </a:lnTo>
                      <a:lnTo>
                        <a:pt x="3935" y="3878"/>
                      </a:lnTo>
                      <a:lnTo>
                        <a:pt x="3984" y="3877"/>
                      </a:lnTo>
                      <a:lnTo>
                        <a:pt x="4032" y="3871"/>
                      </a:lnTo>
                      <a:lnTo>
                        <a:pt x="4081" y="3866"/>
                      </a:lnTo>
                      <a:lnTo>
                        <a:pt x="4128" y="3859"/>
                      </a:lnTo>
                      <a:lnTo>
                        <a:pt x="4176" y="3851"/>
                      </a:lnTo>
                      <a:lnTo>
                        <a:pt x="4223" y="3842"/>
                      </a:lnTo>
                      <a:lnTo>
                        <a:pt x="4270" y="3832"/>
                      </a:lnTo>
                      <a:lnTo>
                        <a:pt x="4316" y="3821"/>
                      </a:lnTo>
                      <a:lnTo>
                        <a:pt x="4361" y="3808"/>
                      </a:lnTo>
                      <a:lnTo>
                        <a:pt x="4408" y="3794"/>
                      </a:lnTo>
                      <a:lnTo>
                        <a:pt x="4453" y="3780"/>
                      </a:lnTo>
                      <a:lnTo>
                        <a:pt x="4496" y="3763"/>
                      </a:lnTo>
                      <a:lnTo>
                        <a:pt x="4541" y="3747"/>
                      </a:lnTo>
                      <a:lnTo>
                        <a:pt x="4584" y="3729"/>
                      </a:lnTo>
                      <a:lnTo>
                        <a:pt x="4627" y="3711"/>
                      </a:lnTo>
                      <a:lnTo>
                        <a:pt x="4669" y="3691"/>
                      </a:lnTo>
                      <a:lnTo>
                        <a:pt x="4712" y="3670"/>
                      </a:lnTo>
                      <a:lnTo>
                        <a:pt x="4751" y="3648"/>
                      </a:lnTo>
                      <a:lnTo>
                        <a:pt x="4793" y="3625"/>
                      </a:lnTo>
                      <a:lnTo>
                        <a:pt x="4832" y="3602"/>
                      </a:lnTo>
                      <a:lnTo>
                        <a:pt x="4872" y="3576"/>
                      </a:lnTo>
                      <a:lnTo>
                        <a:pt x="4911" y="3551"/>
                      </a:lnTo>
                      <a:lnTo>
                        <a:pt x="4949" y="3524"/>
                      </a:lnTo>
                      <a:lnTo>
                        <a:pt x="4987" y="3497"/>
                      </a:lnTo>
                      <a:lnTo>
                        <a:pt x="5023" y="3470"/>
                      </a:lnTo>
                      <a:lnTo>
                        <a:pt x="5059" y="3440"/>
                      </a:lnTo>
                      <a:lnTo>
                        <a:pt x="5095" y="3411"/>
                      </a:lnTo>
                      <a:lnTo>
                        <a:pt x="5129" y="3380"/>
                      </a:lnTo>
                      <a:lnTo>
                        <a:pt x="5163" y="3348"/>
                      </a:lnTo>
                      <a:lnTo>
                        <a:pt x="5196" y="3316"/>
                      </a:lnTo>
                      <a:lnTo>
                        <a:pt x="5196" y="3316"/>
                      </a:lnTo>
                      <a:lnTo>
                        <a:pt x="5228" y="3283"/>
                      </a:lnTo>
                      <a:lnTo>
                        <a:pt x="5258" y="3249"/>
                      </a:lnTo>
                      <a:lnTo>
                        <a:pt x="5289" y="3215"/>
                      </a:lnTo>
                      <a:lnTo>
                        <a:pt x="5320" y="3181"/>
                      </a:lnTo>
                      <a:lnTo>
                        <a:pt x="5348" y="3145"/>
                      </a:lnTo>
                      <a:lnTo>
                        <a:pt x="5377" y="3107"/>
                      </a:lnTo>
                      <a:lnTo>
                        <a:pt x="5404" y="3069"/>
                      </a:lnTo>
                      <a:lnTo>
                        <a:pt x="5431" y="3032"/>
                      </a:lnTo>
                      <a:lnTo>
                        <a:pt x="5456" y="2994"/>
                      </a:lnTo>
                      <a:lnTo>
                        <a:pt x="5480" y="2954"/>
                      </a:lnTo>
                      <a:lnTo>
                        <a:pt x="5505" y="2915"/>
                      </a:lnTo>
                      <a:lnTo>
                        <a:pt x="5526" y="2873"/>
                      </a:lnTo>
                      <a:lnTo>
                        <a:pt x="5548" y="2832"/>
                      </a:lnTo>
                      <a:lnTo>
                        <a:pt x="5569" y="2791"/>
                      </a:lnTo>
                      <a:lnTo>
                        <a:pt x="5589" y="2747"/>
                      </a:lnTo>
                      <a:lnTo>
                        <a:pt x="5609" y="2704"/>
                      </a:lnTo>
                      <a:lnTo>
                        <a:pt x="5625" y="2661"/>
                      </a:lnTo>
                      <a:lnTo>
                        <a:pt x="5643" y="2618"/>
                      </a:lnTo>
                      <a:lnTo>
                        <a:pt x="5659" y="2573"/>
                      </a:lnTo>
                      <a:lnTo>
                        <a:pt x="5674" y="2528"/>
                      </a:lnTo>
                      <a:lnTo>
                        <a:pt x="5686" y="2483"/>
                      </a:lnTo>
                      <a:lnTo>
                        <a:pt x="5699" y="2436"/>
                      </a:lnTo>
                      <a:lnTo>
                        <a:pt x="5711" y="2391"/>
                      </a:lnTo>
                      <a:lnTo>
                        <a:pt x="5720" y="2345"/>
                      </a:lnTo>
                      <a:lnTo>
                        <a:pt x="5729" y="2296"/>
                      </a:lnTo>
                      <a:lnTo>
                        <a:pt x="5738" y="2249"/>
                      </a:lnTo>
                      <a:lnTo>
                        <a:pt x="5744" y="2201"/>
                      </a:lnTo>
                      <a:lnTo>
                        <a:pt x="5751" y="2154"/>
                      </a:lnTo>
                      <a:lnTo>
                        <a:pt x="5755" y="2106"/>
                      </a:lnTo>
                      <a:lnTo>
                        <a:pt x="5758" y="2055"/>
                      </a:lnTo>
                      <a:lnTo>
                        <a:pt x="5760" y="2007"/>
                      </a:lnTo>
                      <a:lnTo>
                        <a:pt x="5760" y="1956"/>
                      </a:lnTo>
                      <a:lnTo>
                        <a:pt x="5760" y="1924"/>
                      </a:lnTo>
                      <a:lnTo>
                        <a:pt x="5760" y="1924"/>
                      </a:lnTo>
                      <a:lnTo>
                        <a:pt x="5760" y="1877"/>
                      </a:lnTo>
                      <a:lnTo>
                        <a:pt x="5758" y="1829"/>
                      </a:lnTo>
                      <a:lnTo>
                        <a:pt x="5755" y="1782"/>
                      </a:lnTo>
                      <a:lnTo>
                        <a:pt x="5751" y="1735"/>
                      </a:lnTo>
                      <a:lnTo>
                        <a:pt x="5746" y="1688"/>
                      </a:lnTo>
                      <a:lnTo>
                        <a:pt x="5740" y="1643"/>
                      </a:lnTo>
                      <a:lnTo>
                        <a:pt x="5731" y="1597"/>
                      </a:lnTo>
                      <a:lnTo>
                        <a:pt x="5724" y="1552"/>
                      </a:lnTo>
                      <a:lnTo>
                        <a:pt x="5713" y="1507"/>
                      </a:lnTo>
                      <a:lnTo>
                        <a:pt x="5704" y="1462"/>
                      </a:lnTo>
                      <a:lnTo>
                        <a:pt x="5692" y="1417"/>
                      </a:lnTo>
                      <a:lnTo>
                        <a:pt x="5679" y="1374"/>
                      </a:lnTo>
                      <a:lnTo>
                        <a:pt x="5650" y="1287"/>
                      </a:lnTo>
                      <a:lnTo>
                        <a:pt x="5618" y="1203"/>
                      </a:lnTo>
                      <a:lnTo>
                        <a:pt x="5618" y="1203"/>
                      </a:lnTo>
                      <a:lnTo>
                        <a:pt x="5614" y="1205"/>
                      </a:lnTo>
                      <a:lnTo>
                        <a:pt x="5614" y="1205"/>
                      </a:lnTo>
                      <a:close/>
                    </a:path>
                  </a:pathLst>
                </a:custGeom>
                <a:gradFill flip="none" rotWithShape="1">
                  <a:gsLst>
                    <a:gs pos="0">
                      <a:schemeClr val="accent4">
                        <a:lumMod val="60000"/>
                        <a:lumOff val="40000"/>
                      </a:schemeClr>
                    </a:gs>
                    <a:gs pos="99000">
                      <a:schemeClr val="accent4">
                        <a:lumMod val="50000"/>
                      </a:schemeClr>
                    </a:gs>
                  </a:gsLst>
                  <a:path path="circle">
                    <a:fillToRect l="100000" b="100000"/>
                  </a:path>
                  <a:tileRect t="-100000" r="-100000"/>
                </a:gradFill>
                <a:ln w="9525">
                  <a:noFill/>
                  <a:round/>
                  <a:headEnd/>
                  <a:tailEnd/>
                </a:ln>
                <a:effectLst/>
                <a:scene3d>
                  <a:camera prst="orthographicFront"/>
                  <a:lightRig rig="threePt" dir="t">
                    <a:rot lat="0" lon="0" rev="12720000"/>
                  </a:lightRig>
                </a:scene3d>
                <a:sp3d/>
              </p:spPr>
              <p:txBody>
                <a:bodyPr/>
                <a:lstStyle/>
                <a:p>
                  <a:pPr>
                    <a:lnSpc>
                      <a:spcPct val="85000"/>
                    </a:lnSpc>
                  </a:pPr>
                  <a:endParaRPr lang="en-US" sz="1350">
                    <a:latin typeface="Times"/>
                  </a:endParaRPr>
                </a:p>
              </p:txBody>
            </p:sp>
          </p:grpSp>
        </p:grpSp>
        <p:cxnSp>
          <p:nvCxnSpPr>
            <p:cNvPr id="31" name="Straight Arrow Connector 30">
              <a:extLst>
                <a:ext uri="{FF2B5EF4-FFF2-40B4-BE49-F238E27FC236}">
                  <a16:creationId xmlns:a16="http://schemas.microsoft.com/office/drawing/2014/main" id="{C423E001-E405-2A45-9311-4B3D9D36C468}"/>
                </a:ext>
              </a:extLst>
            </p:cNvPr>
            <p:cNvCxnSpPr/>
            <p:nvPr/>
          </p:nvCxnSpPr>
          <p:spPr>
            <a:xfrm rot="5400000" flipH="1" flipV="1">
              <a:off x="3535234" y="2998273"/>
              <a:ext cx="322237" cy="1166"/>
            </a:xfrm>
            <a:prstGeom prst="straightConnector1">
              <a:avLst/>
            </a:prstGeom>
            <a:ln w="12700">
              <a:solidFill>
                <a:srgbClr val="F29558"/>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FD013D2-C489-5D44-9984-EDA6F49722C6}"/>
                </a:ext>
              </a:extLst>
            </p:cNvPr>
            <p:cNvCxnSpPr/>
            <p:nvPr/>
          </p:nvCxnSpPr>
          <p:spPr>
            <a:xfrm rot="5400000" flipH="1" flipV="1">
              <a:off x="7320810" y="3026282"/>
              <a:ext cx="322237" cy="1166"/>
            </a:xfrm>
            <a:prstGeom prst="straightConnector1">
              <a:avLst/>
            </a:prstGeom>
            <a:ln w="12700">
              <a:solidFill>
                <a:srgbClr val="B8AF93"/>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E6CC0B3-0A82-3E4E-A961-4EEB4C6F4594}"/>
                </a:ext>
              </a:extLst>
            </p:cNvPr>
            <p:cNvCxnSpPr/>
            <p:nvPr/>
          </p:nvCxnSpPr>
          <p:spPr>
            <a:xfrm rot="16200000" flipH="1">
              <a:off x="5930980" y="1910010"/>
              <a:ext cx="322237" cy="1166"/>
            </a:xfrm>
            <a:prstGeom prst="straightConnector1">
              <a:avLst/>
            </a:prstGeom>
            <a:ln w="12700">
              <a:solidFill>
                <a:srgbClr val="6AB0C3"/>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Text Placeholder 30">
              <a:extLst>
                <a:ext uri="{FF2B5EF4-FFF2-40B4-BE49-F238E27FC236}">
                  <a16:creationId xmlns:a16="http://schemas.microsoft.com/office/drawing/2014/main" id="{3A61C33E-5DA3-A04A-8954-43D0B01D9A9D}"/>
                </a:ext>
              </a:extLst>
            </p:cNvPr>
            <p:cNvSpPr txBox="1">
              <a:spLocks/>
            </p:cNvSpPr>
            <p:nvPr/>
          </p:nvSpPr>
          <p:spPr>
            <a:xfrm>
              <a:off x="4210051" y="2907546"/>
              <a:ext cx="1489472" cy="1077716"/>
            </a:xfrm>
            <a:prstGeom prst="rect">
              <a:avLst/>
            </a:prstGeom>
          </p:spPr>
          <p:txBody>
            <a:bodyPr>
              <a:noAutofit/>
            </a:bodyPr>
            <a:lstStyle>
              <a:lvl1pPr marL="0" marR="0" indent="0" algn="ctr" defTabSz="914400" rtl="0" eaLnBrk="1" fontAlgn="auto" latinLnBrk="0" hangingPunct="1">
                <a:lnSpc>
                  <a:spcPct val="100000"/>
                </a:lnSpc>
                <a:spcBef>
                  <a:spcPct val="20000"/>
                </a:spcBef>
                <a:spcAft>
                  <a:spcPts val="0"/>
                </a:spcAft>
                <a:buClr>
                  <a:schemeClr val="accent2"/>
                </a:buClr>
                <a:buSzPct val="90000"/>
                <a:buFont typeface="Lucida Grande"/>
                <a:buNone/>
                <a:tabLst/>
                <a:defRPr kumimoji="0" lang="nl-NL" sz="2100" b="0" i="0" u="none" strike="noStrike" kern="1200" cap="none" spc="0" normalizeH="0" baseline="0" noProof="0">
                  <a:ln>
                    <a:noFill/>
                  </a:ln>
                  <a:solidFill>
                    <a:schemeClr val="bg1"/>
                  </a:solidFill>
                  <a:effectLst/>
                  <a:uLnTx/>
                  <a:uFillTx/>
                  <a:latin typeface="+mj-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a:t>IAM </a:t>
              </a:r>
            </a:p>
            <a:p>
              <a:r>
                <a:rPr lang="en-US" sz="1600"/>
                <a:t>constructs </a:t>
              </a:r>
            </a:p>
            <a:p>
              <a:r>
                <a:rPr lang="en-US" sz="1600"/>
                <a:t>for nBIF</a:t>
              </a:r>
            </a:p>
          </p:txBody>
        </p:sp>
        <p:sp>
          <p:nvSpPr>
            <p:cNvPr id="39" name="Text Placeholder 36">
              <a:extLst>
                <a:ext uri="{FF2B5EF4-FFF2-40B4-BE49-F238E27FC236}">
                  <a16:creationId xmlns:a16="http://schemas.microsoft.com/office/drawing/2014/main" id="{B5A2C535-52AF-B642-BA3D-2EE8CA780567}"/>
                </a:ext>
              </a:extLst>
            </p:cNvPr>
            <p:cNvSpPr txBox="1">
              <a:spLocks/>
            </p:cNvSpPr>
            <p:nvPr/>
          </p:nvSpPr>
          <p:spPr>
            <a:xfrm>
              <a:off x="1346268" y="977778"/>
              <a:ext cx="3582470" cy="741697"/>
            </a:xfrm>
            <a:prstGeom prst="rect">
              <a:avLst/>
            </a:prstGeom>
            <a:ln>
              <a:solidFill>
                <a:srgbClr val="1B1BB3"/>
              </a:solidFill>
            </a:ln>
          </p:spPr>
          <p:txBody>
            <a:bodyPr>
              <a:noAutofit/>
            </a:bodyPr>
            <a:lstStyle>
              <a:lvl1pPr marL="214313" marR="0" indent="-214313" algn="l" defTabSz="914400" rtl="0" eaLnBrk="1" fontAlgn="auto" latinLnBrk="0" hangingPunct="1">
                <a:lnSpc>
                  <a:spcPct val="100000"/>
                </a:lnSpc>
                <a:spcBef>
                  <a:spcPct val="20000"/>
                </a:spcBef>
                <a:spcAft>
                  <a:spcPts val="0"/>
                </a:spcAft>
                <a:buClr>
                  <a:schemeClr val="accent2"/>
                </a:buClr>
                <a:buSzPct val="90000"/>
                <a:buFont typeface="Arial" panose="020B0604020202020204" pitchFamily="34" charset="0"/>
                <a:buChar char="•"/>
                <a:tabLst/>
                <a:defRPr kumimoji="0" lang="nl-NL" sz="1050" b="0" i="0" u="none" strike="noStrike" kern="1200" cap="none" spc="0" normalizeH="0" baseline="0" noProof="0">
                  <a:ln>
                    <a:noFill/>
                  </a:ln>
                  <a:solidFill>
                    <a:schemeClr val="accent1">
                      <a:lumMod val="50000"/>
                    </a:schemeClr>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r>
                <a:rPr lang="en-GB" sz="800"/>
                <a:t>nBIF will reuse the enterprise defined user identities that are maintained using Azure Active directory. </a:t>
              </a:r>
            </a:p>
            <a:p>
              <a:r>
                <a:rPr lang="en-GB" sz="800"/>
                <a:t>Users can have multiple roles</a:t>
              </a:r>
            </a:p>
            <a:p>
              <a:r>
                <a:rPr lang="en-GB" sz="800"/>
                <a:t>New NPAs with privileged access will be defined to perform automated production runs and read-write to nBIF data stores. </a:t>
              </a:r>
            </a:p>
          </p:txBody>
        </p:sp>
        <p:cxnSp>
          <p:nvCxnSpPr>
            <p:cNvPr id="49" name="Straight Arrow Connector 48">
              <a:extLst>
                <a:ext uri="{FF2B5EF4-FFF2-40B4-BE49-F238E27FC236}">
                  <a16:creationId xmlns:a16="http://schemas.microsoft.com/office/drawing/2014/main" id="{9E6CC0B3-0A82-3E4E-A961-4EEB4C6F4594}"/>
                </a:ext>
              </a:extLst>
            </p:cNvPr>
            <p:cNvCxnSpPr/>
            <p:nvPr/>
          </p:nvCxnSpPr>
          <p:spPr>
            <a:xfrm>
              <a:off x="2457044" y="1719475"/>
              <a:ext cx="0" cy="251077"/>
            </a:xfrm>
            <a:prstGeom prst="straightConnector1">
              <a:avLst/>
            </a:prstGeom>
            <a:ln w="12700">
              <a:solidFill>
                <a:srgbClr val="2727EA"/>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50" name="Text Placeholder 10">
              <a:extLst>
                <a:ext uri="{FF2B5EF4-FFF2-40B4-BE49-F238E27FC236}">
                  <a16:creationId xmlns:a16="http://schemas.microsoft.com/office/drawing/2014/main" id="{92CC84CB-6A03-984B-9F9D-A011A8421719}"/>
                </a:ext>
              </a:extLst>
            </p:cNvPr>
            <p:cNvSpPr txBox="1">
              <a:spLocks/>
            </p:cNvSpPr>
            <p:nvPr/>
          </p:nvSpPr>
          <p:spPr>
            <a:xfrm>
              <a:off x="1873907" y="2354390"/>
              <a:ext cx="1485900" cy="552450"/>
            </a:xfrm>
            <a:prstGeom prst="rect">
              <a:avLst/>
            </a:prstGeom>
          </p:spPr>
          <p:txBody>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20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600"/>
                <a:t>Users</a:t>
              </a:r>
            </a:p>
          </p:txBody>
        </p:sp>
        <p:sp>
          <p:nvSpPr>
            <p:cNvPr id="51" name="Text Placeholder 10">
              <a:extLst>
                <a:ext uri="{FF2B5EF4-FFF2-40B4-BE49-F238E27FC236}">
                  <a16:creationId xmlns:a16="http://schemas.microsoft.com/office/drawing/2014/main" id="{92CC84CB-6A03-984B-9F9D-A011A8421719}"/>
                </a:ext>
              </a:extLst>
            </p:cNvPr>
            <p:cNvSpPr txBox="1">
              <a:spLocks/>
            </p:cNvSpPr>
            <p:nvPr/>
          </p:nvSpPr>
          <p:spPr>
            <a:xfrm>
              <a:off x="3442838" y="2369240"/>
              <a:ext cx="1485900" cy="552450"/>
            </a:xfrm>
            <a:prstGeom prst="rect">
              <a:avLst/>
            </a:prstGeom>
          </p:spPr>
          <p:txBody>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20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600"/>
                <a:t>Roles</a:t>
              </a:r>
            </a:p>
          </p:txBody>
        </p:sp>
        <p:sp>
          <p:nvSpPr>
            <p:cNvPr id="52" name="Text Placeholder 36">
              <a:extLst>
                <a:ext uri="{FF2B5EF4-FFF2-40B4-BE49-F238E27FC236}">
                  <a16:creationId xmlns:a16="http://schemas.microsoft.com/office/drawing/2014/main" id="{B5A2C535-52AF-B642-BA3D-2EE8CA780567}"/>
                </a:ext>
              </a:extLst>
            </p:cNvPr>
            <p:cNvSpPr txBox="1">
              <a:spLocks/>
            </p:cNvSpPr>
            <p:nvPr/>
          </p:nvSpPr>
          <p:spPr>
            <a:xfrm>
              <a:off x="822960" y="3152187"/>
              <a:ext cx="3207582" cy="833074"/>
            </a:xfrm>
            <a:prstGeom prst="rect">
              <a:avLst/>
            </a:prstGeom>
            <a:ln>
              <a:solidFill>
                <a:srgbClr val="A5521C"/>
              </a:solidFill>
            </a:ln>
          </p:spPr>
          <p:txBody>
            <a:bodyPr>
              <a:noAutofit/>
            </a:bodyPr>
            <a:lstStyle>
              <a:lvl1pPr marL="214313" marR="0" indent="-214313" algn="l" defTabSz="914400" rtl="0" eaLnBrk="1" fontAlgn="auto" latinLnBrk="0" hangingPunct="1">
                <a:lnSpc>
                  <a:spcPct val="100000"/>
                </a:lnSpc>
                <a:spcBef>
                  <a:spcPct val="20000"/>
                </a:spcBef>
                <a:spcAft>
                  <a:spcPts val="0"/>
                </a:spcAft>
                <a:buClr>
                  <a:schemeClr val="accent2"/>
                </a:buClr>
                <a:buSzPct val="90000"/>
                <a:buFont typeface="Arial" panose="020B0604020202020204" pitchFamily="34" charset="0"/>
                <a:buChar char="•"/>
                <a:tabLst/>
                <a:defRPr kumimoji="0" lang="nl-NL" sz="1050" b="0" i="0" u="none" strike="noStrike" kern="1200" cap="none" spc="0" normalizeH="0" baseline="0" noProof="0">
                  <a:ln>
                    <a:noFill/>
                  </a:ln>
                  <a:solidFill>
                    <a:schemeClr val="accent1">
                      <a:lumMod val="50000"/>
                    </a:schemeClr>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r>
                <a:rPr lang="en-GB" sz="800"/>
                <a:t>Multiple roles will be defined to support different user personas including, but not limited to, developer, analysts, support team etc.</a:t>
              </a:r>
            </a:p>
            <a:p>
              <a:r>
                <a:rPr lang="en-GB" sz="800"/>
                <a:t>Portfolio or/and bridge specific roles will also be created to limit data access.  This will be specially needed for the portfolios which have stringent data confidentiality requirements outside their portfolios. For ex – </a:t>
              </a:r>
              <a:r>
                <a:rPr lang="en-GB" sz="800" err="1"/>
                <a:t>Obvion</a:t>
              </a:r>
              <a:r>
                <a:rPr lang="en-GB" sz="800"/>
                <a:t>.</a:t>
              </a:r>
            </a:p>
          </p:txBody>
        </p:sp>
        <p:sp>
          <p:nvSpPr>
            <p:cNvPr id="53" name="Text Placeholder 36">
              <a:extLst>
                <a:ext uri="{FF2B5EF4-FFF2-40B4-BE49-F238E27FC236}">
                  <a16:creationId xmlns:a16="http://schemas.microsoft.com/office/drawing/2014/main" id="{B5A2C535-52AF-B642-BA3D-2EE8CA780567}"/>
                </a:ext>
              </a:extLst>
            </p:cNvPr>
            <p:cNvSpPr txBox="1">
              <a:spLocks/>
            </p:cNvSpPr>
            <p:nvPr/>
          </p:nvSpPr>
          <p:spPr>
            <a:xfrm>
              <a:off x="5941488" y="983629"/>
              <a:ext cx="2573301" cy="773531"/>
            </a:xfrm>
            <a:prstGeom prst="rect">
              <a:avLst/>
            </a:prstGeom>
            <a:ln>
              <a:solidFill>
                <a:srgbClr val="6AB0C3"/>
              </a:solidFill>
            </a:ln>
          </p:spPr>
          <p:txBody>
            <a:bodyPr>
              <a:noAutofit/>
            </a:bodyPr>
            <a:lstStyle>
              <a:lvl1pPr marL="214313" marR="0" indent="-214313" algn="l" defTabSz="914400" rtl="0" eaLnBrk="1" fontAlgn="auto" latinLnBrk="0" hangingPunct="1">
                <a:lnSpc>
                  <a:spcPct val="100000"/>
                </a:lnSpc>
                <a:spcBef>
                  <a:spcPct val="20000"/>
                </a:spcBef>
                <a:spcAft>
                  <a:spcPts val="0"/>
                </a:spcAft>
                <a:buClr>
                  <a:schemeClr val="accent2"/>
                </a:buClr>
                <a:buSzPct val="90000"/>
                <a:buFont typeface="Arial" panose="020B0604020202020204" pitchFamily="34" charset="0"/>
                <a:buChar char="•"/>
                <a:tabLst/>
                <a:defRPr kumimoji="0" lang="nl-NL" sz="1050" b="0" i="0" u="none" strike="noStrike" kern="1200" cap="none" spc="0" normalizeH="0" baseline="0" noProof="0">
                  <a:ln>
                    <a:noFill/>
                  </a:ln>
                  <a:solidFill>
                    <a:schemeClr val="accent1">
                      <a:lumMod val="50000"/>
                    </a:schemeClr>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179388" indent="-179388"/>
              <a:r>
                <a:rPr lang="en-GB" sz="800"/>
                <a:t>AD groups be defined to support individual use cases </a:t>
              </a:r>
            </a:p>
            <a:p>
              <a:pPr marL="179388" indent="-179388"/>
              <a:r>
                <a:rPr lang="en-GB" sz="800"/>
                <a:t>This makes it easy to assign roles to multiple users who interact with nBIF application for same use-case and require common privilege</a:t>
              </a:r>
            </a:p>
          </p:txBody>
        </p:sp>
        <p:sp>
          <p:nvSpPr>
            <p:cNvPr id="54" name="Text Placeholder 36">
              <a:extLst>
                <a:ext uri="{FF2B5EF4-FFF2-40B4-BE49-F238E27FC236}">
                  <a16:creationId xmlns:a16="http://schemas.microsoft.com/office/drawing/2014/main" id="{B5A2C535-52AF-B642-BA3D-2EE8CA780567}"/>
                </a:ext>
              </a:extLst>
            </p:cNvPr>
            <p:cNvSpPr txBox="1">
              <a:spLocks/>
            </p:cNvSpPr>
            <p:nvPr/>
          </p:nvSpPr>
          <p:spPr>
            <a:xfrm>
              <a:off x="6194694" y="3177251"/>
              <a:ext cx="2573301" cy="594650"/>
            </a:xfrm>
            <a:prstGeom prst="rect">
              <a:avLst/>
            </a:prstGeom>
            <a:ln>
              <a:solidFill>
                <a:srgbClr val="8D8467"/>
              </a:solidFill>
            </a:ln>
          </p:spPr>
          <p:txBody>
            <a:bodyPr>
              <a:noAutofit/>
            </a:bodyPr>
            <a:lstStyle>
              <a:lvl1pPr marL="214313" marR="0" indent="-214313" algn="l" defTabSz="914400" rtl="0" eaLnBrk="1" fontAlgn="auto" latinLnBrk="0" hangingPunct="1">
                <a:lnSpc>
                  <a:spcPct val="100000"/>
                </a:lnSpc>
                <a:spcBef>
                  <a:spcPct val="20000"/>
                </a:spcBef>
                <a:spcAft>
                  <a:spcPts val="0"/>
                </a:spcAft>
                <a:buClr>
                  <a:schemeClr val="accent2"/>
                </a:buClr>
                <a:buSzPct val="90000"/>
                <a:buFont typeface="Arial" panose="020B0604020202020204" pitchFamily="34" charset="0"/>
                <a:buChar char="•"/>
                <a:tabLst/>
                <a:defRPr kumimoji="0" lang="nl-NL" sz="1050" b="0" i="0" u="none" strike="noStrike" kern="1200" cap="none" spc="0" normalizeH="0" baseline="0" noProof="0">
                  <a:ln>
                    <a:noFill/>
                  </a:ln>
                  <a:solidFill>
                    <a:schemeClr val="accent1">
                      <a:lumMod val="50000"/>
                    </a:schemeClr>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r>
                <a:rPr lang="en-GB" sz="800"/>
                <a:t>Permissions are about access to resources like read/write/view/admin</a:t>
              </a:r>
            </a:p>
            <a:p>
              <a:r>
                <a:rPr lang="en-GB" sz="800"/>
                <a:t>Permissions will be given to Roles</a:t>
              </a:r>
            </a:p>
          </p:txBody>
        </p:sp>
        <p:sp>
          <p:nvSpPr>
            <p:cNvPr id="55" name="Text Placeholder 10">
              <a:extLst>
                <a:ext uri="{FF2B5EF4-FFF2-40B4-BE49-F238E27FC236}">
                  <a16:creationId xmlns:a16="http://schemas.microsoft.com/office/drawing/2014/main" id="{92CC84CB-6A03-984B-9F9D-A011A8421719}"/>
                </a:ext>
              </a:extLst>
            </p:cNvPr>
            <p:cNvSpPr txBox="1">
              <a:spLocks/>
            </p:cNvSpPr>
            <p:nvPr/>
          </p:nvSpPr>
          <p:spPr>
            <a:xfrm>
              <a:off x="5583121" y="2348697"/>
              <a:ext cx="1485900" cy="552450"/>
            </a:xfrm>
            <a:prstGeom prst="rect">
              <a:avLst/>
            </a:prstGeom>
          </p:spPr>
          <p:txBody>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20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600"/>
                <a:t>Groups</a:t>
              </a:r>
            </a:p>
          </p:txBody>
        </p:sp>
        <p:sp>
          <p:nvSpPr>
            <p:cNvPr id="56" name="Text Placeholder 10">
              <a:extLst>
                <a:ext uri="{FF2B5EF4-FFF2-40B4-BE49-F238E27FC236}">
                  <a16:creationId xmlns:a16="http://schemas.microsoft.com/office/drawing/2014/main" id="{92CC84CB-6A03-984B-9F9D-A011A8421719}"/>
                </a:ext>
              </a:extLst>
            </p:cNvPr>
            <p:cNvSpPr txBox="1">
              <a:spLocks/>
            </p:cNvSpPr>
            <p:nvPr/>
          </p:nvSpPr>
          <p:spPr>
            <a:xfrm>
              <a:off x="6917452" y="2355096"/>
              <a:ext cx="1597337" cy="552450"/>
            </a:xfrm>
            <a:prstGeom prst="rect">
              <a:avLst/>
            </a:prstGeom>
          </p:spPr>
          <p:txBody>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20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600"/>
                <a:t>Permission</a:t>
              </a:r>
            </a:p>
          </p:txBody>
        </p:sp>
      </p:grpSp>
      <p:sp>
        <p:nvSpPr>
          <p:cNvPr id="59" name="Text Placeholder 4"/>
          <p:cNvSpPr>
            <a:spLocks noGrp="1"/>
          </p:cNvSpPr>
          <p:nvPr>
            <p:ph type="body" sz="quarter" idx="13"/>
          </p:nvPr>
        </p:nvSpPr>
        <p:spPr>
          <a:xfrm>
            <a:off x="429310" y="4239338"/>
            <a:ext cx="7804150" cy="477041"/>
          </a:xfrm>
        </p:spPr>
        <p:txBody>
          <a:bodyPr/>
          <a:lstStyle/>
          <a:p>
            <a:pPr>
              <a:buFont typeface="Arial" panose="020B0604020202020204" pitchFamily="34" charset="0"/>
              <a:buChar char="•"/>
            </a:pPr>
            <a:r>
              <a:rPr lang="en-IN" sz="800" b="1">
                <a:solidFill>
                  <a:schemeClr val="tx1"/>
                </a:solidFill>
              </a:rPr>
              <a:t>For all client based interaction with nBIF components, single sign on will be implemented.</a:t>
            </a:r>
          </a:p>
          <a:p>
            <a:pPr>
              <a:buFont typeface="Arial" panose="020B0604020202020204" pitchFamily="34" charset="0"/>
              <a:buChar char="•"/>
            </a:pPr>
            <a:r>
              <a:rPr lang="en-IN" sz="800" b="1">
                <a:solidFill>
                  <a:schemeClr val="tx1"/>
                </a:solidFill>
              </a:rPr>
              <a:t>For  Perimeter security, Underlying platform security, and Data security, nBIF will implement CCC recommended general guidelines.  </a:t>
            </a:r>
          </a:p>
        </p:txBody>
      </p:sp>
    </p:spTree>
    <p:extLst>
      <p:ext uri="{BB962C8B-B14F-4D97-AF65-F5344CB8AC3E}">
        <p14:creationId xmlns:p14="http://schemas.microsoft.com/office/powerpoint/2010/main" val="472009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effectLst/>
        </p:spPr>
        <p:txBody>
          <a:bodyPr vert="horz" lIns="0" tIns="0" rIns="0" bIns="0" rtlCol="0" anchor="b">
            <a:spAutoFit/>
          </a:bodyPr>
          <a:lstStyle/>
          <a:p>
            <a:r>
              <a:rPr lang="en-GB"/>
              <a:t>Impact on Operations</a:t>
            </a:r>
          </a:p>
        </p:txBody>
      </p:sp>
      <p:sp>
        <p:nvSpPr>
          <p:cNvPr id="5" name="Text Placeholder 4"/>
          <p:cNvSpPr>
            <a:spLocks noGrp="1"/>
          </p:cNvSpPr>
          <p:nvPr>
            <p:ph type="body" sz="quarter" idx="11"/>
          </p:nvPr>
        </p:nvSpPr>
        <p:spPr>
          <a:xfrm>
            <a:off x="501650" y="2430031"/>
            <a:ext cx="7778749" cy="400110"/>
          </a:xfrm>
        </p:spPr>
        <p:txBody>
          <a:bodyPr/>
          <a:lstStyle/>
          <a:p>
            <a:r>
              <a:rPr lang="en-GB" sz="2000"/>
              <a:t>n-Bridge Information Factory</a:t>
            </a:r>
          </a:p>
        </p:txBody>
      </p:sp>
      <p:sp>
        <p:nvSpPr>
          <p:cNvPr id="7" name="Rounded Rectangle 10">
            <a:hlinkClick r:id="rId2" action="ppaction://hlinksldjump"/>
          </p:cNvPr>
          <p:cNvSpPr/>
          <p:nvPr/>
        </p:nvSpPr>
        <p:spPr>
          <a:xfrm>
            <a:off x="7353984"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9. Impact on Operations</a:t>
            </a:r>
          </a:p>
        </p:txBody>
      </p:sp>
    </p:spTree>
    <p:extLst>
      <p:ext uri="{BB962C8B-B14F-4D97-AF65-F5344CB8AC3E}">
        <p14:creationId xmlns:p14="http://schemas.microsoft.com/office/powerpoint/2010/main" val="3835776429"/>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9.1 Impact on IT Operations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71</a:t>
            </a:fld>
            <a:endParaRPr lang="en-GB"/>
          </a:p>
        </p:txBody>
      </p:sp>
      <mc:AlternateContent xmlns:mc="http://schemas.openxmlformats.org/markup-compatibility/2006" xmlns:a14="http://schemas.microsoft.com/office/drawing/2010/main">
        <mc:Choice Requires="a14">
          <p:sp>
            <p:nvSpPr>
              <p:cNvPr id="13" name="Tijdelijke aanduiding voor inhoud 12"/>
              <p:cNvSpPr>
                <a:spLocks noGrp="1"/>
              </p:cNvSpPr>
              <p:nvPr>
                <p:ph sz="quarter" idx="11"/>
              </p:nvPr>
            </p:nvSpPr>
            <p:spPr>
              <a:xfrm>
                <a:off x="476032" y="1077456"/>
                <a:ext cx="7804586" cy="3092885"/>
              </a:xfrm>
            </p:spPr>
            <p:txBody>
              <a:bodyPr/>
              <a:lstStyle/>
              <a:p>
                <a:r>
                  <a:rPr lang="nl-NL" sz="1600"/>
                  <a:t>IT Operations:</a:t>
                </a:r>
              </a:p>
              <a:p>
                <a:pPr lvl="1"/>
                <a:r>
                  <a:rPr lang="nl-NL" sz="1200"/>
                  <a:t>All </a:t>
                </a:r>
                <a:r>
                  <a:rPr lang="nl-NL" sz="1200" err="1"/>
                  <a:t>work</a:t>
                </a:r>
                <a:r>
                  <a:rPr lang="nl-NL" sz="1200"/>
                  <a:t> to the portfolio </a:t>
                </a:r>
                <a:r>
                  <a:rPr lang="nl-NL" sz="1200" err="1"/>
                  <a:t>specific</a:t>
                </a:r>
                <a:r>
                  <a:rPr lang="nl-NL" sz="1200"/>
                  <a:t> </a:t>
                </a:r>
                <a14:m>
                  <m:oMath xmlns:m="http://schemas.openxmlformats.org/officeDocument/2006/math">
                    <m:r>
                      <m:rPr>
                        <m:sty m:val="p"/>
                      </m:rPr>
                      <a:rPr lang="en-IN" sz="1200" dirty="0" smtClean="0">
                        <a:latin typeface="Cambria Math" panose="02040503050406030204" pitchFamily="18" charset="0"/>
                      </a:rPr>
                      <m:t>nBIF</m:t>
                    </m:r>
                  </m:oMath>
                </a14:m>
                <a:r>
                  <a:rPr lang="nl-NL" sz="1200"/>
                  <a:t> </a:t>
                </a:r>
                <a:r>
                  <a:rPr lang="nl-NL" sz="1200" err="1"/>
                  <a:t>application</a:t>
                </a:r>
                <a:r>
                  <a:rPr lang="nl-NL" sz="1200"/>
                  <a:t> will </a:t>
                </a:r>
                <a:r>
                  <a:rPr lang="nl-NL" sz="1200" err="1"/>
                  <a:t>be</a:t>
                </a:r>
                <a:r>
                  <a:rPr lang="nl-NL" sz="1200"/>
                  <a:t> </a:t>
                </a:r>
                <a:r>
                  <a:rPr lang="nl-NL" sz="1200" err="1"/>
                  <a:t>handled</a:t>
                </a:r>
                <a:r>
                  <a:rPr lang="nl-NL" sz="1200"/>
                  <a:t> by new </a:t>
                </a:r>
                <a:r>
                  <a:rPr lang="nl-NL" sz="1200" err="1"/>
                  <a:t>DevOps</a:t>
                </a:r>
                <a:r>
                  <a:rPr lang="nl-NL" sz="1200"/>
                  <a:t> team </a:t>
                </a:r>
                <a:r>
                  <a:rPr lang="nl-NL" sz="1200" err="1"/>
                  <a:t>within</a:t>
                </a:r>
                <a:r>
                  <a:rPr lang="nl-NL" sz="1200"/>
                  <a:t> </a:t>
                </a:r>
                <a:r>
                  <a:rPr lang="nl-NL" sz="1200" err="1"/>
                  <a:t>respective</a:t>
                </a:r>
                <a:r>
                  <a:rPr lang="nl-NL" sz="1200"/>
                  <a:t> portfolio area. </a:t>
                </a:r>
              </a:p>
              <a:p>
                <a:pPr lvl="1"/>
                <a:r>
                  <a:rPr lang="nl-NL" sz="1200"/>
                  <a:t>Portfolio </a:t>
                </a:r>
                <a:r>
                  <a:rPr lang="nl-NL" sz="1200" err="1"/>
                  <a:t>areas</a:t>
                </a:r>
                <a:r>
                  <a:rPr lang="nl-NL" sz="1200"/>
                  <a:t> </a:t>
                </a:r>
                <a:r>
                  <a:rPr lang="nl-NL" sz="1200" err="1"/>
                  <a:t>may</a:t>
                </a:r>
                <a:r>
                  <a:rPr lang="nl-NL" sz="1200"/>
                  <a:t> </a:t>
                </a:r>
                <a:r>
                  <a:rPr lang="nl-NL" sz="1200" err="1"/>
                  <a:t>decide</a:t>
                </a:r>
                <a:r>
                  <a:rPr lang="nl-NL" sz="1200"/>
                  <a:t> </a:t>
                </a:r>
                <a:r>
                  <a:rPr lang="nl-NL" sz="1200" err="1"/>
                  <a:t>whether</a:t>
                </a:r>
                <a:r>
                  <a:rPr lang="nl-NL" sz="1200"/>
                  <a:t> </a:t>
                </a:r>
                <a:r>
                  <a:rPr lang="nl-NL" sz="1200" err="1"/>
                  <a:t>they</a:t>
                </a:r>
                <a:r>
                  <a:rPr lang="nl-NL" sz="1200"/>
                  <a:t> will have </a:t>
                </a:r>
                <a:r>
                  <a:rPr lang="nl-NL" sz="1200" err="1"/>
                  <a:t>one</a:t>
                </a:r>
                <a:r>
                  <a:rPr lang="nl-NL" sz="1200"/>
                  <a:t> team to </a:t>
                </a:r>
                <a:r>
                  <a:rPr lang="nl-NL" sz="1200" err="1"/>
                  <a:t>build</a:t>
                </a:r>
                <a:r>
                  <a:rPr lang="nl-NL" sz="1200"/>
                  <a:t> data </a:t>
                </a:r>
                <a:r>
                  <a:rPr lang="nl-NL" sz="1200" err="1"/>
                  <a:t>acqusition</a:t>
                </a:r>
                <a:r>
                  <a:rPr lang="nl-NL" sz="1200"/>
                  <a:t> </a:t>
                </a:r>
                <a:r>
                  <a:rPr lang="nl-NL" sz="1200" err="1"/>
                  <a:t>from</a:t>
                </a:r>
                <a:r>
                  <a:rPr lang="nl-NL" sz="1200"/>
                  <a:t> GRFD (data </a:t>
                </a:r>
                <a:r>
                  <a:rPr lang="nl-NL" sz="1200" err="1"/>
                  <a:t>factory</a:t>
                </a:r>
                <a:r>
                  <a:rPr lang="nl-NL" sz="1200"/>
                  <a:t> </a:t>
                </a:r>
                <a:r>
                  <a:rPr lang="nl-NL" sz="1200" err="1"/>
                  <a:t>squad</a:t>
                </a:r>
                <a:r>
                  <a:rPr lang="nl-NL" sz="1200"/>
                  <a:t>) and </a:t>
                </a:r>
                <a:r>
                  <a:rPr lang="nl-NL" sz="1200" err="1"/>
                  <a:t>another</a:t>
                </a:r>
                <a:r>
                  <a:rPr lang="nl-NL" sz="1200"/>
                  <a:t> team to </a:t>
                </a:r>
                <a:r>
                  <a:rPr lang="nl-NL" sz="1200" err="1"/>
                  <a:t>build</a:t>
                </a:r>
                <a:r>
                  <a:rPr lang="nl-NL" sz="1200"/>
                  <a:t> </a:t>
                </a:r>
                <a:r>
                  <a:rPr lang="nl-NL" sz="1200" err="1"/>
                  <a:t>remaining</a:t>
                </a:r>
                <a:r>
                  <a:rPr lang="nl-NL" sz="1200"/>
                  <a:t> part of </a:t>
                </a:r>
                <a:r>
                  <a:rPr lang="nl-NL" sz="1200" err="1"/>
                  <a:t>their</a:t>
                </a:r>
                <a:r>
                  <a:rPr lang="nl-NL" sz="1200"/>
                  <a:t> nBIF </a:t>
                </a:r>
                <a:r>
                  <a:rPr lang="nl-NL" sz="1200" err="1"/>
                  <a:t>application</a:t>
                </a:r>
                <a:r>
                  <a:rPr lang="nl-NL" sz="1200"/>
                  <a:t> or </a:t>
                </a:r>
                <a:r>
                  <a:rPr lang="nl-NL" sz="1200" err="1"/>
                  <a:t>they</a:t>
                </a:r>
                <a:r>
                  <a:rPr lang="nl-NL" sz="1200"/>
                  <a:t> will have </a:t>
                </a:r>
                <a:r>
                  <a:rPr lang="nl-NL" sz="1200" err="1"/>
                  <a:t>one</a:t>
                </a:r>
                <a:r>
                  <a:rPr lang="nl-NL" sz="1200"/>
                  <a:t> team to </a:t>
                </a:r>
                <a:r>
                  <a:rPr lang="nl-NL" sz="1200" err="1"/>
                  <a:t>perform</a:t>
                </a:r>
                <a:r>
                  <a:rPr lang="nl-NL" sz="1200"/>
                  <a:t> </a:t>
                </a:r>
                <a:r>
                  <a:rPr lang="nl-NL" sz="1200" err="1"/>
                  <a:t>both</a:t>
                </a:r>
                <a:r>
                  <a:rPr lang="nl-NL" sz="1200"/>
                  <a:t>.</a:t>
                </a:r>
              </a:p>
              <a:p>
                <a:pPr lvl="1"/>
                <a:r>
                  <a:rPr lang="nl-NL" sz="1200"/>
                  <a:t>nBIF Base and nBIF </a:t>
                </a:r>
                <a:r>
                  <a:rPr lang="nl-NL" sz="1200" err="1"/>
                  <a:t>Onboarding</a:t>
                </a:r>
                <a:r>
                  <a:rPr lang="nl-NL" sz="1200"/>
                  <a:t> </a:t>
                </a:r>
                <a:r>
                  <a:rPr lang="nl-NL" sz="1200" err="1"/>
                  <a:t>squad</a:t>
                </a:r>
                <a:r>
                  <a:rPr lang="nl-NL" sz="1200"/>
                  <a:t> </a:t>
                </a:r>
                <a:r>
                  <a:rPr lang="nl-NL" sz="1200" err="1"/>
                  <a:t>within</a:t>
                </a:r>
                <a:r>
                  <a:rPr lang="nl-NL" sz="1200"/>
                  <a:t> MSP area will </a:t>
                </a:r>
                <a:r>
                  <a:rPr lang="nl-NL" sz="1200" err="1"/>
                  <a:t>be</a:t>
                </a:r>
                <a:r>
                  <a:rPr lang="nl-NL" sz="1200"/>
                  <a:t> </a:t>
                </a:r>
                <a:r>
                  <a:rPr lang="nl-NL" sz="1200" err="1"/>
                  <a:t>responsible</a:t>
                </a:r>
                <a:r>
                  <a:rPr lang="nl-NL" sz="1200"/>
                  <a:t> to </a:t>
                </a:r>
                <a:r>
                  <a:rPr lang="nl-NL" sz="1200" err="1"/>
                  <a:t>provide</a:t>
                </a:r>
                <a:r>
                  <a:rPr lang="nl-NL" sz="1200"/>
                  <a:t> the </a:t>
                </a:r>
                <a:r>
                  <a:rPr lang="nl-NL" sz="1200" err="1"/>
                  <a:t>underlying</a:t>
                </a:r>
                <a:r>
                  <a:rPr lang="nl-NL" sz="1200"/>
                  <a:t> platform solutions and handholding of the portfolio area team.</a:t>
                </a:r>
              </a:p>
              <a:p>
                <a:pPr lvl="1"/>
                <a:r>
                  <a:rPr lang="nl-NL" sz="1200"/>
                  <a:t>For all the </a:t>
                </a:r>
                <a:r>
                  <a:rPr lang="nl-NL" sz="1200" err="1"/>
                  <a:t>models</a:t>
                </a:r>
                <a:r>
                  <a:rPr lang="nl-NL" sz="1200"/>
                  <a:t> </a:t>
                </a:r>
                <a:r>
                  <a:rPr lang="nl-NL" sz="1200" err="1"/>
                  <a:t>that</a:t>
                </a:r>
                <a:r>
                  <a:rPr lang="nl-NL" sz="1200"/>
                  <a:t> will </a:t>
                </a:r>
                <a:r>
                  <a:rPr lang="nl-NL" sz="1200" err="1"/>
                  <a:t>be</a:t>
                </a:r>
                <a:r>
                  <a:rPr lang="nl-NL" sz="1200"/>
                  <a:t> </a:t>
                </a:r>
                <a:r>
                  <a:rPr lang="nl-NL" sz="1200" err="1"/>
                  <a:t>integrated</a:t>
                </a:r>
                <a:r>
                  <a:rPr lang="nl-NL" sz="1200"/>
                  <a:t> with </a:t>
                </a:r>
                <a14:m>
                  <m:oMath xmlns:m="http://schemas.openxmlformats.org/officeDocument/2006/math">
                    <m:r>
                      <m:rPr>
                        <m:sty m:val="p"/>
                      </m:rPr>
                      <a:rPr lang="en-IN" sz="1200" dirty="0" smtClean="0">
                        <a:latin typeface="Cambria Math" panose="02040503050406030204" pitchFamily="18" charset="0"/>
                      </a:rPr>
                      <m:t>nBIF</m:t>
                    </m:r>
                  </m:oMath>
                </a14:m>
                <a:r>
                  <a:rPr lang="nl-NL" sz="1200"/>
                  <a:t>, </a:t>
                </a:r>
                <a:r>
                  <a:rPr lang="nl-NL" sz="1200" err="1"/>
                  <a:t>their</a:t>
                </a:r>
                <a:r>
                  <a:rPr lang="nl-NL" sz="1200"/>
                  <a:t> </a:t>
                </a:r>
                <a:r>
                  <a:rPr lang="nl-NL" sz="1200" err="1"/>
                  <a:t>core</a:t>
                </a:r>
                <a:r>
                  <a:rPr lang="nl-NL" sz="1200"/>
                  <a:t> model </a:t>
                </a:r>
                <a:r>
                  <a:rPr lang="nl-NL" sz="1200" err="1"/>
                  <a:t>implementation</a:t>
                </a:r>
                <a:r>
                  <a:rPr lang="nl-NL" sz="1200"/>
                  <a:t> </a:t>
                </a:r>
                <a:r>
                  <a:rPr lang="nl-NL" sz="1200" err="1"/>
                  <a:t>responsibilities</a:t>
                </a:r>
                <a:r>
                  <a:rPr lang="nl-NL" sz="1200"/>
                  <a:t> will </a:t>
                </a:r>
                <a:r>
                  <a:rPr lang="nl-NL" sz="1200" err="1"/>
                  <a:t>remain</a:t>
                </a:r>
                <a:r>
                  <a:rPr lang="nl-NL" sz="1200"/>
                  <a:t> </a:t>
                </a:r>
                <a:r>
                  <a:rPr lang="nl-NL" sz="1200" err="1"/>
                  <a:t>un-impacted</a:t>
                </a:r>
                <a:r>
                  <a:rPr lang="nl-NL" sz="1200"/>
                  <a:t>. </a:t>
                </a:r>
              </a:p>
            </p:txBody>
          </p:sp>
        </mc:Choice>
        <mc:Fallback xmlns="">
          <p:sp>
            <p:nvSpPr>
              <p:cNvPr id="13" name="Tijdelijke aanduiding voor inhoud 12"/>
              <p:cNvSpPr>
                <a:spLocks noGrp="1" noRot="1" noChangeAspect="1" noMove="1" noResize="1" noEditPoints="1" noAdjustHandles="1" noChangeArrowheads="1" noChangeShapeType="1" noTextEdit="1"/>
              </p:cNvSpPr>
              <p:nvPr>
                <p:ph sz="quarter" idx="11"/>
              </p:nvPr>
            </p:nvSpPr>
            <p:spPr>
              <a:xfrm>
                <a:off x="476032" y="1077456"/>
                <a:ext cx="7804586" cy="3092885"/>
              </a:xfrm>
              <a:blipFill>
                <a:blip r:embed="rId3"/>
                <a:stretch>
                  <a:fillRect l="-1563" t="-789" r="-78"/>
                </a:stretch>
              </a:blipFill>
            </p:spPr>
            <p:txBody>
              <a:bodyPr/>
              <a:lstStyle/>
              <a:p>
                <a:r>
                  <a:rPr lang="en-US">
                    <a:noFill/>
                  </a:rPr>
                  <a:t> </a:t>
                </a:r>
              </a:p>
            </p:txBody>
          </p:sp>
        </mc:Fallback>
      </mc:AlternateContent>
      <p:sp>
        <p:nvSpPr>
          <p:cNvPr id="9" name="Tijdelijke aanduiding voor tekst 8"/>
          <p:cNvSpPr>
            <a:spLocks noGrp="1"/>
          </p:cNvSpPr>
          <p:nvPr>
            <p:ph type="body" sz="quarter" idx="12"/>
          </p:nvPr>
        </p:nvSpPr>
        <p:spPr/>
        <p:txBody>
          <a:bodyPr/>
          <a:lstStyle/>
          <a:p>
            <a:r>
              <a:rPr lang="nl-NL"/>
              <a:t> </a:t>
            </a:r>
          </a:p>
        </p:txBody>
      </p:sp>
      <p:sp>
        <p:nvSpPr>
          <p:cNvPr id="14" name="Tijdelijke aanduiding voor tekst 13"/>
          <p:cNvSpPr>
            <a:spLocks noGrp="1"/>
          </p:cNvSpPr>
          <p:nvPr>
            <p:ph type="body" sz="quarter" idx="13"/>
          </p:nvPr>
        </p:nvSpPr>
        <p:spPr/>
        <p:txBody>
          <a:bodyPr/>
          <a:lstStyle/>
          <a:p>
            <a:r>
              <a:rPr lang="nl-NL"/>
              <a:t> </a:t>
            </a:r>
          </a:p>
        </p:txBody>
      </p:sp>
      <p:sp>
        <p:nvSpPr>
          <p:cNvPr id="7" name="Rounded Rectangle 10">
            <a:hlinkClick r:id="rId4" action="ppaction://hlinksldjump"/>
          </p:cNvPr>
          <p:cNvSpPr/>
          <p:nvPr/>
        </p:nvSpPr>
        <p:spPr>
          <a:xfrm>
            <a:off x="7353984"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9. Impact on Operations</a:t>
            </a:r>
          </a:p>
        </p:txBody>
      </p:sp>
      <p:sp>
        <p:nvSpPr>
          <p:cNvPr id="10" name="Oval 9"/>
          <p:cNvSpPr/>
          <p:nvPr/>
        </p:nvSpPr>
        <p:spPr>
          <a:xfrm>
            <a:off x="0" y="0"/>
            <a:ext cx="364621" cy="347529"/>
          </a:xfrm>
          <a:prstGeom prst="ellipse">
            <a:avLst/>
          </a:prstGeom>
          <a:noFill/>
          <a:ln w="12700" cap="rnd" cmpd="sng" algn="ctr">
            <a:noFill/>
            <a:prstDash val="solid"/>
          </a:ln>
          <a:effectLst/>
        </p:spPr>
        <p:txBody>
          <a:bodyPr rtlCol="0" anchor="ctr"/>
          <a:lstStyle/>
          <a:p>
            <a:pPr algn="ctr"/>
            <a:endParaRPr lang="en-GB">
              <a:solidFill>
                <a:srgbClr val="5E6A71"/>
              </a:solidFill>
            </a:endParaRPr>
          </a:p>
        </p:txBody>
      </p:sp>
    </p:spTree>
    <p:extLst>
      <p:ext uri="{BB962C8B-B14F-4D97-AF65-F5344CB8AC3E}">
        <p14:creationId xmlns:p14="http://schemas.microsoft.com/office/powerpoint/2010/main" val="4278866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FBC17395-B0B8-DB33-5BA2-53E6FADAD738}"/>
              </a:ext>
            </a:extLst>
          </p:cNvPr>
          <p:cNvSpPr/>
          <p:nvPr/>
        </p:nvSpPr>
        <p:spPr>
          <a:xfrm>
            <a:off x="1781528" y="1628319"/>
            <a:ext cx="7094285" cy="813039"/>
          </a:xfrm>
          <a:prstGeom prst="roundRect">
            <a:avLst>
              <a:gd name="adj" fmla="val 8003"/>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900" b="1">
                <a:solidFill>
                  <a:schemeClr val="tx1"/>
                </a:solidFill>
              </a:rPr>
              <a:t>nBIF Onboarding SQUAD</a:t>
            </a:r>
            <a:endParaRPr lang="nl-NL" sz="900" b="1">
              <a:solidFill>
                <a:schemeClr val="tx1"/>
              </a:solidFill>
            </a:endParaRPr>
          </a:p>
        </p:txBody>
      </p:sp>
      <p:sp>
        <p:nvSpPr>
          <p:cNvPr id="3" name="Title 2"/>
          <p:cNvSpPr>
            <a:spLocks noGrp="1"/>
          </p:cNvSpPr>
          <p:nvPr>
            <p:ph type="title"/>
          </p:nvPr>
        </p:nvSpPr>
        <p:spPr/>
        <p:txBody>
          <a:bodyPr/>
          <a:lstStyle/>
          <a:p>
            <a:r>
              <a:rPr lang="en-GB"/>
              <a:t>9.2 Impact on IT Operations</a:t>
            </a:r>
          </a:p>
        </p:txBody>
      </p:sp>
      <p:sp>
        <p:nvSpPr>
          <p:cNvPr id="4" name="Slide Number Placeholder 3"/>
          <p:cNvSpPr>
            <a:spLocks noGrp="1"/>
          </p:cNvSpPr>
          <p:nvPr>
            <p:ph type="sldNum" sz="quarter" idx="10"/>
          </p:nvPr>
        </p:nvSpPr>
        <p:spPr/>
        <p:txBody>
          <a:bodyPr/>
          <a:lstStyle/>
          <a:p>
            <a:fld id="{9C7F1ACC-2CE8-4B5A-AF9E-0D67538731EE}" type="slidenum">
              <a:rPr lang="en-GB" smtClean="0"/>
              <a:pPr/>
              <a:t>72</a:t>
            </a:fld>
            <a:endParaRPr lang="en-GB"/>
          </a:p>
        </p:txBody>
      </p:sp>
      <p:sp>
        <p:nvSpPr>
          <p:cNvPr id="14" name="Tijdelijke aanduiding voor tekst 13"/>
          <p:cNvSpPr>
            <a:spLocks noGrp="1"/>
          </p:cNvSpPr>
          <p:nvPr>
            <p:ph type="body" sz="quarter" idx="13"/>
          </p:nvPr>
        </p:nvSpPr>
        <p:spPr/>
        <p:txBody>
          <a:bodyPr/>
          <a:lstStyle/>
          <a:p>
            <a:r>
              <a:rPr lang="nl-NL"/>
              <a:t> </a:t>
            </a:r>
          </a:p>
        </p:txBody>
      </p:sp>
      <p:sp>
        <p:nvSpPr>
          <p:cNvPr id="7" name="Rounded Rectangle 10">
            <a:hlinkClick r:id="rId3" action="ppaction://hlinksldjump"/>
          </p:cNvPr>
          <p:cNvSpPr/>
          <p:nvPr/>
        </p:nvSpPr>
        <p:spPr>
          <a:xfrm>
            <a:off x="7353984" y="4875491"/>
            <a:ext cx="891335"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9. Impact on Operations</a:t>
            </a:r>
          </a:p>
        </p:txBody>
      </p:sp>
      <p:sp>
        <p:nvSpPr>
          <p:cNvPr id="10" name="Oval 9"/>
          <p:cNvSpPr/>
          <p:nvPr/>
        </p:nvSpPr>
        <p:spPr>
          <a:xfrm>
            <a:off x="0" y="0"/>
            <a:ext cx="364621" cy="347529"/>
          </a:xfrm>
          <a:prstGeom prst="ellipse">
            <a:avLst/>
          </a:prstGeom>
          <a:noFill/>
          <a:ln w="12700" cap="rnd" cmpd="sng" algn="ctr">
            <a:noFill/>
            <a:prstDash val="solid"/>
          </a:ln>
          <a:effectLst/>
        </p:spPr>
        <p:txBody>
          <a:bodyPr rtlCol="0" anchor="ctr"/>
          <a:lstStyle/>
          <a:p>
            <a:pPr algn="ctr"/>
            <a:endParaRPr lang="en-GB">
              <a:solidFill>
                <a:srgbClr val="5E6A71"/>
              </a:solidFill>
            </a:endParaRPr>
          </a:p>
        </p:txBody>
      </p:sp>
      <p:sp>
        <p:nvSpPr>
          <p:cNvPr id="24" name="Rectangle: Rounded Corners 23">
            <a:extLst>
              <a:ext uri="{FF2B5EF4-FFF2-40B4-BE49-F238E27FC236}">
                <a16:creationId xmlns:a16="http://schemas.microsoft.com/office/drawing/2014/main" id="{44CA45A4-AA7D-597C-C544-B04AB6A50854}"/>
              </a:ext>
            </a:extLst>
          </p:cNvPr>
          <p:cNvSpPr/>
          <p:nvPr/>
        </p:nvSpPr>
        <p:spPr>
          <a:xfrm>
            <a:off x="432233" y="2571750"/>
            <a:ext cx="1185728" cy="2187567"/>
          </a:xfrm>
          <a:prstGeom prst="roundRect">
            <a:avLst>
              <a:gd name="adj" fmla="val 10061"/>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900" b="1">
                <a:solidFill>
                  <a:schemeClr val="tx1"/>
                </a:solidFill>
              </a:rPr>
              <a:t>Data Foundation SQUADs</a:t>
            </a:r>
            <a:endParaRPr lang="nl-NL" sz="900" b="1">
              <a:solidFill>
                <a:schemeClr val="tx1"/>
              </a:solidFill>
            </a:endParaRPr>
          </a:p>
        </p:txBody>
      </p:sp>
      <p:sp>
        <p:nvSpPr>
          <p:cNvPr id="25" name="TextBox 24">
            <a:extLst>
              <a:ext uri="{FF2B5EF4-FFF2-40B4-BE49-F238E27FC236}">
                <a16:creationId xmlns:a16="http://schemas.microsoft.com/office/drawing/2014/main" id="{D3F4C1D4-005E-489D-5A67-5DE204F0D4D0}"/>
              </a:ext>
            </a:extLst>
          </p:cNvPr>
          <p:cNvSpPr txBox="1"/>
          <p:nvPr/>
        </p:nvSpPr>
        <p:spPr>
          <a:xfrm>
            <a:off x="432233" y="3044171"/>
            <a:ext cx="1234203" cy="1323439"/>
          </a:xfrm>
          <a:prstGeom prst="rect">
            <a:avLst/>
          </a:prstGeom>
          <a:noFill/>
        </p:spPr>
        <p:txBody>
          <a:bodyPr wrap="square" rtlCol="0">
            <a:spAutoFit/>
          </a:bodyPr>
          <a:lstStyle/>
          <a:p>
            <a:pPr algn="l" rtl="0" fontAlgn="base">
              <a:buFont typeface="+mj-lt"/>
              <a:buAutoNum type="arabicPeriod"/>
            </a:pPr>
            <a:r>
              <a:rPr lang="en-GB" sz="800" i="0">
                <a:solidFill>
                  <a:srgbClr val="000000"/>
                </a:solidFill>
                <a:effectLst/>
                <a:latin typeface="Calibri" panose="020F0502020204030204" pitchFamily="34" charset="0"/>
              </a:rPr>
              <a:t>load complete </a:t>
            </a:r>
            <a:r>
              <a:rPr lang="en-GB" sz="800">
                <a:solidFill>
                  <a:srgbClr val="000000"/>
                </a:solidFill>
                <a:latin typeface="Calibri" panose="020F0502020204030204" pitchFamily="34" charset="0"/>
              </a:rPr>
              <a:t>data </a:t>
            </a:r>
            <a:r>
              <a:rPr lang="en-GB" sz="800" i="0">
                <a:solidFill>
                  <a:srgbClr val="000000"/>
                </a:solidFill>
                <a:effectLst/>
                <a:latin typeface="Calibri" panose="020F0502020204030204" pitchFamily="34" charset="0"/>
              </a:rPr>
              <a:t>needed to build model ready input into GRFDs RDV/BDV/Dal layer.</a:t>
            </a:r>
          </a:p>
          <a:p>
            <a:pPr algn="l" rtl="0" fontAlgn="base">
              <a:buFont typeface="+mj-lt"/>
              <a:buAutoNum type="arabicPeriod"/>
            </a:pPr>
            <a:r>
              <a:rPr lang="en-GB" sz="800" i="0">
                <a:solidFill>
                  <a:srgbClr val="000000"/>
                </a:solidFill>
                <a:effectLst/>
                <a:latin typeface="Calibri" panose="020F0502020204030204" pitchFamily="34" charset="0"/>
              </a:rPr>
              <a:t> trigger nBIF application upon availability of data.</a:t>
            </a:r>
          </a:p>
          <a:p>
            <a:pPr algn="l" rtl="0" fontAlgn="base">
              <a:buFont typeface="+mj-lt"/>
              <a:buAutoNum type="arabicPeriod"/>
            </a:pPr>
            <a:r>
              <a:rPr lang="en-GB" sz="800" i="0">
                <a:solidFill>
                  <a:srgbClr val="000000"/>
                </a:solidFill>
                <a:effectLst/>
                <a:latin typeface="Calibri" panose="020F0502020204030204" pitchFamily="34" charset="0"/>
              </a:rPr>
              <a:t>Handhold Data Factory Squad in working with GRFD’s SAP HANA DB</a:t>
            </a:r>
            <a:r>
              <a:rPr lang="en-GB" sz="800">
                <a:solidFill>
                  <a:srgbClr val="000000"/>
                </a:solidFill>
                <a:latin typeface="Calibri" panose="020F0502020204030204" pitchFamily="34" charset="0"/>
              </a:rPr>
              <a:t>.</a:t>
            </a:r>
            <a:endParaRPr lang="nl-NL" sz="800"/>
          </a:p>
        </p:txBody>
      </p:sp>
      <p:sp>
        <p:nvSpPr>
          <p:cNvPr id="26" name="Rectangle: Rounded Corners 25">
            <a:extLst>
              <a:ext uri="{FF2B5EF4-FFF2-40B4-BE49-F238E27FC236}">
                <a16:creationId xmlns:a16="http://schemas.microsoft.com/office/drawing/2014/main" id="{9803A688-BE91-A850-6B42-4C70961F252E}"/>
              </a:ext>
            </a:extLst>
          </p:cNvPr>
          <p:cNvSpPr/>
          <p:nvPr/>
        </p:nvSpPr>
        <p:spPr>
          <a:xfrm>
            <a:off x="1790023" y="2571749"/>
            <a:ext cx="5786810" cy="2225091"/>
          </a:xfrm>
          <a:prstGeom prst="roundRect">
            <a:avLst>
              <a:gd name="adj" fmla="val 8868"/>
            </a:avLst>
          </a:prstGeom>
          <a:solidFill>
            <a:schemeClr val="accent5">
              <a:lumMod val="20000"/>
              <a:lumOff val="8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900" b="1">
                <a:solidFill>
                  <a:schemeClr val="tx1"/>
                </a:solidFill>
              </a:rPr>
              <a:t>Portfolio Area</a:t>
            </a:r>
            <a:r>
              <a:rPr lang="nl-NL" sz="900" b="1">
                <a:solidFill>
                  <a:schemeClr val="tx1"/>
                </a:solidFill>
              </a:rPr>
              <a:t> Squad(s)</a:t>
            </a:r>
            <a:endParaRPr lang="en-GB" sz="900" b="1">
              <a:solidFill>
                <a:schemeClr val="tx1"/>
              </a:solidFill>
            </a:endParaRPr>
          </a:p>
        </p:txBody>
      </p:sp>
      <p:sp>
        <p:nvSpPr>
          <p:cNvPr id="28" name="Rectangle: Rounded Corners 27">
            <a:extLst>
              <a:ext uri="{FF2B5EF4-FFF2-40B4-BE49-F238E27FC236}">
                <a16:creationId xmlns:a16="http://schemas.microsoft.com/office/drawing/2014/main" id="{D74048CD-D0DD-DFAB-016C-75EF4660E612}"/>
              </a:ext>
            </a:extLst>
          </p:cNvPr>
          <p:cNvSpPr/>
          <p:nvPr/>
        </p:nvSpPr>
        <p:spPr>
          <a:xfrm>
            <a:off x="410975" y="745493"/>
            <a:ext cx="1220708" cy="1712243"/>
          </a:xfrm>
          <a:prstGeom prst="roundRect">
            <a:avLst>
              <a:gd name="adj" fmla="val 8025"/>
            </a:avLst>
          </a:prstGeom>
          <a:solidFill>
            <a:schemeClr val="accent2">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900" b="1">
                <a:solidFill>
                  <a:schemeClr val="tx1"/>
                </a:solidFill>
              </a:rPr>
              <a:t>Data Disclosure SQUAD</a:t>
            </a:r>
            <a:endParaRPr lang="nl-NL" sz="900" b="1">
              <a:solidFill>
                <a:schemeClr val="tx1"/>
              </a:solidFill>
            </a:endParaRPr>
          </a:p>
        </p:txBody>
      </p:sp>
      <p:sp>
        <p:nvSpPr>
          <p:cNvPr id="29" name="TextBox 28">
            <a:extLst>
              <a:ext uri="{FF2B5EF4-FFF2-40B4-BE49-F238E27FC236}">
                <a16:creationId xmlns:a16="http://schemas.microsoft.com/office/drawing/2014/main" id="{A7D1C0AC-EFED-485C-EBB5-38C7A2464E59}"/>
              </a:ext>
            </a:extLst>
          </p:cNvPr>
          <p:cNvSpPr txBox="1"/>
          <p:nvPr/>
        </p:nvSpPr>
        <p:spPr>
          <a:xfrm>
            <a:off x="432233" y="1157571"/>
            <a:ext cx="1199450" cy="1077218"/>
          </a:xfrm>
          <a:prstGeom prst="rect">
            <a:avLst/>
          </a:prstGeom>
          <a:noFill/>
        </p:spPr>
        <p:txBody>
          <a:bodyPr wrap="square" rtlCol="0">
            <a:spAutoFit/>
          </a:bodyPr>
          <a:lstStyle>
            <a:defPPr>
              <a:defRPr lang="nl-NL"/>
            </a:defPPr>
            <a:lvl1pPr fontAlgn="base">
              <a:buFont typeface="+mj-lt"/>
              <a:buAutoNum type="arabicPeriod"/>
              <a:defRPr sz="1000" i="0">
                <a:solidFill>
                  <a:srgbClr val="000000"/>
                </a:solidFill>
                <a:effectLst/>
                <a:latin typeface="Calibri" panose="020F0502020204030204" pitchFamily="34" charset="0"/>
              </a:defRPr>
            </a:lvl1pPr>
            <a:lvl2pPr marL="800100" lvl="1" indent="-342900" fontAlgn="base">
              <a:buFont typeface="+mj-lt"/>
              <a:buAutoNum type="alphaLcParenR"/>
              <a:defRPr sz="1000" i="0">
                <a:solidFill>
                  <a:srgbClr val="000000"/>
                </a:solidFill>
                <a:effectLst/>
                <a:latin typeface="Calibri" panose="020F0502020204030204" pitchFamily="34" charset="0"/>
              </a:defRPr>
            </a:lvl2pPr>
          </a:lstStyle>
          <a:p>
            <a:r>
              <a:rPr lang="en-GB" sz="800"/>
              <a:t>Create, Maintain &amp; Expose data retrieval service from GRFD2. </a:t>
            </a:r>
          </a:p>
          <a:p>
            <a:r>
              <a:rPr lang="en-GB" sz="800"/>
              <a:t>Maintain staging out file system on azure. </a:t>
            </a:r>
          </a:p>
          <a:p>
            <a:r>
              <a:rPr lang="en-GB" sz="800"/>
              <a:t>The point of contact for GRFD technical interface. </a:t>
            </a:r>
          </a:p>
        </p:txBody>
      </p:sp>
      <p:sp>
        <p:nvSpPr>
          <p:cNvPr id="32" name="Rectangle: Rounded Corners 31">
            <a:extLst>
              <a:ext uri="{FF2B5EF4-FFF2-40B4-BE49-F238E27FC236}">
                <a16:creationId xmlns:a16="http://schemas.microsoft.com/office/drawing/2014/main" id="{55BABFDB-28EC-B93B-C822-7C41C4913541}"/>
              </a:ext>
            </a:extLst>
          </p:cNvPr>
          <p:cNvSpPr/>
          <p:nvPr/>
        </p:nvSpPr>
        <p:spPr>
          <a:xfrm>
            <a:off x="7726679" y="2520010"/>
            <a:ext cx="1165479" cy="2276830"/>
          </a:xfrm>
          <a:prstGeom prst="roundRect">
            <a:avLst>
              <a:gd name="adj" fmla="val 7550"/>
            </a:avLst>
          </a:prstGeom>
          <a:solidFill>
            <a:srgbClr val="FF99CC"/>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900" b="1">
                <a:solidFill>
                  <a:schemeClr val="tx1"/>
                </a:solidFill>
              </a:rPr>
              <a:t>Calculator SQUADs </a:t>
            </a:r>
            <a:endParaRPr lang="nl-NL" sz="900" b="1">
              <a:solidFill>
                <a:schemeClr val="tx1"/>
              </a:solidFill>
            </a:endParaRPr>
          </a:p>
        </p:txBody>
      </p:sp>
      <p:sp>
        <p:nvSpPr>
          <p:cNvPr id="33" name="TextBox 32">
            <a:extLst>
              <a:ext uri="{FF2B5EF4-FFF2-40B4-BE49-F238E27FC236}">
                <a16:creationId xmlns:a16="http://schemas.microsoft.com/office/drawing/2014/main" id="{B7704D90-0B9A-6498-046F-2D063DC6545E}"/>
              </a:ext>
            </a:extLst>
          </p:cNvPr>
          <p:cNvSpPr txBox="1"/>
          <p:nvPr/>
        </p:nvSpPr>
        <p:spPr>
          <a:xfrm>
            <a:off x="7762106" y="2961019"/>
            <a:ext cx="1094624" cy="1446550"/>
          </a:xfrm>
          <a:prstGeom prst="rect">
            <a:avLst/>
          </a:prstGeom>
          <a:noFill/>
        </p:spPr>
        <p:txBody>
          <a:bodyPr wrap="square" lIns="91440" tIns="45720" rIns="91440" bIns="45720" rtlCol="0" anchor="t">
            <a:spAutoFit/>
          </a:bodyPr>
          <a:lstStyle>
            <a:defPPr>
              <a:defRPr lang="nl-NL"/>
            </a:defPPr>
            <a:lvl1pPr fontAlgn="base">
              <a:buFont typeface="+mj-lt"/>
              <a:buAutoNum type="arabicPeriod"/>
              <a:defRPr sz="1000" i="0">
                <a:solidFill>
                  <a:srgbClr val="000000"/>
                </a:solidFill>
                <a:effectLst/>
                <a:latin typeface="Calibri" panose="020F0502020204030204" pitchFamily="34" charset="0"/>
              </a:defRPr>
            </a:lvl1pPr>
            <a:lvl2pPr marL="800100" lvl="1" indent="-342900" fontAlgn="base">
              <a:buFont typeface="+mj-lt"/>
              <a:buAutoNum type="alphaLcParenR"/>
              <a:defRPr sz="1000" i="0">
                <a:solidFill>
                  <a:srgbClr val="000000"/>
                </a:solidFill>
                <a:effectLst/>
                <a:latin typeface="Calibri" panose="020F0502020204030204" pitchFamily="34" charset="0"/>
              </a:defRPr>
            </a:lvl2pPr>
          </a:lstStyle>
          <a:p>
            <a:r>
              <a:rPr lang="en-GB" sz="800"/>
              <a:t>Build and maintain model specific input &amp; output PDDs</a:t>
            </a:r>
          </a:p>
          <a:p>
            <a:r>
              <a:rPr lang="en-GB" sz="800"/>
              <a:t>Creating Power BI Plausibility reports  for their model</a:t>
            </a:r>
          </a:p>
          <a:p>
            <a:r>
              <a:rPr lang="en-GB" sz="800"/>
              <a:t>Inspecting the model results and providing sign-off. </a:t>
            </a:r>
          </a:p>
          <a:p>
            <a:endParaRPr lang="en-GB" sz="800"/>
          </a:p>
          <a:p>
            <a:endParaRPr lang="en-GB" sz="800"/>
          </a:p>
        </p:txBody>
      </p:sp>
      <p:sp>
        <p:nvSpPr>
          <p:cNvPr id="34" name="Rectangle: Rounded Corners 33">
            <a:extLst>
              <a:ext uri="{FF2B5EF4-FFF2-40B4-BE49-F238E27FC236}">
                <a16:creationId xmlns:a16="http://schemas.microsoft.com/office/drawing/2014/main" id="{5ECFA514-00CE-17C0-0350-AE1864563194}"/>
              </a:ext>
            </a:extLst>
          </p:cNvPr>
          <p:cNvSpPr/>
          <p:nvPr/>
        </p:nvSpPr>
        <p:spPr>
          <a:xfrm>
            <a:off x="1790023" y="745493"/>
            <a:ext cx="7085789" cy="804173"/>
          </a:xfrm>
          <a:prstGeom prst="roundRect">
            <a:avLst>
              <a:gd name="adj" fmla="val 7966"/>
            </a:avLst>
          </a:prstGeom>
          <a:solidFill>
            <a:srgbClr val="CC99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r>
              <a:rPr lang="en-GB" sz="900" b="1">
                <a:solidFill>
                  <a:schemeClr val="tx1"/>
                </a:solidFill>
              </a:rPr>
              <a:t>nBIF Base SQUAD</a:t>
            </a:r>
            <a:r>
              <a:rPr lang="en-GB" sz="800" b="1">
                <a:solidFill>
                  <a:schemeClr val="tx1"/>
                </a:solidFill>
              </a:rPr>
              <a:t>	</a:t>
            </a:r>
            <a:endParaRPr lang="nl-NL" sz="800" b="1">
              <a:solidFill>
                <a:schemeClr val="tx1"/>
              </a:solidFill>
            </a:endParaRPr>
          </a:p>
        </p:txBody>
      </p:sp>
      <p:sp>
        <p:nvSpPr>
          <p:cNvPr id="35" name="TextBox 34">
            <a:extLst>
              <a:ext uri="{FF2B5EF4-FFF2-40B4-BE49-F238E27FC236}">
                <a16:creationId xmlns:a16="http://schemas.microsoft.com/office/drawing/2014/main" id="{4FBB0F61-24B0-B87A-2805-AA936C64B446}"/>
              </a:ext>
            </a:extLst>
          </p:cNvPr>
          <p:cNvSpPr txBox="1"/>
          <p:nvPr/>
        </p:nvSpPr>
        <p:spPr>
          <a:xfrm>
            <a:off x="1932298" y="934125"/>
            <a:ext cx="6959860" cy="584775"/>
          </a:xfrm>
          <a:prstGeom prst="rect">
            <a:avLst/>
          </a:prstGeom>
          <a:noFill/>
        </p:spPr>
        <p:txBody>
          <a:bodyPr wrap="square" rtlCol="0">
            <a:spAutoFit/>
          </a:bodyPr>
          <a:lstStyle>
            <a:defPPr>
              <a:defRPr lang="nl-NL"/>
            </a:defPPr>
            <a:lvl1pPr fontAlgn="base">
              <a:buFont typeface="+mj-lt"/>
              <a:buAutoNum type="arabicPeriod"/>
              <a:defRPr sz="1000" i="0">
                <a:solidFill>
                  <a:srgbClr val="000000"/>
                </a:solidFill>
                <a:effectLst/>
                <a:latin typeface="Calibri" panose="020F0502020204030204" pitchFamily="34" charset="0"/>
              </a:defRPr>
            </a:lvl1pPr>
            <a:lvl2pPr marL="800100" lvl="1" indent="-342900" fontAlgn="base">
              <a:buFont typeface="+mj-lt"/>
              <a:buAutoNum type="alphaLcParenR"/>
              <a:defRPr sz="1000" i="0">
                <a:solidFill>
                  <a:srgbClr val="000000"/>
                </a:solidFill>
                <a:effectLst/>
                <a:latin typeface="Calibri" panose="020F0502020204030204" pitchFamily="34" charset="0"/>
              </a:defRPr>
            </a:lvl2pPr>
          </a:lstStyle>
          <a:p>
            <a:r>
              <a:rPr lang="en-GB" sz="800"/>
              <a:t>Build &amp; Maintain central features like nBIF 365 (UI, Inspection &amp; Signoff module, Ad-hoc run console),  Metadata framework.</a:t>
            </a:r>
          </a:p>
          <a:p>
            <a:r>
              <a:rPr lang="en-GB" sz="800"/>
              <a:t>Build &amp; Maintain common data cache including support for pipelines to load data to this component.</a:t>
            </a:r>
          </a:p>
          <a:p>
            <a:r>
              <a:rPr lang="en-GB" sz="800"/>
              <a:t>Develop practices to ensure secure, reliable &amp; scalable azure environment for all nBIF applications. </a:t>
            </a:r>
          </a:p>
          <a:p>
            <a:r>
              <a:rPr lang="en-GB" sz="800"/>
              <a:t>Govern cloud compliancy, nBIF standards, Data management standard (like EDC/IDQ) across all nBIF application. </a:t>
            </a:r>
          </a:p>
        </p:txBody>
      </p:sp>
      <p:sp>
        <p:nvSpPr>
          <p:cNvPr id="31" name="TextBox 30">
            <a:extLst>
              <a:ext uri="{FF2B5EF4-FFF2-40B4-BE49-F238E27FC236}">
                <a16:creationId xmlns:a16="http://schemas.microsoft.com/office/drawing/2014/main" id="{6399DDAE-08C2-CC93-5E81-1491D93847A4}"/>
              </a:ext>
            </a:extLst>
          </p:cNvPr>
          <p:cNvSpPr txBox="1"/>
          <p:nvPr/>
        </p:nvSpPr>
        <p:spPr>
          <a:xfrm>
            <a:off x="4572000" y="2930945"/>
            <a:ext cx="2845550" cy="1569660"/>
          </a:xfrm>
          <a:prstGeom prst="rect">
            <a:avLst/>
          </a:prstGeom>
          <a:solidFill>
            <a:schemeClr val="bg1"/>
          </a:solidFill>
          <a:ln>
            <a:solidFill>
              <a:schemeClr val="accent1"/>
            </a:solidFill>
          </a:ln>
        </p:spPr>
        <p:txBody>
          <a:bodyPr wrap="square" rtlCol="0">
            <a:spAutoFit/>
          </a:bodyPr>
          <a:lstStyle>
            <a:defPPr>
              <a:defRPr lang="nl-NL"/>
            </a:defPPr>
            <a:lvl1pPr fontAlgn="base">
              <a:buFont typeface="+mj-lt"/>
              <a:buAutoNum type="arabicPeriod"/>
              <a:defRPr sz="1000" i="0">
                <a:solidFill>
                  <a:srgbClr val="000000"/>
                </a:solidFill>
                <a:effectLst/>
                <a:latin typeface="Calibri" panose="020F0502020204030204" pitchFamily="34" charset="0"/>
              </a:defRPr>
            </a:lvl1pPr>
            <a:lvl2pPr marL="800100" lvl="1" indent="-342900" fontAlgn="base">
              <a:buFont typeface="+mj-lt"/>
              <a:buAutoNum type="alphaLcParenR"/>
              <a:defRPr sz="1000" i="0">
                <a:solidFill>
                  <a:srgbClr val="000000"/>
                </a:solidFill>
                <a:effectLst/>
                <a:latin typeface="Calibri" panose="020F0502020204030204" pitchFamily="34" charset="0"/>
              </a:defRPr>
            </a:lvl2pPr>
          </a:lstStyle>
          <a:p>
            <a:pPr algn="ctr">
              <a:buNone/>
            </a:pPr>
            <a:r>
              <a:rPr lang="en-GB" sz="800" u="sng"/>
              <a:t>Own &lt;Portfolio&gt; nBIF application</a:t>
            </a:r>
            <a:endParaRPr lang="en-GB" sz="800"/>
          </a:p>
          <a:p>
            <a:pPr algn="just"/>
            <a:r>
              <a:rPr lang="en-GB" sz="800"/>
              <a:t>onboard &lt;portfolio&gt; nBIF application to Rabobank landscape.</a:t>
            </a:r>
          </a:p>
          <a:p>
            <a:pPr marL="449263" lvl="1" indent="-266700" algn="just"/>
            <a:r>
              <a:rPr lang="en-GB" sz="800"/>
              <a:t>CRAT, SSB, Application role, CI registration, </a:t>
            </a:r>
            <a:r>
              <a:rPr lang="en-GB" sz="800" err="1"/>
              <a:t>pIA</a:t>
            </a:r>
            <a:endParaRPr lang="en-GB" sz="800"/>
          </a:p>
          <a:p>
            <a:pPr marL="449263" lvl="1" indent="-266700" algn="just"/>
            <a:r>
              <a:rPr lang="en-GB" sz="800"/>
              <a:t>Access control, etc</a:t>
            </a:r>
          </a:p>
          <a:p>
            <a:pPr algn="just"/>
            <a:r>
              <a:rPr lang="en-GB" sz="800"/>
              <a:t>Build end to end orchestration using </a:t>
            </a:r>
            <a:r>
              <a:rPr lang="en-GB" sz="800" err="1"/>
              <a:t>LogicAPP</a:t>
            </a:r>
            <a:endParaRPr lang="en-GB" sz="800"/>
          </a:p>
          <a:p>
            <a:pPr algn="just"/>
            <a:r>
              <a:rPr lang="en-GB" sz="800"/>
              <a:t>Build Data logistics including ETL for model data preparation, ETL for data delivery to consumers, ETL for data acquisition from non-GRFD data sources (like Meister for IFRs9)</a:t>
            </a:r>
          </a:p>
          <a:p>
            <a:pPr algn="just"/>
            <a:r>
              <a:rPr lang="en-GB" sz="800"/>
              <a:t>Prepare data (like aggregates) for Plausibility reports </a:t>
            </a:r>
          </a:p>
          <a:p>
            <a:pPr algn="just"/>
            <a:r>
              <a:rPr lang="en-GB" sz="800"/>
              <a:t>Build data logistics to CRPR, CFO-Hub etc</a:t>
            </a:r>
          </a:p>
          <a:p>
            <a:pPr algn="just"/>
            <a:r>
              <a:rPr lang="en-GB" sz="800"/>
              <a:t>Support Incremental changes</a:t>
            </a:r>
          </a:p>
          <a:p>
            <a:pPr algn="just"/>
            <a:r>
              <a:rPr lang="en-GB" sz="800"/>
              <a:t>Support UAT runs &amp; production run</a:t>
            </a:r>
          </a:p>
        </p:txBody>
      </p:sp>
      <p:sp>
        <p:nvSpPr>
          <p:cNvPr id="2" name="TextBox 1">
            <a:extLst>
              <a:ext uri="{FF2B5EF4-FFF2-40B4-BE49-F238E27FC236}">
                <a16:creationId xmlns:a16="http://schemas.microsoft.com/office/drawing/2014/main" id="{D5A8F45D-7930-7CB1-9CAB-7FBAF42B7516}"/>
              </a:ext>
            </a:extLst>
          </p:cNvPr>
          <p:cNvSpPr txBox="1"/>
          <p:nvPr/>
        </p:nvSpPr>
        <p:spPr>
          <a:xfrm>
            <a:off x="1932298" y="2930945"/>
            <a:ext cx="2356640" cy="1569660"/>
          </a:xfrm>
          <a:prstGeom prst="rect">
            <a:avLst/>
          </a:prstGeom>
          <a:solidFill>
            <a:schemeClr val="bg1"/>
          </a:solidFill>
          <a:ln>
            <a:solidFill>
              <a:schemeClr val="accent1"/>
            </a:solidFill>
          </a:ln>
        </p:spPr>
        <p:txBody>
          <a:bodyPr wrap="square" rtlCol="0">
            <a:spAutoFit/>
          </a:bodyPr>
          <a:lstStyle>
            <a:defPPr>
              <a:defRPr lang="nl-NL"/>
            </a:defPPr>
            <a:lvl1pPr fontAlgn="base">
              <a:buFont typeface="+mj-lt"/>
              <a:buAutoNum type="arabicPeriod"/>
              <a:defRPr sz="1000" i="0">
                <a:solidFill>
                  <a:srgbClr val="000000"/>
                </a:solidFill>
                <a:effectLst/>
                <a:latin typeface="Calibri" panose="020F0502020204030204" pitchFamily="34" charset="0"/>
              </a:defRPr>
            </a:lvl1pPr>
            <a:lvl2pPr marL="800100" lvl="1" indent="-342900" fontAlgn="base">
              <a:buFont typeface="+mj-lt"/>
              <a:buAutoNum type="alphaLcParenR"/>
              <a:defRPr sz="1000" i="0">
                <a:solidFill>
                  <a:srgbClr val="000000"/>
                </a:solidFill>
                <a:effectLst/>
                <a:latin typeface="Calibri" panose="020F0502020204030204" pitchFamily="34" charset="0"/>
              </a:defRPr>
            </a:lvl2pPr>
          </a:lstStyle>
          <a:p>
            <a:pPr algn="ctr">
              <a:buNone/>
            </a:pPr>
            <a:r>
              <a:rPr lang="en-GB" sz="800" u="sng"/>
              <a:t>Own Data Acquisition from GRFD</a:t>
            </a:r>
          </a:p>
          <a:p>
            <a:pPr algn="just"/>
            <a:r>
              <a:rPr lang="en-GB" sz="800"/>
              <a:t>Build SQL query to extract data from GRFD’s  </a:t>
            </a:r>
            <a:r>
              <a:rPr lang="en-GB" sz="800" i="0">
                <a:solidFill>
                  <a:srgbClr val="000000"/>
                </a:solidFill>
                <a:effectLst/>
                <a:latin typeface="Calibri" panose="020F0502020204030204" pitchFamily="34" charset="0"/>
              </a:rPr>
              <a:t>RDV/BDV/Dal layer.</a:t>
            </a:r>
          </a:p>
          <a:p>
            <a:pPr algn="just"/>
            <a:r>
              <a:rPr lang="en-GB" sz="800"/>
              <a:t>Define DQ checks needed on extracted data</a:t>
            </a:r>
          </a:p>
          <a:p>
            <a:pPr algn="just"/>
            <a:r>
              <a:rPr lang="en-GB" sz="800"/>
              <a:t>Deploy </a:t>
            </a:r>
            <a:r>
              <a:rPr lang="en-GB" sz="800" err="1"/>
              <a:t>SQl</a:t>
            </a:r>
            <a:r>
              <a:rPr lang="en-GB" sz="800"/>
              <a:t> query to &lt;portfolio&gt; nBIF application.</a:t>
            </a:r>
          </a:p>
          <a:p>
            <a:pPr algn="just"/>
            <a:r>
              <a:rPr lang="en-GB" sz="800"/>
              <a:t>Extend SQL query &amp; </a:t>
            </a:r>
            <a:r>
              <a:rPr lang="en-GB" sz="800" err="1"/>
              <a:t>dq</a:t>
            </a:r>
            <a:r>
              <a:rPr lang="en-GB" sz="800"/>
              <a:t> checks upon addition of new bridges to nBIF.</a:t>
            </a:r>
          </a:p>
          <a:p>
            <a:pPr algn="just"/>
            <a:r>
              <a:rPr lang="en-GB" sz="800"/>
              <a:t>Build Input validation plausibility reports.</a:t>
            </a:r>
          </a:p>
          <a:p>
            <a:pPr algn="just"/>
            <a:r>
              <a:rPr lang="en-GB" sz="800"/>
              <a:t>Build portfolio wide LDDs and CRR </a:t>
            </a:r>
          </a:p>
          <a:p>
            <a:pPr algn="just"/>
            <a:r>
              <a:rPr lang="en-GB" sz="800"/>
              <a:t>Quality check of model specific PDDs</a:t>
            </a:r>
          </a:p>
          <a:p>
            <a:pPr algn="just"/>
            <a:endParaRPr lang="en-GB" sz="800"/>
          </a:p>
          <a:p>
            <a:pPr algn="just"/>
            <a:endParaRPr lang="en-GB" sz="800"/>
          </a:p>
        </p:txBody>
      </p:sp>
      <p:sp>
        <p:nvSpPr>
          <p:cNvPr id="5" name="TextBox 4">
            <a:extLst>
              <a:ext uri="{FF2B5EF4-FFF2-40B4-BE49-F238E27FC236}">
                <a16:creationId xmlns:a16="http://schemas.microsoft.com/office/drawing/2014/main" id="{6DF10509-F287-D1A3-B100-25664CE6F8C1}"/>
              </a:ext>
            </a:extLst>
          </p:cNvPr>
          <p:cNvSpPr txBox="1"/>
          <p:nvPr/>
        </p:nvSpPr>
        <p:spPr>
          <a:xfrm>
            <a:off x="2007221" y="4188312"/>
            <a:ext cx="2356640" cy="307777"/>
          </a:xfrm>
          <a:prstGeom prst="rect">
            <a:avLst/>
          </a:prstGeom>
          <a:noFill/>
          <a:ln w="12700">
            <a:noFill/>
          </a:ln>
        </p:spPr>
        <p:txBody>
          <a:bodyPr wrap="square" lIns="0" rIns="0" rtlCol="0" anchor="t" anchorCtr="0">
            <a:spAutoFit/>
          </a:bodyPr>
          <a:lstStyle/>
          <a:p>
            <a:r>
              <a:rPr lang="en-IN" sz="700">
                <a:solidFill>
                  <a:srgbClr val="D6083B"/>
                </a:solidFill>
              </a:rPr>
              <a:t>Activities 1-5 are applicable when CA does the STO. For Corporate, Data Factory SQUAD is  handling these activities. </a:t>
            </a:r>
          </a:p>
        </p:txBody>
      </p:sp>
      <p:sp>
        <p:nvSpPr>
          <p:cNvPr id="8" name="TextBox 7">
            <a:extLst>
              <a:ext uri="{FF2B5EF4-FFF2-40B4-BE49-F238E27FC236}">
                <a16:creationId xmlns:a16="http://schemas.microsoft.com/office/drawing/2014/main" id="{90792D8C-7E18-697F-0BB2-9335FA0798BB}"/>
              </a:ext>
            </a:extLst>
          </p:cNvPr>
          <p:cNvSpPr txBox="1"/>
          <p:nvPr/>
        </p:nvSpPr>
        <p:spPr>
          <a:xfrm>
            <a:off x="2343745" y="4460076"/>
            <a:ext cx="4859705" cy="215444"/>
          </a:xfrm>
          <a:prstGeom prst="rect">
            <a:avLst/>
          </a:prstGeom>
          <a:noFill/>
          <a:ln w="12700">
            <a:noFill/>
          </a:ln>
        </p:spPr>
        <p:txBody>
          <a:bodyPr wrap="square">
            <a:spAutoFit/>
          </a:bodyPr>
          <a:lstStyle/>
          <a:p>
            <a:r>
              <a:rPr lang="en-IN" sz="800">
                <a:solidFill>
                  <a:srgbClr val="D6083B"/>
                </a:solidFill>
              </a:rPr>
              <a:t>A decision is differed to portfolio area’s on how they organize their squads to support all the above activities.</a:t>
            </a:r>
          </a:p>
        </p:txBody>
      </p:sp>
      <p:sp>
        <p:nvSpPr>
          <p:cNvPr id="9" name="TextBox 8">
            <a:extLst>
              <a:ext uri="{FF2B5EF4-FFF2-40B4-BE49-F238E27FC236}">
                <a16:creationId xmlns:a16="http://schemas.microsoft.com/office/drawing/2014/main" id="{A51D61EA-2F30-4BFB-9982-B3C49A51A256}"/>
              </a:ext>
            </a:extLst>
          </p:cNvPr>
          <p:cNvSpPr txBox="1"/>
          <p:nvPr/>
        </p:nvSpPr>
        <p:spPr>
          <a:xfrm>
            <a:off x="1921250" y="1848614"/>
            <a:ext cx="6811775" cy="584775"/>
          </a:xfrm>
          <a:prstGeom prst="rect">
            <a:avLst/>
          </a:prstGeom>
          <a:noFill/>
        </p:spPr>
        <p:txBody>
          <a:bodyPr wrap="square" rtlCol="0">
            <a:spAutoFit/>
          </a:bodyPr>
          <a:lstStyle>
            <a:defPPr>
              <a:defRPr lang="nl-NL"/>
            </a:defPPr>
            <a:lvl1pPr fontAlgn="base">
              <a:buFont typeface="+mj-lt"/>
              <a:buAutoNum type="arabicPeriod"/>
              <a:defRPr sz="1000" i="0">
                <a:solidFill>
                  <a:srgbClr val="000000"/>
                </a:solidFill>
                <a:effectLst/>
                <a:latin typeface="Calibri" panose="020F0502020204030204" pitchFamily="34" charset="0"/>
              </a:defRPr>
            </a:lvl1pPr>
            <a:lvl2pPr marL="800100" lvl="1" indent="-342900" fontAlgn="base">
              <a:buFont typeface="+mj-lt"/>
              <a:buAutoNum type="alphaLcParenR"/>
              <a:defRPr sz="1000" i="0">
                <a:solidFill>
                  <a:srgbClr val="000000"/>
                </a:solidFill>
                <a:effectLst/>
                <a:latin typeface="Calibri" panose="020F0502020204030204" pitchFamily="34" charset="0"/>
              </a:defRPr>
            </a:lvl2pPr>
          </a:lstStyle>
          <a:p>
            <a:r>
              <a:rPr lang="en-GB" sz="800"/>
              <a:t>Handhold portfolio area squads in their nBIF implementation journey and be the trusted partner to answer all how-</a:t>
            </a:r>
            <a:r>
              <a:rPr lang="en-GB" sz="800" err="1"/>
              <a:t>tos</a:t>
            </a:r>
            <a:r>
              <a:rPr lang="en-GB" sz="800"/>
              <a:t>.</a:t>
            </a:r>
          </a:p>
          <a:p>
            <a:r>
              <a:rPr lang="en-GB" sz="800"/>
              <a:t>Provide training about nBIF standards, way of working, Metadata framework, Data Management Framework etc.</a:t>
            </a:r>
          </a:p>
          <a:p>
            <a:r>
              <a:rPr lang="en-GB" sz="800"/>
              <a:t>Perform nBIF onboarding, Build skeleton environment for &lt;portfolio&gt; nBIF, provide necessary accesses.</a:t>
            </a:r>
          </a:p>
          <a:p>
            <a:r>
              <a:rPr lang="en-GB" sz="800"/>
              <a:t>Review &lt;portfolio&gt; nBIF implementation </a:t>
            </a:r>
          </a:p>
        </p:txBody>
      </p:sp>
    </p:spTree>
    <p:extLst>
      <p:ext uri="{BB962C8B-B14F-4D97-AF65-F5344CB8AC3E}">
        <p14:creationId xmlns:p14="http://schemas.microsoft.com/office/powerpoint/2010/main" val="949785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a:t>Document Control</a:t>
            </a:r>
          </a:p>
        </p:txBody>
      </p:sp>
      <p:sp>
        <p:nvSpPr>
          <p:cNvPr id="6" name="Text Placeholder 5"/>
          <p:cNvSpPr>
            <a:spLocks noGrp="1"/>
          </p:cNvSpPr>
          <p:nvPr>
            <p:ph type="body" sz="quarter" idx="11"/>
          </p:nvPr>
        </p:nvSpPr>
        <p:spPr>
          <a:xfrm>
            <a:off x="501650" y="2430031"/>
            <a:ext cx="7778749" cy="400110"/>
          </a:xfrm>
        </p:spPr>
        <p:txBody>
          <a:bodyPr/>
          <a:lstStyle/>
          <a:p>
            <a:r>
              <a:rPr lang="en-GB" sz="2000"/>
              <a:t>n-Bridge Information Factory</a:t>
            </a:r>
          </a:p>
        </p:txBody>
      </p:sp>
      <p:sp>
        <p:nvSpPr>
          <p:cNvPr id="4" name="Rounded Rectangle 11">
            <a:hlinkClick r:id="rId2" action="ppaction://hlinksldjump"/>
          </p:cNvPr>
          <p:cNvSpPr/>
          <p:nvPr/>
        </p:nvSpPr>
        <p:spPr>
          <a:xfrm>
            <a:off x="8262081" y="4875491"/>
            <a:ext cx="870044"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bg1"/>
                </a:solidFill>
                <a:effectLst/>
                <a:uLnTx/>
                <a:uFillTx/>
                <a:latin typeface="Myriad Pro"/>
                <a:ea typeface="+mn-ea"/>
                <a:cs typeface="Myriad Pro"/>
              </a:rPr>
            </a:br>
            <a:r>
              <a:rPr kumimoji="0" lang="en-GB" sz="800" b="1" i="0" u="none" strike="noStrike" kern="0" cap="none" spc="0" normalizeH="0" baseline="0" noProof="0">
                <a:ln>
                  <a:noFill/>
                </a:ln>
                <a:solidFill>
                  <a:schemeClr val="bg1"/>
                </a:solidFill>
                <a:effectLst/>
                <a:uLnTx/>
                <a:uFillTx/>
                <a:latin typeface="Myriad Pro"/>
                <a:ea typeface="+mn-ea"/>
                <a:cs typeface="Myriad Pro"/>
              </a:rPr>
              <a:t>Control</a:t>
            </a:r>
          </a:p>
        </p:txBody>
      </p:sp>
    </p:spTree>
    <p:extLst>
      <p:ext uri="{BB962C8B-B14F-4D97-AF65-F5344CB8AC3E}">
        <p14:creationId xmlns:p14="http://schemas.microsoft.com/office/powerpoint/2010/main" val="57751644"/>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t>10.1 Version history</a:t>
            </a:r>
          </a:p>
        </p:txBody>
      </p:sp>
      <p:sp>
        <p:nvSpPr>
          <p:cNvPr id="4" name="Slide Number Placeholder 3"/>
          <p:cNvSpPr>
            <a:spLocks noGrp="1"/>
          </p:cNvSpPr>
          <p:nvPr>
            <p:ph type="sldNum" sz="quarter" idx="10"/>
          </p:nvPr>
        </p:nvSpPr>
        <p:spPr/>
        <p:txBody>
          <a:bodyPr/>
          <a:lstStyle/>
          <a:p>
            <a:fld id="{9C7F1ACC-2CE8-4B5A-AF9E-0D67538731EE}" type="slidenum">
              <a:rPr lang="en-GB" smtClean="0"/>
              <a:pPr/>
              <a:t>74</a:t>
            </a:fld>
            <a:endParaRPr lang="en-GB"/>
          </a:p>
        </p:txBody>
      </p:sp>
      <p:sp>
        <p:nvSpPr>
          <p:cNvPr id="7" name="Tijdelijke aanduiding voor tekst 6"/>
          <p:cNvSpPr>
            <a:spLocks noGrp="1"/>
          </p:cNvSpPr>
          <p:nvPr>
            <p:ph type="body" sz="quarter" idx="15"/>
          </p:nvPr>
        </p:nvSpPr>
        <p:spPr>
          <a:xfrm>
            <a:off x="479978" y="692094"/>
            <a:ext cx="7804150" cy="212725"/>
          </a:xfrm>
        </p:spPr>
        <p:txBody>
          <a:bodyPr/>
          <a:lstStyle/>
          <a:p>
            <a:r>
              <a:rPr lang="nl-NL"/>
              <a:t> </a:t>
            </a:r>
          </a:p>
        </p:txBody>
      </p:sp>
      <p:sp>
        <p:nvSpPr>
          <p:cNvPr id="12" name="Tijdelijke aanduiding voor tekst 11"/>
          <p:cNvSpPr>
            <a:spLocks noGrp="1"/>
          </p:cNvSpPr>
          <p:nvPr>
            <p:ph type="body" sz="quarter" idx="13"/>
          </p:nvPr>
        </p:nvSpPr>
        <p:spPr/>
        <p:txBody>
          <a:bodyPr/>
          <a:lstStyle/>
          <a:p>
            <a:r>
              <a:rPr lang="nl-NL"/>
              <a:t> </a:t>
            </a:r>
          </a:p>
        </p:txBody>
      </p:sp>
      <p:sp>
        <p:nvSpPr>
          <p:cNvPr id="6" name="Rounded Rectangle 11">
            <a:hlinkClick r:id="rId3" action="ppaction://hlinksldjump"/>
          </p:cNvPr>
          <p:cNvSpPr/>
          <p:nvPr/>
        </p:nvSpPr>
        <p:spPr>
          <a:xfrm>
            <a:off x="8262081" y="4875491"/>
            <a:ext cx="870044"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bg1"/>
                </a:solidFill>
                <a:effectLst/>
                <a:uLnTx/>
                <a:uFillTx/>
                <a:latin typeface="Myriad Pro"/>
                <a:ea typeface="+mn-ea"/>
                <a:cs typeface="Myriad Pro"/>
              </a:rPr>
            </a:br>
            <a:r>
              <a:rPr kumimoji="0" lang="en-GB" sz="800" b="1" i="0" u="none" strike="noStrike" kern="0" cap="none" spc="0" normalizeH="0" baseline="0" noProof="0">
                <a:ln>
                  <a:noFill/>
                </a:ln>
                <a:solidFill>
                  <a:schemeClr val="bg1"/>
                </a:solidFill>
                <a:effectLst/>
                <a:uLnTx/>
                <a:uFillTx/>
                <a:latin typeface="Myriad Pro"/>
                <a:ea typeface="+mn-ea"/>
                <a:cs typeface="Myriad Pro"/>
              </a:rPr>
              <a:t>Control</a:t>
            </a:r>
          </a:p>
        </p:txBody>
      </p:sp>
      <p:graphicFrame>
        <p:nvGraphicFramePr>
          <p:cNvPr id="8" name="Tabel 7"/>
          <p:cNvGraphicFramePr>
            <a:graphicFrameLocks noGrp="1"/>
          </p:cNvGraphicFramePr>
          <p:nvPr>
            <p:extLst>
              <p:ext uri="{D42A27DB-BD31-4B8C-83A1-F6EECF244321}">
                <p14:modId xmlns:p14="http://schemas.microsoft.com/office/powerpoint/2010/main" val="1253029095"/>
              </p:ext>
            </p:extLst>
          </p:nvPr>
        </p:nvGraphicFramePr>
        <p:xfrm>
          <a:off x="475814" y="966666"/>
          <a:ext cx="7820576" cy="2331720"/>
        </p:xfrm>
        <a:graphic>
          <a:graphicData uri="http://schemas.openxmlformats.org/drawingml/2006/table">
            <a:tbl>
              <a:tblPr firstRow="1" bandRow="1">
                <a:tableStyleId>{17292A2E-F333-43FB-9621-5CBBE7FDCDCB}</a:tableStyleId>
              </a:tblPr>
              <a:tblGrid>
                <a:gridCol w="927113">
                  <a:extLst>
                    <a:ext uri="{9D8B030D-6E8A-4147-A177-3AD203B41FA5}">
                      <a16:colId xmlns:a16="http://schemas.microsoft.com/office/drawing/2014/main" val="20000"/>
                    </a:ext>
                  </a:extLst>
                </a:gridCol>
                <a:gridCol w="614299">
                  <a:extLst>
                    <a:ext uri="{9D8B030D-6E8A-4147-A177-3AD203B41FA5}">
                      <a16:colId xmlns:a16="http://schemas.microsoft.com/office/drawing/2014/main" val="20001"/>
                    </a:ext>
                  </a:extLst>
                </a:gridCol>
                <a:gridCol w="701688">
                  <a:extLst>
                    <a:ext uri="{9D8B030D-6E8A-4147-A177-3AD203B41FA5}">
                      <a16:colId xmlns:a16="http://schemas.microsoft.com/office/drawing/2014/main" val="20002"/>
                    </a:ext>
                  </a:extLst>
                </a:gridCol>
                <a:gridCol w="1179907">
                  <a:extLst>
                    <a:ext uri="{9D8B030D-6E8A-4147-A177-3AD203B41FA5}">
                      <a16:colId xmlns:a16="http://schemas.microsoft.com/office/drawing/2014/main" val="20003"/>
                    </a:ext>
                  </a:extLst>
                </a:gridCol>
                <a:gridCol w="4397569">
                  <a:extLst>
                    <a:ext uri="{9D8B030D-6E8A-4147-A177-3AD203B41FA5}">
                      <a16:colId xmlns:a16="http://schemas.microsoft.com/office/drawing/2014/main" val="20004"/>
                    </a:ext>
                  </a:extLst>
                </a:gridCol>
              </a:tblGrid>
              <a:tr h="183274">
                <a:tc>
                  <a:txBody>
                    <a:bodyPr/>
                    <a:lstStyle/>
                    <a:p>
                      <a:pPr algn="l" fontAlgn="b"/>
                      <a:r>
                        <a:rPr lang="en-US" sz="1200" i="1" u="none" strike="noStrike" noProof="0">
                          <a:solidFill>
                            <a:schemeClr val="tx1"/>
                          </a:solidFill>
                          <a:effectLst/>
                        </a:rPr>
                        <a:t>Date</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kumimoji="0" lang="en-US" sz="1200" b="1" u="none" strike="noStrike" kern="1200" cap="none" normalizeH="0" baseline="0">
                          <a:ln>
                            <a:noFill/>
                          </a:ln>
                          <a:solidFill>
                            <a:schemeClr val="tx1"/>
                          </a:solidFill>
                          <a:effectLst/>
                          <a:latin typeface="+mn-lt"/>
                          <a:ea typeface="+mn-ea"/>
                          <a:cs typeface="+mn-cs"/>
                        </a:rPr>
                        <a:t>Version</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Status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Changed by</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Summary of changes</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pPr algn="ctr"/>
                      <a:r>
                        <a:rPr lang="en-GB" sz="900"/>
                        <a:t>29-11-2021</a:t>
                      </a:r>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a:solidFill>
                            <a:schemeClr val="tx1"/>
                          </a:solidFill>
                        </a:rPr>
                        <a:t>1.0</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solidFill>
                            <a:schemeClr val="tx1"/>
                          </a:solidFill>
                        </a:rPr>
                        <a:t>Approved</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solidFill>
                            <a:schemeClr val="tx1"/>
                          </a:solidFill>
                        </a:rPr>
                        <a:t>Approved version</a:t>
                      </a:r>
                    </a:p>
                    <a:p>
                      <a:pPr marL="0" marR="0" lvl="0" indent="0" algn="l" defTabSz="456999" rtl="0" eaLnBrk="1" fontAlgn="auto" latinLnBrk="0" hangingPunct="1">
                        <a:lnSpc>
                          <a:spcPct val="100000"/>
                        </a:lnSpc>
                        <a:spcBef>
                          <a:spcPts val="0"/>
                        </a:spcBef>
                        <a:spcAft>
                          <a:spcPts val="0"/>
                        </a:spcAft>
                        <a:buClrTx/>
                        <a:buSzTx/>
                        <a:buFontTx/>
                        <a:buNone/>
                        <a:tabLst/>
                        <a:defRPr/>
                      </a:pPr>
                      <a:endParaRPr lang="en-GB" sz="900" b="0">
                        <a:solidFill>
                          <a:schemeClr val="tx1"/>
                        </a:solidFill>
                      </a:endParaRPr>
                    </a:p>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a:solidFill>
                            <a:schemeClr val="tx1"/>
                          </a:solidFill>
                        </a:rPr>
                        <a:t>Processed</a:t>
                      </a:r>
                      <a:r>
                        <a:rPr lang="en-GB" sz="900" b="0" baseline="0">
                          <a:solidFill>
                            <a:schemeClr val="tx1"/>
                          </a:solidFill>
                        </a:rPr>
                        <a:t> review remarks from architecture board</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pPr algn="ctr"/>
                      <a:r>
                        <a:rPr lang="en-GB" sz="900"/>
                        <a:t>15-06-2023</a:t>
                      </a:r>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a:solidFill>
                            <a:schemeClr val="tx1"/>
                          </a:solidFill>
                        </a:rPr>
                        <a:t>1.5</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solidFill>
                            <a:schemeClr val="tx1"/>
                          </a:solidFill>
                        </a:rPr>
                        <a:t>DRAFT</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a:solidFill>
                            <a:schemeClr val="tx1"/>
                          </a:solidFill>
                        </a:rPr>
                        <a:t>Initial Draft</a:t>
                      </a:r>
                      <a:endParaRPr lang="en-GB" sz="900" b="0" baseline="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3745497"/>
                  </a:ext>
                </a:extLst>
              </a:tr>
              <a:tr h="183274">
                <a:tc>
                  <a:txBody>
                    <a:bodyPr/>
                    <a:lstStyle/>
                    <a:p>
                      <a:pPr algn="ctr"/>
                      <a:r>
                        <a:rPr lang="en-GB" sz="900"/>
                        <a:t>27-07-2023</a:t>
                      </a:r>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a:solidFill>
                            <a:schemeClr val="tx1"/>
                          </a:solidFill>
                        </a:rPr>
                        <a:t>1.6</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solidFill>
                            <a:schemeClr val="tx1"/>
                          </a:solidFill>
                        </a:rPr>
                        <a:t>DRAFT</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a:solidFill>
                            <a:schemeClr val="tx1"/>
                          </a:solidFill>
                        </a:rPr>
                        <a:t>Updates + Change against Initial review feedback of Guido Helder and Harry Coopmans on v1.5</a:t>
                      </a:r>
                      <a:endParaRPr lang="en-GB" sz="900" b="0" baseline="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6589542"/>
                  </a:ext>
                </a:extLst>
              </a:tr>
              <a:tr h="183274">
                <a:tc>
                  <a:txBody>
                    <a:bodyPr/>
                    <a:lstStyle/>
                    <a:p>
                      <a:pPr algn="ctr"/>
                      <a:r>
                        <a:rPr lang="en-GB" sz="900"/>
                        <a:t>18-08-2023</a:t>
                      </a:r>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a:solidFill>
                            <a:schemeClr val="tx1"/>
                          </a:solidFill>
                        </a:rPr>
                        <a:t>1.7</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solidFill>
                            <a:schemeClr val="tx1"/>
                          </a:solidFill>
                        </a:rPr>
                        <a:t>DRAFT</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a:solidFill>
                            <a:schemeClr val="tx1"/>
                          </a:solidFill>
                        </a:rPr>
                        <a:t>Updates with peer review feedbacks</a:t>
                      </a:r>
                      <a:endParaRPr lang="en-GB" sz="900" b="0" baseline="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9522819"/>
                  </a:ext>
                </a:extLst>
              </a:tr>
              <a:tr h="183274">
                <a:tc>
                  <a:txBody>
                    <a:bodyPr/>
                    <a:lstStyle/>
                    <a:p>
                      <a:pPr algn="ctr"/>
                      <a:r>
                        <a:rPr lang="en-GB" sz="900" b="0"/>
                        <a:t>07-09-2023</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b="0">
                          <a:solidFill>
                            <a:schemeClr val="tx1"/>
                          </a:solidFill>
                        </a:rPr>
                        <a:t>1.71</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solidFill>
                            <a:schemeClr val="tx1"/>
                          </a:solidFill>
                        </a:rPr>
                        <a:t>DRAFT</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a:solidFill>
                            <a:schemeClr val="tx1"/>
                          </a:solidFill>
                        </a:rPr>
                        <a:t>Tribe Credit Analytics  </a:t>
                      </a:r>
                      <a:r>
                        <a:rPr lang="en-GB" sz="900" b="0" baseline="0">
                          <a:solidFill>
                            <a:schemeClr val="tx1"/>
                          </a:solidFill>
                        </a:rPr>
                        <a:t>architecture board -- Discussion</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3981738"/>
                  </a:ext>
                </a:extLst>
              </a:tr>
              <a:tr h="183274">
                <a:tc>
                  <a:txBody>
                    <a:bodyPr/>
                    <a:lstStyle/>
                    <a:p>
                      <a:pPr algn="ctr"/>
                      <a:r>
                        <a:rPr lang="en-GB" sz="900" b="0"/>
                        <a:t>21-09-2023</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b="0">
                          <a:solidFill>
                            <a:schemeClr val="tx1"/>
                          </a:solidFill>
                        </a:rPr>
                        <a:t>1.9</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solidFill>
                            <a:schemeClr val="tx1"/>
                          </a:solidFill>
                        </a:rPr>
                        <a:t>DRAFT</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a:solidFill>
                            <a:schemeClr val="tx1"/>
                          </a:solidFill>
                        </a:rPr>
                        <a:t>Tribe Credit Analytics  </a:t>
                      </a:r>
                      <a:r>
                        <a:rPr lang="en-GB" sz="900" b="0" baseline="0">
                          <a:solidFill>
                            <a:schemeClr val="tx1"/>
                          </a:solidFill>
                        </a:rPr>
                        <a:t>architecture board – Approved with minor remarks </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0829160"/>
                  </a:ext>
                </a:extLst>
              </a:tr>
              <a:tr h="183274">
                <a:tc>
                  <a:txBody>
                    <a:bodyPr/>
                    <a:lstStyle/>
                    <a:p>
                      <a:pPr algn="ctr"/>
                      <a:r>
                        <a:rPr lang="en-GB" sz="900" b="0"/>
                        <a:t>22-09-2023</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900" b="0">
                          <a:solidFill>
                            <a:schemeClr val="tx1"/>
                          </a:solidFill>
                        </a:rPr>
                        <a:t>2.0</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solidFill>
                            <a:schemeClr val="tx1"/>
                          </a:solidFill>
                        </a:rPr>
                        <a:t>Approved</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Prabhat Kumar </a:t>
                      </a: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b="0" baseline="0">
                          <a:solidFill>
                            <a:schemeClr val="tx1"/>
                          </a:solidFill>
                        </a:rPr>
                        <a:t>Incorporated architecture board remarks.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5724503"/>
                  </a:ext>
                </a:extLst>
              </a:tr>
              <a:tr h="183274">
                <a:tc>
                  <a:txBody>
                    <a:bodyPr/>
                    <a:lstStyle/>
                    <a:p>
                      <a:pPr algn="ctr"/>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900" b="0" baseline="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2735915"/>
                  </a:ext>
                </a:extLst>
              </a:tr>
            </a:tbl>
          </a:graphicData>
        </a:graphic>
      </p:graphicFrame>
    </p:spTree>
    <p:extLst>
      <p:ext uri="{BB962C8B-B14F-4D97-AF65-F5344CB8AC3E}">
        <p14:creationId xmlns:p14="http://schemas.microsoft.com/office/powerpoint/2010/main" val="33477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t>10.2 Change reference and sign-off</a:t>
            </a:r>
          </a:p>
        </p:txBody>
      </p:sp>
      <p:sp>
        <p:nvSpPr>
          <p:cNvPr id="6" name="Slide Number Placeholder 5"/>
          <p:cNvSpPr>
            <a:spLocks noGrp="1"/>
          </p:cNvSpPr>
          <p:nvPr>
            <p:ph type="sldNum" sz="quarter" idx="10"/>
          </p:nvPr>
        </p:nvSpPr>
        <p:spPr/>
        <p:txBody>
          <a:bodyPr/>
          <a:lstStyle/>
          <a:p>
            <a:fld id="{9C7F1ACC-2CE8-4B5A-AF9E-0D67538731EE}" type="slidenum">
              <a:rPr lang="en-GB" smtClean="0"/>
              <a:pPr/>
              <a:t>75</a:t>
            </a:fld>
            <a:endParaRPr lang="en-GB"/>
          </a:p>
        </p:txBody>
      </p:sp>
      <p:sp>
        <p:nvSpPr>
          <p:cNvPr id="7" name="Tijdelijke aanduiding voor tekst 6"/>
          <p:cNvSpPr>
            <a:spLocks noGrp="1"/>
          </p:cNvSpPr>
          <p:nvPr>
            <p:ph type="body" sz="quarter" idx="15"/>
          </p:nvPr>
        </p:nvSpPr>
        <p:spPr/>
        <p:txBody>
          <a:bodyPr/>
          <a:lstStyle/>
          <a:p>
            <a:r>
              <a:rPr lang="nl-NL"/>
              <a:t> </a:t>
            </a:r>
          </a:p>
        </p:txBody>
      </p:sp>
      <p:sp>
        <p:nvSpPr>
          <p:cNvPr id="15" name="Tijdelijke aanduiding voor tekst 14"/>
          <p:cNvSpPr>
            <a:spLocks noGrp="1"/>
          </p:cNvSpPr>
          <p:nvPr>
            <p:ph type="body" sz="quarter" idx="13"/>
          </p:nvPr>
        </p:nvSpPr>
        <p:spPr/>
        <p:txBody>
          <a:bodyPr/>
          <a:lstStyle/>
          <a:p>
            <a:pPr marL="0" indent="0">
              <a:lnSpc>
                <a:spcPts val="1000"/>
              </a:lnSpc>
            </a:pPr>
            <a:r>
              <a:rPr lang="en-US"/>
              <a:t>* PSAs are approved in the domain architecture board. Overarching initiatives are attuned between domain architecture boards. For large and/or complex initiatives the PSA can be attuned in the enterprise architecture board.</a:t>
            </a:r>
          </a:p>
        </p:txBody>
      </p:sp>
      <p:graphicFrame>
        <p:nvGraphicFramePr>
          <p:cNvPr id="11" name="Tabel 10"/>
          <p:cNvGraphicFramePr>
            <a:graphicFrameLocks noGrp="1"/>
          </p:cNvGraphicFramePr>
          <p:nvPr>
            <p:extLst>
              <p:ext uri="{D42A27DB-BD31-4B8C-83A1-F6EECF244321}">
                <p14:modId xmlns:p14="http://schemas.microsoft.com/office/powerpoint/2010/main" val="4138542130"/>
              </p:ext>
            </p:extLst>
          </p:nvPr>
        </p:nvGraphicFramePr>
        <p:xfrm>
          <a:off x="459557" y="1355827"/>
          <a:ext cx="7802524" cy="2948940"/>
        </p:xfrm>
        <a:graphic>
          <a:graphicData uri="http://schemas.openxmlformats.org/drawingml/2006/table">
            <a:tbl>
              <a:tblPr firstRow="1" bandRow="1">
                <a:tableStyleId>{17292A2E-F333-43FB-9621-5CBBE7FDCDCB}</a:tableStyleId>
              </a:tblPr>
              <a:tblGrid>
                <a:gridCol w="2102214">
                  <a:extLst>
                    <a:ext uri="{9D8B030D-6E8A-4147-A177-3AD203B41FA5}">
                      <a16:colId xmlns:a16="http://schemas.microsoft.com/office/drawing/2014/main" val="20000"/>
                    </a:ext>
                  </a:extLst>
                </a:gridCol>
                <a:gridCol w="2281993">
                  <a:extLst>
                    <a:ext uri="{9D8B030D-6E8A-4147-A177-3AD203B41FA5}">
                      <a16:colId xmlns:a16="http://schemas.microsoft.com/office/drawing/2014/main" val="20001"/>
                    </a:ext>
                  </a:extLst>
                </a:gridCol>
                <a:gridCol w="826113">
                  <a:extLst>
                    <a:ext uri="{9D8B030D-6E8A-4147-A177-3AD203B41FA5}">
                      <a16:colId xmlns:a16="http://schemas.microsoft.com/office/drawing/2014/main" val="20002"/>
                    </a:ext>
                  </a:extLst>
                </a:gridCol>
                <a:gridCol w="864068">
                  <a:extLst>
                    <a:ext uri="{9D8B030D-6E8A-4147-A177-3AD203B41FA5}">
                      <a16:colId xmlns:a16="http://schemas.microsoft.com/office/drawing/2014/main" val="20003"/>
                    </a:ext>
                  </a:extLst>
                </a:gridCol>
                <a:gridCol w="864068">
                  <a:extLst>
                    <a:ext uri="{9D8B030D-6E8A-4147-A177-3AD203B41FA5}">
                      <a16:colId xmlns:a16="http://schemas.microsoft.com/office/drawing/2014/main" val="20004"/>
                    </a:ext>
                  </a:extLst>
                </a:gridCol>
                <a:gridCol w="864068">
                  <a:extLst>
                    <a:ext uri="{9D8B030D-6E8A-4147-A177-3AD203B41FA5}">
                      <a16:colId xmlns:a16="http://schemas.microsoft.com/office/drawing/2014/main" val="20005"/>
                    </a:ext>
                  </a:extLst>
                </a:gridCol>
              </a:tblGrid>
              <a:tr h="183274">
                <a:tc>
                  <a:txBody>
                    <a:bodyPr/>
                    <a:lstStyle/>
                    <a:p>
                      <a:pPr algn="l" fontAlgn="b"/>
                      <a:r>
                        <a:rPr lang="en-US" sz="1200" i="1" u="none" strike="noStrike" noProof="0">
                          <a:solidFill>
                            <a:schemeClr val="tx1"/>
                          </a:solidFill>
                          <a:effectLst/>
                        </a:rPr>
                        <a:t>Name</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Corbel"/>
                        </a:rPr>
                        <a:t>Role</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Date</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Approved</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Consulted</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Informed</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900" baseline="0"/>
                        <a:t>Tribe Credit Analytics &amp; Tribe Credit Core Architecture board</a:t>
                      </a: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aseline="0"/>
                        <a:t>Domain Architecture board*</a:t>
                      </a: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2023-09-21</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r>
                        <a:rPr lang="en-GB" sz="900" baseline="0"/>
                        <a:t>Tribe Credit Analytics &amp; Tribe Credit Core Architecture board</a:t>
                      </a: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aseline="0"/>
                        <a:t>Domain Architecture board*</a:t>
                      </a: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2023-09-07</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3903063"/>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Harry Coopmans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Managing Business Architect – Tribe Credit Analytics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2023-09-01</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71470">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Guido Helder</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Business Architect – Tribe Credit Analytics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2023-09-01</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9708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Aaron Van Dam</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Solution Architect – Model Support platform</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2023-09-01</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8847225"/>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err="1"/>
                        <a:t>Ramdaras</a:t>
                      </a:r>
                      <a:r>
                        <a:rPr lang="en-GB" sz="900"/>
                        <a:t>, UD (Umesh)</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Business consumer</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2023-09-01</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7427418"/>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Murre, WJ (Wim)</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Product owner</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2023-09-01</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903663"/>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Vishal Parashar</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Solution Architect –  Stress testing</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080386"/>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Lopez </a:t>
                      </a:r>
                      <a:r>
                        <a:rPr lang="en-GB" sz="900" err="1"/>
                        <a:t>Toonen</a:t>
                      </a:r>
                      <a:r>
                        <a:rPr lang="en-GB" sz="900"/>
                        <a:t>, VA (Victor)</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Business Architect – Tribe Credit Analytics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853250"/>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Moorman, R (Rick)</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Business Architect – Tribe Credit Analytics</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4277306"/>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err="1"/>
                        <a:t>Eerdt</a:t>
                      </a:r>
                      <a:r>
                        <a:rPr lang="en-GB" sz="900"/>
                        <a:t> van, GLM (Gerard)</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Solution Architect –  Corporate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6641705"/>
                  </a:ext>
                </a:extLst>
              </a:tr>
            </a:tbl>
          </a:graphicData>
        </a:graphic>
      </p:graphicFrame>
      <p:graphicFrame>
        <p:nvGraphicFramePr>
          <p:cNvPr id="12" name="Tabel 11"/>
          <p:cNvGraphicFramePr>
            <a:graphicFrameLocks noGrp="1"/>
          </p:cNvGraphicFramePr>
          <p:nvPr>
            <p:extLst>
              <p:ext uri="{D42A27DB-BD31-4B8C-83A1-F6EECF244321}">
                <p14:modId xmlns:p14="http://schemas.microsoft.com/office/powerpoint/2010/main" val="1854119257"/>
              </p:ext>
            </p:extLst>
          </p:nvPr>
        </p:nvGraphicFramePr>
        <p:xfrm>
          <a:off x="453764" y="692094"/>
          <a:ext cx="7808316" cy="572160"/>
        </p:xfrm>
        <a:graphic>
          <a:graphicData uri="http://schemas.openxmlformats.org/drawingml/2006/table">
            <a:tbl>
              <a:tblPr firstRow="1" bandRow="1">
                <a:tableStyleId>{17292A2E-F333-43FB-9621-5CBBE7FDCDCB}</a:tableStyleId>
              </a:tblPr>
              <a:tblGrid>
                <a:gridCol w="2602772">
                  <a:extLst>
                    <a:ext uri="{9D8B030D-6E8A-4147-A177-3AD203B41FA5}">
                      <a16:colId xmlns:a16="http://schemas.microsoft.com/office/drawing/2014/main" val="20000"/>
                    </a:ext>
                  </a:extLst>
                </a:gridCol>
                <a:gridCol w="2602772">
                  <a:extLst>
                    <a:ext uri="{9D8B030D-6E8A-4147-A177-3AD203B41FA5}">
                      <a16:colId xmlns:a16="http://schemas.microsoft.com/office/drawing/2014/main" val="20001"/>
                    </a:ext>
                  </a:extLst>
                </a:gridCol>
                <a:gridCol w="2602772">
                  <a:extLst>
                    <a:ext uri="{9D8B030D-6E8A-4147-A177-3AD203B41FA5}">
                      <a16:colId xmlns:a16="http://schemas.microsoft.com/office/drawing/2014/main" val="20002"/>
                    </a:ext>
                  </a:extLst>
                </a:gridCol>
              </a:tblGrid>
              <a:tr h="183274">
                <a:tc>
                  <a:txBody>
                    <a:bodyPr/>
                    <a:lstStyle/>
                    <a:p>
                      <a:pPr algn="l" fontAlgn="b"/>
                      <a:r>
                        <a:rPr lang="en-US" sz="1200" i="1" u="none" strike="noStrike" noProof="0">
                          <a:solidFill>
                            <a:schemeClr val="tx1"/>
                          </a:solidFill>
                          <a:effectLst/>
                        </a:rPr>
                        <a:t>Change name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i="1" u="none" strike="noStrike" noProof="0">
                          <a:solidFill>
                            <a:schemeClr val="tx1"/>
                          </a:solidFill>
                          <a:effectLst/>
                        </a:rPr>
                        <a:t>Project code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i="1" u="none" strike="noStrike" noProof="0">
                          <a:solidFill>
                            <a:schemeClr val="tx1"/>
                          </a:solidFill>
                          <a:effectLst/>
                        </a:rPr>
                        <a:t>PID reference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b="0"/>
                        <a:t>Extend nBIF PSA to be generic for all portfolios and all model bridges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&lt;project code&gt; (UT/LDN only)</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&lt;PID </a:t>
                      </a:r>
                      <a:r>
                        <a:rPr lang="en-GB" sz="800" b="0" err="1"/>
                        <a:t>url</a:t>
                      </a:r>
                      <a:r>
                        <a:rPr lang="en-GB" sz="800" b="0"/>
                        <a:t>&gt;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13" name="Rounded Rectangle 11">
            <a:hlinkClick r:id="rId3" action="ppaction://hlinksldjump"/>
          </p:cNvPr>
          <p:cNvSpPr/>
          <p:nvPr/>
        </p:nvSpPr>
        <p:spPr>
          <a:xfrm>
            <a:off x="8262081" y="4875491"/>
            <a:ext cx="870044"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bg1"/>
                </a:solidFill>
                <a:effectLst/>
                <a:uLnTx/>
                <a:uFillTx/>
                <a:latin typeface="Myriad Pro"/>
                <a:ea typeface="+mn-ea"/>
                <a:cs typeface="Myriad Pro"/>
              </a:rPr>
            </a:br>
            <a:r>
              <a:rPr kumimoji="0" lang="en-GB" sz="800" b="1" i="0" u="none" strike="noStrike" kern="0" cap="none" spc="0" normalizeH="0" baseline="0" noProof="0">
                <a:ln>
                  <a:noFill/>
                </a:ln>
                <a:solidFill>
                  <a:schemeClr val="bg1"/>
                </a:solidFill>
                <a:effectLst/>
                <a:uLnTx/>
                <a:uFillTx/>
                <a:latin typeface="Myriad Pro"/>
                <a:ea typeface="+mn-ea"/>
                <a:cs typeface="Myriad Pro"/>
              </a:rPr>
              <a:t>Control</a:t>
            </a:r>
          </a:p>
        </p:txBody>
      </p:sp>
    </p:spTree>
    <p:extLst>
      <p:ext uri="{BB962C8B-B14F-4D97-AF65-F5344CB8AC3E}">
        <p14:creationId xmlns:p14="http://schemas.microsoft.com/office/powerpoint/2010/main" val="22566452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t>10.2 Change reference and sign-off</a:t>
            </a:r>
          </a:p>
        </p:txBody>
      </p:sp>
      <p:sp>
        <p:nvSpPr>
          <p:cNvPr id="6" name="Slide Number Placeholder 5"/>
          <p:cNvSpPr>
            <a:spLocks noGrp="1"/>
          </p:cNvSpPr>
          <p:nvPr>
            <p:ph type="sldNum" sz="quarter" idx="10"/>
          </p:nvPr>
        </p:nvSpPr>
        <p:spPr/>
        <p:txBody>
          <a:bodyPr/>
          <a:lstStyle/>
          <a:p>
            <a:fld id="{9C7F1ACC-2CE8-4B5A-AF9E-0D67538731EE}" type="slidenum">
              <a:rPr lang="en-GB" smtClean="0"/>
              <a:pPr/>
              <a:t>76</a:t>
            </a:fld>
            <a:endParaRPr lang="en-GB"/>
          </a:p>
        </p:txBody>
      </p:sp>
      <p:sp>
        <p:nvSpPr>
          <p:cNvPr id="7" name="Tijdelijke aanduiding voor tekst 6"/>
          <p:cNvSpPr>
            <a:spLocks noGrp="1"/>
          </p:cNvSpPr>
          <p:nvPr>
            <p:ph type="body" sz="quarter" idx="15"/>
          </p:nvPr>
        </p:nvSpPr>
        <p:spPr/>
        <p:txBody>
          <a:bodyPr/>
          <a:lstStyle/>
          <a:p>
            <a:r>
              <a:rPr lang="nl-NL"/>
              <a:t> </a:t>
            </a:r>
          </a:p>
        </p:txBody>
      </p:sp>
      <p:sp>
        <p:nvSpPr>
          <p:cNvPr id="15" name="Tijdelijke aanduiding voor tekst 14"/>
          <p:cNvSpPr>
            <a:spLocks noGrp="1"/>
          </p:cNvSpPr>
          <p:nvPr>
            <p:ph type="body" sz="quarter" idx="13"/>
          </p:nvPr>
        </p:nvSpPr>
        <p:spPr/>
        <p:txBody>
          <a:bodyPr/>
          <a:lstStyle/>
          <a:p>
            <a:pPr marL="0" indent="0">
              <a:lnSpc>
                <a:spcPts val="1000"/>
              </a:lnSpc>
            </a:pPr>
            <a:r>
              <a:rPr lang="en-US"/>
              <a:t>* PSAs are approved in the domain architecture board. Overarching initiatives are attuned between domain architecture boards. For large and/or complex initiatives the PSA can be attuned in the enterprise architecture board.</a:t>
            </a:r>
          </a:p>
        </p:txBody>
      </p:sp>
      <p:graphicFrame>
        <p:nvGraphicFramePr>
          <p:cNvPr id="11" name="Tabel 10"/>
          <p:cNvGraphicFramePr>
            <a:graphicFrameLocks noGrp="1"/>
          </p:cNvGraphicFramePr>
          <p:nvPr>
            <p:extLst>
              <p:ext uri="{D42A27DB-BD31-4B8C-83A1-F6EECF244321}">
                <p14:modId xmlns:p14="http://schemas.microsoft.com/office/powerpoint/2010/main" val="3820132523"/>
              </p:ext>
            </p:extLst>
          </p:nvPr>
        </p:nvGraphicFramePr>
        <p:xfrm>
          <a:off x="459557" y="1355827"/>
          <a:ext cx="7802524" cy="3291840"/>
        </p:xfrm>
        <a:graphic>
          <a:graphicData uri="http://schemas.openxmlformats.org/drawingml/2006/table">
            <a:tbl>
              <a:tblPr firstRow="1" bandRow="1">
                <a:tableStyleId>{17292A2E-F333-43FB-9621-5CBBE7FDCDCB}</a:tableStyleId>
              </a:tblPr>
              <a:tblGrid>
                <a:gridCol w="2102214">
                  <a:extLst>
                    <a:ext uri="{9D8B030D-6E8A-4147-A177-3AD203B41FA5}">
                      <a16:colId xmlns:a16="http://schemas.microsoft.com/office/drawing/2014/main" val="20000"/>
                    </a:ext>
                  </a:extLst>
                </a:gridCol>
                <a:gridCol w="2281993">
                  <a:extLst>
                    <a:ext uri="{9D8B030D-6E8A-4147-A177-3AD203B41FA5}">
                      <a16:colId xmlns:a16="http://schemas.microsoft.com/office/drawing/2014/main" val="20001"/>
                    </a:ext>
                  </a:extLst>
                </a:gridCol>
                <a:gridCol w="826113">
                  <a:extLst>
                    <a:ext uri="{9D8B030D-6E8A-4147-A177-3AD203B41FA5}">
                      <a16:colId xmlns:a16="http://schemas.microsoft.com/office/drawing/2014/main" val="20002"/>
                    </a:ext>
                  </a:extLst>
                </a:gridCol>
                <a:gridCol w="864068">
                  <a:extLst>
                    <a:ext uri="{9D8B030D-6E8A-4147-A177-3AD203B41FA5}">
                      <a16:colId xmlns:a16="http://schemas.microsoft.com/office/drawing/2014/main" val="20003"/>
                    </a:ext>
                  </a:extLst>
                </a:gridCol>
                <a:gridCol w="864068">
                  <a:extLst>
                    <a:ext uri="{9D8B030D-6E8A-4147-A177-3AD203B41FA5}">
                      <a16:colId xmlns:a16="http://schemas.microsoft.com/office/drawing/2014/main" val="20004"/>
                    </a:ext>
                  </a:extLst>
                </a:gridCol>
                <a:gridCol w="864068">
                  <a:extLst>
                    <a:ext uri="{9D8B030D-6E8A-4147-A177-3AD203B41FA5}">
                      <a16:colId xmlns:a16="http://schemas.microsoft.com/office/drawing/2014/main" val="20005"/>
                    </a:ext>
                  </a:extLst>
                </a:gridCol>
              </a:tblGrid>
              <a:tr h="183274">
                <a:tc>
                  <a:txBody>
                    <a:bodyPr/>
                    <a:lstStyle/>
                    <a:p>
                      <a:pPr algn="l" fontAlgn="b"/>
                      <a:r>
                        <a:rPr lang="en-US" sz="1200" i="1" u="none" strike="noStrike" noProof="0">
                          <a:solidFill>
                            <a:schemeClr val="tx1"/>
                          </a:solidFill>
                          <a:effectLst/>
                        </a:rPr>
                        <a:t>Name</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Corbel"/>
                        </a:rPr>
                        <a:t>Role</a:t>
                      </a: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Date</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Approved</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Consulted</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b="1" i="1" u="none" strike="noStrike" noProof="0">
                          <a:solidFill>
                            <a:schemeClr val="tx1"/>
                          </a:solidFill>
                          <a:effectLst/>
                          <a:latin typeface="+mn-lt"/>
                        </a:rPr>
                        <a:t>Informed</a:t>
                      </a:r>
                      <a:endParaRPr lang="en-US" sz="1200" b="1" i="1" u="none" strike="noStrike" noProof="0">
                        <a:solidFill>
                          <a:schemeClr val="tx1"/>
                        </a:solidFill>
                        <a:effectLst/>
                        <a:latin typeface="Corbel"/>
                      </a:endParaRPr>
                    </a:p>
                  </a:txBody>
                  <a:tcPr marL="45720" marR="45720">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err="1"/>
                        <a:t>Cammen</a:t>
                      </a:r>
                      <a:r>
                        <a:rPr lang="en-GB" sz="900"/>
                        <a:t> van der, MA (Michael)</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a:t>Solution Architect, RMM</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900" b="0"/>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3274">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kern="1200" err="1">
                          <a:solidFill>
                            <a:schemeClr val="tx1"/>
                          </a:solidFill>
                          <a:latin typeface="+mn-lt"/>
                          <a:ea typeface="+mn-ea"/>
                          <a:cs typeface="+mn-cs"/>
                        </a:rPr>
                        <a:t>Bhadani</a:t>
                      </a:r>
                      <a:r>
                        <a:rPr lang="en-GB" sz="900" kern="1200">
                          <a:solidFill>
                            <a:schemeClr val="tx1"/>
                          </a:solidFill>
                          <a:latin typeface="+mn-lt"/>
                          <a:ea typeface="+mn-ea"/>
                          <a:cs typeface="+mn-cs"/>
                        </a:rPr>
                        <a:t>, N (Niharika)</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Solution Architect, SL&amp;I</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3903063"/>
                  </a:ext>
                </a:extLst>
              </a:tr>
              <a:tr h="183274">
                <a:tc>
                  <a:txBody>
                    <a:bodyPr/>
                    <a:lstStyle/>
                    <a:p>
                      <a:r>
                        <a:rPr lang="en-GB" sz="900"/>
                        <a:t>Maheshwari, AA (Abhishek)</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GB" sz="900"/>
                        <a:t>Business Architect, Tribe Data Foundation</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71470">
                <a:tc>
                  <a:txBody>
                    <a:bodyPr/>
                    <a:lstStyle/>
                    <a:p>
                      <a:r>
                        <a:rPr lang="en-GB" sz="900"/>
                        <a:t>Al-</a:t>
                      </a:r>
                      <a:r>
                        <a:rPr lang="en-GB" sz="900" err="1"/>
                        <a:t>Dabbash</a:t>
                      </a:r>
                      <a:r>
                        <a:rPr lang="en-GB" sz="900"/>
                        <a:t>, M (</a:t>
                      </a:r>
                      <a:r>
                        <a:rPr lang="en-GB" sz="900" err="1"/>
                        <a:t>Moawya</a:t>
                      </a:r>
                      <a:r>
                        <a:rPr lang="en-GB" sz="900"/>
                        <a:t>)</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Solution Architect</a:t>
                      </a:r>
                      <a:r>
                        <a:rPr lang="en-GB" sz="900"/>
                        <a:t>, GRFD1, Tribe Data Foundation</a:t>
                      </a: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9708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err="1"/>
                        <a:t>Cornelisse</a:t>
                      </a:r>
                      <a:r>
                        <a:rPr lang="en-GB" sz="900"/>
                        <a:t>, N (Nico)</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Solution Architect</a:t>
                      </a:r>
                      <a:r>
                        <a:rPr lang="en-GB" sz="900"/>
                        <a:t>, CFO Hub, Tribe Data Foundation</a:t>
                      </a: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78847225"/>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err="1"/>
                        <a:t>Savenije</a:t>
                      </a:r>
                      <a:r>
                        <a:rPr lang="en-GB" sz="900"/>
                        <a:t>, M (</a:t>
                      </a:r>
                      <a:r>
                        <a:rPr lang="en-GB" sz="900" err="1"/>
                        <a:t>Mathijs</a:t>
                      </a:r>
                      <a:r>
                        <a:rPr lang="en-GB" sz="900"/>
                        <a:t>)</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Solution Architect, Tribe Credit Core</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7427418"/>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a:t>Joosten, EFM (</a:t>
                      </a:r>
                      <a:r>
                        <a:rPr lang="en-GB" sz="900" err="1"/>
                        <a:t>Evi</a:t>
                      </a:r>
                      <a:r>
                        <a:rPr lang="en-GB" sz="900"/>
                        <a:t>)</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Solution Architect,</a:t>
                      </a:r>
                      <a:r>
                        <a:rPr lang="en-GB" sz="900"/>
                        <a:t> GRFD2, Tribe Data Foundation</a:t>
                      </a: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903663"/>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r>
                        <a:rPr lang="en-GB" sz="900" err="1"/>
                        <a:t>Harpude</a:t>
                      </a:r>
                      <a:r>
                        <a:rPr lang="en-GB" sz="900"/>
                        <a:t>, K (Kiran)</a:t>
                      </a: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Solution Architect, GRFD2, </a:t>
                      </a:r>
                      <a:r>
                        <a:rPr lang="en-GB" sz="900"/>
                        <a:t>Tribe Data Foundation</a:t>
                      </a:r>
                      <a:endParaRPr kumimoji="0" lang="en-GB" sz="900" b="0" i="0" u="none" strike="noStrike" kern="1200" cap="none" spc="0" normalizeH="0" baseline="0" noProof="0">
                        <a:ln>
                          <a:noFill/>
                        </a:ln>
                        <a:solidFill>
                          <a:prstClr val="black"/>
                        </a:solidFill>
                        <a:effectLst/>
                        <a:uLnTx/>
                        <a:uFillTx/>
                        <a:latin typeface="Corbel"/>
                        <a:ea typeface="+mn-ea"/>
                        <a:cs typeface="+mn-cs"/>
                      </a:endParaRPr>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black"/>
                          </a:solidFill>
                          <a:effectLst/>
                          <a:uLnTx/>
                          <a:uFillTx/>
                          <a:latin typeface="Corbel"/>
                          <a:ea typeface="+mn-ea"/>
                          <a:cs typeface="+mn-cs"/>
                        </a:rPr>
                        <a:t>Yes</a:t>
                      </a: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080386"/>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853250"/>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4277306"/>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6641705"/>
                  </a:ext>
                </a:extLst>
              </a:tr>
              <a:tr h="183274">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6999" rtl="0" eaLnBrk="1" fontAlgn="auto" latinLnBrk="0" hangingPunct="1">
                        <a:lnSpc>
                          <a:spcPct val="100000"/>
                        </a:lnSpc>
                        <a:spcBef>
                          <a:spcPts val="0"/>
                        </a:spcBef>
                        <a:spcAft>
                          <a:spcPts val="0"/>
                        </a:spcAft>
                        <a:buClrTx/>
                        <a:buSzTx/>
                        <a:buFontTx/>
                        <a:buNone/>
                        <a:tabLst/>
                        <a:defRPr/>
                      </a:pPr>
                      <a:endParaRPr lang="en-GB" sz="900"/>
                    </a:p>
                  </a:txBody>
                  <a:tcPr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900" b="0">
                        <a:solidFill>
                          <a:schemeClr val="tx1"/>
                        </a:solidFill>
                      </a:endParaRPr>
                    </a:p>
                  </a:txBody>
                  <a:tcPr marL="87319" marR="87319" marT="34290" marB="3429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7517574"/>
                  </a:ext>
                </a:extLst>
              </a:tr>
            </a:tbl>
          </a:graphicData>
        </a:graphic>
      </p:graphicFrame>
      <p:graphicFrame>
        <p:nvGraphicFramePr>
          <p:cNvPr id="12" name="Tabel 11"/>
          <p:cNvGraphicFramePr>
            <a:graphicFrameLocks noGrp="1"/>
          </p:cNvGraphicFramePr>
          <p:nvPr/>
        </p:nvGraphicFramePr>
        <p:xfrm>
          <a:off x="453764" y="692094"/>
          <a:ext cx="7808316" cy="572160"/>
        </p:xfrm>
        <a:graphic>
          <a:graphicData uri="http://schemas.openxmlformats.org/drawingml/2006/table">
            <a:tbl>
              <a:tblPr firstRow="1" bandRow="1">
                <a:tableStyleId>{17292A2E-F333-43FB-9621-5CBBE7FDCDCB}</a:tableStyleId>
              </a:tblPr>
              <a:tblGrid>
                <a:gridCol w="2602772">
                  <a:extLst>
                    <a:ext uri="{9D8B030D-6E8A-4147-A177-3AD203B41FA5}">
                      <a16:colId xmlns:a16="http://schemas.microsoft.com/office/drawing/2014/main" val="20000"/>
                    </a:ext>
                  </a:extLst>
                </a:gridCol>
                <a:gridCol w="2602772">
                  <a:extLst>
                    <a:ext uri="{9D8B030D-6E8A-4147-A177-3AD203B41FA5}">
                      <a16:colId xmlns:a16="http://schemas.microsoft.com/office/drawing/2014/main" val="20001"/>
                    </a:ext>
                  </a:extLst>
                </a:gridCol>
                <a:gridCol w="2602772">
                  <a:extLst>
                    <a:ext uri="{9D8B030D-6E8A-4147-A177-3AD203B41FA5}">
                      <a16:colId xmlns:a16="http://schemas.microsoft.com/office/drawing/2014/main" val="20002"/>
                    </a:ext>
                  </a:extLst>
                </a:gridCol>
              </a:tblGrid>
              <a:tr h="183274">
                <a:tc>
                  <a:txBody>
                    <a:bodyPr/>
                    <a:lstStyle/>
                    <a:p>
                      <a:pPr algn="l" fontAlgn="b"/>
                      <a:r>
                        <a:rPr lang="en-US" sz="1200" i="1" u="none" strike="noStrike" noProof="0">
                          <a:solidFill>
                            <a:schemeClr val="tx1"/>
                          </a:solidFill>
                          <a:effectLst/>
                        </a:rPr>
                        <a:t>Change name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i="1" u="none" strike="noStrike" noProof="0">
                          <a:solidFill>
                            <a:schemeClr val="tx1"/>
                          </a:solidFill>
                          <a:effectLst/>
                        </a:rPr>
                        <a:t>Project code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i="1" u="none" strike="noStrike" noProof="0">
                          <a:solidFill>
                            <a:schemeClr val="tx1"/>
                          </a:solidFill>
                          <a:effectLst/>
                        </a:rPr>
                        <a:t>PID reference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83274">
                <a:tc>
                  <a:txBody>
                    <a:bodyPr/>
                    <a:lstStyle/>
                    <a:p>
                      <a:r>
                        <a:rPr lang="en-GB" sz="800" b="0"/>
                        <a:t>Extend nBIF PSA to be generic for all portfolios and all model bridges</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&lt;project code&gt; (UT/LDN only)</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800" b="0"/>
                        <a:t>&lt;PID </a:t>
                      </a:r>
                      <a:r>
                        <a:rPr lang="en-GB" sz="800" b="0" err="1"/>
                        <a:t>url</a:t>
                      </a:r>
                      <a:r>
                        <a:rPr lang="en-GB" sz="800" b="0"/>
                        <a:t>&gt;</a:t>
                      </a:r>
                    </a:p>
                  </a:txBody>
                  <a:tcPr marL="36000" marR="36000" marT="27000" marB="27000">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13" name="Rounded Rectangle 11">
            <a:hlinkClick r:id="rId3" action="ppaction://hlinksldjump"/>
          </p:cNvPr>
          <p:cNvSpPr/>
          <p:nvPr/>
        </p:nvSpPr>
        <p:spPr>
          <a:xfrm>
            <a:off x="8262081" y="4875491"/>
            <a:ext cx="870044" cy="29965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p>
            <a:pPr marL="0" marR="0" indent="0" algn="ctr" defTabSz="914400" eaLnBrk="1" fontAlgn="auto" latinLnBrk="0" hangingPunct="1">
              <a:lnSpc>
                <a:spcPct val="110000"/>
              </a:lnSpc>
              <a:spcBef>
                <a:spcPts val="0"/>
              </a:spcBef>
              <a:spcAft>
                <a:spcPts val="0"/>
              </a:spcAft>
              <a:buClrTx/>
              <a:buSzTx/>
              <a:buFontTx/>
              <a:buNone/>
              <a:tabLst/>
            </a:pPr>
            <a:r>
              <a:rPr kumimoji="0" lang="en-GB" sz="800" b="1" i="0" u="none" strike="noStrike" kern="0" cap="none" spc="0" normalizeH="0" baseline="0" noProof="0">
                <a:ln>
                  <a:noFill/>
                </a:ln>
                <a:solidFill>
                  <a:schemeClr val="bg1"/>
                </a:solidFill>
                <a:effectLst/>
                <a:uLnTx/>
                <a:uFillTx/>
                <a:latin typeface="Myriad Pro"/>
                <a:ea typeface="+mn-ea"/>
                <a:cs typeface="Myriad Pro"/>
              </a:rPr>
              <a:t>10. Document </a:t>
            </a:r>
            <a:br>
              <a:rPr kumimoji="0" lang="en-GB" sz="800" b="1" i="0" u="none" strike="noStrike" kern="0" cap="none" spc="0" normalizeH="0" baseline="0" noProof="0">
                <a:ln>
                  <a:noFill/>
                </a:ln>
                <a:solidFill>
                  <a:schemeClr val="bg1"/>
                </a:solidFill>
                <a:effectLst/>
                <a:uLnTx/>
                <a:uFillTx/>
                <a:latin typeface="Myriad Pro"/>
                <a:ea typeface="+mn-ea"/>
                <a:cs typeface="Myriad Pro"/>
              </a:rPr>
            </a:br>
            <a:r>
              <a:rPr kumimoji="0" lang="en-GB" sz="800" b="1" i="0" u="none" strike="noStrike" kern="0" cap="none" spc="0" normalizeH="0" baseline="0" noProof="0">
                <a:ln>
                  <a:noFill/>
                </a:ln>
                <a:solidFill>
                  <a:schemeClr val="bg1"/>
                </a:solidFill>
                <a:effectLst/>
                <a:uLnTx/>
                <a:uFillTx/>
                <a:latin typeface="Myriad Pro"/>
                <a:ea typeface="+mn-ea"/>
                <a:cs typeface="Myriad Pro"/>
              </a:rPr>
              <a:t>Control</a:t>
            </a:r>
          </a:p>
        </p:txBody>
      </p:sp>
    </p:spTree>
    <p:extLst>
      <p:ext uri="{BB962C8B-B14F-4D97-AF65-F5344CB8AC3E}">
        <p14:creationId xmlns:p14="http://schemas.microsoft.com/office/powerpoint/2010/main" val="1348234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75814" y="372600"/>
            <a:ext cx="7042586" cy="694201"/>
          </a:xfrm>
        </p:spPr>
        <p:txBody>
          <a:bodyPr/>
          <a:lstStyle/>
          <a:p>
            <a:r>
              <a:rPr lang="en-US" sz="3200"/>
              <a:t>General references</a:t>
            </a:r>
          </a:p>
        </p:txBody>
      </p:sp>
      <p:sp>
        <p:nvSpPr>
          <p:cNvPr id="3" name="Tijdelijke aanduiding voor dianummer 2"/>
          <p:cNvSpPr>
            <a:spLocks noGrp="1"/>
          </p:cNvSpPr>
          <p:nvPr>
            <p:ph type="sldNum" sz="quarter" idx="10"/>
          </p:nvPr>
        </p:nvSpPr>
        <p:spPr/>
        <p:txBody>
          <a:bodyPr/>
          <a:lstStyle/>
          <a:p>
            <a:fld id="{4821C4A5-98F2-7545-875B-39B2F4500447}" type="slidenum">
              <a:rPr lang="en-GB" noProof="0" smtClean="0"/>
              <a:pPr/>
              <a:t>77</a:t>
            </a:fld>
            <a:endParaRPr lang="en-GB" noProof="0"/>
          </a:p>
        </p:txBody>
      </p:sp>
      <p:sp>
        <p:nvSpPr>
          <p:cNvPr id="6" name="Tijdelijke aanduiding voor tekst 4"/>
          <p:cNvSpPr txBox="1">
            <a:spLocks/>
          </p:cNvSpPr>
          <p:nvPr/>
        </p:nvSpPr>
        <p:spPr>
          <a:xfrm>
            <a:off x="476249" y="144000"/>
            <a:ext cx="7042151" cy="228600"/>
          </a:xfrm>
          <a:prstGeom prst="rect">
            <a:avLst/>
          </a:prstGeom>
        </p:spPr>
        <p:txBody>
          <a:bodyPr vert="horz" lIns="27000" tIns="34290" rIns="27000" bIns="34290" rtlCol="0">
            <a:noAutofit/>
          </a:bodyPr>
          <a:lstStyle>
            <a:lvl1pPr marL="0" marR="0" indent="0" algn="l" defTabSz="685758" rtl="0" eaLnBrk="1" fontAlgn="auto" latinLnBrk="0" hangingPunct="1">
              <a:lnSpc>
                <a:spcPct val="100000"/>
              </a:lnSpc>
              <a:spcBef>
                <a:spcPts val="451"/>
              </a:spcBef>
              <a:spcAft>
                <a:spcPts val="0"/>
              </a:spcAft>
              <a:buClr>
                <a:schemeClr val="tx1"/>
              </a:buClr>
              <a:buSzPct val="90000"/>
              <a:buFont typeface="Lucida Grande"/>
              <a:buNone/>
              <a:tabLst/>
              <a:defRPr kumimoji="0" lang="nl-NL" sz="1000" b="1" i="0" u="none" strike="noStrike" kern="1200" cap="none" spc="0" normalizeH="0" baseline="0" noProof="0">
                <a:ln>
                  <a:noFill/>
                </a:ln>
                <a:solidFill>
                  <a:schemeClr val="accent2"/>
                </a:solidFill>
                <a:effectLst/>
                <a:uLnTx/>
                <a:uFillTx/>
                <a:latin typeface="+mn-lt"/>
                <a:ea typeface="+mn-ea"/>
                <a:cs typeface="Myriad Pro Light" pitchFamily="34" charset="0"/>
              </a:defRPr>
            </a:lvl1pPr>
            <a:lvl2pPr marL="270255" marR="0" indent="-134533" algn="l" defTabSz="685758" rtl="0" eaLnBrk="1" fontAlgn="auto" latinLnBrk="0" hangingPunct="1">
              <a:lnSpc>
                <a:spcPct val="100000"/>
              </a:lnSpc>
              <a:spcBef>
                <a:spcPts val="451"/>
              </a:spcBef>
              <a:spcAft>
                <a:spcPts val="0"/>
              </a:spcAft>
              <a:buClrTx/>
              <a:buSzPct val="90000"/>
              <a:buFont typeface="Corbel" panose="020B0503020204020204" pitchFamily="34" charset="0"/>
              <a:buChar char="−"/>
              <a:tabLst/>
              <a:defRPr kumimoji="0" lang="nl-NL" sz="9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470269" marR="0" indent="-133343" algn="l" defTabSz="685758"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2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0" marR="0" indent="0" algn="l" defTabSz="685758" rtl="0" eaLnBrk="1" fontAlgn="auto" latinLnBrk="0" hangingPunct="1">
              <a:lnSpc>
                <a:spcPct val="100000"/>
              </a:lnSpc>
              <a:spcBef>
                <a:spcPct val="20000"/>
              </a:spcBef>
              <a:spcAft>
                <a:spcPts val="0"/>
              </a:spcAft>
              <a:buClr>
                <a:srgbClr val="FF6600"/>
              </a:buClr>
              <a:buSzTx/>
              <a:buFont typeface="Arial" pitchFamily="34" charset="0"/>
              <a:buNone/>
              <a:tabLst/>
              <a:defRPr kumimoji="0" lang="nl-NL" sz="1500" b="1" i="1" u="none" strike="noStrike" kern="1200" cap="none" spc="0" normalizeH="0" baseline="0" noProof="0">
                <a:ln>
                  <a:noFill/>
                </a:ln>
                <a:solidFill>
                  <a:schemeClr val="accent2"/>
                </a:solidFill>
                <a:effectLst/>
                <a:uLnTx/>
                <a:uFillTx/>
                <a:latin typeface="+mn-lt"/>
                <a:ea typeface="+mn-ea"/>
                <a:cs typeface="Mongolian Baiti" pitchFamily="66" charset="0"/>
              </a:defRPr>
            </a:lvl4pPr>
            <a:lvl5pPr marL="1192" marR="0" indent="0" algn="l" defTabSz="685758" rtl="0" eaLnBrk="1" fontAlgn="auto" latinLnBrk="0" hangingPunct="1">
              <a:lnSpc>
                <a:spcPct val="100000"/>
              </a:lnSpc>
              <a:spcBef>
                <a:spcPct val="20000"/>
              </a:spcBef>
              <a:spcAft>
                <a:spcPts val="0"/>
              </a:spcAft>
              <a:buClrTx/>
              <a:buSzTx/>
              <a:buFont typeface="Arial"/>
              <a:buNone/>
              <a:tabLst/>
              <a:defRPr kumimoji="0" lang="nl-NL" sz="14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33343" indent="-133343" algn="l" defTabSz="342728" rtl="0" eaLnBrk="1" latinLnBrk="0" hangingPunct="1">
              <a:lnSpc>
                <a:spcPct val="90000"/>
              </a:lnSpc>
              <a:spcBef>
                <a:spcPct val="20000"/>
              </a:spcBef>
              <a:buFont typeface="Arial"/>
              <a:buChar char="•"/>
              <a:defRPr sz="1200" kern="1200">
                <a:solidFill>
                  <a:schemeClr val="tx1"/>
                </a:solidFill>
                <a:latin typeface="+mn-lt"/>
                <a:ea typeface="+mn-ea"/>
                <a:cs typeface="+mn-cs"/>
              </a:defRPr>
            </a:lvl6pPr>
            <a:lvl7pPr marL="133343" indent="-133343" algn="l" defTabSz="342728" rtl="0" eaLnBrk="1" latinLnBrk="0" hangingPunct="1">
              <a:lnSpc>
                <a:spcPct val="90000"/>
              </a:lnSpc>
              <a:spcBef>
                <a:spcPct val="20000"/>
              </a:spcBef>
              <a:buFont typeface="Arial"/>
              <a:buChar char="•"/>
              <a:defRPr sz="1200" kern="1200">
                <a:solidFill>
                  <a:schemeClr val="tx1"/>
                </a:solidFill>
                <a:latin typeface="+mn-lt"/>
                <a:ea typeface="+mn-ea"/>
                <a:cs typeface="+mn-cs"/>
              </a:defRPr>
            </a:lvl7pPr>
            <a:lvl8pPr marL="2570464" indent="-171365" algn="l" defTabSz="342728" rtl="0" eaLnBrk="1" latinLnBrk="0" hangingPunct="1">
              <a:spcBef>
                <a:spcPct val="20000"/>
              </a:spcBef>
              <a:buFont typeface="Arial"/>
              <a:buChar char="•"/>
              <a:defRPr sz="1500" kern="1200">
                <a:solidFill>
                  <a:schemeClr val="tx1"/>
                </a:solidFill>
                <a:latin typeface="+mn-lt"/>
                <a:ea typeface="+mn-ea"/>
                <a:cs typeface="+mn-cs"/>
              </a:defRPr>
            </a:lvl8pPr>
            <a:lvl9pPr marL="2913192" indent="-171365" algn="l" defTabSz="342728"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l" defTabSz="685758" rtl="0" eaLnBrk="1" fontAlgn="auto" latinLnBrk="0" hangingPunct="1">
              <a:lnSpc>
                <a:spcPct val="100000"/>
              </a:lnSpc>
              <a:spcBef>
                <a:spcPts val="451"/>
              </a:spcBef>
              <a:spcAft>
                <a:spcPts val="0"/>
              </a:spcAft>
              <a:buClr>
                <a:sysClr val="windowText" lastClr="000000"/>
              </a:buClr>
              <a:buSzPct val="90000"/>
              <a:buFont typeface="Lucida Grande"/>
              <a:buNone/>
              <a:tabLst/>
              <a:defRPr/>
            </a:pPr>
            <a:r>
              <a:rPr kumimoji="0" lang="en-US" sz="1000" b="1" i="0" u="none" strike="noStrike" kern="1200" cap="none" spc="0" normalizeH="0" baseline="0">
                <a:ln>
                  <a:noFill/>
                </a:ln>
                <a:solidFill>
                  <a:srgbClr val="FF6600"/>
                </a:solidFill>
                <a:effectLst/>
                <a:uLnTx/>
                <a:uFillTx/>
                <a:latin typeface="Corbel"/>
                <a:ea typeface="+mn-ea"/>
              </a:rPr>
              <a:t>Document control</a:t>
            </a:r>
          </a:p>
        </p:txBody>
      </p:sp>
      <p:sp>
        <p:nvSpPr>
          <p:cNvPr id="7" name="Tijdelijke aanduiding voor tekst 6"/>
          <p:cNvSpPr txBox="1">
            <a:spLocks/>
          </p:cNvSpPr>
          <p:nvPr/>
        </p:nvSpPr>
        <p:spPr>
          <a:xfrm>
            <a:off x="472085" y="960438"/>
            <a:ext cx="7804150" cy="212725"/>
          </a:xfrm>
          <a:prstGeom prst="rect">
            <a:avLst/>
          </a:prstGeom>
        </p:spPr>
        <p:txBody>
          <a:bodyPr/>
          <a:lstStyle>
            <a:lvl1pPr marL="216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2000" b="0" i="0" u="none" strike="noStrike" kern="1200" cap="none" spc="0" normalizeH="0" baseline="0" noProof="0">
                <a:ln>
                  <a:noFill/>
                </a:ln>
                <a:solidFill>
                  <a:schemeClr val="tx1"/>
                </a:solidFill>
                <a:effectLst/>
                <a:uLnTx/>
                <a:uFillTx/>
                <a:latin typeface="+mn-lt"/>
                <a:ea typeface="+mn-ea"/>
                <a:cs typeface="Myriad Pro Light" pitchFamily="34" charset="0"/>
              </a:defRPr>
            </a:lvl1pPr>
            <a:lvl2pPr marL="432000" marR="0" indent="-216000" algn="l" defTabSz="914400" rtl="0" eaLnBrk="1" fontAlgn="auto" latinLnBrk="0" hangingPunct="1">
              <a:lnSpc>
                <a:spcPct val="100000"/>
              </a:lnSpc>
              <a:spcBef>
                <a:spcPct val="20000"/>
              </a:spcBef>
              <a:spcAft>
                <a:spcPts val="0"/>
              </a:spcAft>
              <a:buClr>
                <a:schemeClr val="tx2"/>
              </a:buClr>
              <a:buSzPct val="90000"/>
              <a:buFont typeface="Lucida Grande"/>
              <a:buChar char="•"/>
              <a:tabLst/>
              <a:defRPr kumimoji="0" lang="nl-NL" sz="1800" b="0" i="0" u="none" strike="noStrike" kern="1200" cap="none" spc="0" normalizeH="0" baseline="0" noProof="0">
                <a:ln>
                  <a:noFill/>
                </a:ln>
                <a:solidFill>
                  <a:srgbClr val="000000"/>
                </a:solidFill>
                <a:effectLst/>
                <a:uLnTx/>
                <a:uFillTx/>
                <a:latin typeface="+mn-lt"/>
                <a:ea typeface="+mn-ea"/>
                <a:cs typeface="Myriad Pro Light" pitchFamily="34" charset="0"/>
              </a:defRPr>
            </a:lvl2pPr>
            <a:lvl3pPr marL="648000" marR="0" indent="-216000" algn="l" defTabSz="914400" rtl="0" eaLnBrk="1" fontAlgn="auto" latinLnBrk="0" hangingPunct="1">
              <a:lnSpc>
                <a:spcPct val="100000"/>
              </a:lnSpc>
              <a:spcBef>
                <a:spcPct val="20000"/>
              </a:spcBef>
              <a:spcAft>
                <a:spcPts val="0"/>
              </a:spcAft>
              <a:buClr>
                <a:schemeClr val="accent2"/>
              </a:buClr>
              <a:buSzPct val="90000"/>
              <a:buFont typeface="Lucida Grande"/>
              <a:buChar char="•"/>
              <a:tabLst/>
              <a:defRPr kumimoji="0" lang="nl-NL" sz="1600" b="0" i="0" u="none" strike="noStrike" kern="1200" cap="none" spc="0" normalizeH="0" baseline="0" noProof="0">
                <a:ln>
                  <a:noFill/>
                </a:ln>
                <a:solidFill>
                  <a:prstClr val="black"/>
                </a:solidFill>
                <a:effectLst/>
                <a:uLnTx/>
                <a:uFillTx/>
                <a:latin typeface="+mn-lt"/>
                <a:ea typeface="+mn-ea"/>
                <a:cs typeface="Mongolian Baiti" pitchFamily="66" charset="0"/>
              </a:defRPr>
            </a:lvl3pPr>
            <a:lvl4pPr marL="864000" marR="0" indent="-216000" algn="l" defTabSz="914400" rtl="0" eaLnBrk="1" fontAlgn="auto" latinLnBrk="0" hangingPunct="1">
              <a:lnSpc>
                <a:spcPct val="100000"/>
              </a:lnSpc>
              <a:spcBef>
                <a:spcPct val="20000"/>
              </a:spcBef>
              <a:spcAft>
                <a:spcPts val="0"/>
              </a:spcAft>
              <a:buClr>
                <a:srgbClr val="5E6A71"/>
              </a:buClr>
              <a:buSzPct val="80000"/>
              <a:buFont typeface="Arial" pitchFamily="34" charset="0"/>
              <a:buChar char="•"/>
              <a:tabLst/>
              <a:defRPr kumimoji="0" lang="nl-NL" sz="1600" b="0" i="0" u="none" strike="noStrike" kern="1200" cap="none" spc="0" normalizeH="0" baseline="0" noProof="0">
                <a:ln>
                  <a:noFill/>
                </a:ln>
                <a:solidFill>
                  <a:schemeClr val="tx1"/>
                </a:solidFill>
                <a:effectLst/>
                <a:uLnTx/>
                <a:uFillTx/>
                <a:latin typeface="+mn-lt"/>
                <a:ea typeface="+mn-ea"/>
                <a:cs typeface="Mongolian Baiti" pitchFamily="66" charset="0"/>
              </a:defRPr>
            </a:lvl4pPr>
            <a:lvl5pPr marL="1588" marR="0" indent="0" algn="l" defTabSz="914400" rtl="0" eaLnBrk="1" fontAlgn="auto" latinLnBrk="0" hangingPunct="1">
              <a:lnSpc>
                <a:spcPct val="100000"/>
              </a:lnSpc>
              <a:spcBef>
                <a:spcPct val="20000"/>
              </a:spcBef>
              <a:spcAft>
                <a:spcPts val="0"/>
              </a:spcAft>
              <a:buClrTx/>
              <a:buSzTx/>
              <a:buFont typeface="Arial"/>
              <a:buNone/>
              <a:tabLst/>
              <a:defRPr kumimoji="0" lang="nl-NL" sz="1800" b="1" i="1" u="none" strike="noStrike" kern="1200" cap="none" spc="0" normalizeH="0" baseline="0" noProof="0">
                <a:ln>
                  <a:noFill/>
                </a:ln>
                <a:solidFill>
                  <a:schemeClr val="tx2"/>
                </a:solidFill>
                <a:effectLst/>
                <a:uLnTx/>
                <a:uFillTx/>
                <a:latin typeface="+mn-lt"/>
                <a:ea typeface="+mn-ea"/>
                <a:cs typeface="Mongolian Baiti" pitchFamily="66" charset="0"/>
              </a:defRPr>
            </a:lvl5pPr>
            <a:lvl6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6pPr>
            <a:lvl7pPr marL="177800" indent="-177800" algn="l" defTabSz="456999" rtl="0" eaLnBrk="1" latinLnBrk="0" hangingPunct="1">
              <a:lnSpc>
                <a:spcPct val="90000"/>
              </a:lnSpc>
              <a:spcBef>
                <a:spcPct val="20000"/>
              </a:spcBef>
              <a:buFont typeface="Arial"/>
              <a:buChar char="•"/>
              <a:defRPr sz="1600" kern="1200">
                <a:solidFill>
                  <a:schemeClr val="tx1"/>
                </a:solidFill>
                <a:latin typeface="+mn-lt"/>
                <a:ea typeface="+mn-ea"/>
                <a:cs typeface="+mn-cs"/>
              </a:defRPr>
            </a:lvl7pPr>
            <a:lvl8pPr marL="3427495" indent="-228500" algn="l" defTabSz="456999" rtl="0" eaLnBrk="1" latinLnBrk="0" hangingPunct="1">
              <a:spcBef>
                <a:spcPct val="20000"/>
              </a:spcBef>
              <a:buFont typeface="Arial"/>
              <a:buChar char="•"/>
              <a:defRPr sz="2000" kern="1200">
                <a:solidFill>
                  <a:schemeClr val="tx1"/>
                </a:solidFill>
                <a:latin typeface="+mn-lt"/>
                <a:ea typeface="+mn-ea"/>
                <a:cs typeface="+mn-cs"/>
              </a:defRPr>
            </a:lvl8pPr>
            <a:lvl9pPr marL="3884495" indent="-228500" algn="l" defTabSz="456999"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00" b="1" i="1">
                <a:solidFill>
                  <a:schemeClr val="accent2"/>
                </a:solidFill>
              </a:rPr>
              <a:t>Architectural reference documents &amp; templates</a:t>
            </a:r>
          </a:p>
        </p:txBody>
      </p:sp>
      <p:graphicFrame>
        <p:nvGraphicFramePr>
          <p:cNvPr id="8" name="Tabel 7"/>
          <p:cNvGraphicFramePr>
            <a:graphicFrameLocks noGrp="1"/>
          </p:cNvGraphicFramePr>
          <p:nvPr>
            <p:extLst>
              <p:ext uri="{D42A27DB-BD31-4B8C-83A1-F6EECF244321}">
                <p14:modId xmlns:p14="http://schemas.microsoft.com/office/powerpoint/2010/main" val="1105302446"/>
              </p:ext>
            </p:extLst>
          </p:nvPr>
        </p:nvGraphicFramePr>
        <p:xfrm>
          <a:off x="472084" y="1295403"/>
          <a:ext cx="8468715" cy="3505216"/>
        </p:xfrm>
        <a:graphic>
          <a:graphicData uri="http://schemas.openxmlformats.org/drawingml/2006/table">
            <a:tbl>
              <a:tblPr firstRow="1" bandRow="1">
                <a:tableStyleId>{17292A2E-F333-43FB-9621-5CBBE7FDCDCB}</a:tableStyleId>
              </a:tblPr>
              <a:tblGrid>
                <a:gridCol w="2621702">
                  <a:extLst>
                    <a:ext uri="{9D8B030D-6E8A-4147-A177-3AD203B41FA5}">
                      <a16:colId xmlns:a16="http://schemas.microsoft.com/office/drawing/2014/main" val="20000"/>
                    </a:ext>
                  </a:extLst>
                </a:gridCol>
                <a:gridCol w="5847013">
                  <a:extLst>
                    <a:ext uri="{9D8B030D-6E8A-4147-A177-3AD203B41FA5}">
                      <a16:colId xmlns:a16="http://schemas.microsoft.com/office/drawing/2014/main" val="20001"/>
                    </a:ext>
                  </a:extLst>
                </a:gridCol>
              </a:tblGrid>
              <a:tr h="232961">
                <a:tc>
                  <a:txBody>
                    <a:bodyPr/>
                    <a:lstStyle/>
                    <a:p>
                      <a:pPr algn="l" fontAlgn="b"/>
                      <a:r>
                        <a:rPr lang="en-US" sz="1200" i="1" u="none" strike="noStrike" noProof="0">
                          <a:solidFill>
                            <a:schemeClr val="tx1"/>
                          </a:solidFill>
                          <a:effectLst/>
                        </a:rPr>
                        <a:t>Name</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tc>
                  <a:txBody>
                    <a:bodyPr/>
                    <a:lstStyle/>
                    <a:p>
                      <a:pPr algn="l" fontAlgn="b"/>
                      <a:r>
                        <a:rPr lang="en-US" sz="1200" i="1" u="none" strike="noStrike" noProof="0">
                          <a:solidFill>
                            <a:schemeClr val="tx1"/>
                          </a:solidFill>
                          <a:effectLst/>
                        </a:rPr>
                        <a:t>URL</a:t>
                      </a:r>
                    </a:p>
                  </a:txBody>
                  <a:tcPr marL="45720" marR="45720" anchor="b">
                    <a:lnL w="12700" cap="flat" cmpd="sng" algn="ctr">
                      <a:solidFill>
                        <a:srgbClr val="DCDDDE"/>
                      </a:solidFill>
                      <a:prstDash val="solid"/>
                      <a:round/>
                      <a:headEnd type="none" w="med" len="med"/>
                      <a:tailEnd type="none" w="med" len="med"/>
                    </a:lnL>
                    <a:lnR w="12700" cap="flat" cmpd="sng" algn="ctr">
                      <a:solidFill>
                        <a:srgbClr val="DCDDDE"/>
                      </a:solidFill>
                      <a:prstDash val="solid"/>
                      <a:round/>
                      <a:headEnd type="none" w="med" len="med"/>
                      <a:tailEnd type="none" w="med" len="med"/>
                    </a:lnR>
                    <a:lnT w="57150" cap="flat" cmpd="sng" algn="ctr">
                      <a:solidFill>
                        <a:schemeClr val="accent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DCDDDE"/>
                    </a:solidFill>
                  </a:tcPr>
                </a:tc>
                <a:extLst>
                  <a:ext uri="{0D108BD9-81ED-4DB2-BD59-A6C34878D82A}">
                    <a16:rowId xmlns:a16="http://schemas.microsoft.com/office/drawing/2014/main" val="10000"/>
                  </a:ext>
                </a:extLst>
              </a:tr>
              <a:tr h="1563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noProof="0">
                          <a:solidFill>
                            <a:schemeClr val="tx1"/>
                          </a:solidFill>
                          <a:latin typeface="+mn-lt"/>
                          <a:ea typeface="+mn-ea"/>
                          <a:cs typeface="+mn-cs"/>
                          <a:hlinkClick r:id="rId2"/>
                        </a:rPr>
                        <a:t>ICE PSA</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kern="1200" noProof="0">
                          <a:solidFill>
                            <a:schemeClr val="tx2"/>
                          </a:solidFill>
                          <a:latin typeface="+mn-lt"/>
                          <a:ea typeface="+mn-ea"/>
                          <a:cs typeface="Arial" pitchFamily="34" charset="0"/>
                          <a:hlinkClick r:id="rId2"/>
                        </a:rPr>
                        <a:t>https://raboweb.sharepoint.com/teams/SDARiskFinance/_layouts/15/Doc.aspx?OR=teams&amp;action=edit&amp;sourcedoc={F333A115-317E-4387-9B00-FA1FF832ABA6}</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9008240"/>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a:hlinkClick r:id="rId3"/>
                        </a:rPr>
                        <a:t>PSA N-Bridge v1.0.pptx</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kern="1200" noProof="0">
                          <a:solidFill>
                            <a:schemeClr val="tx2"/>
                          </a:solidFill>
                          <a:latin typeface="+mn-lt"/>
                          <a:ea typeface="+mn-ea"/>
                          <a:cs typeface="Arial" pitchFamily="34" charset="0"/>
                          <a:hlinkClick r:id="rId3"/>
                        </a:rPr>
                        <a:t>https://raboweb.sharepoint.com/:p:/r/teams/SDARiskFinance/Tribe%20Credit%20Analytics%20Architecture%20Repository/PSA%20N-Bridge%20v1.0.pptx?d=wa65da20701214251a0075daa11032057&amp;csf=1&amp;web=1&amp;e=Wnmih5</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8568397"/>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a:hlinkClick r:id="rId4"/>
                        </a:rPr>
                        <a:t>S&amp;I n-BIF architecture note V1.0.pptx</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kern="1200" noProof="0">
                          <a:solidFill>
                            <a:schemeClr val="tx2"/>
                          </a:solidFill>
                          <a:latin typeface="+mn-lt"/>
                          <a:ea typeface="+mn-ea"/>
                          <a:cs typeface="Arial" pitchFamily="34" charset="0"/>
                          <a:hlinkClick r:id="rId4"/>
                        </a:rPr>
                        <a:t>https://raboweb.sharepoint.com/:p:/r/teams/SDARiskFinance/Tribe%20Credit%20Analytics%20Architecture%20Repository/S%26I%20n-BIF%20architecture%20note%20V1.0.pptx?d=w533d660605b4485683ffb7e6ca5aecf9&amp;csf=1&amp;web=1&amp;e=YqQfvX</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8291720"/>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a:hlinkClick r:id="rId5"/>
                        </a:rPr>
                        <a:t>Decision document IFRS9 migration to nBIF v1.0.pptx</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kern="1200" noProof="0">
                          <a:solidFill>
                            <a:schemeClr val="tx2"/>
                          </a:solidFill>
                          <a:latin typeface="+mn-lt"/>
                          <a:ea typeface="+mn-ea"/>
                          <a:cs typeface="Arial" pitchFamily="34" charset="0"/>
                          <a:hlinkClick r:id="rId5"/>
                        </a:rPr>
                        <a:t>https://raboweb.sharepoint.com/:p:/r/teams/SDARiskFinance/Tribe%20Credit%20Analytics%20Architecture%20Repository/Decision%20document%20IFRS9%20migration%20to%20nBIF%20v1.0.pptx?d=w67bf226d153a49258e8f993ceaeab949&amp;csf=1&amp;web=1&amp;e=XFT2LN</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0416462"/>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noProof="0">
                          <a:solidFill>
                            <a:schemeClr val="tx1"/>
                          </a:solidFill>
                          <a:latin typeface="+mn-lt"/>
                          <a:ea typeface="+mn-ea"/>
                          <a:cs typeface="+mn-cs"/>
                          <a:hlinkClick r:id="rId6"/>
                        </a:rPr>
                        <a:t>n-Bridge Business Requirement document</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kern="1200" noProof="0">
                          <a:solidFill>
                            <a:schemeClr val="tx2"/>
                          </a:solidFill>
                          <a:latin typeface="+mn-lt"/>
                          <a:ea typeface="+mn-ea"/>
                          <a:cs typeface="Arial" pitchFamily="34" charset="0"/>
                          <a:hlinkClick r:id="rId6"/>
                        </a:rPr>
                        <a:t>https://raboweb.sharepoint.com/teams/SDARiskFinance/Shared%20Documents/ModelManagement/Topics/NBridgeBatchIF/BRD</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4253067"/>
                  </a:ext>
                </a:extLst>
              </a:tr>
              <a:tr h="1563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noProof="0">
                          <a:solidFill>
                            <a:schemeClr val="tx1"/>
                          </a:solidFill>
                          <a:latin typeface="+mn-lt"/>
                          <a:ea typeface="+mn-ea"/>
                          <a:cs typeface="+mn-cs"/>
                          <a:hlinkClick r:id="rId7"/>
                        </a:rPr>
                        <a:t>n-Bridge Architecture decision</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kern="1200" noProof="0">
                          <a:solidFill>
                            <a:schemeClr val="tx2"/>
                          </a:solidFill>
                          <a:latin typeface="+mn-lt"/>
                          <a:ea typeface="+mn-ea"/>
                          <a:cs typeface="Arial" pitchFamily="34" charset="0"/>
                          <a:hlinkClick r:id="rId7"/>
                        </a:rPr>
                        <a:t>https://raboweb.sharepoint.com/teams/SDARiskFinance/_layouts/15/Doc.aspx?OR=teams&amp;action=edit&amp;sourcedoc={BE38944B-78D3-4109-9474-09BEFA319959}</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1013507"/>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noProof="0">
                          <a:solidFill>
                            <a:schemeClr val="tx1"/>
                          </a:solidFill>
                          <a:hlinkClick r:id="rId8"/>
                        </a:rPr>
                        <a:t>Global Policy portal</a:t>
                      </a:r>
                      <a:r>
                        <a:rPr lang="en-US" sz="800" kern="1200" noProof="0">
                          <a:solidFill>
                            <a:schemeClr val="tx1"/>
                          </a:solidFill>
                          <a:hlinkClick r:id="rId9"/>
                        </a:rPr>
                        <a:t> </a:t>
                      </a:r>
                      <a:endParaRPr lang="en-US" sz="800" b="0" i="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600" noProof="0">
                          <a:solidFill>
                            <a:schemeClr val="tx2"/>
                          </a:solidFill>
                          <a:hlinkClick r:id="rId8"/>
                        </a:rPr>
                        <a:t>https://policyhouseportal.rabonet.com/display/PP/Policy+House+Portal+Rabobank+Group</a:t>
                      </a:r>
                      <a:endParaRPr lang="en-US" sz="600" kern="1200" noProof="0">
                        <a:solidFill>
                          <a:schemeClr val="tx2"/>
                        </a:solidFill>
                        <a:latin typeface="+mn-lt"/>
                        <a:ea typeface="+mn-ea"/>
                        <a:cs typeface="Arial"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563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noProof="0">
                          <a:solidFill>
                            <a:schemeClr val="tx1"/>
                          </a:solidFill>
                          <a:hlinkClick r:id="rId10"/>
                        </a:rPr>
                        <a:t>Enterprise IT Architecture Principles</a:t>
                      </a:r>
                      <a:endParaRPr lang="en-US" sz="800" noProof="0">
                        <a:solidFill>
                          <a:schemeClr val="tx1"/>
                        </a:solidFill>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US" sz="600" noProof="0">
                          <a:solidFill>
                            <a:schemeClr val="tx2"/>
                          </a:solidFill>
                          <a:latin typeface="+mn-lt"/>
                          <a:cs typeface="Arial" panose="020B0604020202020204" pitchFamily="34" charset="0"/>
                          <a:hlinkClick r:id="rId10"/>
                        </a:rPr>
                        <a:t>https://raboweb.sharepoint.com/sites/organization-strategydataandarchitecture/SitePages/policy_and_guidance_enterprise-architecture_ea-principles-default.aspx</a:t>
                      </a:r>
                      <a:endParaRPr lang="en-US" sz="600" noProof="0">
                        <a:solidFill>
                          <a:schemeClr val="tx2"/>
                        </a:solidFill>
                        <a:latin typeface="+mn-lt"/>
                        <a:cs typeface="Arial" panose="020B0604020202020204"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noProof="0">
                          <a:solidFill>
                            <a:schemeClr val="tx1"/>
                          </a:solidFill>
                          <a:hlinkClick r:id="rId11"/>
                        </a:rPr>
                        <a:t>Architecture meta model and standard viewpoints</a:t>
                      </a:r>
                      <a:endParaRPr lang="en-US" sz="800" noProof="0">
                        <a:solidFill>
                          <a:schemeClr val="tx1"/>
                        </a:solidFill>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US" sz="600" noProof="0">
                          <a:solidFill>
                            <a:schemeClr val="tx2"/>
                          </a:solidFill>
                          <a:hlinkClick r:id="rId11"/>
                        </a:rPr>
                        <a:t>https://raboweb.sharepoint.com/sites/organization-strategydataandarchitecture/SitePages/way_of_working_descriptions-default.aspx</a:t>
                      </a:r>
                      <a:endParaRPr lang="en-US" sz="600" noProof="0">
                        <a:solidFill>
                          <a:schemeClr val="tx2"/>
                        </a:solidFill>
                        <a:latin typeface="+mn-lt"/>
                        <a:cs typeface="Arial" panose="020B0604020202020204"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472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noProof="0">
                          <a:solidFill>
                            <a:schemeClr val="tx1"/>
                          </a:solidFill>
                          <a:latin typeface="+mn-lt"/>
                          <a:ea typeface="+mn-ea"/>
                          <a:cs typeface="+mn-cs"/>
                          <a:hlinkClick r:id="rId12"/>
                        </a:rPr>
                        <a:t>Functional Solution Design Template</a:t>
                      </a:r>
                      <a:r>
                        <a:rPr lang="en-US" sz="800" kern="1200" noProof="0">
                          <a:solidFill>
                            <a:schemeClr val="tx1"/>
                          </a:solidFill>
                          <a:latin typeface="+mn-lt"/>
                          <a:ea typeface="+mn-ea"/>
                          <a:cs typeface="+mn-cs"/>
                        </a:rPr>
                        <a:t> (WRR)</a:t>
                      </a: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6999" rtl="0" eaLnBrk="1" fontAlgn="auto" latinLnBrk="0" hangingPunct="1">
                        <a:lnSpc>
                          <a:spcPct val="100000"/>
                        </a:lnSpc>
                        <a:spcBef>
                          <a:spcPts val="0"/>
                        </a:spcBef>
                        <a:spcAft>
                          <a:spcPts val="0"/>
                        </a:spcAft>
                        <a:buClrTx/>
                        <a:buSzTx/>
                        <a:buFontTx/>
                        <a:buNone/>
                        <a:tabLst/>
                        <a:defRPr/>
                      </a:pPr>
                      <a:r>
                        <a:rPr lang="en-US" sz="600" kern="1200" noProof="0">
                          <a:solidFill>
                            <a:schemeClr val="tx2"/>
                          </a:solidFill>
                          <a:latin typeface="+mn-lt"/>
                          <a:ea typeface="+mn-ea"/>
                          <a:cs typeface="+mn-cs"/>
                          <a:hlinkClick r:id="rId12"/>
                        </a:rPr>
                        <a:t>http://sharepoint.rabonet.com/sites/architecture/process/Templates/Agile%20Functional%20Solution%20Design%20Template.dotx</a:t>
                      </a:r>
                      <a:endParaRPr lang="en-US" sz="600" kern="1200" noProof="0">
                        <a:solidFill>
                          <a:schemeClr val="tx2"/>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76642">
                <a:tc>
                  <a:txBody>
                    <a:bodyPr/>
                    <a:lstStyle/>
                    <a:p>
                      <a:r>
                        <a:rPr lang="en-US" sz="800" kern="1200" noProof="0">
                          <a:solidFill>
                            <a:schemeClr val="tx1"/>
                          </a:solidFill>
                          <a:latin typeface="+mn-lt"/>
                          <a:ea typeface="+mn-ea"/>
                          <a:cs typeface="+mn-cs"/>
                          <a:hlinkClick r:id="rId13"/>
                        </a:rPr>
                        <a:t>AIC classification</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600" noProof="0">
                          <a:solidFill>
                            <a:schemeClr val="tx2"/>
                          </a:solidFill>
                        </a:rPr>
                        <a:t>https://raboweb.sharepoint.com/sites/Topic-FirstLineRiskSecurity/Standards/Forms/AllItems.aspx?RootFolder=%2fsites%2fTopic%2dFirstLineRiskSecurity%2fStandards%2f03%2e%20Departmental%20Procedures%2fFLR&amp;FolderCTID=0x012000FD2A25E9C374C9489F994247ED734413</a:t>
                      </a: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19337">
                <a:tc>
                  <a:txBody>
                    <a:bodyPr/>
                    <a:lstStyle/>
                    <a:p>
                      <a:r>
                        <a:rPr lang="en-US" sz="800" kern="1200" noProof="0">
                          <a:solidFill>
                            <a:schemeClr val="tx1"/>
                          </a:solidFill>
                          <a:latin typeface="+mn-lt"/>
                          <a:ea typeface="+mn-ea"/>
                          <a:cs typeface="+mn-cs"/>
                          <a:hlinkClick r:id="rId14"/>
                        </a:rPr>
                        <a:t>Availability Classes</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600" noProof="0">
                          <a:solidFill>
                            <a:schemeClr val="tx2"/>
                          </a:solidFill>
                        </a:rPr>
                        <a:t>https://raboweb.sharepoint.com/sites/organization-strategydataandarchitecture/Shared%20Documents/Enterprise%20Architecture/EA/Vijfpuntschaal%20voor%20infrastructurele%20beschikbaarheid.pdf</a:t>
                      </a:r>
                      <a:endParaRPr lang="en-US" sz="600" noProof="0">
                        <a:solidFill>
                          <a:schemeClr val="tx2"/>
                        </a:solidFill>
                        <a:latin typeface="+mn-lt"/>
                        <a:cs typeface="Arial" panose="020B0604020202020204"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47219">
                <a:tc>
                  <a:txBody>
                    <a:bodyPr/>
                    <a:lstStyle/>
                    <a:p>
                      <a:r>
                        <a:rPr lang="en-US" sz="800" kern="1200" noProof="0">
                          <a:solidFill>
                            <a:schemeClr val="tx1"/>
                          </a:solidFill>
                          <a:latin typeface="+mn-lt"/>
                          <a:ea typeface="+mn-ea"/>
                          <a:cs typeface="+mn-cs"/>
                          <a:hlinkClick r:id="rId15"/>
                        </a:rPr>
                        <a:t>Data Management Office</a:t>
                      </a:r>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600" noProof="0">
                          <a:solidFill>
                            <a:schemeClr val="tx2"/>
                          </a:solidFill>
                        </a:rPr>
                        <a:t>https://raboweb.sharepoint.com/sites/organization-strategydataandarchitecture/SitePages/Data-Management-Office-(DMO).aspx</a:t>
                      </a:r>
                      <a:endParaRPr lang="en-US" sz="600" noProof="0">
                        <a:solidFill>
                          <a:schemeClr val="tx2"/>
                        </a:solidFill>
                        <a:latin typeface="+mn-lt"/>
                        <a:cs typeface="Arial" panose="020B0604020202020204"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47219">
                <a:tc>
                  <a:txBody>
                    <a:bodyPr/>
                    <a:lstStyle/>
                    <a:p>
                      <a:endParaRPr lang="en-US" sz="800" kern="1200" noProof="0">
                        <a:solidFill>
                          <a:schemeClr val="tx1"/>
                        </a:solidFill>
                        <a:latin typeface="+mn-lt"/>
                        <a:ea typeface="+mn-ea"/>
                        <a:cs typeface="+mn-cs"/>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600" noProof="0">
                        <a:solidFill>
                          <a:schemeClr val="tx2"/>
                        </a:solidFill>
                        <a:latin typeface="+mn-lt"/>
                        <a:cs typeface="Arial" panose="020B0604020202020204" pitchFamily="34" charset="0"/>
                      </a:endParaRP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9614813"/>
                  </a:ext>
                </a:extLst>
              </a:tr>
              <a:tr h="198989">
                <a:tc>
                  <a:txBody>
                    <a:bodyPr/>
                    <a:lstStyle/>
                    <a:p>
                      <a:r>
                        <a:rPr lang="en-US" sz="800" kern="1200" noProof="0">
                          <a:solidFill>
                            <a:schemeClr val="tx1"/>
                          </a:solidFill>
                          <a:latin typeface="+mn-lt"/>
                          <a:ea typeface="+mn-ea"/>
                          <a:cs typeface="+mn-cs"/>
                          <a:hlinkClick r:id="rId16"/>
                        </a:rPr>
                        <a:t>Data Preparation Standards</a:t>
                      </a:r>
                      <a:r>
                        <a:rPr lang="en-US" sz="800" kern="1200" noProof="0">
                          <a:solidFill>
                            <a:schemeClr val="tx1"/>
                          </a:solidFill>
                          <a:latin typeface="+mn-lt"/>
                          <a:ea typeface="+mn-ea"/>
                          <a:cs typeface="+mn-cs"/>
                        </a:rPr>
                        <a:t> (Enterprise Data Programme)</a:t>
                      </a: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600" noProof="0">
                          <a:solidFill>
                            <a:schemeClr val="tx2"/>
                          </a:solidFill>
                          <a:latin typeface="+mn-lt"/>
                          <a:cs typeface="Arial" panose="020B0604020202020204" pitchFamily="34" charset="0"/>
                        </a:rPr>
                        <a:t>https://teams.microsoft.com/l/channel/19%3Aac2458ea5a434feba91281e82510b174%40thread.skype/tab%3A%3A5c9db01f-c855-4e7e-9027-627f40201b93?groupId=fa5f53e0-8101-4397-8b6a-687b2f382fa6&amp;tenantId=6e93a626-8aca-4dc1-9191-ce291b4b75a1</a:t>
                      </a: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183511"/>
                  </a:ext>
                </a:extLst>
              </a:tr>
              <a:tr h="147219">
                <a:tc>
                  <a:txBody>
                    <a:bodyPr/>
                    <a:lstStyle/>
                    <a:p>
                      <a:r>
                        <a:rPr lang="en-US" sz="800" kern="1200" noProof="0">
                          <a:solidFill>
                            <a:schemeClr val="tx1"/>
                          </a:solidFill>
                          <a:latin typeface="+mn-lt"/>
                          <a:ea typeface="+mn-ea"/>
                          <a:cs typeface="+mn-cs"/>
                          <a:hlinkClick r:id="rId17"/>
                        </a:rPr>
                        <a:t>EDL Onboarding Portal</a:t>
                      </a:r>
                      <a:r>
                        <a:rPr lang="en-US" sz="800" kern="1200" noProof="0">
                          <a:solidFill>
                            <a:schemeClr val="tx1"/>
                          </a:solidFill>
                          <a:latin typeface="+mn-lt"/>
                          <a:ea typeface="+mn-ea"/>
                          <a:cs typeface="+mn-cs"/>
                        </a:rPr>
                        <a:t> (Enterprise Data Programme)</a:t>
                      </a: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600" noProof="0">
                          <a:solidFill>
                            <a:schemeClr val="tx2"/>
                          </a:solidFill>
                          <a:latin typeface="+mn-lt"/>
                          <a:cs typeface="Arial" panose="020B0604020202020204" pitchFamily="34" charset="0"/>
                        </a:rPr>
                        <a:t>https://raboweb.sharepoint.com/teams/EDLOnboardingTeam/SitePages/Architecture.aspx</a:t>
                      </a:r>
                    </a:p>
                  </a:txBody>
                  <a:tcPr marL="90739" marR="90739" marT="25718" marB="25718">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1852355"/>
                  </a:ext>
                </a:extLst>
              </a:tr>
            </a:tbl>
          </a:graphicData>
        </a:graphic>
      </p:graphicFrame>
    </p:spTree>
    <p:extLst>
      <p:ext uri="{BB962C8B-B14F-4D97-AF65-F5344CB8AC3E}">
        <p14:creationId xmlns:p14="http://schemas.microsoft.com/office/powerpoint/2010/main" val="202606799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9084321721765c1e78434b475a698ad93964e1a"/>
  <p:tag name="ISPRING_RESOURCE_PATHS_HASH_2" val="c3f317ba7b5e1a6a7f1f4f2869da9f284492f95"/>
</p:tagLst>
</file>

<file path=ppt/theme/theme1.xml><?xml version="1.0" encoding="utf-8"?>
<a:theme xmlns:a="http://schemas.openxmlformats.org/drawingml/2006/main" name="Rabo PPT UK template 2_7 16x9">
  <a:themeElements>
    <a:clrScheme name="Rabo 2">
      <a:dk1>
        <a:sysClr val="windowText" lastClr="000000"/>
      </a:dk1>
      <a:lt1>
        <a:sysClr val="window" lastClr="FFFFFF"/>
      </a:lt1>
      <a:dk2>
        <a:srgbClr val="000099"/>
      </a:dk2>
      <a:lt2>
        <a:srgbClr val="EAEAEA"/>
      </a:lt2>
      <a:accent1>
        <a:srgbClr val="000099"/>
      </a:accent1>
      <a:accent2>
        <a:srgbClr val="FD6400"/>
      </a:accent2>
      <a:accent3>
        <a:srgbClr val="90D1E3"/>
      </a:accent3>
      <a:accent4>
        <a:srgbClr val="AB9D70"/>
      </a:accent4>
      <a:accent5>
        <a:srgbClr val="133359"/>
      </a:accent5>
      <a:accent6>
        <a:srgbClr val="80BA27"/>
      </a:accent6>
      <a:hlink>
        <a:srgbClr val="C8009C"/>
      </a:hlink>
      <a:folHlink>
        <a:srgbClr val="5E6A71"/>
      </a:folHlink>
    </a:clrScheme>
    <a:fontScheme name="Rabobank">
      <a:majorFont>
        <a:latin typeface="Corbel"/>
        <a:ea typeface=""/>
        <a:cs typeface=""/>
      </a:majorFont>
      <a:minorFont>
        <a:latin typeface="Corbel"/>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AEAEA"/>
        </a:solidFill>
        <a:ln w="12700" cap="rnd" cmpd="sng" algn="ctr">
          <a:solidFill>
            <a:srgbClr val="EAEAEA"/>
          </a:solidFill>
          <a:prstDash val="solid"/>
        </a:ln>
        <a:effectLst/>
      </a:spPr>
      <a:bodyPr rtlCol="0" anchor="ctr"/>
      <a:lstStyle>
        <a:defPPr algn="ctr">
          <a:defRPr smtClean="0">
            <a:solidFill>
              <a:srgbClr val="5E6A71"/>
            </a:solidFill>
          </a:defRPr>
        </a:defPPr>
      </a:lstStyle>
    </a:spDef>
    <a:lnDef>
      <a:spPr>
        <a:ln w="12700" cap="rnd">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ln w="12700">
          <a:noFill/>
        </a:ln>
      </a:spPr>
      <a:bodyPr wrap="square" lIns="0" rIns="0" rtlCol="0" anchor="t" anchorCtr="0">
        <a:spAutoFit/>
      </a:bodyPr>
      <a:lstStyle>
        <a:defPPr algn="ctr">
          <a:defRPr dirty="0" smtClean="0">
            <a:solidFill>
              <a:srgbClr val="5E6A71"/>
            </a:solidFill>
          </a:defRPr>
        </a:defPPr>
      </a:lstStyle>
    </a:txDef>
  </a:objectDefaults>
  <a:extraClrSchemeLst/>
  <a:custClrLst>
    <a:custClr name="Pioenroze">
      <a:srgbClr val="C8009C"/>
    </a:custClr>
    <a:custClr name="Granietgrijs">
      <a:srgbClr val="5E6A71"/>
    </a:custClr>
    <a:custClr name="Lippenstiftrood">
      <a:srgbClr val="D6083B"/>
    </a:custClr>
    <a:custClr name="Lichtgrijs">
      <a:srgbClr val="DCDDDE"/>
    </a:custClr>
  </a:custClrLst>
  <a:extLst>
    <a:ext uri="{05A4C25C-085E-4340-85A3-A5531E510DB2}">
      <thm15:themeFamily xmlns:thm15="http://schemas.microsoft.com/office/thememl/2012/main" name="Rabo PPT UK template 2_7 16x9.potx" id="{671DA4D5-0220-407E-B05F-E7BB291DF89A}" vid="{ED8930CF-5092-4711-BA35-2B9359ABB140}"/>
    </a:ext>
  </a:extLst>
</a:theme>
</file>

<file path=ppt/theme/theme2.xml><?xml version="1.0" encoding="utf-8"?>
<a:theme xmlns:a="http://schemas.openxmlformats.org/drawingml/2006/main" name="Rabo PPT UK Present 16:9">
  <a:themeElements>
    <a:clrScheme name="Rabo 2">
      <a:dk1>
        <a:sysClr val="windowText" lastClr="000000"/>
      </a:dk1>
      <a:lt1>
        <a:sysClr val="window" lastClr="FFFFFF"/>
      </a:lt1>
      <a:dk2>
        <a:srgbClr val="000099"/>
      </a:dk2>
      <a:lt2>
        <a:srgbClr val="EAEAEA"/>
      </a:lt2>
      <a:accent1>
        <a:srgbClr val="000099"/>
      </a:accent1>
      <a:accent2>
        <a:srgbClr val="FD6400"/>
      </a:accent2>
      <a:accent3>
        <a:srgbClr val="90D1E3"/>
      </a:accent3>
      <a:accent4>
        <a:srgbClr val="AB9D70"/>
      </a:accent4>
      <a:accent5>
        <a:srgbClr val="133359"/>
      </a:accent5>
      <a:accent6>
        <a:srgbClr val="80BA27"/>
      </a:accent6>
      <a:hlink>
        <a:srgbClr val="C8009C"/>
      </a:hlink>
      <a:folHlink>
        <a:srgbClr val="5E6A71"/>
      </a:folHlink>
    </a:clrScheme>
    <a:fontScheme name="Rabobank">
      <a:majorFont>
        <a:latin typeface="Myriad for Rabobank Bd It"/>
        <a:ea typeface=""/>
        <a:cs typeface=""/>
      </a:majorFont>
      <a:minorFont>
        <a:latin typeface="Myriad for Rabobank Lt"/>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AEAEA"/>
        </a:solidFill>
        <a:ln w="12700" cap="rnd" cmpd="sng" algn="ctr">
          <a:solidFill>
            <a:srgbClr val="EAEAEA"/>
          </a:solidFill>
          <a:prstDash val="solid"/>
        </a:ln>
        <a:effectLst/>
      </a:spPr>
      <a:bodyPr rtlCol="0" anchor="ctr"/>
      <a:lstStyle>
        <a:defPPr algn="ctr">
          <a:defRPr smtClean="0">
            <a:solidFill>
              <a:srgbClr val="5E6A71"/>
            </a:solidFill>
          </a:defRPr>
        </a:defPPr>
      </a:lstStyle>
    </a:spDef>
    <a:lnDef>
      <a:spPr>
        <a:ln w="12700" cap="rnd">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ln w="12700">
          <a:solidFill>
            <a:schemeClr val="accent1"/>
          </a:solidFill>
        </a:ln>
      </a:spPr>
      <a:bodyPr wrap="square" lIns="0" rIns="0" rtlCol="0" anchor="t" anchorCtr="0">
        <a:spAutoFit/>
      </a:bodyPr>
      <a:lstStyle>
        <a:defPPr algn="ctr">
          <a:defRPr smtClean="0">
            <a:solidFill>
              <a:srgbClr val="5E6A71"/>
            </a:solidFill>
          </a:defRPr>
        </a:defPPr>
      </a:lstStyle>
    </a:txDef>
  </a:objectDefaults>
  <a:extraClrSchemeLst/>
  <a:custClrLst>
    <a:custClr name="Pioenroze">
      <a:srgbClr val="C8009C"/>
    </a:custClr>
    <a:custClr name="Granietgrijs">
      <a:srgbClr val="5E6A71"/>
    </a:custClr>
    <a:custClr name="Lippenstiftrood">
      <a:srgbClr val="D6083B"/>
    </a:custClr>
    <a:custClr name="Lichtgrijs">
      <a:srgbClr val="DCDDDE"/>
    </a:custClr>
  </a:custClrLst>
  <a:extLst>
    <a:ext uri="{05A4C25C-085E-4340-85A3-A5531E510DB2}">
      <thm15:themeFamily xmlns:thm15="http://schemas.microsoft.com/office/thememl/2012/main" name="Rabo PPT INT Present 16x9 (SBd fix) (Arial)" id="{12B48053-2311-504D-BC08-BECAABD55194}" vid="{63778C30-812D-3B48-A2E0-08623C3D07DE}"/>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Rabo 2">
    <a:dk1>
      <a:sysClr val="windowText" lastClr="000000"/>
    </a:dk1>
    <a:lt1>
      <a:sysClr val="window" lastClr="FFFFFF"/>
    </a:lt1>
    <a:dk2>
      <a:srgbClr val="000099"/>
    </a:dk2>
    <a:lt2>
      <a:srgbClr val="EAEAEA"/>
    </a:lt2>
    <a:accent1>
      <a:srgbClr val="000099"/>
    </a:accent1>
    <a:accent2>
      <a:srgbClr val="FD6400"/>
    </a:accent2>
    <a:accent3>
      <a:srgbClr val="90D1E3"/>
    </a:accent3>
    <a:accent4>
      <a:srgbClr val="AB9D70"/>
    </a:accent4>
    <a:accent5>
      <a:srgbClr val="133359"/>
    </a:accent5>
    <a:accent6>
      <a:srgbClr val="80BA27"/>
    </a:accent6>
    <a:hlink>
      <a:srgbClr val="C8009C"/>
    </a:hlink>
    <a:folHlink>
      <a:srgbClr val="5E6A7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SlideTemplateConfiguration><![CDATA[{"documentContentValidatorConfiguration":{"enableDocumentContentValidator":false,"documentContentValidatorVersion":0},"elementsMetadata":[],"slideId":"637710268576689453","enableDocumentContentUpdater":false,"version":"1.10"}]]></TemplafySlideTemplate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SlideFormConfiguration><![CDATA[{"formFields":[],"formDataEntries":[]}]]></TemplafySlideForm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51CA5091030A0D4795D98FEFB48C256F" ma:contentTypeVersion="19" ma:contentTypeDescription="Een nieuw document maken." ma:contentTypeScope="" ma:versionID="6d2b1573ab7bb3fb7600312b3d657dc6">
  <xsd:schema xmlns:xsd="http://www.w3.org/2001/XMLSchema" xmlns:xs="http://www.w3.org/2001/XMLSchema" xmlns:p="http://schemas.microsoft.com/office/2006/metadata/properties" xmlns:ns1="http://schemas.microsoft.com/sharepoint/v3" xmlns:ns2="9cb0d697-c14a-4958-8a99-e1a44a89fd54" xmlns:ns3="7c2db242-12d6-462d-8281-e3a8bfe5593a" targetNamespace="http://schemas.microsoft.com/office/2006/metadata/properties" ma:root="true" ma:fieldsID="f44ee16f02cc58ae9e6c9c51d1e4795e" ns1:_="" ns2:_="" ns3:_="">
    <xsd:import namespace="http://schemas.microsoft.com/sharepoint/v3"/>
    <xsd:import namespace="9cb0d697-c14a-4958-8a99-e1a44a89fd54"/>
    <xsd:import namespace="7c2db242-12d6-462d-8281-e3a8bfe5593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Eigenschappen van het geïntegreerd beleid voor naleving" ma:hidden="true" ma:internalName="_ip_UnifiedCompliancePolicyProperties">
      <xsd:simpleType>
        <xsd:restriction base="dms:Note"/>
      </xsd:simpleType>
    </xsd:element>
    <xsd:element name="_ip_UnifiedCompliancePolicyUIAction" ma:index="24"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b0d697-c14a-4958-8a99-e1a44a89fd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303c4af3-d430-4f28-9747-46973365dcb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2db242-12d6-462d-8281-e3a8bfe5593a"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4fe1d258-5f2c-470c-9df0-564f1385ddc6}" ma:internalName="TaxCatchAll" ma:showField="CatchAllData" ma:web="7c2db242-12d6-462d-8281-e3a8bfe5593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9cb0d697-c14a-4958-8a99-e1a44a89fd54">
      <Terms xmlns="http://schemas.microsoft.com/office/infopath/2007/PartnerControls"/>
    </lcf76f155ced4ddcb4097134ff3c332f>
    <TaxCatchAll xmlns="7c2db242-12d6-462d-8281-e3a8bfe5593a" xsi:nil="true"/>
    <SharedWithUsers xmlns="7c2db242-12d6-462d-8281-e3a8bfe5593a">
      <UserInfo>
        <DisplayName>SharingLinks.6fb39f39-42fc-4378-9eee-004ccee513ad.Flexible.cbacf0e3-667f-4e70-9924-34d7868eb5fd</DisplayName>
        <AccountId>133</AccountId>
        <AccountType/>
      </UserInfo>
      <UserInfo>
        <DisplayName>SharingLinks.57f325d5-3413-4c7d-b021-1e28f5537d20.Flexible.33b3fad1-b4d3-42d8-8341-6f8d68a53715</DisplayName>
        <AccountId>147</AccountId>
        <AccountType/>
      </UserInfo>
      <UserInfo>
        <DisplayName>Coopmans, HPW (Harry)</DisplayName>
        <AccountId>48</AccountId>
        <AccountType/>
      </UserInfo>
      <UserInfo>
        <DisplayName>Gollapalli, GK (Gnana Karthik)</DisplayName>
        <AccountId>111</AccountId>
        <AccountType/>
      </UserInfo>
      <UserInfo>
        <DisplayName>SharingLinks.1542befb-7e94-40e4-8f24-001372c719a4.Flexible.922a1aa7-0040-449b-b4c9-af313c720ce5</DisplayName>
        <AccountId>201</AccountId>
        <AccountType/>
      </UserInfo>
      <UserInfo>
        <DisplayName>SharingLinks.ccd6de11-f910-4a62-8658-3aefcbfac9ae.Flexible.609eed63-7b6b-4fdf-8688-2cf8dfa7f169</DisplayName>
        <AccountId>174</AccountId>
        <AccountType/>
      </UserInfo>
      <UserInfo>
        <DisplayName>SharingLinks.9ee6d26d-476d-4c09-80d2-fc94a45d6622.Flexible.11ca42e4-8f84-4916-9823-5d6f67428075</DisplayName>
        <AccountId>207</AccountId>
        <AccountType/>
      </UserInfo>
      <UserInfo>
        <DisplayName>Kumar, P (Prabhat)</DisplayName>
        <AccountId>13</AccountId>
        <AccountType/>
      </UserInfo>
      <UserInfo>
        <DisplayName>Wijngaards, M (Marit)</DisplayName>
        <AccountId>117</AccountId>
        <AccountType/>
      </UserInfo>
      <UserInfo>
        <DisplayName>Barbero, MA (María)</DisplayName>
        <AccountId>262</AccountId>
        <AccountType/>
      </UserInfo>
      <UserInfo>
        <DisplayName>Hop, M (Maarten)</DisplayName>
        <AccountId>261</AccountId>
        <AccountType/>
      </UserInfo>
      <UserInfo>
        <DisplayName>Dronkelaar van, C (Chris)</DisplayName>
        <AccountId>263</AccountId>
        <AccountType/>
      </UserInfo>
      <UserInfo>
        <DisplayName>Ahmed, SH (Hamza)</DisplayName>
        <AccountId>264</AccountId>
        <AccountType/>
      </UserInfo>
      <UserInfo>
        <DisplayName>Sikala, Á (Ákos)</DisplayName>
        <AccountId>265</AccountId>
        <AccountType/>
      </UserInfo>
      <UserInfo>
        <DisplayName>Verkooijen, WJH (William)</DisplayName>
        <AccountId>19</AccountId>
        <AccountType/>
      </UserInfo>
      <UserInfo>
        <DisplayName>Faro, MLD (Mariënne)</DisplayName>
        <AccountId>67</AccountId>
        <AccountType/>
      </UserInfo>
      <UserInfo>
        <DisplayName>Klijn, MJC (Marja)</DisplayName>
        <AccountId>342</AccountId>
        <AccountType/>
      </UserInfo>
      <UserInfo>
        <DisplayName>Klein, BP (Barrie)</DisplayName>
        <AccountId>53</AccountId>
        <AccountType/>
      </UserInfo>
      <UserInfo>
        <DisplayName>Tošić, M (Miloš)</DisplayName>
        <AccountId>372</AccountId>
        <AccountType/>
      </UserInfo>
    </SharedWithUsers>
  </documentManagement>
</p:properties>
</file>

<file path=customXml/itemProps1.xml><?xml version="1.0" encoding="utf-8"?>
<ds:datastoreItem xmlns:ds="http://schemas.openxmlformats.org/officeDocument/2006/customXml" ds:itemID="{F4685CB6-7365-4861-96E6-B7B11977E2D0}">
  <ds:schemaRefs/>
</ds:datastoreItem>
</file>

<file path=customXml/itemProps2.xml><?xml version="1.0" encoding="utf-8"?>
<ds:datastoreItem xmlns:ds="http://schemas.openxmlformats.org/officeDocument/2006/customXml" ds:itemID="{E80580E5-E3B2-4B91-9D03-50F169340A8E}">
  <ds:schemaRefs>
    <ds:schemaRef ds:uri="http://schemas.microsoft.com/sharepoint/v3/contenttype/forms"/>
  </ds:schemaRefs>
</ds:datastoreItem>
</file>

<file path=customXml/itemProps3.xml><?xml version="1.0" encoding="utf-8"?>
<ds:datastoreItem xmlns:ds="http://schemas.openxmlformats.org/officeDocument/2006/customXml" ds:itemID="{5F23A191-DDAC-42EA-9C3A-56F44F866B5B}">
  <ds:schemaRefs/>
</ds:datastoreItem>
</file>

<file path=customXml/itemProps4.xml><?xml version="1.0" encoding="utf-8"?>
<ds:datastoreItem xmlns:ds="http://schemas.openxmlformats.org/officeDocument/2006/customXml" ds:itemID="{471C0DC7-9351-4160-86E1-4E75DC4504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cb0d697-c14a-4958-8a99-e1a44a89fd54"/>
    <ds:schemaRef ds:uri="7c2db242-12d6-462d-8281-e3a8bfe559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46B7B8A7-2A9B-40E0-A741-C34761882A8E}">
  <ds:schemaRefs/>
</ds:datastoreItem>
</file>

<file path=customXml/itemProps6.xml><?xml version="1.0" encoding="utf-8"?>
<ds:datastoreItem xmlns:ds="http://schemas.openxmlformats.org/officeDocument/2006/customXml" ds:itemID="{408CF594-BBF9-4C67-A050-F65D655D8EBD}">
  <ds:schemaRefs/>
</ds:datastoreItem>
</file>

<file path=customXml/itemProps7.xml><?xml version="1.0" encoding="utf-8"?>
<ds:datastoreItem xmlns:ds="http://schemas.openxmlformats.org/officeDocument/2006/customXml" ds:itemID="{11C6750A-E4A6-421C-A15F-DB740FB9F89E}">
  <ds:schemaRefs>
    <ds:schemaRef ds:uri="http://schemas.microsoft.com/office/2006/metadata/properties"/>
    <ds:schemaRef ds:uri="http://schemas.microsoft.com/sharepoint/v3"/>
    <ds:schemaRef ds:uri="7c2db242-12d6-462d-8281-e3a8bfe5593a"/>
    <ds:schemaRef ds:uri="http://schemas.microsoft.com/office/2006/documentManagement/types"/>
    <ds:schemaRef ds:uri="http://purl.org/dc/dcmitype/"/>
    <ds:schemaRef ds:uri="9cb0d697-c14a-4958-8a99-e1a44a89fd54"/>
    <ds:schemaRef ds:uri="http://schemas.microsoft.com/office/infopath/2007/PartnerControls"/>
    <ds:schemaRef ds:uri="http://purl.org/dc/elements/1.1/"/>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23014</Words>
  <Application>Microsoft Office PowerPoint</Application>
  <PresentationFormat>On-screen Show (16:9)</PresentationFormat>
  <Paragraphs>2460</Paragraphs>
  <Slides>77</Slides>
  <Notes>65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77</vt:i4>
      </vt:variant>
    </vt:vector>
  </HeadingPairs>
  <TitlesOfParts>
    <vt:vector size="94" baseType="lpstr">
      <vt:lpstr>Arial</vt:lpstr>
      <vt:lpstr>Calibri</vt:lpstr>
      <vt:lpstr>Cambria Math</vt:lpstr>
      <vt:lpstr>Corbel</vt:lpstr>
      <vt:lpstr>Lucida Grande</vt:lpstr>
      <vt:lpstr>Myriad for Rabobank</vt:lpstr>
      <vt:lpstr>Myriad for Rabobank Bd It</vt:lpstr>
      <vt:lpstr>Myriad for Rabobank It</vt:lpstr>
      <vt:lpstr>Myriad for Rabobank Lt</vt:lpstr>
      <vt:lpstr>Myriad for Rabobank SBd</vt:lpstr>
      <vt:lpstr>Myriad Pro</vt:lpstr>
      <vt:lpstr>Myriad Pro Light</vt:lpstr>
      <vt:lpstr>Times</vt:lpstr>
      <vt:lpstr>Times New Roman</vt:lpstr>
      <vt:lpstr>Wingdings</vt:lpstr>
      <vt:lpstr>Rabo PPT UK template 2_7 16x9</vt:lpstr>
      <vt:lpstr>Rabo PPT UK Present 16:9</vt:lpstr>
      <vt:lpstr>PowerPoint Presentation</vt:lpstr>
      <vt:lpstr>Reading Guide</vt:lpstr>
      <vt:lpstr>1.1 Introduction (1/2)</vt:lpstr>
      <vt:lpstr>1.2 Model calculation becoming more interdependent</vt:lpstr>
      <vt:lpstr>1.1 Introduction (2/2)</vt:lpstr>
      <vt:lpstr>1.3 What Principles to adhere?</vt:lpstr>
      <vt:lpstr>1.6 Scope</vt:lpstr>
      <vt:lpstr>1.7 Overview of nBIF PSA and related PSA’s</vt:lpstr>
      <vt:lpstr>1.8 Functional Domain impact</vt:lpstr>
      <vt:lpstr>1.7 nBIF Indicative plateaus</vt:lpstr>
      <vt:lpstr>1.11 Open issues</vt:lpstr>
      <vt:lpstr>1.12 Architecture deviations </vt:lpstr>
      <vt:lpstr>Business Architecture</vt:lpstr>
      <vt:lpstr>2.1 Positioning of nBIF  in “Enterprise Data Architecture”</vt:lpstr>
      <vt:lpstr>2.2 High level business requirements</vt:lpstr>
      <vt:lpstr>2.3 nBIF Business Architecture</vt:lpstr>
      <vt:lpstr>2.4 Business viewpoint for Parallel development requirements</vt:lpstr>
      <vt:lpstr>2.5 Business viewpoint for ad-hoc production runs</vt:lpstr>
      <vt:lpstr>2.6 High level business requirements for Ad-Hoc runs</vt:lpstr>
      <vt:lpstr>Process Architecture</vt:lpstr>
      <vt:lpstr>3.1 n-Bridge Monthly run - Target Business process view</vt:lpstr>
      <vt:lpstr>3.2 n-Bridge Monthly run - Tactical Business process view </vt:lpstr>
      <vt:lpstr>3.2 n-Bridge Monthly run - Tactical Business process view </vt:lpstr>
      <vt:lpstr>3.2 n-Bridge Ad-Hoc run – Indicative Target Business process view </vt:lpstr>
      <vt:lpstr>3.2 Special points and/or impact on data/secondary processes</vt:lpstr>
      <vt:lpstr>Information Architecture</vt:lpstr>
      <vt:lpstr>4.1 Data architecture (1/3)</vt:lpstr>
      <vt:lpstr>4.1 Data architecture (2/3)</vt:lpstr>
      <vt:lpstr>4.1 Data architecture (3/3)</vt:lpstr>
      <vt:lpstr>4.2 Information Architecture decisions</vt:lpstr>
      <vt:lpstr>4.2.1 Information Architecture decisions</vt:lpstr>
      <vt:lpstr>4.2.2 Information Architecture decisions</vt:lpstr>
      <vt:lpstr>4.2.3 Information Architecture decisions</vt:lpstr>
      <vt:lpstr>4.2.4 Information Architecture decisions</vt:lpstr>
      <vt:lpstr>4.2.5 Information Architecture decisions</vt:lpstr>
      <vt:lpstr>4.2.6 Information Architecture decisions</vt:lpstr>
      <vt:lpstr>4.2.7 Information Architecture decisions</vt:lpstr>
      <vt:lpstr>4.2.8 Information Architecture decisions</vt:lpstr>
      <vt:lpstr>4.2.9 Information Architecture decisions</vt:lpstr>
      <vt:lpstr>4.2.10 Information Architecture decisions</vt:lpstr>
      <vt:lpstr>4.2.11 Information Architecture decisions</vt:lpstr>
      <vt:lpstr>4.2.12 Information Architecture decisions</vt:lpstr>
      <vt:lpstr>4.2.13 Information Architecture decisions</vt:lpstr>
      <vt:lpstr>4.2.14 Information Architecture decisions</vt:lpstr>
      <vt:lpstr>Application Architecture</vt:lpstr>
      <vt:lpstr>5.1 Application Architecture decisions</vt:lpstr>
      <vt:lpstr>5.1.1 Application Architecture decisions</vt:lpstr>
      <vt:lpstr>5.1.2 Application Architecture decisions</vt:lpstr>
      <vt:lpstr>5.1.3 Application Architecture decisions</vt:lpstr>
      <vt:lpstr>5.1.4 Application Architecture decisions</vt:lpstr>
      <vt:lpstr>5.2 nBIF Application components 1/2</vt:lpstr>
      <vt:lpstr>5.2 nBIF Application components 2/2</vt:lpstr>
      <vt:lpstr>5.3 Key data Management principles for nBIF</vt:lpstr>
      <vt:lpstr>5.4 nBIF collaboration view</vt:lpstr>
      <vt:lpstr>5.5 nBIF Inbound Data Flow-Deep dive</vt:lpstr>
      <vt:lpstr>5.6 nBIF Outbound Data Flow-Deep dive</vt:lpstr>
      <vt:lpstr>5.7 Plausibility support on nBIF </vt:lpstr>
      <vt:lpstr>5.8 nBIF  Target Application Architecture 1/2</vt:lpstr>
      <vt:lpstr>5.8 Data flow numbers declared 2/2 </vt:lpstr>
      <vt:lpstr>5.8 Generic Target Application Architecture UT5/UT6</vt:lpstr>
      <vt:lpstr>5.8 Generic Application Architecture UT9</vt:lpstr>
      <vt:lpstr>Infrastructure</vt:lpstr>
      <vt:lpstr>6.1 Cloud principles</vt:lpstr>
      <vt:lpstr>6.2 Technology choices</vt:lpstr>
      <vt:lpstr>Migration</vt:lpstr>
      <vt:lpstr>PowerPoint Presentation</vt:lpstr>
      <vt:lpstr>Risk</vt:lpstr>
      <vt:lpstr>8.1 Security</vt:lpstr>
      <vt:lpstr>8.1 Security</vt:lpstr>
      <vt:lpstr>Impact on Operations</vt:lpstr>
      <vt:lpstr>9.1 Impact on IT Operations</vt:lpstr>
      <vt:lpstr>9.2 Impact on IT Operations</vt:lpstr>
      <vt:lpstr>Document Control</vt:lpstr>
      <vt:lpstr>10.1 Version history</vt:lpstr>
      <vt:lpstr>10.2 Change reference and sign-off</vt:lpstr>
      <vt:lpstr>10.2 Change reference and sign-off</vt:lpstr>
      <vt:lpstr>General references</vt:lpstr>
    </vt:vector>
  </TitlesOfParts>
  <Manager/>
  <Company>Rabobank</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NBridge Information Factory PSA</dc:title>
  <dc:subject>nBridge Information Factory</dc:subject>
  <dc:creator>Prabhat.Kumar@rabobank.nl</dc:creator>
  <cp:keywords>nbif</cp:keywords>
  <dc:description/>
  <cp:lastModifiedBy>Shukla, A (Abhitanshu)</cp:lastModifiedBy>
  <cp:revision>2</cp:revision>
  <cp:lastPrinted>2013-10-14T08:39:00Z</cp:lastPrinted>
  <dcterms:created xsi:type="dcterms:W3CDTF">2017-03-30T11:49:51Z</dcterms:created>
  <dcterms:modified xsi:type="dcterms:W3CDTF">2026-07-27T13:32:33Z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mbMenu2">
    <vt:lpwstr>Eerste hoofdstuk</vt:lpwstr>
  </property>
  <property fmtid="{D5CDD505-2E9C-101B-9397-08002B2CF9AE}" pid="3" name="cmbMenu3">
    <vt:lpwstr>Tweede hoofdstuk</vt:lpwstr>
  </property>
  <property fmtid="{D5CDD505-2E9C-101B-9397-08002B2CF9AE}" pid="4" name="cmbMenu4">
    <vt:lpwstr>Derde hoofdstuk</vt:lpwstr>
  </property>
  <property fmtid="{D5CDD505-2E9C-101B-9397-08002B2CF9AE}" pid="5" name="cmbMenu5">
    <vt:lpwstr>Vierde hoofdstuk</vt:lpwstr>
  </property>
  <property fmtid="{D5CDD505-2E9C-101B-9397-08002B2CF9AE}" pid="6" name="cmbMenu6">
    <vt:lpwstr>Vijfde hoofdstuk</vt:lpwstr>
  </property>
  <property fmtid="{D5CDD505-2E9C-101B-9397-08002B2CF9AE}" pid="7" name="cmbMenu7">
    <vt:lpwstr>Samenvatting</vt:lpwstr>
  </property>
  <property fmtid="{D5CDD505-2E9C-101B-9397-08002B2CF9AE}" pid="8" name="txtPag1">
    <vt:lpwstr>12</vt:lpwstr>
  </property>
  <property fmtid="{D5CDD505-2E9C-101B-9397-08002B2CF9AE}" pid="9" name="txtPag2">
    <vt:lpwstr>13</vt:lpwstr>
  </property>
  <property fmtid="{D5CDD505-2E9C-101B-9397-08002B2CF9AE}" pid="10" name="txtPag3">
    <vt:lpwstr>14</vt:lpwstr>
  </property>
  <property fmtid="{D5CDD505-2E9C-101B-9397-08002B2CF9AE}" pid="11" name="txtPag4">
    <vt:lpwstr>15</vt:lpwstr>
  </property>
  <property fmtid="{D5CDD505-2E9C-101B-9397-08002B2CF9AE}" pid="12" name="txtPag6">
    <vt:lpwstr>17</vt:lpwstr>
  </property>
  <property fmtid="{D5CDD505-2E9C-101B-9397-08002B2CF9AE}" pid="13" name="txtPag7">
    <vt:lpwstr>18</vt:lpwstr>
  </property>
  <property fmtid="{D5CDD505-2E9C-101B-9397-08002B2CF9AE}" pid="14" name="txtPag8">
    <vt:lpwstr>19</vt:lpwstr>
  </property>
  <property fmtid="{D5CDD505-2E9C-101B-9397-08002B2CF9AE}" pid="15" name="imgIcoon2">
    <vt:lpwstr>P:\PPTdesign\0pdrachtgevers\Rabobank Nederland\De PPT Templates\Iconen\Icon1.bmp</vt:lpwstr>
  </property>
  <property fmtid="{D5CDD505-2E9C-101B-9397-08002B2CF9AE}" pid="16" name="imgIcoon3">
    <vt:lpwstr>P:\PPTdesign\0pdrachtgevers\Rabobank Nederland\De PPT Templates\Iconen\Icon2.bmp</vt:lpwstr>
  </property>
  <property fmtid="{D5CDD505-2E9C-101B-9397-08002B2CF9AE}" pid="17" name="imgIcoon4">
    <vt:lpwstr>P:\PPTdesign\0pdrachtgevers\Rabobank Nederland\De PPT Templates\Iconen\Icon3.bmp</vt:lpwstr>
  </property>
  <property fmtid="{D5CDD505-2E9C-101B-9397-08002B2CF9AE}" pid="18" name="imgIcoon5">
    <vt:lpwstr>P:\PPTdesign\0pdrachtgevers\Rabobank Nederland\De PPT Templates\Iconen\Icon4.bmp</vt:lpwstr>
  </property>
  <property fmtid="{D5CDD505-2E9C-101B-9397-08002B2CF9AE}" pid="19" name="imgIcoon6">
    <vt:lpwstr>P:\PPTdesign\0pdrachtgevers\Rabobank Nederland\De PPT Templates\Iconen\Icon5.bmp</vt:lpwstr>
  </property>
  <property fmtid="{D5CDD505-2E9C-101B-9397-08002B2CF9AE}" pid="20" name="imgIcoon7">
    <vt:lpwstr>P:\PPTdesign\0pdrachtgevers\Rabobank Nederland\De PPT Templates\Iconen\Icon29.bmp</vt:lpwstr>
  </property>
  <property fmtid="{D5CDD505-2E9C-101B-9397-08002B2CF9AE}" pid="21" name="imgIcoon8">
    <vt:lpwstr>P:\PPTdesign\0pdrachtgevers\Rabobank Nederland\De PPT Templates\Iconen\Icon15.bmp</vt:lpwstr>
  </property>
  <property fmtid="{D5CDD505-2E9C-101B-9397-08002B2CF9AE}" pid="22" name="txtPag5">
    <vt:lpwstr>16</vt:lpwstr>
  </property>
  <property fmtid="{D5CDD505-2E9C-101B-9397-08002B2CF9AE}" pid="23" name="imgIcoon9">
    <vt:lpwstr>P:\PPTdesign\0pdrachtgevers\Rabobank Nederland\De PPT Templates\Iconen\Icon12.bmp</vt:lpwstr>
  </property>
  <property fmtid="{D5CDD505-2E9C-101B-9397-08002B2CF9AE}" pid="24" name="txtPag9">
    <vt:lpwstr>20</vt:lpwstr>
  </property>
  <property fmtid="{D5CDD505-2E9C-101B-9397-08002B2CF9AE}" pid="25" name="cmbMenu8">
    <vt:lpwstr>Afsluiting</vt:lpwstr>
  </property>
  <property fmtid="{D5CDD505-2E9C-101B-9397-08002B2CF9AE}" pid="26" name="cmbMenu1">
    <vt:lpwstr>Inleiding</vt:lpwstr>
  </property>
  <property fmtid="{D5CDD505-2E9C-101B-9397-08002B2CF9AE}" pid="27" name="imgIcoon1">
    <vt:lpwstr>P:\PPTdesign\0pdrachtgevers\Rabobank Nederland\De PPT Templates\Iconen\Icon30.bmp</vt:lpwstr>
  </property>
  <property fmtid="{D5CDD505-2E9C-101B-9397-08002B2CF9AE}" pid="28" name="cmbMenu9">
    <vt:lpwstr>Test</vt:lpwstr>
  </property>
  <property fmtid="{D5CDD505-2E9C-101B-9397-08002B2CF9AE}" pid="29" name="nieuw">
    <vt:lpwstr>nee</vt:lpwstr>
  </property>
  <property fmtid="{D5CDD505-2E9C-101B-9397-08002B2CF9AE}" pid="30" name="ContentTypeId">
    <vt:lpwstr>0x01010051CA5091030A0D4795D98FEFB48C256F</vt:lpwstr>
  </property>
  <property fmtid="{D5CDD505-2E9C-101B-9397-08002B2CF9AE}" pid="31" name="_dlc_DocIdItemGuid">
    <vt:lpwstr>76bf39d8-edea-4bdd-a736-629fdc1d9f86</vt:lpwstr>
  </property>
  <property fmtid="{D5CDD505-2E9C-101B-9397-08002B2CF9AE}" pid="32" name="MediaServiceImageTags">
    <vt:lpwstr/>
  </property>
  <property fmtid="{D5CDD505-2E9C-101B-9397-08002B2CF9AE}" pid="33" name="Status">
    <vt:lpwstr>Work In Progress</vt:lpwstr>
  </property>
</Properties>
</file>